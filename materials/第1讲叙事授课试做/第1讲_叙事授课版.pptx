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幻灯片01｜为什么需要一部宪法？
第0—3分钟；本页3分钟，其中讲述2.5分钟，非讲述活动0.5分钟。
完整讲述
我们先看一张照片。门前的横幅写着“中华人民共和国第一届全国人民代表大会第一次会议”。照片拍摄于1954年9月15日，代表们正在进入中南海怀仁堂。五天以后，这次大会通过了新中国第一部宪法。
今天先不急着背宪法的定义。请想一个问题：到这个时候，新中国已经成立，国家机关也已经在工作，国家生活已有相应的规则。为什么还需要专门制定一部宪法？这一部法律，究竟要解决什么其他规则不能替它解决的问题？
我们就从这里开始。前半堂课，沿着国家根本规则的形成往前走；后半堂课，把目光移到一个公民身上，看国家权力在行使中侵害了他的权利时，宪法与法律怎样回答他的请求。走完这两段路，再回头说“宪法是国家根本法”，这句话就应当有具体的内容。
教学提示（不朗读）
让学生安静观察照片约30秒；不把照片说成9月20日表决瞬间。
页脚出处
照片：新华社刘东鳌摄，1954年9月15日
来源及定位
中国人大网：宪法制定和发展完善历程｜1954年9月20日通过宪法
https://www.npc.gov.cn/npc/c12434/dzlfxzgcl70nlflc/202108/t20210824_313204.html
新华社资料照片｜来源/1954/H04_新华社会场图片；照片为9月15日代表入场
https://www.xinhuanet.com/politics/2019-09/15/c_1124998159.htm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幻灯片02｜1949：国家已经有了共同遵循
第3—7分钟；本页4分钟，其中讲述3分钟，非讲述活动1分钟。
完整讲述
先把时间往前推到1949年。中国人民政治协商会议第一届全体会议通过了《共同纲领》。在新中国成立初期，它发挥了临时宪法的作用，规定国家性质、政权组织以及有关政策的基本原则。我们讲后来制定宪法，必须先把这件事交代清楚：此前已经存在组织国家生活的宪法性规则。
更值得注意的是，《共同纲领》本身就考虑了全国人民代表大会召开前后的不同安排。请读材料一所引的第十三条。这里说，在普选的全国人民代表大会召开以前，由人民政协全体会议执行全国人民代表大会的职权。制度的设计已经指向接下来应当形成的国家权力组织。
【操作提示，不朗读】学生静默阅读材料一第13条节录1分钟，然后继续。
请留意“以前”这个词。它提示我们，过渡阶段的权力安排与以后全国人大召开后的安排，并不是完全相同的。这里已经有一个面向未来的制度方向。国家生活开始运转，与根本制度逐步完备，可以同时发生。接下来要看的，正是这个方向怎样成为更明确的制度。
因此，我们追问的不是国家有没有规则，而是人民当家作主怎样进一步落实为国家根本制度。我们把这一问题带到1953年开始的起草工作中。
教学提示（不朗读）
发材料一；静默阅读第13条节录约1分钟。
页脚出处
《共同纲领》第13条；中国人大网制定历程
来源及定位
中国人大网：宪法制定和发展完善历程｜共同纲领的临时宪法作用
https://www.npc.gov.cn/npc/c12434/dzlfxzgcl70nlflc/202108/t20210824_313204.html
中国人民政治协商会议共同纲领｜来源/1954/H01_共同纲领；第13条
http://www.cppcc.gov.cn/2011/12/16/ARTI1513309181327976.shtml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幻灯片03｜从形成草案，到成为国家的根本法
第7—10分钟；本页3分钟，其中讲述2.5分钟，非讲述活动0.5分钟。
完整讲述
接下来要分清几个动作。1953年1月，中央人民政府委员会决定成立宪法起草委员会。起草的任务，是把需要解决的问题、已有的制度经验和对未来制度的安排，组织成可以讨论的宪法草案。
起草委员会形成草案，并不等于宪法已经完成审议通过。1954年6月，宪法草案向全国公布，征求意见。草案经过讨论和修改，再进入全国人民代表大会的审议。这些步骤回答的是不同问题：谁负责起草，怎样听取意见，最后由什么机关依程序作出决定。
这条线中的每个动作都有承担者。起草把问题组织成草案文字，讨论使不同方面的意见进入形成过程，审议通过则形成相应的法律结果。起草委员会准备草案，全国人民代表大会审议通过宪法，职责不能混同。接着看，所要形成的根本安排具体是什么。
教学提示（不朗读）
给学生约30秒辨认起草与通过两种职责；只介绍本讲需要的历史骨架。
页脚出处
官方宪法制定历程；刘少奇1954年宪法草案报告
来源及定位
中国人大网：宪法制定和发展完善历程｜1953年1月13日；1954年6月14日；1954年9月20日
https://www.npc.gov.cn/npc/c12434/dzlfxzgcl70nlflc/202108/t20210824_313204.html
刘少奇关于宪法草案的报告｜来源/1954/H05、H05b，1954年9月15日报告
https://ebook.theorychina.org.cn/ebook/upload/storage/files/2022/07/28/11f643741b8857182ff6a8b5ada28b1a23891/files/basic-html/page142.html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幻灯片04｜从过渡安排，到全国人大的制度展开
第10—14分钟；本页4分钟，其中讲述3.5分钟，非讲述活动0.5分钟。
完整讲述
1954年9月20日，第一届全国人民代表大会第一次会议通过了《中华人民共和国宪法》。这时再看前面的照片，我们看到的就不只是一次会议的会场，而是国家权力组织与根本规则形成过程中的一个历史场景。照片是9月15日代表入场，宪法的通过发生在9月20日，这两个日期要分清。
这里有一项可以直接读出来的前后对照。《共同纲领》第十三条说的是，在普选的全国人民代表大会召开以前，由政协全体会议执行全国人大的职权。1954年，全国人大已经召开；当年宪法第二十一条明确规定，中华人民共和国全国人民代表大会是最高国家权力机关。过渡时期的职权安排，向全国人大制度的进一步展开衔接，根本规则因此有了具体的机关承载。
1954年宪法序言还明确写道，它以《共同纲领》为基础，又是《共同纲领》的发展。我们有了刚才的对照，就能理解这个“发展”至少包含怎样的制度内容，而不只是记住两个文件的先后顺序。
在讨论宪法草案时，毛泽东曾用“总章程”说明宪法：一个国家需要一部共同遵循的根本规则。我们理解这个比喻，要落到具体制度上。国家权力属于谁，人民通过什么组织行使权力，国家机关怎样产生和负责，国家怎样对待公民的基本权利，这些不能全靠临时决定来回答。
根本安排写成法律，意味着它们不只回答这一次会议准备做什么，还要成为有关主体此后活动的共同规范。将来由不同的人员承担职责，也需要在相应制度和规则中履职。法律的这种持续性，使我们能够超出某一个人的意愿或某一次临时处置，讨论国家活动应当怎样进行。
由此可以看见制定宪法的意义：把重要的政治成果和制度安排，以根本法的形式确认下来，使有关主体都能据此理解自己的地位、职责和受到的约束。我们接着就看，这种确认在今天的宪法中怎样表达。
教学提示（不朗读）
照片保留原署名，说明9月15日入场与9月20日通过的区别。
停顿约30秒，让学生回看起草/通过时间线。
页脚出处
《共同纲领》第13条；1954年宪法序言、第21条
来源及定位
中国人大网：宪法制定和发展完善历程｜1954年9月20日及总章程论述
https://www.npc.gov.cn/npc/c12434/dzlfxzgcl70nlflc/202108/t20210824_313204.html
1954年中华人民共和国宪法｜来源/1954/H02_1954宪法，序言
http://www.cppcc.gov.cn/2011/09/06/ARTI1315304517625183.shtml
新华社资料照片｜1954年9月15日代表进入怀仁堂，刘东鳌摄
https://www.xinhuanet.com/politics/2019-09/15/c_1124998159.htm
1954年宪法原文｜第21条；与共同纲领第13条作有限对照
http://www.cppcc.gov.cn/2011/09/06/ARTI1315304517625183.shtml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幻灯片05｜人民当家作主，怎样成为可以运行的制度
第14—19分钟；本页5分钟，其中讲述3.5分钟，非讲述活动1.5分钟。
完整讲述
现在把历史的镜头收回来，读我们今天正在使用的宪法。第二条先确认，中华人民共和国的一切权力属于人民。紧接着，它规定人民行使国家权力的机关，是全国人民代表大会和地方各级人民代表大会。第三条再说明，这些机关怎样产生、对谁负责、受谁监督。
这几层规定连起来，抽象的权力归属就有了制度上的承载。人民当家作主，需要相应的机关、产生方式、负责关系和监督安排。把这些组织起来，是制度化；用宪法规范把它们确认下来，形成应当遵守的要求，是法律化。教材所说宪法是民主制度化、法律化的基本形式，在这里就能看到具体含义。
请把图里的“产生”“负责”“监督”分别读出来。向下看，是权力归属怎样落实为相应机关；再读节点文字，是机关向谁负责、受谁监督。一个机关依法产生，仍然要依法履职，仍然可能受到监督和纠正，不能把机关已经产生理解成每一次行为都天然正确。
【操作提示，不朗读】学生读图与条文1分钟，一人复述30秒，再讲权力/权利区别。
例如，图上的“由人大产生”是一种机关关系，“对它负责、受它监督”又进一步提出责任要求。只说机关名称，无法把这些关系讲出来；只说权力属于人民，也还需要说明它通过哪些制度得到实现。我们在图上保留这些动词，就是要避免把机关表看成几个互不相干的名字。
这也给我们一个最小而重要的区别：这里讲的国家“权力”，涉及公共事务的组织与职权行使；公民的“权利”，涉及依法应当受到保障的利益和请求资格。国家权力需要有组织，也需要受到权利保障的约束。我们后面讲国家赔偿，还会回到这一点。
教学提示（不朗读）
请学生阅读材料二的第2、3条约1分钟，再请一人用30秒说明一项关系。
图表示现行宪法关系，不能把今天的机关名称倒放进1954年的历史。
页脚出处
现行宪法第2、3条；教材印刷21页（PDF36）
来源及定位
中华人民共和国宪法（现行2018年修正全文）｜第2、3条，注意这是现行文本
https://www.npc.gov.cn/zgrdw/npc/xinwen/2018-03/22/content_2052489.htm
马工程宪法学第二版｜印刷20—21页；PDF35—36页；原图见上一版来源核对/教材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幻灯片06｜根本内容：先为国家生活搭起基本框架
第19—23分钟；本页4分钟，其中讲述3分钟，非讲述活动1分钟。
完整讲述
如果请你为一部国家根本法安排内容，你会先写什么？现在有了前面的来历，就容易理解它为什么要先解决几类根本问题：国家是什么性质，根本制度是什么，国家承担什么根本任务；公民有哪些基本权利和义务；国家权力由哪些机关行使，彼此是什么关系。
这些安排影响整个国家生活，给具体领域的立法和活动提供基本前提。我国宪法第一条确认国家性质、根本制度和党的领导的宪法地位；序言写明国家根本任务；第二章规定公民基本权利和义务；第三章安排国家机构。请在材料二的文本地图上分别找到它们。
普通法律则在具体领域进一步规定。合同怎样履行，什么行为构成犯罪，某一类行政行为具有什么条件，这些问题需要相应法律展开。普通法律同样重要。所谓根本性，并不意味着我们可以轻视具体规则，而是说宪法为这些规则提供共同的基本框架。
宪法也不等于完全没有具体规则。稍后我们会读到很精确的表决比例。因此，不能把宪法与普通法律的区别简单化为“一个只有原则，一个才有规则”。应当首先把握它们安排的问题层次和规范地位，再观察一部法律怎样在具体领域作出细化。
所以，判断根本内容，不能只问一部法律的篇幅大不大、名称重不重要。应当问：它确立了什么层面的制度前提？它怎样影响国家权力和公民权利的基本关系？这才是“根本”落到内容上的意思。
教学提示（不朗读）
用1分钟让学生在材料二上定位国家制度、权利和机构的三个位置。
页脚出处
宪法序言、第1条及章节；教材18页（PDF33）
来源及定位
中华人民共和国宪法（现行2018年修正全文）｜序言、第1条、第二章、第三章
https://www.npc.gov.cn/zgrdw/npc/xinwen/2018-03/22/content_2052489.htm
马工程宪法学第二版｜印刷18页；PDF33页；原图见上一版来源核对/教材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幻灯片07｜走到这里，再给“宪法”一个完整说明
第23—27分钟；本页4分钟，其中讲述3.5分钟，非讲述活动0.5分钟。
完整讲述
现在可以把前面得到的认识合起来。宪法是规定国家根本制度、国家根本任务、公民基本权利和义务，以及国家权力组织运行等根本问题，具有最高法律效力的国家根本法。这是本讲依据教材和我国宪法作的概括，理解时要把它拆开，而不是把一长句话机械背下来。
前半句说明宪法安排的内容层次，后半句说明它在法律体系中的地位。我们刚才已经看过内容和制度来历，下面还要解释最高效力。再往后看修改程序，会发现根本规则的调整也有特别要求。这三个方面相互联系，共同帮助我们理解宪法为什么具有根本法地位。
还要记住，宪法首先是法律。它的规定对有关主体具有规范意义，不能因为其中有宏观目标和原则，就把它当作一般介绍性文字。反过来，也不能因为它是最高法，就认为它已经替代了每一部具体法律、每一项程序。
理解这个定义时，还可以做一次很小的自检：如果只说“它最重要”，却说不出重要在哪个层面，解释还没有完成；如果能够指出国家制度、权利和权力组织这些根本安排，并说明它们对其他立法的约束，才开始把定义用起来。术语的作用，是把已经理解的关系概括下来，帮助我们继续分析。
如果今天课后有人问你宪法是什么，希望你的回答能够让他听见这些关系：国家的基本安排、国家权力与公民权利、最高法律效力，以及相应的制度保障。有了这些内容，一句话的定义才有理解上的厚度。
教学提示（不朗读）
停顿30秒，让学生用自己的话概括，而不要求复述全部句子。
页脚出处
教材18—20页与我国宪法；本页为教学概括
来源及定位
马工程宪法学第二版｜印刷18—20页；PDF33—35页；原图见上一版来源核对/教材
中华人民共和国宪法（现行2018年修正全文）｜序言末段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幻灯片08｜根本规则，为什么不能由普通法律随意改变
第27—32分钟；本页5分钟，其中讲述4分钟，非讲述活动1分钟。
完整讲述
设想这样一种情况：国家用宪法确认了一项基本制度，后来某部普通法律却说，本领域可以不遵守这项宪法要求。如果允许普通法律这样做，宪法确立的共同框架会发生什么变化？不同领域都可以各自排除约束，所谓根本规则就会失去共同的规范地位。
我国宪法第五条给出了明确要求：一切法律、行政法规和地方性法规都不得同宪法相抵触。这就是从规范关系上理解最高法律效力。具体立法可以把宪法要求展开，却不能用自己的规定摆脱宪法约束。
普通法律常常写“根据宪法，制定本法”，这句话使两者联系显现出来，但约束力并不是由这句话创造的。宪法自身已经确认根本法地位和最高法律效力。一部普通法律即使没有写这个起首句，也不能因此取得不受宪法约束的地位。我们后半堂会用它做一个迁移判断。
有的同学可能会把两种关系混在一起：普通法律可以比宪法写得更细，所以似乎就可以自己决定是否遵守宪法。细化的空间与排除上位约束的权力，并不是同一件事。例如，法律可以具体规定实现某项宪法权利的情形和责任，但这种具体化仍然应当符合宪法要求。下半堂的国家赔偿，正好能够帮助我们把这个关系读清楚。
此外，发现可能抵触宪法的问题，和有权作出怎样的纠正决定，是两个需要连接又不能混写的问题。我们先把“不得抵触”讲清，具体监督机制留第八讲。今天不能据此教成任何个人、机关都可以自行宣布一部法律普遍失效。
教学提示（不朗读）
给学生1分钟读法条并指出它约束了哪些规范。
如学生说普通法律有自主性即可不受约束，回到“展开要求”与“排除要求”的区别。
页脚出处
现行宪法第5条第3款；教材20页（PDF35）
来源及定位
中华人民共和国宪法（现行2018年修正全文）｜序言末段、第5条第3款
https://www.npc.gov.cn/zgrdw/npc/xinwen/2018-03/22/content_2052489.htm
马工程宪法学第二版｜印刷19—20页；PDF34—35页；原图见上一版来源核对/教材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幻灯片09｜要改根本规则，就需要不同的通过要求
第32—36分钟；本页4分钟，其中讲述3分钟，非讲述活动1分钟。
完整讲述
根本规则需要稳定，但社会生活会发展，宪法也有依法修改的可能。关键在于，怎样让根本规则的调整获得更充分的同意。我们不必先背整套程序，可以先看同一个机关面前的两种议案。
宪法第六十四条规定，修宪由全国人大常委会或者五分之一以上的全国人大代表提议，并由全国人大以全体代表三分之二以上的多数通过。同一条第二款又规定，法律和其他议案由全国人大以全体代表的过半数通过。
请把目光放在两处：计算基数都是全体代表，通过要求却不同。三分之二以上包括恰好三分之二，过半数不包括恰好一半。这里体现的是我国根本规则修改的特别要求，不能将它改说成到会代表的比例。
我们特意选同一个机关作比较，是为了把干扰因素减少：此时不争论不同机关的组成，也不讨论各种表决场景，只观察宪法修改与法律议案的多数要求。制度比较要先确定比较的是同一层面，否则把一个国家的到会人数规则与我国的全体代表规则放在一起，很容易得出错误判断。
较严格的要求，使根本规则的调整需要更高程度的同意。这既说明稳定性的保障，也保留了依法调整的通道。第一讲做到这一步就够了：理解制度为什么设置不同门槛，完整修宪过程及其历史发展由第二讲继续展开。
教学提示（不朗读）
静默阅读材料二第64条1分钟，提醒全体代表这一共同基数。
页脚出处
现行宪法第64条；教材19页（PDF34）
来源及定位
中华人民共和国宪法（现行2018年修正全文）｜第64条两款
https://www.npc.gov.cn/zgrdw/npc/xinwen/2018-03/22/content_2052489.htm
马工程宪法学第二版｜印刷19页；PDF34页；原图见上一版来源核对/教材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幻灯片10｜同样是60%赞成，结果会一样吗？
第36—38分钟；本页2分钟，其中讲述0.5分钟，非讲述活动1.5分钟。
完整讲述
现在用第六十四条判断屏幕上的两项设例，其他法定条件都已满足。两项同样获得全体代表百分之六十赞成，是否都达到通过门槛？先分别写出结论，再标出你使用的依据。
教学提示（不朗读）
静默判断1分钟，再请一名学生用30秒回答；此页不显示答案。
页脚出处
教学设例；材料二任务一
来源及定位
中华人民共和国宪法（现行2018年修正全文）｜第64条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幻灯片11｜用制度条件说明判断
第38—40分钟；本页2分钟，其中讲述2分钟，非讲述活动0分钟。
完整讲述
这两项的判断不同。百分之六十已经超过半数，因此达到了第六十四条第二款规定的门槛；它还没有达到三分之二，所以没有达到宪法修改的通过门槛。
这里最容易漏掉的是“全体代表”。如果把基数换成到会人数，计算的就不是这两款写明的要求。第二个容易混淆的地方，是把过半数说成半数以上，那会把恰好一半也算进去。
如果最初的想法是“六成已经是多数，两项都可以”，现在就能看到问题在哪里。日常语言中的多数，没有自动告诉我们法律规定的是哪一种多数。学习法律时，日常经验可以帮助提出问题，最后的判断仍要回到具体条文及其适用条件。
这道题只判断给定条件下的通过门槛，没有声称真实议案已经完成全部法定程序。材料已经足够回答这个有限问题，我们就应当给出明确结论，同时把结论说到适当的位置。
教学提示（不朗读）
无额外提示。
页脚出处
宪法第64条；任务一讲评
来源及定位
中华人民共和国宪法（现行2018年修正全文）｜第64条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幻灯片12｜把第一段故事，收成三个有根据的理由
第40—45分钟；本页5分钟，其中讲述2分钟，非讲述活动3分钟。
完整讲述
第一段故事先收在这里。请用材料二的三栏，分别说明根本内容、最高效力和修改程序特殊性。每栏找到一项我国依据，再写一句解释，说明这项依据怎样支持你的判断。先自己完成，再和同桌交换一条理由。
【操作提示，不朗读】停止讲述。学生笔答2分钟，同桌或全班交流1分钟；完成后再说下段讲评。
这类回答的关键，是把条文与结论连起来。比如，“第1条规定社会主义制度是根本制度”，后面还可以接一句：它确立了国家制度的基本前提。只有条号而没有解释，或者只有“最重要”而没有依据，都还需要补上另一半。其余两栏也按这个方法检查。
第一学时到此结束。下半堂我们换一个观察位置：根本规则已经建立，国家机关开始行使权力。如果权力的行使侵害了一个公民，纸面上的权利怎样进入他能够提出的具体请求？
教学提示（不朗读）
三栏笔答2分钟；选一份回答交流1分钟，教师在主轨话语中完成简短反馈。
第一学时累计45分钟；50分钟口径可在这里增加5分钟同桌互评。
页脚出处
材料二任务二；第一学时收束
来源及定位
中华人民共和国宪法（现行2018年修正全文）｜序言、第1、5、64条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幻灯片13｜当权力侵害了一个人，谁来回答他的请求？
第45—48分钟；本页3分钟，其中讲述2.5分钟，非讲述活动0.5分钟。
完整讲述
这一段先从一个明确的教学设例开始。设想一名公民被国家机关工作人员限制了人身自由。如果他认为自己受到侵害，提出的就不只是“能不能帮帮我”的请求，还可能是一个法律上的问题：我有什么权利，什么情形下可以要求赔偿，应当由谁承担相应义务？
请先不要急着判断他一定能得到赔偿。到现在，我们还没有给出措施种类、职权性质和完整事实，这个设例只负责把问题带进课堂。后面我们会补足一组明确事实，再作具体判断。
对于公安专业的学习，这个问题与将来理解职权尤其相关。职权意味着可以并且应当依法承担公共任务，也意味着其行使方式必须符合相应要求。我们不能只看国家机关拥有哪种力量，还要同时看它依据什么、受什么约束，以及出问题后由什么制度回应。
从机关的一边看，国家机关承担公共任务，需要依法行使职权；从公民的一边看，公共任务也不能成为任意侵害权利的理由。两边放在一起，问题就出现了：如何使依法行使职权与权利受到侵害后的救济，都进入明确的制度？我们去看这一制度在我国形成的一段过程。
教学提示（不朗读）
让学生用30秒说出他希望法律回答的一个问题；不预设这是真实历史案件。
页脚出处
教学设例；此时尚不给出具体赔偿结论
来源及定位
中华人民共和国宪法（现行2018年修正全文）｜第5条、第33条第3款、第41条第3款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幻灯片14｜1982：宪法已经确认了赔偿权
第48—52分钟；本页4分钟，其中讲述3.5分钟，非讲述活动0.5分钟。
完整讲述
先看1982年宪法的原始文本。在第四十一条第三款中，已经写有这样的规定：由于国家机关和国家工作人员侵犯公民权利而受到损失的人，有依照法律规定取得赔偿的权利。我们今天所读的这一款，在当年的宪法中已经能够找到。
这句话至少回答了三个重要问题。它把受到国家侵权损失的人放在权利主体的位置；它确认受损者可以依照法律规定取得赔偿；它也把国家机关及其工作人员的活动，放进了权利保障与责任的规范关系之中。
但一项宪法权利要进入具体处理，还会遇到接着的问题：哪些职权行为、哪些侵害情形属于法律规定的范围？哪一个机关承担赔偿义务？请求怎样被受理和处理？这些具体安排需要法律制度进一步展开。
这款中的“依照法律规定”尤其值得注意。它把一项根本法上的权利，与具体法律安排连接起来。它既不能被理解成普通法律可以任意取消这项宪法要求，也不能被略去，仿佛只要说出宪法上的权利，就已经回答了所有具体赔偿问题。接下来的法律制定，正是在这两层内容之间继续搭建制度。
注意，我们不能因为后来还需要完善具体法律，就说此前的宪法没有效力。宪法已经确认的权利与法律进一步安排实现方式，是相互联系的两层内容。也不能把接下来1994年的立法讲成在一张全无规定的白纸上起步。事实上，在这部专门法律制定之前，其他法律中已经有相关赔偿规定。
教学提示（不朗读）
学生读材料三的宪法条文约30秒；区分历史文本确认与现行使用。
页脚出处
1982年宪法原始文本第41条第3款
来源及定位
中国人大网1982年宪法原始文本｜第41条第3款，历史版本
http://www.npc.gov.cn/zgrdw/npc/zt/qt/gjxfz/2014-12/03/content_1888093.htm
中华人民共和国宪法（现行2018年修正全文）｜现行第41条第3款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幻灯片15｜从赔偿权的确认，到专门法律的实施
第52—56分钟；本页4分钟，其中讲述3分钟，非讲述活动1分钟。
完整讲述
接着把两个日期放到这条线上。1994年5月12日，国家赔偿法通过并公布；1995年1月1日起施行。制定一部专门法律，需要把权利要求转成能够据以处理具体问题的制度安排。
我们手里有一份当时的文件：1994年12月，国务院办公厅就实施国家赔偿法发出通知。通知说明，这部法律是在行政诉讼法有关行政赔偿规定的基础上，对行政赔偿范围、程序、标准等作了具体规定，并增加了刑事赔偿内容。这个背景已经足以告诉我们，制度是在已有规定上继续建设，而不是此前完全不存在赔偿。
更有意思的是，这份通知没有停在介绍法律的重要性。它还要求有关方面安排具体承办机构和人员，做好实施工作。法律文本公布了，实际工作由谁接、怎样组织起来，仍然需要落实。我们因此看见了从权利确认，到专法具体安排，再到实施准备的连续过程。
我们常常更容易记住一部法律通过的日期，却忽略让它实际运转所需要的工作。确定承办机构和人员，听起来没有“立法通过”那么醒目，却关系到一个请求交来之后，谁依据规则作出回应。这份同时期文件，使故事有了从纸面规范继续走向工作安排的一步。
今天只用这段来历理解宪法与普通法律的关系，不展开赔偿标准、期限和管辖。关于具体条文，接下来将回到本轮核对的现行法律文本，避免把今天的文字误说成1994年原法的全部原文。
教学提示（不朗读）
阅读材料三的同期文件背景说明1分钟；不要求记忆金额、期限或完整程序。
页脚出处
1994年国家赔偿法；1994年国办实施通知
来源及定位
1994年国家赔偿法及公布信息｜来源/国家赔偿沿革，历史制定资料
https://www.gjxfj.gov.cn/gjxfj/fgwj/flfg/webinfo/2014/05/1601761496775615.htm
国务院办公厅关于实施国家赔偿法的通知｜1994年12月22日；印刷1208—1211页，PDF56—59页
https://www.gov.cn/gongbao/shuju/1994/gwyb199431.pdf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幻灯片16｜回到今天：宪法规定什么，普通法律安排什么
第56—60分钟；本页4分钟，其中讲述2.5分钟，非讲述活动1.5分钟。
完整讲述
现在读现行文本。左边是宪法第四十一条第三款，右边是国家赔偿法第一条。请特别留意右边的两个目的：保障依法取得国家赔偿的权利，促进国家机关依法行使职权。权利保障与权力规范，在这里被放在同一个制度目标中。
【操作提示，不朗读】学生静默对读1分钟，同桌说一项联系30秒，然后进入说明。
如果只看“根据宪法，制定本法”，我们只能知道这部法律表明了自己的宪法依据。继续与第四十一条对读，才会看见它究竟承接了什么要求。宪法确认受到国家侵权损失者依照法律规定取得赔偿的权利；普通法律要把这一要求展开为具体的适用情形、义务主体和实现安排。
国家赔偿法第一条也提醒我们，保障受害人的权利与促进机关依法行使职权，并不需要分成两个互不相干的故事。依法承担相应责任，是国家权力运行制度的一部分。这里只说明制度目的，至于某个请求能不能成立，仍然要回到法律所规定的具体情形。
这两层内容没有彼此取代。宪法的最高效力约束立法，普通法律则提供具体处理所需要的规则。读它们的关系，需要同时看到这两个方向。我们下一页就把“具体安排”拆开，看它到底增加了什么可用于判断的信息。
教学提示（不朗读）
学生静默对读1分钟，圈出权利、依法行使职权；同桌用30秒说出一个联系。
页脚出处
现行宪法第41条第3款；现行国家赔偿法第1条
来源及定位
中华人民共和国宪法（现行2018年修正全文）｜第41条第3款
https://www.npc.gov.cn/zgrdw/npc/xinwen/2018-03/22/content_2052489.htm
国家赔偿法（现行2012年第二次修正全文）｜第1条；今天的现行文本，与1994沿革分开
https://fgk.chinatax.gov.cn/zcfgk/c100009/c5211800/content.html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幻灯片17｜“有权取得赔偿”，怎样变成可以判断的规则
第60—64分钟；本页4分钟，其中讲述1.5分钟，非讲述活动2.5分钟。
完整讲述
请看第3条。它不仅指出受害人有赔偿权，还明确了行政机关及其工作人员、行使行政职权，以及违法拘留等具体情形。这里的行政职权不能省略，判断不能只看工作人员属于哪个机关。
材料中的第2条规定本法范围内的侵权损害与赔偿权，第7条第一款再确定相应行政机关为赔偿义务机关。我们刚才问的“哪些情形、由谁回应”，由此找到了具体法律位置。
请独立读这几段短条文，在旁边分别标出权利条件、具体情形和义务机关。今天先看清这些连接，不要求背诵整部法律。
教学提示（不朗读）
学生阅读与标记2分钟；请一人用30秒指出义务机关的依据。
页脚出处
国家赔偿法第2条第1款、第3条、第7条第1款
来源及定位
国家赔偿法（现行2012年第二次修正全文）｜第2条第1款；第3条起句及第1项；第7条第1款
https://fgk.chinatax.gov.cn/zcfgk/c100009/c5211800/content.html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幻灯片18｜事实给足以后，试着给出一个确定判断
第64—69分钟；本页5分钟，其中讲述1分钟，非讲述活动4分钟。
完整讲述
现在补足一组明确事实。这是教学设例：某县公安局工作人员以本机关名义，在行使行政职权时违法拘留甲，造成甲的人身自由受到侵害。职权性质、违法拘留和侵害事实，在题目中都设为已经查明，也没有共同机关、委托或机关撤销等其他情形。
请完成材料三任务三：甲有无赔偿权，义务机关是谁？再用一个法律条款说明，普通法律比宪法的权利表述增加了什么。最后回答，法律作了具体安排，是否意味着宪法在此之前没有效力。依据都在材料里。
教学提示（不朗读）
给学生4分钟读题、笔答；只按题设判断，不要求找真实案件，也不计算金额。
页脚出处
教学设例；材料三任务三
来源及定位
中华人民共和国宪法（现行2018年修正全文）｜第41条第3款
https://www.npc.gov.cn/zgrdw/npc/xinwen/2018-03/22/content_2052489.htm
国家赔偿法（现行2012年第二次修正全文）｜第2、3、7条本讲节录
https://fgk.chinatax.gov.cn/zcfgk/c100009/c5211800/content.html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幻灯片19｜把每一步判断，放回它的依据
第69—73分钟；本页4分钟，其中讲述3.5分钟，非讲述活动0.5分钟。
完整讲述
按题目给定的事实，甲有取得国家赔偿的权利，县公安局是相应赔偿义务机关。理由不能只写“宪法保障人权”。我们还要指出，题设明确的是行使行政职权时的违法拘留，对应国家赔偿法第三条中的具体情形；第七条第一款又确定相应行政机关为赔偿义务机关。
宪法在根本法层面确认权利，法律进一步规定情形和主体。这是我们刚才追踪的制度关系。今天没有提供金额和全部程序资料，所以不能计算给付或断言申请已经处理完毕，但这些未知事项不妨碍我们回答题目已经足够支撑的部分。
还有第三个问题。法律的具体安排，不会让宪法第一次获得效力。宪法已经具有最高法律效力，普通法律是在它的约束下把权利实现安排做得具体。我们既要重视宪法的直接规范意义，也要重视具体法律提供的判断条件。
再看赔偿义务机关这一问。题目已经排除了共同机关、委托和机关撤销等其他情形，因此可以按照所给第七条第一款，把义务主体落到该行政机关。法律把主体规定清楚，使请求有明确的义务对象，而不取决于某位工作人员个人是否愿意回应。这也是具体制度比一般愿望更进一步的地方。
如果你的回答只剩“资料不足”，请回看题目已经查明了哪些事实；如果回答成“只要公民不满就一定赔偿”，则要回到法律规定的情形和条件。成熟的判断，既要敢于在材料足够时给出结论，也要知道结论到哪里为止。
教学提示（不朗读）
用30秒比较两份答案的依据是否完整；典型错误由主轨反馈纠正。
页脚出处
材料三任务三讲评；现行相关条款
来源及定位
中华人民共和国宪法（现行2018年修正全文）｜序言、第5条、第41条第3款
https://www.npc.gov.cn/zgrdw/npc/xinwen/2018-03/22/content_2052489.htm
国家赔偿法（现行2012年第二次修正全文）｜第2条第1款、第3条第1项、第7条第1款
https://fgk.chinatax.gov.cn/zcfgk/c100009/c5211800/content.html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幻灯片20｜两段故事，怎样连到宪法基本原则
第73—77分钟；本页4分钟，其中讲述2.5分钟，非讲述活动1.5分钟。
完整讲述
现在把两段故事放在一起。前一段关注国家根本规则怎样形成、人民当家作主怎样进入制度；后一段关注国家权力怎样依法运行，以及权利受侵害后怎样有制度回应。教材中的几项基本原则，也就有了共同的观察对象。
党的领导和人民主权，联系到我国宪法确认的领导地位、权力归属与制度实现；社会主义法治要求国家权力按照宪法和法律运行；尊重和保障人权，要求国家活动重视人的权利；权力监督与制约，则通过负责、监督和责任等制度防止权力滥用。它们互相联系，不能只背成五个孤立词语。
原则之间的联系，不意味着分析每一个问题时都要把五个名称轮流念一遍。我们可以先找到真正相关的制度关系和具体条文，再用原则帮助理解其方向与意义。比如在刚才的题中，明确赔偿情形和义务机关，是把权利保障与依法行使职权连接起来；这个解释比简单说“体现了五项原则”更能说明问题。
其中，第三十三条写明“国家尊重和保障人权”。国家赔偿是观察权利救济的一个窗口，不是人权保障的全部内容。民主集中制则在第三条的国家机构组织和活动中有明确位置，本课不把它拿来替代教材五项中的某一项。请用一分钟把你理解的一条联系讲给同桌听。
教学提示（不朗读）
同桌解释1分钟，请一名学生用30秒说明人权保障为何与机关履职有关。
页脚出处
教材我国宪法基本原则；现行宪法第1—3、5、33条
来源及定位
马工程宪法学第二版｜印刷92、95—96、100、103页；PDF107、110—111、115、118页；原图见上一版来源核对/教材
中华人民共和国宪法（现行2018年修正全文）｜第1、2、3、5条及第33条第3款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幻灯片21｜换一个说法，你还会怎样判断？
第77—80分钟；本页3分钟，其中讲述1分钟，非讲述活动2分钟。
完整讲述
最后做两项很短的迁移。第一项，某部普通法律没有写“根据宪法，制定本法”，有人因此说它可以不受宪法约束。第二项，某机关只说明“为了公共利益”，就对公民采取了限制行动的措施，材料除此没有进一步说明。
第一项请给出判断和依据。第二项请写下你还需要查明的三项具体信息，再说明目前能够判断什么、不能判断什么。先自己完成，我们再合起来看。
教学提示（不朗读）
学生用2分钟作答；此页不得提前列出要求学生识别的缺口。
页脚出处
教学设例；材料四任务四
来源及定位
中华人民共和国宪法（现行2018年修正全文）｜序言、第5条、第33条第3款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幻灯片22｜有根据的结论，与具体的信息缺口
第80—83分钟；本页3分钟，其中讲述2.5分钟，非讲述活动0.5分钟。
完整讲述
第一项可以明确回答：普通法律仍受宪法约束。宪法的最高效力不依赖另一部法律在开头作出声明，这是第五条所要求的规范关系。
第二项则需要具体查明措施的性质、机关的权限与法律依据、适用条件和事实、采取的程序等。笼统的公共利益理由不足以证明这项措施已获具体授权。不过，缺少这些资料，也不等于我们已经证明它必然违法，更不能直接认定当事人当然有国家赔偿权。
还可以把这里的认识再说得准确一点：材料没有提供某项授权，不等于已经证明法律中根本不存在这项授权。我们现在掌握的信息，与客观事实本身，不能直接画等号。因此，列出具体缺口是一项积极的判断工作，它指向下一步应当核查什么，而不是用一句“情况复杂”结束分析。
请把它与刚才的违法行政拘留题对照。上一题已经给足关键事实，这一题没有。两种回答的差别，来自材料与规则的对应程度。宪法原则能够约束和引导国家活动，但不会省去每一项具体权限、事实和程序的判断。这正是公安专业学习宪法时需要建立的一种基本思路。
教学提示（不朗读）
留30秒让学生补上自己漏写的一项具体缺口。
页脚出处
材料四任务四讲评；现行宪法第5、33条
来源及定位
中华人民共和国宪法（现行2018年修正全文）｜序言、第5条、第33条第3款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幻灯片23｜规则的效力，与现实中做到多少
第83—86分钟；本页3分钟，其中讲述2分钟，非讲述活动1分钟。
完整讲述
讲到这里，可能会有人接着问：既然宪法和法律都保护权利，现实中为什么还会发生侵权？这个问题提醒我们，把规范的效力与实际效果分开。
效力说明规范应当约束谁、处于什么地位；实际效果说明它在现实中遵守和实现得怎样。存在违法行为，表明实施可能出现了问题，需要依法查明、纠正和承担相应责任，不会因此使宪法失去法律效力。
判断实际效果，还需要相应的现实材料。仅凭一条漂亮的规范，不能证明每个机关都已经做到；仅凭一个问题，也不能直接概括全部制度的运行状况。本课先把应当遵守的规则与需要进一步观察的现实区分开，为后续学习留下清楚的位置。
但有了规范，也不能据此宣称现实中的权利保障已经完全实现。刚才那份1994年的实施通知之所以还要求安排机构和人员，正提醒我们，文本、制度与实际履职之间还需要持续的落实。今天把这个问题留下来，第八讲再展开实施和监督怎样发挥作用。
教学提示（不朗读）
请学生用1分钟解释“发生侵权”为什么不等于“宪法没有效力”。
页脚出处
效力/效果为教学区别；宪法第5条与同期实施资料
来源及定位
中华人民共和国宪法（现行2018年修正全文）｜第5条
https://www.npc.gov.cn/zgrdw/npc/xinwen/2018-03/22/content_2052489.htm
1994年国家赔偿法实施通知｜印刷1208—1211页；PDF56—59页
https://www.gov.cn/gongbao/shuju/1994/gwyb199431.pdf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幻灯片24｜回到开场：一部宪法怎样进入国家与个人的生活
第86—90分钟；本页4分钟，其中讲述1.5分钟，非讲述活动2.5分钟。
完整讲述
我们从1954年的会场出发，又沿着赔偿权走到具体法律与实施安排。一段让我们看见国家根本制度的形成，一段让我们看见个人权利怎样得到具体保障。请写三句收束：宪法规定什么，普通法律怎样展开安排，判断具体行为还需要什么。每句尽量带一个本课条文或例子。
【操作提示，不朗读】停止讲述。学生写三句2分钟，一人朗读30秒；之后用末段收束，不再增加新的长总结。
把三句话连起来，“宪法是国家根本法”就有了具体内容：国家如何组织，权力如何运行，个人的权利如何得到确认和保障。下一讲，我们再沿着宪法发展的脉络，看现行宪法怎样形成。
教学提示（不朗读）
书面三句2分钟，一名学生用30秒读出；教师用末段收束。
90分钟核心到此。50分钟一学时可在第12页后、第23页后各增加5分钟，方案见材料与答案。
页脚出处
课末收束；材料四任务五
来源及定位
中华人民共和国宪法（现行2018年修正全文）｜序言、第2、3、5、33、41、64条
https://www.npc.gov.cn/zgrdw/npc/xinwen/2018-03/22/content_2052489.htm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幻灯片25｜史料与照片出处
课后查读；本页0分钟，其中讲述0分钟，非讲述活动0分钟。
课后查读，不朗读。
页脚出处
查读附页：历史材料不替代现行法
来源及定位
中国人大网：宪法制定和发展完善历程｜共同纲领、1953起草及1954宪法通过
https://www.npc.gov.cn/npc/c12434/dzlfxzgcl70nlflc/202108/t20210824_313204.html
1994国办实施通知｜印刷1208—1211；PDF56—59
https://www.gov.cn/gongbao/shuju/1994/gwyb199431.pdf
中国人大网：宪法制定和发展完善历程｜共同纲领、起草、草案讨论与1954年9月20日通过
https://www.npc.gov.cn/npc/c12434/dzlfxzgcl70nlflc/202108/t20210824_313204.html
新华社资料照片：1954年9月15日代表入场｜新华社记者刘东鳌摄｜新华网2019年9月15日刊载
https://www.xinhuanet.com/politics/2019-09/15/c_1124998159.htm
国务院办公厅关于实施国家赔偿法的通知｜1994年12月22日；公报印刷1208—1211页
https://www.gov.cn/gongbao/shuju/1994/gwyb199431.pdf
1982年宪法原始文本｜历史版本第41条第3款，区别于今日现行全文
http://www.npc.gov.cn/zgrdw/npc/zt/qt/gjxfz/2014-12/03/content_1888093.htm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幻灯片26｜现行条文、教材与配套材料
课后查读；本页0分钟，其中讲述0分钟，非讲述活动0分钟。
课后查读，不朗读。
页脚出处
查读附页：完整说明见来源核对和执行记录
来源及定位
中华人民共和国宪法（现行2018年修正全文）｜本讲所用条款
https://www.npc.gov.cn/zgrdw/npc/xinwen/2018-03/22/content_2052489.htm
国家赔偿法（现行2012年第二次修正全文）｜本讲所用条款
https://fgk.chinatax.gov.cn/zcfgk/c100009/c5211800/content.html
马工程宪法学第二版｜沿用已核概念、本质及原则原页；原图见上一版来源核对/教材
中华人民共和国宪法｜2018年修正全文；序言及第1—3、5、33、41、64条
https://www.npc.gov.cn/zgrdw/npc/xinwen/2018-03/22/content_2052489.htm
中华人民共和国国家赔偿法｜2012年第二次修正全文；第1、2、3、7条本讲节录
https://fgk.chinatax.gov.cn/zcfgk/c100009/c5211800/content.html
马工程宪法学第二版｜第二版；宪法概念、本质与基本原则相关章节
完整逐字稿、课堂材料与执行记录｜与本课件配套，按页定位讲述、材料及出处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www.npc.gov.cn/npc/c12434/dzlfxzgcl70nlflc/202108/t20210824_313204.html" TargetMode="External"/><Relationship Id="rId2" Type="http://schemas.openxmlformats.org/officeDocument/2006/relationships/hyperlink" Target="https://www.xinhuanet.com/politics/2019-09/15/c_1124998159.htm" TargetMode="External"/><Relationship Id="rId3" Type="http://schemas.openxmlformats.org/officeDocument/2006/relationships/hyperlink" Target="https://www.gov.cn/gongbao/shuju/1994/gwyb199431.pdf" TargetMode="External"/><Relationship Id="rId4" Type="http://schemas.openxmlformats.org/officeDocument/2006/relationships/hyperlink" Target="http://www.npc.gov.cn/zgrdw/npc/zt/qt/gjxfz/2014-12/03/content_1888093.htm" TargetMode="External"/><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www.npc.gov.cn/zgrdw/npc/xinwen/2018-03/22/content_2052489.htm" TargetMode="External"/><Relationship Id="rId2" Type="http://schemas.openxmlformats.org/officeDocument/2006/relationships/hyperlink" Target="https://fgk.chinatax.gov.cn/zcfgk/c100009/c5211800/content.html" TargetMode="External"/><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38"/>
        </a:solidFill>
      </p:bgPr>
    </p:bg>
    <p:spTree>
      <p:nvGrpSpPr>
        <p:cNvPr id="1" name=""/>
        <p:cNvGrpSpPr/>
        <p:nvPr/>
      </p:nvGrpSpPr>
      <p:grpSpPr>
        <a:xfrm>
          <a:off x="0" y="0"/>
          <a:ext cx="0" cy="0"/>
          <a:chOff x="0" y="0"/>
          <a:chExt cx="0" cy="0"/>
        </a:xfrm>
      </p:grpSpPr>
      <p:sp>
        <p:nvSpPr>
          <p:cNvPr id="2" name="Text 0"/>
          <p:cNvSpPr/>
          <p:nvPr/>
        </p:nvSpPr>
        <p:spPr>
          <a:xfrm>
            <a:off x="841248" y="676656"/>
            <a:ext cx="6217920" cy="402336"/>
          </a:xfrm>
          <a:prstGeom prst="rect">
            <a:avLst/>
          </a:prstGeom>
          <a:noFill/>
          <a:ln/>
        </p:spPr>
        <p:txBody>
          <a:bodyPr wrap="square" lIns="0" tIns="0" rIns="0" bIns="0" rtlCol="0" anchor="t"/>
          <a:lstStyle/>
          <a:p>
            <a:pPr indent="0" marL="0">
              <a:lnSpc>
                <a:spcPct val="108000"/>
              </a:lnSpc>
              <a:buNone/>
            </a:pPr>
            <a:r>
              <a:rPr lang="en-US" sz="2200" dirty="0">
                <a:solidFill>
                  <a:srgbClr val="B89A5B"/>
                </a:solidFill>
                <a:latin typeface="Microsoft YaHei" pitchFamily="34" charset="0"/>
                <a:ea typeface="Microsoft YaHei" pitchFamily="34" charset="-122"/>
                <a:cs typeface="Microsoft YaHei" pitchFamily="34" charset="-120"/>
              </a:rPr>
              <a:t>宪法学 · 第一讲</a:t>
            </a:r>
            <a:endParaRPr lang="en-US" sz="2200" dirty="0"/>
          </a:p>
        </p:txBody>
      </p:sp>
      <p:sp>
        <p:nvSpPr>
          <p:cNvPr id="3" name="Text 1"/>
          <p:cNvSpPr/>
          <p:nvPr/>
        </p:nvSpPr>
        <p:spPr>
          <a:xfrm>
            <a:off x="841248" y="1828800"/>
            <a:ext cx="5852160" cy="1783080"/>
          </a:xfrm>
          <a:prstGeom prst="rect">
            <a:avLst/>
          </a:prstGeom>
          <a:noFill/>
          <a:ln/>
        </p:spPr>
        <p:txBody>
          <a:bodyPr wrap="square" lIns="0" tIns="0" rIns="0" bIns="0" rtlCol="0" anchor="t"/>
          <a:lstStyle/>
          <a:p>
            <a:pPr indent="0" marL="0">
              <a:lnSpc>
                <a:spcPct val="108000"/>
              </a:lnSpc>
              <a:buNone/>
            </a:pPr>
            <a:r>
              <a:rPr lang="en-US" sz="4800" b="1" dirty="0">
                <a:solidFill>
                  <a:srgbClr val="F5F1E7"/>
                </a:solidFill>
                <a:latin typeface="Microsoft YaHei" pitchFamily="34" charset="0"/>
                <a:ea typeface="Microsoft YaHei" pitchFamily="34" charset="-122"/>
                <a:cs typeface="Microsoft YaHei" pitchFamily="34" charset="-120"/>
              </a:rPr>
              <a:t>为什么需要一部宪法？</a:t>
            </a:r>
            <a:endParaRPr lang="en-US" sz="4800" dirty="0"/>
          </a:p>
        </p:txBody>
      </p:sp>
      <p:sp>
        <p:nvSpPr>
          <p:cNvPr id="4" name="Text 2"/>
          <p:cNvSpPr/>
          <p:nvPr/>
        </p:nvSpPr>
        <p:spPr>
          <a:xfrm>
            <a:off x="886968" y="4069080"/>
            <a:ext cx="5852160" cy="1060704"/>
          </a:xfrm>
          <a:prstGeom prst="rect">
            <a:avLst/>
          </a:prstGeom>
          <a:noFill/>
          <a:ln/>
        </p:spPr>
        <p:txBody>
          <a:bodyPr wrap="square" lIns="0" tIns="0" rIns="0" bIns="0" rtlCol="0" anchor="t"/>
          <a:lstStyle/>
          <a:p>
            <a:pPr indent="0" marL="0">
              <a:lnSpc>
                <a:spcPct val="108000"/>
              </a:lnSpc>
              <a:buNone/>
            </a:pPr>
            <a:r>
              <a:rPr lang="en-US" sz="2600" dirty="0">
                <a:solidFill>
                  <a:srgbClr val="E7E0CF"/>
                </a:solidFill>
                <a:latin typeface="Microsoft YaHei" pitchFamily="34" charset="0"/>
                <a:ea typeface="Microsoft YaHei" pitchFamily="34" charset="-122"/>
                <a:cs typeface="Microsoft YaHei" pitchFamily="34" charset="-120"/>
              </a:rPr>
              <a:t>第1讲 宪法总论</a:t>
            </a:r>
            <a:endParaRPr lang="en-US" sz="2600" dirty="0"/>
          </a:p>
          <a:p>
            <a:pPr indent="0" marL="0">
              <a:lnSpc>
                <a:spcPct val="108000"/>
              </a:lnSpc>
              <a:buNone/>
            </a:pPr>
            <a:r>
              <a:rPr lang="en-US" sz="2600" dirty="0">
                <a:solidFill>
                  <a:srgbClr val="E7E0CF"/>
                </a:solidFill>
                <a:latin typeface="Microsoft YaHei" pitchFamily="34" charset="0"/>
                <a:ea typeface="Microsoft YaHei" pitchFamily="34" charset="-122"/>
                <a:cs typeface="Microsoft YaHei" pitchFamily="34" charset="-120"/>
              </a:rPr>
              <a:t>从国家的制度，到个人的权利</a:t>
            </a:r>
            <a:endParaRPr lang="en-US" sz="2600" dirty="0"/>
          </a:p>
        </p:txBody>
      </p:sp>
      <p:pic>
        <p:nvPicPr>
          <p:cNvPr id="5" name="Image 0" descr="照片：新华社刘东鳌摄，1954年9月15日">    </p:cNvPr>
          <p:cNvPicPr>
            <a:picLocks noChangeAspect="1"/>
          </p:cNvPicPr>
          <p:nvPr/>
        </p:nvPicPr>
        <p:blipFill>
          <a:blip r:embed="rId1"/>
          <a:stretch>
            <a:fillRect/>
          </a:stretch>
        </p:blipFill>
        <p:spPr>
          <a:xfrm>
            <a:off x="7059168" y="2025929"/>
            <a:ext cx="4251960" cy="2943301"/>
          </a:xfrm>
          <a:prstGeom prst="rect">
            <a:avLst/>
          </a:prstGeom>
        </p:spPr>
      </p:pic>
      <p:sp>
        <p:nvSpPr>
          <p:cNvPr id="6" name="Text 3"/>
          <p:cNvSpPr/>
          <p:nvPr/>
        </p:nvSpPr>
        <p:spPr>
          <a:xfrm>
            <a:off x="7059168" y="5596128"/>
            <a:ext cx="4251960" cy="420624"/>
          </a:xfrm>
          <a:prstGeom prst="rect">
            <a:avLst/>
          </a:prstGeom>
          <a:noFill/>
          <a:ln/>
        </p:spPr>
        <p:txBody>
          <a:bodyPr wrap="square" lIns="0" tIns="0" rIns="0" bIns="0" rtlCol="0" anchor="t"/>
          <a:lstStyle/>
          <a:p>
            <a:pPr indent="0" marL="0">
              <a:lnSpc>
                <a:spcPct val="108000"/>
              </a:lnSpc>
              <a:buNone/>
            </a:pPr>
            <a:r>
              <a:rPr lang="en-US" sz="1400" dirty="0">
                <a:solidFill>
                  <a:srgbClr val="D0CABB"/>
                </a:solidFill>
                <a:latin typeface="Microsoft YaHei" pitchFamily="34" charset="0"/>
                <a:ea typeface="Microsoft YaHei" pitchFamily="34" charset="-122"/>
                <a:cs typeface="Microsoft YaHei" pitchFamily="34" charset="-120"/>
              </a:rPr>
              <a:t>照片：新华社刘东鳌摄，1954年9月15日</a:t>
            </a:r>
            <a:endParaRPr lang="en-US" sz="1400" dirty="0"/>
          </a:p>
        </p:txBody>
      </p:sp>
      <p:sp>
        <p:nvSpPr>
          <p:cNvPr id="7" name="Text 4"/>
          <p:cNvSpPr/>
          <p:nvPr/>
        </p:nvSpPr>
        <p:spPr>
          <a:xfrm>
            <a:off x="896112" y="5678424"/>
            <a:ext cx="5852160" cy="347472"/>
          </a:xfrm>
          <a:prstGeom prst="rect">
            <a:avLst/>
          </a:prstGeom>
          <a:noFill/>
          <a:ln/>
        </p:spPr>
        <p:txBody>
          <a:bodyPr wrap="square" lIns="0" tIns="0" rIns="0" bIns="0" rtlCol="0" anchor="t"/>
          <a:lstStyle/>
          <a:p>
            <a:pPr indent="0" marL="0">
              <a:lnSpc>
                <a:spcPct val="108000"/>
              </a:lnSpc>
              <a:buNone/>
            </a:pPr>
            <a:r>
              <a:rPr lang="en-US" sz="1800" dirty="0">
                <a:solidFill>
                  <a:srgbClr val="D0CABB"/>
                </a:solidFill>
                <a:latin typeface="Microsoft YaHei" pitchFamily="34" charset="0"/>
                <a:ea typeface="Microsoft YaHei" pitchFamily="34" charset="-122"/>
                <a:cs typeface="Microsoft YaHei" pitchFamily="34" charset="-120"/>
              </a:rPr>
              <a:t>公安专业一年级 · 两学时</a:t>
            </a:r>
            <a:endParaRPr lang="en-US" sz="1800" dirty="0"/>
          </a:p>
        </p:txBody>
      </p:sp>
      <p:sp>
        <p:nvSpPr>
          <p:cNvPr id="8" name="Text 5"/>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照片：新华社刘东鳌摄，1954年9月15日</a:t>
            </a:r>
            <a:endParaRPr lang="en-US" sz="1200" dirty="0"/>
          </a:p>
        </p:txBody>
      </p:sp>
      <p:sp>
        <p:nvSpPr>
          <p:cNvPr id="9" name="Text 6"/>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1 / 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1949：国家已经有了共同遵循</a:t>
            </a:r>
            <a:endParaRPr lang="en-US" sz="3800" dirty="0"/>
          </a:p>
        </p:txBody>
      </p:sp>
      <p:sp>
        <p:nvSpPr>
          <p:cNvPr id="3" name="Text 1"/>
          <p:cNvSpPr/>
          <p:nvPr/>
        </p:nvSpPr>
        <p:spPr>
          <a:xfrm>
            <a:off x="749808" y="1993392"/>
            <a:ext cx="2880360" cy="1124712"/>
          </a:xfrm>
          <a:prstGeom prst="rect">
            <a:avLst/>
          </a:prstGeom>
          <a:noFill/>
          <a:ln/>
        </p:spPr>
        <p:txBody>
          <a:bodyPr wrap="square" lIns="0" tIns="0" rIns="0" bIns="0" rtlCol="0" anchor="t"/>
          <a:lstStyle/>
          <a:p>
            <a:pPr indent="0" marL="0">
              <a:lnSpc>
                <a:spcPct val="108000"/>
              </a:lnSpc>
              <a:buNone/>
            </a:pPr>
            <a:r>
              <a:rPr lang="en-US" sz="6800" b="1" dirty="0">
                <a:solidFill>
                  <a:srgbClr val="A1372F"/>
                </a:solidFill>
                <a:latin typeface="Microsoft YaHei" pitchFamily="34" charset="0"/>
                <a:ea typeface="Microsoft YaHei" pitchFamily="34" charset="-122"/>
                <a:cs typeface="Microsoft YaHei" pitchFamily="34" charset="-120"/>
              </a:rPr>
              <a:t>1949</a:t>
            </a:r>
            <a:endParaRPr lang="en-US" sz="6800" dirty="0"/>
          </a:p>
        </p:txBody>
      </p:sp>
      <p:sp>
        <p:nvSpPr>
          <p:cNvPr id="4" name="Shape 2"/>
          <p:cNvSpPr/>
          <p:nvPr/>
        </p:nvSpPr>
        <p:spPr>
          <a:xfrm>
            <a:off x="3767328" y="1847088"/>
            <a:ext cx="0" cy="3328416"/>
          </a:xfrm>
          <a:prstGeom prst="line">
            <a:avLst/>
          </a:prstGeom>
          <a:noFill/>
          <a:ln w="16510">
            <a:solidFill>
              <a:srgbClr val="B89A5B"/>
            </a:solidFill>
            <a:prstDash val="solid"/>
          </a:ln>
        </p:spPr>
      </p:sp>
      <p:sp>
        <p:nvSpPr>
          <p:cNvPr id="5" name="Text 3"/>
          <p:cNvSpPr/>
          <p:nvPr/>
        </p:nvSpPr>
        <p:spPr>
          <a:xfrm>
            <a:off x="4160520" y="1865376"/>
            <a:ext cx="7086600" cy="3026664"/>
          </a:xfrm>
          <a:prstGeom prst="rect">
            <a:avLst/>
          </a:prstGeom>
          <a:noFill/>
          <a:ln/>
        </p:spPr>
        <p:txBody>
          <a:bodyPr wrap="square" lIns="0" tIns="0" rIns="0" bIns="0" rtlCol="0" anchor="t"/>
          <a:lstStyle/>
          <a:p>
            <a:pPr indent="0" marL="0">
              <a:lnSpc>
                <a:spcPct val="108000"/>
              </a:lnSpc>
              <a:buNone/>
            </a:pPr>
            <a:r>
              <a:rPr lang="en-US" sz="3000" dirty="0">
                <a:solidFill>
                  <a:srgbClr val="173238"/>
                </a:solidFill>
                <a:latin typeface="SimSun" pitchFamily="34" charset="0"/>
                <a:ea typeface="SimSun" pitchFamily="34" charset="-122"/>
                <a:cs typeface="SimSun" pitchFamily="34" charset="-120"/>
              </a:rPr>
              <a:t>《共同纲领》发挥临时宪法作用。</a:t>
            </a:r>
            <a:endParaRPr lang="en-US" sz="3000" dirty="0"/>
          </a:p>
          <a:p>
            <a:pPr indent="0" marL="0">
              <a:lnSpc>
                <a:spcPct val="108000"/>
              </a:lnSpc>
              <a:buNone/>
            </a:pPr>
            <a:r>
              <a:rPr lang="en-US" sz="3000" dirty="0">
                <a:solidFill>
                  <a:srgbClr val="173238"/>
                </a:solidFill>
                <a:latin typeface="SimSun" pitchFamily="34" charset="0"/>
                <a:ea typeface="SimSun" pitchFamily="34" charset="-122"/>
                <a:cs typeface="SimSun" pitchFamily="34" charset="-120"/>
              </a:rPr>
              <a:t>第13条已经考虑全国人大召开前后的制度安排。</a:t>
            </a:r>
            <a:endParaRPr lang="en-US" sz="3000" dirty="0"/>
          </a:p>
        </p:txBody>
      </p:sp>
      <p:sp>
        <p:nvSpPr>
          <p:cNvPr id="6" name="Text 4"/>
          <p:cNvSpPr/>
          <p:nvPr/>
        </p:nvSpPr>
        <p:spPr>
          <a:xfrm>
            <a:off x="4169664" y="5074920"/>
            <a:ext cx="7086600" cy="329184"/>
          </a:xfrm>
          <a:prstGeom prst="rect">
            <a:avLst/>
          </a:prstGeom>
          <a:noFill/>
          <a:ln/>
        </p:spPr>
        <p:txBody>
          <a:bodyPr wrap="square" lIns="0" tIns="0" rIns="0" bIns="0" rtlCol="0" anchor="t"/>
          <a:lstStyle/>
          <a:p>
            <a:pPr indent="0" marL="0">
              <a:lnSpc>
                <a:spcPct val="108000"/>
              </a:lnSpc>
              <a:buNone/>
            </a:pPr>
            <a:r>
              <a:rPr lang="en-US" sz="1400" dirty="0">
                <a:solidFill>
                  <a:srgbClr val="64706A"/>
                </a:solidFill>
                <a:latin typeface="Microsoft YaHei" pitchFamily="34" charset="0"/>
                <a:ea typeface="Microsoft YaHei" pitchFamily="34" charset="-122"/>
                <a:cs typeface="Microsoft YaHei" pitchFamily="34" charset="-120"/>
              </a:rPr>
              <a:t>史料：1949年《共同纲领》第13条</a:t>
            </a:r>
            <a:endParaRPr lang="en-US" sz="1400" dirty="0"/>
          </a:p>
        </p:txBody>
      </p:sp>
      <p:sp>
        <p:nvSpPr>
          <p:cNvPr id="7" name="Text 5"/>
          <p:cNvSpPr/>
          <p:nvPr/>
        </p:nvSpPr>
        <p:spPr>
          <a:xfrm>
            <a:off x="777240" y="5614416"/>
            <a:ext cx="10588752" cy="457200"/>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已经有规则，为什么还要进一步制定宪法？</a:t>
            </a:r>
            <a:endParaRPr lang="en-US" sz="2400" dirty="0"/>
          </a:p>
        </p:txBody>
      </p:sp>
      <p:sp>
        <p:nvSpPr>
          <p:cNvPr id="8" name="Text 6"/>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《共同纲领》第13条；中国人大网制定历程</a:t>
            </a:r>
            <a:endParaRPr lang="en-US" sz="1200" dirty="0"/>
          </a:p>
        </p:txBody>
      </p:sp>
      <p:sp>
        <p:nvSpPr>
          <p:cNvPr id="9" name="Text 7"/>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2 / 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从形成草案，到成为国家的根本法</a:t>
            </a:r>
            <a:endParaRPr lang="en-US" sz="3800" dirty="0"/>
          </a:p>
        </p:txBody>
      </p:sp>
      <p:sp>
        <p:nvSpPr>
          <p:cNvPr id="3" name="Shape 1"/>
          <p:cNvSpPr/>
          <p:nvPr/>
        </p:nvSpPr>
        <p:spPr>
          <a:xfrm>
            <a:off x="877824" y="2843784"/>
            <a:ext cx="10378440" cy="0"/>
          </a:xfrm>
          <a:prstGeom prst="line">
            <a:avLst/>
          </a:prstGeom>
          <a:noFill/>
          <a:ln w="22860">
            <a:solidFill>
              <a:srgbClr val="B89A5B"/>
            </a:solidFill>
            <a:prstDash val="solid"/>
          </a:ln>
        </p:spPr>
      </p:sp>
      <p:sp>
        <p:nvSpPr>
          <p:cNvPr id="4" name="Text 2"/>
          <p:cNvSpPr/>
          <p:nvPr/>
        </p:nvSpPr>
        <p:spPr>
          <a:xfrm>
            <a:off x="777240" y="1874520"/>
            <a:ext cx="3352800" cy="740664"/>
          </a:xfrm>
          <a:prstGeom prst="rect">
            <a:avLst/>
          </a:prstGeom>
          <a:noFill/>
          <a:ln/>
        </p:spPr>
        <p:txBody>
          <a:bodyPr wrap="square" lIns="0" tIns="0" rIns="0" bIns="0" rtlCol="0" anchor="t"/>
          <a:lstStyle/>
          <a:p>
            <a:pPr indent="0" marL="0">
              <a:lnSpc>
                <a:spcPct val="108000"/>
              </a:lnSpc>
              <a:buNone/>
            </a:pPr>
            <a:r>
              <a:rPr lang="en-US" sz="4200" b="1" dirty="0">
                <a:solidFill>
                  <a:srgbClr val="A1372F"/>
                </a:solidFill>
                <a:latin typeface="Microsoft YaHei" pitchFamily="34" charset="0"/>
                <a:ea typeface="Microsoft YaHei" pitchFamily="34" charset="-122"/>
                <a:cs typeface="Microsoft YaHei" pitchFamily="34" charset="-120"/>
              </a:rPr>
              <a:t>1953.01</a:t>
            </a:r>
            <a:endParaRPr lang="en-US" sz="4200" dirty="0"/>
          </a:p>
        </p:txBody>
      </p:sp>
      <p:sp>
        <p:nvSpPr>
          <p:cNvPr id="5" name="Shape 3"/>
          <p:cNvSpPr/>
          <p:nvPr/>
        </p:nvSpPr>
        <p:spPr>
          <a:xfrm>
            <a:off x="850392" y="2775204"/>
            <a:ext cx="137160" cy="137160"/>
          </a:xfrm>
          <a:prstGeom prst="ellipse">
            <a:avLst/>
          </a:prstGeom>
          <a:solidFill>
            <a:srgbClr val="A1372F"/>
          </a:solidFill>
          <a:ln w="12700">
            <a:solidFill>
              <a:srgbClr val="333333">
                <a:alpha val="0"/>
              </a:srgbClr>
            </a:solidFill>
            <a:prstDash val="solid"/>
          </a:ln>
        </p:spPr>
      </p:sp>
      <p:sp>
        <p:nvSpPr>
          <p:cNvPr id="6" name="Text 4"/>
          <p:cNvSpPr/>
          <p:nvPr/>
        </p:nvSpPr>
        <p:spPr>
          <a:xfrm>
            <a:off x="777240" y="3218688"/>
            <a:ext cx="3352800" cy="740664"/>
          </a:xfrm>
          <a:prstGeom prst="rect">
            <a:avLst/>
          </a:prstGeom>
          <a:noFill/>
          <a:ln/>
        </p:spPr>
        <p:txBody>
          <a:bodyPr wrap="square" lIns="0" tIns="0" rIns="0" bIns="0" rtlCol="0" anchor="t"/>
          <a:lstStyle/>
          <a:p>
            <a:pPr indent="0" marL="0">
              <a:lnSpc>
                <a:spcPct val="108000"/>
              </a:lnSpc>
              <a:buNone/>
            </a:pPr>
            <a:r>
              <a:rPr lang="en-US" sz="2600" b="1" dirty="0">
                <a:solidFill>
                  <a:srgbClr val="173238"/>
                </a:solidFill>
                <a:latin typeface="Microsoft YaHei" pitchFamily="34" charset="0"/>
                <a:ea typeface="Microsoft YaHei" pitchFamily="34" charset="-122"/>
                <a:cs typeface="Microsoft YaHei" pitchFamily="34" charset="-120"/>
              </a:rPr>
              <a:t>组织起草</a:t>
            </a:r>
            <a:endParaRPr lang="en-US" sz="2600" dirty="0"/>
          </a:p>
        </p:txBody>
      </p:sp>
      <p:sp>
        <p:nvSpPr>
          <p:cNvPr id="7" name="Text 5"/>
          <p:cNvSpPr/>
          <p:nvPr/>
        </p:nvSpPr>
        <p:spPr>
          <a:xfrm>
            <a:off x="777240" y="4105656"/>
            <a:ext cx="3352800" cy="1307592"/>
          </a:xfrm>
          <a:prstGeom prst="rect">
            <a:avLst/>
          </a:prstGeom>
          <a:noFill/>
          <a:ln/>
        </p:spPr>
        <p:txBody>
          <a:bodyPr wrap="square" lIns="0" tIns="0" rIns="0" bIns="0" rtlCol="0" anchor="t"/>
          <a:lstStyle/>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中央人民政府委员会</a:t>
            </a:r>
            <a:endParaRPr lang="en-US" sz="2400" dirty="0"/>
          </a:p>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成立宪法起草委员会</a:t>
            </a:r>
            <a:endParaRPr lang="en-US" sz="2400" dirty="0"/>
          </a:p>
        </p:txBody>
      </p:sp>
      <p:sp>
        <p:nvSpPr>
          <p:cNvPr id="8" name="Text 6"/>
          <p:cNvSpPr/>
          <p:nvPr/>
        </p:nvSpPr>
        <p:spPr>
          <a:xfrm>
            <a:off x="4404360" y="1874520"/>
            <a:ext cx="3352800" cy="740664"/>
          </a:xfrm>
          <a:prstGeom prst="rect">
            <a:avLst/>
          </a:prstGeom>
          <a:noFill/>
          <a:ln/>
        </p:spPr>
        <p:txBody>
          <a:bodyPr wrap="square" lIns="0" tIns="0" rIns="0" bIns="0" rtlCol="0" anchor="t"/>
          <a:lstStyle/>
          <a:p>
            <a:pPr indent="0" marL="0">
              <a:lnSpc>
                <a:spcPct val="108000"/>
              </a:lnSpc>
              <a:buNone/>
            </a:pPr>
            <a:r>
              <a:rPr lang="en-US" sz="4200" b="1" dirty="0">
                <a:solidFill>
                  <a:srgbClr val="173238"/>
                </a:solidFill>
                <a:latin typeface="Microsoft YaHei" pitchFamily="34" charset="0"/>
                <a:ea typeface="Microsoft YaHei" pitchFamily="34" charset="-122"/>
                <a:cs typeface="Microsoft YaHei" pitchFamily="34" charset="-120"/>
              </a:rPr>
              <a:t>1954.06</a:t>
            </a:r>
            <a:endParaRPr lang="en-US" sz="4200" dirty="0"/>
          </a:p>
        </p:txBody>
      </p:sp>
      <p:sp>
        <p:nvSpPr>
          <p:cNvPr id="9" name="Shape 7"/>
          <p:cNvSpPr/>
          <p:nvPr/>
        </p:nvSpPr>
        <p:spPr>
          <a:xfrm>
            <a:off x="4477512" y="2775204"/>
            <a:ext cx="137160" cy="137160"/>
          </a:xfrm>
          <a:prstGeom prst="ellipse">
            <a:avLst/>
          </a:prstGeom>
          <a:solidFill>
            <a:srgbClr val="A1372F"/>
          </a:solidFill>
          <a:ln w="12700">
            <a:solidFill>
              <a:srgbClr val="333333">
                <a:alpha val="0"/>
              </a:srgbClr>
            </a:solidFill>
            <a:prstDash val="solid"/>
          </a:ln>
        </p:spPr>
      </p:sp>
      <p:sp>
        <p:nvSpPr>
          <p:cNvPr id="10" name="Text 8"/>
          <p:cNvSpPr/>
          <p:nvPr/>
        </p:nvSpPr>
        <p:spPr>
          <a:xfrm>
            <a:off x="4404360" y="3218688"/>
            <a:ext cx="3352800" cy="740664"/>
          </a:xfrm>
          <a:prstGeom prst="rect">
            <a:avLst/>
          </a:prstGeom>
          <a:noFill/>
          <a:ln/>
        </p:spPr>
        <p:txBody>
          <a:bodyPr wrap="square" lIns="0" tIns="0" rIns="0" bIns="0" rtlCol="0" anchor="t"/>
          <a:lstStyle/>
          <a:p>
            <a:pPr indent="0" marL="0">
              <a:lnSpc>
                <a:spcPct val="108000"/>
              </a:lnSpc>
              <a:buNone/>
            </a:pPr>
            <a:r>
              <a:rPr lang="en-US" sz="2600" b="1" dirty="0">
                <a:solidFill>
                  <a:srgbClr val="173238"/>
                </a:solidFill>
                <a:latin typeface="Microsoft YaHei" pitchFamily="34" charset="0"/>
                <a:ea typeface="Microsoft YaHei" pitchFamily="34" charset="-122"/>
                <a:cs typeface="Microsoft YaHei" pitchFamily="34" charset="-120"/>
              </a:rPr>
              <a:t>公布草案</a:t>
            </a:r>
            <a:endParaRPr lang="en-US" sz="2600" dirty="0"/>
          </a:p>
        </p:txBody>
      </p:sp>
      <p:sp>
        <p:nvSpPr>
          <p:cNvPr id="11" name="Text 9"/>
          <p:cNvSpPr/>
          <p:nvPr/>
        </p:nvSpPr>
        <p:spPr>
          <a:xfrm>
            <a:off x="4404360" y="4105656"/>
            <a:ext cx="3352800" cy="1307592"/>
          </a:xfrm>
          <a:prstGeom prst="rect">
            <a:avLst/>
          </a:prstGeom>
          <a:noFill/>
          <a:ln/>
        </p:spPr>
        <p:txBody>
          <a:bodyPr wrap="square" lIns="0" tIns="0" rIns="0" bIns="0" rtlCol="0" anchor="t"/>
          <a:lstStyle/>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向全国公布草案</a:t>
            </a:r>
            <a:endParaRPr lang="en-US" sz="2400" dirty="0"/>
          </a:p>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征求意见</a:t>
            </a:r>
            <a:endParaRPr lang="en-US" sz="2400" dirty="0"/>
          </a:p>
        </p:txBody>
      </p:sp>
      <p:sp>
        <p:nvSpPr>
          <p:cNvPr id="12" name="Text 10"/>
          <p:cNvSpPr/>
          <p:nvPr/>
        </p:nvSpPr>
        <p:spPr>
          <a:xfrm>
            <a:off x="8031480" y="1874520"/>
            <a:ext cx="3352800" cy="740664"/>
          </a:xfrm>
          <a:prstGeom prst="rect">
            <a:avLst/>
          </a:prstGeom>
          <a:noFill/>
          <a:ln/>
        </p:spPr>
        <p:txBody>
          <a:bodyPr wrap="square" lIns="0" tIns="0" rIns="0" bIns="0" rtlCol="0" anchor="t"/>
          <a:lstStyle/>
          <a:p>
            <a:pPr indent="0" marL="0">
              <a:lnSpc>
                <a:spcPct val="108000"/>
              </a:lnSpc>
              <a:buNone/>
            </a:pPr>
            <a:r>
              <a:rPr lang="en-US" sz="4200" b="1" dirty="0">
                <a:solidFill>
                  <a:srgbClr val="173238"/>
                </a:solidFill>
                <a:latin typeface="Microsoft YaHei" pitchFamily="34" charset="0"/>
                <a:ea typeface="Microsoft YaHei" pitchFamily="34" charset="-122"/>
                <a:cs typeface="Microsoft YaHei" pitchFamily="34" charset="-120"/>
              </a:rPr>
              <a:t>1954.09</a:t>
            </a:r>
            <a:endParaRPr lang="en-US" sz="4200" dirty="0"/>
          </a:p>
        </p:txBody>
      </p:sp>
      <p:sp>
        <p:nvSpPr>
          <p:cNvPr id="13" name="Shape 11"/>
          <p:cNvSpPr/>
          <p:nvPr/>
        </p:nvSpPr>
        <p:spPr>
          <a:xfrm>
            <a:off x="8104632" y="2775204"/>
            <a:ext cx="137160" cy="137160"/>
          </a:xfrm>
          <a:prstGeom prst="ellipse">
            <a:avLst/>
          </a:prstGeom>
          <a:solidFill>
            <a:srgbClr val="A1372F"/>
          </a:solidFill>
          <a:ln w="12700">
            <a:solidFill>
              <a:srgbClr val="333333">
                <a:alpha val="0"/>
              </a:srgbClr>
            </a:solidFill>
            <a:prstDash val="solid"/>
          </a:ln>
        </p:spPr>
      </p:sp>
      <p:sp>
        <p:nvSpPr>
          <p:cNvPr id="14" name="Text 12"/>
          <p:cNvSpPr/>
          <p:nvPr/>
        </p:nvSpPr>
        <p:spPr>
          <a:xfrm>
            <a:off x="8031480" y="3218688"/>
            <a:ext cx="3352800" cy="740664"/>
          </a:xfrm>
          <a:prstGeom prst="rect">
            <a:avLst/>
          </a:prstGeom>
          <a:noFill/>
          <a:ln/>
        </p:spPr>
        <p:txBody>
          <a:bodyPr wrap="square" lIns="0" tIns="0" rIns="0" bIns="0" rtlCol="0" anchor="t"/>
          <a:lstStyle/>
          <a:p>
            <a:pPr indent="0" marL="0">
              <a:lnSpc>
                <a:spcPct val="108000"/>
              </a:lnSpc>
              <a:buNone/>
            </a:pPr>
            <a:r>
              <a:rPr lang="en-US" sz="2600" b="1" dirty="0">
                <a:solidFill>
                  <a:srgbClr val="173238"/>
                </a:solidFill>
                <a:latin typeface="Microsoft YaHei" pitchFamily="34" charset="0"/>
                <a:ea typeface="Microsoft YaHei" pitchFamily="34" charset="-122"/>
                <a:cs typeface="Microsoft YaHei" pitchFamily="34" charset="-120"/>
              </a:rPr>
              <a:t>审议通过</a:t>
            </a:r>
            <a:endParaRPr lang="en-US" sz="2600" dirty="0"/>
          </a:p>
        </p:txBody>
      </p:sp>
      <p:sp>
        <p:nvSpPr>
          <p:cNvPr id="15" name="Text 13"/>
          <p:cNvSpPr/>
          <p:nvPr/>
        </p:nvSpPr>
        <p:spPr>
          <a:xfrm>
            <a:off x="8031480" y="4105656"/>
            <a:ext cx="3352800" cy="1307592"/>
          </a:xfrm>
          <a:prstGeom prst="rect">
            <a:avLst/>
          </a:prstGeom>
          <a:noFill/>
          <a:ln/>
        </p:spPr>
        <p:txBody>
          <a:bodyPr wrap="square" lIns="0" tIns="0" rIns="0" bIns="0" rtlCol="0" anchor="t"/>
          <a:lstStyle/>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9月20日</a:t>
            </a:r>
            <a:endParaRPr lang="en-US" sz="2400" dirty="0"/>
          </a:p>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第一届全国人大</a:t>
            </a:r>
            <a:endParaRPr lang="en-US" sz="2400" dirty="0"/>
          </a:p>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第一次会议通过</a:t>
            </a:r>
            <a:endParaRPr lang="en-US" sz="2400" dirty="0"/>
          </a:p>
        </p:txBody>
      </p:sp>
      <p:sp>
        <p:nvSpPr>
          <p:cNvPr id="16" name="Text 14"/>
          <p:cNvSpPr/>
          <p:nvPr/>
        </p:nvSpPr>
        <p:spPr>
          <a:xfrm>
            <a:off x="777240" y="5614416"/>
            <a:ext cx="10588752" cy="457200"/>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起草、讨论和通过，分别承担不同的制度任务。</a:t>
            </a:r>
            <a:endParaRPr lang="en-US" sz="2400" dirty="0"/>
          </a:p>
        </p:txBody>
      </p:sp>
      <p:sp>
        <p:nvSpPr>
          <p:cNvPr id="17" name="Text 15"/>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官方宪法制定历程；刘少奇1954年宪法草案报告</a:t>
            </a:r>
            <a:endParaRPr lang="en-US" sz="1200" dirty="0"/>
          </a:p>
        </p:txBody>
      </p:sp>
      <p:sp>
        <p:nvSpPr>
          <p:cNvPr id="18" name="Text 16"/>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3 / 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从过渡安排，到全国人大的制度展开</a:t>
            </a:r>
            <a:endParaRPr lang="en-US" sz="3800" dirty="0"/>
          </a:p>
        </p:txBody>
      </p:sp>
      <p:sp>
        <p:nvSpPr>
          <p:cNvPr id="3" name="Text 1"/>
          <p:cNvSpPr/>
          <p:nvPr/>
        </p:nvSpPr>
        <p:spPr>
          <a:xfrm>
            <a:off x="740664" y="1828800"/>
            <a:ext cx="3840480" cy="969264"/>
          </a:xfrm>
          <a:prstGeom prst="rect">
            <a:avLst/>
          </a:prstGeom>
          <a:noFill/>
          <a:ln/>
        </p:spPr>
        <p:txBody>
          <a:bodyPr wrap="square" lIns="0" tIns="0" rIns="0" bIns="0" rtlCol="0" anchor="t"/>
          <a:lstStyle/>
          <a:p>
            <a:pPr indent="0" marL="0">
              <a:lnSpc>
                <a:spcPct val="108000"/>
              </a:lnSpc>
              <a:buNone/>
            </a:pPr>
            <a:r>
              <a:rPr lang="en-US" sz="6800" b="1" dirty="0">
                <a:solidFill>
                  <a:srgbClr val="A1372F"/>
                </a:solidFill>
                <a:latin typeface="Microsoft YaHei" pitchFamily="34" charset="0"/>
                <a:ea typeface="Microsoft YaHei" pitchFamily="34" charset="-122"/>
                <a:cs typeface="Microsoft YaHei" pitchFamily="34" charset="-120"/>
              </a:rPr>
              <a:t>1954</a:t>
            </a:r>
            <a:endParaRPr lang="en-US" sz="6800" dirty="0"/>
          </a:p>
        </p:txBody>
      </p:sp>
      <p:sp>
        <p:nvSpPr>
          <p:cNvPr id="4" name="Text 2"/>
          <p:cNvSpPr/>
          <p:nvPr/>
        </p:nvSpPr>
        <p:spPr>
          <a:xfrm>
            <a:off x="786384" y="3099816"/>
            <a:ext cx="3794760" cy="1783080"/>
          </a:xfrm>
          <a:prstGeom prst="rect">
            <a:avLst/>
          </a:prstGeom>
          <a:noFill/>
          <a:ln/>
        </p:spPr>
        <p:txBody>
          <a:bodyPr wrap="square" lIns="0" tIns="0" rIns="0" bIns="0" rtlCol="0" anchor="t"/>
          <a:lstStyle/>
          <a:p>
            <a:pPr indent="0" marL="0">
              <a:lnSpc>
                <a:spcPct val="108000"/>
              </a:lnSpc>
              <a:buNone/>
            </a:pPr>
            <a:r>
              <a:rPr lang="en-US" sz="2600" dirty="0">
                <a:solidFill>
                  <a:srgbClr val="173238"/>
                </a:solidFill>
                <a:latin typeface="SimSun" pitchFamily="34" charset="0"/>
                <a:ea typeface="SimSun" pitchFamily="34" charset="-122"/>
                <a:cs typeface="SimSun" pitchFamily="34" charset="-120"/>
              </a:rPr>
              <a:t>1949：政协全体会议在过渡期执行全国人大职权。</a:t>
            </a:r>
            <a:endParaRPr lang="en-US" sz="2600" dirty="0"/>
          </a:p>
          <a:p>
            <a:pPr indent="0" marL="0">
              <a:lnSpc>
                <a:spcPct val="108000"/>
              </a:lnSpc>
              <a:buNone/>
            </a:pPr>
            <a:r>
              <a:rPr lang="en-US" sz="2600" dirty="0">
                <a:solidFill>
                  <a:srgbClr val="173238"/>
                </a:solidFill>
                <a:latin typeface="SimSun" pitchFamily="34" charset="0"/>
                <a:ea typeface="SimSun" pitchFamily="34" charset="-122"/>
                <a:cs typeface="SimSun" pitchFamily="34" charset="-120"/>
              </a:rPr>
              <a:t>1954：宪法明确全国人大为最高国家权力机关。</a:t>
            </a:r>
            <a:endParaRPr lang="en-US" sz="2600" dirty="0"/>
          </a:p>
        </p:txBody>
      </p:sp>
      <p:pic>
        <p:nvPicPr>
          <p:cNvPr id="5" name="Image 0" descr="图：9月15日代表入场｜新华社记者刘东鳌摄">    </p:cNvPr>
          <p:cNvPicPr>
            <a:picLocks noChangeAspect="1"/>
          </p:cNvPicPr>
          <p:nvPr/>
        </p:nvPicPr>
        <p:blipFill>
          <a:blip r:embed="rId1"/>
          <a:stretch>
            <a:fillRect/>
          </a:stretch>
        </p:blipFill>
        <p:spPr>
          <a:xfrm>
            <a:off x="6022579" y="1801368"/>
            <a:ext cx="4359178" cy="3017520"/>
          </a:xfrm>
          <a:prstGeom prst="rect">
            <a:avLst/>
          </a:prstGeom>
        </p:spPr>
      </p:pic>
      <p:sp>
        <p:nvSpPr>
          <p:cNvPr id="6" name="Text 3"/>
          <p:cNvSpPr/>
          <p:nvPr/>
        </p:nvSpPr>
        <p:spPr>
          <a:xfrm>
            <a:off x="5010912" y="4965192"/>
            <a:ext cx="6391656" cy="338328"/>
          </a:xfrm>
          <a:prstGeom prst="rect">
            <a:avLst/>
          </a:prstGeom>
          <a:noFill/>
          <a:ln/>
        </p:spPr>
        <p:txBody>
          <a:bodyPr wrap="square" lIns="0" tIns="0" rIns="0" bIns="0" rtlCol="0" anchor="t"/>
          <a:lstStyle/>
          <a:p>
            <a:pPr indent="0" marL="0">
              <a:lnSpc>
                <a:spcPct val="108000"/>
              </a:lnSpc>
              <a:buNone/>
            </a:pPr>
            <a:r>
              <a:rPr lang="en-US" sz="1400" dirty="0">
                <a:solidFill>
                  <a:srgbClr val="64706A"/>
                </a:solidFill>
                <a:latin typeface="Microsoft YaHei" pitchFamily="34" charset="0"/>
                <a:ea typeface="Microsoft YaHei" pitchFamily="34" charset="-122"/>
                <a:cs typeface="Microsoft YaHei" pitchFamily="34" charset="-120"/>
              </a:rPr>
              <a:t>图：9月15日代表入场｜新华社记者刘东鳌摄</a:t>
            </a:r>
            <a:endParaRPr lang="en-US" sz="1400" dirty="0"/>
          </a:p>
        </p:txBody>
      </p:sp>
      <p:sp>
        <p:nvSpPr>
          <p:cNvPr id="7" name="Text 4"/>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《共同纲领》第13条；1954年宪法序言、第21条</a:t>
            </a:r>
            <a:endParaRPr lang="en-US" sz="1200" dirty="0"/>
          </a:p>
        </p:txBody>
      </p:sp>
      <p:sp>
        <p:nvSpPr>
          <p:cNvPr id="8" name="Text 5"/>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4 / 26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人民当家作主，怎样成为可以运行的制度</a:t>
            </a:r>
            <a:endParaRPr lang="en-US" sz="3800" dirty="0"/>
          </a:p>
        </p:txBody>
      </p:sp>
      <p:sp>
        <p:nvSpPr>
          <p:cNvPr id="3" name="Shape 1"/>
          <p:cNvSpPr/>
          <p:nvPr/>
        </p:nvSpPr>
        <p:spPr>
          <a:xfrm>
            <a:off x="6080760" y="2880360"/>
            <a:ext cx="0" cy="365760"/>
          </a:xfrm>
          <a:prstGeom prst="line">
            <a:avLst/>
          </a:prstGeom>
          <a:noFill/>
          <a:ln w="17780">
            <a:solidFill>
              <a:srgbClr val="B89A5B"/>
            </a:solidFill>
            <a:prstDash val="solid"/>
            <a:tailEnd type="triangle"/>
          </a:ln>
        </p:spPr>
      </p:sp>
      <p:sp>
        <p:nvSpPr>
          <p:cNvPr id="4" name="Shape 2"/>
          <p:cNvSpPr/>
          <p:nvPr/>
        </p:nvSpPr>
        <p:spPr>
          <a:xfrm>
            <a:off x="6080760" y="4434840"/>
            <a:ext cx="0" cy="274320"/>
          </a:xfrm>
          <a:prstGeom prst="line">
            <a:avLst/>
          </a:prstGeom>
          <a:noFill/>
          <a:ln w="17780">
            <a:solidFill>
              <a:srgbClr val="B89A5B"/>
            </a:solidFill>
            <a:prstDash val="solid"/>
            <a:tailEnd type="triangle"/>
          </a:ln>
        </p:spPr>
      </p:sp>
      <p:sp>
        <p:nvSpPr>
          <p:cNvPr id="5" name="Shape 3"/>
          <p:cNvSpPr/>
          <p:nvPr/>
        </p:nvSpPr>
        <p:spPr>
          <a:xfrm>
            <a:off x="3794760" y="1691640"/>
            <a:ext cx="4572000" cy="1188720"/>
          </a:xfrm>
          <a:prstGeom prst="rect">
            <a:avLst/>
          </a:prstGeom>
          <a:solidFill>
            <a:srgbClr val="173238"/>
          </a:solidFill>
          <a:ln w="12700">
            <a:solidFill>
              <a:srgbClr val="173238">
                <a:alpha val="0"/>
              </a:srgbClr>
            </a:solidFill>
            <a:prstDash val="solid"/>
          </a:ln>
        </p:spPr>
      </p:sp>
      <p:sp>
        <p:nvSpPr>
          <p:cNvPr id="6" name="Text 4"/>
          <p:cNvSpPr/>
          <p:nvPr/>
        </p:nvSpPr>
        <p:spPr>
          <a:xfrm>
            <a:off x="3977640" y="1847088"/>
            <a:ext cx="4206240" cy="877824"/>
          </a:xfrm>
          <a:prstGeom prst="rect">
            <a:avLst/>
          </a:prstGeom>
          <a:noFill/>
          <a:ln/>
        </p:spPr>
        <p:txBody>
          <a:bodyPr wrap="square" lIns="0" tIns="0" rIns="0" bIns="0" rtlCol="0" anchor="ctr"/>
          <a:lstStyle/>
          <a:p>
            <a:pPr algn="ctr" indent="0" marL="0">
              <a:lnSpc>
                <a:spcPct val="108000"/>
              </a:lnSpc>
              <a:buNone/>
            </a:pPr>
            <a:r>
              <a:rPr lang="en-US" sz="2400" b="1" dirty="0">
                <a:solidFill>
                  <a:srgbClr val="F5F1E7"/>
                </a:solidFill>
                <a:latin typeface="Microsoft YaHei" pitchFamily="34" charset="0"/>
                <a:ea typeface="Microsoft YaHei" pitchFamily="34" charset="-122"/>
                <a:cs typeface="Microsoft YaHei" pitchFamily="34" charset="-120"/>
              </a:rPr>
              <a:t>人民
</a:t>
            </a:r>
            <a:pPr algn="ctr" indent="0" marL="0">
              <a:lnSpc>
                <a:spcPct val="108000"/>
              </a:lnSpc>
              <a:buNone/>
            </a:pPr>
            <a:r>
              <a:rPr lang="en-US" sz="2400" dirty="0">
                <a:solidFill>
                  <a:srgbClr val="F5F1E7"/>
                </a:solidFill>
                <a:latin typeface="Microsoft YaHei" pitchFamily="34" charset="0"/>
                <a:ea typeface="Microsoft YaHei" pitchFamily="34" charset="-122"/>
                <a:cs typeface="Microsoft YaHei" pitchFamily="34" charset="-120"/>
              </a:rPr>
              <a:t>一切国家权力属于人民</a:t>
            </a:r>
            <a:endParaRPr lang="en-US" sz="2400" dirty="0"/>
          </a:p>
        </p:txBody>
      </p:sp>
      <p:sp>
        <p:nvSpPr>
          <p:cNvPr id="7" name="Shape 5"/>
          <p:cNvSpPr/>
          <p:nvPr/>
        </p:nvSpPr>
        <p:spPr>
          <a:xfrm>
            <a:off x="3794760" y="3246120"/>
            <a:ext cx="4572000" cy="1188720"/>
          </a:xfrm>
          <a:prstGeom prst="rect">
            <a:avLst/>
          </a:prstGeom>
          <a:solidFill>
            <a:srgbClr val="F5F1E7"/>
          </a:solidFill>
          <a:ln w="12700">
            <a:solidFill>
              <a:srgbClr val="B89A5B"/>
            </a:solidFill>
            <a:prstDash val="solid"/>
          </a:ln>
        </p:spPr>
      </p:sp>
      <p:sp>
        <p:nvSpPr>
          <p:cNvPr id="8" name="Text 6"/>
          <p:cNvSpPr/>
          <p:nvPr/>
        </p:nvSpPr>
        <p:spPr>
          <a:xfrm>
            <a:off x="3977640" y="3401568"/>
            <a:ext cx="4206240" cy="877824"/>
          </a:xfrm>
          <a:prstGeom prst="rect">
            <a:avLst/>
          </a:prstGeom>
          <a:noFill/>
          <a:ln/>
        </p:spPr>
        <p:txBody>
          <a:bodyPr wrap="square" lIns="0" tIns="0" rIns="0" bIns="0" rtlCol="0" anchor="ctr"/>
          <a:lstStyle/>
          <a:p>
            <a:pPr algn="ctr" indent="0" marL="0">
              <a:lnSpc>
                <a:spcPct val="108000"/>
              </a:lnSpc>
              <a:buNone/>
            </a:pPr>
            <a:r>
              <a:rPr lang="en-US" sz="2400" b="1" dirty="0">
                <a:solidFill>
                  <a:srgbClr val="173238"/>
                </a:solidFill>
                <a:latin typeface="Microsoft YaHei" pitchFamily="34" charset="0"/>
                <a:ea typeface="Microsoft YaHei" pitchFamily="34" charset="-122"/>
                <a:cs typeface="Microsoft YaHei" pitchFamily="34" charset="-120"/>
              </a:rPr>
              <a:t>人民代表大会
</a:t>
            </a:r>
            <a:pPr algn="ctr" indent="0" marL="0">
              <a:lnSpc>
                <a:spcPct val="108000"/>
              </a:lnSpc>
              <a:buNone/>
            </a:pPr>
            <a:r>
              <a:rPr lang="en-US" sz="2400" dirty="0">
                <a:solidFill>
                  <a:srgbClr val="173238"/>
                </a:solidFill>
                <a:latin typeface="Microsoft YaHei" pitchFamily="34" charset="0"/>
                <a:ea typeface="Microsoft YaHei" pitchFamily="34" charset="-122"/>
                <a:cs typeface="Microsoft YaHei" pitchFamily="34" charset="-120"/>
              </a:rPr>
              <a:t>民主选举产生，负责并受监督</a:t>
            </a:r>
            <a:endParaRPr lang="en-US" sz="2400" dirty="0"/>
          </a:p>
        </p:txBody>
      </p:sp>
      <p:sp>
        <p:nvSpPr>
          <p:cNvPr id="9" name="Shape 7"/>
          <p:cNvSpPr/>
          <p:nvPr/>
        </p:nvSpPr>
        <p:spPr>
          <a:xfrm>
            <a:off x="2560320" y="4709160"/>
            <a:ext cx="7040880" cy="1051560"/>
          </a:xfrm>
          <a:prstGeom prst="rect">
            <a:avLst/>
          </a:prstGeom>
          <a:solidFill>
            <a:srgbClr val="F5F1E7"/>
          </a:solidFill>
          <a:ln w="12700">
            <a:solidFill>
              <a:srgbClr val="B89A5B"/>
            </a:solidFill>
            <a:prstDash val="solid"/>
          </a:ln>
        </p:spPr>
      </p:sp>
      <p:sp>
        <p:nvSpPr>
          <p:cNvPr id="10" name="Text 8"/>
          <p:cNvSpPr/>
          <p:nvPr/>
        </p:nvSpPr>
        <p:spPr>
          <a:xfrm>
            <a:off x="2743200" y="4864608"/>
            <a:ext cx="6675120" cy="740664"/>
          </a:xfrm>
          <a:prstGeom prst="rect">
            <a:avLst/>
          </a:prstGeom>
          <a:noFill/>
          <a:ln/>
        </p:spPr>
        <p:txBody>
          <a:bodyPr wrap="square" lIns="0" tIns="0" rIns="0" bIns="0" rtlCol="0" anchor="ctr"/>
          <a:lstStyle/>
          <a:p>
            <a:pPr algn="ctr" indent="0" marL="0">
              <a:lnSpc>
                <a:spcPct val="108000"/>
              </a:lnSpc>
              <a:buNone/>
            </a:pPr>
            <a:r>
              <a:rPr lang="en-US" sz="2400" b="1" dirty="0">
                <a:solidFill>
                  <a:srgbClr val="173238"/>
                </a:solidFill>
                <a:latin typeface="Microsoft YaHei" pitchFamily="34" charset="0"/>
                <a:ea typeface="Microsoft YaHei" pitchFamily="34" charset="-122"/>
                <a:cs typeface="Microsoft YaHei" pitchFamily="34" charset="-120"/>
              </a:rPr>
              <a:t>行政、监察、审判、检察机关
</a:t>
            </a:r>
            <a:pPr algn="ctr" indent="0" marL="0">
              <a:lnSpc>
                <a:spcPct val="108000"/>
              </a:lnSpc>
              <a:buNone/>
            </a:pPr>
            <a:r>
              <a:rPr lang="en-US" sz="2400" dirty="0">
                <a:solidFill>
                  <a:srgbClr val="173238"/>
                </a:solidFill>
                <a:latin typeface="Microsoft YaHei" pitchFamily="34" charset="0"/>
                <a:ea typeface="Microsoft YaHei" pitchFamily="34" charset="-122"/>
                <a:cs typeface="Microsoft YaHei" pitchFamily="34" charset="-120"/>
              </a:rPr>
              <a:t>由人大产生，对它负责，受它监督</a:t>
            </a:r>
            <a:endParaRPr lang="en-US" sz="2400" dirty="0"/>
          </a:p>
        </p:txBody>
      </p:sp>
      <p:sp>
        <p:nvSpPr>
          <p:cNvPr id="11" name="Text 9"/>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现行宪法第2、3条；教材印刷21页（PDF36）</a:t>
            </a:r>
            <a:endParaRPr lang="en-US" sz="1200" dirty="0"/>
          </a:p>
        </p:txBody>
      </p:sp>
      <p:sp>
        <p:nvSpPr>
          <p:cNvPr id="12" name="Text 10"/>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5 / 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根本内容：先为国家生活搭起基本框架</a:t>
            </a:r>
            <a:endParaRPr lang="en-US" sz="3800" dirty="0"/>
          </a:p>
        </p:txBody>
      </p:sp>
      <p:sp>
        <p:nvSpPr>
          <p:cNvPr id="3" name="Text 1"/>
          <p:cNvSpPr/>
          <p:nvPr/>
        </p:nvSpPr>
        <p:spPr>
          <a:xfrm>
            <a:off x="786384" y="1801368"/>
            <a:ext cx="9875520" cy="347472"/>
          </a:xfrm>
          <a:prstGeom prst="rect">
            <a:avLst/>
          </a:prstGeom>
          <a:noFill/>
          <a:ln/>
        </p:spPr>
        <p:txBody>
          <a:bodyPr wrap="square" lIns="0" tIns="0" rIns="0" bIns="0" rtlCol="0" anchor="t"/>
          <a:lstStyle/>
          <a:p>
            <a:pPr indent="0" marL="0">
              <a:lnSpc>
                <a:spcPct val="108000"/>
              </a:lnSpc>
              <a:buNone/>
            </a:pPr>
            <a:r>
              <a:rPr lang="en-US" sz="1800" b="1" dirty="0">
                <a:solidFill>
                  <a:srgbClr val="A1372F"/>
                </a:solidFill>
                <a:latin typeface="Microsoft YaHei" pitchFamily="34" charset="0"/>
                <a:ea typeface="Microsoft YaHei" pitchFamily="34" charset="-122"/>
                <a:cs typeface="Microsoft YaHei" pitchFamily="34" charset="-120"/>
              </a:rPr>
              <a:t>根本内容</a:t>
            </a:r>
            <a:endParaRPr lang="en-US" sz="1800" dirty="0"/>
          </a:p>
        </p:txBody>
      </p:sp>
      <p:sp>
        <p:nvSpPr>
          <p:cNvPr id="4" name="Text 2"/>
          <p:cNvSpPr/>
          <p:nvPr/>
        </p:nvSpPr>
        <p:spPr>
          <a:xfrm>
            <a:off x="768096" y="2386584"/>
            <a:ext cx="10561320" cy="1764792"/>
          </a:xfrm>
          <a:prstGeom prst="rect">
            <a:avLst/>
          </a:prstGeom>
          <a:noFill/>
          <a:ln/>
        </p:spPr>
        <p:txBody>
          <a:bodyPr wrap="square" lIns="0" tIns="0" rIns="0" bIns="0" rtlCol="0" anchor="t"/>
          <a:lstStyle/>
          <a:p>
            <a:pPr indent="0" marL="0">
              <a:lnSpc>
                <a:spcPct val="108000"/>
              </a:lnSpc>
              <a:buNone/>
            </a:pPr>
            <a:r>
              <a:rPr lang="en-US" sz="4200" b="1" dirty="0">
                <a:solidFill>
                  <a:srgbClr val="173238"/>
                </a:solidFill>
                <a:latin typeface="SimSun" pitchFamily="34" charset="0"/>
                <a:ea typeface="SimSun" pitchFamily="34" charset="-122"/>
                <a:cs typeface="SimSun" pitchFamily="34" charset="-120"/>
              </a:rPr>
              <a:t>国家制度　公民权利　权力组织</a:t>
            </a:r>
            <a:endParaRPr lang="en-US" sz="4200" dirty="0"/>
          </a:p>
        </p:txBody>
      </p:sp>
      <p:sp>
        <p:nvSpPr>
          <p:cNvPr id="5" name="Text 3"/>
          <p:cNvSpPr/>
          <p:nvPr/>
        </p:nvSpPr>
        <p:spPr>
          <a:xfrm>
            <a:off x="822960" y="4572000"/>
            <a:ext cx="10378440" cy="1298448"/>
          </a:xfrm>
          <a:prstGeom prst="rect">
            <a:avLst/>
          </a:prstGeom>
          <a:noFill/>
          <a:ln/>
        </p:spPr>
        <p:txBody>
          <a:bodyPr wrap="square" lIns="0" tIns="0" rIns="0" bIns="0" rtlCol="0" anchor="t"/>
          <a:lstStyle/>
          <a:p>
            <a:pPr indent="0" marL="0">
              <a:lnSpc>
                <a:spcPct val="108000"/>
              </a:lnSpc>
              <a:buNone/>
            </a:pPr>
            <a:r>
              <a:rPr lang="en-US" sz="2600" dirty="0">
                <a:solidFill>
                  <a:srgbClr val="64706A"/>
                </a:solidFill>
                <a:latin typeface="Microsoft YaHei" pitchFamily="34" charset="0"/>
                <a:ea typeface="Microsoft YaHei" pitchFamily="34" charset="-122"/>
                <a:cs typeface="Microsoft YaHei" pitchFamily="34" charset="-120"/>
              </a:rPr>
              <a:t>根本性，体现在对国家生活基本框架的安排。</a:t>
            </a:r>
            <a:endParaRPr lang="en-US" sz="2600" dirty="0"/>
          </a:p>
        </p:txBody>
      </p:sp>
      <p:sp>
        <p:nvSpPr>
          <p:cNvPr id="6" name="Text 4"/>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宪法序言、第1条及章节；教材18页（PDF33）</a:t>
            </a:r>
            <a:endParaRPr lang="en-US" sz="1200" dirty="0"/>
          </a:p>
        </p:txBody>
      </p:sp>
      <p:sp>
        <p:nvSpPr>
          <p:cNvPr id="7" name="Text 5"/>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6 / 26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走到这里，再给“宪法”一个完整说明</a:t>
            </a:r>
            <a:endParaRPr lang="en-US" sz="3800" dirty="0"/>
          </a:p>
        </p:txBody>
      </p:sp>
      <p:sp>
        <p:nvSpPr>
          <p:cNvPr id="3" name="Text 1"/>
          <p:cNvSpPr/>
          <p:nvPr/>
        </p:nvSpPr>
        <p:spPr>
          <a:xfrm>
            <a:off x="786384" y="1801368"/>
            <a:ext cx="9875520" cy="347472"/>
          </a:xfrm>
          <a:prstGeom prst="rect">
            <a:avLst/>
          </a:prstGeom>
          <a:noFill/>
          <a:ln/>
        </p:spPr>
        <p:txBody>
          <a:bodyPr wrap="square" lIns="0" tIns="0" rIns="0" bIns="0" rtlCol="0" anchor="t"/>
          <a:lstStyle/>
          <a:p>
            <a:pPr indent="0" marL="0">
              <a:lnSpc>
                <a:spcPct val="108000"/>
              </a:lnSpc>
              <a:buNone/>
            </a:pPr>
            <a:r>
              <a:rPr lang="en-US" sz="1800" b="1" dirty="0">
                <a:solidFill>
                  <a:srgbClr val="A1372F"/>
                </a:solidFill>
                <a:latin typeface="Microsoft YaHei" pitchFamily="34" charset="0"/>
                <a:ea typeface="Microsoft YaHei" pitchFamily="34" charset="-122"/>
                <a:cs typeface="Microsoft YaHei" pitchFamily="34" charset="-120"/>
              </a:rPr>
              <a:t>概念与制度关系</a:t>
            </a:r>
            <a:endParaRPr lang="en-US" sz="1800" dirty="0"/>
          </a:p>
        </p:txBody>
      </p:sp>
      <p:sp>
        <p:nvSpPr>
          <p:cNvPr id="4" name="Text 2"/>
          <p:cNvSpPr/>
          <p:nvPr/>
        </p:nvSpPr>
        <p:spPr>
          <a:xfrm>
            <a:off x="768096" y="2386584"/>
            <a:ext cx="10561320" cy="1764792"/>
          </a:xfrm>
          <a:prstGeom prst="rect">
            <a:avLst/>
          </a:prstGeom>
          <a:noFill/>
          <a:ln/>
        </p:spPr>
        <p:txBody>
          <a:bodyPr wrap="square" lIns="0" tIns="0" rIns="0" bIns="0" rtlCol="0" anchor="t"/>
          <a:lstStyle/>
          <a:p>
            <a:pPr indent="0" marL="0">
              <a:lnSpc>
                <a:spcPct val="108000"/>
              </a:lnSpc>
              <a:buNone/>
            </a:pPr>
            <a:r>
              <a:rPr lang="en-US" sz="4200" b="1" dirty="0">
                <a:solidFill>
                  <a:srgbClr val="173238"/>
                </a:solidFill>
                <a:latin typeface="SimSun" pitchFamily="34" charset="0"/>
                <a:ea typeface="SimSun" pitchFamily="34" charset="-122"/>
                <a:cs typeface="SimSun" pitchFamily="34" charset="-120"/>
              </a:rPr>
              <a:t>规定根本问题，具有最高法律效力。</a:t>
            </a:r>
            <a:endParaRPr lang="en-US" sz="4200" dirty="0"/>
          </a:p>
        </p:txBody>
      </p:sp>
      <p:sp>
        <p:nvSpPr>
          <p:cNvPr id="5" name="Text 3"/>
          <p:cNvSpPr/>
          <p:nvPr/>
        </p:nvSpPr>
        <p:spPr>
          <a:xfrm>
            <a:off x="822960" y="4572000"/>
            <a:ext cx="10378440" cy="1298448"/>
          </a:xfrm>
          <a:prstGeom prst="rect">
            <a:avLst/>
          </a:prstGeom>
          <a:noFill/>
          <a:ln/>
        </p:spPr>
        <p:txBody>
          <a:bodyPr wrap="square" lIns="0" tIns="0" rIns="0" bIns="0" rtlCol="0" anchor="t"/>
          <a:lstStyle/>
          <a:p>
            <a:pPr indent="0" marL="0">
              <a:lnSpc>
                <a:spcPct val="108000"/>
              </a:lnSpc>
              <a:buNone/>
            </a:pPr>
            <a:r>
              <a:rPr lang="en-US" sz="2600" dirty="0">
                <a:solidFill>
                  <a:srgbClr val="64706A"/>
                </a:solidFill>
                <a:latin typeface="Microsoft YaHei" pitchFamily="34" charset="0"/>
                <a:ea typeface="Microsoft YaHei" pitchFamily="34" charset="-122"/>
                <a:cs typeface="Microsoft YaHei" pitchFamily="34" charset="-120"/>
              </a:rPr>
              <a:t>国家根本法的地位，需要从内容、效力和相应程序共同理解。</a:t>
            </a:r>
            <a:endParaRPr lang="en-US" sz="2600" dirty="0"/>
          </a:p>
        </p:txBody>
      </p:sp>
      <p:sp>
        <p:nvSpPr>
          <p:cNvPr id="6" name="Text 4"/>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教材18—20页与我国宪法；本页为教学概括</a:t>
            </a:r>
            <a:endParaRPr lang="en-US" sz="1200" dirty="0"/>
          </a:p>
        </p:txBody>
      </p:sp>
      <p:sp>
        <p:nvSpPr>
          <p:cNvPr id="7" name="Text 5"/>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7 / 26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根本规则，为什么不能由普通法律随意改变</a:t>
            </a:r>
            <a:endParaRPr lang="en-US" sz="3800" dirty="0"/>
          </a:p>
        </p:txBody>
      </p:sp>
      <p:sp>
        <p:nvSpPr>
          <p:cNvPr id="3" name="Text 1"/>
          <p:cNvSpPr/>
          <p:nvPr/>
        </p:nvSpPr>
        <p:spPr>
          <a:xfrm>
            <a:off x="777240" y="1801368"/>
            <a:ext cx="6446520" cy="393192"/>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宪法第5条第3款</a:t>
            </a:r>
            <a:endParaRPr lang="en-US" sz="2400" dirty="0"/>
          </a:p>
        </p:txBody>
      </p:sp>
      <p:sp>
        <p:nvSpPr>
          <p:cNvPr id="4" name="Text 2"/>
          <p:cNvSpPr/>
          <p:nvPr/>
        </p:nvSpPr>
        <p:spPr>
          <a:xfrm>
            <a:off x="795528" y="2468880"/>
            <a:ext cx="6446520" cy="3566160"/>
          </a:xfrm>
          <a:prstGeom prst="rect">
            <a:avLst/>
          </a:prstGeom>
          <a:noFill/>
          <a:ln/>
        </p:spPr>
        <p:txBody>
          <a:bodyPr wrap="square" lIns="0" tIns="0" rIns="0" bIns="0" rtlCol="0" anchor="t"/>
          <a:lstStyle/>
          <a:p>
            <a:pPr indent="0" marL="0">
              <a:lnSpc>
                <a:spcPct val="108000"/>
              </a:lnSpc>
              <a:buNone/>
            </a:pPr>
            <a:r>
              <a:rPr lang="en-US" sz="3000" dirty="0">
                <a:solidFill>
                  <a:srgbClr val="173238"/>
                </a:solidFill>
                <a:latin typeface="SimSun" pitchFamily="34" charset="0"/>
                <a:ea typeface="SimSun" pitchFamily="34" charset="-122"/>
                <a:cs typeface="SimSun" pitchFamily="34" charset="-120"/>
              </a:rPr>
              <a:t>一切法律、行政法规和地方性法规都不得同宪法相抵触。</a:t>
            </a:r>
            <a:endParaRPr lang="en-US" sz="3000" dirty="0"/>
          </a:p>
        </p:txBody>
      </p:sp>
      <p:sp>
        <p:nvSpPr>
          <p:cNvPr id="5" name="Shape 3"/>
          <p:cNvSpPr/>
          <p:nvPr/>
        </p:nvSpPr>
        <p:spPr>
          <a:xfrm>
            <a:off x="7571232" y="1792224"/>
            <a:ext cx="0" cy="4233672"/>
          </a:xfrm>
          <a:prstGeom prst="line">
            <a:avLst/>
          </a:prstGeom>
          <a:noFill/>
          <a:ln w="16510">
            <a:solidFill>
              <a:srgbClr val="B89A5B"/>
            </a:solidFill>
            <a:prstDash val="solid"/>
          </a:ln>
        </p:spPr>
      </p:sp>
      <p:sp>
        <p:nvSpPr>
          <p:cNvPr id="6" name="Text 4"/>
          <p:cNvSpPr/>
          <p:nvPr/>
        </p:nvSpPr>
        <p:spPr>
          <a:xfrm>
            <a:off x="7946136" y="1819656"/>
            <a:ext cx="3456432" cy="1307592"/>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地位
</a:t>
            </a:r>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宪法具有最高法律效力。</a:t>
            </a:r>
            <a:endParaRPr lang="en-US" sz="2400" dirty="0"/>
          </a:p>
        </p:txBody>
      </p:sp>
      <p:sp>
        <p:nvSpPr>
          <p:cNvPr id="7" name="Text 5"/>
          <p:cNvSpPr/>
          <p:nvPr/>
        </p:nvSpPr>
        <p:spPr>
          <a:xfrm>
            <a:off x="7946136" y="3227832"/>
            <a:ext cx="3456432" cy="1307592"/>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关系
</a:t>
            </a:r>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具体化须服从宪法要求。</a:t>
            </a:r>
            <a:endParaRPr lang="en-US" sz="2400" dirty="0"/>
          </a:p>
        </p:txBody>
      </p:sp>
      <p:sp>
        <p:nvSpPr>
          <p:cNvPr id="8" name="Text 6"/>
          <p:cNvSpPr/>
          <p:nvPr/>
        </p:nvSpPr>
        <p:spPr>
          <a:xfrm>
            <a:off x="7946136" y="4636008"/>
            <a:ext cx="3456432" cy="1307592"/>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处理
</a:t>
            </a:r>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纠正问题还须依法定制度。</a:t>
            </a:r>
            <a:endParaRPr lang="en-US" sz="2400" dirty="0"/>
          </a:p>
        </p:txBody>
      </p:sp>
      <p:sp>
        <p:nvSpPr>
          <p:cNvPr id="9" name="Text 7"/>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现行宪法第5条第3款；教材20页（PDF35）</a:t>
            </a:r>
            <a:endParaRPr lang="en-US" sz="1200" dirty="0"/>
          </a:p>
        </p:txBody>
      </p:sp>
      <p:sp>
        <p:nvSpPr>
          <p:cNvPr id="10" name="Text 8"/>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8 / 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要改根本规则，就需要不同的通过要求</a:t>
            </a:r>
            <a:endParaRPr lang="en-US" sz="3800" dirty="0"/>
          </a:p>
        </p:txBody>
      </p:sp>
      <p:sp>
        <p:nvSpPr>
          <p:cNvPr id="3" name="Shape 1"/>
          <p:cNvSpPr/>
          <p:nvPr/>
        </p:nvSpPr>
        <p:spPr>
          <a:xfrm>
            <a:off x="6094476" y="1828800"/>
            <a:ext cx="0" cy="3474720"/>
          </a:xfrm>
          <a:prstGeom prst="line">
            <a:avLst/>
          </a:prstGeom>
          <a:noFill/>
          <a:ln w="13970">
            <a:solidFill>
              <a:srgbClr val="B89A5B"/>
            </a:solidFill>
            <a:prstDash val="solid"/>
          </a:ln>
        </p:spPr>
      </p:sp>
      <p:sp>
        <p:nvSpPr>
          <p:cNvPr id="4" name="Text 2"/>
          <p:cNvSpPr/>
          <p:nvPr/>
        </p:nvSpPr>
        <p:spPr>
          <a:xfrm>
            <a:off x="786384" y="1828800"/>
            <a:ext cx="4663440" cy="768096"/>
          </a:xfrm>
          <a:prstGeom prst="rect">
            <a:avLst/>
          </a:prstGeom>
          <a:noFill/>
          <a:ln/>
        </p:spPr>
        <p:txBody>
          <a:bodyPr wrap="square" lIns="0" tIns="0" rIns="0" bIns="0" rtlCol="0" anchor="t"/>
          <a:lstStyle/>
          <a:p>
            <a:pPr indent="0" marL="0">
              <a:lnSpc>
                <a:spcPct val="108000"/>
              </a:lnSpc>
              <a:buNone/>
            </a:pPr>
            <a:r>
              <a:rPr lang="en-US" sz="2800" b="1" dirty="0">
                <a:solidFill>
                  <a:srgbClr val="173238"/>
                </a:solidFill>
                <a:latin typeface="Microsoft YaHei" pitchFamily="34" charset="0"/>
                <a:ea typeface="Microsoft YaHei" pitchFamily="34" charset="-122"/>
                <a:cs typeface="Microsoft YaHei" pitchFamily="34" charset="-120"/>
              </a:rPr>
              <a:t>宪法修改</a:t>
            </a:r>
            <a:endParaRPr lang="en-US" sz="2800" dirty="0"/>
          </a:p>
        </p:txBody>
      </p:sp>
      <p:sp>
        <p:nvSpPr>
          <p:cNvPr id="5" name="Text 3"/>
          <p:cNvSpPr/>
          <p:nvPr/>
        </p:nvSpPr>
        <p:spPr>
          <a:xfrm>
            <a:off x="786384" y="2798064"/>
            <a:ext cx="4663440" cy="2340864"/>
          </a:xfrm>
          <a:prstGeom prst="rect">
            <a:avLst/>
          </a:prstGeom>
          <a:noFill/>
          <a:ln/>
        </p:spPr>
        <p:txBody>
          <a:bodyPr wrap="square" lIns="0" tIns="0" rIns="0" bIns="0" rtlCol="0" anchor="t"/>
          <a:lstStyle/>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全国人大全体代表</a:t>
            </a:r>
            <a:endParaRPr lang="en-US" sz="2600" dirty="0"/>
          </a:p>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三分之二以上的多数通过</a:t>
            </a:r>
            <a:endParaRPr lang="en-US" sz="2600" dirty="0"/>
          </a:p>
        </p:txBody>
      </p:sp>
      <p:sp>
        <p:nvSpPr>
          <p:cNvPr id="6" name="Text 4"/>
          <p:cNvSpPr/>
          <p:nvPr/>
        </p:nvSpPr>
        <p:spPr>
          <a:xfrm>
            <a:off x="6547104" y="1828800"/>
            <a:ext cx="4663440" cy="768096"/>
          </a:xfrm>
          <a:prstGeom prst="rect">
            <a:avLst/>
          </a:prstGeom>
          <a:noFill/>
          <a:ln/>
        </p:spPr>
        <p:txBody>
          <a:bodyPr wrap="square" lIns="0" tIns="0" rIns="0" bIns="0" rtlCol="0" anchor="t"/>
          <a:lstStyle/>
          <a:p>
            <a:pPr indent="0" marL="0">
              <a:lnSpc>
                <a:spcPct val="108000"/>
              </a:lnSpc>
              <a:buNone/>
            </a:pPr>
            <a:r>
              <a:rPr lang="en-US" sz="2800" b="1" dirty="0">
                <a:solidFill>
                  <a:srgbClr val="A1372F"/>
                </a:solidFill>
                <a:latin typeface="Microsoft YaHei" pitchFamily="34" charset="0"/>
                <a:ea typeface="Microsoft YaHei" pitchFamily="34" charset="-122"/>
                <a:cs typeface="Microsoft YaHei" pitchFamily="34" charset="-120"/>
              </a:rPr>
              <a:t>法律和其他议案</a:t>
            </a:r>
            <a:endParaRPr lang="en-US" sz="2800" dirty="0"/>
          </a:p>
        </p:txBody>
      </p:sp>
      <p:sp>
        <p:nvSpPr>
          <p:cNvPr id="7" name="Text 5"/>
          <p:cNvSpPr/>
          <p:nvPr/>
        </p:nvSpPr>
        <p:spPr>
          <a:xfrm>
            <a:off x="6547104" y="2798064"/>
            <a:ext cx="4663440" cy="2340864"/>
          </a:xfrm>
          <a:prstGeom prst="rect">
            <a:avLst/>
          </a:prstGeom>
          <a:noFill/>
          <a:ln/>
        </p:spPr>
        <p:txBody>
          <a:bodyPr wrap="square" lIns="0" tIns="0" rIns="0" bIns="0" rtlCol="0" anchor="t"/>
          <a:lstStyle/>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全国人大全体代表</a:t>
            </a:r>
            <a:endParaRPr lang="en-US" sz="2600" dirty="0"/>
          </a:p>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过半数通过</a:t>
            </a:r>
            <a:endParaRPr lang="en-US" sz="2600" dirty="0"/>
          </a:p>
        </p:txBody>
      </p:sp>
      <p:sp>
        <p:nvSpPr>
          <p:cNvPr id="8" name="Text 6"/>
          <p:cNvSpPr/>
          <p:nvPr/>
        </p:nvSpPr>
        <p:spPr>
          <a:xfrm>
            <a:off x="777240" y="5614416"/>
            <a:ext cx="10588752" cy="457200"/>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同一机关、同一计算基数，不同的通过要求。</a:t>
            </a:r>
            <a:endParaRPr lang="en-US" sz="2400" dirty="0"/>
          </a:p>
        </p:txBody>
      </p:sp>
      <p:sp>
        <p:nvSpPr>
          <p:cNvPr id="9" name="Text 7"/>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现行宪法第64条；教材19页（PDF34）</a:t>
            </a:r>
            <a:endParaRPr lang="en-US" sz="1200" dirty="0"/>
          </a:p>
        </p:txBody>
      </p:sp>
      <p:sp>
        <p:nvSpPr>
          <p:cNvPr id="10" name="Text 8"/>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9 / 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3238"/>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F5F1E7"/>
                </a:solidFill>
                <a:latin typeface="Microsoft YaHei" pitchFamily="34" charset="0"/>
                <a:ea typeface="Microsoft YaHei" pitchFamily="34" charset="-122"/>
                <a:cs typeface="Microsoft YaHei" pitchFamily="34" charset="-120"/>
              </a:rPr>
              <a:t>同样是60%赞成，结果会一样吗？</a:t>
            </a:r>
            <a:endParaRPr lang="en-US" sz="3800" dirty="0"/>
          </a:p>
        </p:txBody>
      </p:sp>
      <p:sp>
        <p:nvSpPr>
          <p:cNvPr id="3" name="Text 1"/>
          <p:cNvSpPr/>
          <p:nvPr/>
        </p:nvSpPr>
        <p:spPr>
          <a:xfrm>
            <a:off x="795528" y="1792224"/>
            <a:ext cx="10488168" cy="1389888"/>
          </a:xfrm>
          <a:prstGeom prst="rect">
            <a:avLst/>
          </a:prstGeom>
          <a:noFill/>
          <a:ln/>
        </p:spPr>
        <p:txBody>
          <a:bodyPr wrap="square" lIns="0" tIns="0" rIns="0" bIns="0" rtlCol="0" anchor="t"/>
          <a:lstStyle/>
          <a:p>
            <a:pPr indent="0" marL="0">
              <a:lnSpc>
                <a:spcPct val="108000"/>
              </a:lnSpc>
              <a:buNone/>
            </a:pPr>
            <a:r>
              <a:rPr lang="en-US" sz="2400" dirty="0">
                <a:solidFill>
                  <a:srgbClr val="E0DDCF"/>
                </a:solidFill>
                <a:latin typeface="Microsoft YaHei" pitchFamily="34" charset="0"/>
                <a:ea typeface="Microsoft YaHei" pitchFamily="34" charset="-122"/>
                <a:cs typeface="Microsoft YaHei" pitchFamily="34" charset="-120"/>
              </a:rPr>
              <a:t>其他法定条件均符合要求。</a:t>
            </a:r>
            <a:endParaRPr lang="en-US" sz="2400" dirty="0"/>
          </a:p>
          <a:p>
            <a:pPr indent="0" marL="0">
              <a:lnSpc>
                <a:spcPct val="108000"/>
              </a:lnSpc>
              <a:buNone/>
            </a:pPr>
            <a:r>
              <a:rPr lang="en-US" sz="2400" dirty="0">
                <a:solidFill>
                  <a:srgbClr val="E0DDCF"/>
                </a:solidFill>
                <a:latin typeface="Microsoft YaHei" pitchFamily="34" charset="0"/>
                <a:ea typeface="Microsoft YaHei" pitchFamily="34" charset="-122"/>
                <a:cs typeface="Microsoft YaHei" pitchFamily="34" charset="-120"/>
              </a:rPr>
              <a:t>宪法修改：全体代表60%赞成。</a:t>
            </a:r>
            <a:endParaRPr lang="en-US" sz="2400" dirty="0"/>
          </a:p>
          <a:p>
            <a:pPr indent="0" marL="0">
              <a:lnSpc>
                <a:spcPct val="108000"/>
              </a:lnSpc>
              <a:buNone/>
            </a:pPr>
            <a:r>
              <a:rPr lang="en-US" sz="2400" dirty="0">
                <a:solidFill>
                  <a:srgbClr val="E0DDCF"/>
                </a:solidFill>
                <a:latin typeface="Microsoft YaHei" pitchFamily="34" charset="0"/>
                <a:ea typeface="Microsoft YaHei" pitchFamily="34" charset="-122"/>
                <a:cs typeface="Microsoft YaHei" pitchFamily="34" charset="-120"/>
              </a:rPr>
              <a:t>法律议案：全体代表60%赞成。</a:t>
            </a:r>
            <a:endParaRPr lang="en-US" sz="2400" dirty="0"/>
          </a:p>
        </p:txBody>
      </p:sp>
      <p:sp>
        <p:nvSpPr>
          <p:cNvPr id="4" name="Text 2"/>
          <p:cNvSpPr/>
          <p:nvPr/>
        </p:nvSpPr>
        <p:spPr>
          <a:xfrm>
            <a:off x="777240" y="3474720"/>
            <a:ext cx="10497312" cy="1609344"/>
          </a:xfrm>
          <a:prstGeom prst="rect">
            <a:avLst/>
          </a:prstGeom>
          <a:noFill/>
          <a:ln/>
        </p:spPr>
        <p:txBody>
          <a:bodyPr wrap="square" lIns="0" tIns="0" rIns="0" bIns="0" rtlCol="0" anchor="t"/>
          <a:lstStyle/>
          <a:p>
            <a:pPr indent="0" marL="0">
              <a:lnSpc>
                <a:spcPct val="108000"/>
              </a:lnSpc>
              <a:buNone/>
            </a:pPr>
            <a:r>
              <a:rPr lang="en-US" sz="3600" b="1" dirty="0">
                <a:solidFill>
                  <a:srgbClr val="F5F1E7"/>
                </a:solidFill>
                <a:latin typeface="Microsoft YaHei" pitchFamily="34" charset="0"/>
                <a:ea typeface="Microsoft YaHei" pitchFamily="34" charset="-122"/>
                <a:cs typeface="Microsoft YaHei" pitchFamily="34" charset="-120"/>
              </a:rPr>
              <a:t>哪一项达到第64条的通过门槛？</a:t>
            </a:r>
            <a:endParaRPr lang="en-US" sz="3600" dirty="0"/>
          </a:p>
        </p:txBody>
      </p:sp>
      <p:sp>
        <p:nvSpPr>
          <p:cNvPr id="5" name="Text 3"/>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教学设例；材料二任务一</a:t>
            </a:r>
            <a:endParaRPr lang="en-US" sz="1200" dirty="0"/>
          </a:p>
        </p:txBody>
      </p:sp>
      <p:sp>
        <p:nvSpPr>
          <p:cNvPr id="6" name="Text 4"/>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10 / 26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用制度条件说明判断</a:t>
            </a:r>
            <a:endParaRPr lang="en-US" sz="3800" dirty="0"/>
          </a:p>
        </p:txBody>
      </p:sp>
      <p:sp>
        <p:nvSpPr>
          <p:cNvPr id="3" name="Text 1"/>
          <p:cNvSpPr/>
          <p:nvPr/>
        </p:nvSpPr>
        <p:spPr>
          <a:xfrm>
            <a:off x="795528" y="1837944"/>
            <a:ext cx="530352" cy="448056"/>
          </a:xfrm>
          <a:prstGeom prst="rect">
            <a:avLst/>
          </a:prstGeom>
          <a:noFill/>
          <a:ln/>
        </p:spPr>
        <p:txBody>
          <a:bodyPr wrap="square" lIns="0" tIns="0" rIns="0" bIns="0" rtlCol="0" anchor="t"/>
          <a:lstStyle/>
          <a:p>
            <a:pPr indent="0" marL="0">
              <a:lnSpc>
                <a:spcPct val="108000"/>
              </a:lnSpc>
              <a:buNone/>
            </a:pPr>
            <a:r>
              <a:rPr lang="en-US" sz="2600" b="1" dirty="0">
                <a:solidFill>
                  <a:srgbClr val="B89A5B"/>
                </a:solidFill>
                <a:latin typeface="Microsoft YaHei" pitchFamily="34" charset="0"/>
                <a:ea typeface="Microsoft YaHei" pitchFamily="34" charset="-122"/>
                <a:cs typeface="Microsoft YaHei" pitchFamily="34" charset="-120"/>
              </a:rPr>
              <a:t>01</a:t>
            </a:r>
            <a:endParaRPr lang="en-US" sz="2600" dirty="0"/>
          </a:p>
        </p:txBody>
      </p:sp>
      <p:sp>
        <p:nvSpPr>
          <p:cNvPr id="4" name="Text 2"/>
          <p:cNvSpPr/>
          <p:nvPr/>
        </p:nvSpPr>
        <p:spPr>
          <a:xfrm>
            <a:off x="1563624" y="1819656"/>
            <a:ext cx="2286000" cy="1545336"/>
          </a:xfrm>
          <a:prstGeom prst="rect">
            <a:avLst/>
          </a:prstGeom>
          <a:noFill/>
          <a:ln/>
        </p:spPr>
        <p:txBody>
          <a:bodyPr wrap="square" lIns="0" tIns="0" rIns="0" bIns="0" rtlCol="0" anchor="t"/>
          <a:lstStyle/>
          <a:p>
            <a:pPr indent="0" marL="0">
              <a:lnSpc>
                <a:spcPct val="108000"/>
              </a:lnSpc>
              <a:buNone/>
            </a:pPr>
            <a:r>
              <a:rPr lang="en-US" sz="2600" b="1" dirty="0">
                <a:solidFill>
                  <a:srgbClr val="A1372F"/>
                </a:solidFill>
                <a:latin typeface="Microsoft YaHei" pitchFamily="34" charset="0"/>
                <a:ea typeface="Microsoft YaHei" pitchFamily="34" charset="-122"/>
                <a:cs typeface="Microsoft YaHei" pitchFamily="34" charset="-120"/>
              </a:rPr>
              <a:t>宪法修改</a:t>
            </a:r>
            <a:endParaRPr lang="en-US" sz="2600" dirty="0"/>
          </a:p>
        </p:txBody>
      </p:sp>
      <p:sp>
        <p:nvSpPr>
          <p:cNvPr id="5" name="Text 3"/>
          <p:cNvSpPr/>
          <p:nvPr/>
        </p:nvSpPr>
        <p:spPr>
          <a:xfrm>
            <a:off x="4233672" y="1819656"/>
            <a:ext cx="6967728" cy="1563624"/>
          </a:xfrm>
          <a:prstGeom prst="rect">
            <a:avLst/>
          </a:prstGeom>
          <a:noFill/>
          <a:ln/>
        </p:spPr>
        <p:txBody>
          <a:bodyPr wrap="square" lIns="0" tIns="0" rIns="0" bIns="0" rtlCol="0" anchor="t"/>
          <a:lstStyle/>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60%不足三分之二。</a:t>
            </a:r>
            <a:endParaRPr lang="en-US" sz="2400" dirty="0"/>
          </a:p>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未达到通过门槛。</a:t>
            </a:r>
            <a:endParaRPr lang="en-US" sz="2400" dirty="0"/>
          </a:p>
        </p:txBody>
      </p:sp>
      <p:sp>
        <p:nvSpPr>
          <p:cNvPr id="6" name="Shape 4"/>
          <p:cNvSpPr/>
          <p:nvPr/>
        </p:nvSpPr>
        <p:spPr>
          <a:xfrm>
            <a:off x="1554480" y="3465576"/>
            <a:ext cx="9692640" cy="0"/>
          </a:xfrm>
          <a:prstGeom prst="line">
            <a:avLst/>
          </a:prstGeom>
          <a:noFill/>
          <a:ln w="8890">
            <a:solidFill>
              <a:srgbClr val="CCCABB"/>
            </a:solidFill>
            <a:prstDash val="solid"/>
          </a:ln>
        </p:spPr>
      </p:sp>
      <p:sp>
        <p:nvSpPr>
          <p:cNvPr id="7" name="Text 5"/>
          <p:cNvSpPr/>
          <p:nvPr/>
        </p:nvSpPr>
        <p:spPr>
          <a:xfrm>
            <a:off x="795528" y="3621024"/>
            <a:ext cx="530352" cy="448056"/>
          </a:xfrm>
          <a:prstGeom prst="rect">
            <a:avLst/>
          </a:prstGeom>
          <a:noFill/>
          <a:ln/>
        </p:spPr>
        <p:txBody>
          <a:bodyPr wrap="square" lIns="0" tIns="0" rIns="0" bIns="0" rtlCol="0" anchor="t"/>
          <a:lstStyle/>
          <a:p>
            <a:pPr indent="0" marL="0">
              <a:lnSpc>
                <a:spcPct val="108000"/>
              </a:lnSpc>
              <a:buNone/>
            </a:pPr>
            <a:r>
              <a:rPr lang="en-US" sz="2600" b="1" dirty="0">
                <a:solidFill>
                  <a:srgbClr val="B89A5B"/>
                </a:solidFill>
                <a:latin typeface="Microsoft YaHei" pitchFamily="34" charset="0"/>
                <a:ea typeface="Microsoft YaHei" pitchFamily="34" charset="-122"/>
                <a:cs typeface="Microsoft YaHei" pitchFamily="34" charset="-120"/>
              </a:rPr>
              <a:t>02</a:t>
            </a:r>
            <a:endParaRPr lang="en-US" sz="2600" dirty="0"/>
          </a:p>
        </p:txBody>
      </p:sp>
      <p:sp>
        <p:nvSpPr>
          <p:cNvPr id="8" name="Text 6"/>
          <p:cNvSpPr/>
          <p:nvPr/>
        </p:nvSpPr>
        <p:spPr>
          <a:xfrm>
            <a:off x="1563624" y="3602736"/>
            <a:ext cx="2286000" cy="1545336"/>
          </a:xfrm>
          <a:prstGeom prst="rect">
            <a:avLst/>
          </a:prstGeom>
          <a:noFill/>
          <a:ln/>
        </p:spPr>
        <p:txBody>
          <a:bodyPr wrap="square" lIns="0" tIns="0" rIns="0" bIns="0" rtlCol="0" anchor="t"/>
          <a:lstStyle/>
          <a:p>
            <a:pPr indent="0" marL="0">
              <a:lnSpc>
                <a:spcPct val="108000"/>
              </a:lnSpc>
              <a:buNone/>
            </a:pPr>
            <a:r>
              <a:rPr lang="en-US" sz="2600" b="1" dirty="0">
                <a:solidFill>
                  <a:srgbClr val="A1372F"/>
                </a:solidFill>
                <a:latin typeface="Microsoft YaHei" pitchFamily="34" charset="0"/>
                <a:ea typeface="Microsoft YaHei" pitchFamily="34" charset="-122"/>
                <a:cs typeface="Microsoft YaHei" pitchFamily="34" charset="-120"/>
              </a:rPr>
              <a:t>法律议案</a:t>
            </a:r>
            <a:endParaRPr lang="en-US" sz="2600" dirty="0"/>
          </a:p>
        </p:txBody>
      </p:sp>
      <p:sp>
        <p:nvSpPr>
          <p:cNvPr id="9" name="Text 7"/>
          <p:cNvSpPr/>
          <p:nvPr/>
        </p:nvSpPr>
        <p:spPr>
          <a:xfrm>
            <a:off x="4233672" y="3602736"/>
            <a:ext cx="6967728" cy="1563624"/>
          </a:xfrm>
          <a:prstGeom prst="rect">
            <a:avLst/>
          </a:prstGeom>
          <a:noFill/>
          <a:ln/>
        </p:spPr>
        <p:txBody>
          <a:bodyPr wrap="square" lIns="0" tIns="0" rIns="0" bIns="0" rtlCol="0" anchor="t"/>
          <a:lstStyle/>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60%超过半数。</a:t>
            </a:r>
            <a:endParaRPr lang="en-US" sz="2400" dirty="0"/>
          </a:p>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达到这一通过门槛。</a:t>
            </a:r>
            <a:endParaRPr lang="en-US" sz="2400" dirty="0"/>
          </a:p>
        </p:txBody>
      </p:sp>
      <p:sp>
        <p:nvSpPr>
          <p:cNvPr id="10" name="Text 8"/>
          <p:cNvSpPr/>
          <p:nvPr/>
        </p:nvSpPr>
        <p:spPr>
          <a:xfrm>
            <a:off x="777240" y="5614416"/>
            <a:ext cx="10588752" cy="457200"/>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有限判断也要明确：基数、门槛和结论都说清。</a:t>
            </a:r>
            <a:endParaRPr lang="en-US" sz="2400" dirty="0"/>
          </a:p>
        </p:txBody>
      </p:sp>
      <p:sp>
        <p:nvSpPr>
          <p:cNvPr id="11" name="Text 9"/>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宪法第64条；任务一讲评</a:t>
            </a:r>
            <a:endParaRPr lang="en-US" sz="1200" dirty="0"/>
          </a:p>
        </p:txBody>
      </p:sp>
      <p:sp>
        <p:nvSpPr>
          <p:cNvPr id="12" name="Text 10"/>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11 / 26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3238"/>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F5F1E7"/>
                </a:solidFill>
                <a:latin typeface="Microsoft YaHei" pitchFamily="34" charset="0"/>
                <a:ea typeface="Microsoft YaHei" pitchFamily="34" charset="-122"/>
                <a:cs typeface="Microsoft YaHei" pitchFamily="34" charset="-120"/>
              </a:rPr>
              <a:t>把第一段故事，收成三个有根据的理由</a:t>
            </a:r>
            <a:endParaRPr lang="en-US" sz="3800" dirty="0"/>
          </a:p>
        </p:txBody>
      </p:sp>
      <p:sp>
        <p:nvSpPr>
          <p:cNvPr id="3" name="Text 1"/>
          <p:cNvSpPr/>
          <p:nvPr/>
        </p:nvSpPr>
        <p:spPr>
          <a:xfrm>
            <a:off x="822960" y="1828800"/>
            <a:ext cx="10405872" cy="1124712"/>
          </a:xfrm>
          <a:prstGeom prst="rect">
            <a:avLst/>
          </a:prstGeom>
          <a:noFill/>
          <a:ln/>
        </p:spPr>
        <p:txBody>
          <a:bodyPr wrap="square" lIns="0" tIns="0" rIns="0" bIns="0" rtlCol="0" anchor="t"/>
          <a:lstStyle/>
          <a:p>
            <a:pPr indent="0" marL="0">
              <a:lnSpc>
                <a:spcPct val="108000"/>
              </a:lnSpc>
              <a:buNone/>
            </a:pPr>
            <a:r>
              <a:rPr lang="en-US" sz="3800" b="1" dirty="0">
                <a:solidFill>
                  <a:srgbClr val="B89A5B"/>
                </a:solidFill>
                <a:latin typeface="SimSun" pitchFamily="34" charset="0"/>
                <a:ea typeface="SimSun" pitchFamily="34" charset="-122"/>
                <a:cs typeface="SimSun" pitchFamily="34" charset="-120"/>
              </a:rPr>
              <a:t>根本内容 · 最高效力 · 特别修改程序</a:t>
            </a:r>
            <a:endParaRPr lang="en-US" sz="3800" dirty="0"/>
          </a:p>
        </p:txBody>
      </p:sp>
      <p:sp>
        <p:nvSpPr>
          <p:cNvPr id="4" name="Text 2"/>
          <p:cNvSpPr/>
          <p:nvPr/>
        </p:nvSpPr>
        <p:spPr>
          <a:xfrm>
            <a:off x="886968" y="3346704"/>
            <a:ext cx="10287000" cy="676656"/>
          </a:xfrm>
          <a:prstGeom prst="rect">
            <a:avLst/>
          </a:prstGeom>
          <a:noFill/>
          <a:ln/>
        </p:spPr>
        <p:txBody>
          <a:bodyPr wrap="square" lIns="0" tIns="0" rIns="0" bIns="0" rtlCol="0" anchor="t"/>
          <a:lstStyle/>
          <a:p>
            <a:pPr indent="0" marL="0">
              <a:lnSpc>
                <a:spcPct val="108000"/>
              </a:lnSpc>
              <a:buNone/>
            </a:pPr>
            <a:r>
              <a:rPr lang="en-US" sz="2600" dirty="0">
                <a:solidFill>
                  <a:srgbClr val="F5F1E7"/>
                </a:solidFill>
                <a:latin typeface="Microsoft YaHei" pitchFamily="34" charset="0"/>
                <a:ea typeface="Microsoft YaHei" pitchFamily="34" charset="-122"/>
                <a:cs typeface="Microsoft YaHei" pitchFamily="34" charset="-120"/>
              </a:rPr>
              <a:t>每项给一处我国依据。</a:t>
            </a:r>
            <a:endParaRPr lang="en-US" sz="2600" dirty="0"/>
          </a:p>
        </p:txBody>
      </p:sp>
      <p:sp>
        <p:nvSpPr>
          <p:cNvPr id="5" name="Text 3"/>
          <p:cNvSpPr/>
          <p:nvPr/>
        </p:nvSpPr>
        <p:spPr>
          <a:xfrm>
            <a:off x="886968" y="4169664"/>
            <a:ext cx="10287000" cy="676656"/>
          </a:xfrm>
          <a:prstGeom prst="rect">
            <a:avLst/>
          </a:prstGeom>
          <a:noFill/>
          <a:ln/>
        </p:spPr>
        <p:txBody>
          <a:bodyPr wrap="square" lIns="0" tIns="0" rIns="0" bIns="0" rtlCol="0" anchor="t"/>
          <a:lstStyle/>
          <a:p>
            <a:pPr indent="0" marL="0">
              <a:lnSpc>
                <a:spcPct val="108000"/>
              </a:lnSpc>
              <a:buNone/>
            </a:pPr>
            <a:r>
              <a:rPr lang="en-US" sz="2600" dirty="0">
                <a:solidFill>
                  <a:srgbClr val="F5F1E7"/>
                </a:solidFill>
                <a:latin typeface="Microsoft YaHei" pitchFamily="34" charset="0"/>
                <a:ea typeface="Microsoft YaHei" pitchFamily="34" charset="-122"/>
                <a:cs typeface="Microsoft YaHei" pitchFamily="34" charset="-120"/>
              </a:rPr>
              <a:t>再用一句话解释它怎样支持判断。</a:t>
            </a:r>
            <a:endParaRPr lang="en-US" sz="2600" dirty="0"/>
          </a:p>
        </p:txBody>
      </p:sp>
      <p:sp>
        <p:nvSpPr>
          <p:cNvPr id="6" name="Text 4"/>
          <p:cNvSpPr/>
          <p:nvPr/>
        </p:nvSpPr>
        <p:spPr>
          <a:xfrm>
            <a:off x="886968" y="4992624"/>
            <a:ext cx="10287000" cy="676656"/>
          </a:xfrm>
          <a:prstGeom prst="rect">
            <a:avLst/>
          </a:prstGeom>
          <a:noFill/>
          <a:ln/>
        </p:spPr>
        <p:txBody>
          <a:bodyPr wrap="square" lIns="0" tIns="0" rIns="0" bIns="0" rtlCol="0" anchor="t"/>
          <a:lstStyle/>
          <a:p>
            <a:pPr indent="0" marL="0">
              <a:lnSpc>
                <a:spcPct val="108000"/>
              </a:lnSpc>
              <a:buNone/>
            </a:pPr>
            <a:r>
              <a:rPr lang="en-US" sz="2600" dirty="0">
                <a:solidFill>
                  <a:srgbClr val="F5F1E7"/>
                </a:solidFill>
                <a:latin typeface="Microsoft YaHei" pitchFamily="34" charset="0"/>
                <a:ea typeface="Microsoft YaHei" pitchFamily="34" charset="-122"/>
                <a:cs typeface="Microsoft YaHei" pitchFamily="34" charset="-120"/>
              </a:rPr>
              <a:t>不要只写三个名称。</a:t>
            </a:r>
            <a:endParaRPr lang="en-US" sz="2600" dirty="0"/>
          </a:p>
        </p:txBody>
      </p:sp>
      <p:sp>
        <p:nvSpPr>
          <p:cNvPr id="7" name="Text 5"/>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材料二任务二；第一学时收束</a:t>
            </a:r>
            <a:endParaRPr lang="en-US" sz="1200" dirty="0"/>
          </a:p>
        </p:txBody>
      </p:sp>
      <p:sp>
        <p:nvSpPr>
          <p:cNvPr id="8" name="Text 6"/>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12 / 26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73238"/>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F5F1E7"/>
                </a:solidFill>
                <a:latin typeface="Microsoft YaHei" pitchFamily="34" charset="0"/>
                <a:ea typeface="Microsoft YaHei" pitchFamily="34" charset="-122"/>
                <a:cs typeface="Microsoft YaHei" pitchFamily="34" charset="-120"/>
              </a:rPr>
              <a:t>当权力侵害了一个人，谁来回答他的请求？</a:t>
            </a:r>
            <a:endParaRPr lang="en-US" sz="3800" dirty="0"/>
          </a:p>
        </p:txBody>
      </p:sp>
      <p:sp>
        <p:nvSpPr>
          <p:cNvPr id="3" name="Text 1"/>
          <p:cNvSpPr/>
          <p:nvPr/>
        </p:nvSpPr>
        <p:spPr>
          <a:xfrm>
            <a:off x="795528" y="1792224"/>
            <a:ext cx="10488168" cy="1389888"/>
          </a:xfrm>
          <a:prstGeom prst="rect">
            <a:avLst/>
          </a:prstGeom>
          <a:noFill/>
          <a:ln/>
        </p:spPr>
        <p:txBody>
          <a:bodyPr wrap="square" lIns="0" tIns="0" rIns="0" bIns="0" rtlCol="0" anchor="t"/>
          <a:lstStyle/>
          <a:p>
            <a:pPr indent="0" marL="0">
              <a:lnSpc>
                <a:spcPct val="108000"/>
              </a:lnSpc>
              <a:buNone/>
            </a:pPr>
            <a:r>
              <a:rPr lang="en-US" sz="2400" dirty="0">
                <a:solidFill>
                  <a:srgbClr val="E0DDCF"/>
                </a:solidFill>
                <a:latin typeface="Microsoft YaHei" pitchFamily="34" charset="0"/>
                <a:ea typeface="Microsoft YaHei" pitchFamily="34" charset="-122"/>
                <a:cs typeface="Microsoft YaHei" pitchFamily="34" charset="-120"/>
              </a:rPr>
              <a:t>一位公民认为自己受到国家机关工作人员侵害。</a:t>
            </a:r>
            <a:endParaRPr lang="en-US" sz="2400" dirty="0"/>
          </a:p>
          <a:p>
            <a:pPr indent="0" marL="0">
              <a:lnSpc>
                <a:spcPct val="108000"/>
              </a:lnSpc>
              <a:buNone/>
            </a:pPr>
            <a:r>
              <a:rPr lang="en-US" sz="2400" dirty="0">
                <a:solidFill>
                  <a:srgbClr val="E0DDCF"/>
                </a:solidFill>
                <a:latin typeface="Microsoft YaHei" pitchFamily="34" charset="0"/>
                <a:ea typeface="Microsoft YaHei" pitchFamily="34" charset="-122"/>
                <a:cs typeface="Microsoft YaHei" pitchFamily="34" charset="-120"/>
              </a:rPr>
              <a:t>他想知道：能否取得赔偿，应向谁提出请求？</a:t>
            </a:r>
            <a:endParaRPr lang="en-US" sz="2400" dirty="0"/>
          </a:p>
        </p:txBody>
      </p:sp>
      <p:sp>
        <p:nvSpPr>
          <p:cNvPr id="4" name="Text 2"/>
          <p:cNvSpPr/>
          <p:nvPr/>
        </p:nvSpPr>
        <p:spPr>
          <a:xfrm>
            <a:off x="777240" y="3474720"/>
            <a:ext cx="10497312" cy="1609344"/>
          </a:xfrm>
          <a:prstGeom prst="rect">
            <a:avLst/>
          </a:prstGeom>
          <a:noFill/>
          <a:ln/>
        </p:spPr>
        <p:txBody>
          <a:bodyPr wrap="square" lIns="0" tIns="0" rIns="0" bIns="0" rtlCol="0" anchor="t"/>
          <a:lstStyle/>
          <a:p>
            <a:pPr indent="0" marL="0">
              <a:lnSpc>
                <a:spcPct val="108000"/>
              </a:lnSpc>
              <a:buNone/>
            </a:pPr>
            <a:r>
              <a:rPr lang="en-US" sz="3600" b="1" dirty="0">
                <a:solidFill>
                  <a:srgbClr val="F5F1E7"/>
                </a:solidFill>
                <a:latin typeface="Microsoft YaHei" pitchFamily="34" charset="0"/>
                <a:ea typeface="Microsoft YaHei" pitchFamily="34" charset="-122"/>
                <a:cs typeface="Microsoft YaHei" pitchFamily="34" charset="-120"/>
              </a:rPr>
              <a:t>国家承担公共任务，与保护个人权利，怎样放在同一制度中？</a:t>
            </a:r>
            <a:endParaRPr lang="en-US" sz="3600" dirty="0"/>
          </a:p>
        </p:txBody>
      </p:sp>
      <p:sp>
        <p:nvSpPr>
          <p:cNvPr id="5" name="Text 3"/>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教学设例；此时尚不给出具体赔偿结论</a:t>
            </a:r>
            <a:endParaRPr lang="en-US" sz="1200" dirty="0"/>
          </a:p>
        </p:txBody>
      </p:sp>
      <p:sp>
        <p:nvSpPr>
          <p:cNvPr id="6" name="Text 4"/>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13 / 26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1982：宪法已经确认了赔偿权</a:t>
            </a:r>
            <a:endParaRPr lang="en-US" sz="3800" dirty="0"/>
          </a:p>
        </p:txBody>
      </p:sp>
      <p:sp>
        <p:nvSpPr>
          <p:cNvPr id="3" name="Text 1"/>
          <p:cNvSpPr/>
          <p:nvPr/>
        </p:nvSpPr>
        <p:spPr>
          <a:xfrm>
            <a:off x="749808" y="1993392"/>
            <a:ext cx="2880360" cy="1124712"/>
          </a:xfrm>
          <a:prstGeom prst="rect">
            <a:avLst/>
          </a:prstGeom>
          <a:noFill/>
          <a:ln/>
        </p:spPr>
        <p:txBody>
          <a:bodyPr wrap="square" lIns="0" tIns="0" rIns="0" bIns="0" rtlCol="0" anchor="t"/>
          <a:lstStyle/>
          <a:p>
            <a:pPr indent="0" marL="0">
              <a:lnSpc>
                <a:spcPct val="108000"/>
              </a:lnSpc>
              <a:buNone/>
            </a:pPr>
            <a:r>
              <a:rPr lang="en-US" sz="6800" b="1" dirty="0">
                <a:solidFill>
                  <a:srgbClr val="A1372F"/>
                </a:solidFill>
                <a:latin typeface="Microsoft YaHei" pitchFamily="34" charset="0"/>
                <a:ea typeface="Microsoft YaHei" pitchFamily="34" charset="-122"/>
                <a:cs typeface="Microsoft YaHei" pitchFamily="34" charset="-120"/>
              </a:rPr>
              <a:t>1982</a:t>
            </a:r>
            <a:endParaRPr lang="en-US" sz="6800" dirty="0"/>
          </a:p>
        </p:txBody>
      </p:sp>
      <p:sp>
        <p:nvSpPr>
          <p:cNvPr id="4" name="Shape 2"/>
          <p:cNvSpPr/>
          <p:nvPr/>
        </p:nvSpPr>
        <p:spPr>
          <a:xfrm>
            <a:off x="3767328" y="1847088"/>
            <a:ext cx="0" cy="3328416"/>
          </a:xfrm>
          <a:prstGeom prst="line">
            <a:avLst/>
          </a:prstGeom>
          <a:noFill/>
          <a:ln w="16510">
            <a:solidFill>
              <a:srgbClr val="B89A5B"/>
            </a:solidFill>
            <a:prstDash val="solid"/>
          </a:ln>
        </p:spPr>
      </p:sp>
      <p:sp>
        <p:nvSpPr>
          <p:cNvPr id="5" name="Text 3"/>
          <p:cNvSpPr/>
          <p:nvPr/>
        </p:nvSpPr>
        <p:spPr>
          <a:xfrm>
            <a:off x="4160520" y="1865376"/>
            <a:ext cx="7086600" cy="3026664"/>
          </a:xfrm>
          <a:prstGeom prst="rect">
            <a:avLst/>
          </a:prstGeom>
          <a:noFill/>
          <a:ln/>
        </p:spPr>
        <p:txBody>
          <a:bodyPr wrap="square" lIns="0" tIns="0" rIns="0" bIns="0" rtlCol="0" anchor="t"/>
          <a:lstStyle/>
          <a:p>
            <a:pPr indent="0" marL="0">
              <a:lnSpc>
                <a:spcPct val="108000"/>
              </a:lnSpc>
              <a:buNone/>
            </a:pPr>
            <a:r>
              <a:rPr lang="en-US" sz="3000" dirty="0">
                <a:solidFill>
                  <a:srgbClr val="173238"/>
                </a:solidFill>
                <a:latin typeface="SimSun" pitchFamily="34" charset="0"/>
                <a:ea typeface="SimSun" pitchFamily="34" charset="-122"/>
                <a:cs typeface="SimSun" pitchFamily="34" charset="-120"/>
              </a:rPr>
              <a:t>宪法第41条第3款已确认：</a:t>
            </a:r>
            <a:endParaRPr lang="en-US" sz="3000" dirty="0"/>
          </a:p>
          <a:p>
            <a:pPr indent="0" marL="0">
              <a:lnSpc>
                <a:spcPct val="108000"/>
              </a:lnSpc>
              <a:buNone/>
            </a:pPr>
            <a:r>
              <a:rPr lang="en-US" sz="3000" dirty="0">
                <a:solidFill>
                  <a:srgbClr val="173238"/>
                </a:solidFill>
                <a:latin typeface="SimSun" pitchFamily="34" charset="0"/>
                <a:ea typeface="SimSun" pitchFamily="34" charset="-122"/>
                <a:cs typeface="SimSun" pitchFamily="34" charset="-120"/>
              </a:rPr>
              <a:t>受到国家侵权损失的人，</a:t>
            </a:r>
            <a:endParaRPr lang="en-US" sz="3000" dirty="0"/>
          </a:p>
          <a:p>
            <a:pPr indent="0" marL="0">
              <a:lnSpc>
                <a:spcPct val="108000"/>
              </a:lnSpc>
              <a:buNone/>
            </a:pPr>
            <a:r>
              <a:rPr lang="en-US" sz="3000" dirty="0">
                <a:solidFill>
                  <a:srgbClr val="173238"/>
                </a:solidFill>
                <a:latin typeface="SimSun" pitchFamily="34" charset="0"/>
                <a:ea typeface="SimSun" pitchFamily="34" charset="-122"/>
                <a:cs typeface="SimSun" pitchFamily="34" charset="-120"/>
              </a:rPr>
              <a:t>有依照法律规定取得赔偿的权利。</a:t>
            </a:r>
            <a:endParaRPr lang="en-US" sz="3000" dirty="0"/>
          </a:p>
        </p:txBody>
      </p:sp>
      <p:sp>
        <p:nvSpPr>
          <p:cNvPr id="6" name="Text 4"/>
          <p:cNvSpPr/>
          <p:nvPr/>
        </p:nvSpPr>
        <p:spPr>
          <a:xfrm>
            <a:off x="4169664" y="5074920"/>
            <a:ext cx="7086600" cy="329184"/>
          </a:xfrm>
          <a:prstGeom prst="rect">
            <a:avLst/>
          </a:prstGeom>
          <a:noFill/>
          <a:ln/>
        </p:spPr>
        <p:txBody>
          <a:bodyPr wrap="square" lIns="0" tIns="0" rIns="0" bIns="0" rtlCol="0" anchor="t"/>
          <a:lstStyle/>
          <a:p>
            <a:pPr indent="0" marL="0">
              <a:lnSpc>
                <a:spcPct val="108000"/>
              </a:lnSpc>
              <a:buNone/>
            </a:pPr>
            <a:r>
              <a:rPr lang="en-US" sz="1400" dirty="0">
                <a:solidFill>
                  <a:srgbClr val="64706A"/>
                </a:solidFill>
                <a:latin typeface="Microsoft YaHei" pitchFamily="34" charset="0"/>
                <a:ea typeface="Microsoft YaHei" pitchFamily="34" charset="-122"/>
                <a:cs typeface="Microsoft YaHei" pitchFamily="34" charset="-120"/>
              </a:rPr>
              <a:t>历史定位：1982年宪法原始文本</a:t>
            </a:r>
            <a:endParaRPr lang="en-US" sz="1400" dirty="0"/>
          </a:p>
        </p:txBody>
      </p:sp>
      <p:sp>
        <p:nvSpPr>
          <p:cNvPr id="7" name="Text 5"/>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1982年宪法原始文本第41条第3款</a:t>
            </a:r>
            <a:endParaRPr lang="en-US" sz="1200" dirty="0"/>
          </a:p>
        </p:txBody>
      </p:sp>
      <p:sp>
        <p:nvSpPr>
          <p:cNvPr id="8" name="Text 6"/>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14 / 26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从赔偿权的确认，到专门法律的实施</a:t>
            </a:r>
            <a:endParaRPr lang="en-US" sz="3800" dirty="0"/>
          </a:p>
        </p:txBody>
      </p:sp>
      <p:sp>
        <p:nvSpPr>
          <p:cNvPr id="3" name="Shape 1"/>
          <p:cNvSpPr/>
          <p:nvPr/>
        </p:nvSpPr>
        <p:spPr>
          <a:xfrm>
            <a:off x="877824" y="2843784"/>
            <a:ext cx="10378440" cy="0"/>
          </a:xfrm>
          <a:prstGeom prst="line">
            <a:avLst/>
          </a:prstGeom>
          <a:noFill/>
          <a:ln w="22860">
            <a:solidFill>
              <a:srgbClr val="B89A5B"/>
            </a:solidFill>
            <a:prstDash val="solid"/>
          </a:ln>
        </p:spPr>
      </p:sp>
      <p:sp>
        <p:nvSpPr>
          <p:cNvPr id="4" name="Text 2"/>
          <p:cNvSpPr/>
          <p:nvPr/>
        </p:nvSpPr>
        <p:spPr>
          <a:xfrm>
            <a:off x="777240" y="1874520"/>
            <a:ext cx="3352800" cy="740664"/>
          </a:xfrm>
          <a:prstGeom prst="rect">
            <a:avLst/>
          </a:prstGeom>
          <a:noFill/>
          <a:ln/>
        </p:spPr>
        <p:txBody>
          <a:bodyPr wrap="square" lIns="0" tIns="0" rIns="0" bIns="0" rtlCol="0" anchor="t"/>
          <a:lstStyle/>
          <a:p>
            <a:pPr indent="0" marL="0">
              <a:lnSpc>
                <a:spcPct val="108000"/>
              </a:lnSpc>
              <a:buNone/>
            </a:pPr>
            <a:r>
              <a:rPr lang="en-US" sz="4200" b="1" dirty="0">
                <a:solidFill>
                  <a:srgbClr val="A1372F"/>
                </a:solidFill>
                <a:latin typeface="Microsoft YaHei" pitchFamily="34" charset="0"/>
                <a:ea typeface="Microsoft YaHei" pitchFamily="34" charset="-122"/>
                <a:cs typeface="Microsoft YaHei" pitchFamily="34" charset="-120"/>
              </a:rPr>
              <a:t>1982</a:t>
            </a:r>
            <a:endParaRPr lang="en-US" sz="4200" dirty="0"/>
          </a:p>
        </p:txBody>
      </p:sp>
      <p:sp>
        <p:nvSpPr>
          <p:cNvPr id="5" name="Shape 3"/>
          <p:cNvSpPr/>
          <p:nvPr/>
        </p:nvSpPr>
        <p:spPr>
          <a:xfrm>
            <a:off x="850392" y="2775204"/>
            <a:ext cx="137160" cy="137160"/>
          </a:xfrm>
          <a:prstGeom prst="ellipse">
            <a:avLst/>
          </a:prstGeom>
          <a:solidFill>
            <a:srgbClr val="A1372F"/>
          </a:solidFill>
          <a:ln w="12700">
            <a:solidFill>
              <a:srgbClr val="333333">
                <a:alpha val="0"/>
              </a:srgbClr>
            </a:solidFill>
            <a:prstDash val="solid"/>
          </a:ln>
        </p:spPr>
      </p:sp>
      <p:sp>
        <p:nvSpPr>
          <p:cNvPr id="6" name="Text 4"/>
          <p:cNvSpPr/>
          <p:nvPr/>
        </p:nvSpPr>
        <p:spPr>
          <a:xfrm>
            <a:off x="777240" y="3218688"/>
            <a:ext cx="3352800" cy="740664"/>
          </a:xfrm>
          <a:prstGeom prst="rect">
            <a:avLst/>
          </a:prstGeom>
          <a:noFill/>
          <a:ln/>
        </p:spPr>
        <p:txBody>
          <a:bodyPr wrap="square" lIns="0" tIns="0" rIns="0" bIns="0" rtlCol="0" anchor="t"/>
          <a:lstStyle/>
          <a:p>
            <a:pPr indent="0" marL="0">
              <a:lnSpc>
                <a:spcPct val="108000"/>
              </a:lnSpc>
              <a:buNone/>
            </a:pPr>
            <a:r>
              <a:rPr lang="en-US" sz="2600" b="1" dirty="0">
                <a:solidFill>
                  <a:srgbClr val="173238"/>
                </a:solidFill>
                <a:latin typeface="Microsoft YaHei" pitchFamily="34" charset="0"/>
                <a:ea typeface="Microsoft YaHei" pitchFamily="34" charset="-122"/>
                <a:cs typeface="Microsoft YaHei" pitchFamily="34" charset="-120"/>
              </a:rPr>
              <a:t>宪法确认权利</a:t>
            </a:r>
            <a:endParaRPr lang="en-US" sz="2600" dirty="0"/>
          </a:p>
        </p:txBody>
      </p:sp>
      <p:sp>
        <p:nvSpPr>
          <p:cNvPr id="7" name="Text 5"/>
          <p:cNvSpPr/>
          <p:nvPr/>
        </p:nvSpPr>
        <p:spPr>
          <a:xfrm>
            <a:off x="777240" y="4105656"/>
            <a:ext cx="3352800" cy="1307592"/>
          </a:xfrm>
          <a:prstGeom prst="rect">
            <a:avLst/>
          </a:prstGeom>
          <a:noFill/>
          <a:ln/>
        </p:spPr>
        <p:txBody>
          <a:bodyPr wrap="square" lIns="0" tIns="0" rIns="0" bIns="0" rtlCol="0" anchor="t"/>
          <a:lstStyle/>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第41条第3款</a:t>
            </a:r>
            <a:endParaRPr lang="en-US" sz="2400" dirty="0"/>
          </a:p>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赔偿权规定</a:t>
            </a:r>
            <a:endParaRPr lang="en-US" sz="2400" dirty="0"/>
          </a:p>
        </p:txBody>
      </p:sp>
      <p:sp>
        <p:nvSpPr>
          <p:cNvPr id="8" name="Text 6"/>
          <p:cNvSpPr/>
          <p:nvPr/>
        </p:nvSpPr>
        <p:spPr>
          <a:xfrm>
            <a:off x="4404360" y="1874520"/>
            <a:ext cx="3352800" cy="740664"/>
          </a:xfrm>
          <a:prstGeom prst="rect">
            <a:avLst/>
          </a:prstGeom>
          <a:noFill/>
          <a:ln/>
        </p:spPr>
        <p:txBody>
          <a:bodyPr wrap="square" lIns="0" tIns="0" rIns="0" bIns="0" rtlCol="0" anchor="t"/>
          <a:lstStyle/>
          <a:p>
            <a:pPr indent="0" marL="0">
              <a:lnSpc>
                <a:spcPct val="108000"/>
              </a:lnSpc>
              <a:buNone/>
            </a:pPr>
            <a:r>
              <a:rPr lang="en-US" sz="4200" b="1" dirty="0">
                <a:solidFill>
                  <a:srgbClr val="173238"/>
                </a:solidFill>
                <a:latin typeface="Microsoft YaHei" pitchFamily="34" charset="0"/>
                <a:ea typeface="Microsoft YaHei" pitchFamily="34" charset="-122"/>
                <a:cs typeface="Microsoft YaHei" pitchFamily="34" charset="-120"/>
              </a:rPr>
              <a:t>1994.05</a:t>
            </a:r>
            <a:endParaRPr lang="en-US" sz="4200" dirty="0"/>
          </a:p>
        </p:txBody>
      </p:sp>
      <p:sp>
        <p:nvSpPr>
          <p:cNvPr id="9" name="Shape 7"/>
          <p:cNvSpPr/>
          <p:nvPr/>
        </p:nvSpPr>
        <p:spPr>
          <a:xfrm>
            <a:off x="4477512" y="2775204"/>
            <a:ext cx="137160" cy="137160"/>
          </a:xfrm>
          <a:prstGeom prst="ellipse">
            <a:avLst/>
          </a:prstGeom>
          <a:solidFill>
            <a:srgbClr val="A1372F"/>
          </a:solidFill>
          <a:ln w="12700">
            <a:solidFill>
              <a:srgbClr val="333333">
                <a:alpha val="0"/>
              </a:srgbClr>
            </a:solidFill>
            <a:prstDash val="solid"/>
          </a:ln>
        </p:spPr>
      </p:sp>
      <p:sp>
        <p:nvSpPr>
          <p:cNvPr id="10" name="Text 8"/>
          <p:cNvSpPr/>
          <p:nvPr/>
        </p:nvSpPr>
        <p:spPr>
          <a:xfrm>
            <a:off x="4404360" y="3218688"/>
            <a:ext cx="3352800" cy="740664"/>
          </a:xfrm>
          <a:prstGeom prst="rect">
            <a:avLst/>
          </a:prstGeom>
          <a:noFill/>
          <a:ln/>
        </p:spPr>
        <p:txBody>
          <a:bodyPr wrap="square" lIns="0" tIns="0" rIns="0" bIns="0" rtlCol="0" anchor="t"/>
          <a:lstStyle/>
          <a:p>
            <a:pPr indent="0" marL="0">
              <a:lnSpc>
                <a:spcPct val="108000"/>
              </a:lnSpc>
              <a:buNone/>
            </a:pPr>
            <a:r>
              <a:rPr lang="en-US" sz="2600" b="1" dirty="0">
                <a:solidFill>
                  <a:srgbClr val="173238"/>
                </a:solidFill>
                <a:latin typeface="Microsoft YaHei" pitchFamily="34" charset="0"/>
                <a:ea typeface="Microsoft YaHei" pitchFamily="34" charset="-122"/>
                <a:cs typeface="Microsoft YaHei" pitchFamily="34" charset="-120"/>
              </a:rPr>
              <a:t>专门法律通过</a:t>
            </a:r>
            <a:endParaRPr lang="en-US" sz="2600" dirty="0"/>
          </a:p>
        </p:txBody>
      </p:sp>
      <p:sp>
        <p:nvSpPr>
          <p:cNvPr id="11" name="Text 9"/>
          <p:cNvSpPr/>
          <p:nvPr/>
        </p:nvSpPr>
        <p:spPr>
          <a:xfrm>
            <a:off x="4404360" y="4105656"/>
            <a:ext cx="3352800" cy="1307592"/>
          </a:xfrm>
          <a:prstGeom prst="rect">
            <a:avLst/>
          </a:prstGeom>
          <a:noFill/>
          <a:ln/>
        </p:spPr>
        <p:txBody>
          <a:bodyPr wrap="square" lIns="0" tIns="0" rIns="0" bIns="0" rtlCol="0" anchor="t"/>
          <a:lstStyle/>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国家赔偿法</a:t>
            </a:r>
            <a:endParaRPr lang="en-US" sz="2400" dirty="0"/>
          </a:p>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通过并公布</a:t>
            </a:r>
            <a:endParaRPr lang="en-US" sz="2400" dirty="0"/>
          </a:p>
        </p:txBody>
      </p:sp>
      <p:sp>
        <p:nvSpPr>
          <p:cNvPr id="12" name="Text 10"/>
          <p:cNvSpPr/>
          <p:nvPr/>
        </p:nvSpPr>
        <p:spPr>
          <a:xfrm>
            <a:off x="8031480" y="1874520"/>
            <a:ext cx="3352800" cy="740664"/>
          </a:xfrm>
          <a:prstGeom prst="rect">
            <a:avLst/>
          </a:prstGeom>
          <a:noFill/>
          <a:ln/>
        </p:spPr>
        <p:txBody>
          <a:bodyPr wrap="square" lIns="0" tIns="0" rIns="0" bIns="0" rtlCol="0" anchor="t"/>
          <a:lstStyle/>
          <a:p>
            <a:pPr indent="0" marL="0">
              <a:lnSpc>
                <a:spcPct val="108000"/>
              </a:lnSpc>
              <a:buNone/>
            </a:pPr>
            <a:r>
              <a:rPr lang="en-US" sz="4200" b="1" dirty="0">
                <a:solidFill>
                  <a:srgbClr val="173238"/>
                </a:solidFill>
                <a:latin typeface="Microsoft YaHei" pitchFamily="34" charset="0"/>
                <a:ea typeface="Microsoft YaHei" pitchFamily="34" charset="-122"/>
                <a:cs typeface="Microsoft YaHei" pitchFamily="34" charset="-120"/>
              </a:rPr>
              <a:t>1995.01</a:t>
            </a:r>
            <a:endParaRPr lang="en-US" sz="4200" dirty="0"/>
          </a:p>
        </p:txBody>
      </p:sp>
      <p:sp>
        <p:nvSpPr>
          <p:cNvPr id="13" name="Shape 11"/>
          <p:cNvSpPr/>
          <p:nvPr/>
        </p:nvSpPr>
        <p:spPr>
          <a:xfrm>
            <a:off x="8104632" y="2775204"/>
            <a:ext cx="137160" cy="137160"/>
          </a:xfrm>
          <a:prstGeom prst="ellipse">
            <a:avLst/>
          </a:prstGeom>
          <a:solidFill>
            <a:srgbClr val="A1372F"/>
          </a:solidFill>
          <a:ln w="12700">
            <a:solidFill>
              <a:srgbClr val="333333">
                <a:alpha val="0"/>
              </a:srgbClr>
            </a:solidFill>
            <a:prstDash val="solid"/>
          </a:ln>
        </p:spPr>
      </p:sp>
      <p:sp>
        <p:nvSpPr>
          <p:cNvPr id="14" name="Text 12"/>
          <p:cNvSpPr/>
          <p:nvPr/>
        </p:nvSpPr>
        <p:spPr>
          <a:xfrm>
            <a:off x="8031480" y="3218688"/>
            <a:ext cx="3352800" cy="740664"/>
          </a:xfrm>
          <a:prstGeom prst="rect">
            <a:avLst/>
          </a:prstGeom>
          <a:noFill/>
          <a:ln/>
        </p:spPr>
        <p:txBody>
          <a:bodyPr wrap="square" lIns="0" tIns="0" rIns="0" bIns="0" rtlCol="0" anchor="t"/>
          <a:lstStyle/>
          <a:p>
            <a:pPr indent="0" marL="0">
              <a:lnSpc>
                <a:spcPct val="108000"/>
              </a:lnSpc>
              <a:buNone/>
            </a:pPr>
            <a:r>
              <a:rPr lang="en-US" sz="2600" b="1" dirty="0">
                <a:solidFill>
                  <a:srgbClr val="173238"/>
                </a:solidFill>
                <a:latin typeface="Microsoft YaHei" pitchFamily="34" charset="0"/>
                <a:ea typeface="Microsoft YaHei" pitchFamily="34" charset="-122"/>
                <a:cs typeface="Microsoft YaHei" pitchFamily="34" charset="-120"/>
              </a:rPr>
              <a:t>法律开始施行</a:t>
            </a:r>
            <a:endParaRPr lang="en-US" sz="2600" dirty="0"/>
          </a:p>
        </p:txBody>
      </p:sp>
      <p:sp>
        <p:nvSpPr>
          <p:cNvPr id="15" name="Text 13"/>
          <p:cNvSpPr/>
          <p:nvPr/>
        </p:nvSpPr>
        <p:spPr>
          <a:xfrm>
            <a:off x="8031480" y="4105656"/>
            <a:ext cx="3352800" cy="1307592"/>
          </a:xfrm>
          <a:prstGeom prst="rect">
            <a:avLst/>
          </a:prstGeom>
          <a:noFill/>
          <a:ln/>
        </p:spPr>
        <p:txBody>
          <a:bodyPr wrap="square" lIns="0" tIns="0" rIns="0" bIns="0" rtlCol="0" anchor="t"/>
          <a:lstStyle/>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具体制度安排</a:t>
            </a:r>
            <a:endParaRPr lang="en-US" sz="2400" dirty="0"/>
          </a:p>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进入实施</a:t>
            </a:r>
            <a:endParaRPr lang="en-US" sz="2400" dirty="0"/>
          </a:p>
        </p:txBody>
      </p:sp>
      <p:sp>
        <p:nvSpPr>
          <p:cNvPr id="16" name="Text 14"/>
          <p:cNvSpPr/>
          <p:nvPr/>
        </p:nvSpPr>
        <p:spPr>
          <a:xfrm>
            <a:off x="777240" y="5614416"/>
            <a:ext cx="10588752" cy="457200"/>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既有规定是起点，专门立法与实施工作继续展开。</a:t>
            </a:r>
            <a:endParaRPr lang="en-US" sz="2400" dirty="0"/>
          </a:p>
        </p:txBody>
      </p:sp>
      <p:sp>
        <p:nvSpPr>
          <p:cNvPr id="17" name="Text 15"/>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1994年国家赔偿法；1994年国办实施通知</a:t>
            </a:r>
            <a:endParaRPr lang="en-US" sz="1200" dirty="0"/>
          </a:p>
        </p:txBody>
      </p:sp>
      <p:sp>
        <p:nvSpPr>
          <p:cNvPr id="18" name="Text 16"/>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15 / 26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回到今天：宪法规定什么，普通法律安排什么</a:t>
            </a:r>
            <a:endParaRPr lang="en-US" sz="3800" dirty="0"/>
          </a:p>
        </p:txBody>
      </p:sp>
      <p:sp>
        <p:nvSpPr>
          <p:cNvPr id="3" name="Shape 1"/>
          <p:cNvSpPr/>
          <p:nvPr/>
        </p:nvSpPr>
        <p:spPr>
          <a:xfrm>
            <a:off x="6094476" y="1828800"/>
            <a:ext cx="0" cy="3474720"/>
          </a:xfrm>
          <a:prstGeom prst="line">
            <a:avLst/>
          </a:prstGeom>
          <a:noFill/>
          <a:ln w="13970">
            <a:solidFill>
              <a:srgbClr val="B89A5B"/>
            </a:solidFill>
            <a:prstDash val="solid"/>
          </a:ln>
        </p:spPr>
      </p:sp>
      <p:sp>
        <p:nvSpPr>
          <p:cNvPr id="4" name="Text 2"/>
          <p:cNvSpPr/>
          <p:nvPr/>
        </p:nvSpPr>
        <p:spPr>
          <a:xfrm>
            <a:off x="786384" y="1828800"/>
            <a:ext cx="4663440" cy="768096"/>
          </a:xfrm>
          <a:prstGeom prst="rect">
            <a:avLst/>
          </a:prstGeom>
          <a:noFill/>
          <a:ln/>
        </p:spPr>
        <p:txBody>
          <a:bodyPr wrap="square" lIns="0" tIns="0" rIns="0" bIns="0" rtlCol="0" anchor="t"/>
          <a:lstStyle/>
          <a:p>
            <a:pPr indent="0" marL="0">
              <a:lnSpc>
                <a:spcPct val="108000"/>
              </a:lnSpc>
              <a:buNone/>
            </a:pPr>
            <a:r>
              <a:rPr lang="en-US" sz="2800" b="1" dirty="0">
                <a:solidFill>
                  <a:srgbClr val="173238"/>
                </a:solidFill>
                <a:latin typeface="Microsoft YaHei" pitchFamily="34" charset="0"/>
                <a:ea typeface="Microsoft YaHei" pitchFamily="34" charset="-122"/>
                <a:cs typeface="Microsoft YaHei" pitchFamily="34" charset="-120"/>
              </a:rPr>
              <a:t>宪法：确认权利</a:t>
            </a:r>
            <a:endParaRPr lang="en-US" sz="2800" dirty="0"/>
          </a:p>
        </p:txBody>
      </p:sp>
      <p:sp>
        <p:nvSpPr>
          <p:cNvPr id="5" name="Text 3"/>
          <p:cNvSpPr/>
          <p:nvPr/>
        </p:nvSpPr>
        <p:spPr>
          <a:xfrm>
            <a:off x="786384" y="2798064"/>
            <a:ext cx="4663440" cy="2340864"/>
          </a:xfrm>
          <a:prstGeom prst="rect">
            <a:avLst/>
          </a:prstGeom>
          <a:noFill/>
          <a:ln/>
        </p:spPr>
        <p:txBody>
          <a:bodyPr wrap="square" lIns="0" tIns="0" rIns="0" bIns="0" rtlCol="0" anchor="t"/>
          <a:lstStyle/>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由于国家机关和国家工作人员侵犯公民权利而受到损失的人，有依照法律规定取得赔偿的权利。</a:t>
            </a:r>
            <a:endParaRPr lang="en-US" sz="2600" dirty="0"/>
          </a:p>
        </p:txBody>
      </p:sp>
      <p:sp>
        <p:nvSpPr>
          <p:cNvPr id="6" name="Text 4"/>
          <p:cNvSpPr/>
          <p:nvPr/>
        </p:nvSpPr>
        <p:spPr>
          <a:xfrm>
            <a:off x="6547104" y="1828800"/>
            <a:ext cx="4663440" cy="768096"/>
          </a:xfrm>
          <a:prstGeom prst="rect">
            <a:avLst/>
          </a:prstGeom>
          <a:noFill/>
          <a:ln/>
        </p:spPr>
        <p:txBody>
          <a:bodyPr wrap="square" lIns="0" tIns="0" rIns="0" bIns="0" rtlCol="0" anchor="t"/>
          <a:lstStyle/>
          <a:p>
            <a:pPr indent="0" marL="0">
              <a:lnSpc>
                <a:spcPct val="108000"/>
              </a:lnSpc>
              <a:buNone/>
            </a:pPr>
            <a:r>
              <a:rPr lang="en-US" sz="2800" b="1" dirty="0">
                <a:solidFill>
                  <a:srgbClr val="A1372F"/>
                </a:solidFill>
                <a:latin typeface="Microsoft YaHei" pitchFamily="34" charset="0"/>
                <a:ea typeface="Microsoft YaHei" pitchFamily="34" charset="-122"/>
                <a:cs typeface="Microsoft YaHei" pitchFamily="34" charset="-120"/>
              </a:rPr>
              <a:t>法律：承接并展开</a:t>
            </a:r>
            <a:endParaRPr lang="en-US" sz="2800" dirty="0"/>
          </a:p>
        </p:txBody>
      </p:sp>
      <p:sp>
        <p:nvSpPr>
          <p:cNvPr id="7" name="Text 5"/>
          <p:cNvSpPr/>
          <p:nvPr/>
        </p:nvSpPr>
        <p:spPr>
          <a:xfrm>
            <a:off x="6547104" y="2798064"/>
            <a:ext cx="4663440" cy="2340864"/>
          </a:xfrm>
          <a:prstGeom prst="rect">
            <a:avLst/>
          </a:prstGeom>
          <a:noFill/>
          <a:ln/>
        </p:spPr>
        <p:txBody>
          <a:bodyPr wrap="square" lIns="0" tIns="0" rIns="0" bIns="0" rtlCol="0" anchor="t"/>
          <a:lstStyle/>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为保障公民、法人和其他组织享有依法取得国家赔偿的权利，促进国家机关依法行使职权，根据宪法，制定本法。</a:t>
            </a:r>
            <a:endParaRPr lang="en-US" sz="2600" dirty="0"/>
          </a:p>
        </p:txBody>
      </p:sp>
      <p:sp>
        <p:nvSpPr>
          <p:cNvPr id="8" name="Text 6"/>
          <p:cNvSpPr/>
          <p:nvPr/>
        </p:nvSpPr>
        <p:spPr>
          <a:xfrm>
            <a:off x="777240" y="5614416"/>
            <a:ext cx="10588752" cy="457200"/>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现行条文对读｜国家赔偿法2012年第二次修正文本</a:t>
            </a:r>
            <a:endParaRPr lang="en-US" sz="2400" dirty="0"/>
          </a:p>
        </p:txBody>
      </p:sp>
      <p:sp>
        <p:nvSpPr>
          <p:cNvPr id="9" name="Text 7"/>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现行宪法第41条第3款；现行国家赔偿法第1条</a:t>
            </a:r>
            <a:endParaRPr lang="en-US" sz="1200" dirty="0"/>
          </a:p>
        </p:txBody>
      </p:sp>
      <p:sp>
        <p:nvSpPr>
          <p:cNvPr id="10" name="Text 8"/>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16 / 26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“有权取得赔偿”，怎样变成可以判断的规则</a:t>
            </a:r>
            <a:endParaRPr lang="en-US" sz="3800" dirty="0"/>
          </a:p>
        </p:txBody>
      </p:sp>
      <p:sp>
        <p:nvSpPr>
          <p:cNvPr id="3" name="Text 1"/>
          <p:cNvSpPr/>
          <p:nvPr/>
        </p:nvSpPr>
        <p:spPr>
          <a:xfrm>
            <a:off x="777240" y="1801368"/>
            <a:ext cx="6446520" cy="393192"/>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国家赔偿法第3条起句及第1项（节录）</a:t>
            </a:r>
            <a:endParaRPr lang="en-US" sz="2400" dirty="0"/>
          </a:p>
        </p:txBody>
      </p:sp>
      <p:sp>
        <p:nvSpPr>
          <p:cNvPr id="4" name="Text 2"/>
          <p:cNvSpPr/>
          <p:nvPr/>
        </p:nvSpPr>
        <p:spPr>
          <a:xfrm>
            <a:off x="795528" y="2468880"/>
            <a:ext cx="6446520" cy="3566160"/>
          </a:xfrm>
          <a:prstGeom prst="rect">
            <a:avLst/>
          </a:prstGeom>
          <a:noFill/>
          <a:ln/>
        </p:spPr>
        <p:txBody>
          <a:bodyPr wrap="square" lIns="0" tIns="0" rIns="0" bIns="0" rtlCol="0" anchor="t"/>
          <a:lstStyle/>
          <a:p>
            <a:pPr indent="0" marL="0">
              <a:lnSpc>
                <a:spcPct val="108000"/>
              </a:lnSpc>
              <a:buNone/>
            </a:pPr>
            <a:r>
              <a:rPr lang="en-US" sz="3000" dirty="0">
                <a:solidFill>
                  <a:srgbClr val="173238"/>
                </a:solidFill>
                <a:latin typeface="SimSun" pitchFamily="34" charset="0"/>
                <a:ea typeface="SimSun" pitchFamily="34" charset="-122"/>
                <a:cs typeface="SimSun" pitchFamily="34" charset="-120"/>
              </a:rPr>
              <a:t>行政机关及其工作人员在行使行政职权时有下列侵犯人身权情形之一的，受害人有取得赔偿的权利：</a:t>
            </a:r>
            <a:endParaRPr lang="en-US" sz="3000" dirty="0"/>
          </a:p>
          <a:p>
            <a:pPr indent="0" marL="0">
              <a:lnSpc>
                <a:spcPct val="108000"/>
              </a:lnSpc>
              <a:buNone/>
            </a:pPr>
            <a:r>
              <a:rPr lang="en-US" sz="3000" dirty="0">
                <a:solidFill>
                  <a:srgbClr val="173238"/>
                </a:solidFill>
                <a:latin typeface="SimSun" pitchFamily="34" charset="0"/>
                <a:ea typeface="SimSun" pitchFamily="34" charset="-122"/>
                <a:cs typeface="SimSun" pitchFamily="34" charset="-120"/>
              </a:rPr>
              <a:t>（一）违法拘留或者违法采取限制公民人身自由的行政强制措施的；</a:t>
            </a:r>
            <a:endParaRPr lang="en-US" sz="3000" dirty="0"/>
          </a:p>
        </p:txBody>
      </p:sp>
      <p:sp>
        <p:nvSpPr>
          <p:cNvPr id="5" name="Shape 3"/>
          <p:cNvSpPr/>
          <p:nvPr/>
        </p:nvSpPr>
        <p:spPr>
          <a:xfrm>
            <a:off x="7571232" y="1792224"/>
            <a:ext cx="0" cy="4233672"/>
          </a:xfrm>
          <a:prstGeom prst="line">
            <a:avLst/>
          </a:prstGeom>
          <a:noFill/>
          <a:ln w="16510">
            <a:solidFill>
              <a:srgbClr val="B89A5B"/>
            </a:solidFill>
            <a:prstDash val="solid"/>
          </a:ln>
        </p:spPr>
      </p:sp>
      <p:sp>
        <p:nvSpPr>
          <p:cNvPr id="6" name="Text 4"/>
          <p:cNvSpPr/>
          <p:nvPr/>
        </p:nvSpPr>
        <p:spPr>
          <a:xfrm>
            <a:off x="7946136" y="1819656"/>
            <a:ext cx="3456432" cy="1307592"/>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第2条
</a:t>
            </a:r>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本法规定的侵权情形与损害。</a:t>
            </a:r>
            <a:endParaRPr lang="en-US" sz="2400" dirty="0"/>
          </a:p>
        </p:txBody>
      </p:sp>
      <p:sp>
        <p:nvSpPr>
          <p:cNvPr id="7" name="Text 5"/>
          <p:cNvSpPr/>
          <p:nvPr/>
        </p:nvSpPr>
        <p:spPr>
          <a:xfrm>
            <a:off x="7946136" y="3227832"/>
            <a:ext cx="3456432" cy="1307592"/>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第3条
</a:t>
            </a:r>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行政职权中的具体赔偿情形。</a:t>
            </a:r>
            <a:endParaRPr lang="en-US" sz="2400" dirty="0"/>
          </a:p>
        </p:txBody>
      </p:sp>
      <p:sp>
        <p:nvSpPr>
          <p:cNvPr id="8" name="Text 6"/>
          <p:cNvSpPr/>
          <p:nvPr/>
        </p:nvSpPr>
        <p:spPr>
          <a:xfrm>
            <a:off x="7946136" y="4636008"/>
            <a:ext cx="3456432" cy="1307592"/>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第7条
</a:t>
            </a:r>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确定相应赔偿义务机关。</a:t>
            </a:r>
            <a:endParaRPr lang="en-US" sz="2400" dirty="0"/>
          </a:p>
        </p:txBody>
      </p:sp>
      <p:sp>
        <p:nvSpPr>
          <p:cNvPr id="9" name="Text 7"/>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国家赔偿法第2条第1款、第3条、第7条第1款</a:t>
            </a:r>
            <a:endParaRPr lang="en-US" sz="1200" dirty="0"/>
          </a:p>
        </p:txBody>
      </p:sp>
      <p:sp>
        <p:nvSpPr>
          <p:cNvPr id="10" name="Text 8"/>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17 / 26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3238"/>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F5F1E7"/>
                </a:solidFill>
                <a:latin typeface="Microsoft YaHei" pitchFamily="34" charset="0"/>
                <a:ea typeface="Microsoft YaHei" pitchFamily="34" charset="-122"/>
                <a:cs typeface="Microsoft YaHei" pitchFamily="34" charset="-120"/>
              </a:rPr>
              <a:t>事实给足以后，试着给出一个确定判断</a:t>
            </a:r>
            <a:endParaRPr lang="en-US" sz="3800" dirty="0"/>
          </a:p>
        </p:txBody>
      </p:sp>
      <p:sp>
        <p:nvSpPr>
          <p:cNvPr id="3" name="Text 1"/>
          <p:cNvSpPr/>
          <p:nvPr/>
        </p:nvSpPr>
        <p:spPr>
          <a:xfrm>
            <a:off x="795528" y="1792224"/>
            <a:ext cx="10488168" cy="1389888"/>
          </a:xfrm>
          <a:prstGeom prst="rect">
            <a:avLst/>
          </a:prstGeom>
          <a:noFill/>
          <a:ln/>
        </p:spPr>
        <p:txBody>
          <a:bodyPr wrap="square" lIns="0" tIns="0" rIns="0" bIns="0" rtlCol="0" anchor="t"/>
          <a:lstStyle/>
          <a:p>
            <a:pPr indent="0" marL="0">
              <a:lnSpc>
                <a:spcPct val="108000"/>
              </a:lnSpc>
              <a:buNone/>
            </a:pPr>
            <a:r>
              <a:rPr lang="en-US" sz="2400" dirty="0">
                <a:solidFill>
                  <a:srgbClr val="E0DDCF"/>
                </a:solidFill>
                <a:latin typeface="Microsoft YaHei" pitchFamily="34" charset="0"/>
                <a:ea typeface="Microsoft YaHei" pitchFamily="34" charset="-122"/>
                <a:cs typeface="Microsoft YaHei" pitchFamily="34" charset="-120"/>
              </a:rPr>
              <a:t>已查明：县公安局工作人员行使行政职权，</a:t>
            </a:r>
            <a:endParaRPr lang="en-US" sz="2400" dirty="0"/>
          </a:p>
          <a:p>
            <a:pPr indent="0" marL="0">
              <a:lnSpc>
                <a:spcPct val="108000"/>
              </a:lnSpc>
              <a:buNone/>
            </a:pPr>
            <a:r>
              <a:rPr lang="en-US" sz="2400" dirty="0">
                <a:solidFill>
                  <a:srgbClr val="E0DDCF"/>
                </a:solidFill>
                <a:latin typeface="Microsoft YaHei" pitchFamily="34" charset="0"/>
                <a:ea typeface="Microsoft YaHei" pitchFamily="34" charset="-122"/>
                <a:cs typeface="Microsoft YaHei" pitchFamily="34" charset="-120"/>
              </a:rPr>
              <a:t>违法拘留甲，造成其人身自由受侵害。</a:t>
            </a:r>
            <a:endParaRPr lang="en-US" sz="2400" dirty="0"/>
          </a:p>
        </p:txBody>
      </p:sp>
      <p:sp>
        <p:nvSpPr>
          <p:cNvPr id="4" name="Text 2"/>
          <p:cNvSpPr/>
          <p:nvPr/>
        </p:nvSpPr>
        <p:spPr>
          <a:xfrm>
            <a:off x="777240" y="3474720"/>
            <a:ext cx="10497312" cy="1609344"/>
          </a:xfrm>
          <a:prstGeom prst="rect">
            <a:avLst/>
          </a:prstGeom>
          <a:noFill/>
          <a:ln/>
        </p:spPr>
        <p:txBody>
          <a:bodyPr wrap="square" lIns="0" tIns="0" rIns="0" bIns="0" rtlCol="0" anchor="t"/>
          <a:lstStyle/>
          <a:p>
            <a:pPr indent="0" marL="0">
              <a:lnSpc>
                <a:spcPct val="108000"/>
              </a:lnSpc>
              <a:buNone/>
            </a:pPr>
            <a:r>
              <a:rPr lang="en-US" sz="3600" b="1" dirty="0">
                <a:solidFill>
                  <a:srgbClr val="F5F1E7"/>
                </a:solidFill>
                <a:latin typeface="Microsoft YaHei" pitchFamily="34" charset="0"/>
                <a:ea typeface="Microsoft YaHei" pitchFamily="34" charset="-122"/>
                <a:cs typeface="Microsoft YaHei" pitchFamily="34" charset="-120"/>
              </a:rPr>
              <a:t>甲有无赔偿权？义务机关是谁？</a:t>
            </a:r>
            <a:endParaRPr lang="en-US" sz="3600" dirty="0"/>
          </a:p>
          <a:p>
            <a:pPr indent="0" marL="0">
              <a:lnSpc>
                <a:spcPct val="108000"/>
              </a:lnSpc>
              <a:buNone/>
            </a:pPr>
            <a:r>
              <a:rPr lang="en-US" sz="3600" b="1" dirty="0">
                <a:solidFill>
                  <a:srgbClr val="F5F1E7"/>
                </a:solidFill>
                <a:latin typeface="Microsoft YaHei" pitchFamily="34" charset="0"/>
                <a:ea typeface="Microsoft YaHei" pitchFamily="34" charset="-122"/>
                <a:cs typeface="Microsoft YaHei" pitchFamily="34" charset="-120"/>
              </a:rPr>
              <a:t>法律具体安排了什么？</a:t>
            </a:r>
            <a:endParaRPr lang="en-US" sz="3600" dirty="0"/>
          </a:p>
        </p:txBody>
      </p:sp>
      <p:sp>
        <p:nvSpPr>
          <p:cNvPr id="5" name="Text 3"/>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教学设例；材料三任务三</a:t>
            </a:r>
            <a:endParaRPr lang="en-US" sz="1200" dirty="0"/>
          </a:p>
        </p:txBody>
      </p:sp>
      <p:sp>
        <p:nvSpPr>
          <p:cNvPr id="6" name="Text 4"/>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18 / 26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把每一步判断，放回它的依据</a:t>
            </a:r>
            <a:endParaRPr lang="en-US" sz="3800" dirty="0"/>
          </a:p>
        </p:txBody>
      </p:sp>
      <p:sp>
        <p:nvSpPr>
          <p:cNvPr id="3" name="Text 1"/>
          <p:cNvSpPr/>
          <p:nvPr/>
        </p:nvSpPr>
        <p:spPr>
          <a:xfrm>
            <a:off x="795528" y="1837944"/>
            <a:ext cx="530352" cy="448056"/>
          </a:xfrm>
          <a:prstGeom prst="rect">
            <a:avLst/>
          </a:prstGeom>
          <a:noFill/>
          <a:ln/>
        </p:spPr>
        <p:txBody>
          <a:bodyPr wrap="square" lIns="0" tIns="0" rIns="0" bIns="0" rtlCol="0" anchor="t"/>
          <a:lstStyle/>
          <a:p>
            <a:pPr indent="0" marL="0">
              <a:lnSpc>
                <a:spcPct val="108000"/>
              </a:lnSpc>
              <a:buNone/>
            </a:pPr>
            <a:r>
              <a:rPr lang="en-US" sz="2600" b="1" dirty="0">
                <a:solidFill>
                  <a:srgbClr val="B89A5B"/>
                </a:solidFill>
                <a:latin typeface="Microsoft YaHei" pitchFamily="34" charset="0"/>
                <a:ea typeface="Microsoft YaHei" pitchFamily="34" charset="-122"/>
                <a:cs typeface="Microsoft YaHei" pitchFamily="34" charset="-120"/>
              </a:rPr>
              <a:t>01</a:t>
            </a:r>
            <a:endParaRPr lang="en-US" sz="2600" dirty="0"/>
          </a:p>
        </p:txBody>
      </p:sp>
      <p:sp>
        <p:nvSpPr>
          <p:cNvPr id="4" name="Text 2"/>
          <p:cNvSpPr/>
          <p:nvPr/>
        </p:nvSpPr>
        <p:spPr>
          <a:xfrm>
            <a:off x="1563624" y="1819656"/>
            <a:ext cx="2286000" cy="960120"/>
          </a:xfrm>
          <a:prstGeom prst="rect">
            <a:avLst/>
          </a:prstGeom>
          <a:noFill/>
          <a:ln/>
        </p:spPr>
        <p:txBody>
          <a:bodyPr wrap="square" lIns="0" tIns="0" rIns="0" bIns="0" rtlCol="0" anchor="t"/>
          <a:lstStyle/>
          <a:p>
            <a:pPr indent="0" marL="0">
              <a:lnSpc>
                <a:spcPct val="108000"/>
              </a:lnSpc>
              <a:buNone/>
            </a:pPr>
            <a:r>
              <a:rPr lang="en-US" sz="2600" b="1" dirty="0">
                <a:solidFill>
                  <a:srgbClr val="A1372F"/>
                </a:solidFill>
                <a:latin typeface="Microsoft YaHei" pitchFamily="34" charset="0"/>
                <a:ea typeface="Microsoft YaHei" pitchFamily="34" charset="-122"/>
                <a:cs typeface="Microsoft YaHei" pitchFamily="34" charset="-120"/>
              </a:rPr>
              <a:t>权利与主体</a:t>
            </a:r>
            <a:endParaRPr lang="en-US" sz="2600" dirty="0"/>
          </a:p>
        </p:txBody>
      </p:sp>
      <p:sp>
        <p:nvSpPr>
          <p:cNvPr id="5" name="Text 3"/>
          <p:cNvSpPr/>
          <p:nvPr/>
        </p:nvSpPr>
        <p:spPr>
          <a:xfrm>
            <a:off x="4233672" y="1819656"/>
            <a:ext cx="6967728" cy="978408"/>
          </a:xfrm>
          <a:prstGeom prst="rect">
            <a:avLst/>
          </a:prstGeom>
          <a:noFill/>
          <a:ln/>
        </p:spPr>
        <p:txBody>
          <a:bodyPr wrap="square" lIns="0" tIns="0" rIns="0" bIns="0" rtlCol="0" anchor="t"/>
          <a:lstStyle/>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甲有赔偿权。</a:t>
            </a:r>
            <a:endParaRPr lang="en-US" sz="2400" dirty="0"/>
          </a:p>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相应县公安局承担赔偿义务。</a:t>
            </a:r>
            <a:endParaRPr lang="en-US" sz="2400" dirty="0"/>
          </a:p>
        </p:txBody>
      </p:sp>
      <p:sp>
        <p:nvSpPr>
          <p:cNvPr id="6" name="Shape 4"/>
          <p:cNvSpPr/>
          <p:nvPr/>
        </p:nvSpPr>
        <p:spPr>
          <a:xfrm>
            <a:off x="1554480" y="2880360"/>
            <a:ext cx="9692640" cy="0"/>
          </a:xfrm>
          <a:prstGeom prst="line">
            <a:avLst/>
          </a:prstGeom>
          <a:noFill/>
          <a:ln w="8890">
            <a:solidFill>
              <a:srgbClr val="CCCABB"/>
            </a:solidFill>
            <a:prstDash val="solid"/>
          </a:ln>
        </p:spPr>
      </p:sp>
      <p:sp>
        <p:nvSpPr>
          <p:cNvPr id="7" name="Text 5"/>
          <p:cNvSpPr/>
          <p:nvPr/>
        </p:nvSpPr>
        <p:spPr>
          <a:xfrm>
            <a:off x="795528" y="3035808"/>
            <a:ext cx="530352" cy="448056"/>
          </a:xfrm>
          <a:prstGeom prst="rect">
            <a:avLst/>
          </a:prstGeom>
          <a:noFill/>
          <a:ln/>
        </p:spPr>
        <p:txBody>
          <a:bodyPr wrap="square" lIns="0" tIns="0" rIns="0" bIns="0" rtlCol="0" anchor="t"/>
          <a:lstStyle/>
          <a:p>
            <a:pPr indent="0" marL="0">
              <a:lnSpc>
                <a:spcPct val="108000"/>
              </a:lnSpc>
              <a:buNone/>
            </a:pPr>
            <a:r>
              <a:rPr lang="en-US" sz="2600" b="1" dirty="0">
                <a:solidFill>
                  <a:srgbClr val="B89A5B"/>
                </a:solidFill>
                <a:latin typeface="Microsoft YaHei" pitchFamily="34" charset="0"/>
                <a:ea typeface="Microsoft YaHei" pitchFamily="34" charset="-122"/>
                <a:cs typeface="Microsoft YaHei" pitchFamily="34" charset="-120"/>
              </a:rPr>
              <a:t>02</a:t>
            </a:r>
            <a:endParaRPr lang="en-US" sz="2600" dirty="0"/>
          </a:p>
        </p:txBody>
      </p:sp>
      <p:sp>
        <p:nvSpPr>
          <p:cNvPr id="8" name="Text 6"/>
          <p:cNvSpPr/>
          <p:nvPr/>
        </p:nvSpPr>
        <p:spPr>
          <a:xfrm>
            <a:off x="1563624" y="3017520"/>
            <a:ext cx="2286000" cy="960120"/>
          </a:xfrm>
          <a:prstGeom prst="rect">
            <a:avLst/>
          </a:prstGeom>
          <a:noFill/>
          <a:ln/>
        </p:spPr>
        <p:txBody>
          <a:bodyPr wrap="square" lIns="0" tIns="0" rIns="0" bIns="0" rtlCol="0" anchor="t"/>
          <a:lstStyle/>
          <a:p>
            <a:pPr indent="0" marL="0">
              <a:lnSpc>
                <a:spcPct val="108000"/>
              </a:lnSpc>
              <a:buNone/>
            </a:pPr>
            <a:r>
              <a:rPr lang="en-US" sz="2600" b="1" dirty="0">
                <a:solidFill>
                  <a:srgbClr val="A1372F"/>
                </a:solidFill>
                <a:latin typeface="Microsoft YaHei" pitchFamily="34" charset="0"/>
                <a:ea typeface="Microsoft YaHei" pitchFamily="34" charset="-122"/>
                <a:cs typeface="Microsoft YaHei" pitchFamily="34" charset="-120"/>
              </a:rPr>
              <a:t>宪法与法律</a:t>
            </a:r>
            <a:endParaRPr lang="en-US" sz="2600" dirty="0"/>
          </a:p>
        </p:txBody>
      </p:sp>
      <p:sp>
        <p:nvSpPr>
          <p:cNvPr id="9" name="Text 7"/>
          <p:cNvSpPr/>
          <p:nvPr/>
        </p:nvSpPr>
        <p:spPr>
          <a:xfrm>
            <a:off x="4233672" y="3017520"/>
            <a:ext cx="6967728" cy="978408"/>
          </a:xfrm>
          <a:prstGeom prst="rect">
            <a:avLst/>
          </a:prstGeom>
          <a:noFill/>
          <a:ln/>
        </p:spPr>
        <p:txBody>
          <a:bodyPr wrap="square" lIns="0" tIns="0" rIns="0" bIns="0" rtlCol="0" anchor="t"/>
          <a:lstStyle/>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宪法确认权利；</a:t>
            </a:r>
            <a:endParaRPr lang="en-US" sz="2400" dirty="0"/>
          </a:p>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法律规定具体情形与主体。</a:t>
            </a:r>
            <a:endParaRPr lang="en-US" sz="2400" dirty="0"/>
          </a:p>
        </p:txBody>
      </p:sp>
      <p:sp>
        <p:nvSpPr>
          <p:cNvPr id="10" name="Shape 8"/>
          <p:cNvSpPr/>
          <p:nvPr/>
        </p:nvSpPr>
        <p:spPr>
          <a:xfrm>
            <a:off x="1554480" y="4078224"/>
            <a:ext cx="9692640" cy="0"/>
          </a:xfrm>
          <a:prstGeom prst="line">
            <a:avLst/>
          </a:prstGeom>
          <a:noFill/>
          <a:ln w="8890">
            <a:solidFill>
              <a:srgbClr val="CCCABB"/>
            </a:solidFill>
            <a:prstDash val="solid"/>
          </a:ln>
        </p:spPr>
      </p:sp>
      <p:sp>
        <p:nvSpPr>
          <p:cNvPr id="11" name="Text 9"/>
          <p:cNvSpPr/>
          <p:nvPr/>
        </p:nvSpPr>
        <p:spPr>
          <a:xfrm>
            <a:off x="795528" y="4233672"/>
            <a:ext cx="530352" cy="448056"/>
          </a:xfrm>
          <a:prstGeom prst="rect">
            <a:avLst/>
          </a:prstGeom>
          <a:noFill/>
          <a:ln/>
        </p:spPr>
        <p:txBody>
          <a:bodyPr wrap="square" lIns="0" tIns="0" rIns="0" bIns="0" rtlCol="0" anchor="t"/>
          <a:lstStyle/>
          <a:p>
            <a:pPr indent="0" marL="0">
              <a:lnSpc>
                <a:spcPct val="108000"/>
              </a:lnSpc>
              <a:buNone/>
            </a:pPr>
            <a:r>
              <a:rPr lang="en-US" sz="2600" b="1" dirty="0">
                <a:solidFill>
                  <a:srgbClr val="B89A5B"/>
                </a:solidFill>
                <a:latin typeface="Microsoft YaHei" pitchFamily="34" charset="0"/>
                <a:ea typeface="Microsoft YaHei" pitchFamily="34" charset="-122"/>
                <a:cs typeface="Microsoft YaHei" pitchFamily="34" charset="-120"/>
              </a:rPr>
              <a:t>03</a:t>
            </a:r>
            <a:endParaRPr lang="en-US" sz="2600" dirty="0"/>
          </a:p>
        </p:txBody>
      </p:sp>
      <p:sp>
        <p:nvSpPr>
          <p:cNvPr id="12" name="Text 10"/>
          <p:cNvSpPr/>
          <p:nvPr/>
        </p:nvSpPr>
        <p:spPr>
          <a:xfrm>
            <a:off x="1563624" y="4215384"/>
            <a:ext cx="2286000" cy="960120"/>
          </a:xfrm>
          <a:prstGeom prst="rect">
            <a:avLst/>
          </a:prstGeom>
          <a:noFill/>
          <a:ln/>
        </p:spPr>
        <p:txBody>
          <a:bodyPr wrap="square" lIns="0" tIns="0" rIns="0" bIns="0" rtlCol="0" anchor="t"/>
          <a:lstStyle/>
          <a:p>
            <a:pPr indent="0" marL="0">
              <a:lnSpc>
                <a:spcPct val="108000"/>
              </a:lnSpc>
              <a:buNone/>
            </a:pPr>
            <a:r>
              <a:rPr lang="en-US" sz="2600" b="1" dirty="0">
                <a:solidFill>
                  <a:srgbClr val="A1372F"/>
                </a:solidFill>
                <a:latin typeface="Microsoft YaHei" pitchFamily="34" charset="0"/>
                <a:ea typeface="Microsoft YaHei" pitchFamily="34" charset="-122"/>
                <a:cs typeface="Microsoft YaHei" pitchFamily="34" charset="-120"/>
              </a:rPr>
              <a:t>判断的边界</a:t>
            </a:r>
            <a:endParaRPr lang="en-US" sz="2600" dirty="0"/>
          </a:p>
        </p:txBody>
      </p:sp>
      <p:sp>
        <p:nvSpPr>
          <p:cNvPr id="13" name="Text 11"/>
          <p:cNvSpPr/>
          <p:nvPr/>
        </p:nvSpPr>
        <p:spPr>
          <a:xfrm>
            <a:off x="4233672" y="4215384"/>
            <a:ext cx="6967728" cy="978408"/>
          </a:xfrm>
          <a:prstGeom prst="rect">
            <a:avLst/>
          </a:prstGeom>
          <a:noFill/>
          <a:ln/>
        </p:spPr>
        <p:txBody>
          <a:bodyPr wrap="square" lIns="0" tIns="0" rIns="0" bIns="0" rtlCol="0" anchor="t"/>
          <a:lstStyle/>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权利可判断；</a:t>
            </a:r>
            <a:endParaRPr lang="en-US" sz="2400" dirty="0"/>
          </a:p>
          <a:p>
            <a:pPr indent="0" marL="0">
              <a:lnSpc>
                <a:spcPct val="108000"/>
              </a:lnSpc>
              <a:buNone/>
            </a:pPr>
            <a:r>
              <a:rPr lang="en-US" sz="2400" dirty="0">
                <a:solidFill>
                  <a:srgbClr val="1D3438"/>
                </a:solidFill>
                <a:latin typeface="Microsoft YaHei" pitchFamily="34" charset="0"/>
                <a:ea typeface="Microsoft YaHei" pitchFamily="34" charset="-122"/>
                <a:cs typeface="Microsoft YaHei" pitchFamily="34" charset="-120"/>
              </a:rPr>
              <a:t>金额与程序结果不在本题确定。</a:t>
            </a:r>
            <a:endParaRPr lang="en-US" sz="2400" dirty="0"/>
          </a:p>
        </p:txBody>
      </p:sp>
      <p:sp>
        <p:nvSpPr>
          <p:cNvPr id="14" name="Text 12"/>
          <p:cNvSpPr/>
          <p:nvPr/>
        </p:nvSpPr>
        <p:spPr>
          <a:xfrm>
            <a:off x="777240" y="5614416"/>
            <a:ext cx="10588752" cy="457200"/>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法律具体化宪法要求，并不首次赋予宪法效力。</a:t>
            </a:r>
            <a:endParaRPr lang="en-US" sz="2400" dirty="0"/>
          </a:p>
        </p:txBody>
      </p:sp>
      <p:sp>
        <p:nvSpPr>
          <p:cNvPr id="15" name="Text 13"/>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材料三任务三讲评；现行相关条款</a:t>
            </a:r>
            <a:endParaRPr lang="en-US" sz="1200" dirty="0"/>
          </a:p>
        </p:txBody>
      </p:sp>
      <p:sp>
        <p:nvSpPr>
          <p:cNvPr id="16" name="Text 14"/>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19 / 26</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两段故事，怎样连到宪法基本原则</a:t>
            </a:r>
            <a:endParaRPr lang="en-US" sz="3800" dirty="0"/>
          </a:p>
        </p:txBody>
      </p:sp>
      <p:sp>
        <p:nvSpPr>
          <p:cNvPr id="3" name="Shape 1"/>
          <p:cNvSpPr/>
          <p:nvPr/>
        </p:nvSpPr>
        <p:spPr>
          <a:xfrm>
            <a:off x="6080760" y="3017520"/>
            <a:ext cx="0" cy="448056"/>
          </a:xfrm>
          <a:prstGeom prst="line">
            <a:avLst/>
          </a:prstGeom>
          <a:noFill/>
          <a:ln w="21590">
            <a:solidFill>
              <a:srgbClr val="B89A5B"/>
            </a:solidFill>
            <a:prstDash val="solid"/>
          </a:ln>
        </p:spPr>
      </p:sp>
      <p:sp>
        <p:nvSpPr>
          <p:cNvPr id="4" name="Shape 2"/>
          <p:cNvSpPr/>
          <p:nvPr/>
        </p:nvSpPr>
        <p:spPr>
          <a:xfrm>
            <a:off x="4251960" y="3182112"/>
            <a:ext cx="429768" cy="667512"/>
          </a:xfrm>
          <a:prstGeom prst="line">
            <a:avLst/>
          </a:prstGeom>
          <a:noFill/>
          <a:ln w="21590">
            <a:solidFill>
              <a:srgbClr val="B89A5B"/>
            </a:solidFill>
            <a:prstDash val="solid"/>
          </a:ln>
        </p:spPr>
      </p:sp>
      <p:sp>
        <p:nvSpPr>
          <p:cNvPr id="5" name="Shape 3"/>
          <p:cNvSpPr/>
          <p:nvPr/>
        </p:nvSpPr>
        <p:spPr>
          <a:xfrm flipH="1">
            <a:off x="7470648" y="3182112"/>
            <a:ext cx="667512" cy="667512"/>
          </a:xfrm>
          <a:prstGeom prst="line">
            <a:avLst/>
          </a:prstGeom>
          <a:noFill/>
          <a:ln w="21590">
            <a:solidFill>
              <a:srgbClr val="B89A5B"/>
            </a:solidFill>
            <a:prstDash val="solid"/>
          </a:ln>
        </p:spPr>
      </p:sp>
      <p:sp>
        <p:nvSpPr>
          <p:cNvPr id="6" name="Shape 4"/>
          <p:cNvSpPr/>
          <p:nvPr/>
        </p:nvSpPr>
        <p:spPr>
          <a:xfrm flipV="1">
            <a:off x="4407408" y="4306824"/>
            <a:ext cx="329184" cy="374904"/>
          </a:xfrm>
          <a:prstGeom prst="line">
            <a:avLst/>
          </a:prstGeom>
          <a:noFill/>
          <a:ln w="21590">
            <a:solidFill>
              <a:srgbClr val="B89A5B"/>
            </a:solidFill>
            <a:prstDash val="solid"/>
          </a:ln>
        </p:spPr>
      </p:sp>
      <p:sp>
        <p:nvSpPr>
          <p:cNvPr id="7" name="Shape 5"/>
          <p:cNvSpPr/>
          <p:nvPr/>
        </p:nvSpPr>
        <p:spPr>
          <a:xfrm flipH="1" flipV="1">
            <a:off x="7415784" y="4306824"/>
            <a:ext cx="393192" cy="374904"/>
          </a:xfrm>
          <a:prstGeom prst="line">
            <a:avLst/>
          </a:prstGeom>
          <a:noFill/>
          <a:ln w="21590">
            <a:solidFill>
              <a:srgbClr val="B89A5B"/>
            </a:solidFill>
            <a:prstDash val="solid"/>
          </a:ln>
        </p:spPr>
      </p:sp>
      <p:sp>
        <p:nvSpPr>
          <p:cNvPr id="8" name="Shape 6"/>
          <p:cNvSpPr/>
          <p:nvPr/>
        </p:nvSpPr>
        <p:spPr>
          <a:xfrm>
            <a:off x="4681728" y="3465576"/>
            <a:ext cx="2788920" cy="1014984"/>
          </a:xfrm>
          <a:prstGeom prst="ellipse">
            <a:avLst/>
          </a:prstGeom>
          <a:solidFill>
            <a:srgbClr val="173238"/>
          </a:solidFill>
          <a:ln w="12700">
            <a:solidFill>
              <a:srgbClr val="173238">
                <a:alpha val="0"/>
              </a:srgbClr>
            </a:solidFill>
            <a:prstDash val="solid"/>
          </a:ln>
        </p:spPr>
      </p:sp>
      <p:sp>
        <p:nvSpPr>
          <p:cNvPr id="9" name="Text 7"/>
          <p:cNvSpPr/>
          <p:nvPr/>
        </p:nvSpPr>
        <p:spPr>
          <a:xfrm>
            <a:off x="4818888" y="3602736"/>
            <a:ext cx="2514600" cy="740664"/>
          </a:xfrm>
          <a:prstGeom prst="rect">
            <a:avLst/>
          </a:prstGeom>
          <a:noFill/>
          <a:ln/>
        </p:spPr>
        <p:txBody>
          <a:bodyPr wrap="square" lIns="0" tIns="0" rIns="0" bIns="0" rtlCol="0" anchor="ctr"/>
          <a:lstStyle/>
          <a:p>
            <a:pPr algn="ctr" indent="0" marL="0">
              <a:lnSpc>
                <a:spcPct val="108000"/>
              </a:lnSpc>
              <a:buNone/>
            </a:pPr>
            <a:r>
              <a:rPr lang="en-US" sz="2400" b="1" dirty="0">
                <a:solidFill>
                  <a:srgbClr val="F5F1E7"/>
                </a:solidFill>
                <a:latin typeface="Microsoft YaHei" pitchFamily="34" charset="0"/>
                <a:ea typeface="Microsoft YaHei" pitchFamily="34" charset="-122"/>
                <a:cs typeface="Microsoft YaHei" pitchFamily="34" charset="-120"/>
              </a:rPr>
              <a:t>国家权力的组织与行使</a:t>
            </a:r>
            <a:endParaRPr lang="en-US" sz="2400" dirty="0"/>
          </a:p>
        </p:txBody>
      </p:sp>
      <p:sp>
        <p:nvSpPr>
          <p:cNvPr id="10" name="Text 8"/>
          <p:cNvSpPr/>
          <p:nvPr/>
        </p:nvSpPr>
        <p:spPr>
          <a:xfrm>
            <a:off x="4325112" y="1755648"/>
            <a:ext cx="3538728" cy="1261872"/>
          </a:xfrm>
          <a:prstGeom prst="rect">
            <a:avLst/>
          </a:prstGeom>
          <a:noFill/>
          <a:ln/>
        </p:spPr>
        <p:txBody>
          <a:bodyPr wrap="square" lIns="0" tIns="0" rIns="0" bIns="0" rtlCol="0" anchor="t"/>
          <a:lstStyle/>
          <a:p>
            <a:pPr algn="ct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党的领导
</a:t>
            </a:r>
            <a:pPr algn="ctr" indent="0" marL="0">
              <a:lnSpc>
                <a:spcPct val="108000"/>
              </a:lnSpc>
              <a:buNone/>
            </a:pPr>
            <a:r>
              <a:rPr lang="en-US" sz="2400" dirty="0">
                <a:solidFill>
                  <a:srgbClr val="173238"/>
                </a:solidFill>
                <a:latin typeface="Microsoft YaHei" pitchFamily="34" charset="0"/>
                <a:ea typeface="Microsoft YaHei" pitchFamily="34" charset="-122"/>
                <a:cs typeface="Microsoft YaHei" pitchFamily="34" charset="-120"/>
              </a:rPr>
              <a:t>宪法确认的领导地位</a:t>
            </a:r>
            <a:endParaRPr lang="en-US" sz="2400" dirty="0"/>
          </a:p>
        </p:txBody>
      </p:sp>
      <p:sp>
        <p:nvSpPr>
          <p:cNvPr id="11" name="Text 9"/>
          <p:cNvSpPr/>
          <p:nvPr/>
        </p:nvSpPr>
        <p:spPr>
          <a:xfrm>
            <a:off x="731520" y="2194560"/>
            <a:ext cx="3520440" cy="1481328"/>
          </a:xfrm>
          <a:prstGeom prst="rect">
            <a:avLst/>
          </a:prstGeom>
          <a:noFill/>
          <a:ln/>
        </p:spPr>
        <p:txBody>
          <a:bodyPr wrap="square" lIns="0" tIns="0" rIns="0" bIns="0" rtlCol="0" anchor="t"/>
          <a:lstStyle/>
          <a:p>
            <a:pPr algn="ct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人民主权
</a:t>
            </a:r>
            <a:pPr algn="ctr" indent="0" marL="0">
              <a:lnSpc>
                <a:spcPct val="108000"/>
              </a:lnSpc>
              <a:buNone/>
            </a:pPr>
            <a:r>
              <a:rPr lang="en-US" sz="2400" dirty="0">
                <a:solidFill>
                  <a:srgbClr val="173238"/>
                </a:solidFill>
                <a:latin typeface="Microsoft YaHei" pitchFamily="34" charset="0"/>
                <a:ea typeface="Microsoft YaHei" pitchFamily="34" charset="-122"/>
                <a:cs typeface="Microsoft YaHei" pitchFamily="34" charset="-120"/>
              </a:rPr>
              <a:t>权力归属与制度实现</a:t>
            </a:r>
            <a:endParaRPr lang="en-US" sz="2400" dirty="0"/>
          </a:p>
        </p:txBody>
      </p:sp>
      <p:sp>
        <p:nvSpPr>
          <p:cNvPr id="12" name="Text 10"/>
          <p:cNvSpPr/>
          <p:nvPr/>
        </p:nvSpPr>
        <p:spPr>
          <a:xfrm>
            <a:off x="8138160" y="2194560"/>
            <a:ext cx="3319272" cy="1481328"/>
          </a:xfrm>
          <a:prstGeom prst="rect">
            <a:avLst/>
          </a:prstGeom>
          <a:noFill/>
          <a:ln/>
        </p:spPr>
        <p:txBody>
          <a:bodyPr wrap="square" lIns="0" tIns="0" rIns="0" bIns="0" rtlCol="0" anchor="t"/>
          <a:lstStyle/>
          <a:p>
            <a:pPr algn="ct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社会主义法治
</a:t>
            </a:r>
            <a:pPr algn="ctr" indent="0" marL="0">
              <a:lnSpc>
                <a:spcPct val="108000"/>
              </a:lnSpc>
              <a:buNone/>
            </a:pPr>
            <a:r>
              <a:rPr lang="en-US" sz="2400" dirty="0">
                <a:solidFill>
                  <a:srgbClr val="173238"/>
                </a:solidFill>
                <a:latin typeface="Microsoft YaHei" pitchFamily="34" charset="0"/>
                <a:ea typeface="Microsoft YaHei" pitchFamily="34" charset="-122"/>
                <a:cs typeface="Microsoft YaHei" pitchFamily="34" charset="-120"/>
              </a:rPr>
              <a:t>依法运行与共同约束</a:t>
            </a:r>
            <a:endParaRPr lang="en-US" sz="2400" dirty="0"/>
          </a:p>
        </p:txBody>
      </p:sp>
      <p:sp>
        <p:nvSpPr>
          <p:cNvPr id="13" name="Text 11"/>
          <p:cNvSpPr/>
          <p:nvPr/>
        </p:nvSpPr>
        <p:spPr>
          <a:xfrm>
            <a:off x="731520" y="4489704"/>
            <a:ext cx="3675888" cy="1472184"/>
          </a:xfrm>
          <a:prstGeom prst="rect">
            <a:avLst/>
          </a:prstGeom>
          <a:noFill/>
          <a:ln/>
        </p:spPr>
        <p:txBody>
          <a:bodyPr wrap="square" lIns="0" tIns="0" rIns="0" bIns="0" rtlCol="0" anchor="t"/>
          <a:lstStyle/>
          <a:p>
            <a:pPr algn="ct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人权保障
</a:t>
            </a:r>
            <a:pPr algn="ctr" indent="0" marL="0">
              <a:lnSpc>
                <a:spcPct val="108000"/>
              </a:lnSpc>
              <a:buNone/>
            </a:pPr>
            <a:r>
              <a:rPr lang="en-US" sz="2400" dirty="0">
                <a:solidFill>
                  <a:srgbClr val="173238"/>
                </a:solidFill>
                <a:latin typeface="Microsoft YaHei" pitchFamily="34" charset="0"/>
                <a:ea typeface="Microsoft YaHei" pitchFamily="34" charset="-122"/>
                <a:cs typeface="Microsoft YaHei" pitchFamily="34" charset="-120"/>
              </a:rPr>
              <a:t>国家尊重和保障人权</a:t>
            </a:r>
            <a:endParaRPr lang="en-US" sz="2400" dirty="0"/>
          </a:p>
        </p:txBody>
      </p:sp>
      <p:sp>
        <p:nvSpPr>
          <p:cNvPr id="14" name="Text 12"/>
          <p:cNvSpPr/>
          <p:nvPr/>
        </p:nvSpPr>
        <p:spPr>
          <a:xfrm>
            <a:off x="7808976" y="4489704"/>
            <a:ext cx="3648456" cy="1472184"/>
          </a:xfrm>
          <a:prstGeom prst="rect">
            <a:avLst/>
          </a:prstGeom>
          <a:noFill/>
          <a:ln/>
        </p:spPr>
        <p:txBody>
          <a:bodyPr wrap="square" lIns="0" tIns="0" rIns="0" bIns="0" rtlCol="0" anchor="t"/>
          <a:lstStyle/>
          <a:p>
            <a:pPr algn="ct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监督与制约
</a:t>
            </a:r>
            <a:pPr algn="ctr" indent="0" marL="0">
              <a:lnSpc>
                <a:spcPct val="108000"/>
              </a:lnSpc>
              <a:buNone/>
            </a:pPr>
            <a:r>
              <a:rPr lang="en-US" sz="2400" dirty="0">
                <a:solidFill>
                  <a:srgbClr val="173238"/>
                </a:solidFill>
                <a:latin typeface="Microsoft YaHei" pitchFamily="34" charset="0"/>
                <a:ea typeface="Microsoft YaHei" pitchFamily="34" charset="-122"/>
                <a:cs typeface="Microsoft YaHei" pitchFamily="34" charset="-120"/>
              </a:rPr>
              <a:t>防止滥用并落实责任</a:t>
            </a:r>
            <a:endParaRPr lang="en-US" sz="2400" dirty="0"/>
          </a:p>
        </p:txBody>
      </p:sp>
      <p:sp>
        <p:nvSpPr>
          <p:cNvPr id="15" name="Text 13"/>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教材我国宪法基本原则；现行宪法第1—3、5、33条</a:t>
            </a:r>
            <a:endParaRPr lang="en-US" sz="1200" dirty="0"/>
          </a:p>
        </p:txBody>
      </p:sp>
      <p:sp>
        <p:nvSpPr>
          <p:cNvPr id="16" name="Text 14"/>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20 / 26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73238"/>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F5F1E7"/>
                </a:solidFill>
                <a:latin typeface="Microsoft YaHei" pitchFamily="34" charset="0"/>
                <a:ea typeface="Microsoft YaHei" pitchFamily="34" charset="-122"/>
                <a:cs typeface="Microsoft YaHei" pitchFamily="34" charset="-120"/>
              </a:rPr>
              <a:t>换一个说法，你还会怎样判断？</a:t>
            </a:r>
            <a:endParaRPr lang="en-US" sz="3800" dirty="0"/>
          </a:p>
        </p:txBody>
      </p:sp>
      <p:sp>
        <p:nvSpPr>
          <p:cNvPr id="3" name="Text 1"/>
          <p:cNvSpPr/>
          <p:nvPr/>
        </p:nvSpPr>
        <p:spPr>
          <a:xfrm>
            <a:off x="795528" y="1792224"/>
            <a:ext cx="10488168" cy="1389888"/>
          </a:xfrm>
          <a:prstGeom prst="rect">
            <a:avLst/>
          </a:prstGeom>
          <a:noFill/>
          <a:ln/>
        </p:spPr>
        <p:txBody>
          <a:bodyPr wrap="square" lIns="0" tIns="0" rIns="0" bIns="0" rtlCol="0" anchor="t"/>
          <a:lstStyle/>
          <a:p>
            <a:pPr indent="0" marL="0">
              <a:lnSpc>
                <a:spcPct val="108000"/>
              </a:lnSpc>
              <a:buNone/>
            </a:pPr>
            <a:r>
              <a:rPr lang="en-US" sz="2400" dirty="0">
                <a:solidFill>
                  <a:srgbClr val="E0DDCF"/>
                </a:solidFill>
                <a:latin typeface="Microsoft YaHei" pitchFamily="34" charset="0"/>
                <a:ea typeface="Microsoft YaHei" pitchFamily="34" charset="-122"/>
                <a:cs typeface="Microsoft YaHei" pitchFamily="34" charset="-120"/>
              </a:rPr>
              <a:t>甲：普通法律未写“根据宪法”。</a:t>
            </a:r>
            <a:endParaRPr lang="en-US" sz="2400" dirty="0"/>
          </a:p>
          <a:p>
            <a:pPr indent="0" marL="0">
              <a:lnSpc>
                <a:spcPct val="108000"/>
              </a:lnSpc>
              <a:buNone/>
            </a:pPr>
            <a:r>
              <a:rPr lang="en-US" sz="2400" dirty="0">
                <a:solidFill>
                  <a:srgbClr val="E0DDCF"/>
                </a:solidFill>
                <a:latin typeface="Microsoft YaHei" pitchFamily="34" charset="0"/>
                <a:ea typeface="Microsoft YaHei" pitchFamily="34" charset="-122"/>
                <a:cs typeface="Microsoft YaHei" pitchFamily="34" charset="-120"/>
              </a:rPr>
              <a:t>乙：机关仅以“公共利益”为由限制行动。</a:t>
            </a:r>
            <a:endParaRPr lang="en-US" sz="2400" dirty="0"/>
          </a:p>
        </p:txBody>
      </p:sp>
      <p:sp>
        <p:nvSpPr>
          <p:cNvPr id="4" name="Text 2"/>
          <p:cNvSpPr/>
          <p:nvPr/>
        </p:nvSpPr>
        <p:spPr>
          <a:xfrm>
            <a:off x="777240" y="3474720"/>
            <a:ext cx="10497312" cy="1609344"/>
          </a:xfrm>
          <a:prstGeom prst="rect">
            <a:avLst/>
          </a:prstGeom>
          <a:noFill/>
          <a:ln/>
        </p:spPr>
        <p:txBody>
          <a:bodyPr wrap="square" lIns="0" tIns="0" rIns="0" bIns="0" rtlCol="0" anchor="t"/>
          <a:lstStyle/>
          <a:p>
            <a:pPr indent="0" marL="0">
              <a:lnSpc>
                <a:spcPct val="108000"/>
              </a:lnSpc>
              <a:buNone/>
            </a:pPr>
            <a:r>
              <a:rPr lang="en-US" sz="3600" b="1" dirty="0">
                <a:solidFill>
                  <a:srgbClr val="F5F1E7"/>
                </a:solidFill>
                <a:latin typeface="Microsoft YaHei" pitchFamily="34" charset="0"/>
                <a:ea typeface="Microsoft YaHei" pitchFamily="34" charset="-122"/>
                <a:cs typeface="Microsoft YaHei" pitchFamily="34" charset="-120"/>
              </a:rPr>
              <a:t>甲是否仍受宪法约束？</a:t>
            </a:r>
            <a:endParaRPr lang="en-US" sz="3600" dirty="0"/>
          </a:p>
          <a:p>
            <a:pPr indent="0" marL="0">
              <a:lnSpc>
                <a:spcPct val="108000"/>
              </a:lnSpc>
              <a:buNone/>
            </a:pPr>
            <a:r>
              <a:rPr lang="en-US" sz="3600" b="1" dirty="0">
                <a:solidFill>
                  <a:srgbClr val="F5F1E7"/>
                </a:solidFill>
                <a:latin typeface="Microsoft YaHei" pitchFamily="34" charset="0"/>
                <a:ea typeface="Microsoft YaHei" pitchFamily="34" charset="-122"/>
                <a:cs typeface="Microsoft YaHei" pitchFamily="34" charset="-120"/>
              </a:rPr>
              <a:t>乙还缺哪些具体判断依据？</a:t>
            </a:r>
            <a:endParaRPr lang="en-US" sz="3600" dirty="0"/>
          </a:p>
        </p:txBody>
      </p:sp>
      <p:sp>
        <p:nvSpPr>
          <p:cNvPr id="5" name="Text 3"/>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教学设例；材料四任务四</a:t>
            </a:r>
            <a:endParaRPr lang="en-US" sz="1200" dirty="0"/>
          </a:p>
        </p:txBody>
      </p:sp>
      <p:sp>
        <p:nvSpPr>
          <p:cNvPr id="6" name="Text 4"/>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21 / 26</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有根据的结论，与具体的信息缺口</a:t>
            </a:r>
            <a:endParaRPr lang="en-US" sz="3800" dirty="0"/>
          </a:p>
        </p:txBody>
      </p:sp>
      <p:sp>
        <p:nvSpPr>
          <p:cNvPr id="3" name="Shape 1"/>
          <p:cNvSpPr/>
          <p:nvPr/>
        </p:nvSpPr>
        <p:spPr>
          <a:xfrm>
            <a:off x="6094476" y="1828800"/>
            <a:ext cx="0" cy="3474720"/>
          </a:xfrm>
          <a:prstGeom prst="line">
            <a:avLst/>
          </a:prstGeom>
          <a:noFill/>
          <a:ln w="13970">
            <a:solidFill>
              <a:srgbClr val="B89A5B"/>
            </a:solidFill>
            <a:prstDash val="solid"/>
          </a:ln>
        </p:spPr>
      </p:sp>
      <p:sp>
        <p:nvSpPr>
          <p:cNvPr id="4" name="Text 2"/>
          <p:cNvSpPr/>
          <p:nvPr/>
        </p:nvSpPr>
        <p:spPr>
          <a:xfrm>
            <a:off x="786384" y="1828800"/>
            <a:ext cx="4663440" cy="768096"/>
          </a:xfrm>
          <a:prstGeom prst="rect">
            <a:avLst/>
          </a:prstGeom>
          <a:noFill/>
          <a:ln/>
        </p:spPr>
        <p:txBody>
          <a:bodyPr wrap="square" lIns="0" tIns="0" rIns="0" bIns="0" rtlCol="0" anchor="t"/>
          <a:lstStyle/>
          <a:p>
            <a:pPr indent="0" marL="0">
              <a:lnSpc>
                <a:spcPct val="108000"/>
              </a:lnSpc>
              <a:buNone/>
            </a:pPr>
            <a:r>
              <a:rPr lang="en-US" sz="2800" b="1" dirty="0">
                <a:solidFill>
                  <a:srgbClr val="173238"/>
                </a:solidFill>
                <a:latin typeface="Microsoft YaHei" pitchFamily="34" charset="0"/>
                <a:ea typeface="Microsoft YaHei" pitchFamily="34" charset="-122"/>
                <a:cs typeface="Microsoft YaHei" pitchFamily="34" charset="-120"/>
              </a:rPr>
              <a:t>甲：可以明确回答</a:t>
            </a:r>
            <a:endParaRPr lang="en-US" sz="2800" dirty="0"/>
          </a:p>
        </p:txBody>
      </p:sp>
      <p:sp>
        <p:nvSpPr>
          <p:cNvPr id="5" name="Text 3"/>
          <p:cNvSpPr/>
          <p:nvPr/>
        </p:nvSpPr>
        <p:spPr>
          <a:xfrm>
            <a:off x="786384" y="2798064"/>
            <a:ext cx="4663440" cy="2340864"/>
          </a:xfrm>
          <a:prstGeom prst="rect">
            <a:avLst/>
          </a:prstGeom>
          <a:noFill/>
          <a:ln/>
        </p:spPr>
        <p:txBody>
          <a:bodyPr wrap="square" lIns="0" tIns="0" rIns="0" bIns="0" rtlCol="0" anchor="t"/>
          <a:lstStyle/>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普通法律仍受宪法约束。</a:t>
            </a:r>
            <a:endParaRPr lang="en-US" sz="2600" dirty="0"/>
          </a:p>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最高效力不取决于特定起首句。</a:t>
            </a:r>
            <a:endParaRPr lang="en-US" sz="2600" dirty="0"/>
          </a:p>
        </p:txBody>
      </p:sp>
      <p:sp>
        <p:nvSpPr>
          <p:cNvPr id="6" name="Text 4"/>
          <p:cNvSpPr/>
          <p:nvPr/>
        </p:nvSpPr>
        <p:spPr>
          <a:xfrm>
            <a:off x="6547104" y="1828800"/>
            <a:ext cx="4663440" cy="768096"/>
          </a:xfrm>
          <a:prstGeom prst="rect">
            <a:avLst/>
          </a:prstGeom>
          <a:noFill/>
          <a:ln/>
        </p:spPr>
        <p:txBody>
          <a:bodyPr wrap="square" lIns="0" tIns="0" rIns="0" bIns="0" rtlCol="0" anchor="t"/>
          <a:lstStyle/>
          <a:p>
            <a:pPr indent="0" marL="0">
              <a:lnSpc>
                <a:spcPct val="108000"/>
              </a:lnSpc>
              <a:buNone/>
            </a:pPr>
            <a:r>
              <a:rPr lang="en-US" sz="2800" b="1" dirty="0">
                <a:solidFill>
                  <a:srgbClr val="A1372F"/>
                </a:solidFill>
                <a:latin typeface="Microsoft YaHei" pitchFamily="34" charset="0"/>
                <a:ea typeface="Microsoft YaHei" pitchFamily="34" charset="-122"/>
                <a:cs typeface="Microsoft YaHei" pitchFamily="34" charset="-120"/>
              </a:rPr>
              <a:t>乙：指出具体缺口</a:t>
            </a:r>
            <a:endParaRPr lang="en-US" sz="2800" dirty="0"/>
          </a:p>
        </p:txBody>
      </p:sp>
      <p:sp>
        <p:nvSpPr>
          <p:cNvPr id="7" name="Text 5"/>
          <p:cNvSpPr/>
          <p:nvPr/>
        </p:nvSpPr>
        <p:spPr>
          <a:xfrm>
            <a:off x="6547104" y="2798064"/>
            <a:ext cx="4663440" cy="2340864"/>
          </a:xfrm>
          <a:prstGeom prst="rect">
            <a:avLst/>
          </a:prstGeom>
          <a:noFill/>
          <a:ln/>
        </p:spPr>
        <p:txBody>
          <a:bodyPr wrap="square" lIns="0" tIns="0" rIns="0" bIns="0" rtlCol="0" anchor="t"/>
          <a:lstStyle/>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措施性质、权限依据、</a:t>
            </a:r>
            <a:endParaRPr lang="en-US" sz="2600" dirty="0"/>
          </a:p>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条件事实、实施程序。</a:t>
            </a:r>
            <a:endParaRPr lang="en-US" sz="2600" dirty="0"/>
          </a:p>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尚不能直接推出必然违法。</a:t>
            </a:r>
            <a:endParaRPr lang="en-US" sz="2600" dirty="0"/>
          </a:p>
        </p:txBody>
      </p:sp>
      <p:sp>
        <p:nvSpPr>
          <p:cNvPr id="8" name="Text 6"/>
          <p:cNvSpPr/>
          <p:nvPr/>
        </p:nvSpPr>
        <p:spPr>
          <a:xfrm>
            <a:off x="777240" y="5614416"/>
            <a:ext cx="10588752" cy="457200"/>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把材料足够与材料不足的题，分别判断。</a:t>
            </a:r>
            <a:endParaRPr lang="en-US" sz="2400" dirty="0"/>
          </a:p>
        </p:txBody>
      </p:sp>
      <p:sp>
        <p:nvSpPr>
          <p:cNvPr id="9" name="Text 7"/>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材料四任务四讲评；现行宪法第5、33条</a:t>
            </a:r>
            <a:endParaRPr lang="en-US" sz="1200" dirty="0"/>
          </a:p>
        </p:txBody>
      </p:sp>
      <p:sp>
        <p:nvSpPr>
          <p:cNvPr id="10" name="Text 8"/>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22 / 26</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规则的效力，与现实中做到多少</a:t>
            </a:r>
            <a:endParaRPr lang="en-US" sz="3800" dirty="0"/>
          </a:p>
        </p:txBody>
      </p:sp>
      <p:sp>
        <p:nvSpPr>
          <p:cNvPr id="3" name="Shape 1"/>
          <p:cNvSpPr/>
          <p:nvPr/>
        </p:nvSpPr>
        <p:spPr>
          <a:xfrm>
            <a:off x="6094476" y="1828800"/>
            <a:ext cx="0" cy="3474720"/>
          </a:xfrm>
          <a:prstGeom prst="line">
            <a:avLst/>
          </a:prstGeom>
          <a:noFill/>
          <a:ln w="13970">
            <a:solidFill>
              <a:srgbClr val="B89A5B"/>
            </a:solidFill>
            <a:prstDash val="solid"/>
          </a:ln>
        </p:spPr>
      </p:sp>
      <p:sp>
        <p:nvSpPr>
          <p:cNvPr id="4" name="Text 2"/>
          <p:cNvSpPr/>
          <p:nvPr/>
        </p:nvSpPr>
        <p:spPr>
          <a:xfrm>
            <a:off x="786384" y="1828800"/>
            <a:ext cx="4663440" cy="768096"/>
          </a:xfrm>
          <a:prstGeom prst="rect">
            <a:avLst/>
          </a:prstGeom>
          <a:noFill/>
          <a:ln/>
        </p:spPr>
        <p:txBody>
          <a:bodyPr wrap="square" lIns="0" tIns="0" rIns="0" bIns="0" rtlCol="0" anchor="t"/>
          <a:lstStyle/>
          <a:p>
            <a:pPr indent="0" marL="0">
              <a:lnSpc>
                <a:spcPct val="108000"/>
              </a:lnSpc>
              <a:buNone/>
            </a:pPr>
            <a:r>
              <a:rPr lang="en-US" sz="2800" b="1" dirty="0">
                <a:solidFill>
                  <a:srgbClr val="173238"/>
                </a:solidFill>
                <a:latin typeface="Microsoft YaHei" pitchFamily="34" charset="0"/>
                <a:ea typeface="Microsoft YaHei" pitchFamily="34" charset="-122"/>
                <a:cs typeface="Microsoft YaHei" pitchFamily="34" charset="-120"/>
              </a:rPr>
              <a:t>法律效力</a:t>
            </a:r>
            <a:endParaRPr lang="en-US" sz="2800" dirty="0"/>
          </a:p>
        </p:txBody>
      </p:sp>
      <p:sp>
        <p:nvSpPr>
          <p:cNvPr id="5" name="Text 3"/>
          <p:cNvSpPr/>
          <p:nvPr/>
        </p:nvSpPr>
        <p:spPr>
          <a:xfrm>
            <a:off x="786384" y="2798064"/>
            <a:ext cx="4663440" cy="2340864"/>
          </a:xfrm>
          <a:prstGeom prst="rect">
            <a:avLst/>
          </a:prstGeom>
          <a:noFill/>
          <a:ln/>
        </p:spPr>
        <p:txBody>
          <a:bodyPr wrap="square" lIns="0" tIns="0" rIns="0" bIns="0" rtlCol="0" anchor="t"/>
          <a:lstStyle/>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应当遵守的规范地位</a:t>
            </a:r>
            <a:endParaRPr lang="en-US" sz="2600" dirty="0"/>
          </a:p>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与相互约束关系。</a:t>
            </a:r>
            <a:endParaRPr lang="en-US" sz="2600" dirty="0"/>
          </a:p>
        </p:txBody>
      </p:sp>
      <p:sp>
        <p:nvSpPr>
          <p:cNvPr id="6" name="Text 4"/>
          <p:cNvSpPr/>
          <p:nvPr/>
        </p:nvSpPr>
        <p:spPr>
          <a:xfrm>
            <a:off x="6547104" y="1828800"/>
            <a:ext cx="4663440" cy="768096"/>
          </a:xfrm>
          <a:prstGeom prst="rect">
            <a:avLst/>
          </a:prstGeom>
          <a:noFill/>
          <a:ln/>
        </p:spPr>
        <p:txBody>
          <a:bodyPr wrap="square" lIns="0" tIns="0" rIns="0" bIns="0" rtlCol="0" anchor="t"/>
          <a:lstStyle/>
          <a:p>
            <a:pPr indent="0" marL="0">
              <a:lnSpc>
                <a:spcPct val="108000"/>
              </a:lnSpc>
              <a:buNone/>
            </a:pPr>
            <a:r>
              <a:rPr lang="en-US" sz="2800" b="1" dirty="0">
                <a:solidFill>
                  <a:srgbClr val="A1372F"/>
                </a:solidFill>
                <a:latin typeface="Microsoft YaHei" pitchFamily="34" charset="0"/>
                <a:ea typeface="Microsoft YaHei" pitchFamily="34" charset="-122"/>
                <a:cs typeface="Microsoft YaHei" pitchFamily="34" charset="-120"/>
              </a:rPr>
              <a:t>实际效果</a:t>
            </a:r>
            <a:endParaRPr lang="en-US" sz="2800" dirty="0"/>
          </a:p>
        </p:txBody>
      </p:sp>
      <p:sp>
        <p:nvSpPr>
          <p:cNvPr id="7" name="Text 5"/>
          <p:cNvSpPr/>
          <p:nvPr/>
        </p:nvSpPr>
        <p:spPr>
          <a:xfrm>
            <a:off x="6547104" y="2798064"/>
            <a:ext cx="4663440" cy="2340864"/>
          </a:xfrm>
          <a:prstGeom prst="rect">
            <a:avLst/>
          </a:prstGeom>
          <a:noFill/>
          <a:ln/>
        </p:spPr>
        <p:txBody>
          <a:bodyPr wrap="square" lIns="0" tIns="0" rIns="0" bIns="0" rtlCol="0" anchor="t"/>
          <a:lstStyle/>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现实中遵守、执行</a:t>
            </a:r>
            <a:endParaRPr lang="en-US" sz="2600" dirty="0"/>
          </a:p>
          <a:p>
            <a:pPr indent="0" marL="0">
              <a:lnSpc>
                <a:spcPct val="108000"/>
              </a:lnSpc>
              <a:buNone/>
            </a:pPr>
            <a:r>
              <a:rPr lang="en-US" sz="2600" dirty="0">
                <a:solidFill>
                  <a:srgbClr val="1D3438"/>
                </a:solidFill>
                <a:latin typeface="Microsoft YaHei" pitchFamily="34" charset="0"/>
                <a:ea typeface="Microsoft YaHei" pitchFamily="34" charset="-122"/>
                <a:cs typeface="Microsoft YaHei" pitchFamily="34" charset="-120"/>
              </a:rPr>
              <a:t>与权利实现的状况。</a:t>
            </a:r>
            <a:endParaRPr lang="en-US" sz="2600" dirty="0"/>
          </a:p>
        </p:txBody>
      </p:sp>
      <p:sp>
        <p:nvSpPr>
          <p:cNvPr id="8" name="Text 6"/>
          <p:cNvSpPr/>
          <p:nvPr/>
        </p:nvSpPr>
        <p:spPr>
          <a:xfrm>
            <a:off x="777240" y="5614416"/>
            <a:ext cx="10588752" cy="457200"/>
          </a:xfrm>
          <a:prstGeom prst="rect">
            <a:avLst/>
          </a:prstGeom>
          <a:noFill/>
          <a:ln/>
        </p:spPr>
        <p:txBody>
          <a:bodyPr wrap="square" lIns="0" tIns="0" rIns="0" bIns="0" rtlCol="0" anchor="t"/>
          <a:lstStyle/>
          <a:p>
            <a:pPr indent="0" marL="0">
              <a:lnSpc>
                <a:spcPct val="108000"/>
              </a:lnSpc>
              <a:buNone/>
            </a:pPr>
            <a:r>
              <a:rPr lang="en-US" sz="2400" b="1" dirty="0">
                <a:solidFill>
                  <a:srgbClr val="A1372F"/>
                </a:solidFill>
                <a:latin typeface="Microsoft YaHei" pitchFamily="34" charset="0"/>
                <a:ea typeface="Microsoft YaHei" pitchFamily="34" charset="-122"/>
                <a:cs typeface="Microsoft YaHei" pitchFamily="34" charset="-120"/>
              </a:rPr>
              <a:t>有规则，还需要让规则得到落实。</a:t>
            </a:r>
            <a:endParaRPr lang="en-US" sz="2400" dirty="0"/>
          </a:p>
        </p:txBody>
      </p:sp>
      <p:sp>
        <p:nvSpPr>
          <p:cNvPr id="9" name="Text 7"/>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效力/效果为教学区别；宪法第5条与同期实施资料</a:t>
            </a:r>
            <a:endParaRPr lang="en-US" sz="1200" dirty="0"/>
          </a:p>
        </p:txBody>
      </p:sp>
      <p:sp>
        <p:nvSpPr>
          <p:cNvPr id="10" name="Text 8"/>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23 / 26</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73238"/>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F5F1E7"/>
                </a:solidFill>
                <a:latin typeface="Microsoft YaHei" pitchFamily="34" charset="0"/>
                <a:ea typeface="Microsoft YaHei" pitchFamily="34" charset="-122"/>
                <a:cs typeface="Microsoft YaHei" pitchFamily="34" charset="-120"/>
              </a:rPr>
              <a:t>回到开场：一部宪法怎样进入国家与个人的生活</a:t>
            </a:r>
            <a:endParaRPr lang="en-US" sz="3800" dirty="0"/>
          </a:p>
        </p:txBody>
      </p:sp>
      <p:sp>
        <p:nvSpPr>
          <p:cNvPr id="3" name="Text 1"/>
          <p:cNvSpPr/>
          <p:nvPr/>
        </p:nvSpPr>
        <p:spPr>
          <a:xfrm>
            <a:off x="822960" y="1828800"/>
            <a:ext cx="10405872" cy="1124712"/>
          </a:xfrm>
          <a:prstGeom prst="rect">
            <a:avLst/>
          </a:prstGeom>
          <a:noFill/>
          <a:ln/>
        </p:spPr>
        <p:txBody>
          <a:bodyPr wrap="square" lIns="0" tIns="0" rIns="0" bIns="0" rtlCol="0" anchor="t"/>
          <a:lstStyle/>
          <a:p>
            <a:pPr indent="0" marL="0">
              <a:lnSpc>
                <a:spcPct val="108000"/>
              </a:lnSpc>
              <a:buNone/>
            </a:pPr>
            <a:r>
              <a:rPr lang="en-US" sz="3800" b="1" dirty="0">
                <a:solidFill>
                  <a:srgbClr val="B89A5B"/>
                </a:solidFill>
                <a:latin typeface="SimSun" pitchFamily="34" charset="0"/>
                <a:ea typeface="SimSun" pitchFamily="34" charset="-122"/>
                <a:cs typeface="SimSun" pitchFamily="34" charset="-120"/>
              </a:rPr>
              <a:t>国家的根本规则，个人权利的基本保障。</a:t>
            </a:r>
            <a:endParaRPr lang="en-US" sz="3800" dirty="0"/>
          </a:p>
        </p:txBody>
      </p:sp>
      <p:sp>
        <p:nvSpPr>
          <p:cNvPr id="4" name="Text 2"/>
          <p:cNvSpPr/>
          <p:nvPr/>
        </p:nvSpPr>
        <p:spPr>
          <a:xfrm>
            <a:off x="886968" y="3346704"/>
            <a:ext cx="10287000" cy="676656"/>
          </a:xfrm>
          <a:prstGeom prst="rect">
            <a:avLst/>
          </a:prstGeom>
          <a:noFill/>
          <a:ln/>
        </p:spPr>
        <p:txBody>
          <a:bodyPr wrap="square" lIns="0" tIns="0" rIns="0" bIns="0" rtlCol="0" anchor="t"/>
          <a:lstStyle/>
          <a:p>
            <a:pPr indent="0" marL="0">
              <a:lnSpc>
                <a:spcPct val="108000"/>
              </a:lnSpc>
              <a:buNone/>
            </a:pPr>
            <a:r>
              <a:rPr lang="en-US" sz="2600" dirty="0">
                <a:solidFill>
                  <a:srgbClr val="F5F1E7"/>
                </a:solidFill>
                <a:latin typeface="Microsoft YaHei" pitchFamily="34" charset="0"/>
                <a:ea typeface="Microsoft YaHei" pitchFamily="34" charset="-122"/>
                <a:cs typeface="Microsoft YaHei" pitchFamily="34" charset="-120"/>
              </a:rPr>
              <a:t>宪法规定什么？</a:t>
            </a:r>
            <a:endParaRPr lang="en-US" sz="2600" dirty="0"/>
          </a:p>
        </p:txBody>
      </p:sp>
      <p:sp>
        <p:nvSpPr>
          <p:cNvPr id="5" name="Text 3"/>
          <p:cNvSpPr/>
          <p:nvPr/>
        </p:nvSpPr>
        <p:spPr>
          <a:xfrm>
            <a:off x="886968" y="4169664"/>
            <a:ext cx="10287000" cy="676656"/>
          </a:xfrm>
          <a:prstGeom prst="rect">
            <a:avLst/>
          </a:prstGeom>
          <a:noFill/>
          <a:ln/>
        </p:spPr>
        <p:txBody>
          <a:bodyPr wrap="square" lIns="0" tIns="0" rIns="0" bIns="0" rtlCol="0" anchor="t"/>
          <a:lstStyle/>
          <a:p>
            <a:pPr indent="0" marL="0">
              <a:lnSpc>
                <a:spcPct val="108000"/>
              </a:lnSpc>
              <a:buNone/>
            </a:pPr>
            <a:r>
              <a:rPr lang="en-US" sz="2600" dirty="0">
                <a:solidFill>
                  <a:srgbClr val="F5F1E7"/>
                </a:solidFill>
                <a:latin typeface="Microsoft YaHei" pitchFamily="34" charset="0"/>
                <a:ea typeface="Microsoft YaHei" pitchFamily="34" charset="-122"/>
                <a:cs typeface="Microsoft YaHei" pitchFamily="34" charset="-120"/>
              </a:rPr>
              <a:t>普通法律具体安排什么？</a:t>
            </a:r>
            <a:endParaRPr lang="en-US" sz="2600" dirty="0"/>
          </a:p>
        </p:txBody>
      </p:sp>
      <p:sp>
        <p:nvSpPr>
          <p:cNvPr id="6" name="Text 4"/>
          <p:cNvSpPr/>
          <p:nvPr/>
        </p:nvSpPr>
        <p:spPr>
          <a:xfrm>
            <a:off x="886968" y="4992624"/>
            <a:ext cx="10287000" cy="676656"/>
          </a:xfrm>
          <a:prstGeom prst="rect">
            <a:avLst/>
          </a:prstGeom>
          <a:noFill/>
          <a:ln/>
        </p:spPr>
        <p:txBody>
          <a:bodyPr wrap="square" lIns="0" tIns="0" rIns="0" bIns="0" rtlCol="0" anchor="t"/>
          <a:lstStyle/>
          <a:p>
            <a:pPr indent="0" marL="0">
              <a:lnSpc>
                <a:spcPct val="108000"/>
              </a:lnSpc>
              <a:buNone/>
            </a:pPr>
            <a:r>
              <a:rPr lang="en-US" sz="2600" dirty="0">
                <a:solidFill>
                  <a:srgbClr val="F5F1E7"/>
                </a:solidFill>
                <a:latin typeface="Microsoft YaHei" pitchFamily="34" charset="0"/>
                <a:ea typeface="Microsoft YaHei" pitchFamily="34" charset="-122"/>
                <a:cs typeface="Microsoft YaHei" pitchFamily="34" charset="-120"/>
              </a:rPr>
              <a:t>判断具体行为，还需要什么？</a:t>
            </a:r>
            <a:endParaRPr lang="en-US" sz="2600" dirty="0"/>
          </a:p>
        </p:txBody>
      </p:sp>
      <p:sp>
        <p:nvSpPr>
          <p:cNvPr id="7" name="Text 5"/>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课末收束；材料四任务五</a:t>
            </a:r>
            <a:endParaRPr lang="en-US" sz="1200" dirty="0"/>
          </a:p>
        </p:txBody>
      </p:sp>
      <p:sp>
        <p:nvSpPr>
          <p:cNvPr id="8" name="Text 6"/>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D3D0C4"/>
                </a:solidFill>
                <a:latin typeface="Microsoft YaHei" pitchFamily="34" charset="0"/>
                <a:ea typeface="Microsoft YaHei" pitchFamily="34" charset="-122"/>
                <a:cs typeface="Microsoft YaHei" pitchFamily="34" charset="-120"/>
              </a:rPr>
              <a:t>24 / 26</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史料与照片出处</a:t>
            </a:r>
            <a:endParaRPr lang="en-US" sz="3800" dirty="0"/>
          </a:p>
        </p:txBody>
      </p:sp>
      <p:sp>
        <p:nvSpPr>
          <p:cNvPr id="3" name="Text 1">
            <a:hlinkClick r:id="rId1" tooltip=""/>
          </p:cNvPr>
          <p:cNvSpPr/>
          <p:nvPr/>
        </p:nvSpPr>
        <p:spPr>
          <a:xfrm>
            <a:off x="804672" y="1792224"/>
            <a:ext cx="10442448" cy="393192"/>
          </a:xfrm>
          <a:prstGeom prst="rect">
            <a:avLst/>
          </a:prstGeom>
          <a:noFill/>
          <a:ln/>
        </p:spPr>
        <p:txBody>
          <a:bodyPr wrap="square" lIns="0" tIns="0" rIns="0" bIns="0" rtlCol="0" anchor="t"/>
          <a:lstStyle/>
          <a:p>
            <a:pPr indent="0" marL="0">
              <a:lnSpc>
                <a:spcPct val="108000"/>
              </a:lnSpc>
              <a:buNone/>
            </a:pPr>
            <a:r>
              <a:rPr lang="en-US" sz="2400" b="1" u="sng" dirty="0">
                <a:solidFill>
                  <a:srgbClr val="173238"/>
                </a:solidFill>
                <a:latin typeface="Microsoft YaHei" pitchFamily="34" charset="0"/>
                <a:ea typeface="Microsoft YaHei" pitchFamily="34" charset="-122"/>
                <a:cs typeface="Microsoft YaHei" pitchFamily="34" charset="-120"/>
                <a:hlinkClick r:id="rId1" invalidUrl="" action="" tgtFrame="" tooltip="" history="1" highlightClick="0" endSnd="0">
                  <a:extLst>
                    <a:ext uri="{A12FA001-AC4F-418D-AE19-62706E023703}">
                      <ahyp:hlinkClr xmlns:ahyp="http://schemas.microsoft.com/office/drawing/2018/hyperlinkcolor" val="tx"/>
                    </a:ext>
                  </a:extLst>
                </a:hlinkClick>
              </a:rPr>
              <a:t>中国人大网：宪法制定和发展完善历程</a:t>
            </a:r>
            <a:endParaRPr lang="en-US" sz="2400" dirty="0"/>
          </a:p>
        </p:txBody>
      </p:sp>
      <p:sp>
        <p:nvSpPr>
          <p:cNvPr id="4" name="Text 2"/>
          <p:cNvSpPr/>
          <p:nvPr/>
        </p:nvSpPr>
        <p:spPr>
          <a:xfrm>
            <a:off x="832104" y="2286000"/>
            <a:ext cx="10396728" cy="470916"/>
          </a:xfrm>
          <a:prstGeom prst="rect">
            <a:avLst/>
          </a:prstGeom>
          <a:noFill/>
          <a:ln/>
        </p:spPr>
        <p:txBody>
          <a:bodyPr wrap="square" lIns="0" tIns="0" rIns="0" bIns="0" rtlCol="0" anchor="t"/>
          <a:lstStyle/>
          <a:p>
            <a:pPr indent="0" marL="0">
              <a:lnSpc>
                <a:spcPct val="108000"/>
              </a:lnSpc>
              <a:buNone/>
            </a:pPr>
            <a:r>
              <a:rPr lang="en-US" sz="1800" dirty="0">
                <a:solidFill>
                  <a:srgbClr val="64706A"/>
                </a:solidFill>
                <a:latin typeface="Microsoft YaHei" pitchFamily="34" charset="0"/>
                <a:ea typeface="Microsoft YaHei" pitchFamily="34" charset="-122"/>
                <a:cs typeface="Microsoft YaHei" pitchFamily="34" charset="-120"/>
              </a:rPr>
              <a:t>共同纲领、起草、草案讨论与1954年9月20日通过</a:t>
            </a:r>
            <a:endParaRPr lang="en-US" sz="1800" dirty="0"/>
          </a:p>
        </p:txBody>
      </p:sp>
      <p:sp>
        <p:nvSpPr>
          <p:cNvPr id="5" name="Shape 3"/>
          <p:cNvSpPr/>
          <p:nvPr/>
        </p:nvSpPr>
        <p:spPr>
          <a:xfrm>
            <a:off x="822960" y="2747772"/>
            <a:ext cx="10424160" cy="0"/>
          </a:xfrm>
          <a:prstGeom prst="line">
            <a:avLst/>
          </a:prstGeom>
          <a:noFill/>
          <a:ln w="8890">
            <a:solidFill>
              <a:srgbClr val="CCCABB"/>
            </a:solidFill>
            <a:prstDash val="solid"/>
          </a:ln>
        </p:spPr>
      </p:sp>
      <p:sp>
        <p:nvSpPr>
          <p:cNvPr id="6" name="Text 4">
            <a:hlinkClick r:id="rId2" tooltip=""/>
          </p:cNvPr>
          <p:cNvSpPr/>
          <p:nvPr/>
        </p:nvSpPr>
        <p:spPr>
          <a:xfrm>
            <a:off x="804672" y="2866644"/>
            <a:ext cx="10442448" cy="393192"/>
          </a:xfrm>
          <a:prstGeom prst="rect">
            <a:avLst/>
          </a:prstGeom>
          <a:noFill/>
          <a:ln/>
        </p:spPr>
        <p:txBody>
          <a:bodyPr wrap="square" lIns="0" tIns="0" rIns="0" bIns="0" rtlCol="0" anchor="t"/>
          <a:lstStyle/>
          <a:p>
            <a:pPr indent="0" marL="0">
              <a:lnSpc>
                <a:spcPct val="108000"/>
              </a:lnSpc>
              <a:buNone/>
            </a:pPr>
            <a:r>
              <a:rPr lang="en-US" sz="2400" b="1" u="sng" dirty="0">
                <a:solidFill>
                  <a:srgbClr val="173238"/>
                </a:solidFill>
                <a:latin typeface="Microsoft YaHei" pitchFamily="34" charset="0"/>
                <a:ea typeface="Microsoft YaHei" pitchFamily="34" charset="-122"/>
                <a:cs typeface="Microsoft YaHei" pitchFamily="34" charset="-120"/>
                <a:hlinkClick r:id="rId2" invalidUrl="" action="" tgtFrame="" tooltip="" history="1" highlightClick="0" endSnd="0">
                  <a:extLst>
                    <a:ext uri="{A12FA001-AC4F-418D-AE19-62706E023703}">
                      <ahyp:hlinkClr xmlns:ahyp="http://schemas.microsoft.com/office/drawing/2018/hyperlinkcolor" val="tx"/>
                    </a:ext>
                  </a:extLst>
                </a:hlinkClick>
              </a:rPr>
              <a:t>新华社资料照片：1954年9月15日代表入场</a:t>
            </a:r>
            <a:endParaRPr lang="en-US" sz="2400" dirty="0"/>
          </a:p>
        </p:txBody>
      </p:sp>
      <p:sp>
        <p:nvSpPr>
          <p:cNvPr id="7" name="Text 5"/>
          <p:cNvSpPr/>
          <p:nvPr/>
        </p:nvSpPr>
        <p:spPr>
          <a:xfrm>
            <a:off x="832104" y="3360420"/>
            <a:ext cx="10396728" cy="470916"/>
          </a:xfrm>
          <a:prstGeom prst="rect">
            <a:avLst/>
          </a:prstGeom>
          <a:noFill/>
          <a:ln/>
        </p:spPr>
        <p:txBody>
          <a:bodyPr wrap="square" lIns="0" tIns="0" rIns="0" bIns="0" rtlCol="0" anchor="t"/>
          <a:lstStyle/>
          <a:p>
            <a:pPr indent="0" marL="0">
              <a:lnSpc>
                <a:spcPct val="108000"/>
              </a:lnSpc>
              <a:buNone/>
            </a:pPr>
            <a:r>
              <a:rPr lang="en-US" sz="1800" dirty="0">
                <a:solidFill>
                  <a:srgbClr val="64706A"/>
                </a:solidFill>
                <a:latin typeface="Microsoft YaHei" pitchFamily="34" charset="0"/>
                <a:ea typeface="Microsoft YaHei" pitchFamily="34" charset="-122"/>
                <a:cs typeface="Microsoft YaHei" pitchFamily="34" charset="-120"/>
              </a:rPr>
              <a:t>新华社记者刘东鳌摄｜新华网2019年9月15日刊载</a:t>
            </a:r>
            <a:endParaRPr lang="en-US" sz="1800" dirty="0"/>
          </a:p>
        </p:txBody>
      </p:sp>
      <p:sp>
        <p:nvSpPr>
          <p:cNvPr id="8" name="Shape 6"/>
          <p:cNvSpPr/>
          <p:nvPr/>
        </p:nvSpPr>
        <p:spPr>
          <a:xfrm>
            <a:off x="822960" y="3822192"/>
            <a:ext cx="10424160" cy="0"/>
          </a:xfrm>
          <a:prstGeom prst="line">
            <a:avLst/>
          </a:prstGeom>
          <a:noFill/>
          <a:ln w="8890">
            <a:solidFill>
              <a:srgbClr val="CCCABB"/>
            </a:solidFill>
            <a:prstDash val="solid"/>
          </a:ln>
        </p:spPr>
      </p:sp>
      <p:sp>
        <p:nvSpPr>
          <p:cNvPr id="9" name="Text 7">
            <a:hlinkClick r:id="rId3" tooltip=""/>
          </p:cNvPr>
          <p:cNvSpPr/>
          <p:nvPr/>
        </p:nvSpPr>
        <p:spPr>
          <a:xfrm>
            <a:off x="804672" y="3941064"/>
            <a:ext cx="10442448" cy="393192"/>
          </a:xfrm>
          <a:prstGeom prst="rect">
            <a:avLst/>
          </a:prstGeom>
          <a:noFill/>
          <a:ln/>
        </p:spPr>
        <p:txBody>
          <a:bodyPr wrap="square" lIns="0" tIns="0" rIns="0" bIns="0" rtlCol="0" anchor="t"/>
          <a:lstStyle/>
          <a:p>
            <a:pPr indent="0" marL="0">
              <a:lnSpc>
                <a:spcPct val="108000"/>
              </a:lnSpc>
              <a:buNone/>
            </a:pPr>
            <a:r>
              <a:rPr lang="en-US" sz="2400" b="1" u="sng" dirty="0">
                <a:solidFill>
                  <a:srgbClr val="173238"/>
                </a:solidFill>
                <a:latin typeface="Microsoft YaHei" pitchFamily="34" charset="0"/>
                <a:ea typeface="Microsoft YaHei" pitchFamily="34" charset="-122"/>
                <a:cs typeface="Microsoft YaHei" pitchFamily="34" charset="-120"/>
                <a:hlinkClick r:id="rId3" invalidUrl="" action="" tgtFrame="" tooltip="" history="1" highlightClick="0" endSnd="0">
                  <a:extLst>
                    <a:ext uri="{A12FA001-AC4F-418D-AE19-62706E023703}">
                      <ahyp:hlinkClr xmlns:ahyp="http://schemas.microsoft.com/office/drawing/2018/hyperlinkcolor" val="tx"/>
                    </a:ext>
                  </a:extLst>
                </a:hlinkClick>
              </a:rPr>
              <a:t>国务院办公厅关于实施国家赔偿法的通知</a:t>
            </a:r>
            <a:endParaRPr lang="en-US" sz="2400" dirty="0"/>
          </a:p>
        </p:txBody>
      </p:sp>
      <p:sp>
        <p:nvSpPr>
          <p:cNvPr id="10" name="Text 8"/>
          <p:cNvSpPr/>
          <p:nvPr/>
        </p:nvSpPr>
        <p:spPr>
          <a:xfrm>
            <a:off x="832104" y="4434840"/>
            <a:ext cx="10396728" cy="470916"/>
          </a:xfrm>
          <a:prstGeom prst="rect">
            <a:avLst/>
          </a:prstGeom>
          <a:noFill/>
          <a:ln/>
        </p:spPr>
        <p:txBody>
          <a:bodyPr wrap="square" lIns="0" tIns="0" rIns="0" bIns="0" rtlCol="0" anchor="t"/>
          <a:lstStyle/>
          <a:p>
            <a:pPr indent="0" marL="0">
              <a:lnSpc>
                <a:spcPct val="108000"/>
              </a:lnSpc>
              <a:buNone/>
            </a:pPr>
            <a:r>
              <a:rPr lang="en-US" sz="1800" dirty="0">
                <a:solidFill>
                  <a:srgbClr val="64706A"/>
                </a:solidFill>
                <a:latin typeface="Microsoft YaHei" pitchFamily="34" charset="0"/>
                <a:ea typeface="Microsoft YaHei" pitchFamily="34" charset="-122"/>
                <a:cs typeface="Microsoft YaHei" pitchFamily="34" charset="-120"/>
              </a:rPr>
              <a:t>1994年12月22日；公报印刷1208—1211页</a:t>
            </a:r>
            <a:endParaRPr lang="en-US" sz="1800" dirty="0"/>
          </a:p>
        </p:txBody>
      </p:sp>
      <p:sp>
        <p:nvSpPr>
          <p:cNvPr id="11" name="Shape 9"/>
          <p:cNvSpPr/>
          <p:nvPr/>
        </p:nvSpPr>
        <p:spPr>
          <a:xfrm>
            <a:off x="822960" y="4896612"/>
            <a:ext cx="10424160" cy="0"/>
          </a:xfrm>
          <a:prstGeom prst="line">
            <a:avLst/>
          </a:prstGeom>
          <a:noFill/>
          <a:ln w="8890">
            <a:solidFill>
              <a:srgbClr val="CCCABB"/>
            </a:solidFill>
            <a:prstDash val="solid"/>
          </a:ln>
        </p:spPr>
      </p:sp>
      <p:sp>
        <p:nvSpPr>
          <p:cNvPr id="12" name="Text 10">
            <a:hlinkClick r:id="rId4" tooltip=""/>
          </p:cNvPr>
          <p:cNvSpPr/>
          <p:nvPr/>
        </p:nvSpPr>
        <p:spPr>
          <a:xfrm>
            <a:off x="804672" y="5015484"/>
            <a:ext cx="10442448" cy="393192"/>
          </a:xfrm>
          <a:prstGeom prst="rect">
            <a:avLst/>
          </a:prstGeom>
          <a:noFill/>
          <a:ln/>
        </p:spPr>
        <p:txBody>
          <a:bodyPr wrap="square" lIns="0" tIns="0" rIns="0" bIns="0" rtlCol="0" anchor="t"/>
          <a:lstStyle/>
          <a:p>
            <a:pPr indent="0" marL="0">
              <a:lnSpc>
                <a:spcPct val="108000"/>
              </a:lnSpc>
              <a:buNone/>
            </a:pPr>
            <a:r>
              <a:rPr lang="en-US" sz="2400" b="1" u="sng" dirty="0">
                <a:solidFill>
                  <a:srgbClr val="173238"/>
                </a:solidFill>
                <a:latin typeface="Microsoft YaHei" pitchFamily="34" charset="0"/>
                <a:ea typeface="Microsoft YaHei" pitchFamily="34" charset="-122"/>
                <a:cs typeface="Microsoft YaHei" pitchFamily="34" charset="-120"/>
                <a:hlinkClick r:id="rId4" invalidUrl="" action="" tgtFrame="" tooltip="" history="1" highlightClick="0" endSnd="0">
                  <a:extLst>
                    <a:ext uri="{A12FA001-AC4F-418D-AE19-62706E023703}">
                      <ahyp:hlinkClr xmlns:ahyp="http://schemas.microsoft.com/office/drawing/2018/hyperlinkcolor" val="tx"/>
                    </a:ext>
                  </a:extLst>
                </a:hlinkClick>
              </a:rPr>
              <a:t>1982年宪法原始文本</a:t>
            </a:r>
            <a:endParaRPr lang="en-US" sz="2400" dirty="0"/>
          </a:p>
        </p:txBody>
      </p:sp>
      <p:sp>
        <p:nvSpPr>
          <p:cNvPr id="13" name="Text 11"/>
          <p:cNvSpPr/>
          <p:nvPr/>
        </p:nvSpPr>
        <p:spPr>
          <a:xfrm>
            <a:off x="832104" y="5509260"/>
            <a:ext cx="10396728" cy="470916"/>
          </a:xfrm>
          <a:prstGeom prst="rect">
            <a:avLst/>
          </a:prstGeom>
          <a:noFill/>
          <a:ln/>
        </p:spPr>
        <p:txBody>
          <a:bodyPr wrap="square" lIns="0" tIns="0" rIns="0" bIns="0" rtlCol="0" anchor="t"/>
          <a:lstStyle/>
          <a:p>
            <a:pPr indent="0" marL="0">
              <a:lnSpc>
                <a:spcPct val="108000"/>
              </a:lnSpc>
              <a:buNone/>
            </a:pPr>
            <a:r>
              <a:rPr lang="en-US" sz="1800" dirty="0">
                <a:solidFill>
                  <a:srgbClr val="64706A"/>
                </a:solidFill>
                <a:latin typeface="Microsoft YaHei" pitchFamily="34" charset="0"/>
                <a:ea typeface="Microsoft YaHei" pitchFamily="34" charset="-122"/>
                <a:cs typeface="Microsoft YaHei" pitchFamily="34" charset="-120"/>
              </a:rPr>
              <a:t>历史版本第41条第3款，区别于今日现行全文</a:t>
            </a:r>
            <a:endParaRPr lang="en-US" sz="1800" dirty="0"/>
          </a:p>
        </p:txBody>
      </p:sp>
      <p:sp>
        <p:nvSpPr>
          <p:cNvPr id="14" name="Text 12"/>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查读附页：历史材料不替代现行法</a:t>
            </a:r>
            <a:endParaRPr lang="en-US" sz="1200" dirty="0"/>
          </a:p>
        </p:txBody>
      </p:sp>
      <p:sp>
        <p:nvSpPr>
          <p:cNvPr id="15" name="Text 13"/>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25 / 26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1E7"/>
        </a:solidFill>
      </p:bgPr>
    </p:bg>
    <p:spTree>
      <p:nvGrpSpPr>
        <p:cNvPr id="1" name=""/>
        <p:cNvGrpSpPr/>
        <p:nvPr/>
      </p:nvGrpSpPr>
      <p:grpSpPr>
        <a:xfrm>
          <a:off x="0" y="0"/>
          <a:ext cx="0" cy="0"/>
          <a:chOff x="0" y="0"/>
          <a:chExt cx="0" cy="0"/>
        </a:xfrm>
      </p:grpSpPr>
      <p:sp>
        <p:nvSpPr>
          <p:cNvPr id="2" name="Text 0"/>
          <p:cNvSpPr/>
          <p:nvPr/>
        </p:nvSpPr>
        <p:spPr>
          <a:xfrm>
            <a:off x="731520" y="475488"/>
            <a:ext cx="10725912" cy="667512"/>
          </a:xfrm>
          <a:prstGeom prst="rect">
            <a:avLst/>
          </a:prstGeom>
          <a:noFill/>
          <a:ln/>
        </p:spPr>
        <p:txBody>
          <a:bodyPr wrap="square" lIns="0" tIns="0" rIns="0" bIns="0" rtlCol="0" anchor="t"/>
          <a:lstStyle/>
          <a:p>
            <a:pPr indent="0" marL="0">
              <a:lnSpc>
                <a:spcPct val="108000"/>
              </a:lnSpc>
              <a:buNone/>
            </a:pPr>
            <a:r>
              <a:rPr lang="en-US" sz="3800" b="1" dirty="0">
                <a:solidFill>
                  <a:srgbClr val="173238"/>
                </a:solidFill>
                <a:latin typeface="Microsoft YaHei" pitchFamily="34" charset="0"/>
                <a:ea typeface="Microsoft YaHei" pitchFamily="34" charset="-122"/>
                <a:cs typeface="Microsoft YaHei" pitchFamily="34" charset="-120"/>
              </a:rPr>
              <a:t>现行条文、教材与配套材料</a:t>
            </a:r>
            <a:endParaRPr lang="en-US" sz="3800" dirty="0"/>
          </a:p>
        </p:txBody>
      </p:sp>
      <p:sp>
        <p:nvSpPr>
          <p:cNvPr id="3" name="Text 1">
            <a:hlinkClick r:id="rId1" tooltip=""/>
          </p:cNvPr>
          <p:cNvSpPr/>
          <p:nvPr/>
        </p:nvSpPr>
        <p:spPr>
          <a:xfrm>
            <a:off x="804672" y="1792224"/>
            <a:ext cx="10442448" cy="393192"/>
          </a:xfrm>
          <a:prstGeom prst="rect">
            <a:avLst/>
          </a:prstGeom>
          <a:noFill/>
          <a:ln/>
        </p:spPr>
        <p:txBody>
          <a:bodyPr wrap="square" lIns="0" tIns="0" rIns="0" bIns="0" rtlCol="0" anchor="t"/>
          <a:lstStyle/>
          <a:p>
            <a:pPr indent="0" marL="0">
              <a:lnSpc>
                <a:spcPct val="108000"/>
              </a:lnSpc>
              <a:buNone/>
            </a:pPr>
            <a:r>
              <a:rPr lang="en-US" sz="2400" b="1" u="sng" dirty="0">
                <a:solidFill>
                  <a:srgbClr val="173238"/>
                </a:solidFill>
                <a:latin typeface="Microsoft YaHei" pitchFamily="34" charset="0"/>
                <a:ea typeface="Microsoft YaHei" pitchFamily="34" charset="-122"/>
                <a:cs typeface="Microsoft YaHei" pitchFamily="34" charset="-120"/>
                <a:hlinkClick r:id="rId1" invalidUrl="" action="" tgtFrame="" tooltip="" history="1" highlightClick="0" endSnd="0">
                  <a:extLst>
                    <a:ext uri="{A12FA001-AC4F-418D-AE19-62706E023703}">
                      <ahyp:hlinkClr xmlns:ahyp="http://schemas.microsoft.com/office/drawing/2018/hyperlinkcolor" val="tx"/>
                    </a:ext>
                  </a:extLst>
                </a:hlinkClick>
              </a:rPr>
              <a:t>中华人民共和国宪法</a:t>
            </a:r>
            <a:endParaRPr lang="en-US" sz="2400" dirty="0"/>
          </a:p>
        </p:txBody>
      </p:sp>
      <p:sp>
        <p:nvSpPr>
          <p:cNvPr id="4" name="Text 2"/>
          <p:cNvSpPr/>
          <p:nvPr/>
        </p:nvSpPr>
        <p:spPr>
          <a:xfrm>
            <a:off x="832104" y="2286000"/>
            <a:ext cx="10396728" cy="470916"/>
          </a:xfrm>
          <a:prstGeom prst="rect">
            <a:avLst/>
          </a:prstGeom>
          <a:noFill/>
          <a:ln/>
        </p:spPr>
        <p:txBody>
          <a:bodyPr wrap="square" lIns="0" tIns="0" rIns="0" bIns="0" rtlCol="0" anchor="t"/>
          <a:lstStyle/>
          <a:p>
            <a:pPr indent="0" marL="0">
              <a:lnSpc>
                <a:spcPct val="108000"/>
              </a:lnSpc>
              <a:buNone/>
            </a:pPr>
            <a:r>
              <a:rPr lang="en-US" sz="1800" dirty="0">
                <a:solidFill>
                  <a:srgbClr val="64706A"/>
                </a:solidFill>
                <a:latin typeface="Microsoft YaHei" pitchFamily="34" charset="0"/>
                <a:ea typeface="Microsoft YaHei" pitchFamily="34" charset="-122"/>
                <a:cs typeface="Microsoft YaHei" pitchFamily="34" charset="-120"/>
              </a:rPr>
              <a:t>2018年修正全文；序言及第1—3、5、33、41、64条</a:t>
            </a:r>
            <a:endParaRPr lang="en-US" sz="1800" dirty="0"/>
          </a:p>
        </p:txBody>
      </p:sp>
      <p:sp>
        <p:nvSpPr>
          <p:cNvPr id="5" name="Shape 3"/>
          <p:cNvSpPr/>
          <p:nvPr/>
        </p:nvSpPr>
        <p:spPr>
          <a:xfrm>
            <a:off x="822960" y="2747772"/>
            <a:ext cx="10424160" cy="0"/>
          </a:xfrm>
          <a:prstGeom prst="line">
            <a:avLst/>
          </a:prstGeom>
          <a:noFill/>
          <a:ln w="8890">
            <a:solidFill>
              <a:srgbClr val="CCCABB"/>
            </a:solidFill>
            <a:prstDash val="solid"/>
          </a:ln>
        </p:spPr>
      </p:sp>
      <p:sp>
        <p:nvSpPr>
          <p:cNvPr id="6" name="Text 4">
            <a:hlinkClick r:id="rId2" tooltip=""/>
          </p:cNvPr>
          <p:cNvSpPr/>
          <p:nvPr/>
        </p:nvSpPr>
        <p:spPr>
          <a:xfrm>
            <a:off x="804672" y="2866644"/>
            <a:ext cx="10442448" cy="393192"/>
          </a:xfrm>
          <a:prstGeom prst="rect">
            <a:avLst/>
          </a:prstGeom>
          <a:noFill/>
          <a:ln/>
        </p:spPr>
        <p:txBody>
          <a:bodyPr wrap="square" lIns="0" tIns="0" rIns="0" bIns="0" rtlCol="0" anchor="t"/>
          <a:lstStyle/>
          <a:p>
            <a:pPr indent="0" marL="0">
              <a:lnSpc>
                <a:spcPct val="108000"/>
              </a:lnSpc>
              <a:buNone/>
            </a:pPr>
            <a:r>
              <a:rPr lang="en-US" sz="2400" b="1" u="sng" dirty="0">
                <a:solidFill>
                  <a:srgbClr val="173238"/>
                </a:solidFill>
                <a:latin typeface="Microsoft YaHei" pitchFamily="34" charset="0"/>
                <a:ea typeface="Microsoft YaHei" pitchFamily="34" charset="-122"/>
                <a:cs typeface="Microsoft YaHei" pitchFamily="34" charset="-120"/>
                <a:hlinkClick r:id="rId2" invalidUrl="" action="" tgtFrame="" tooltip="" history="1" highlightClick="0" endSnd="0">
                  <a:extLst>
                    <a:ext uri="{A12FA001-AC4F-418D-AE19-62706E023703}">
                      <ahyp:hlinkClr xmlns:ahyp="http://schemas.microsoft.com/office/drawing/2018/hyperlinkcolor" val="tx"/>
                    </a:ext>
                  </a:extLst>
                </a:hlinkClick>
              </a:rPr>
              <a:t>中华人民共和国国家赔偿法</a:t>
            </a:r>
            <a:endParaRPr lang="en-US" sz="2400" dirty="0"/>
          </a:p>
        </p:txBody>
      </p:sp>
      <p:sp>
        <p:nvSpPr>
          <p:cNvPr id="7" name="Text 5"/>
          <p:cNvSpPr/>
          <p:nvPr/>
        </p:nvSpPr>
        <p:spPr>
          <a:xfrm>
            <a:off x="832104" y="3360420"/>
            <a:ext cx="10396728" cy="470916"/>
          </a:xfrm>
          <a:prstGeom prst="rect">
            <a:avLst/>
          </a:prstGeom>
          <a:noFill/>
          <a:ln/>
        </p:spPr>
        <p:txBody>
          <a:bodyPr wrap="square" lIns="0" tIns="0" rIns="0" bIns="0" rtlCol="0" anchor="t"/>
          <a:lstStyle/>
          <a:p>
            <a:pPr indent="0" marL="0">
              <a:lnSpc>
                <a:spcPct val="108000"/>
              </a:lnSpc>
              <a:buNone/>
            </a:pPr>
            <a:r>
              <a:rPr lang="en-US" sz="1800" dirty="0">
                <a:solidFill>
                  <a:srgbClr val="64706A"/>
                </a:solidFill>
                <a:latin typeface="Microsoft YaHei" pitchFamily="34" charset="0"/>
                <a:ea typeface="Microsoft YaHei" pitchFamily="34" charset="-122"/>
                <a:cs typeface="Microsoft YaHei" pitchFamily="34" charset="-120"/>
              </a:rPr>
              <a:t>2012年第二次修正全文；第1、2、3、7条本讲节录</a:t>
            </a:r>
            <a:endParaRPr lang="en-US" sz="1800" dirty="0"/>
          </a:p>
        </p:txBody>
      </p:sp>
      <p:sp>
        <p:nvSpPr>
          <p:cNvPr id="8" name="Shape 6"/>
          <p:cNvSpPr/>
          <p:nvPr/>
        </p:nvSpPr>
        <p:spPr>
          <a:xfrm>
            <a:off x="822960" y="3822192"/>
            <a:ext cx="10424160" cy="0"/>
          </a:xfrm>
          <a:prstGeom prst="line">
            <a:avLst/>
          </a:prstGeom>
          <a:noFill/>
          <a:ln w="8890">
            <a:solidFill>
              <a:srgbClr val="CCCABB"/>
            </a:solidFill>
            <a:prstDash val="solid"/>
          </a:ln>
        </p:spPr>
      </p:sp>
      <p:sp>
        <p:nvSpPr>
          <p:cNvPr id="9" name="Text 7"/>
          <p:cNvSpPr/>
          <p:nvPr/>
        </p:nvSpPr>
        <p:spPr>
          <a:xfrm>
            <a:off x="804672" y="3941064"/>
            <a:ext cx="10442448" cy="393192"/>
          </a:xfrm>
          <a:prstGeom prst="rect">
            <a:avLst/>
          </a:prstGeom>
          <a:noFill/>
          <a:ln/>
        </p:spPr>
        <p:txBody>
          <a:bodyPr wrap="square" lIns="0" tIns="0" rIns="0" bIns="0" rtlCol="0" anchor="t"/>
          <a:lstStyle/>
          <a:p>
            <a:pPr indent="0" marL="0">
              <a:lnSpc>
                <a:spcPct val="108000"/>
              </a:lnSpc>
              <a:buNone/>
            </a:pPr>
            <a:r>
              <a:rPr lang="en-US" sz="2400" b="1" dirty="0">
                <a:solidFill>
                  <a:srgbClr val="173238"/>
                </a:solidFill>
                <a:latin typeface="Microsoft YaHei" pitchFamily="34" charset="0"/>
                <a:ea typeface="Microsoft YaHei" pitchFamily="34" charset="-122"/>
                <a:cs typeface="Microsoft YaHei" pitchFamily="34" charset="-120"/>
              </a:rPr>
              <a:t>马工程宪法学第二版</a:t>
            </a:r>
            <a:endParaRPr lang="en-US" sz="2400" dirty="0"/>
          </a:p>
        </p:txBody>
      </p:sp>
      <p:sp>
        <p:nvSpPr>
          <p:cNvPr id="10" name="Text 8"/>
          <p:cNvSpPr/>
          <p:nvPr/>
        </p:nvSpPr>
        <p:spPr>
          <a:xfrm>
            <a:off x="832104" y="4434840"/>
            <a:ext cx="10396728" cy="470916"/>
          </a:xfrm>
          <a:prstGeom prst="rect">
            <a:avLst/>
          </a:prstGeom>
          <a:noFill/>
          <a:ln/>
        </p:spPr>
        <p:txBody>
          <a:bodyPr wrap="square" lIns="0" tIns="0" rIns="0" bIns="0" rtlCol="0" anchor="t"/>
          <a:lstStyle/>
          <a:p>
            <a:pPr indent="0" marL="0">
              <a:lnSpc>
                <a:spcPct val="108000"/>
              </a:lnSpc>
              <a:buNone/>
            </a:pPr>
            <a:r>
              <a:rPr lang="en-US" sz="1800" dirty="0">
                <a:solidFill>
                  <a:srgbClr val="64706A"/>
                </a:solidFill>
                <a:latin typeface="Microsoft YaHei" pitchFamily="34" charset="0"/>
                <a:ea typeface="Microsoft YaHei" pitchFamily="34" charset="-122"/>
                <a:cs typeface="Microsoft YaHei" pitchFamily="34" charset="-120"/>
              </a:rPr>
              <a:t>第二版；宪法概念、本质与基本原则相关章节</a:t>
            </a:r>
            <a:endParaRPr lang="en-US" sz="1800" dirty="0"/>
          </a:p>
        </p:txBody>
      </p:sp>
      <p:sp>
        <p:nvSpPr>
          <p:cNvPr id="11" name="Shape 9"/>
          <p:cNvSpPr/>
          <p:nvPr/>
        </p:nvSpPr>
        <p:spPr>
          <a:xfrm>
            <a:off x="822960" y="4896612"/>
            <a:ext cx="10424160" cy="0"/>
          </a:xfrm>
          <a:prstGeom prst="line">
            <a:avLst/>
          </a:prstGeom>
          <a:noFill/>
          <a:ln w="8890">
            <a:solidFill>
              <a:srgbClr val="CCCABB"/>
            </a:solidFill>
            <a:prstDash val="solid"/>
          </a:ln>
        </p:spPr>
      </p:sp>
      <p:sp>
        <p:nvSpPr>
          <p:cNvPr id="12" name="Text 10"/>
          <p:cNvSpPr/>
          <p:nvPr/>
        </p:nvSpPr>
        <p:spPr>
          <a:xfrm>
            <a:off x="804672" y="5015484"/>
            <a:ext cx="10442448" cy="393192"/>
          </a:xfrm>
          <a:prstGeom prst="rect">
            <a:avLst/>
          </a:prstGeom>
          <a:noFill/>
          <a:ln/>
        </p:spPr>
        <p:txBody>
          <a:bodyPr wrap="square" lIns="0" tIns="0" rIns="0" bIns="0" rtlCol="0" anchor="t"/>
          <a:lstStyle/>
          <a:p>
            <a:pPr indent="0" marL="0">
              <a:lnSpc>
                <a:spcPct val="108000"/>
              </a:lnSpc>
              <a:buNone/>
            </a:pPr>
            <a:r>
              <a:rPr lang="en-US" sz="2400" b="1" dirty="0">
                <a:solidFill>
                  <a:srgbClr val="173238"/>
                </a:solidFill>
                <a:latin typeface="Microsoft YaHei" pitchFamily="34" charset="0"/>
                <a:ea typeface="Microsoft YaHei" pitchFamily="34" charset="-122"/>
                <a:cs typeface="Microsoft YaHei" pitchFamily="34" charset="-120"/>
              </a:rPr>
              <a:t>完整逐字稿、课堂材料与执行记录</a:t>
            </a:r>
            <a:endParaRPr lang="en-US" sz="2400" dirty="0"/>
          </a:p>
        </p:txBody>
      </p:sp>
      <p:sp>
        <p:nvSpPr>
          <p:cNvPr id="13" name="Text 11"/>
          <p:cNvSpPr/>
          <p:nvPr/>
        </p:nvSpPr>
        <p:spPr>
          <a:xfrm>
            <a:off x="832104" y="5509260"/>
            <a:ext cx="10396728" cy="470916"/>
          </a:xfrm>
          <a:prstGeom prst="rect">
            <a:avLst/>
          </a:prstGeom>
          <a:noFill/>
          <a:ln/>
        </p:spPr>
        <p:txBody>
          <a:bodyPr wrap="square" lIns="0" tIns="0" rIns="0" bIns="0" rtlCol="0" anchor="t"/>
          <a:lstStyle/>
          <a:p>
            <a:pPr indent="0" marL="0">
              <a:lnSpc>
                <a:spcPct val="108000"/>
              </a:lnSpc>
              <a:buNone/>
            </a:pPr>
            <a:r>
              <a:rPr lang="en-US" sz="1800" dirty="0">
                <a:solidFill>
                  <a:srgbClr val="64706A"/>
                </a:solidFill>
                <a:latin typeface="Microsoft YaHei" pitchFamily="34" charset="0"/>
                <a:ea typeface="Microsoft YaHei" pitchFamily="34" charset="-122"/>
                <a:cs typeface="Microsoft YaHei" pitchFamily="34" charset="-120"/>
              </a:rPr>
              <a:t>与本课件配套，按页定位讲述、材料及出处</a:t>
            </a:r>
            <a:endParaRPr lang="en-US" sz="1800" dirty="0"/>
          </a:p>
        </p:txBody>
      </p:sp>
      <p:sp>
        <p:nvSpPr>
          <p:cNvPr id="14" name="Text 12"/>
          <p:cNvSpPr/>
          <p:nvPr/>
        </p:nvSpPr>
        <p:spPr>
          <a:xfrm>
            <a:off x="731520" y="6419088"/>
            <a:ext cx="9601200" cy="237744"/>
          </a:xfrm>
          <a:prstGeom prst="rect">
            <a:avLst/>
          </a:prstGeom>
          <a:noFill/>
          <a:ln/>
        </p:spPr>
        <p:txBody>
          <a:bodyPr wrap="square" lIns="0" tIns="0" rIns="0" bIns="0" rtlCol="0" anchor="t"/>
          <a:lstStyle/>
          <a:p>
            <a:pP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查读附页：完整说明见来源核对和执行记录</a:t>
            </a:r>
            <a:endParaRPr lang="en-US" sz="1200" dirty="0"/>
          </a:p>
        </p:txBody>
      </p:sp>
      <p:sp>
        <p:nvSpPr>
          <p:cNvPr id="15" name="Text 13"/>
          <p:cNvSpPr/>
          <p:nvPr/>
        </p:nvSpPr>
        <p:spPr>
          <a:xfrm>
            <a:off x="10543032" y="6419088"/>
            <a:ext cx="914400" cy="237744"/>
          </a:xfrm>
          <a:prstGeom prst="rect">
            <a:avLst/>
          </a:prstGeom>
          <a:noFill/>
          <a:ln/>
        </p:spPr>
        <p:txBody>
          <a:bodyPr wrap="square" lIns="0" tIns="0" rIns="0" bIns="0" rtlCol="0" anchor="t"/>
          <a:lstStyle/>
          <a:p>
            <a:pPr algn="r" indent="0" marL="0">
              <a:lnSpc>
                <a:spcPct val="108000"/>
              </a:lnSpc>
              <a:buNone/>
            </a:pPr>
            <a:r>
              <a:rPr lang="en-US" sz="1200" dirty="0">
                <a:solidFill>
                  <a:srgbClr val="64706A"/>
                </a:solidFill>
                <a:latin typeface="Microsoft YaHei" pitchFamily="34" charset="0"/>
                <a:ea typeface="Microsoft YaHei" pitchFamily="34" charset="-122"/>
                <a:cs typeface="Microsoft YaHei" pitchFamily="34" charset="-120"/>
              </a:rPr>
              <a:t>26 / 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宪法总论</dc:title>
  <dc:subject>公安专业一年级宪法学叙事授课试做</dc:subject>
  <dc:creator>宪法学课程教学组</dc:creator>
  <cp:lastModifiedBy>宪法学课程教学组</cp:lastModifiedBy>
  <cp:revision>1</cp:revision>
  <dcterms:created xsi:type="dcterms:W3CDTF">2026-09-27T13:51:05Z</dcterms:created>
  <dcterms:modified xsi:type="dcterms:W3CDTF">2026-09-27T13:51:05Z</dcterms:modified>
</cp:coreProperties>
</file>