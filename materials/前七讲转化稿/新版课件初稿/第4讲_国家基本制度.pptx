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《宪法学》第4讲教学设计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 / 13</a:t>
            </a:r>
            <a:endParaRPr lang="en-US" sz="1100" dirty="0"/>
          </a:p>
        </p:txBody>
      </p:sp>
      <p:sp>
        <p:nvSpPr>
          <p:cNvPr id="7" name="Shape 5"/>
          <p:cNvSpPr/>
          <p:nvPr/>
        </p:nvSpPr>
        <p:spPr>
          <a:xfrm>
            <a:off x="0" y="0"/>
            <a:ext cx="12191695" cy="6858000"/>
          </a:xfrm>
          <a:prstGeom prst="rect">
            <a:avLst/>
          </a:prstGeom>
          <a:solidFill>
            <a:srgbClr val="142735"/>
          </a:solidFill>
          <a:ln w="12700">
            <a:solidFill>
              <a:srgbClr val="142735">
                <a:alpha val="0"/>
              </a:srgbClr>
            </a:solidFill>
            <a:prstDash val="solid"/>
          </a:ln>
        </p:spPr>
      </p:sp>
      <p:sp>
        <p:nvSpPr>
          <p:cNvPr id="8" name="Shape 6"/>
          <p:cNvSpPr/>
          <p:nvPr/>
        </p:nvSpPr>
        <p:spPr>
          <a:xfrm>
            <a:off x="594360" y="932688"/>
            <a:ext cx="128016" cy="4535424"/>
          </a:xfrm>
          <a:prstGeom prst="rect">
            <a:avLst/>
          </a:prstGeom>
          <a:solidFill>
            <a:srgbClr val="B13D38"/>
          </a:solidFill>
          <a:ln w="12700">
            <a:solidFill>
              <a:srgbClr val="B13D38">
                <a:alpha val="0"/>
              </a:srgbClr>
            </a:solidFill>
            <a:prstDash val="solid"/>
          </a:ln>
        </p:spPr>
      </p:sp>
      <p:sp>
        <p:nvSpPr>
          <p:cNvPr id="9" name="Text 7"/>
          <p:cNvSpPr/>
          <p:nvPr/>
        </p:nvSpPr>
        <p:spPr>
          <a:xfrm>
            <a:off x="850392" y="713232"/>
            <a:ext cx="1645920" cy="749808"/>
          </a:xfrm>
          <a:prstGeom prst="rect">
            <a:avLst/>
          </a:prstGeom>
          <a:noFill/>
          <a:ln/>
        </p:spPr>
        <p:txBody>
          <a:bodyPr wrap="square" lIns="0" tIns="0" rIns="0" bIns="0" rtlCol="0" anchor="ctr">
            <a:normAutofit/>
          </a:bodyPr>
          <a:lstStyle/>
          <a:p>
            <a:pPr indent="0" marL="0">
              <a:buNone/>
            </a:pPr>
            <a:r>
              <a:rPr lang="en-US" sz="4900" b="1" dirty="0">
                <a:solidFill>
                  <a:srgbClr val="B13D38"/>
                </a:solidFill>
                <a:latin typeface="Microsoft YaHei" pitchFamily="34" charset="0"/>
                <a:ea typeface="Microsoft YaHei" pitchFamily="34" charset="-122"/>
                <a:cs typeface="Microsoft YaHei" pitchFamily="34" charset="-120"/>
              </a:rPr>
              <a:t>04</a:t>
            </a:r>
            <a:endParaRPr lang="en-US" sz="4900" dirty="0"/>
          </a:p>
        </p:txBody>
      </p:sp>
      <p:sp>
        <p:nvSpPr>
          <p:cNvPr id="10" name="Text 8"/>
          <p:cNvSpPr/>
          <p:nvPr/>
        </p:nvSpPr>
        <p:spPr>
          <a:xfrm>
            <a:off x="914400" y="1691640"/>
            <a:ext cx="4572000" cy="475488"/>
          </a:xfrm>
          <a:prstGeom prst="rect">
            <a:avLst/>
          </a:prstGeom>
          <a:noFill/>
          <a:ln/>
        </p:spPr>
        <p:txBody>
          <a:bodyPr wrap="square" lIns="0" tIns="0" rIns="0" bIns="0" rtlCol="0" anchor="ctr">
            <a:normAutofit/>
          </a:bodyPr>
          <a:lstStyle/>
          <a:p>
            <a:pPr indent="0" marL="0">
              <a:buNone/>
            </a:pPr>
            <a:r>
              <a:rPr lang="en-US" sz="2100" dirty="0">
                <a:solidFill>
                  <a:srgbClr val="D9D5CA"/>
                </a:solidFill>
                <a:latin typeface="Microsoft YaHei" pitchFamily="34" charset="0"/>
                <a:ea typeface="Microsoft YaHei" pitchFamily="34" charset="-122"/>
                <a:cs typeface="Microsoft YaHei" pitchFamily="34" charset="-120"/>
              </a:rPr>
              <a:t>宪法学</a:t>
            </a:r>
            <a:endParaRPr lang="en-US" sz="2100" dirty="0"/>
          </a:p>
        </p:txBody>
      </p:sp>
      <p:sp>
        <p:nvSpPr>
          <p:cNvPr id="11" name="Text 9"/>
          <p:cNvSpPr/>
          <p:nvPr/>
        </p:nvSpPr>
        <p:spPr>
          <a:xfrm>
            <a:off x="896112" y="2267712"/>
            <a:ext cx="10424160" cy="987552"/>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Microsoft YaHei" pitchFamily="34" charset="0"/>
                <a:ea typeface="Microsoft YaHei" pitchFamily="34" charset="-122"/>
                <a:cs typeface="Microsoft YaHei" pitchFamily="34" charset="-120"/>
              </a:rPr>
              <a:t>国家基本制度</a:t>
            </a:r>
            <a:endParaRPr lang="en-US" sz="3900" dirty="0"/>
          </a:p>
        </p:txBody>
      </p:sp>
      <p:sp>
        <p:nvSpPr>
          <p:cNvPr id="12" name="Text 10"/>
          <p:cNvSpPr/>
          <p:nvPr/>
        </p:nvSpPr>
        <p:spPr>
          <a:xfrm>
            <a:off x="914400" y="3675888"/>
            <a:ext cx="9966960" cy="713232"/>
          </a:xfrm>
          <a:prstGeom prst="rect">
            <a:avLst/>
          </a:prstGeom>
          <a:noFill/>
          <a:ln/>
        </p:spPr>
        <p:txBody>
          <a:bodyPr wrap="square" lIns="0" tIns="0" rIns="0" bIns="0" rtlCol="0" anchor="ctr">
            <a:normAutofit/>
          </a:bodyPr>
          <a:lstStyle/>
          <a:p>
            <a:pPr indent="0" marL="0">
              <a:buNone/>
            </a:pPr>
            <a:r>
              <a:rPr lang="en-US" sz="2300" dirty="0">
                <a:solidFill>
                  <a:srgbClr val="E8E3D9"/>
                </a:solidFill>
                <a:latin typeface="Microsoft YaHei" pitchFamily="34" charset="0"/>
                <a:ea typeface="Microsoft YaHei" pitchFamily="34" charset="-122"/>
                <a:cs typeface="Microsoft YaHei" pitchFamily="34" charset="-120"/>
              </a:rPr>
              <a:t>第4讲｜宪法怎样安排国家与社会生活？</a:t>
            </a:r>
            <a:endParaRPr lang="en-US" sz="2300" dirty="0"/>
          </a:p>
        </p:txBody>
      </p:sp>
      <p:sp>
        <p:nvSpPr>
          <p:cNvPr id="13" name="Text 11"/>
          <p:cNvSpPr/>
          <p:nvPr/>
        </p:nvSpPr>
        <p:spPr>
          <a:xfrm>
            <a:off x="914400" y="6007608"/>
            <a:ext cx="4572000" cy="274320"/>
          </a:xfrm>
          <a:prstGeom prst="rect">
            <a:avLst/>
          </a:prstGeom>
          <a:noFill/>
          <a:ln/>
        </p:spPr>
        <p:txBody>
          <a:bodyPr wrap="square" lIns="0" tIns="0" rIns="0" bIns="0" rtlCol="0" anchor="ctr">
            <a:normAutofit/>
          </a:bodyPr>
          <a:lstStyle/>
          <a:p>
            <a:pPr indent="0" marL="0">
              <a:buNone/>
            </a:pPr>
            <a:r>
              <a:rPr lang="en-US" sz="1300" dirty="0">
                <a:solidFill>
                  <a:srgbClr val="BBB9B3"/>
                </a:solidFill>
                <a:latin typeface="Microsoft YaHei" pitchFamily="34" charset="0"/>
                <a:ea typeface="Microsoft YaHei" pitchFamily="34" charset="-122"/>
                <a:cs typeface="Microsoft YaHei" pitchFamily="34" charset="-120"/>
              </a:rPr>
              <a:t>公安专业一年级  ·  两学时</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《宪法学》第4讲教学设计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2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本讲怎样取舍</a:t>
            </a:r>
            <a:endParaRPr lang="en-US" sz="3000" dirty="0"/>
          </a:p>
        </p:txBody>
      </p:sp>
      <p:sp>
        <p:nvSpPr>
          <p:cNvPr id="8" name="Text 6"/>
          <p:cNvSpPr/>
          <p:nvPr/>
        </p:nvSpPr>
        <p:spPr>
          <a:xfrm>
            <a:off x="731520" y="1197864"/>
            <a:ext cx="10698480" cy="384048"/>
          </a:xfrm>
          <a:prstGeom prst="rect">
            <a:avLst/>
          </a:prstGeom>
          <a:noFill/>
          <a:ln/>
        </p:spPr>
        <p:txBody>
          <a:bodyPr wrap="square" lIns="0" tIns="0" rIns="0" bIns="0" rtlCol="0" anchor="ctr">
            <a:normAutofit/>
          </a:bodyPr>
          <a:lstStyle/>
          <a:p>
            <a:pPr indent="0" marL="0">
              <a:buNone/>
            </a:pPr>
            <a:r>
              <a:rPr lang="en-US" sz="1400" dirty="0">
                <a:solidFill>
                  <a:srgbClr val="64717A"/>
                </a:solidFill>
                <a:latin typeface="Microsoft YaHei" pitchFamily="34" charset="0"/>
                <a:ea typeface="Microsoft YaHei" pitchFamily="34" charset="-122"/>
                <a:cs typeface="Microsoft YaHei" pitchFamily="34" charset="-120"/>
              </a:rPr>
              <a:t>第一学时</a:t>
            </a:r>
            <a:endParaRPr lang="en-US" sz="1400" dirty="0"/>
          </a:p>
        </p:txBody>
      </p:sp>
      <p:sp>
        <p:nvSpPr>
          <p:cNvPr id="9" name="Shape 7"/>
          <p:cNvSpPr/>
          <p:nvPr/>
        </p:nvSpPr>
        <p:spPr>
          <a:xfrm>
            <a:off x="768096" y="1783080"/>
            <a:ext cx="10652760" cy="1088136"/>
          </a:xfrm>
          <a:prstGeom prst="rect">
            <a:avLst/>
          </a:prstGeom>
          <a:solidFill>
            <a:srgbClr val="FFFFFF"/>
          </a:solidFill>
          <a:ln w="12700">
            <a:solidFill>
              <a:srgbClr val="D9D9D3"/>
            </a:solidFill>
            <a:prstDash val="solid"/>
          </a:ln>
        </p:spPr>
      </p:sp>
      <p:sp>
        <p:nvSpPr>
          <p:cNvPr id="10" name="Shape 8"/>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1" name="Text 9"/>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2" name="Text 10"/>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经济与政治制度深入分析</a:t>
            </a:r>
            <a:endParaRPr lang="en-US" sz="2100" dirty="0"/>
          </a:p>
        </p:txBody>
      </p:sp>
      <p:sp>
        <p:nvSpPr>
          <p:cNvPr id="13" name="Shape 11"/>
          <p:cNvSpPr/>
          <p:nvPr/>
        </p:nvSpPr>
        <p:spPr>
          <a:xfrm>
            <a:off x="768096" y="3026664"/>
            <a:ext cx="10652760" cy="1088136"/>
          </a:xfrm>
          <a:prstGeom prst="rect">
            <a:avLst/>
          </a:prstGeom>
          <a:solidFill>
            <a:srgbClr val="FFFFFF"/>
          </a:solidFill>
          <a:ln w="12700">
            <a:solidFill>
              <a:srgbClr val="D9D9D3"/>
            </a:solidFill>
            <a:prstDash val="solid"/>
          </a:ln>
        </p:spPr>
      </p:sp>
      <p:sp>
        <p:nvSpPr>
          <p:cNvPr id="14" name="Shape 12"/>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5" name="Text 13"/>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6" name="Text 14"/>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选举作为一项政治制度示例</a:t>
            </a:r>
            <a:endParaRPr lang="en-US" sz="2100" dirty="0"/>
          </a:p>
        </p:txBody>
      </p:sp>
      <p:sp>
        <p:nvSpPr>
          <p:cNvPr id="17" name="Shape 15"/>
          <p:cNvSpPr/>
          <p:nvPr/>
        </p:nvSpPr>
        <p:spPr>
          <a:xfrm>
            <a:off x="768096" y="4270248"/>
            <a:ext cx="10652760" cy="1088136"/>
          </a:xfrm>
          <a:prstGeom prst="rect">
            <a:avLst/>
          </a:prstGeom>
          <a:solidFill>
            <a:srgbClr val="FFFFFF"/>
          </a:solidFill>
          <a:ln w="12700">
            <a:solidFill>
              <a:srgbClr val="D9D9D3"/>
            </a:solidFill>
            <a:prstDash val="solid"/>
          </a:ln>
        </p:spPr>
      </p:sp>
      <p:sp>
        <p:nvSpPr>
          <p:cNvPr id="18" name="Shape 16"/>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9" name="Text 17"/>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20" name="Text 18"/>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文化、社会、生态先定位条文</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《中华人民共和国宪法》第6条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3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经济制度的基础</a:t>
            </a:r>
            <a:endParaRPr lang="en-US" sz="3000" dirty="0"/>
          </a:p>
        </p:txBody>
      </p:sp>
      <p:sp>
        <p:nvSpPr>
          <p:cNvPr id="8" name="Shape 6"/>
          <p:cNvSpPr/>
          <p:nvPr/>
        </p:nvSpPr>
        <p:spPr>
          <a:xfrm>
            <a:off x="768096" y="1764792"/>
            <a:ext cx="10652760" cy="4078224"/>
          </a:xfrm>
          <a:prstGeom prst="rect">
            <a:avLst/>
          </a:prstGeom>
          <a:solidFill>
            <a:srgbClr val="FFFFFF"/>
          </a:solidFill>
          <a:ln w="12700">
            <a:solidFill>
              <a:srgbClr val="D9D9D3"/>
            </a:solidFill>
            <a:prstDash val="solid"/>
          </a:ln>
        </p:spPr>
      </p:sp>
      <p:sp>
        <p:nvSpPr>
          <p:cNvPr id="9" name="Shape 7"/>
          <p:cNvSpPr/>
          <p:nvPr/>
        </p:nvSpPr>
        <p:spPr>
          <a:xfrm>
            <a:off x="768096" y="1764792"/>
            <a:ext cx="91440" cy="4078224"/>
          </a:xfrm>
          <a:prstGeom prst="rect">
            <a:avLst/>
          </a:prstGeom>
          <a:solidFill>
            <a:srgbClr val="B13D38"/>
          </a:solidFill>
          <a:ln w="12700">
            <a:solidFill>
              <a:srgbClr val="B13D38">
                <a:alpha val="0"/>
              </a:srgbClr>
            </a:solidFill>
            <a:prstDash val="solid"/>
          </a:ln>
        </p:spPr>
      </p:sp>
      <p:sp>
        <p:nvSpPr>
          <p:cNvPr id="10" name="Text 8"/>
          <p:cNvSpPr/>
          <p:nvPr/>
        </p:nvSpPr>
        <p:spPr>
          <a:xfrm>
            <a:off x="1124712" y="1993392"/>
            <a:ext cx="822960" cy="640080"/>
          </a:xfrm>
          <a:prstGeom prst="rect">
            <a:avLst/>
          </a:prstGeom>
          <a:noFill/>
          <a:ln/>
        </p:spPr>
        <p:txBody>
          <a:bodyPr wrap="square" lIns="0" tIns="0" rIns="0" bIns="0" rtlCol="0" anchor="ctr">
            <a:normAutofit/>
          </a:bodyPr>
          <a:lstStyle/>
          <a:p>
            <a:pPr indent="0" marL="0">
              <a:buNone/>
            </a:pPr>
            <a:r>
              <a:rPr lang="en-US" sz="6300" dirty="0">
                <a:solidFill>
                  <a:srgbClr val="B13D38"/>
                </a:solidFill>
                <a:latin typeface="SimSun" pitchFamily="34" charset="0"/>
                <a:ea typeface="SimSun" pitchFamily="34" charset="-122"/>
                <a:cs typeface="SimSun" pitchFamily="34" charset="-120"/>
              </a:rPr>
              <a:t>“</a:t>
            </a:r>
            <a:endParaRPr lang="en-US" sz="6300" dirty="0"/>
          </a:p>
        </p:txBody>
      </p:sp>
      <p:sp>
        <p:nvSpPr>
          <p:cNvPr id="11" name="Text 9"/>
          <p:cNvSpPr/>
          <p:nvPr/>
        </p:nvSpPr>
        <p:spPr>
          <a:xfrm>
            <a:off x="1737360" y="2377440"/>
            <a:ext cx="9006840" cy="2148840"/>
          </a:xfrm>
          <a:prstGeom prst="rect">
            <a:avLst/>
          </a:prstGeom>
          <a:noFill/>
          <a:ln/>
        </p:spPr>
        <p:txBody>
          <a:bodyPr wrap="square" lIns="0" tIns="0" rIns="0" bIns="0" rtlCol="0" anchor="ctr">
            <a:normAutofit/>
          </a:bodyPr>
          <a:lstStyle/>
          <a:p>
            <a:pPr indent="0" marL="0">
              <a:buNone/>
            </a:pPr>
            <a:r>
              <a:rPr lang="en-US" sz="2900" b="1" dirty="0">
                <a:solidFill>
                  <a:srgbClr val="142735"/>
                </a:solidFill>
                <a:latin typeface="Microsoft YaHei" pitchFamily="34" charset="0"/>
                <a:ea typeface="Microsoft YaHei" pitchFamily="34" charset="-122"/>
                <a:cs typeface="Microsoft YaHei" pitchFamily="34" charset="-120"/>
              </a:rPr>
              <a:t>中华人民共和国的社会主义经济制度的基础是生产资料的社会主义公有制，即全民所有制和劳动群众集体所有制。</a:t>
            </a:r>
            <a:endParaRPr lang="en-US" sz="2900" dirty="0"/>
          </a:p>
        </p:txBody>
      </p:sp>
      <p:sp>
        <p:nvSpPr>
          <p:cNvPr id="12" name="Text 10"/>
          <p:cNvSpPr/>
          <p:nvPr/>
        </p:nvSpPr>
        <p:spPr>
          <a:xfrm>
            <a:off x="1828800" y="4965192"/>
            <a:ext cx="8869680" cy="384048"/>
          </a:xfrm>
          <a:prstGeom prst="rect">
            <a:avLst/>
          </a:prstGeom>
          <a:noFill/>
          <a:ln/>
        </p:spPr>
        <p:txBody>
          <a:bodyPr wrap="square" lIns="0" tIns="0" rIns="0" bIns="0" rtlCol="0" anchor="ctr">
            <a:normAutofit/>
          </a:bodyPr>
          <a:lstStyle/>
          <a:p>
            <a:pPr algn="r" indent="0" marL="0">
              <a:buNone/>
            </a:pPr>
            <a:r>
              <a:rPr lang="en-US" sz="1600" dirty="0">
                <a:solidFill>
                  <a:srgbClr val="64717A"/>
                </a:solidFill>
                <a:latin typeface="Microsoft YaHei" pitchFamily="34" charset="0"/>
                <a:ea typeface="Microsoft YaHei" pitchFamily="34" charset="-122"/>
                <a:cs typeface="Microsoft YaHei" pitchFamily="34" charset="-120"/>
              </a:rPr>
              <a:t>《中华人民共和国宪法》第6条</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《中华人民共和国宪法》第6条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4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第6条的三层安排</a:t>
            </a:r>
            <a:endParaRPr lang="en-US" sz="3000" dirty="0"/>
          </a:p>
        </p:txBody>
      </p:sp>
      <p:sp>
        <p:nvSpPr>
          <p:cNvPr id="8" name="Shape 6"/>
          <p:cNvSpPr/>
          <p:nvPr/>
        </p:nvSpPr>
        <p:spPr>
          <a:xfrm>
            <a:off x="768096" y="2231136"/>
            <a:ext cx="3441192" cy="2011680"/>
          </a:xfrm>
          <a:prstGeom prst="rect">
            <a:avLst/>
          </a:prstGeom>
          <a:solidFill>
            <a:srgbClr val="142735"/>
          </a:solidFill>
          <a:ln w="12700">
            <a:solidFill>
              <a:srgbClr val="142735">
                <a:alpha val="0"/>
              </a:srgbClr>
            </a:solidFill>
            <a:prstDash val="solid"/>
          </a:ln>
        </p:spPr>
      </p:sp>
      <p:sp>
        <p:nvSpPr>
          <p:cNvPr id="9" name="Text 7"/>
          <p:cNvSpPr/>
          <p:nvPr/>
        </p:nvSpPr>
        <p:spPr>
          <a:xfrm>
            <a:off x="950976"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EBC8C3"/>
                </a:solidFill>
                <a:latin typeface="Microsoft YaHei" pitchFamily="34" charset="0"/>
                <a:ea typeface="Microsoft YaHei" pitchFamily="34" charset="-122"/>
                <a:cs typeface="Microsoft YaHei" pitchFamily="34" charset="-120"/>
              </a:rPr>
              <a:t>01</a:t>
            </a:r>
            <a:endParaRPr lang="en-US" sz="2000" dirty="0"/>
          </a:p>
        </p:txBody>
      </p:sp>
      <p:sp>
        <p:nvSpPr>
          <p:cNvPr id="10" name="Text 8"/>
          <p:cNvSpPr/>
          <p:nvPr/>
        </p:nvSpPr>
        <p:spPr>
          <a:xfrm>
            <a:off x="950976"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社会主义公有制是经济制度的基础</a:t>
            </a:r>
            <a:endParaRPr lang="en-US" sz="2100" dirty="0"/>
          </a:p>
        </p:txBody>
      </p:sp>
      <p:sp>
        <p:nvSpPr>
          <p:cNvPr id="11" name="Shape 9"/>
          <p:cNvSpPr/>
          <p:nvPr/>
        </p:nvSpPr>
        <p:spPr>
          <a:xfrm>
            <a:off x="4373880" y="2231136"/>
            <a:ext cx="3441192" cy="2011680"/>
          </a:xfrm>
          <a:prstGeom prst="rect">
            <a:avLst/>
          </a:prstGeom>
          <a:solidFill>
            <a:srgbClr val="FFFFFF"/>
          </a:solidFill>
          <a:ln w="12700">
            <a:solidFill>
              <a:srgbClr val="D9D9D3"/>
            </a:solidFill>
            <a:prstDash val="solid"/>
          </a:ln>
        </p:spPr>
      </p:sp>
      <p:sp>
        <p:nvSpPr>
          <p:cNvPr id="12" name="Text 10"/>
          <p:cNvSpPr/>
          <p:nvPr/>
        </p:nvSpPr>
        <p:spPr>
          <a:xfrm>
            <a:off x="4556760"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556760"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公有制为主体，多种所有制共同发展</a:t>
            </a:r>
            <a:endParaRPr lang="en-US" sz="2100" dirty="0"/>
          </a:p>
        </p:txBody>
      </p:sp>
      <p:sp>
        <p:nvSpPr>
          <p:cNvPr id="14" name="Shape 12"/>
          <p:cNvSpPr/>
          <p:nvPr/>
        </p:nvSpPr>
        <p:spPr>
          <a:xfrm>
            <a:off x="7979664" y="2231136"/>
            <a:ext cx="3441192" cy="2011680"/>
          </a:xfrm>
          <a:prstGeom prst="rect">
            <a:avLst/>
          </a:prstGeom>
          <a:solidFill>
            <a:srgbClr val="FFFFFF"/>
          </a:solidFill>
          <a:ln w="12700">
            <a:solidFill>
              <a:srgbClr val="D9D9D3"/>
            </a:solidFill>
            <a:prstDash val="solid"/>
          </a:ln>
        </p:spPr>
      </p:sp>
      <p:sp>
        <p:nvSpPr>
          <p:cNvPr id="15" name="Text 13"/>
          <p:cNvSpPr/>
          <p:nvPr/>
        </p:nvSpPr>
        <p:spPr>
          <a:xfrm>
            <a:off x="8162544"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03</a:t>
            </a:r>
            <a:endParaRPr lang="en-US" sz="2000" dirty="0"/>
          </a:p>
        </p:txBody>
      </p:sp>
      <p:sp>
        <p:nvSpPr>
          <p:cNvPr id="16" name="Text 14"/>
          <p:cNvSpPr/>
          <p:nvPr/>
        </p:nvSpPr>
        <p:spPr>
          <a:xfrm>
            <a:off x="8162544"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按劳分配为主体，多种分配方式并存</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《中华人民共和国宪法》第7、11、15条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5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再看三条经济规定</a:t>
            </a:r>
            <a:endParaRPr lang="en-US" sz="3000" dirty="0"/>
          </a:p>
        </p:txBody>
      </p:sp>
      <p:sp>
        <p:nvSpPr>
          <p:cNvPr id="8" name="Shape 6"/>
          <p:cNvSpPr/>
          <p:nvPr/>
        </p:nvSpPr>
        <p:spPr>
          <a:xfrm>
            <a:off x="768096" y="1746504"/>
            <a:ext cx="5102352" cy="4224528"/>
          </a:xfrm>
          <a:prstGeom prst="rect">
            <a:avLst/>
          </a:prstGeom>
          <a:solidFill>
            <a:srgbClr val="FFFFFF"/>
          </a:solidFill>
          <a:ln w="12700">
            <a:solidFill>
              <a:srgbClr val="D9D9D3"/>
            </a:solidFill>
            <a:prstDash val="solid"/>
          </a:ln>
        </p:spPr>
      </p:sp>
      <p:sp>
        <p:nvSpPr>
          <p:cNvPr id="9" name="Shape 7"/>
          <p:cNvSpPr/>
          <p:nvPr/>
        </p:nvSpPr>
        <p:spPr>
          <a:xfrm>
            <a:off x="6336792" y="1746504"/>
            <a:ext cx="5102352" cy="4224528"/>
          </a:xfrm>
          <a:prstGeom prst="rect">
            <a:avLst/>
          </a:prstGeom>
          <a:solidFill>
            <a:srgbClr val="FFFFFF"/>
          </a:solidFill>
          <a:ln w="12700">
            <a:solidFill>
              <a:srgbClr val="D9D9D3"/>
            </a:solidFill>
            <a:prstDash val="solid"/>
          </a:ln>
        </p:spPr>
      </p:sp>
      <p:sp>
        <p:nvSpPr>
          <p:cNvPr id="10" name="Shape 8"/>
          <p:cNvSpPr/>
          <p:nvPr/>
        </p:nvSpPr>
        <p:spPr>
          <a:xfrm>
            <a:off x="768096" y="1746504"/>
            <a:ext cx="5102352" cy="685800"/>
          </a:xfrm>
          <a:prstGeom prst="rect">
            <a:avLst/>
          </a:prstGeom>
          <a:solidFill>
            <a:srgbClr val="142735"/>
          </a:solidFill>
          <a:ln w="12700">
            <a:solidFill>
              <a:srgbClr val="142735">
                <a:alpha val="0"/>
              </a:srgbClr>
            </a:solidFill>
            <a:prstDash val="solid"/>
          </a:ln>
        </p:spPr>
      </p:sp>
      <p:sp>
        <p:nvSpPr>
          <p:cNvPr id="11" name="Shape 9"/>
          <p:cNvSpPr/>
          <p:nvPr/>
        </p:nvSpPr>
        <p:spPr>
          <a:xfrm>
            <a:off x="6336792" y="1746504"/>
            <a:ext cx="5102352" cy="685800"/>
          </a:xfrm>
          <a:prstGeom prst="rect">
            <a:avLst/>
          </a:prstGeom>
          <a:solidFill>
            <a:srgbClr val="B13D38"/>
          </a:solidFill>
          <a:ln w="12700">
            <a:solidFill>
              <a:srgbClr val="B13D38">
                <a:alpha val="0"/>
              </a:srgbClr>
            </a:solidFill>
            <a:prstDash val="solid"/>
          </a:ln>
        </p:spPr>
      </p:sp>
      <p:sp>
        <p:nvSpPr>
          <p:cNvPr id="12" name="Text 10"/>
          <p:cNvSpPr/>
          <p:nvPr/>
        </p:nvSpPr>
        <p:spPr>
          <a:xfrm>
            <a:off x="996696"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第7、11条</a:t>
            </a:r>
            <a:endParaRPr lang="en-US" sz="2200" dirty="0"/>
          </a:p>
        </p:txBody>
      </p:sp>
      <p:sp>
        <p:nvSpPr>
          <p:cNvPr id="13" name="Text 11"/>
          <p:cNvSpPr/>
          <p:nvPr/>
        </p:nvSpPr>
        <p:spPr>
          <a:xfrm>
            <a:off x="6565392"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第15条</a:t>
            </a:r>
            <a:endParaRPr lang="en-US" sz="2200" dirty="0"/>
          </a:p>
        </p:txBody>
      </p:sp>
      <p:sp>
        <p:nvSpPr>
          <p:cNvPr id="14" name="Text 12"/>
          <p:cNvSpPr/>
          <p:nvPr/>
        </p:nvSpPr>
        <p:spPr>
          <a:xfrm>
            <a:off x="1024128"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1.</a:t>
            </a:r>
            <a:endParaRPr lang="en-US" sz="1700" dirty="0"/>
          </a:p>
        </p:txBody>
      </p:sp>
      <p:sp>
        <p:nvSpPr>
          <p:cNvPr id="15" name="Text 13"/>
          <p:cNvSpPr/>
          <p:nvPr/>
        </p:nvSpPr>
        <p:spPr>
          <a:xfrm>
            <a:off x="1389888"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国有经济是国民经济的主导力量</a:t>
            </a:r>
            <a:endParaRPr lang="en-US" sz="1800" dirty="0"/>
          </a:p>
        </p:txBody>
      </p:sp>
      <p:sp>
        <p:nvSpPr>
          <p:cNvPr id="16" name="Text 14"/>
          <p:cNvSpPr/>
          <p:nvPr/>
        </p:nvSpPr>
        <p:spPr>
          <a:xfrm>
            <a:off x="1024128"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2.</a:t>
            </a:r>
            <a:endParaRPr lang="en-US" sz="1700" dirty="0"/>
          </a:p>
        </p:txBody>
      </p:sp>
      <p:sp>
        <p:nvSpPr>
          <p:cNvPr id="17" name="Text 15"/>
          <p:cNvSpPr/>
          <p:nvPr/>
        </p:nvSpPr>
        <p:spPr>
          <a:xfrm>
            <a:off x="1389888"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非公有制经济是重要组成部分</a:t>
            </a:r>
            <a:endParaRPr lang="en-US" sz="1800" dirty="0"/>
          </a:p>
        </p:txBody>
      </p:sp>
      <p:sp>
        <p:nvSpPr>
          <p:cNvPr id="18" name="Text 16"/>
          <p:cNvSpPr/>
          <p:nvPr/>
        </p:nvSpPr>
        <p:spPr>
          <a:xfrm>
            <a:off x="6592824"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1.</a:t>
            </a:r>
            <a:endParaRPr lang="en-US" sz="1700" dirty="0"/>
          </a:p>
        </p:txBody>
      </p:sp>
      <p:sp>
        <p:nvSpPr>
          <p:cNvPr id="19" name="Text 17"/>
          <p:cNvSpPr/>
          <p:nvPr/>
        </p:nvSpPr>
        <p:spPr>
          <a:xfrm>
            <a:off x="6958584"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国家实行社会主义市场经济</a:t>
            </a:r>
            <a:endParaRPr lang="en-US" sz="1800" dirty="0"/>
          </a:p>
        </p:txBody>
      </p:sp>
      <p:sp>
        <p:nvSpPr>
          <p:cNvPr id="20" name="Text 18"/>
          <p:cNvSpPr/>
          <p:nvPr/>
        </p:nvSpPr>
        <p:spPr>
          <a:xfrm>
            <a:off x="6592824"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2.</a:t>
            </a:r>
            <a:endParaRPr lang="en-US" sz="1700" dirty="0"/>
          </a:p>
        </p:txBody>
      </p:sp>
      <p:sp>
        <p:nvSpPr>
          <p:cNvPr id="21" name="Text 19"/>
          <p:cNvSpPr/>
          <p:nvPr/>
        </p:nvSpPr>
        <p:spPr>
          <a:xfrm>
            <a:off x="6958584"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具体运行还要查相关法律</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《中华人民共和国宪法》第1—3条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6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政治制度的条文主线</a:t>
            </a:r>
            <a:endParaRPr lang="en-US" sz="3000" dirty="0"/>
          </a:p>
        </p:txBody>
      </p:sp>
      <p:sp>
        <p:nvSpPr>
          <p:cNvPr id="8" name="Shape 6"/>
          <p:cNvSpPr/>
          <p:nvPr/>
        </p:nvSpPr>
        <p:spPr>
          <a:xfrm>
            <a:off x="768096" y="2231136"/>
            <a:ext cx="3441192" cy="2011680"/>
          </a:xfrm>
          <a:prstGeom prst="rect">
            <a:avLst/>
          </a:prstGeom>
          <a:solidFill>
            <a:srgbClr val="142735"/>
          </a:solidFill>
          <a:ln w="12700">
            <a:solidFill>
              <a:srgbClr val="142735">
                <a:alpha val="0"/>
              </a:srgbClr>
            </a:solidFill>
            <a:prstDash val="solid"/>
          </a:ln>
        </p:spPr>
      </p:sp>
      <p:sp>
        <p:nvSpPr>
          <p:cNvPr id="9" name="Text 7"/>
          <p:cNvSpPr/>
          <p:nvPr/>
        </p:nvSpPr>
        <p:spPr>
          <a:xfrm>
            <a:off x="950976"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EBC8C3"/>
                </a:solidFill>
                <a:latin typeface="Microsoft YaHei" pitchFamily="34" charset="0"/>
                <a:ea typeface="Microsoft YaHei" pitchFamily="34" charset="-122"/>
                <a:cs typeface="Microsoft YaHei" pitchFamily="34" charset="-120"/>
              </a:rPr>
              <a:t>01</a:t>
            </a:r>
            <a:endParaRPr lang="en-US" sz="2000" dirty="0"/>
          </a:p>
        </p:txBody>
      </p:sp>
      <p:sp>
        <p:nvSpPr>
          <p:cNvPr id="10" name="Text 8"/>
          <p:cNvSpPr/>
          <p:nvPr/>
        </p:nvSpPr>
        <p:spPr>
          <a:xfrm>
            <a:off x="950976"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第1条：中国共产党的领导</a:t>
            </a:r>
            <a:endParaRPr lang="en-US" sz="2100" dirty="0"/>
          </a:p>
        </p:txBody>
      </p:sp>
      <p:sp>
        <p:nvSpPr>
          <p:cNvPr id="11" name="Shape 9"/>
          <p:cNvSpPr/>
          <p:nvPr/>
        </p:nvSpPr>
        <p:spPr>
          <a:xfrm>
            <a:off x="4373880" y="2231136"/>
            <a:ext cx="3441192" cy="2011680"/>
          </a:xfrm>
          <a:prstGeom prst="rect">
            <a:avLst/>
          </a:prstGeom>
          <a:solidFill>
            <a:srgbClr val="FFFFFF"/>
          </a:solidFill>
          <a:ln w="12700">
            <a:solidFill>
              <a:srgbClr val="D9D9D3"/>
            </a:solidFill>
            <a:prstDash val="solid"/>
          </a:ln>
        </p:spPr>
      </p:sp>
      <p:sp>
        <p:nvSpPr>
          <p:cNvPr id="12" name="Text 10"/>
          <p:cNvSpPr/>
          <p:nvPr/>
        </p:nvSpPr>
        <p:spPr>
          <a:xfrm>
            <a:off x="4556760"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556760"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第2条：国家权力属于人民</a:t>
            </a:r>
            <a:endParaRPr lang="en-US" sz="2100" dirty="0"/>
          </a:p>
        </p:txBody>
      </p:sp>
      <p:sp>
        <p:nvSpPr>
          <p:cNvPr id="14" name="Shape 12"/>
          <p:cNvSpPr/>
          <p:nvPr/>
        </p:nvSpPr>
        <p:spPr>
          <a:xfrm>
            <a:off x="7979664" y="2231136"/>
            <a:ext cx="3441192" cy="2011680"/>
          </a:xfrm>
          <a:prstGeom prst="rect">
            <a:avLst/>
          </a:prstGeom>
          <a:solidFill>
            <a:srgbClr val="FFFFFF"/>
          </a:solidFill>
          <a:ln w="12700">
            <a:solidFill>
              <a:srgbClr val="D9D9D3"/>
            </a:solidFill>
            <a:prstDash val="solid"/>
          </a:ln>
        </p:spPr>
      </p:sp>
      <p:sp>
        <p:nvSpPr>
          <p:cNvPr id="15" name="Text 13"/>
          <p:cNvSpPr/>
          <p:nvPr/>
        </p:nvSpPr>
        <p:spPr>
          <a:xfrm>
            <a:off x="8162544"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03</a:t>
            </a:r>
            <a:endParaRPr lang="en-US" sz="2000" dirty="0"/>
          </a:p>
        </p:txBody>
      </p:sp>
      <p:sp>
        <p:nvSpPr>
          <p:cNvPr id="16" name="Text 14"/>
          <p:cNvSpPr/>
          <p:nvPr/>
        </p:nvSpPr>
        <p:spPr>
          <a:xfrm>
            <a:off x="8162544"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第3条：人大与其他机关的关系</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《中华人民共和国宪法》第3条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7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人大怎样产生</a:t>
            </a:r>
            <a:endParaRPr lang="en-US" sz="3000" dirty="0"/>
          </a:p>
        </p:txBody>
      </p:sp>
      <p:sp>
        <p:nvSpPr>
          <p:cNvPr id="8" name="Text 6"/>
          <p:cNvSpPr/>
          <p:nvPr/>
        </p:nvSpPr>
        <p:spPr>
          <a:xfrm>
            <a:off x="731520" y="1197864"/>
            <a:ext cx="10698480" cy="384048"/>
          </a:xfrm>
          <a:prstGeom prst="rect">
            <a:avLst/>
          </a:prstGeom>
          <a:noFill/>
          <a:ln/>
        </p:spPr>
        <p:txBody>
          <a:bodyPr wrap="square" lIns="0" tIns="0" rIns="0" bIns="0" rtlCol="0" anchor="ctr">
            <a:normAutofit/>
          </a:bodyPr>
          <a:lstStyle/>
          <a:p>
            <a:pPr indent="0" marL="0">
              <a:buNone/>
            </a:pPr>
            <a:r>
              <a:rPr lang="en-US" sz="1400" dirty="0">
                <a:solidFill>
                  <a:srgbClr val="64717A"/>
                </a:solidFill>
                <a:latin typeface="Microsoft YaHei" pitchFamily="34" charset="0"/>
                <a:ea typeface="Microsoft YaHei" pitchFamily="34" charset="-122"/>
                <a:cs typeface="Microsoft YaHei" pitchFamily="34" charset="-120"/>
              </a:rPr>
              <a:t>第二学时</a:t>
            </a:r>
            <a:endParaRPr lang="en-US" sz="1400" dirty="0"/>
          </a:p>
        </p:txBody>
      </p:sp>
      <p:sp>
        <p:nvSpPr>
          <p:cNvPr id="9" name="Shape 7"/>
          <p:cNvSpPr/>
          <p:nvPr/>
        </p:nvSpPr>
        <p:spPr>
          <a:xfrm>
            <a:off x="768096" y="1764792"/>
            <a:ext cx="10652760" cy="4078224"/>
          </a:xfrm>
          <a:prstGeom prst="rect">
            <a:avLst/>
          </a:prstGeom>
          <a:solidFill>
            <a:srgbClr val="FFFFFF"/>
          </a:solidFill>
          <a:ln w="12700">
            <a:solidFill>
              <a:srgbClr val="D9D9D3"/>
            </a:solidFill>
            <a:prstDash val="solid"/>
          </a:ln>
        </p:spPr>
      </p:sp>
      <p:sp>
        <p:nvSpPr>
          <p:cNvPr id="10" name="Shape 8"/>
          <p:cNvSpPr/>
          <p:nvPr/>
        </p:nvSpPr>
        <p:spPr>
          <a:xfrm>
            <a:off x="768096" y="1764792"/>
            <a:ext cx="91440" cy="4078224"/>
          </a:xfrm>
          <a:prstGeom prst="rect">
            <a:avLst/>
          </a:prstGeom>
          <a:solidFill>
            <a:srgbClr val="B13D38"/>
          </a:solidFill>
          <a:ln w="12700">
            <a:solidFill>
              <a:srgbClr val="B13D38">
                <a:alpha val="0"/>
              </a:srgbClr>
            </a:solidFill>
            <a:prstDash val="solid"/>
          </a:ln>
        </p:spPr>
      </p:sp>
      <p:sp>
        <p:nvSpPr>
          <p:cNvPr id="11" name="Text 9"/>
          <p:cNvSpPr/>
          <p:nvPr/>
        </p:nvSpPr>
        <p:spPr>
          <a:xfrm>
            <a:off x="1124712" y="1993392"/>
            <a:ext cx="822960" cy="640080"/>
          </a:xfrm>
          <a:prstGeom prst="rect">
            <a:avLst/>
          </a:prstGeom>
          <a:noFill/>
          <a:ln/>
        </p:spPr>
        <p:txBody>
          <a:bodyPr wrap="square" lIns="0" tIns="0" rIns="0" bIns="0" rtlCol="0" anchor="ctr">
            <a:normAutofit/>
          </a:bodyPr>
          <a:lstStyle/>
          <a:p>
            <a:pPr indent="0" marL="0">
              <a:buNone/>
            </a:pPr>
            <a:r>
              <a:rPr lang="en-US" sz="6300" dirty="0">
                <a:solidFill>
                  <a:srgbClr val="B13D38"/>
                </a:solidFill>
                <a:latin typeface="SimSun" pitchFamily="34" charset="0"/>
                <a:ea typeface="SimSun" pitchFamily="34" charset="-122"/>
                <a:cs typeface="SimSun" pitchFamily="34" charset="-120"/>
              </a:rPr>
              <a:t>“</a:t>
            </a:r>
            <a:endParaRPr lang="en-US" sz="6300" dirty="0"/>
          </a:p>
        </p:txBody>
      </p:sp>
      <p:sp>
        <p:nvSpPr>
          <p:cNvPr id="12" name="Text 10"/>
          <p:cNvSpPr/>
          <p:nvPr/>
        </p:nvSpPr>
        <p:spPr>
          <a:xfrm>
            <a:off x="1737360" y="2377440"/>
            <a:ext cx="9006840" cy="2148840"/>
          </a:xfrm>
          <a:prstGeom prst="rect">
            <a:avLst/>
          </a:prstGeom>
          <a:noFill/>
          <a:ln/>
        </p:spPr>
        <p:txBody>
          <a:bodyPr wrap="square" lIns="0" tIns="0" rIns="0" bIns="0" rtlCol="0" anchor="ctr">
            <a:normAutofit/>
          </a:bodyPr>
          <a:lstStyle/>
          <a:p>
            <a:pPr indent="0" marL="0">
              <a:buNone/>
            </a:pPr>
            <a:r>
              <a:rPr lang="en-US" sz="2900" b="1" dirty="0">
                <a:solidFill>
                  <a:srgbClr val="142735"/>
                </a:solidFill>
                <a:latin typeface="Microsoft YaHei" pitchFamily="34" charset="0"/>
                <a:ea typeface="Microsoft YaHei" pitchFamily="34" charset="-122"/>
                <a:cs typeface="Microsoft YaHei" pitchFamily="34" charset="-120"/>
              </a:rPr>
              <a:t>全国人民代表大会和地方各级人民代表大会都由民主选举产生，对人民负责，受人民监督。</a:t>
            </a:r>
            <a:endParaRPr lang="en-US" sz="2900" dirty="0"/>
          </a:p>
        </p:txBody>
      </p:sp>
      <p:sp>
        <p:nvSpPr>
          <p:cNvPr id="13" name="Text 11"/>
          <p:cNvSpPr/>
          <p:nvPr/>
        </p:nvSpPr>
        <p:spPr>
          <a:xfrm>
            <a:off x="1828800" y="4965192"/>
            <a:ext cx="8869680" cy="384048"/>
          </a:xfrm>
          <a:prstGeom prst="rect">
            <a:avLst/>
          </a:prstGeom>
          <a:noFill/>
          <a:ln/>
        </p:spPr>
        <p:txBody>
          <a:bodyPr wrap="square" lIns="0" tIns="0" rIns="0" bIns="0" rtlCol="0" anchor="ctr">
            <a:normAutofit/>
          </a:bodyPr>
          <a:lstStyle/>
          <a:p>
            <a:pPr algn="r" indent="0" marL="0">
              <a:buNone/>
            </a:pPr>
            <a:r>
              <a:rPr lang="en-US" sz="1600" dirty="0">
                <a:solidFill>
                  <a:srgbClr val="64717A"/>
                </a:solidFill>
                <a:latin typeface="Microsoft YaHei" pitchFamily="34" charset="0"/>
                <a:ea typeface="Microsoft YaHei" pitchFamily="34" charset="-122"/>
                <a:cs typeface="Microsoft YaHei" pitchFamily="34" charset="-120"/>
              </a:rPr>
              <a:t>《中华人民共和国宪法》第3条</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《中华人民共和国宪法》第2—3、34条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8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选举与人民代表大会</a:t>
            </a:r>
            <a:endParaRPr lang="en-US" sz="3000" dirty="0"/>
          </a:p>
        </p:txBody>
      </p:sp>
      <p:sp>
        <p:nvSpPr>
          <p:cNvPr id="8" name="Shape 6"/>
          <p:cNvSpPr/>
          <p:nvPr/>
        </p:nvSpPr>
        <p:spPr>
          <a:xfrm>
            <a:off x="768096" y="2231136"/>
            <a:ext cx="3441192" cy="2011680"/>
          </a:xfrm>
          <a:prstGeom prst="rect">
            <a:avLst/>
          </a:prstGeom>
          <a:solidFill>
            <a:srgbClr val="142735"/>
          </a:solidFill>
          <a:ln w="12700">
            <a:solidFill>
              <a:srgbClr val="142735">
                <a:alpha val="0"/>
              </a:srgbClr>
            </a:solidFill>
            <a:prstDash val="solid"/>
          </a:ln>
        </p:spPr>
      </p:sp>
      <p:sp>
        <p:nvSpPr>
          <p:cNvPr id="9" name="Text 7"/>
          <p:cNvSpPr/>
          <p:nvPr/>
        </p:nvSpPr>
        <p:spPr>
          <a:xfrm>
            <a:off x="950976"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EBC8C3"/>
                </a:solidFill>
                <a:latin typeface="Microsoft YaHei" pitchFamily="34" charset="0"/>
                <a:ea typeface="Microsoft YaHei" pitchFamily="34" charset="-122"/>
                <a:cs typeface="Microsoft YaHei" pitchFamily="34" charset="-120"/>
              </a:rPr>
              <a:t>01</a:t>
            </a:r>
            <a:endParaRPr lang="en-US" sz="2000" dirty="0"/>
          </a:p>
        </p:txBody>
      </p:sp>
      <p:sp>
        <p:nvSpPr>
          <p:cNvPr id="10" name="Text 8"/>
          <p:cNvSpPr/>
          <p:nvPr/>
        </p:nvSpPr>
        <p:spPr>
          <a:xfrm>
            <a:off x="950976"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第34条：公民选举权与被选举权</a:t>
            </a:r>
            <a:endParaRPr lang="en-US" sz="2100" dirty="0"/>
          </a:p>
        </p:txBody>
      </p:sp>
      <p:sp>
        <p:nvSpPr>
          <p:cNvPr id="11" name="Shape 9"/>
          <p:cNvSpPr/>
          <p:nvPr/>
        </p:nvSpPr>
        <p:spPr>
          <a:xfrm>
            <a:off x="4373880" y="2231136"/>
            <a:ext cx="3441192" cy="2011680"/>
          </a:xfrm>
          <a:prstGeom prst="rect">
            <a:avLst/>
          </a:prstGeom>
          <a:solidFill>
            <a:srgbClr val="FFFFFF"/>
          </a:solidFill>
          <a:ln w="12700">
            <a:solidFill>
              <a:srgbClr val="D9D9D3"/>
            </a:solidFill>
            <a:prstDash val="solid"/>
          </a:ln>
        </p:spPr>
      </p:sp>
      <p:sp>
        <p:nvSpPr>
          <p:cNvPr id="12" name="Text 10"/>
          <p:cNvSpPr/>
          <p:nvPr/>
        </p:nvSpPr>
        <p:spPr>
          <a:xfrm>
            <a:off x="4556760"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556760"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第3条：人大由民主选举产生</a:t>
            </a:r>
            <a:endParaRPr lang="en-US" sz="2100" dirty="0"/>
          </a:p>
        </p:txBody>
      </p:sp>
      <p:sp>
        <p:nvSpPr>
          <p:cNvPr id="14" name="Shape 12"/>
          <p:cNvSpPr/>
          <p:nvPr/>
        </p:nvSpPr>
        <p:spPr>
          <a:xfrm>
            <a:off x="7979664" y="2231136"/>
            <a:ext cx="3441192" cy="2011680"/>
          </a:xfrm>
          <a:prstGeom prst="rect">
            <a:avLst/>
          </a:prstGeom>
          <a:solidFill>
            <a:srgbClr val="FFFFFF"/>
          </a:solidFill>
          <a:ln w="12700">
            <a:solidFill>
              <a:srgbClr val="D9D9D3"/>
            </a:solidFill>
            <a:prstDash val="solid"/>
          </a:ln>
        </p:spPr>
      </p:sp>
      <p:sp>
        <p:nvSpPr>
          <p:cNvPr id="15" name="Text 13"/>
          <p:cNvSpPr/>
          <p:nvPr/>
        </p:nvSpPr>
        <p:spPr>
          <a:xfrm>
            <a:off x="8162544"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03</a:t>
            </a:r>
            <a:endParaRPr lang="en-US" sz="2000" dirty="0"/>
          </a:p>
        </p:txBody>
      </p:sp>
      <p:sp>
        <p:nvSpPr>
          <p:cNvPr id="16" name="Text 14"/>
          <p:cNvSpPr/>
          <p:nvPr/>
        </p:nvSpPr>
        <p:spPr>
          <a:xfrm>
            <a:off x="8162544"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第2条：人民通过人大行使国家权力</a:t>
            </a:r>
            <a:endParaRPr lang="en-US" sz="2100" dirty="0"/>
          </a:p>
        </p:txBody>
      </p:sp>
      <p:sp>
        <p:nvSpPr>
          <p:cNvPr id="17" name="Text 15"/>
          <p:cNvSpPr/>
          <p:nvPr/>
        </p:nvSpPr>
        <p:spPr>
          <a:xfrm>
            <a:off x="914400" y="4800600"/>
            <a:ext cx="10378440" cy="658368"/>
          </a:xfrm>
          <a:prstGeom prst="rect">
            <a:avLst/>
          </a:prstGeom>
          <a:noFill/>
          <a:ln/>
        </p:spPr>
        <p:txBody>
          <a:bodyPr wrap="square" lIns="0" tIns="0" rIns="0" bIns="0" rtlCol="0" anchor="ctr">
            <a:normAutofit/>
          </a:bodyPr>
          <a:lstStyle/>
          <a:p>
            <a:pPr algn="ctr" indent="0" marL="0">
              <a:buNone/>
            </a:pPr>
            <a:r>
              <a:rPr lang="en-US" sz="1800" dirty="0">
                <a:solidFill>
                  <a:srgbClr val="64717A"/>
                </a:solidFill>
                <a:latin typeface="Microsoft YaHei" pitchFamily="34" charset="0"/>
                <a:ea typeface="Microsoft YaHei" pitchFamily="34" charset="-122"/>
                <a:cs typeface="Microsoft YaHei" pitchFamily="34" charset="-120"/>
              </a:rPr>
              <a:t>具体选举程序留给专门法律</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《中华人民共和国宪法》序言、第4、111条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9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其他政治安排的位置</a:t>
            </a:r>
            <a:endParaRPr lang="en-US" sz="3000" dirty="0"/>
          </a:p>
        </p:txBody>
      </p:sp>
      <p:sp>
        <p:nvSpPr>
          <p:cNvPr id="8" name="Shape 6"/>
          <p:cNvSpPr/>
          <p:nvPr/>
        </p:nvSpPr>
        <p:spPr>
          <a:xfrm>
            <a:off x="768096" y="1783080"/>
            <a:ext cx="10652760" cy="1088136"/>
          </a:xfrm>
          <a:prstGeom prst="rect">
            <a:avLst/>
          </a:prstGeom>
          <a:solidFill>
            <a:srgbClr val="FFFFFF"/>
          </a:solidFill>
          <a:ln w="12700">
            <a:solidFill>
              <a:srgbClr val="D9D9D3"/>
            </a:solidFill>
            <a:prstDash val="solid"/>
          </a:ln>
        </p:spPr>
      </p:sp>
      <p:sp>
        <p:nvSpPr>
          <p:cNvPr id="9" name="Shape 7"/>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0" name="Text 8"/>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1" name="Text 9"/>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序言：多党合作与政治协商</a:t>
            </a:r>
            <a:endParaRPr lang="en-US" sz="2100" dirty="0"/>
          </a:p>
        </p:txBody>
      </p:sp>
      <p:sp>
        <p:nvSpPr>
          <p:cNvPr id="12" name="Shape 10"/>
          <p:cNvSpPr/>
          <p:nvPr/>
        </p:nvSpPr>
        <p:spPr>
          <a:xfrm>
            <a:off x="768096" y="3026664"/>
            <a:ext cx="10652760" cy="1088136"/>
          </a:xfrm>
          <a:prstGeom prst="rect">
            <a:avLst/>
          </a:prstGeom>
          <a:solidFill>
            <a:srgbClr val="FFFFFF"/>
          </a:solidFill>
          <a:ln w="12700">
            <a:solidFill>
              <a:srgbClr val="D9D9D3"/>
            </a:solidFill>
            <a:prstDash val="solid"/>
          </a:ln>
        </p:spPr>
      </p:sp>
      <p:sp>
        <p:nvSpPr>
          <p:cNvPr id="13" name="Shape 11"/>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4" name="Text 12"/>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5" name="Text 13"/>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第4条：民族区域自治</a:t>
            </a:r>
            <a:endParaRPr lang="en-US" sz="2100" dirty="0"/>
          </a:p>
        </p:txBody>
      </p:sp>
      <p:sp>
        <p:nvSpPr>
          <p:cNvPr id="16" name="Shape 14"/>
          <p:cNvSpPr/>
          <p:nvPr/>
        </p:nvSpPr>
        <p:spPr>
          <a:xfrm>
            <a:off x="768096" y="4270248"/>
            <a:ext cx="10652760" cy="1088136"/>
          </a:xfrm>
          <a:prstGeom prst="rect">
            <a:avLst/>
          </a:prstGeom>
          <a:solidFill>
            <a:srgbClr val="FFFFFF"/>
          </a:solidFill>
          <a:ln w="12700">
            <a:solidFill>
              <a:srgbClr val="D9D9D3"/>
            </a:solidFill>
            <a:prstDash val="solid"/>
          </a:ln>
        </p:spPr>
      </p:sp>
      <p:sp>
        <p:nvSpPr>
          <p:cNvPr id="17" name="Shape 15"/>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8" name="Text 16"/>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19" name="Text 17"/>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第111条：基层群众自治组织</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《中华人民共和国宪法》第21—22、26条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10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国家任务的三个入口</a:t>
            </a:r>
            <a:endParaRPr lang="en-US" sz="3000" dirty="0"/>
          </a:p>
        </p:txBody>
      </p:sp>
      <p:sp>
        <p:nvSpPr>
          <p:cNvPr id="8" name="Shape 6"/>
          <p:cNvSpPr/>
          <p:nvPr/>
        </p:nvSpPr>
        <p:spPr>
          <a:xfrm>
            <a:off x="768096" y="1746504"/>
            <a:ext cx="5102352" cy="4224528"/>
          </a:xfrm>
          <a:prstGeom prst="rect">
            <a:avLst/>
          </a:prstGeom>
          <a:solidFill>
            <a:srgbClr val="FFFFFF"/>
          </a:solidFill>
          <a:ln w="12700">
            <a:solidFill>
              <a:srgbClr val="D9D9D3"/>
            </a:solidFill>
            <a:prstDash val="solid"/>
          </a:ln>
        </p:spPr>
      </p:sp>
      <p:sp>
        <p:nvSpPr>
          <p:cNvPr id="9" name="Shape 7"/>
          <p:cNvSpPr/>
          <p:nvPr/>
        </p:nvSpPr>
        <p:spPr>
          <a:xfrm>
            <a:off x="6336792" y="1746504"/>
            <a:ext cx="5102352" cy="4224528"/>
          </a:xfrm>
          <a:prstGeom prst="rect">
            <a:avLst/>
          </a:prstGeom>
          <a:solidFill>
            <a:srgbClr val="FFFFFF"/>
          </a:solidFill>
          <a:ln w="12700">
            <a:solidFill>
              <a:srgbClr val="D9D9D3"/>
            </a:solidFill>
            <a:prstDash val="solid"/>
          </a:ln>
        </p:spPr>
      </p:sp>
      <p:sp>
        <p:nvSpPr>
          <p:cNvPr id="10" name="Shape 8"/>
          <p:cNvSpPr/>
          <p:nvPr/>
        </p:nvSpPr>
        <p:spPr>
          <a:xfrm>
            <a:off x="768096" y="1746504"/>
            <a:ext cx="5102352" cy="685800"/>
          </a:xfrm>
          <a:prstGeom prst="rect">
            <a:avLst/>
          </a:prstGeom>
          <a:solidFill>
            <a:srgbClr val="142735"/>
          </a:solidFill>
          <a:ln w="12700">
            <a:solidFill>
              <a:srgbClr val="142735">
                <a:alpha val="0"/>
              </a:srgbClr>
            </a:solidFill>
            <a:prstDash val="solid"/>
          </a:ln>
        </p:spPr>
      </p:sp>
      <p:sp>
        <p:nvSpPr>
          <p:cNvPr id="11" name="Shape 9"/>
          <p:cNvSpPr/>
          <p:nvPr/>
        </p:nvSpPr>
        <p:spPr>
          <a:xfrm>
            <a:off x="6336792" y="1746504"/>
            <a:ext cx="5102352" cy="685800"/>
          </a:xfrm>
          <a:prstGeom prst="rect">
            <a:avLst/>
          </a:prstGeom>
          <a:solidFill>
            <a:srgbClr val="B13D38"/>
          </a:solidFill>
          <a:ln w="12700">
            <a:solidFill>
              <a:srgbClr val="B13D38">
                <a:alpha val="0"/>
              </a:srgbClr>
            </a:solidFill>
            <a:prstDash val="solid"/>
          </a:ln>
        </p:spPr>
      </p:sp>
      <p:sp>
        <p:nvSpPr>
          <p:cNvPr id="12" name="Text 10"/>
          <p:cNvSpPr/>
          <p:nvPr/>
        </p:nvSpPr>
        <p:spPr>
          <a:xfrm>
            <a:off x="996696"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文化与社会</a:t>
            </a:r>
            <a:endParaRPr lang="en-US" sz="2200" dirty="0"/>
          </a:p>
        </p:txBody>
      </p:sp>
      <p:sp>
        <p:nvSpPr>
          <p:cNvPr id="13" name="Text 11"/>
          <p:cNvSpPr/>
          <p:nvPr/>
        </p:nvSpPr>
        <p:spPr>
          <a:xfrm>
            <a:off x="6565392"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生态</a:t>
            </a:r>
            <a:endParaRPr lang="en-US" sz="2200" dirty="0"/>
          </a:p>
        </p:txBody>
      </p:sp>
      <p:sp>
        <p:nvSpPr>
          <p:cNvPr id="14" name="Text 12"/>
          <p:cNvSpPr/>
          <p:nvPr/>
        </p:nvSpPr>
        <p:spPr>
          <a:xfrm>
            <a:off x="1024128"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1.</a:t>
            </a:r>
            <a:endParaRPr lang="en-US" sz="1700" dirty="0"/>
          </a:p>
        </p:txBody>
      </p:sp>
      <p:sp>
        <p:nvSpPr>
          <p:cNvPr id="15" name="Text 13"/>
          <p:cNvSpPr/>
          <p:nvPr/>
        </p:nvSpPr>
        <p:spPr>
          <a:xfrm>
            <a:off x="1389888"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第22条：发展文化事业</a:t>
            </a:r>
            <a:endParaRPr lang="en-US" sz="1800" dirty="0"/>
          </a:p>
        </p:txBody>
      </p:sp>
      <p:sp>
        <p:nvSpPr>
          <p:cNvPr id="16" name="Text 14"/>
          <p:cNvSpPr/>
          <p:nvPr/>
        </p:nvSpPr>
        <p:spPr>
          <a:xfrm>
            <a:off x="1024128"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2.</a:t>
            </a:r>
            <a:endParaRPr lang="en-US" sz="1700" dirty="0"/>
          </a:p>
        </p:txBody>
      </p:sp>
      <p:sp>
        <p:nvSpPr>
          <p:cNvPr id="17" name="Text 15"/>
          <p:cNvSpPr/>
          <p:nvPr/>
        </p:nvSpPr>
        <p:spPr>
          <a:xfrm>
            <a:off x="1389888"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第21条：发展医疗卫生事业</a:t>
            </a:r>
            <a:endParaRPr lang="en-US" sz="1800" dirty="0"/>
          </a:p>
        </p:txBody>
      </p:sp>
      <p:sp>
        <p:nvSpPr>
          <p:cNvPr id="18" name="Text 16"/>
          <p:cNvSpPr/>
          <p:nvPr/>
        </p:nvSpPr>
        <p:spPr>
          <a:xfrm>
            <a:off x="6592824"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1.</a:t>
            </a:r>
            <a:endParaRPr lang="en-US" sz="1700" dirty="0"/>
          </a:p>
        </p:txBody>
      </p:sp>
      <p:sp>
        <p:nvSpPr>
          <p:cNvPr id="19" name="Text 17"/>
          <p:cNvSpPr/>
          <p:nvPr/>
        </p:nvSpPr>
        <p:spPr>
          <a:xfrm>
            <a:off x="6958584"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第26条：保护和改善环境</a:t>
            </a:r>
            <a:endParaRPr lang="en-US" sz="1800" dirty="0"/>
          </a:p>
        </p:txBody>
      </p:sp>
      <p:sp>
        <p:nvSpPr>
          <p:cNvPr id="20" name="Text 18"/>
          <p:cNvSpPr/>
          <p:nvPr/>
        </p:nvSpPr>
        <p:spPr>
          <a:xfrm>
            <a:off x="6592824"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2.</a:t>
            </a:r>
            <a:endParaRPr lang="en-US" sz="1700" dirty="0"/>
          </a:p>
        </p:txBody>
      </p:sp>
      <p:sp>
        <p:nvSpPr>
          <p:cNvPr id="21" name="Text 19"/>
          <p:cNvSpPr/>
          <p:nvPr/>
        </p:nvSpPr>
        <p:spPr>
          <a:xfrm>
            <a:off x="6958584"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本讲先会定位条文</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《中华人民共和国宪法》第2、6、21—22、26条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11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五条文找位置</a:t>
            </a:r>
            <a:endParaRPr lang="en-US" sz="3000" dirty="0"/>
          </a:p>
        </p:txBody>
      </p:sp>
      <p:sp>
        <p:nvSpPr>
          <p:cNvPr id="8" name="Shape 6"/>
          <p:cNvSpPr/>
          <p:nvPr/>
        </p:nvSpPr>
        <p:spPr>
          <a:xfrm>
            <a:off x="768096" y="1737360"/>
            <a:ext cx="10652760" cy="1371600"/>
          </a:xfrm>
          <a:prstGeom prst="rect">
            <a:avLst/>
          </a:prstGeom>
          <a:solidFill>
            <a:srgbClr val="142735"/>
          </a:solidFill>
          <a:ln w="12700">
            <a:solidFill>
              <a:srgbClr val="142735">
                <a:alpha val="0"/>
              </a:srgbClr>
            </a:solidFill>
            <a:prstDash val="solid"/>
          </a:ln>
        </p:spPr>
      </p:sp>
      <p:sp>
        <p:nvSpPr>
          <p:cNvPr id="9" name="Text 7"/>
          <p:cNvSpPr/>
          <p:nvPr/>
        </p:nvSpPr>
        <p:spPr>
          <a:xfrm>
            <a:off x="1078992" y="1965960"/>
            <a:ext cx="10012680" cy="82296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将第6、2、22、21、26条放入五个教学板块，再解释一条经济或政治规则。</a:t>
            </a:r>
            <a:endParaRPr lang="en-US" sz="2400" dirty="0"/>
          </a:p>
        </p:txBody>
      </p:sp>
      <p:sp>
        <p:nvSpPr>
          <p:cNvPr id="10" name="Shape 8"/>
          <p:cNvSpPr/>
          <p:nvPr/>
        </p:nvSpPr>
        <p:spPr>
          <a:xfrm>
            <a:off x="768096" y="3419856"/>
            <a:ext cx="10652760" cy="594360"/>
          </a:xfrm>
          <a:prstGeom prst="rect">
            <a:avLst/>
          </a:prstGeom>
          <a:solidFill>
            <a:srgbClr val="FFFFFF"/>
          </a:solidFill>
          <a:ln w="12700">
            <a:solidFill>
              <a:srgbClr val="D9D9D3"/>
            </a:solidFill>
            <a:prstDash val="solid"/>
          </a:ln>
        </p:spPr>
      </p:sp>
      <p:sp>
        <p:nvSpPr>
          <p:cNvPr id="11" name="Text 9"/>
          <p:cNvSpPr/>
          <p:nvPr/>
        </p:nvSpPr>
        <p:spPr>
          <a:xfrm>
            <a:off x="1097280" y="3493008"/>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1  标出经济、政治、文化、社会、生态</a:t>
            </a:r>
            <a:endParaRPr lang="en-US" sz="2000" dirty="0"/>
          </a:p>
        </p:txBody>
      </p:sp>
      <p:sp>
        <p:nvSpPr>
          <p:cNvPr id="12" name="Shape 10"/>
          <p:cNvSpPr/>
          <p:nvPr/>
        </p:nvSpPr>
        <p:spPr>
          <a:xfrm>
            <a:off x="768096" y="4178808"/>
            <a:ext cx="10652760" cy="594360"/>
          </a:xfrm>
          <a:prstGeom prst="rect">
            <a:avLst/>
          </a:prstGeom>
          <a:solidFill>
            <a:srgbClr val="FFFFFF"/>
          </a:solidFill>
          <a:ln w="12700">
            <a:solidFill>
              <a:srgbClr val="D9D9D3"/>
            </a:solidFill>
            <a:prstDash val="solid"/>
          </a:ln>
        </p:spPr>
      </p:sp>
      <p:sp>
        <p:nvSpPr>
          <p:cNvPr id="13" name="Text 11"/>
          <p:cNvSpPr/>
          <p:nvPr/>
        </p:nvSpPr>
        <p:spPr>
          <a:xfrm>
            <a:off x="1097280" y="4251960"/>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2  用自己的话解释第6或2条</a:t>
            </a:r>
            <a:endParaRPr lang="en-US" sz="2000" dirty="0"/>
          </a:p>
        </p:txBody>
      </p:sp>
      <p:sp>
        <p:nvSpPr>
          <p:cNvPr id="14" name="Shape 12"/>
          <p:cNvSpPr/>
          <p:nvPr/>
        </p:nvSpPr>
        <p:spPr>
          <a:xfrm>
            <a:off x="768096" y="4937760"/>
            <a:ext cx="10652760" cy="594360"/>
          </a:xfrm>
          <a:prstGeom prst="rect">
            <a:avLst/>
          </a:prstGeom>
          <a:solidFill>
            <a:srgbClr val="FFFFFF"/>
          </a:solidFill>
          <a:ln w="12700">
            <a:solidFill>
              <a:srgbClr val="D9D9D3"/>
            </a:solidFill>
            <a:prstDash val="solid"/>
          </a:ln>
        </p:spPr>
      </p:sp>
      <p:sp>
        <p:nvSpPr>
          <p:cNvPr id="15" name="Text 13"/>
          <p:cNvSpPr/>
          <p:nvPr/>
        </p:nvSpPr>
        <p:spPr>
          <a:xfrm>
            <a:off x="1097280" y="5010912"/>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3  说出与上讲国体或政体的联系</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《宪法学》第4讲教学设计；《中华人民共和国宪法》第4、21—22、26、34条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12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三个边界</a:t>
            </a:r>
            <a:endParaRPr lang="en-US" sz="3000" dirty="0"/>
          </a:p>
        </p:txBody>
      </p:sp>
      <p:sp>
        <p:nvSpPr>
          <p:cNvPr id="8" name="Shape 6"/>
          <p:cNvSpPr/>
          <p:nvPr/>
        </p:nvSpPr>
        <p:spPr>
          <a:xfrm>
            <a:off x="768096" y="1783080"/>
            <a:ext cx="10652760" cy="1088136"/>
          </a:xfrm>
          <a:prstGeom prst="rect">
            <a:avLst/>
          </a:prstGeom>
          <a:solidFill>
            <a:srgbClr val="FFFFFF"/>
          </a:solidFill>
          <a:ln w="12700">
            <a:solidFill>
              <a:srgbClr val="D9D9D3"/>
            </a:solidFill>
            <a:prstDash val="solid"/>
          </a:ln>
        </p:spPr>
      </p:sp>
      <p:sp>
        <p:nvSpPr>
          <p:cNvPr id="9" name="Shape 7"/>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0" name="Text 8"/>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1" name="Text 9"/>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国家任务不等于现成的个人请求权</a:t>
            </a:r>
            <a:endParaRPr lang="en-US" sz="2100" dirty="0"/>
          </a:p>
        </p:txBody>
      </p:sp>
      <p:sp>
        <p:nvSpPr>
          <p:cNvPr id="12" name="Shape 10"/>
          <p:cNvSpPr/>
          <p:nvPr/>
        </p:nvSpPr>
        <p:spPr>
          <a:xfrm>
            <a:off x="768096" y="3026664"/>
            <a:ext cx="10652760" cy="1088136"/>
          </a:xfrm>
          <a:prstGeom prst="rect">
            <a:avLst/>
          </a:prstGeom>
          <a:solidFill>
            <a:srgbClr val="FFFFFF"/>
          </a:solidFill>
          <a:ln w="12700">
            <a:solidFill>
              <a:srgbClr val="D9D9D3"/>
            </a:solidFill>
            <a:prstDash val="solid"/>
          </a:ln>
        </p:spPr>
      </p:sp>
      <p:sp>
        <p:nvSpPr>
          <p:cNvPr id="13" name="Shape 11"/>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4" name="Text 12"/>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5" name="Text 13"/>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选举制度不等于个人选举权全貌</a:t>
            </a:r>
            <a:endParaRPr lang="en-US" sz="2100" dirty="0"/>
          </a:p>
        </p:txBody>
      </p:sp>
      <p:sp>
        <p:nvSpPr>
          <p:cNvPr id="16" name="Shape 14"/>
          <p:cNvSpPr/>
          <p:nvPr/>
        </p:nvSpPr>
        <p:spPr>
          <a:xfrm>
            <a:off x="768096" y="4270248"/>
            <a:ext cx="10652760" cy="1088136"/>
          </a:xfrm>
          <a:prstGeom prst="rect">
            <a:avLst/>
          </a:prstGeom>
          <a:solidFill>
            <a:srgbClr val="FFFFFF"/>
          </a:solidFill>
          <a:ln w="12700">
            <a:solidFill>
              <a:srgbClr val="D9D9D3"/>
            </a:solidFill>
            <a:prstDash val="solid"/>
          </a:ln>
        </p:spPr>
      </p:sp>
      <p:sp>
        <p:nvSpPr>
          <p:cNvPr id="17" name="Shape 15"/>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8" name="Text 16"/>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19" name="Text 17"/>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自治制度不等于自治机关职权</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第4讲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《中华人民共和国宪法》第1—3、6、21—22、26、34条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13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从国家制度走向个人权利</a:t>
            </a:r>
            <a:endParaRPr lang="en-US" sz="3000" dirty="0"/>
          </a:p>
        </p:txBody>
      </p:sp>
      <p:sp>
        <p:nvSpPr>
          <p:cNvPr id="8" name="Shape 6"/>
          <p:cNvSpPr/>
          <p:nvPr/>
        </p:nvSpPr>
        <p:spPr>
          <a:xfrm>
            <a:off x="777240" y="1755648"/>
            <a:ext cx="10643616" cy="987552"/>
          </a:xfrm>
          <a:prstGeom prst="rect">
            <a:avLst/>
          </a:prstGeom>
          <a:solidFill>
            <a:srgbClr val="142735"/>
          </a:solidFill>
          <a:ln w="12700">
            <a:solidFill>
              <a:srgbClr val="142735">
                <a:alpha val="0"/>
              </a:srgbClr>
            </a:solidFill>
            <a:prstDash val="solid"/>
          </a:ln>
        </p:spPr>
      </p:sp>
      <p:sp>
        <p:nvSpPr>
          <p:cNvPr id="9" name="Text 7"/>
          <p:cNvSpPr/>
          <p:nvPr/>
        </p:nvSpPr>
        <p:spPr>
          <a:xfrm>
            <a:off x="1078992" y="2002536"/>
            <a:ext cx="411480" cy="393192"/>
          </a:xfrm>
          <a:prstGeom prst="rect">
            <a:avLst/>
          </a:prstGeom>
          <a:noFill/>
          <a:ln/>
        </p:spPr>
        <p:txBody>
          <a:bodyPr wrap="square" lIns="0" tIns="0" rIns="0" bIns="0" rtlCol="0" anchor="ctr">
            <a:normAutofit/>
          </a:bodyPr>
          <a:lstStyle/>
          <a:p>
            <a:pPr indent="0" marL="0">
              <a:buNone/>
            </a:pPr>
            <a:r>
              <a:rPr lang="en-US" sz="2200" b="1" dirty="0">
                <a:solidFill>
                  <a:srgbClr val="EBC8C3"/>
                </a:solidFill>
                <a:latin typeface="Microsoft YaHei" pitchFamily="34" charset="0"/>
                <a:ea typeface="Microsoft YaHei" pitchFamily="34" charset="-122"/>
                <a:cs typeface="Microsoft YaHei" pitchFamily="34" charset="-120"/>
              </a:rPr>
              <a:t>1</a:t>
            </a:r>
            <a:endParaRPr lang="en-US" sz="2200" dirty="0"/>
          </a:p>
        </p:txBody>
      </p:sp>
      <p:sp>
        <p:nvSpPr>
          <p:cNvPr id="10" name="Text 8"/>
          <p:cNvSpPr/>
          <p:nvPr/>
        </p:nvSpPr>
        <p:spPr>
          <a:xfrm>
            <a:off x="1664208" y="1911096"/>
            <a:ext cx="9345168" cy="64922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经济制度：以第6条为主轴</a:t>
            </a:r>
            <a:endParaRPr lang="en-US" sz="2100" dirty="0"/>
          </a:p>
        </p:txBody>
      </p:sp>
      <p:sp>
        <p:nvSpPr>
          <p:cNvPr id="11" name="Shape 9"/>
          <p:cNvSpPr/>
          <p:nvPr/>
        </p:nvSpPr>
        <p:spPr>
          <a:xfrm>
            <a:off x="777240" y="2999232"/>
            <a:ext cx="10643616" cy="987552"/>
          </a:xfrm>
          <a:prstGeom prst="rect">
            <a:avLst/>
          </a:prstGeom>
          <a:solidFill>
            <a:srgbClr val="FFFFFF"/>
          </a:solidFill>
          <a:ln w="12700">
            <a:solidFill>
              <a:srgbClr val="D9D9D3"/>
            </a:solidFill>
            <a:prstDash val="solid"/>
          </a:ln>
        </p:spPr>
      </p:sp>
      <p:sp>
        <p:nvSpPr>
          <p:cNvPr id="12" name="Text 10"/>
          <p:cNvSpPr/>
          <p:nvPr/>
        </p:nvSpPr>
        <p:spPr>
          <a:xfrm>
            <a:off x="1078992" y="3246120"/>
            <a:ext cx="411480" cy="393192"/>
          </a:xfrm>
          <a:prstGeom prst="rect">
            <a:avLst/>
          </a:prstGeom>
          <a:noFill/>
          <a:ln/>
        </p:spPr>
        <p:txBody>
          <a:bodyPr wrap="square" lIns="0" tIns="0" rIns="0" bIns="0" rtlCol="0" anchor="ctr">
            <a:normAutofit/>
          </a:bodyPr>
          <a:lstStyle/>
          <a:p>
            <a:pPr indent="0" marL="0">
              <a:buNone/>
            </a:pPr>
            <a:r>
              <a:rPr lang="en-US" sz="2200" b="1" dirty="0">
                <a:solidFill>
                  <a:srgbClr val="B13D38"/>
                </a:solidFill>
                <a:latin typeface="Microsoft YaHei" pitchFamily="34" charset="0"/>
                <a:ea typeface="Microsoft YaHei" pitchFamily="34" charset="-122"/>
                <a:cs typeface="Microsoft YaHei" pitchFamily="34" charset="-120"/>
              </a:rPr>
              <a:t>2</a:t>
            </a:r>
            <a:endParaRPr lang="en-US" sz="2200" dirty="0"/>
          </a:p>
        </p:txBody>
      </p:sp>
      <p:sp>
        <p:nvSpPr>
          <p:cNvPr id="13" name="Text 11"/>
          <p:cNvSpPr/>
          <p:nvPr/>
        </p:nvSpPr>
        <p:spPr>
          <a:xfrm>
            <a:off x="1664208" y="3154680"/>
            <a:ext cx="9345168" cy="649224"/>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政治制度：人民、选举与人大相连</a:t>
            </a:r>
            <a:endParaRPr lang="en-US" sz="2100" dirty="0"/>
          </a:p>
        </p:txBody>
      </p:sp>
      <p:sp>
        <p:nvSpPr>
          <p:cNvPr id="14" name="Shape 12"/>
          <p:cNvSpPr/>
          <p:nvPr/>
        </p:nvSpPr>
        <p:spPr>
          <a:xfrm>
            <a:off x="777240" y="4242816"/>
            <a:ext cx="10643616" cy="987552"/>
          </a:xfrm>
          <a:prstGeom prst="rect">
            <a:avLst/>
          </a:prstGeom>
          <a:solidFill>
            <a:srgbClr val="FFFFFF"/>
          </a:solidFill>
          <a:ln w="12700">
            <a:solidFill>
              <a:srgbClr val="D9D9D3"/>
            </a:solidFill>
            <a:prstDash val="solid"/>
          </a:ln>
        </p:spPr>
      </p:sp>
      <p:sp>
        <p:nvSpPr>
          <p:cNvPr id="15" name="Text 13"/>
          <p:cNvSpPr/>
          <p:nvPr/>
        </p:nvSpPr>
        <p:spPr>
          <a:xfrm>
            <a:off x="1078992" y="4489704"/>
            <a:ext cx="411480" cy="393192"/>
          </a:xfrm>
          <a:prstGeom prst="rect">
            <a:avLst/>
          </a:prstGeom>
          <a:noFill/>
          <a:ln/>
        </p:spPr>
        <p:txBody>
          <a:bodyPr wrap="square" lIns="0" tIns="0" rIns="0" bIns="0" rtlCol="0" anchor="ctr">
            <a:normAutofit/>
          </a:bodyPr>
          <a:lstStyle/>
          <a:p>
            <a:pPr indent="0" marL="0">
              <a:buNone/>
            </a:pPr>
            <a:r>
              <a:rPr lang="en-US" sz="2200" b="1" dirty="0">
                <a:solidFill>
                  <a:srgbClr val="B13D38"/>
                </a:solidFill>
                <a:latin typeface="Microsoft YaHei" pitchFamily="34" charset="0"/>
                <a:ea typeface="Microsoft YaHei" pitchFamily="34" charset="-122"/>
                <a:cs typeface="Microsoft YaHei" pitchFamily="34" charset="-120"/>
              </a:rPr>
              <a:t>3</a:t>
            </a:r>
            <a:endParaRPr lang="en-US" sz="2200" dirty="0"/>
          </a:p>
        </p:txBody>
      </p:sp>
      <p:sp>
        <p:nvSpPr>
          <p:cNvPr id="16" name="Text 14"/>
          <p:cNvSpPr/>
          <p:nvPr/>
        </p:nvSpPr>
        <p:spPr>
          <a:xfrm>
            <a:off x="1664208" y="4398264"/>
            <a:ext cx="9345168" cy="649224"/>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文化、社会、生态：会按条文查读</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宪法学 第4讲 国家基本制度</dc:title>
  <dc:subject>公安专业一年级宪法学课程</dc:subject>
  <dc:creator>宪法学课程教学组</dc:creator>
  <cp:lastModifiedBy>宪法学课程教学组</cp:lastModifiedBy>
  <cp:revision>1</cp:revision>
  <dcterms:created xsi:type="dcterms:W3CDTF">2026-09-26T15:21:27Z</dcterms:created>
  <dcterms:modified xsi:type="dcterms:W3CDTF">2026-09-26T15:21:27Z</dcterms:modified>
</cp:coreProperties>
</file>