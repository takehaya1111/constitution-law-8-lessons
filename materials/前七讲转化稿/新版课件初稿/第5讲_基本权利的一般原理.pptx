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第5讲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宪法学八次课教学内容总表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932688"/>
            <a:ext cx="128016" cy="4535424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713232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914400" y="169164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D9D5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96112" y="2267712"/>
            <a:ext cx="10424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基本权利的一般原理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914400" y="3675888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E8E3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谁受到保护，限制如何判断？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914400" y="6007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BB9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公安专业一年级  ·  两学时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第5讲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第5—6讲教学设计初稿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本讲追问三件事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1783080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1783080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929384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719072" y="1874520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谁是权利主体？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68096" y="3026664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" y="3026664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17296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719072" y="3118104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国家应怎样尊重和保障权利？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68096" y="4270248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4270248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441655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19072" y="4361688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限制权利还需查什么？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第5讲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宪法第33条第3款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从宪法原文出发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1764792"/>
            <a:ext cx="10652760" cy="40782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1764792"/>
            <a:ext cx="91440" cy="4078224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199339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0" dirty="0">
                <a:solidFill>
                  <a:srgbClr val="B13D3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“</a:t>
            </a:r>
            <a:endParaRPr lang="en-US" sz="6300" dirty="0"/>
          </a:p>
        </p:txBody>
      </p:sp>
      <p:sp>
        <p:nvSpPr>
          <p:cNvPr id="11" name="Text 9"/>
          <p:cNvSpPr/>
          <p:nvPr/>
        </p:nvSpPr>
        <p:spPr>
          <a:xfrm>
            <a:off x="1737360" y="2377440"/>
            <a:ext cx="9006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国家尊重和保障人权。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1828800" y="496519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dirty="0">
                <a:solidFill>
                  <a:srgbClr val="64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宪法第33条第3款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第5讲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第5—6讲教学设计初稿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人权、基本权利与法律权利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2231136"/>
            <a:ext cx="3441192" cy="2011680"/>
          </a:xfrm>
          <a:prstGeom prst="rect">
            <a:avLst/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432304"/>
            <a:ext cx="3075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BC8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2944368"/>
            <a:ext cx="30754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人权：哪些人的尊严与利益应受尊重？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73880" y="2231136"/>
            <a:ext cx="344119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6760" y="2432304"/>
            <a:ext cx="3075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56760" y="2944368"/>
            <a:ext cx="30754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基本权利：宪法怎样确认与保障？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979664" y="2231136"/>
            <a:ext cx="344119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62544" y="2432304"/>
            <a:ext cx="3075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162544" y="2944368"/>
            <a:ext cx="30754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法律权利：具体法律规定了什么？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第5讲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宪法第33条第1款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公民：先看国籍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1764792"/>
            <a:ext cx="10652760" cy="40782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1764792"/>
            <a:ext cx="91440" cy="4078224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199339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0" dirty="0">
                <a:solidFill>
                  <a:srgbClr val="B13D3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“</a:t>
            </a:r>
            <a:endParaRPr lang="en-US" sz="6300" dirty="0"/>
          </a:p>
        </p:txBody>
      </p:sp>
      <p:sp>
        <p:nvSpPr>
          <p:cNvPr id="11" name="Text 9"/>
          <p:cNvSpPr/>
          <p:nvPr/>
        </p:nvSpPr>
        <p:spPr>
          <a:xfrm>
            <a:off x="1737360" y="2377440"/>
            <a:ext cx="9006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凡具有中华人民共和国国籍的人都是中华人民共和国公民。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1828800" y="496519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dirty="0">
                <a:solidFill>
                  <a:srgbClr val="64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宪法第33条第1款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第5讲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宪法第32、33条；教学设计初稿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条文已说什么？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1746504"/>
            <a:ext cx="5102352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36792" y="1746504"/>
            <a:ext cx="5102352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" y="1746504"/>
            <a:ext cx="5102352" cy="685800"/>
          </a:xfrm>
          <a:prstGeom prst="rect">
            <a:avLst/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36792" y="1746504"/>
            <a:ext cx="5102352" cy="685800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696" y="1920240"/>
            <a:ext cx="4645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宪法文字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65392" y="1920240"/>
            <a:ext cx="4645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仍需论证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4128" y="2670048"/>
            <a:ext cx="292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89888" y="267004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公民与在华外国人：第32—33条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92824" y="2670048"/>
            <a:ext cx="292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958584" y="267004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法人能否主张某项基本权利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92824" y="3429000"/>
            <a:ext cx="292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958584" y="342900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私人间争议如何受到宪法影响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第5讲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宪法第33条；教学设计初稿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基本权利与公权力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1783080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1783080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929384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719072" y="1874520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国家机关行权须注意基本权利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68096" y="3026664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" y="3026664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17296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719072" y="3118104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权利保障还需具体制度落实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68096" y="4270248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4270248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441655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19072" y="4361688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私人争议先查适用的普通法律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第5讲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宪法第51条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权利行使也有边界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1764792"/>
            <a:ext cx="10652760" cy="40782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1764792"/>
            <a:ext cx="91440" cy="4078224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199339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0" dirty="0">
                <a:solidFill>
                  <a:srgbClr val="B13D3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“</a:t>
            </a:r>
            <a:endParaRPr lang="en-US" sz="6300" dirty="0"/>
          </a:p>
        </p:txBody>
      </p:sp>
      <p:sp>
        <p:nvSpPr>
          <p:cNvPr id="11" name="Text 9"/>
          <p:cNvSpPr/>
          <p:nvPr/>
        </p:nvSpPr>
        <p:spPr>
          <a:xfrm>
            <a:off x="1737360" y="2377440"/>
            <a:ext cx="9006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中华人民共和国公民在行使自由和权利的时候，不得损害国家的、社会的、集体的利益和其他公民的合法的自由和权利。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1828800" y="496519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dirty="0">
                <a:solidFill>
                  <a:srgbClr val="64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宪法第51条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第5讲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宪法第51条；教学设计初稿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限制判断三步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2231136"/>
            <a:ext cx="3441192" cy="2011680"/>
          </a:xfrm>
          <a:prstGeom prst="rect">
            <a:avLst/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432304"/>
            <a:ext cx="3075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BC8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2944368"/>
            <a:ext cx="30754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先定位受保护的权利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73880" y="2231136"/>
            <a:ext cx="344119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6760" y="2432304"/>
            <a:ext cx="3075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56760" y="2944368"/>
            <a:ext cx="30754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再查限制依据与条件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979664" y="2231136"/>
            <a:ext cx="344119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62544" y="2432304"/>
            <a:ext cx="3075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162544" y="2944368"/>
            <a:ext cx="30754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最后核事实和法定程序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第5讲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本讲自拟练习；宪法第33、35、51条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课堂练习：三栏判断卡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1197864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同时提供宪法第35条条文卡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8096" y="1737360"/>
            <a:ext cx="10652760" cy="1371600"/>
          </a:xfrm>
          <a:prstGeom prst="rect">
            <a:avLst/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1965960"/>
            <a:ext cx="10012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虚构情境：某机关拟限制甲公开表达意见，只称“管理需要”。还要查什么？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68096" y="3419856"/>
            <a:ext cx="10652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493008"/>
            <a:ext cx="9829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写出主体与可能涉及的权利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68096" y="4178808"/>
            <a:ext cx="10652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251960"/>
            <a:ext cx="9829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写出待查的法律依据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68096" y="4937760"/>
            <a:ext cx="10652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5010912"/>
            <a:ext cx="9829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写出尚缺的事实与程序信息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第5讲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宪法第35、51条；本讲练习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练习反馈：能说与不能说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1746504"/>
            <a:ext cx="5102352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36792" y="1746504"/>
            <a:ext cx="5102352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" y="1746504"/>
            <a:ext cx="5102352" cy="685800"/>
          </a:xfrm>
          <a:prstGeom prst="rect">
            <a:avLst/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36792" y="1746504"/>
            <a:ext cx="5102352" cy="685800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696" y="1920240"/>
            <a:ext cx="4645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可以先说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65392" y="1920240"/>
            <a:ext cx="4645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暂不能说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4128" y="2670048"/>
            <a:ext cx="292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89888" y="267004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可能涉及表达自由，依据待查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92824" y="2670048"/>
            <a:ext cx="292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958584" y="267004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必然违法或必然合法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92824" y="3429000"/>
            <a:ext cx="292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958584" y="342900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第51条已给出具体执法权限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第5讲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第5—6讲教学设计初稿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本讲收束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1197864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下一讲：具体权利与基本义务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1755648"/>
            <a:ext cx="10643616" cy="987552"/>
          </a:xfrm>
          <a:prstGeom prst="rect">
            <a:avLst/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002536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BC8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64208" y="1911096"/>
            <a:ext cx="93451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先核主体与宪法文字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77240" y="2999232"/>
            <a:ext cx="10643616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3246120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64208" y="3154680"/>
            <a:ext cx="93451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再辨国家责任与权利影响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777240" y="4242816"/>
            <a:ext cx="10643616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4489704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64208" y="4398264"/>
            <a:ext cx="93451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限制结论须查法律和事实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宪法学 第5讲 基本权利的一般原理</dc:title>
  <dc:subject>公安专业一年级宪法学课程</dc:subject>
  <dc:creator>宪法学课程教学组</dc:creator>
  <cp:lastModifiedBy>宪法学课程教学组</cp:lastModifiedBy>
  <cp:revision>1</cp:revision>
  <dcterms:created xsi:type="dcterms:W3CDTF">2026-09-26T15:21:27Z</dcterms:created>
  <dcterms:modified xsi:type="dcterms:W3CDTF">2026-09-26T15:21:27Z</dcterms:modified>
</cp:coreProperties>
</file>