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291072"/>
            <a:ext cx="10872216" cy="10973"/>
          </a:xfrm>
          <a:prstGeom prst="rect">
            <a:avLst/>
          </a:prstGeom>
          <a:solidFill>
            <a:srgbClr val="D9D9D3"/>
          </a:solidFill>
          <a:ln w="12700">
            <a:solidFill>
              <a:srgbClr val="D9D9D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391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宪法学  ·  第7讲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49040" y="63916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《宪法》第三章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149840" y="6391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/ 14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735"/>
          </a:solidFill>
          <a:ln w="12700">
            <a:solidFill>
              <a:srgbClr val="142735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932688"/>
            <a:ext cx="128016" cy="4535424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713232"/>
            <a:ext cx="1645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9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4900" dirty="0"/>
          </a:p>
        </p:txBody>
      </p:sp>
      <p:sp>
        <p:nvSpPr>
          <p:cNvPr id="10" name="Text 8"/>
          <p:cNvSpPr/>
          <p:nvPr/>
        </p:nvSpPr>
        <p:spPr>
          <a:xfrm>
            <a:off x="914400" y="169164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D9D5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宪法学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96112" y="2267712"/>
            <a:ext cx="104241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国家机构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914400" y="3675888"/>
            <a:ext cx="9966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E8E3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人民如何通过国家机关行使国家权力？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914400" y="6007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BBB9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公安专业一年级  ·  两学时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291072"/>
            <a:ext cx="10872216" cy="10973"/>
          </a:xfrm>
          <a:prstGeom prst="rect">
            <a:avLst/>
          </a:prstGeom>
          <a:solidFill>
            <a:srgbClr val="D9D9D3"/>
          </a:solidFill>
          <a:ln w="12700">
            <a:solidFill>
              <a:srgbClr val="D9D9D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391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宪法学  ·  第7讲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49040" y="63916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本讲教学目标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149840" y="6391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530352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本讲要完成的三件事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68096" y="1783080"/>
            <a:ext cx="10652760" cy="10881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" y="1783080"/>
            <a:ext cx="77724" cy="1088136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1929384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719072" y="1874520"/>
            <a:ext cx="9281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找到全国人大及其常委会的宪法地位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768096" y="3026664"/>
            <a:ext cx="10652760" cy="10881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8096" y="3026664"/>
            <a:ext cx="77724" cy="1088136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3172968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719072" y="3118104"/>
            <a:ext cx="9281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画出人大与其他国家机关的关系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768096" y="4270248"/>
            <a:ext cx="10652760" cy="10881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" y="4270248"/>
            <a:ext cx="77724" cy="1088136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4416552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719072" y="4361688"/>
            <a:ext cx="9281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区分机关地位与具体执法权限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291072"/>
            <a:ext cx="10872216" cy="10973"/>
          </a:xfrm>
          <a:prstGeom prst="rect">
            <a:avLst/>
          </a:prstGeom>
          <a:solidFill>
            <a:srgbClr val="D9D9D3"/>
          </a:solidFill>
          <a:ln w="12700">
            <a:solidFill>
              <a:srgbClr val="D9D9D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391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宪法学  ·  第7讲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49040" y="63916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《宪法》第57条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149840" y="6391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530352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先抓住国家机构的轴心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68096" y="1764792"/>
            <a:ext cx="10652760" cy="40782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" y="1764792"/>
            <a:ext cx="91440" cy="4078224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4712" y="199339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0" dirty="0">
                <a:solidFill>
                  <a:srgbClr val="B13D3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“</a:t>
            </a:r>
            <a:endParaRPr lang="en-US" sz="6300" dirty="0"/>
          </a:p>
        </p:txBody>
      </p:sp>
      <p:sp>
        <p:nvSpPr>
          <p:cNvPr id="11" name="Text 9"/>
          <p:cNvSpPr/>
          <p:nvPr/>
        </p:nvSpPr>
        <p:spPr>
          <a:xfrm>
            <a:off x="1737360" y="2377440"/>
            <a:ext cx="90068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中华人民共和国全国人民代表大会是最高国家权力机关。它的常设机关是全国人民代表大会常务委员会。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1828800" y="4965192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dirty="0">
                <a:solidFill>
                  <a:srgbClr val="64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《宪法》第57条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291072"/>
            <a:ext cx="10872216" cy="10973"/>
          </a:xfrm>
          <a:prstGeom prst="rect">
            <a:avLst/>
          </a:prstGeom>
          <a:solidFill>
            <a:srgbClr val="D9D9D3"/>
          </a:solidFill>
          <a:ln w="12700">
            <a:solidFill>
              <a:srgbClr val="D9D9D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391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宪法学  ·  第7讲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49040" y="63916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《宪法》第2—3条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149840" y="6391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530352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从人民到国家机关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68096" y="2231136"/>
            <a:ext cx="2539746" cy="2011680"/>
          </a:xfrm>
          <a:prstGeom prst="rect">
            <a:avLst/>
          </a:prstGeom>
          <a:solidFill>
            <a:srgbClr val="142735"/>
          </a:solidFill>
          <a:ln w="12700">
            <a:solidFill>
              <a:srgbClr val="14273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2432304"/>
            <a:ext cx="217398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BC8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50976" y="2944368"/>
            <a:ext cx="217398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一切权力属于人民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3472434" y="2231136"/>
            <a:ext cx="2539746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5314" y="2432304"/>
            <a:ext cx="217398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55314" y="2944368"/>
            <a:ext cx="217398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人民代表大会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6176772" y="2231136"/>
            <a:ext cx="2539746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9652" y="2432304"/>
            <a:ext cx="217398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359652" y="2944368"/>
            <a:ext cx="217398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其他国家机关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8881110" y="2231136"/>
            <a:ext cx="2539746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63990" y="2432304"/>
            <a:ext cx="217398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063990" y="2944368"/>
            <a:ext cx="217398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依法履行职权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291072"/>
            <a:ext cx="10872216" cy="10973"/>
          </a:xfrm>
          <a:prstGeom prst="rect">
            <a:avLst/>
          </a:prstGeom>
          <a:solidFill>
            <a:srgbClr val="D9D9D3"/>
          </a:solidFill>
          <a:ln w="12700">
            <a:solidFill>
              <a:srgbClr val="D9D9D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391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宪法学  ·  第7讲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49040" y="63916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《宪法》第57、62、67条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149840" y="6391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530352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全国人大与全国人大常委会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68096" y="1746504"/>
            <a:ext cx="5102352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36792" y="1746504"/>
            <a:ext cx="5102352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8096" y="1746504"/>
            <a:ext cx="5102352" cy="685800"/>
          </a:xfrm>
          <a:prstGeom prst="rect">
            <a:avLst/>
          </a:prstGeom>
          <a:solidFill>
            <a:srgbClr val="142735"/>
          </a:solidFill>
          <a:ln w="12700">
            <a:solidFill>
              <a:srgbClr val="142735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36792" y="1746504"/>
            <a:ext cx="5102352" cy="685800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6696" y="1920240"/>
            <a:ext cx="4645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全国人大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565392" y="1920240"/>
            <a:ext cx="4645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全国人大常委会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24128" y="2670048"/>
            <a:ext cx="292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389888" y="267004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最高国家权力机关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24128" y="3429000"/>
            <a:ext cx="292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389888" y="342900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行使宪法第62条职权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24128" y="4187952"/>
            <a:ext cx="292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389888" y="418795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修改宪法、监督实施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92824" y="2670048"/>
            <a:ext cx="292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958584" y="267004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全国人大的常设机关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92824" y="3429000"/>
            <a:ext cx="292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958584" y="342900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行使宪法第67条职权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592824" y="4187952"/>
            <a:ext cx="292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958584" y="418795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解释宪法、监督实施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291072"/>
            <a:ext cx="10872216" cy="10973"/>
          </a:xfrm>
          <a:prstGeom prst="rect">
            <a:avLst/>
          </a:prstGeom>
          <a:solidFill>
            <a:srgbClr val="D9D9D3"/>
          </a:solidFill>
          <a:ln w="12700">
            <a:solidFill>
              <a:srgbClr val="D9D9D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391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宪法学  ·  第7讲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49040" y="63916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《宪法》第62、67条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149840" y="6391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530352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职权要回到具体条文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68096" y="1783080"/>
            <a:ext cx="10652760" cy="10881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" y="1783080"/>
            <a:ext cx="77724" cy="1088136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1929384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719072" y="1874520"/>
            <a:ext cx="9281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第62条：全国人大职权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768096" y="3026664"/>
            <a:ext cx="10652760" cy="10881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8096" y="3026664"/>
            <a:ext cx="77724" cy="1088136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3172968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719072" y="3118104"/>
            <a:ext cx="9281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第67条：常委会职权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768096" y="4270248"/>
            <a:ext cx="10652760" cy="10881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" y="4270248"/>
            <a:ext cx="77724" cy="1088136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4416552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719072" y="4361688"/>
            <a:ext cx="9281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相似职能也要核对归属与程序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291072"/>
            <a:ext cx="10872216" cy="10973"/>
          </a:xfrm>
          <a:prstGeom prst="rect">
            <a:avLst/>
          </a:prstGeom>
          <a:solidFill>
            <a:srgbClr val="D9D9D3"/>
          </a:solidFill>
          <a:ln w="12700">
            <a:solidFill>
              <a:srgbClr val="D9D9D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391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宪法学  ·  第7讲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49040" y="63916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《宪法》第3条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149840" y="6391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530352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机关关系有宪法上的方向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68096" y="1764792"/>
            <a:ext cx="10652760" cy="40782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" y="1764792"/>
            <a:ext cx="91440" cy="4078224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4712" y="199339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0" dirty="0">
                <a:solidFill>
                  <a:srgbClr val="B13D3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“</a:t>
            </a:r>
            <a:endParaRPr lang="en-US" sz="6300" dirty="0"/>
          </a:p>
        </p:txBody>
      </p:sp>
      <p:sp>
        <p:nvSpPr>
          <p:cNvPr id="11" name="Text 9"/>
          <p:cNvSpPr/>
          <p:nvPr/>
        </p:nvSpPr>
        <p:spPr>
          <a:xfrm>
            <a:off x="1737360" y="2377440"/>
            <a:ext cx="90068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国家行政机关、监察机关、审判机关、检察机关都由人民代表大会产生，对它负责，受它监督。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1828800" y="4965192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dirty="0">
                <a:solidFill>
                  <a:srgbClr val="64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《宪法》第3条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291072"/>
            <a:ext cx="10872216" cy="10973"/>
          </a:xfrm>
          <a:prstGeom prst="rect">
            <a:avLst/>
          </a:prstGeom>
          <a:solidFill>
            <a:srgbClr val="D9D9D3"/>
          </a:solidFill>
          <a:ln w="12700">
            <a:solidFill>
              <a:srgbClr val="D9D9D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391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宪法学  ·  第7讲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49040" y="63916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《宪法》第3条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149840" y="6391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530352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把第3条画成机关关系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142232" y="1847088"/>
            <a:ext cx="3913632" cy="832104"/>
          </a:xfrm>
          <a:prstGeom prst="rect">
            <a:avLst/>
          </a:prstGeom>
          <a:solidFill>
            <a:srgbClr val="142735"/>
          </a:solidFill>
          <a:ln w="12700">
            <a:solidFill>
              <a:srgbClr val="14273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70832" y="2029968"/>
            <a:ext cx="34564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相应的人民代表大会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6080760" y="2679192"/>
            <a:ext cx="21946" cy="557784"/>
          </a:xfrm>
          <a:prstGeom prst="rect">
            <a:avLst/>
          </a:prstGeom>
          <a:solidFill>
            <a:srgbClr val="64717A"/>
          </a:solidFill>
          <a:ln w="12700">
            <a:solidFill>
              <a:srgbClr val="64717A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85416" y="3218688"/>
            <a:ext cx="7818120" cy="21946"/>
          </a:xfrm>
          <a:prstGeom prst="rect">
            <a:avLst/>
          </a:prstGeom>
          <a:solidFill>
            <a:srgbClr val="64717A"/>
          </a:solidFill>
          <a:ln w="12700">
            <a:solidFill>
              <a:srgbClr val="64717A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68296" y="3218688"/>
            <a:ext cx="21946" cy="566928"/>
          </a:xfrm>
          <a:prstGeom prst="rect">
            <a:avLst/>
          </a:prstGeom>
          <a:solidFill>
            <a:srgbClr val="64717A"/>
          </a:solidFill>
          <a:ln w="12700">
            <a:solidFill>
              <a:srgbClr val="64717A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" y="3767328"/>
            <a:ext cx="3008376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3986784"/>
            <a:ext cx="2642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行政机关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687568" y="3218688"/>
            <a:ext cx="21946" cy="566928"/>
          </a:xfrm>
          <a:prstGeom prst="rect">
            <a:avLst/>
          </a:prstGeom>
          <a:solidFill>
            <a:srgbClr val="64717A"/>
          </a:solidFill>
          <a:ln w="12700">
            <a:solidFill>
              <a:srgbClr val="64717A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60520" y="3767328"/>
            <a:ext cx="3008376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43400" y="3986784"/>
            <a:ext cx="2642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监察机关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9006840" y="3218688"/>
            <a:ext cx="21946" cy="566928"/>
          </a:xfrm>
          <a:prstGeom prst="rect">
            <a:avLst/>
          </a:prstGeom>
          <a:solidFill>
            <a:srgbClr val="64717A"/>
          </a:solidFill>
          <a:ln w="12700">
            <a:solidFill>
              <a:srgbClr val="64717A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79792" y="3767328"/>
            <a:ext cx="3008376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62672" y="3986784"/>
            <a:ext cx="2642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审判、检察机关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77824" y="5358384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宪法第3条确立总体关系；具体机关设置依层级而异。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291072"/>
            <a:ext cx="10872216" cy="10973"/>
          </a:xfrm>
          <a:prstGeom prst="rect">
            <a:avLst/>
          </a:prstGeom>
          <a:solidFill>
            <a:srgbClr val="D9D9D3"/>
          </a:solidFill>
          <a:ln w="12700">
            <a:solidFill>
              <a:srgbClr val="D9D9D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391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宪法学  ·  第7讲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49040" y="63916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《宪法》第85、95、123、128、134条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149840" y="6391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530352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两条关系链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68096" y="1746504"/>
            <a:ext cx="5102352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36792" y="1746504"/>
            <a:ext cx="5102352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8096" y="1746504"/>
            <a:ext cx="5102352" cy="685800"/>
          </a:xfrm>
          <a:prstGeom prst="rect">
            <a:avLst/>
          </a:prstGeom>
          <a:solidFill>
            <a:srgbClr val="142735"/>
          </a:solidFill>
          <a:ln w="12700">
            <a:solidFill>
              <a:srgbClr val="142735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36792" y="1746504"/>
            <a:ext cx="5102352" cy="685800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6696" y="1920240"/>
            <a:ext cx="4645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人大与行政机关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565392" y="1920240"/>
            <a:ext cx="4645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人大与监察、审判、检察机关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24128" y="2670048"/>
            <a:ext cx="292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389888" y="267004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国务院是最高国家行政机关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24128" y="3429000"/>
            <a:ext cx="292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389888" y="342900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地方政府是地方国家行政机关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24128" y="4187952"/>
            <a:ext cx="292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389888" y="418795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查产生、负责和监督关系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92824" y="2670048"/>
            <a:ext cx="292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958584" y="267004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监察委行使国家监察职能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92824" y="3429000"/>
            <a:ext cx="292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958584" y="342900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法院行使审判权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592824" y="4187952"/>
            <a:ext cx="292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958584" y="418795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检察院是法律监督机关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291072"/>
            <a:ext cx="10872216" cy="10973"/>
          </a:xfrm>
          <a:prstGeom prst="rect">
            <a:avLst/>
          </a:prstGeom>
          <a:solidFill>
            <a:srgbClr val="D9D9D3"/>
          </a:solidFill>
          <a:ln w="12700">
            <a:solidFill>
              <a:srgbClr val="D9D9D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391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宪法学  ·  第7讲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49040" y="63916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《宪法》第79—84、93—95、112条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149840" y="6391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530352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其他机关也要在图上有位置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68096" y="1783080"/>
            <a:ext cx="10652760" cy="10881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" y="1783080"/>
            <a:ext cx="77724" cy="1088136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1929384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719072" y="1874520"/>
            <a:ext cx="9281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国家主席：先读第79—84条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768096" y="3026664"/>
            <a:ext cx="10652760" cy="10881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8096" y="3026664"/>
            <a:ext cx="77724" cy="1088136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3172968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719072" y="3118104"/>
            <a:ext cx="9281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中央军委：注意主席负责制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768096" y="4270248"/>
            <a:ext cx="10652760" cy="10881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" y="4270248"/>
            <a:ext cx="77724" cy="1088136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4416552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719072" y="4361688"/>
            <a:ext cx="9281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地方人大、政府及自治机关：先看关系</a:t>
            </a:r>
            <a:endParaRPr 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291072"/>
            <a:ext cx="10872216" cy="10973"/>
          </a:xfrm>
          <a:prstGeom prst="rect">
            <a:avLst/>
          </a:prstGeom>
          <a:solidFill>
            <a:srgbClr val="D9D9D3"/>
          </a:solidFill>
          <a:ln w="12700">
            <a:solidFill>
              <a:srgbClr val="D9D9D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391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宪法学  ·  第7讲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49040" y="63916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《宪法》第140条；本讲教学分析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149840" y="6391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530352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公安专业需要守住的边界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68096" y="1783080"/>
            <a:ext cx="10652760" cy="10881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" y="1783080"/>
            <a:ext cx="77724" cy="1088136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1929384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719072" y="1874520"/>
            <a:ext cx="9281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宪法第140条说明刑事案件中的机关关系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768096" y="3026664"/>
            <a:ext cx="10652760" cy="10881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8096" y="3026664"/>
            <a:ext cx="77724" cy="1088136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3172968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719072" y="3118104"/>
            <a:ext cx="9281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具体侦查、盘查等权限要继续查法律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768096" y="4270248"/>
            <a:ext cx="10652760" cy="10881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" y="4270248"/>
            <a:ext cx="77724" cy="1088136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4416552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719072" y="4361688"/>
            <a:ext cx="9281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机关地位不能代替具体行为的授权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291072"/>
            <a:ext cx="10872216" cy="10973"/>
          </a:xfrm>
          <a:prstGeom prst="rect">
            <a:avLst/>
          </a:prstGeom>
          <a:solidFill>
            <a:srgbClr val="D9D9D3"/>
          </a:solidFill>
          <a:ln w="12700">
            <a:solidFill>
              <a:srgbClr val="D9D9D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391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宪法学  ·  第7讲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49040" y="63916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《宪法》第3条；课堂练习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149840" y="6391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530352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课堂练习：补全机构图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31520" y="1197864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按《宪法》第3条填机关名称和关系方向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42232" y="1847088"/>
            <a:ext cx="3913632" cy="832104"/>
          </a:xfrm>
          <a:prstGeom prst="rect">
            <a:avLst/>
          </a:prstGeom>
          <a:solidFill>
            <a:srgbClr val="142735"/>
          </a:solidFill>
          <a:ln w="12700">
            <a:solidFill>
              <a:srgbClr val="142735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70832" y="2029968"/>
            <a:ext cx="34564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相应的人民代表大会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6080760" y="2679192"/>
            <a:ext cx="21946" cy="557784"/>
          </a:xfrm>
          <a:prstGeom prst="rect">
            <a:avLst/>
          </a:prstGeom>
          <a:solidFill>
            <a:srgbClr val="64717A"/>
          </a:solidFill>
          <a:ln w="12700">
            <a:solidFill>
              <a:srgbClr val="64717A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85416" y="3218688"/>
            <a:ext cx="7818120" cy="21946"/>
          </a:xfrm>
          <a:prstGeom prst="rect">
            <a:avLst/>
          </a:prstGeom>
          <a:solidFill>
            <a:srgbClr val="64717A"/>
          </a:solidFill>
          <a:ln w="12700">
            <a:solidFill>
              <a:srgbClr val="64717A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68296" y="3218688"/>
            <a:ext cx="21946" cy="566928"/>
          </a:xfrm>
          <a:prstGeom prst="rect">
            <a:avLst/>
          </a:prstGeom>
          <a:solidFill>
            <a:srgbClr val="64717A"/>
          </a:solidFill>
          <a:ln w="12700">
            <a:solidFill>
              <a:srgbClr val="64717A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3767328"/>
            <a:ext cx="3008376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128" y="3986784"/>
            <a:ext cx="2642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（填写）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687568" y="3218688"/>
            <a:ext cx="21946" cy="566928"/>
          </a:xfrm>
          <a:prstGeom prst="rect">
            <a:avLst/>
          </a:prstGeom>
          <a:solidFill>
            <a:srgbClr val="64717A"/>
          </a:solidFill>
          <a:ln w="12700">
            <a:solidFill>
              <a:srgbClr val="64717A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0520" y="3767328"/>
            <a:ext cx="3008376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43400" y="3986784"/>
            <a:ext cx="2642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（填写）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006840" y="3218688"/>
            <a:ext cx="21946" cy="566928"/>
          </a:xfrm>
          <a:prstGeom prst="rect">
            <a:avLst/>
          </a:prstGeom>
          <a:solidFill>
            <a:srgbClr val="64717A"/>
          </a:solidFill>
          <a:ln w="12700">
            <a:solidFill>
              <a:srgbClr val="64717A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79792" y="3767328"/>
            <a:ext cx="3008376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62672" y="3986784"/>
            <a:ext cx="2642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（填写）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77824" y="5358384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补机关名称与关系方向；注意机关设置依层级而异。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291072"/>
            <a:ext cx="10872216" cy="10973"/>
          </a:xfrm>
          <a:prstGeom prst="rect">
            <a:avLst/>
          </a:prstGeom>
          <a:solidFill>
            <a:srgbClr val="D9D9D3"/>
          </a:solidFill>
          <a:ln w="12700">
            <a:solidFill>
              <a:srgbClr val="D9D9D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391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宪法学  ·  第7讲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49040" y="63916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《宪法》第3章；课堂虚构情境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149840" y="6391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530352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再用两项事项检验机构图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68096" y="1737360"/>
            <a:ext cx="10652760" cy="1371600"/>
          </a:xfrm>
          <a:prstGeom prst="rect">
            <a:avLst/>
          </a:prstGeom>
          <a:solidFill>
            <a:srgbClr val="142735"/>
          </a:solidFill>
          <a:ln w="12700">
            <a:solidFill>
              <a:srgbClr val="14273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1965960"/>
            <a:ext cx="10012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事项A：地方公共事务需决定并执行。事项B：某案件进入审判与检察环节。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768096" y="3419856"/>
            <a:ext cx="106527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493008"/>
            <a:ext cx="9829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 给事项A标出人大与政府的关系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68096" y="4178808"/>
            <a:ext cx="106527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4251960"/>
            <a:ext cx="9829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 给事项B标出审判、检察机关的位置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68096" y="4937760"/>
            <a:ext cx="106527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5010912"/>
            <a:ext cx="9829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 若涉及具体公安措施，写出仍需查什么法律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291072"/>
            <a:ext cx="10872216" cy="10973"/>
          </a:xfrm>
          <a:prstGeom prst="rect">
            <a:avLst/>
          </a:prstGeom>
          <a:solidFill>
            <a:srgbClr val="D9D9D3"/>
          </a:solidFill>
          <a:ln w="12700">
            <a:solidFill>
              <a:srgbClr val="D9D9D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391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宪法学  ·  第7讲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49040" y="63916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《宪法》第57、62、67、140条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149840" y="6391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530352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这一讲留下三个判断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77240" y="1755648"/>
            <a:ext cx="10643616" cy="987552"/>
          </a:xfrm>
          <a:prstGeom prst="rect">
            <a:avLst/>
          </a:prstGeom>
          <a:solidFill>
            <a:srgbClr val="142735"/>
          </a:solidFill>
          <a:ln w="12700">
            <a:solidFill>
              <a:srgbClr val="14273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2002536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BC8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64208" y="1911096"/>
            <a:ext cx="934516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全国人大是最高国家权力机关；常委会是其常设机关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777240" y="2999232"/>
            <a:ext cx="10643616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3246120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64208" y="3154680"/>
            <a:ext cx="934516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国家机关要在宪法规定的关系中履职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777240" y="4242816"/>
            <a:ext cx="10643616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4489704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664208" y="4398264"/>
            <a:ext cx="934516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宪法机构地位与具体执法权限分开核对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宪法学 第7讲 国家机构</dc:title>
  <dc:subject>公安专业一年级宪法学课程</dc:subject>
  <dc:creator>宪法学课程教学组</dc:creator>
  <cp:lastModifiedBy>宪法学课程教学组</cp:lastModifiedBy>
  <cp:revision>1</cp:revision>
  <dcterms:created xsi:type="dcterms:W3CDTF">2026-09-26T15:25:05Z</dcterms:created>
  <dcterms:modified xsi:type="dcterms:W3CDTF">2026-09-26T15:25:05Z</dcterms:modified>
</cp:coreProperties>
</file>