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第3讲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《宪法学》第3讲教学设计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1 / 13</a:t>
            </a:r>
            <a:endParaRPr lang="en-US" sz="1100" dirty="0"/>
          </a:p>
        </p:txBody>
      </p:sp>
      <p:sp>
        <p:nvSpPr>
          <p:cNvPr id="7" name="Shape 5"/>
          <p:cNvSpPr/>
          <p:nvPr/>
        </p:nvSpPr>
        <p:spPr>
          <a:xfrm>
            <a:off x="0" y="0"/>
            <a:ext cx="12191695" cy="6858000"/>
          </a:xfrm>
          <a:prstGeom prst="rect">
            <a:avLst/>
          </a:prstGeom>
          <a:solidFill>
            <a:srgbClr val="142735"/>
          </a:solidFill>
          <a:ln w="12700">
            <a:solidFill>
              <a:srgbClr val="142735">
                <a:alpha val="0"/>
              </a:srgbClr>
            </a:solidFill>
            <a:prstDash val="solid"/>
          </a:ln>
        </p:spPr>
      </p:sp>
      <p:sp>
        <p:nvSpPr>
          <p:cNvPr id="8" name="Shape 6"/>
          <p:cNvSpPr/>
          <p:nvPr/>
        </p:nvSpPr>
        <p:spPr>
          <a:xfrm>
            <a:off x="594360" y="932688"/>
            <a:ext cx="128016" cy="4535424"/>
          </a:xfrm>
          <a:prstGeom prst="rect">
            <a:avLst/>
          </a:prstGeom>
          <a:solidFill>
            <a:srgbClr val="B13D38"/>
          </a:solidFill>
          <a:ln w="12700">
            <a:solidFill>
              <a:srgbClr val="B13D38">
                <a:alpha val="0"/>
              </a:srgbClr>
            </a:solidFill>
            <a:prstDash val="solid"/>
          </a:ln>
        </p:spPr>
      </p:sp>
      <p:sp>
        <p:nvSpPr>
          <p:cNvPr id="9" name="Text 7"/>
          <p:cNvSpPr/>
          <p:nvPr/>
        </p:nvSpPr>
        <p:spPr>
          <a:xfrm>
            <a:off x="850392" y="713232"/>
            <a:ext cx="1645920" cy="749808"/>
          </a:xfrm>
          <a:prstGeom prst="rect">
            <a:avLst/>
          </a:prstGeom>
          <a:noFill/>
          <a:ln/>
        </p:spPr>
        <p:txBody>
          <a:bodyPr wrap="square" lIns="0" tIns="0" rIns="0" bIns="0" rtlCol="0" anchor="ctr">
            <a:normAutofit/>
          </a:bodyPr>
          <a:lstStyle/>
          <a:p>
            <a:pPr indent="0" marL="0">
              <a:buNone/>
            </a:pPr>
            <a:r>
              <a:rPr lang="en-US" sz="4900" b="1" dirty="0">
                <a:solidFill>
                  <a:srgbClr val="B13D38"/>
                </a:solidFill>
                <a:latin typeface="Microsoft YaHei" pitchFamily="34" charset="0"/>
                <a:ea typeface="Microsoft YaHei" pitchFamily="34" charset="-122"/>
                <a:cs typeface="Microsoft YaHei" pitchFamily="34" charset="-120"/>
              </a:rPr>
              <a:t>03</a:t>
            </a:r>
            <a:endParaRPr lang="en-US" sz="4900" dirty="0"/>
          </a:p>
        </p:txBody>
      </p:sp>
      <p:sp>
        <p:nvSpPr>
          <p:cNvPr id="10" name="Text 8"/>
          <p:cNvSpPr/>
          <p:nvPr/>
        </p:nvSpPr>
        <p:spPr>
          <a:xfrm>
            <a:off x="914400" y="1691640"/>
            <a:ext cx="4572000" cy="475488"/>
          </a:xfrm>
          <a:prstGeom prst="rect">
            <a:avLst/>
          </a:prstGeom>
          <a:noFill/>
          <a:ln/>
        </p:spPr>
        <p:txBody>
          <a:bodyPr wrap="square" lIns="0" tIns="0" rIns="0" bIns="0" rtlCol="0" anchor="ctr">
            <a:normAutofit/>
          </a:bodyPr>
          <a:lstStyle/>
          <a:p>
            <a:pPr indent="0" marL="0">
              <a:buNone/>
            </a:pPr>
            <a:r>
              <a:rPr lang="en-US" sz="2100" dirty="0">
                <a:solidFill>
                  <a:srgbClr val="D9D5CA"/>
                </a:solidFill>
                <a:latin typeface="Microsoft YaHei" pitchFamily="34" charset="0"/>
                <a:ea typeface="Microsoft YaHei" pitchFamily="34" charset="-122"/>
                <a:cs typeface="Microsoft YaHei" pitchFamily="34" charset="-120"/>
              </a:rPr>
              <a:t>宪法学</a:t>
            </a:r>
            <a:endParaRPr lang="en-US" sz="2100" dirty="0"/>
          </a:p>
        </p:txBody>
      </p:sp>
      <p:sp>
        <p:nvSpPr>
          <p:cNvPr id="11" name="Text 9"/>
          <p:cNvSpPr/>
          <p:nvPr/>
        </p:nvSpPr>
        <p:spPr>
          <a:xfrm>
            <a:off x="896112" y="2267712"/>
            <a:ext cx="10424160" cy="987552"/>
          </a:xfrm>
          <a:prstGeom prst="rect">
            <a:avLst/>
          </a:prstGeom>
          <a:noFill/>
          <a:ln/>
        </p:spPr>
        <p:txBody>
          <a:bodyPr wrap="square" lIns="0" tIns="0" rIns="0" bIns="0" rtlCol="0" anchor="ctr">
            <a:normAutofit/>
          </a:bodyPr>
          <a:lstStyle/>
          <a:p>
            <a:pPr indent="0" marL="0">
              <a:buNone/>
            </a:pPr>
            <a:r>
              <a:rPr lang="en-US" sz="3900" b="1" dirty="0">
                <a:solidFill>
                  <a:srgbClr val="FFFFFF"/>
                </a:solidFill>
                <a:latin typeface="Microsoft YaHei" pitchFamily="34" charset="0"/>
                <a:ea typeface="Microsoft YaHei" pitchFamily="34" charset="-122"/>
                <a:cs typeface="Microsoft YaHei" pitchFamily="34" charset="-120"/>
              </a:rPr>
              <a:t>国家性质与国家形式</a:t>
            </a:r>
            <a:endParaRPr lang="en-US" sz="3900" dirty="0"/>
          </a:p>
        </p:txBody>
      </p:sp>
      <p:sp>
        <p:nvSpPr>
          <p:cNvPr id="12" name="Text 10"/>
          <p:cNvSpPr/>
          <p:nvPr/>
        </p:nvSpPr>
        <p:spPr>
          <a:xfrm>
            <a:off x="914400" y="3675888"/>
            <a:ext cx="9966960" cy="713232"/>
          </a:xfrm>
          <a:prstGeom prst="rect">
            <a:avLst/>
          </a:prstGeom>
          <a:noFill/>
          <a:ln/>
        </p:spPr>
        <p:txBody>
          <a:bodyPr wrap="square" lIns="0" tIns="0" rIns="0" bIns="0" rtlCol="0" anchor="ctr">
            <a:normAutofit/>
          </a:bodyPr>
          <a:lstStyle/>
          <a:p>
            <a:pPr indent="0" marL="0">
              <a:buNone/>
            </a:pPr>
            <a:r>
              <a:rPr lang="en-US" sz="2300" dirty="0">
                <a:solidFill>
                  <a:srgbClr val="E8E3D9"/>
                </a:solidFill>
                <a:latin typeface="Microsoft YaHei" pitchFamily="34" charset="0"/>
                <a:ea typeface="Microsoft YaHei" pitchFamily="34" charset="-122"/>
                <a:cs typeface="Microsoft YaHei" pitchFamily="34" charset="-120"/>
              </a:rPr>
              <a:t>第3讲｜宪法确立了怎样的国家？</a:t>
            </a:r>
            <a:endParaRPr lang="en-US" sz="2300" dirty="0"/>
          </a:p>
        </p:txBody>
      </p:sp>
      <p:sp>
        <p:nvSpPr>
          <p:cNvPr id="13" name="Text 11"/>
          <p:cNvSpPr/>
          <p:nvPr/>
        </p:nvSpPr>
        <p:spPr>
          <a:xfrm>
            <a:off x="914400" y="6007608"/>
            <a:ext cx="4572000" cy="274320"/>
          </a:xfrm>
          <a:prstGeom prst="rect">
            <a:avLst/>
          </a:prstGeom>
          <a:noFill/>
          <a:ln/>
        </p:spPr>
        <p:txBody>
          <a:bodyPr wrap="square" lIns="0" tIns="0" rIns="0" bIns="0" rtlCol="0" anchor="ctr">
            <a:normAutofit/>
          </a:bodyPr>
          <a:lstStyle/>
          <a:p>
            <a:pPr indent="0" marL="0">
              <a:buNone/>
            </a:pPr>
            <a:r>
              <a:rPr lang="en-US" sz="1300" dirty="0">
                <a:solidFill>
                  <a:srgbClr val="BBB9B3"/>
                </a:solidFill>
                <a:latin typeface="Microsoft YaHei" pitchFamily="34" charset="0"/>
                <a:ea typeface="Microsoft YaHei" pitchFamily="34" charset="-122"/>
                <a:cs typeface="Microsoft YaHei" pitchFamily="34" charset="-120"/>
              </a:rPr>
              <a:t>公安专业一年级  ·  两学时</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第3讲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《宪法学》第3讲教学设计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2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本讲回答三个问题</a:t>
            </a:r>
            <a:endParaRPr lang="en-US" sz="3000" dirty="0"/>
          </a:p>
        </p:txBody>
      </p:sp>
      <p:sp>
        <p:nvSpPr>
          <p:cNvPr id="8" name="Text 6"/>
          <p:cNvSpPr/>
          <p:nvPr/>
        </p:nvSpPr>
        <p:spPr>
          <a:xfrm>
            <a:off x="731520" y="1197864"/>
            <a:ext cx="10698480" cy="384048"/>
          </a:xfrm>
          <a:prstGeom prst="rect">
            <a:avLst/>
          </a:prstGeom>
          <a:noFill/>
          <a:ln/>
        </p:spPr>
        <p:txBody>
          <a:bodyPr wrap="square" lIns="0" tIns="0" rIns="0" bIns="0" rtlCol="0" anchor="ctr">
            <a:normAutofit/>
          </a:bodyPr>
          <a:lstStyle/>
          <a:p>
            <a:pPr indent="0" marL="0">
              <a:buNone/>
            </a:pPr>
            <a:r>
              <a:rPr lang="en-US" sz="1400" dirty="0">
                <a:solidFill>
                  <a:srgbClr val="64717A"/>
                </a:solidFill>
                <a:latin typeface="Microsoft YaHei" pitchFamily="34" charset="0"/>
                <a:ea typeface="Microsoft YaHei" pitchFamily="34" charset="-122"/>
                <a:cs typeface="Microsoft YaHei" pitchFamily="34" charset="-120"/>
              </a:rPr>
              <a:t>第一学时</a:t>
            </a:r>
            <a:endParaRPr lang="en-US" sz="1400" dirty="0"/>
          </a:p>
        </p:txBody>
      </p:sp>
      <p:sp>
        <p:nvSpPr>
          <p:cNvPr id="9" name="Shape 7"/>
          <p:cNvSpPr/>
          <p:nvPr/>
        </p:nvSpPr>
        <p:spPr>
          <a:xfrm>
            <a:off x="768096" y="1783080"/>
            <a:ext cx="10652760" cy="1088136"/>
          </a:xfrm>
          <a:prstGeom prst="rect">
            <a:avLst/>
          </a:prstGeom>
          <a:solidFill>
            <a:srgbClr val="FFFFFF"/>
          </a:solidFill>
          <a:ln w="12700">
            <a:solidFill>
              <a:srgbClr val="D9D9D3"/>
            </a:solidFill>
            <a:prstDash val="solid"/>
          </a:ln>
        </p:spPr>
      </p:sp>
      <p:sp>
        <p:nvSpPr>
          <p:cNvPr id="10" name="Shape 8"/>
          <p:cNvSpPr/>
          <p:nvPr/>
        </p:nvSpPr>
        <p:spPr>
          <a:xfrm>
            <a:off x="768096" y="1783080"/>
            <a:ext cx="77724" cy="1088136"/>
          </a:xfrm>
          <a:prstGeom prst="rect">
            <a:avLst/>
          </a:prstGeom>
          <a:solidFill>
            <a:srgbClr val="B13D38"/>
          </a:solidFill>
          <a:ln w="12700">
            <a:solidFill>
              <a:srgbClr val="B13D38">
                <a:alpha val="0"/>
              </a:srgbClr>
            </a:solidFill>
            <a:prstDash val="solid"/>
          </a:ln>
        </p:spPr>
      </p:sp>
      <p:sp>
        <p:nvSpPr>
          <p:cNvPr id="11" name="Text 9"/>
          <p:cNvSpPr/>
          <p:nvPr/>
        </p:nvSpPr>
        <p:spPr>
          <a:xfrm>
            <a:off x="1042416" y="1929384"/>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01</a:t>
            </a:r>
            <a:endParaRPr lang="en-US" sz="1900" dirty="0"/>
          </a:p>
        </p:txBody>
      </p:sp>
      <p:sp>
        <p:nvSpPr>
          <p:cNvPr id="12" name="Text 10"/>
          <p:cNvSpPr/>
          <p:nvPr/>
        </p:nvSpPr>
        <p:spPr>
          <a:xfrm>
            <a:off x="1719072" y="1874520"/>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国家是什么：国体</a:t>
            </a:r>
            <a:endParaRPr lang="en-US" sz="2100" dirty="0"/>
          </a:p>
        </p:txBody>
      </p:sp>
      <p:sp>
        <p:nvSpPr>
          <p:cNvPr id="13" name="Shape 11"/>
          <p:cNvSpPr/>
          <p:nvPr/>
        </p:nvSpPr>
        <p:spPr>
          <a:xfrm>
            <a:off x="768096" y="3026664"/>
            <a:ext cx="10652760" cy="1088136"/>
          </a:xfrm>
          <a:prstGeom prst="rect">
            <a:avLst/>
          </a:prstGeom>
          <a:solidFill>
            <a:srgbClr val="FFFFFF"/>
          </a:solidFill>
          <a:ln w="12700">
            <a:solidFill>
              <a:srgbClr val="D9D9D3"/>
            </a:solidFill>
            <a:prstDash val="solid"/>
          </a:ln>
        </p:spPr>
      </p:sp>
      <p:sp>
        <p:nvSpPr>
          <p:cNvPr id="14" name="Shape 12"/>
          <p:cNvSpPr/>
          <p:nvPr/>
        </p:nvSpPr>
        <p:spPr>
          <a:xfrm>
            <a:off x="768096" y="3026664"/>
            <a:ext cx="77724" cy="1088136"/>
          </a:xfrm>
          <a:prstGeom prst="rect">
            <a:avLst/>
          </a:prstGeom>
          <a:solidFill>
            <a:srgbClr val="B13D38"/>
          </a:solidFill>
          <a:ln w="12700">
            <a:solidFill>
              <a:srgbClr val="B13D38">
                <a:alpha val="0"/>
              </a:srgbClr>
            </a:solidFill>
            <a:prstDash val="solid"/>
          </a:ln>
        </p:spPr>
      </p:sp>
      <p:sp>
        <p:nvSpPr>
          <p:cNvPr id="15" name="Text 13"/>
          <p:cNvSpPr/>
          <p:nvPr/>
        </p:nvSpPr>
        <p:spPr>
          <a:xfrm>
            <a:off x="1042416" y="3172968"/>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02</a:t>
            </a:r>
            <a:endParaRPr lang="en-US" sz="1900" dirty="0"/>
          </a:p>
        </p:txBody>
      </p:sp>
      <p:sp>
        <p:nvSpPr>
          <p:cNvPr id="16" name="Text 14"/>
          <p:cNvSpPr/>
          <p:nvPr/>
        </p:nvSpPr>
        <p:spPr>
          <a:xfrm>
            <a:off x="1719072" y="3118104"/>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人民如何行使权力：政体</a:t>
            </a:r>
            <a:endParaRPr lang="en-US" sz="2100" dirty="0"/>
          </a:p>
        </p:txBody>
      </p:sp>
      <p:sp>
        <p:nvSpPr>
          <p:cNvPr id="17" name="Shape 15"/>
          <p:cNvSpPr/>
          <p:nvPr/>
        </p:nvSpPr>
        <p:spPr>
          <a:xfrm>
            <a:off x="768096" y="4270248"/>
            <a:ext cx="10652760" cy="1088136"/>
          </a:xfrm>
          <a:prstGeom prst="rect">
            <a:avLst/>
          </a:prstGeom>
          <a:solidFill>
            <a:srgbClr val="FFFFFF"/>
          </a:solidFill>
          <a:ln w="12700">
            <a:solidFill>
              <a:srgbClr val="D9D9D3"/>
            </a:solidFill>
            <a:prstDash val="solid"/>
          </a:ln>
        </p:spPr>
      </p:sp>
      <p:sp>
        <p:nvSpPr>
          <p:cNvPr id="18" name="Shape 16"/>
          <p:cNvSpPr/>
          <p:nvPr/>
        </p:nvSpPr>
        <p:spPr>
          <a:xfrm>
            <a:off x="768096" y="4270248"/>
            <a:ext cx="77724" cy="1088136"/>
          </a:xfrm>
          <a:prstGeom prst="rect">
            <a:avLst/>
          </a:prstGeom>
          <a:solidFill>
            <a:srgbClr val="B13D38"/>
          </a:solidFill>
          <a:ln w="12700">
            <a:solidFill>
              <a:srgbClr val="B13D38">
                <a:alpha val="0"/>
              </a:srgbClr>
            </a:solidFill>
            <a:prstDash val="solid"/>
          </a:ln>
        </p:spPr>
      </p:sp>
      <p:sp>
        <p:nvSpPr>
          <p:cNvPr id="19" name="Text 17"/>
          <p:cNvSpPr/>
          <p:nvPr/>
        </p:nvSpPr>
        <p:spPr>
          <a:xfrm>
            <a:off x="1042416" y="4416552"/>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03</a:t>
            </a:r>
            <a:endParaRPr lang="en-US" sz="1900" dirty="0"/>
          </a:p>
        </p:txBody>
      </p:sp>
      <p:sp>
        <p:nvSpPr>
          <p:cNvPr id="20" name="Text 18"/>
          <p:cNvSpPr/>
          <p:nvPr/>
        </p:nvSpPr>
        <p:spPr>
          <a:xfrm>
            <a:off x="1719072" y="4361688"/>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国家与地方如何安排：国家结构</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第3讲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《中华人民共和国宪法》第1条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3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从第1条读国家性质</a:t>
            </a:r>
            <a:endParaRPr lang="en-US" sz="3000" dirty="0"/>
          </a:p>
        </p:txBody>
      </p:sp>
      <p:sp>
        <p:nvSpPr>
          <p:cNvPr id="8" name="Shape 6"/>
          <p:cNvSpPr/>
          <p:nvPr/>
        </p:nvSpPr>
        <p:spPr>
          <a:xfrm>
            <a:off x="768096" y="1764792"/>
            <a:ext cx="10652760" cy="4078224"/>
          </a:xfrm>
          <a:prstGeom prst="rect">
            <a:avLst/>
          </a:prstGeom>
          <a:solidFill>
            <a:srgbClr val="FFFFFF"/>
          </a:solidFill>
          <a:ln w="12700">
            <a:solidFill>
              <a:srgbClr val="D9D9D3"/>
            </a:solidFill>
            <a:prstDash val="solid"/>
          </a:ln>
        </p:spPr>
      </p:sp>
      <p:sp>
        <p:nvSpPr>
          <p:cNvPr id="9" name="Shape 7"/>
          <p:cNvSpPr/>
          <p:nvPr/>
        </p:nvSpPr>
        <p:spPr>
          <a:xfrm>
            <a:off x="768096" y="1764792"/>
            <a:ext cx="91440" cy="4078224"/>
          </a:xfrm>
          <a:prstGeom prst="rect">
            <a:avLst/>
          </a:prstGeom>
          <a:solidFill>
            <a:srgbClr val="B13D38"/>
          </a:solidFill>
          <a:ln w="12700">
            <a:solidFill>
              <a:srgbClr val="B13D38">
                <a:alpha val="0"/>
              </a:srgbClr>
            </a:solidFill>
            <a:prstDash val="solid"/>
          </a:ln>
        </p:spPr>
      </p:sp>
      <p:sp>
        <p:nvSpPr>
          <p:cNvPr id="10" name="Text 8"/>
          <p:cNvSpPr/>
          <p:nvPr/>
        </p:nvSpPr>
        <p:spPr>
          <a:xfrm>
            <a:off x="1124712" y="1993392"/>
            <a:ext cx="822960" cy="640080"/>
          </a:xfrm>
          <a:prstGeom prst="rect">
            <a:avLst/>
          </a:prstGeom>
          <a:noFill/>
          <a:ln/>
        </p:spPr>
        <p:txBody>
          <a:bodyPr wrap="square" lIns="0" tIns="0" rIns="0" bIns="0" rtlCol="0" anchor="ctr">
            <a:normAutofit/>
          </a:bodyPr>
          <a:lstStyle/>
          <a:p>
            <a:pPr indent="0" marL="0">
              <a:buNone/>
            </a:pPr>
            <a:r>
              <a:rPr lang="en-US" sz="6300" dirty="0">
                <a:solidFill>
                  <a:srgbClr val="B13D38"/>
                </a:solidFill>
                <a:latin typeface="SimSun" pitchFamily="34" charset="0"/>
                <a:ea typeface="SimSun" pitchFamily="34" charset="-122"/>
                <a:cs typeface="SimSun" pitchFamily="34" charset="-120"/>
              </a:rPr>
              <a:t>“</a:t>
            </a:r>
            <a:endParaRPr lang="en-US" sz="6300" dirty="0"/>
          </a:p>
        </p:txBody>
      </p:sp>
      <p:sp>
        <p:nvSpPr>
          <p:cNvPr id="11" name="Text 9"/>
          <p:cNvSpPr/>
          <p:nvPr/>
        </p:nvSpPr>
        <p:spPr>
          <a:xfrm>
            <a:off x="1737360" y="2377440"/>
            <a:ext cx="9006840" cy="2148840"/>
          </a:xfrm>
          <a:prstGeom prst="rect">
            <a:avLst/>
          </a:prstGeom>
          <a:noFill/>
          <a:ln/>
        </p:spPr>
        <p:txBody>
          <a:bodyPr wrap="square" lIns="0" tIns="0" rIns="0" bIns="0" rtlCol="0" anchor="ctr">
            <a:normAutofit/>
          </a:bodyPr>
          <a:lstStyle/>
          <a:p>
            <a:pPr indent="0" marL="0">
              <a:buNone/>
            </a:pPr>
            <a:r>
              <a:rPr lang="en-US" sz="2900" b="1" dirty="0">
                <a:solidFill>
                  <a:srgbClr val="142735"/>
                </a:solidFill>
                <a:latin typeface="Microsoft YaHei" pitchFamily="34" charset="0"/>
                <a:ea typeface="Microsoft YaHei" pitchFamily="34" charset="-122"/>
                <a:cs typeface="Microsoft YaHei" pitchFamily="34" charset="-120"/>
              </a:rPr>
              <a:t>中华人民共和国是工人阶级领导的、以工农联盟为基础的人民民主专政的社会主义国家。</a:t>
            </a:r>
            <a:endParaRPr lang="en-US" sz="2900" dirty="0"/>
          </a:p>
        </p:txBody>
      </p:sp>
      <p:sp>
        <p:nvSpPr>
          <p:cNvPr id="12" name="Text 10"/>
          <p:cNvSpPr/>
          <p:nvPr/>
        </p:nvSpPr>
        <p:spPr>
          <a:xfrm>
            <a:off x="1828800" y="4965192"/>
            <a:ext cx="8869680" cy="384048"/>
          </a:xfrm>
          <a:prstGeom prst="rect">
            <a:avLst/>
          </a:prstGeom>
          <a:noFill/>
          <a:ln/>
        </p:spPr>
        <p:txBody>
          <a:bodyPr wrap="square" lIns="0" tIns="0" rIns="0" bIns="0" rtlCol="0" anchor="ctr">
            <a:normAutofit/>
          </a:bodyPr>
          <a:lstStyle/>
          <a:p>
            <a:pPr algn="r" indent="0" marL="0">
              <a:buNone/>
            </a:pPr>
            <a:r>
              <a:rPr lang="en-US" sz="1600" dirty="0">
                <a:solidFill>
                  <a:srgbClr val="64717A"/>
                </a:solidFill>
                <a:latin typeface="Microsoft YaHei" pitchFamily="34" charset="0"/>
                <a:ea typeface="Microsoft YaHei" pitchFamily="34" charset="-122"/>
                <a:cs typeface="Microsoft YaHei" pitchFamily="34" charset="-120"/>
              </a:rPr>
              <a:t>《中华人民共和国宪法》第1条</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第3讲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《中华人民共和国宪法》第2条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4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从第2条读权力归属</a:t>
            </a:r>
            <a:endParaRPr lang="en-US" sz="3000" dirty="0"/>
          </a:p>
        </p:txBody>
      </p:sp>
      <p:sp>
        <p:nvSpPr>
          <p:cNvPr id="8" name="Shape 6"/>
          <p:cNvSpPr/>
          <p:nvPr/>
        </p:nvSpPr>
        <p:spPr>
          <a:xfrm>
            <a:off x="768096" y="1764792"/>
            <a:ext cx="10652760" cy="4078224"/>
          </a:xfrm>
          <a:prstGeom prst="rect">
            <a:avLst/>
          </a:prstGeom>
          <a:solidFill>
            <a:srgbClr val="FFFFFF"/>
          </a:solidFill>
          <a:ln w="12700">
            <a:solidFill>
              <a:srgbClr val="D9D9D3"/>
            </a:solidFill>
            <a:prstDash val="solid"/>
          </a:ln>
        </p:spPr>
      </p:sp>
      <p:sp>
        <p:nvSpPr>
          <p:cNvPr id="9" name="Shape 7"/>
          <p:cNvSpPr/>
          <p:nvPr/>
        </p:nvSpPr>
        <p:spPr>
          <a:xfrm>
            <a:off x="768096" y="1764792"/>
            <a:ext cx="91440" cy="4078224"/>
          </a:xfrm>
          <a:prstGeom prst="rect">
            <a:avLst/>
          </a:prstGeom>
          <a:solidFill>
            <a:srgbClr val="B13D38"/>
          </a:solidFill>
          <a:ln w="12700">
            <a:solidFill>
              <a:srgbClr val="B13D38">
                <a:alpha val="0"/>
              </a:srgbClr>
            </a:solidFill>
            <a:prstDash val="solid"/>
          </a:ln>
        </p:spPr>
      </p:sp>
      <p:sp>
        <p:nvSpPr>
          <p:cNvPr id="10" name="Text 8"/>
          <p:cNvSpPr/>
          <p:nvPr/>
        </p:nvSpPr>
        <p:spPr>
          <a:xfrm>
            <a:off x="1124712" y="1993392"/>
            <a:ext cx="822960" cy="640080"/>
          </a:xfrm>
          <a:prstGeom prst="rect">
            <a:avLst/>
          </a:prstGeom>
          <a:noFill/>
          <a:ln/>
        </p:spPr>
        <p:txBody>
          <a:bodyPr wrap="square" lIns="0" tIns="0" rIns="0" bIns="0" rtlCol="0" anchor="ctr">
            <a:normAutofit/>
          </a:bodyPr>
          <a:lstStyle/>
          <a:p>
            <a:pPr indent="0" marL="0">
              <a:buNone/>
            </a:pPr>
            <a:r>
              <a:rPr lang="en-US" sz="6300" dirty="0">
                <a:solidFill>
                  <a:srgbClr val="B13D38"/>
                </a:solidFill>
                <a:latin typeface="SimSun" pitchFamily="34" charset="0"/>
                <a:ea typeface="SimSun" pitchFamily="34" charset="-122"/>
                <a:cs typeface="SimSun" pitchFamily="34" charset="-120"/>
              </a:rPr>
              <a:t>“</a:t>
            </a:r>
            <a:endParaRPr lang="en-US" sz="6300" dirty="0"/>
          </a:p>
        </p:txBody>
      </p:sp>
      <p:sp>
        <p:nvSpPr>
          <p:cNvPr id="11" name="Text 9"/>
          <p:cNvSpPr/>
          <p:nvPr/>
        </p:nvSpPr>
        <p:spPr>
          <a:xfrm>
            <a:off x="1737360" y="2377440"/>
            <a:ext cx="9006840" cy="2148840"/>
          </a:xfrm>
          <a:prstGeom prst="rect">
            <a:avLst/>
          </a:prstGeom>
          <a:noFill/>
          <a:ln/>
        </p:spPr>
        <p:txBody>
          <a:bodyPr wrap="square" lIns="0" tIns="0" rIns="0" bIns="0" rtlCol="0" anchor="ctr">
            <a:normAutofit/>
          </a:bodyPr>
          <a:lstStyle/>
          <a:p>
            <a:pPr indent="0" marL="0">
              <a:buNone/>
            </a:pPr>
            <a:r>
              <a:rPr lang="en-US" sz="2900" b="1" dirty="0">
                <a:solidFill>
                  <a:srgbClr val="142735"/>
                </a:solidFill>
                <a:latin typeface="Microsoft YaHei" pitchFamily="34" charset="0"/>
                <a:ea typeface="Microsoft YaHei" pitchFamily="34" charset="-122"/>
                <a:cs typeface="Microsoft YaHei" pitchFamily="34" charset="-120"/>
              </a:rPr>
              <a:t>中华人民共和国的一切权力属于人民。人民行使国家权力的机关是全国人民代表大会和地方各级人民代表大会。</a:t>
            </a:r>
            <a:endParaRPr lang="en-US" sz="2900" dirty="0"/>
          </a:p>
        </p:txBody>
      </p:sp>
      <p:sp>
        <p:nvSpPr>
          <p:cNvPr id="12" name="Text 10"/>
          <p:cNvSpPr/>
          <p:nvPr/>
        </p:nvSpPr>
        <p:spPr>
          <a:xfrm>
            <a:off x="1828800" y="4965192"/>
            <a:ext cx="8869680" cy="384048"/>
          </a:xfrm>
          <a:prstGeom prst="rect">
            <a:avLst/>
          </a:prstGeom>
          <a:noFill/>
          <a:ln/>
        </p:spPr>
        <p:txBody>
          <a:bodyPr wrap="square" lIns="0" tIns="0" rIns="0" bIns="0" rtlCol="0" anchor="ctr">
            <a:normAutofit/>
          </a:bodyPr>
          <a:lstStyle/>
          <a:p>
            <a:pPr algn="r" indent="0" marL="0">
              <a:buNone/>
            </a:pPr>
            <a:r>
              <a:rPr lang="en-US" sz="1600" dirty="0">
                <a:solidFill>
                  <a:srgbClr val="64717A"/>
                </a:solidFill>
                <a:latin typeface="Microsoft YaHei" pitchFamily="34" charset="0"/>
                <a:ea typeface="Microsoft YaHei" pitchFamily="34" charset="-122"/>
                <a:cs typeface="Microsoft YaHei" pitchFamily="34" charset="-120"/>
              </a:rPr>
              <a:t>《中华人民共和国宪法》第2条</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第3讲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《中华人民共和国宪法》第1—3条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5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国体与政体怎样相连</a:t>
            </a:r>
            <a:endParaRPr lang="en-US" sz="3000" dirty="0"/>
          </a:p>
        </p:txBody>
      </p:sp>
      <p:sp>
        <p:nvSpPr>
          <p:cNvPr id="8" name="Shape 6"/>
          <p:cNvSpPr/>
          <p:nvPr/>
        </p:nvSpPr>
        <p:spPr>
          <a:xfrm>
            <a:off x="768096" y="2231136"/>
            <a:ext cx="3441192" cy="2011680"/>
          </a:xfrm>
          <a:prstGeom prst="rect">
            <a:avLst/>
          </a:prstGeom>
          <a:solidFill>
            <a:srgbClr val="142735"/>
          </a:solidFill>
          <a:ln w="12700">
            <a:solidFill>
              <a:srgbClr val="142735">
                <a:alpha val="0"/>
              </a:srgbClr>
            </a:solidFill>
            <a:prstDash val="solid"/>
          </a:ln>
        </p:spPr>
      </p:sp>
      <p:sp>
        <p:nvSpPr>
          <p:cNvPr id="9" name="Text 7"/>
          <p:cNvSpPr/>
          <p:nvPr/>
        </p:nvSpPr>
        <p:spPr>
          <a:xfrm>
            <a:off x="950976" y="2432304"/>
            <a:ext cx="3075432" cy="411480"/>
          </a:xfrm>
          <a:prstGeom prst="rect">
            <a:avLst/>
          </a:prstGeom>
          <a:noFill/>
          <a:ln/>
        </p:spPr>
        <p:txBody>
          <a:bodyPr wrap="square" lIns="0" tIns="0" rIns="0" bIns="0" rtlCol="0" anchor="ctr">
            <a:normAutofit/>
          </a:bodyPr>
          <a:lstStyle/>
          <a:p>
            <a:pPr indent="0" marL="0">
              <a:buNone/>
            </a:pPr>
            <a:r>
              <a:rPr lang="en-US" sz="2000" b="1" dirty="0">
                <a:solidFill>
                  <a:srgbClr val="EBC8C3"/>
                </a:solidFill>
                <a:latin typeface="Microsoft YaHei" pitchFamily="34" charset="0"/>
                <a:ea typeface="Microsoft YaHei" pitchFamily="34" charset="-122"/>
                <a:cs typeface="Microsoft YaHei" pitchFamily="34" charset="-120"/>
              </a:rPr>
              <a:t>01</a:t>
            </a:r>
            <a:endParaRPr lang="en-US" sz="2000" dirty="0"/>
          </a:p>
        </p:txBody>
      </p:sp>
      <p:sp>
        <p:nvSpPr>
          <p:cNvPr id="10" name="Text 8"/>
          <p:cNvSpPr/>
          <p:nvPr/>
        </p:nvSpPr>
        <p:spPr>
          <a:xfrm>
            <a:off x="950976" y="2944368"/>
            <a:ext cx="3075432" cy="1024128"/>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Microsoft YaHei" pitchFamily="34" charset="0"/>
                <a:ea typeface="Microsoft YaHei" pitchFamily="34" charset="-122"/>
                <a:cs typeface="Microsoft YaHei" pitchFamily="34" charset="-120"/>
              </a:rPr>
              <a:t>第1条：确认国家性质</a:t>
            </a:r>
            <a:endParaRPr lang="en-US" sz="2100" dirty="0"/>
          </a:p>
        </p:txBody>
      </p:sp>
      <p:sp>
        <p:nvSpPr>
          <p:cNvPr id="11" name="Shape 9"/>
          <p:cNvSpPr/>
          <p:nvPr/>
        </p:nvSpPr>
        <p:spPr>
          <a:xfrm>
            <a:off x="4373880" y="2231136"/>
            <a:ext cx="3441192" cy="2011680"/>
          </a:xfrm>
          <a:prstGeom prst="rect">
            <a:avLst/>
          </a:prstGeom>
          <a:solidFill>
            <a:srgbClr val="FFFFFF"/>
          </a:solidFill>
          <a:ln w="12700">
            <a:solidFill>
              <a:srgbClr val="D9D9D3"/>
            </a:solidFill>
            <a:prstDash val="solid"/>
          </a:ln>
        </p:spPr>
      </p:sp>
      <p:sp>
        <p:nvSpPr>
          <p:cNvPr id="12" name="Text 10"/>
          <p:cNvSpPr/>
          <p:nvPr/>
        </p:nvSpPr>
        <p:spPr>
          <a:xfrm>
            <a:off x="4556760" y="2432304"/>
            <a:ext cx="3075432" cy="411480"/>
          </a:xfrm>
          <a:prstGeom prst="rect">
            <a:avLst/>
          </a:prstGeom>
          <a:noFill/>
          <a:ln/>
        </p:spPr>
        <p:txBody>
          <a:bodyPr wrap="square" lIns="0" tIns="0" rIns="0" bIns="0" rtlCol="0" anchor="ctr">
            <a:normAutofit/>
          </a:bodyPr>
          <a:lstStyle/>
          <a:p>
            <a:pPr indent="0" marL="0">
              <a:buNone/>
            </a:pPr>
            <a:r>
              <a:rPr lang="en-US" sz="2000" b="1" dirty="0">
                <a:solidFill>
                  <a:srgbClr val="B13D38"/>
                </a:solidFill>
                <a:latin typeface="Microsoft YaHei" pitchFamily="34" charset="0"/>
                <a:ea typeface="Microsoft YaHei" pitchFamily="34" charset="-122"/>
                <a:cs typeface="Microsoft YaHei" pitchFamily="34" charset="-120"/>
              </a:rPr>
              <a:t>02</a:t>
            </a:r>
            <a:endParaRPr lang="en-US" sz="2000" dirty="0"/>
          </a:p>
        </p:txBody>
      </p:sp>
      <p:sp>
        <p:nvSpPr>
          <p:cNvPr id="13" name="Text 11"/>
          <p:cNvSpPr/>
          <p:nvPr/>
        </p:nvSpPr>
        <p:spPr>
          <a:xfrm>
            <a:off x="4556760" y="2944368"/>
            <a:ext cx="3075432" cy="1024128"/>
          </a:xfrm>
          <a:prstGeom prst="rect">
            <a:avLst/>
          </a:prstGeom>
          <a:noFill/>
          <a:ln/>
        </p:spPr>
        <p:txBody>
          <a:bodyPr wrap="square" lIns="0" tIns="0" rIns="0" bIns="0" rtlCol="0" anchor="ctr">
            <a:normAutofit/>
          </a:bodyPr>
          <a:lstStyle/>
          <a:p>
            <a:pPr indent="0" marL="0">
              <a:buNone/>
            </a:pPr>
            <a:r>
              <a:rPr lang="en-US" sz="2100" b="1" dirty="0">
                <a:solidFill>
                  <a:srgbClr val="142735"/>
                </a:solidFill>
                <a:latin typeface="Microsoft YaHei" pitchFamily="34" charset="0"/>
                <a:ea typeface="Microsoft YaHei" pitchFamily="34" charset="-122"/>
                <a:cs typeface="Microsoft YaHei" pitchFamily="34" charset="-120"/>
              </a:rPr>
              <a:t>第2条：国家权力属于人民</a:t>
            </a:r>
            <a:endParaRPr lang="en-US" sz="2100" dirty="0"/>
          </a:p>
        </p:txBody>
      </p:sp>
      <p:sp>
        <p:nvSpPr>
          <p:cNvPr id="14" name="Shape 12"/>
          <p:cNvSpPr/>
          <p:nvPr/>
        </p:nvSpPr>
        <p:spPr>
          <a:xfrm>
            <a:off x="7979664" y="2231136"/>
            <a:ext cx="3441192" cy="2011680"/>
          </a:xfrm>
          <a:prstGeom prst="rect">
            <a:avLst/>
          </a:prstGeom>
          <a:solidFill>
            <a:srgbClr val="FFFFFF"/>
          </a:solidFill>
          <a:ln w="12700">
            <a:solidFill>
              <a:srgbClr val="D9D9D3"/>
            </a:solidFill>
            <a:prstDash val="solid"/>
          </a:ln>
        </p:spPr>
      </p:sp>
      <p:sp>
        <p:nvSpPr>
          <p:cNvPr id="15" name="Text 13"/>
          <p:cNvSpPr/>
          <p:nvPr/>
        </p:nvSpPr>
        <p:spPr>
          <a:xfrm>
            <a:off x="8162544" y="2432304"/>
            <a:ext cx="3075432" cy="411480"/>
          </a:xfrm>
          <a:prstGeom prst="rect">
            <a:avLst/>
          </a:prstGeom>
          <a:noFill/>
          <a:ln/>
        </p:spPr>
        <p:txBody>
          <a:bodyPr wrap="square" lIns="0" tIns="0" rIns="0" bIns="0" rtlCol="0" anchor="ctr">
            <a:normAutofit/>
          </a:bodyPr>
          <a:lstStyle/>
          <a:p>
            <a:pPr indent="0" marL="0">
              <a:buNone/>
            </a:pPr>
            <a:r>
              <a:rPr lang="en-US" sz="2000" b="1" dirty="0">
                <a:solidFill>
                  <a:srgbClr val="B13D38"/>
                </a:solidFill>
                <a:latin typeface="Microsoft YaHei" pitchFamily="34" charset="0"/>
                <a:ea typeface="Microsoft YaHei" pitchFamily="34" charset="-122"/>
                <a:cs typeface="Microsoft YaHei" pitchFamily="34" charset="-120"/>
              </a:rPr>
              <a:t>03</a:t>
            </a:r>
            <a:endParaRPr lang="en-US" sz="2000" dirty="0"/>
          </a:p>
        </p:txBody>
      </p:sp>
      <p:sp>
        <p:nvSpPr>
          <p:cNvPr id="16" name="Text 14"/>
          <p:cNvSpPr/>
          <p:nvPr/>
        </p:nvSpPr>
        <p:spPr>
          <a:xfrm>
            <a:off x="8162544" y="2944368"/>
            <a:ext cx="3075432" cy="1024128"/>
          </a:xfrm>
          <a:prstGeom prst="rect">
            <a:avLst/>
          </a:prstGeom>
          <a:noFill/>
          <a:ln/>
        </p:spPr>
        <p:txBody>
          <a:bodyPr wrap="square" lIns="0" tIns="0" rIns="0" bIns="0" rtlCol="0" anchor="ctr">
            <a:normAutofit/>
          </a:bodyPr>
          <a:lstStyle/>
          <a:p>
            <a:pPr indent="0" marL="0">
              <a:buNone/>
            </a:pPr>
            <a:r>
              <a:rPr lang="en-US" sz="1800" b="1" dirty="0">
                <a:solidFill>
                  <a:srgbClr val="142735"/>
                </a:solidFill>
                <a:latin typeface="Microsoft YaHei" pitchFamily="34" charset="0"/>
                <a:ea typeface="Microsoft YaHei" pitchFamily="34" charset="-122"/>
                <a:cs typeface="Microsoft YaHei" pitchFamily="34" charset="-120"/>
              </a:rPr>
              <a:t>第2—3条：人民通过人大行使国家权力</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第3讲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《中华人民共和国宪法》第2—3、57条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6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制度与机关不能画等号</a:t>
            </a:r>
            <a:endParaRPr lang="en-US" sz="3000" dirty="0"/>
          </a:p>
        </p:txBody>
      </p:sp>
      <p:sp>
        <p:nvSpPr>
          <p:cNvPr id="8" name="Shape 6"/>
          <p:cNvSpPr/>
          <p:nvPr/>
        </p:nvSpPr>
        <p:spPr>
          <a:xfrm>
            <a:off x="768096" y="1746504"/>
            <a:ext cx="5102352" cy="4224528"/>
          </a:xfrm>
          <a:prstGeom prst="rect">
            <a:avLst/>
          </a:prstGeom>
          <a:solidFill>
            <a:srgbClr val="FFFFFF"/>
          </a:solidFill>
          <a:ln w="12700">
            <a:solidFill>
              <a:srgbClr val="D9D9D3"/>
            </a:solidFill>
            <a:prstDash val="solid"/>
          </a:ln>
        </p:spPr>
      </p:sp>
      <p:sp>
        <p:nvSpPr>
          <p:cNvPr id="9" name="Shape 7"/>
          <p:cNvSpPr/>
          <p:nvPr/>
        </p:nvSpPr>
        <p:spPr>
          <a:xfrm>
            <a:off x="6336792" y="1746504"/>
            <a:ext cx="5102352" cy="4224528"/>
          </a:xfrm>
          <a:prstGeom prst="rect">
            <a:avLst/>
          </a:prstGeom>
          <a:solidFill>
            <a:srgbClr val="FFFFFF"/>
          </a:solidFill>
          <a:ln w="12700">
            <a:solidFill>
              <a:srgbClr val="D9D9D3"/>
            </a:solidFill>
            <a:prstDash val="solid"/>
          </a:ln>
        </p:spPr>
      </p:sp>
      <p:sp>
        <p:nvSpPr>
          <p:cNvPr id="10" name="Shape 8"/>
          <p:cNvSpPr/>
          <p:nvPr/>
        </p:nvSpPr>
        <p:spPr>
          <a:xfrm>
            <a:off x="768096" y="1746504"/>
            <a:ext cx="5102352" cy="685800"/>
          </a:xfrm>
          <a:prstGeom prst="rect">
            <a:avLst/>
          </a:prstGeom>
          <a:solidFill>
            <a:srgbClr val="142735"/>
          </a:solidFill>
          <a:ln w="12700">
            <a:solidFill>
              <a:srgbClr val="142735">
                <a:alpha val="0"/>
              </a:srgbClr>
            </a:solidFill>
            <a:prstDash val="solid"/>
          </a:ln>
        </p:spPr>
      </p:sp>
      <p:sp>
        <p:nvSpPr>
          <p:cNvPr id="11" name="Shape 9"/>
          <p:cNvSpPr/>
          <p:nvPr/>
        </p:nvSpPr>
        <p:spPr>
          <a:xfrm>
            <a:off x="6336792" y="1746504"/>
            <a:ext cx="5102352" cy="685800"/>
          </a:xfrm>
          <a:prstGeom prst="rect">
            <a:avLst/>
          </a:prstGeom>
          <a:solidFill>
            <a:srgbClr val="B13D38"/>
          </a:solidFill>
          <a:ln w="12700">
            <a:solidFill>
              <a:srgbClr val="B13D38">
                <a:alpha val="0"/>
              </a:srgbClr>
            </a:solidFill>
            <a:prstDash val="solid"/>
          </a:ln>
        </p:spPr>
      </p:sp>
      <p:sp>
        <p:nvSpPr>
          <p:cNvPr id="12" name="Text 10"/>
          <p:cNvSpPr/>
          <p:nvPr/>
        </p:nvSpPr>
        <p:spPr>
          <a:xfrm>
            <a:off x="996696" y="1920240"/>
            <a:ext cx="4645152" cy="347472"/>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人民代表大会制度</a:t>
            </a:r>
            <a:endParaRPr lang="en-US" sz="2200" dirty="0"/>
          </a:p>
        </p:txBody>
      </p:sp>
      <p:sp>
        <p:nvSpPr>
          <p:cNvPr id="13" name="Text 11"/>
          <p:cNvSpPr/>
          <p:nvPr/>
        </p:nvSpPr>
        <p:spPr>
          <a:xfrm>
            <a:off x="6565392" y="1920240"/>
            <a:ext cx="4645152" cy="347472"/>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全国人民代表大会</a:t>
            </a:r>
            <a:endParaRPr lang="en-US" sz="2200" dirty="0"/>
          </a:p>
        </p:txBody>
      </p:sp>
      <p:sp>
        <p:nvSpPr>
          <p:cNvPr id="14" name="Text 12"/>
          <p:cNvSpPr/>
          <p:nvPr/>
        </p:nvSpPr>
        <p:spPr>
          <a:xfrm>
            <a:off x="1024128" y="2670048"/>
            <a:ext cx="292608" cy="521208"/>
          </a:xfrm>
          <a:prstGeom prst="rect">
            <a:avLst/>
          </a:prstGeom>
          <a:noFill/>
          <a:ln/>
        </p:spPr>
        <p:txBody>
          <a:bodyPr wrap="square" lIns="0" tIns="0" rIns="0" bIns="0" rtlCol="0" anchor="ctr">
            <a:normAutofit/>
          </a:bodyPr>
          <a:lstStyle/>
          <a:p>
            <a:pPr indent="0" marL="0">
              <a:buNone/>
            </a:pPr>
            <a:r>
              <a:rPr lang="en-US" sz="1700" b="1" dirty="0">
                <a:solidFill>
                  <a:srgbClr val="142735"/>
                </a:solidFill>
                <a:latin typeface="Microsoft YaHei" pitchFamily="34" charset="0"/>
                <a:ea typeface="Microsoft YaHei" pitchFamily="34" charset="-122"/>
                <a:cs typeface="Microsoft YaHei" pitchFamily="34" charset="-120"/>
              </a:rPr>
              <a:t>1.</a:t>
            </a:r>
            <a:endParaRPr lang="en-US" sz="1700" dirty="0"/>
          </a:p>
        </p:txBody>
      </p:sp>
      <p:sp>
        <p:nvSpPr>
          <p:cNvPr id="15" name="Text 13"/>
          <p:cNvSpPr/>
          <p:nvPr/>
        </p:nvSpPr>
        <p:spPr>
          <a:xfrm>
            <a:off x="1389888" y="2670048"/>
            <a:ext cx="4206240" cy="566928"/>
          </a:xfrm>
          <a:prstGeom prst="rect">
            <a:avLst/>
          </a:prstGeom>
          <a:noFill/>
          <a:ln/>
        </p:spPr>
        <p:txBody>
          <a:bodyPr wrap="square" lIns="0" tIns="0" rIns="0" bIns="0" rtlCol="0" anchor="ctr">
            <a:normAutofit/>
          </a:bodyPr>
          <a:lstStyle/>
          <a:p>
            <a:pPr indent="0" marL="0">
              <a:buNone/>
            </a:pPr>
            <a:r>
              <a:rPr lang="en-US" sz="1800" dirty="0">
                <a:solidFill>
                  <a:srgbClr val="20303D"/>
                </a:solidFill>
                <a:latin typeface="Microsoft YaHei" pitchFamily="34" charset="0"/>
                <a:ea typeface="Microsoft YaHei" pitchFamily="34" charset="-122"/>
                <a:cs typeface="Microsoft YaHei" pitchFamily="34" charset="-120"/>
              </a:rPr>
              <a:t>国家权力的组织与运行方式</a:t>
            </a:r>
            <a:endParaRPr lang="en-US" sz="1800" dirty="0"/>
          </a:p>
        </p:txBody>
      </p:sp>
      <p:sp>
        <p:nvSpPr>
          <p:cNvPr id="16" name="Text 14"/>
          <p:cNvSpPr/>
          <p:nvPr/>
        </p:nvSpPr>
        <p:spPr>
          <a:xfrm>
            <a:off x="1024128" y="3429000"/>
            <a:ext cx="292608" cy="521208"/>
          </a:xfrm>
          <a:prstGeom prst="rect">
            <a:avLst/>
          </a:prstGeom>
          <a:noFill/>
          <a:ln/>
        </p:spPr>
        <p:txBody>
          <a:bodyPr wrap="square" lIns="0" tIns="0" rIns="0" bIns="0" rtlCol="0" anchor="ctr">
            <a:normAutofit/>
          </a:bodyPr>
          <a:lstStyle/>
          <a:p>
            <a:pPr indent="0" marL="0">
              <a:buNone/>
            </a:pPr>
            <a:r>
              <a:rPr lang="en-US" sz="1700" b="1" dirty="0">
                <a:solidFill>
                  <a:srgbClr val="142735"/>
                </a:solidFill>
                <a:latin typeface="Microsoft YaHei" pitchFamily="34" charset="0"/>
                <a:ea typeface="Microsoft YaHei" pitchFamily="34" charset="-122"/>
                <a:cs typeface="Microsoft YaHei" pitchFamily="34" charset="-120"/>
              </a:rPr>
              <a:t>2.</a:t>
            </a:r>
            <a:endParaRPr lang="en-US" sz="1700" dirty="0"/>
          </a:p>
        </p:txBody>
      </p:sp>
      <p:sp>
        <p:nvSpPr>
          <p:cNvPr id="17" name="Text 15"/>
          <p:cNvSpPr/>
          <p:nvPr/>
        </p:nvSpPr>
        <p:spPr>
          <a:xfrm>
            <a:off x="1389888" y="3429000"/>
            <a:ext cx="4206240" cy="566928"/>
          </a:xfrm>
          <a:prstGeom prst="rect">
            <a:avLst/>
          </a:prstGeom>
          <a:noFill/>
          <a:ln/>
        </p:spPr>
        <p:txBody>
          <a:bodyPr wrap="square" lIns="0" tIns="0" rIns="0" bIns="0" rtlCol="0" anchor="ctr">
            <a:normAutofit/>
          </a:bodyPr>
          <a:lstStyle/>
          <a:p>
            <a:pPr indent="0" marL="0">
              <a:buNone/>
            </a:pPr>
            <a:r>
              <a:rPr lang="en-US" sz="1800" dirty="0">
                <a:solidFill>
                  <a:srgbClr val="20303D"/>
                </a:solidFill>
                <a:latin typeface="Microsoft YaHei" pitchFamily="34" charset="0"/>
                <a:ea typeface="Microsoft YaHei" pitchFamily="34" charset="-122"/>
                <a:cs typeface="Microsoft YaHei" pitchFamily="34" charset="-120"/>
              </a:rPr>
              <a:t>本讲认识政体定位</a:t>
            </a:r>
            <a:endParaRPr lang="en-US" sz="1800" dirty="0"/>
          </a:p>
        </p:txBody>
      </p:sp>
      <p:sp>
        <p:nvSpPr>
          <p:cNvPr id="18" name="Text 16"/>
          <p:cNvSpPr/>
          <p:nvPr/>
        </p:nvSpPr>
        <p:spPr>
          <a:xfrm>
            <a:off x="6592824" y="2670048"/>
            <a:ext cx="292608" cy="521208"/>
          </a:xfrm>
          <a:prstGeom prst="rect">
            <a:avLst/>
          </a:prstGeom>
          <a:noFill/>
          <a:ln/>
        </p:spPr>
        <p:txBody>
          <a:bodyPr wrap="square" lIns="0" tIns="0" rIns="0" bIns="0" rtlCol="0" anchor="ctr">
            <a:normAutofit/>
          </a:bodyPr>
          <a:lstStyle/>
          <a:p>
            <a:pPr indent="0" marL="0">
              <a:buNone/>
            </a:pPr>
            <a:r>
              <a:rPr lang="en-US" sz="1700" b="1" dirty="0">
                <a:solidFill>
                  <a:srgbClr val="B13D38"/>
                </a:solidFill>
                <a:latin typeface="Microsoft YaHei" pitchFamily="34" charset="0"/>
                <a:ea typeface="Microsoft YaHei" pitchFamily="34" charset="-122"/>
                <a:cs typeface="Microsoft YaHei" pitchFamily="34" charset="-120"/>
              </a:rPr>
              <a:t>1.</a:t>
            </a:r>
            <a:endParaRPr lang="en-US" sz="1700" dirty="0"/>
          </a:p>
        </p:txBody>
      </p:sp>
      <p:sp>
        <p:nvSpPr>
          <p:cNvPr id="19" name="Text 17"/>
          <p:cNvSpPr/>
          <p:nvPr/>
        </p:nvSpPr>
        <p:spPr>
          <a:xfrm>
            <a:off x="6958584" y="2670048"/>
            <a:ext cx="4206240" cy="566928"/>
          </a:xfrm>
          <a:prstGeom prst="rect">
            <a:avLst/>
          </a:prstGeom>
          <a:noFill/>
          <a:ln/>
        </p:spPr>
        <p:txBody>
          <a:bodyPr wrap="square" lIns="0" tIns="0" rIns="0" bIns="0" rtlCol="0" anchor="ctr">
            <a:normAutofit/>
          </a:bodyPr>
          <a:lstStyle/>
          <a:p>
            <a:pPr indent="0" marL="0">
              <a:buNone/>
            </a:pPr>
            <a:r>
              <a:rPr lang="en-US" sz="1800" dirty="0">
                <a:solidFill>
                  <a:srgbClr val="20303D"/>
                </a:solidFill>
                <a:latin typeface="Microsoft YaHei" pitchFamily="34" charset="0"/>
                <a:ea typeface="Microsoft YaHei" pitchFamily="34" charset="-122"/>
                <a:cs typeface="Microsoft YaHei" pitchFamily="34" charset="-120"/>
              </a:rPr>
              <a:t>宪法规定的具体国家机关</a:t>
            </a:r>
            <a:endParaRPr lang="en-US" sz="1800" dirty="0"/>
          </a:p>
        </p:txBody>
      </p:sp>
      <p:sp>
        <p:nvSpPr>
          <p:cNvPr id="20" name="Text 18"/>
          <p:cNvSpPr/>
          <p:nvPr/>
        </p:nvSpPr>
        <p:spPr>
          <a:xfrm>
            <a:off x="6592824" y="3429000"/>
            <a:ext cx="292608" cy="521208"/>
          </a:xfrm>
          <a:prstGeom prst="rect">
            <a:avLst/>
          </a:prstGeom>
          <a:noFill/>
          <a:ln/>
        </p:spPr>
        <p:txBody>
          <a:bodyPr wrap="square" lIns="0" tIns="0" rIns="0" bIns="0" rtlCol="0" anchor="ctr">
            <a:normAutofit/>
          </a:bodyPr>
          <a:lstStyle/>
          <a:p>
            <a:pPr indent="0" marL="0">
              <a:buNone/>
            </a:pPr>
            <a:r>
              <a:rPr lang="en-US" sz="1700" b="1" dirty="0">
                <a:solidFill>
                  <a:srgbClr val="B13D38"/>
                </a:solidFill>
                <a:latin typeface="Microsoft YaHei" pitchFamily="34" charset="0"/>
                <a:ea typeface="Microsoft YaHei" pitchFamily="34" charset="-122"/>
                <a:cs typeface="Microsoft YaHei" pitchFamily="34" charset="-120"/>
              </a:rPr>
              <a:t>2.</a:t>
            </a:r>
            <a:endParaRPr lang="en-US" sz="1700" dirty="0"/>
          </a:p>
        </p:txBody>
      </p:sp>
      <p:sp>
        <p:nvSpPr>
          <p:cNvPr id="21" name="Text 19"/>
          <p:cNvSpPr/>
          <p:nvPr/>
        </p:nvSpPr>
        <p:spPr>
          <a:xfrm>
            <a:off x="6958584" y="3429000"/>
            <a:ext cx="4206240" cy="566928"/>
          </a:xfrm>
          <a:prstGeom prst="rect">
            <a:avLst/>
          </a:prstGeom>
          <a:noFill/>
          <a:ln/>
        </p:spPr>
        <p:txBody>
          <a:bodyPr wrap="square" lIns="0" tIns="0" rIns="0" bIns="0" rtlCol="0" anchor="ctr">
            <a:normAutofit/>
          </a:bodyPr>
          <a:lstStyle/>
          <a:p>
            <a:pPr indent="0" marL="0">
              <a:buNone/>
            </a:pPr>
            <a:r>
              <a:rPr lang="en-US" sz="1800" dirty="0">
                <a:solidFill>
                  <a:srgbClr val="20303D"/>
                </a:solidFill>
                <a:latin typeface="Microsoft YaHei" pitchFamily="34" charset="0"/>
                <a:ea typeface="Microsoft YaHei" pitchFamily="34" charset="-122"/>
                <a:cs typeface="Microsoft YaHei" pitchFamily="34" charset="-120"/>
              </a:rPr>
              <a:t>第7讲再学具体职权</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第3讲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《中华人民共和国宪法》第3条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7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中央与地方的关系</a:t>
            </a:r>
            <a:endParaRPr lang="en-US" sz="3000" dirty="0"/>
          </a:p>
        </p:txBody>
      </p:sp>
      <p:sp>
        <p:nvSpPr>
          <p:cNvPr id="8" name="Text 6"/>
          <p:cNvSpPr/>
          <p:nvPr/>
        </p:nvSpPr>
        <p:spPr>
          <a:xfrm>
            <a:off x="731520" y="1197864"/>
            <a:ext cx="10698480" cy="384048"/>
          </a:xfrm>
          <a:prstGeom prst="rect">
            <a:avLst/>
          </a:prstGeom>
          <a:noFill/>
          <a:ln/>
        </p:spPr>
        <p:txBody>
          <a:bodyPr wrap="square" lIns="0" tIns="0" rIns="0" bIns="0" rtlCol="0" anchor="ctr">
            <a:normAutofit/>
          </a:bodyPr>
          <a:lstStyle/>
          <a:p>
            <a:pPr indent="0" marL="0">
              <a:buNone/>
            </a:pPr>
            <a:r>
              <a:rPr lang="en-US" sz="1400" dirty="0">
                <a:solidFill>
                  <a:srgbClr val="64717A"/>
                </a:solidFill>
                <a:latin typeface="Microsoft YaHei" pitchFamily="34" charset="0"/>
                <a:ea typeface="Microsoft YaHei" pitchFamily="34" charset="-122"/>
                <a:cs typeface="Microsoft YaHei" pitchFamily="34" charset="-120"/>
              </a:rPr>
              <a:t>第二学时</a:t>
            </a:r>
            <a:endParaRPr lang="en-US" sz="1400" dirty="0"/>
          </a:p>
        </p:txBody>
      </p:sp>
      <p:sp>
        <p:nvSpPr>
          <p:cNvPr id="9" name="Shape 7"/>
          <p:cNvSpPr/>
          <p:nvPr/>
        </p:nvSpPr>
        <p:spPr>
          <a:xfrm>
            <a:off x="768096" y="1764792"/>
            <a:ext cx="10652760" cy="4078224"/>
          </a:xfrm>
          <a:prstGeom prst="rect">
            <a:avLst/>
          </a:prstGeom>
          <a:solidFill>
            <a:srgbClr val="FFFFFF"/>
          </a:solidFill>
          <a:ln w="12700">
            <a:solidFill>
              <a:srgbClr val="D9D9D3"/>
            </a:solidFill>
            <a:prstDash val="solid"/>
          </a:ln>
        </p:spPr>
      </p:sp>
      <p:sp>
        <p:nvSpPr>
          <p:cNvPr id="10" name="Shape 8"/>
          <p:cNvSpPr/>
          <p:nvPr/>
        </p:nvSpPr>
        <p:spPr>
          <a:xfrm>
            <a:off x="768096" y="1764792"/>
            <a:ext cx="91440" cy="4078224"/>
          </a:xfrm>
          <a:prstGeom prst="rect">
            <a:avLst/>
          </a:prstGeom>
          <a:solidFill>
            <a:srgbClr val="B13D38"/>
          </a:solidFill>
          <a:ln w="12700">
            <a:solidFill>
              <a:srgbClr val="B13D38">
                <a:alpha val="0"/>
              </a:srgbClr>
            </a:solidFill>
            <a:prstDash val="solid"/>
          </a:ln>
        </p:spPr>
      </p:sp>
      <p:sp>
        <p:nvSpPr>
          <p:cNvPr id="11" name="Text 9"/>
          <p:cNvSpPr/>
          <p:nvPr/>
        </p:nvSpPr>
        <p:spPr>
          <a:xfrm>
            <a:off x="1124712" y="1993392"/>
            <a:ext cx="822960" cy="640080"/>
          </a:xfrm>
          <a:prstGeom prst="rect">
            <a:avLst/>
          </a:prstGeom>
          <a:noFill/>
          <a:ln/>
        </p:spPr>
        <p:txBody>
          <a:bodyPr wrap="square" lIns="0" tIns="0" rIns="0" bIns="0" rtlCol="0" anchor="ctr">
            <a:normAutofit/>
          </a:bodyPr>
          <a:lstStyle/>
          <a:p>
            <a:pPr indent="0" marL="0">
              <a:buNone/>
            </a:pPr>
            <a:r>
              <a:rPr lang="en-US" sz="6300" dirty="0">
                <a:solidFill>
                  <a:srgbClr val="B13D38"/>
                </a:solidFill>
                <a:latin typeface="SimSun" pitchFamily="34" charset="0"/>
                <a:ea typeface="SimSun" pitchFamily="34" charset="-122"/>
                <a:cs typeface="SimSun" pitchFamily="34" charset="-120"/>
              </a:rPr>
              <a:t>“</a:t>
            </a:r>
            <a:endParaRPr lang="en-US" sz="6300" dirty="0"/>
          </a:p>
        </p:txBody>
      </p:sp>
      <p:sp>
        <p:nvSpPr>
          <p:cNvPr id="12" name="Text 10"/>
          <p:cNvSpPr/>
          <p:nvPr/>
        </p:nvSpPr>
        <p:spPr>
          <a:xfrm>
            <a:off x="1737360" y="2377440"/>
            <a:ext cx="9006840" cy="2148840"/>
          </a:xfrm>
          <a:prstGeom prst="rect">
            <a:avLst/>
          </a:prstGeom>
          <a:noFill/>
          <a:ln/>
        </p:spPr>
        <p:txBody>
          <a:bodyPr wrap="square" lIns="0" tIns="0" rIns="0" bIns="0" rtlCol="0" anchor="ctr">
            <a:normAutofit/>
          </a:bodyPr>
          <a:lstStyle/>
          <a:p>
            <a:pPr indent="0" marL="0">
              <a:buNone/>
            </a:pPr>
            <a:r>
              <a:rPr lang="en-US" sz="2900" b="1" dirty="0">
                <a:solidFill>
                  <a:srgbClr val="142735"/>
                </a:solidFill>
                <a:latin typeface="Microsoft YaHei" pitchFamily="34" charset="0"/>
                <a:ea typeface="Microsoft YaHei" pitchFamily="34" charset="-122"/>
                <a:cs typeface="Microsoft YaHei" pitchFamily="34" charset="-120"/>
              </a:rPr>
              <a:t>中央和地方的国家机构职权的划分，遵循在中央的统一领导下，充分发挥地方的主动性、积极性的原则。</a:t>
            </a:r>
            <a:endParaRPr lang="en-US" sz="2900" dirty="0"/>
          </a:p>
        </p:txBody>
      </p:sp>
      <p:sp>
        <p:nvSpPr>
          <p:cNvPr id="13" name="Text 11"/>
          <p:cNvSpPr/>
          <p:nvPr/>
        </p:nvSpPr>
        <p:spPr>
          <a:xfrm>
            <a:off x="1828800" y="4965192"/>
            <a:ext cx="8869680" cy="384048"/>
          </a:xfrm>
          <a:prstGeom prst="rect">
            <a:avLst/>
          </a:prstGeom>
          <a:noFill/>
          <a:ln/>
        </p:spPr>
        <p:txBody>
          <a:bodyPr wrap="square" lIns="0" tIns="0" rIns="0" bIns="0" rtlCol="0" anchor="ctr">
            <a:normAutofit/>
          </a:bodyPr>
          <a:lstStyle/>
          <a:p>
            <a:pPr algn="r" indent="0" marL="0">
              <a:buNone/>
            </a:pPr>
            <a:r>
              <a:rPr lang="en-US" sz="1600" dirty="0">
                <a:solidFill>
                  <a:srgbClr val="64717A"/>
                </a:solidFill>
                <a:latin typeface="Microsoft YaHei" pitchFamily="34" charset="0"/>
                <a:ea typeface="Microsoft YaHei" pitchFamily="34" charset="-122"/>
                <a:cs typeface="Microsoft YaHei" pitchFamily="34" charset="-120"/>
              </a:rPr>
              <a:t>《中华人民共和国宪法》第3条</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第3讲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《中华人民共和国宪法》第3—4、30—31条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8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国家结构的条文入口</a:t>
            </a:r>
            <a:endParaRPr lang="en-US" sz="3000" dirty="0"/>
          </a:p>
        </p:txBody>
      </p:sp>
      <p:sp>
        <p:nvSpPr>
          <p:cNvPr id="8" name="Shape 6"/>
          <p:cNvSpPr/>
          <p:nvPr/>
        </p:nvSpPr>
        <p:spPr>
          <a:xfrm>
            <a:off x="768096" y="2231136"/>
            <a:ext cx="3441192" cy="2011680"/>
          </a:xfrm>
          <a:prstGeom prst="rect">
            <a:avLst/>
          </a:prstGeom>
          <a:solidFill>
            <a:srgbClr val="142735"/>
          </a:solidFill>
          <a:ln w="12700">
            <a:solidFill>
              <a:srgbClr val="142735">
                <a:alpha val="0"/>
              </a:srgbClr>
            </a:solidFill>
            <a:prstDash val="solid"/>
          </a:ln>
        </p:spPr>
      </p:sp>
      <p:sp>
        <p:nvSpPr>
          <p:cNvPr id="9" name="Text 7"/>
          <p:cNvSpPr/>
          <p:nvPr/>
        </p:nvSpPr>
        <p:spPr>
          <a:xfrm>
            <a:off x="950976" y="2432304"/>
            <a:ext cx="3075432" cy="411480"/>
          </a:xfrm>
          <a:prstGeom prst="rect">
            <a:avLst/>
          </a:prstGeom>
          <a:noFill/>
          <a:ln/>
        </p:spPr>
        <p:txBody>
          <a:bodyPr wrap="square" lIns="0" tIns="0" rIns="0" bIns="0" rtlCol="0" anchor="ctr">
            <a:normAutofit/>
          </a:bodyPr>
          <a:lstStyle/>
          <a:p>
            <a:pPr indent="0" marL="0">
              <a:buNone/>
            </a:pPr>
            <a:r>
              <a:rPr lang="en-US" sz="2000" b="1" dirty="0">
                <a:solidFill>
                  <a:srgbClr val="EBC8C3"/>
                </a:solidFill>
                <a:latin typeface="Microsoft YaHei" pitchFamily="34" charset="0"/>
                <a:ea typeface="Microsoft YaHei" pitchFamily="34" charset="-122"/>
                <a:cs typeface="Microsoft YaHei" pitchFamily="34" charset="-120"/>
              </a:rPr>
              <a:t>01</a:t>
            </a:r>
            <a:endParaRPr lang="en-US" sz="2000" dirty="0"/>
          </a:p>
        </p:txBody>
      </p:sp>
      <p:sp>
        <p:nvSpPr>
          <p:cNvPr id="10" name="Text 8"/>
          <p:cNvSpPr/>
          <p:nvPr/>
        </p:nvSpPr>
        <p:spPr>
          <a:xfrm>
            <a:off x="950976" y="2944368"/>
            <a:ext cx="3075432" cy="1024128"/>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Microsoft YaHei" pitchFamily="34" charset="0"/>
                <a:ea typeface="Microsoft YaHei" pitchFamily="34" charset="-122"/>
                <a:cs typeface="Microsoft YaHei" pitchFamily="34" charset="-120"/>
              </a:rPr>
              <a:t>第3条：中央与地方职权划分</a:t>
            </a:r>
            <a:endParaRPr lang="en-US" sz="2100" dirty="0"/>
          </a:p>
        </p:txBody>
      </p:sp>
      <p:sp>
        <p:nvSpPr>
          <p:cNvPr id="11" name="Shape 9"/>
          <p:cNvSpPr/>
          <p:nvPr/>
        </p:nvSpPr>
        <p:spPr>
          <a:xfrm>
            <a:off x="4373880" y="2231136"/>
            <a:ext cx="3441192" cy="2011680"/>
          </a:xfrm>
          <a:prstGeom prst="rect">
            <a:avLst/>
          </a:prstGeom>
          <a:solidFill>
            <a:srgbClr val="FFFFFF"/>
          </a:solidFill>
          <a:ln w="12700">
            <a:solidFill>
              <a:srgbClr val="D9D9D3"/>
            </a:solidFill>
            <a:prstDash val="solid"/>
          </a:ln>
        </p:spPr>
      </p:sp>
      <p:sp>
        <p:nvSpPr>
          <p:cNvPr id="12" name="Text 10"/>
          <p:cNvSpPr/>
          <p:nvPr/>
        </p:nvSpPr>
        <p:spPr>
          <a:xfrm>
            <a:off x="4556760" y="2432304"/>
            <a:ext cx="3075432" cy="411480"/>
          </a:xfrm>
          <a:prstGeom prst="rect">
            <a:avLst/>
          </a:prstGeom>
          <a:noFill/>
          <a:ln/>
        </p:spPr>
        <p:txBody>
          <a:bodyPr wrap="square" lIns="0" tIns="0" rIns="0" bIns="0" rtlCol="0" anchor="ctr">
            <a:normAutofit/>
          </a:bodyPr>
          <a:lstStyle/>
          <a:p>
            <a:pPr indent="0" marL="0">
              <a:buNone/>
            </a:pPr>
            <a:r>
              <a:rPr lang="en-US" sz="2000" b="1" dirty="0">
                <a:solidFill>
                  <a:srgbClr val="B13D38"/>
                </a:solidFill>
                <a:latin typeface="Microsoft YaHei" pitchFamily="34" charset="0"/>
                <a:ea typeface="Microsoft YaHei" pitchFamily="34" charset="-122"/>
                <a:cs typeface="Microsoft YaHei" pitchFamily="34" charset="-120"/>
              </a:rPr>
              <a:t>02</a:t>
            </a:r>
            <a:endParaRPr lang="en-US" sz="2000" dirty="0"/>
          </a:p>
        </p:txBody>
      </p:sp>
      <p:sp>
        <p:nvSpPr>
          <p:cNvPr id="13" name="Text 11"/>
          <p:cNvSpPr/>
          <p:nvPr/>
        </p:nvSpPr>
        <p:spPr>
          <a:xfrm>
            <a:off x="4556760" y="2944368"/>
            <a:ext cx="3075432" cy="1024128"/>
          </a:xfrm>
          <a:prstGeom prst="rect">
            <a:avLst/>
          </a:prstGeom>
          <a:noFill/>
          <a:ln/>
        </p:spPr>
        <p:txBody>
          <a:bodyPr wrap="square" lIns="0" tIns="0" rIns="0" bIns="0" rtlCol="0" anchor="ctr">
            <a:normAutofit/>
          </a:bodyPr>
          <a:lstStyle/>
          <a:p>
            <a:pPr indent="0" marL="0">
              <a:buNone/>
            </a:pPr>
            <a:r>
              <a:rPr lang="en-US" sz="2100" b="1" dirty="0">
                <a:solidFill>
                  <a:srgbClr val="142735"/>
                </a:solidFill>
                <a:latin typeface="Microsoft YaHei" pitchFamily="34" charset="0"/>
                <a:ea typeface="Microsoft YaHei" pitchFamily="34" charset="-122"/>
                <a:cs typeface="Microsoft YaHei" pitchFamily="34" charset="-120"/>
              </a:rPr>
              <a:t>第4、30条：民族自治地方</a:t>
            </a:r>
            <a:endParaRPr lang="en-US" sz="2100" dirty="0"/>
          </a:p>
        </p:txBody>
      </p:sp>
      <p:sp>
        <p:nvSpPr>
          <p:cNvPr id="14" name="Shape 12"/>
          <p:cNvSpPr/>
          <p:nvPr/>
        </p:nvSpPr>
        <p:spPr>
          <a:xfrm>
            <a:off x="7979664" y="2231136"/>
            <a:ext cx="3441192" cy="2011680"/>
          </a:xfrm>
          <a:prstGeom prst="rect">
            <a:avLst/>
          </a:prstGeom>
          <a:solidFill>
            <a:srgbClr val="FFFFFF"/>
          </a:solidFill>
          <a:ln w="12700">
            <a:solidFill>
              <a:srgbClr val="D9D9D3"/>
            </a:solidFill>
            <a:prstDash val="solid"/>
          </a:ln>
        </p:spPr>
      </p:sp>
      <p:sp>
        <p:nvSpPr>
          <p:cNvPr id="15" name="Text 13"/>
          <p:cNvSpPr/>
          <p:nvPr/>
        </p:nvSpPr>
        <p:spPr>
          <a:xfrm>
            <a:off x="8162544" y="2432304"/>
            <a:ext cx="3075432" cy="411480"/>
          </a:xfrm>
          <a:prstGeom prst="rect">
            <a:avLst/>
          </a:prstGeom>
          <a:noFill/>
          <a:ln/>
        </p:spPr>
        <p:txBody>
          <a:bodyPr wrap="square" lIns="0" tIns="0" rIns="0" bIns="0" rtlCol="0" anchor="ctr">
            <a:normAutofit/>
          </a:bodyPr>
          <a:lstStyle/>
          <a:p>
            <a:pPr indent="0" marL="0">
              <a:buNone/>
            </a:pPr>
            <a:r>
              <a:rPr lang="en-US" sz="2000" b="1" dirty="0">
                <a:solidFill>
                  <a:srgbClr val="B13D38"/>
                </a:solidFill>
                <a:latin typeface="Microsoft YaHei" pitchFamily="34" charset="0"/>
                <a:ea typeface="Microsoft YaHei" pitchFamily="34" charset="-122"/>
                <a:cs typeface="Microsoft YaHei" pitchFamily="34" charset="-120"/>
              </a:rPr>
              <a:t>03</a:t>
            </a:r>
            <a:endParaRPr lang="en-US" sz="2000" dirty="0"/>
          </a:p>
        </p:txBody>
      </p:sp>
      <p:sp>
        <p:nvSpPr>
          <p:cNvPr id="16" name="Text 14"/>
          <p:cNvSpPr/>
          <p:nvPr/>
        </p:nvSpPr>
        <p:spPr>
          <a:xfrm>
            <a:off x="8162544" y="2944368"/>
            <a:ext cx="3075432" cy="1024128"/>
          </a:xfrm>
          <a:prstGeom prst="rect">
            <a:avLst/>
          </a:prstGeom>
          <a:noFill/>
          <a:ln/>
        </p:spPr>
        <p:txBody>
          <a:bodyPr wrap="square" lIns="0" tIns="0" rIns="0" bIns="0" rtlCol="0" anchor="ctr">
            <a:normAutofit/>
          </a:bodyPr>
          <a:lstStyle/>
          <a:p>
            <a:pPr indent="0" marL="0">
              <a:buNone/>
            </a:pPr>
            <a:r>
              <a:rPr lang="en-US" sz="2100" b="1" dirty="0">
                <a:solidFill>
                  <a:srgbClr val="142735"/>
                </a:solidFill>
                <a:latin typeface="Microsoft YaHei" pitchFamily="34" charset="0"/>
                <a:ea typeface="Microsoft YaHei" pitchFamily="34" charset="-122"/>
                <a:cs typeface="Microsoft YaHei" pitchFamily="34" charset="-120"/>
              </a:rPr>
              <a:t>第31条：特别行政区及其制度</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第3讲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《中华人民共和国宪法》第3、30条；第3讲教学设计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9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结构形式与行政区划</a:t>
            </a:r>
            <a:endParaRPr lang="en-US" sz="3000" dirty="0"/>
          </a:p>
        </p:txBody>
      </p:sp>
      <p:sp>
        <p:nvSpPr>
          <p:cNvPr id="8" name="Shape 6"/>
          <p:cNvSpPr/>
          <p:nvPr/>
        </p:nvSpPr>
        <p:spPr>
          <a:xfrm>
            <a:off x="768096" y="1746504"/>
            <a:ext cx="5102352" cy="4224528"/>
          </a:xfrm>
          <a:prstGeom prst="rect">
            <a:avLst/>
          </a:prstGeom>
          <a:solidFill>
            <a:srgbClr val="FFFFFF"/>
          </a:solidFill>
          <a:ln w="12700">
            <a:solidFill>
              <a:srgbClr val="D9D9D3"/>
            </a:solidFill>
            <a:prstDash val="solid"/>
          </a:ln>
        </p:spPr>
      </p:sp>
      <p:sp>
        <p:nvSpPr>
          <p:cNvPr id="9" name="Shape 7"/>
          <p:cNvSpPr/>
          <p:nvPr/>
        </p:nvSpPr>
        <p:spPr>
          <a:xfrm>
            <a:off x="6336792" y="1746504"/>
            <a:ext cx="5102352" cy="4224528"/>
          </a:xfrm>
          <a:prstGeom prst="rect">
            <a:avLst/>
          </a:prstGeom>
          <a:solidFill>
            <a:srgbClr val="FFFFFF"/>
          </a:solidFill>
          <a:ln w="12700">
            <a:solidFill>
              <a:srgbClr val="D9D9D3"/>
            </a:solidFill>
            <a:prstDash val="solid"/>
          </a:ln>
        </p:spPr>
      </p:sp>
      <p:sp>
        <p:nvSpPr>
          <p:cNvPr id="10" name="Shape 8"/>
          <p:cNvSpPr/>
          <p:nvPr/>
        </p:nvSpPr>
        <p:spPr>
          <a:xfrm>
            <a:off x="768096" y="1746504"/>
            <a:ext cx="5102352" cy="685800"/>
          </a:xfrm>
          <a:prstGeom prst="rect">
            <a:avLst/>
          </a:prstGeom>
          <a:solidFill>
            <a:srgbClr val="142735"/>
          </a:solidFill>
          <a:ln w="12700">
            <a:solidFill>
              <a:srgbClr val="142735">
                <a:alpha val="0"/>
              </a:srgbClr>
            </a:solidFill>
            <a:prstDash val="solid"/>
          </a:ln>
        </p:spPr>
      </p:sp>
      <p:sp>
        <p:nvSpPr>
          <p:cNvPr id="11" name="Shape 9"/>
          <p:cNvSpPr/>
          <p:nvPr/>
        </p:nvSpPr>
        <p:spPr>
          <a:xfrm>
            <a:off x="6336792" y="1746504"/>
            <a:ext cx="5102352" cy="685800"/>
          </a:xfrm>
          <a:prstGeom prst="rect">
            <a:avLst/>
          </a:prstGeom>
          <a:solidFill>
            <a:srgbClr val="B13D38"/>
          </a:solidFill>
          <a:ln w="12700">
            <a:solidFill>
              <a:srgbClr val="B13D38">
                <a:alpha val="0"/>
              </a:srgbClr>
            </a:solidFill>
            <a:prstDash val="solid"/>
          </a:ln>
        </p:spPr>
      </p:sp>
      <p:sp>
        <p:nvSpPr>
          <p:cNvPr id="12" name="Text 10"/>
          <p:cNvSpPr/>
          <p:nvPr/>
        </p:nvSpPr>
        <p:spPr>
          <a:xfrm>
            <a:off x="996696" y="1920240"/>
            <a:ext cx="4645152" cy="347472"/>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国家结构形式</a:t>
            </a:r>
            <a:endParaRPr lang="en-US" sz="2200" dirty="0"/>
          </a:p>
        </p:txBody>
      </p:sp>
      <p:sp>
        <p:nvSpPr>
          <p:cNvPr id="13" name="Text 11"/>
          <p:cNvSpPr/>
          <p:nvPr/>
        </p:nvSpPr>
        <p:spPr>
          <a:xfrm>
            <a:off x="6565392" y="1920240"/>
            <a:ext cx="4645152" cy="347472"/>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行政区划</a:t>
            </a:r>
            <a:endParaRPr lang="en-US" sz="2200" dirty="0"/>
          </a:p>
        </p:txBody>
      </p:sp>
      <p:sp>
        <p:nvSpPr>
          <p:cNvPr id="14" name="Text 12"/>
          <p:cNvSpPr/>
          <p:nvPr/>
        </p:nvSpPr>
        <p:spPr>
          <a:xfrm>
            <a:off x="1024128" y="2670048"/>
            <a:ext cx="292608" cy="521208"/>
          </a:xfrm>
          <a:prstGeom prst="rect">
            <a:avLst/>
          </a:prstGeom>
          <a:noFill/>
          <a:ln/>
        </p:spPr>
        <p:txBody>
          <a:bodyPr wrap="square" lIns="0" tIns="0" rIns="0" bIns="0" rtlCol="0" anchor="ctr">
            <a:normAutofit/>
          </a:bodyPr>
          <a:lstStyle/>
          <a:p>
            <a:pPr indent="0" marL="0">
              <a:buNone/>
            </a:pPr>
            <a:r>
              <a:rPr lang="en-US" sz="1700" b="1" dirty="0">
                <a:solidFill>
                  <a:srgbClr val="142735"/>
                </a:solidFill>
                <a:latin typeface="Microsoft YaHei" pitchFamily="34" charset="0"/>
                <a:ea typeface="Microsoft YaHei" pitchFamily="34" charset="-122"/>
                <a:cs typeface="Microsoft YaHei" pitchFamily="34" charset="-120"/>
              </a:rPr>
              <a:t>1.</a:t>
            </a:r>
            <a:endParaRPr lang="en-US" sz="1700" dirty="0"/>
          </a:p>
        </p:txBody>
      </p:sp>
      <p:sp>
        <p:nvSpPr>
          <p:cNvPr id="15" name="Text 13"/>
          <p:cNvSpPr/>
          <p:nvPr/>
        </p:nvSpPr>
        <p:spPr>
          <a:xfrm>
            <a:off x="1389888" y="2670048"/>
            <a:ext cx="4206240" cy="566928"/>
          </a:xfrm>
          <a:prstGeom prst="rect">
            <a:avLst/>
          </a:prstGeom>
          <a:noFill/>
          <a:ln/>
        </p:spPr>
        <p:txBody>
          <a:bodyPr wrap="square" lIns="0" tIns="0" rIns="0" bIns="0" rtlCol="0" anchor="ctr">
            <a:normAutofit/>
          </a:bodyPr>
          <a:lstStyle/>
          <a:p>
            <a:pPr indent="0" marL="0">
              <a:buNone/>
            </a:pPr>
            <a:r>
              <a:rPr lang="en-US" sz="1800" dirty="0">
                <a:solidFill>
                  <a:srgbClr val="20303D"/>
                </a:solidFill>
                <a:latin typeface="Microsoft YaHei" pitchFamily="34" charset="0"/>
                <a:ea typeface="Microsoft YaHei" pitchFamily="34" charset="-122"/>
                <a:cs typeface="Microsoft YaHei" pitchFamily="34" charset="-120"/>
              </a:rPr>
              <a:t>看国家整体与地方的关系</a:t>
            </a:r>
            <a:endParaRPr lang="en-US" sz="1800" dirty="0"/>
          </a:p>
        </p:txBody>
      </p:sp>
      <p:sp>
        <p:nvSpPr>
          <p:cNvPr id="16" name="Text 14"/>
          <p:cNvSpPr/>
          <p:nvPr/>
        </p:nvSpPr>
        <p:spPr>
          <a:xfrm>
            <a:off x="1024128" y="3429000"/>
            <a:ext cx="292608" cy="521208"/>
          </a:xfrm>
          <a:prstGeom prst="rect">
            <a:avLst/>
          </a:prstGeom>
          <a:noFill/>
          <a:ln/>
        </p:spPr>
        <p:txBody>
          <a:bodyPr wrap="square" lIns="0" tIns="0" rIns="0" bIns="0" rtlCol="0" anchor="ctr">
            <a:normAutofit/>
          </a:bodyPr>
          <a:lstStyle/>
          <a:p>
            <a:pPr indent="0" marL="0">
              <a:buNone/>
            </a:pPr>
            <a:r>
              <a:rPr lang="en-US" sz="1700" b="1" dirty="0">
                <a:solidFill>
                  <a:srgbClr val="142735"/>
                </a:solidFill>
                <a:latin typeface="Microsoft YaHei" pitchFamily="34" charset="0"/>
                <a:ea typeface="Microsoft YaHei" pitchFamily="34" charset="-122"/>
                <a:cs typeface="Microsoft YaHei" pitchFamily="34" charset="-120"/>
              </a:rPr>
              <a:t>2.</a:t>
            </a:r>
            <a:endParaRPr lang="en-US" sz="1700" dirty="0"/>
          </a:p>
        </p:txBody>
      </p:sp>
      <p:sp>
        <p:nvSpPr>
          <p:cNvPr id="17" name="Text 15"/>
          <p:cNvSpPr/>
          <p:nvPr/>
        </p:nvSpPr>
        <p:spPr>
          <a:xfrm>
            <a:off x="1389888" y="3429000"/>
            <a:ext cx="4206240" cy="566928"/>
          </a:xfrm>
          <a:prstGeom prst="rect">
            <a:avLst/>
          </a:prstGeom>
          <a:noFill/>
          <a:ln/>
        </p:spPr>
        <p:txBody>
          <a:bodyPr wrap="square" lIns="0" tIns="0" rIns="0" bIns="0" rtlCol="0" anchor="ctr">
            <a:normAutofit/>
          </a:bodyPr>
          <a:lstStyle/>
          <a:p>
            <a:pPr indent="0" marL="0">
              <a:buNone/>
            </a:pPr>
            <a:r>
              <a:rPr lang="en-US" sz="1800" dirty="0">
                <a:solidFill>
                  <a:srgbClr val="20303D"/>
                </a:solidFill>
                <a:latin typeface="Microsoft YaHei" pitchFamily="34" charset="0"/>
                <a:ea typeface="Microsoft YaHei" pitchFamily="34" charset="-122"/>
                <a:cs typeface="Microsoft YaHei" pitchFamily="34" charset="-120"/>
              </a:rPr>
              <a:t>单一制是学理概括</a:t>
            </a:r>
            <a:endParaRPr lang="en-US" sz="1800" dirty="0"/>
          </a:p>
        </p:txBody>
      </p:sp>
      <p:sp>
        <p:nvSpPr>
          <p:cNvPr id="18" name="Text 16"/>
          <p:cNvSpPr/>
          <p:nvPr/>
        </p:nvSpPr>
        <p:spPr>
          <a:xfrm>
            <a:off x="6592824" y="2670048"/>
            <a:ext cx="292608" cy="521208"/>
          </a:xfrm>
          <a:prstGeom prst="rect">
            <a:avLst/>
          </a:prstGeom>
          <a:noFill/>
          <a:ln/>
        </p:spPr>
        <p:txBody>
          <a:bodyPr wrap="square" lIns="0" tIns="0" rIns="0" bIns="0" rtlCol="0" anchor="ctr">
            <a:normAutofit/>
          </a:bodyPr>
          <a:lstStyle/>
          <a:p>
            <a:pPr indent="0" marL="0">
              <a:buNone/>
            </a:pPr>
            <a:r>
              <a:rPr lang="en-US" sz="1700" b="1" dirty="0">
                <a:solidFill>
                  <a:srgbClr val="B13D38"/>
                </a:solidFill>
                <a:latin typeface="Microsoft YaHei" pitchFamily="34" charset="0"/>
                <a:ea typeface="Microsoft YaHei" pitchFamily="34" charset="-122"/>
                <a:cs typeface="Microsoft YaHei" pitchFamily="34" charset="-120"/>
              </a:rPr>
              <a:t>1.</a:t>
            </a:r>
            <a:endParaRPr lang="en-US" sz="1700" dirty="0"/>
          </a:p>
        </p:txBody>
      </p:sp>
      <p:sp>
        <p:nvSpPr>
          <p:cNvPr id="19" name="Text 17"/>
          <p:cNvSpPr/>
          <p:nvPr/>
        </p:nvSpPr>
        <p:spPr>
          <a:xfrm>
            <a:off x="6958584" y="2670048"/>
            <a:ext cx="4206240" cy="566928"/>
          </a:xfrm>
          <a:prstGeom prst="rect">
            <a:avLst/>
          </a:prstGeom>
          <a:noFill/>
          <a:ln/>
        </p:spPr>
        <p:txBody>
          <a:bodyPr wrap="square" lIns="0" tIns="0" rIns="0" bIns="0" rtlCol="0" anchor="ctr">
            <a:normAutofit/>
          </a:bodyPr>
          <a:lstStyle/>
          <a:p>
            <a:pPr indent="0" marL="0">
              <a:buNone/>
            </a:pPr>
            <a:r>
              <a:rPr lang="en-US" sz="1800" dirty="0">
                <a:solidFill>
                  <a:srgbClr val="20303D"/>
                </a:solidFill>
                <a:latin typeface="Microsoft YaHei" pitchFamily="34" charset="0"/>
                <a:ea typeface="Microsoft YaHei" pitchFamily="34" charset="-122"/>
                <a:cs typeface="Microsoft YaHei" pitchFamily="34" charset="-120"/>
              </a:rPr>
              <a:t>看宪法列出的区域安排</a:t>
            </a:r>
            <a:endParaRPr lang="en-US" sz="1800" dirty="0"/>
          </a:p>
        </p:txBody>
      </p:sp>
      <p:sp>
        <p:nvSpPr>
          <p:cNvPr id="20" name="Text 18"/>
          <p:cNvSpPr/>
          <p:nvPr/>
        </p:nvSpPr>
        <p:spPr>
          <a:xfrm>
            <a:off x="6592824" y="3429000"/>
            <a:ext cx="292608" cy="521208"/>
          </a:xfrm>
          <a:prstGeom prst="rect">
            <a:avLst/>
          </a:prstGeom>
          <a:noFill/>
          <a:ln/>
        </p:spPr>
        <p:txBody>
          <a:bodyPr wrap="square" lIns="0" tIns="0" rIns="0" bIns="0" rtlCol="0" anchor="ctr">
            <a:normAutofit/>
          </a:bodyPr>
          <a:lstStyle/>
          <a:p>
            <a:pPr indent="0" marL="0">
              <a:buNone/>
            </a:pPr>
            <a:r>
              <a:rPr lang="en-US" sz="1700" b="1" dirty="0">
                <a:solidFill>
                  <a:srgbClr val="B13D38"/>
                </a:solidFill>
                <a:latin typeface="Microsoft YaHei" pitchFamily="34" charset="0"/>
                <a:ea typeface="Microsoft YaHei" pitchFamily="34" charset="-122"/>
                <a:cs typeface="Microsoft YaHei" pitchFamily="34" charset="-120"/>
              </a:rPr>
              <a:t>2.</a:t>
            </a:r>
            <a:endParaRPr lang="en-US" sz="1700" dirty="0"/>
          </a:p>
        </p:txBody>
      </p:sp>
      <p:sp>
        <p:nvSpPr>
          <p:cNvPr id="21" name="Text 19"/>
          <p:cNvSpPr/>
          <p:nvPr/>
        </p:nvSpPr>
        <p:spPr>
          <a:xfrm>
            <a:off x="6958584" y="3429000"/>
            <a:ext cx="4206240" cy="566928"/>
          </a:xfrm>
          <a:prstGeom prst="rect">
            <a:avLst/>
          </a:prstGeom>
          <a:noFill/>
          <a:ln/>
        </p:spPr>
        <p:txBody>
          <a:bodyPr wrap="square" lIns="0" tIns="0" rIns="0" bIns="0" rtlCol="0" anchor="ctr">
            <a:normAutofit/>
          </a:bodyPr>
          <a:lstStyle/>
          <a:p>
            <a:pPr indent="0" marL="0">
              <a:buNone/>
            </a:pPr>
            <a:r>
              <a:rPr lang="en-US" sz="1800" dirty="0">
                <a:solidFill>
                  <a:srgbClr val="20303D"/>
                </a:solidFill>
                <a:latin typeface="Microsoft YaHei" pitchFamily="34" charset="0"/>
                <a:ea typeface="Microsoft YaHei" pitchFamily="34" charset="-122"/>
                <a:cs typeface="Microsoft YaHei" pitchFamily="34" charset="-120"/>
              </a:rPr>
              <a:t>第30条列出具体行政区域</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第3讲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《中华人民共和国宪法》第4、30—31条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10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两种区域安排</a:t>
            </a:r>
            <a:endParaRPr lang="en-US" sz="3000" dirty="0"/>
          </a:p>
        </p:txBody>
      </p:sp>
      <p:sp>
        <p:nvSpPr>
          <p:cNvPr id="8" name="Shape 6"/>
          <p:cNvSpPr/>
          <p:nvPr/>
        </p:nvSpPr>
        <p:spPr>
          <a:xfrm>
            <a:off x="768096" y="1783080"/>
            <a:ext cx="10652760" cy="1088136"/>
          </a:xfrm>
          <a:prstGeom prst="rect">
            <a:avLst/>
          </a:prstGeom>
          <a:solidFill>
            <a:srgbClr val="FFFFFF"/>
          </a:solidFill>
          <a:ln w="12700">
            <a:solidFill>
              <a:srgbClr val="D9D9D3"/>
            </a:solidFill>
            <a:prstDash val="solid"/>
          </a:ln>
        </p:spPr>
      </p:sp>
      <p:sp>
        <p:nvSpPr>
          <p:cNvPr id="9" name="Shape 7"/>
          <p:cNvSpPr/>
          <p:nvPr/>
        </p:nvSpPr>
        <p:spPr>
          <a:xfrm>
            <a:off x="768096" y="1783080"/>
            <a:ext cx="77724" cy="1088136"/>
          </a:xfrm>
          <a:prstGeom prst="rect">
            <a:avLst/>
          </a:prstGeom>
          <a:solidFill>
            <a:srgbClr val="B13D38"/>
          </a:solidFill>
          <a:ln w="12700">
            <a:solidFill>
              <a:srgbClr val="B13D38">
                <a:alpha val="0"/>
              </a:srgbClr>
            </a:solidFill>
            <a:prstDash val="solid"/>
          </a:ln>
        </p:spPr>
      </p:sp>
      <p:sp>
        <p:nvSpPr>
          <p:cNvPr id="10" name="Text 8"/>
          <p:cNvSpPr/>
          <p:nvPr/>
        </p:nvSpPr>
        <p:spPr>
          <a:xfrm>
            <a:off x="1042416" y="1929384"/>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01</a:t>
            </a:r>
            <a:endParaRPr lang="en-US" sz="1900" dirty="0"/>
          </a:p>
        </p:txBody>
      </p:sp>
      <p:sp>
        <p:nvSpPr>
          <p:cNvPr id="11" name="Text 9"/>
          <p:cNvSpPr/>
          <p:nvPr/>
        </p:nvSpPr>
        <p:spPr>
          <a:xfrm>
            <a:off x="1719072" y="1874520"/>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第4条：民族自治地方不可分离</a:t>
            </a:r>
            <a:endParaRPr lang="en-US" sz="2100" dirty="0"/>
          </a:p>
        </p:txBody>
      </p:sp>
      <p:sp>
        <p:nvSpPr>
          <p:cNvPr id="12" name="Shape 10"/>
          <p:cNvSpPr/>
          <p:nvPr/>
        </p:nvSpPr>
        <p:spPr>
          <a:xfrm>
            <a:off x="768096" y="3026664"/>
            <a:ext cx="10652760" cy="1088136"/>
          </a:xfrm>
          <a:prstGeom prst="rect">
            <a:avLst/>
          </a:prstGeom>
          <a:solidFill>
            <a:srgbClr val="FFFFFF"/>
          </a:solidFill>
          <a:ln w="12700">
            <a:solidFill>
              <a:srgbClr val="D9D9D3"/>
            </a:solidFill>
            <a:prstDash val="solid"/>
          </a:ln>
        </p:spPr>
      </p:sp>
      <p:sp>
        <p:nvSpPr>
          <p:cNvPr id="13" name="Shape 11"/>
          <p:cNvSpPr/>
          <p:nvPr/>
        </p:nvSpPr>
        <p:spPr>
          <a:xfrm>
            <a:off x="768096" y="3026664"/>
            <a:ext cx="77724" cy="1088136"/>
          </a:xfrm>
          <a:prstGeom prst="rect">
            <a:avLst/>
          </a:prstGeom>
          <a:solidFill>
            <a:srgbClr val="B13D38"/>
          </a:solidFill>
          <a:ln w="12700">
            <a:solidFill>
              <a:srgbClr val="B13D38">
                <a:alpha val="0"/>
              </a:srgbClr>
            </a:solidFill>
            <a:prstDash val="solid"/>
          </a:ln>
        </p:spPr>
      </p:sp>
      <p:sp>
        <p:nvSpPr>
          <p:cNvPr id="14" name="Text 12"/>
          <p:cNvSpPr/>
          <p:nvPr/>
        </p:nvSpPr>
        <p:spPr>
          <a:xfrm>
            <a:off x="1042416" y="3172968"/>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02</a:t>
            </a:r>
            <a:endParaRPr lang="en-US" sz="1900" dirty="0"/>
          </a:p>
        </p:txBody>
      </p:sp>
      <p:sp>
        <p:nvSpPr>
          <p:cNvPr id="15" name="Text 13"/>
          <p:cNvSpPr/>
          <p:nvPr/>
        </p:nvSpPr>
        <p:spPr>
          <a:xfrm>
            <a:off x="1719072" y="3118104"/>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第30条：自治地方分三类</a:t>
            </a:r>
            <a:endParaRPr lang="en-US" sz="2100" dirty="0"/>
          </a:p>
        </p:txBody>
      </p:sp>
      <p:sp>
        <p:nvSpPr>
          <p:cNvPr id="16" name="Shape 14"/>
          <p:cNvSpPr/>
          <p:nvPr/>
        </p:nvSpPr>
        <p:spPr>
          <a:xfrm>
            <a:off x="768096" y="4270248"/>
            <a:ext cx="10652760" cy="1088136"/>
          </a:xfrm>
          <a:prstGeom prst="rect">
            <a:avLst/>
          </a:prstGeom>
          <a:solidFill>
            <a:srgbClr val="FFFFFF"/>
          </a:solidFill>
          <a:ln w="12700">
            <a:solidFill>
              <a:srgbClr val="D9D9D3"/>
            </a:solidFill>
            <a:prstDash val="solid"/>
          </a:ln>
        </p:spPr>
      </p:sp>
      <p:sp>
        <p:nvSpPr>
          <p:cNvPr id="17" name="Shape 15"/>
          <p:cNvSpPr/>
          <p:nvPr/>
        </p:nvSpPr>
        <p:spPr>
          <a:xfrm>
            <a:off x="768096" y="4270248"/>
            <a:ext cx="77724" cy="1088136"/>
          </a:xfrm>
          <a:prstGeom prst="rect">
            <a:avLst/>
          </a:prstGeom>
          <a:solidFill>
            <a:srgbClr val="B13D38"/>
          </a:solidFill>
          <a:ln w="12700">
            <a:solidFill>
              <a:srgbClr val="B13D38">
                <a:alpha val="0"/>
              </a:srgbClr>
            </a:solidFill>
            <a:prstDash val="solid"/>
          </a:ln>
        </p:spPr>
      </p:sp>
      <p:sp>
        <p:nvSpPr>
          <p:cNvPr id="18" name="Text 16"/>
          <p:cNvSpPr/>
          <p:nvPr/>
        </p:nvSpPr>
        <p:spPr>
          <a:xfrm>
            <a:off x="1042416" y="4416552"/>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03</a:t>
            </a:r>
            <a:endParaRPr lang="en-US" sz="1900" dirty="0"/>
          </a:p>
        </p:txBody>
      </p:sp>
      <p:sp>
        <p:nvSpPr>
          <p:cNvPr id="19" name="Text 17"/>
          <p:cNvSpPr/>
          <p:nvPr/>
        </p:nvSpPr>
        <p:spPr>
          <a:xfrm>
            <a:off x="1719072" y="4361688"/>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第31条：特别行政区制度依法律规定</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第3讲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《中华人民共和国宪法》第141—143条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11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国家标志在哪里</a:t>
            </a:r>
            <a:endParaRPr lang="en-US" sz="3000" dirty="0"/>
          </a:p>
        </p:txBody>
      </p:sp>
      <p:sp>
        <p:nvSpPr>
          <p:cNvPr id="8" name="Shape 6"/>
          <p:cNvSpPr/>
          <p:nvPr/>
        </p:nvSpPr>
        <p:spPr>
          <a:xfrm>
            <a:off x="768096" y="1783080"/>
            <a:ext cx="10652760" cy="1088136"/>
          </a:xfrm>
          <a:prstGeom prst="rect">
            <a:avLst/>
          </a:prstGeom>
          <a:solidFill>
            <a:srgbClr val="FFFFFF"/>
          </a:solidFill>
          <a:ln w="12700">
            <a:solidFill>
              <a:srgbClr val="D9D9D3"/>
            </a:solidFill>
            <a:prstDash val="solid"/>
          </a:ln>
        </p:spPr>
      </p:sp>
      <p:sp>
        <p:nvSpPr>
          <p:cNvPr id="9" name="Shape 7"/>
          <p:cNvSpPr/>
          <p:nvPr/>
        </p:nvSpPr>
        <p:spPr>
          <a:xfrm>
            <a:off x="768096" y="1783080"/>
            <a:ext cx="77724" cy="1088136"/>
          </a:xfrm>
          <a:prstGeom prst="rect">
            <a:avLst/>
          </a:prstGeom>
          <a:solidFill>
            <a:srgbClr val="B13D38"/>
          </a:solidFill>
          <a:ln w="12700">
            <a:solidFill>
              <a:srgbClr val="B13D38">
                <a:alpha val="0"/>
              </a:srgbClr>
            </a:solidFill>
            <a:prstDash val="solid"/>
          </a:ln>
        </p:spPr>
      </p:sp>
      <p:sp>
        <p:nvSpPr>
          <p:cNvPr id="10" name="Text 8"/>
          <p:cNvSpPr/>
          <p:nvPr/>
        </p:nvSpPr>
        <p:spPr>
          <a:xfrm>
            <a:off x="1042416" y="1929384"/>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01</a:t>
            </a:r>
            <a:endParaRPr lang="en-US" sz="1900" dirty="0"/>
          </a:p>
        </p:txBody>
      </p:sp>
      <p:sp>
        <p:nvSpPr>
          <p:cNvPr id="11" name="Text 9"/>
          <p:cNvSpPr/>
          <p:nvPr/>
        </p:nvSpPr>
        <p:spPr>
          <a:xfrm>
            <a:off x="1719072" y="1874520"/>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第141条：国旗与国歌</a:t>
            </a:r>
            <a:endParaRPr lang="en-US" sz="2100" dirty="0"/>
          </a:p>
        </p:txBody>
      </p:sp>
      <p:sp>
        <p:nvSpPr>
          <p:cNvPr id="12" name="Shape 10"/>
          <p:cNvSpPr/>
          <p:nvPr/>
        </p:nvSpPr>
        <p:spPr>
          <a:xfrm>
            <a:off x="768096" y="3026664"/>
            <a:ext cx="10652760" cy="1088136"/>
          </a:xfrm>
          <a:prstGeom prst="rect">
            <a:avLst/>
          </a:prstGeom>
          <a:solidFill>
            <a:srgbClr val="FFFFFF"/>
          </a:solidFill>
          <a:ln w="12700">
            <a:solidFill>
              <a:srgbClr val="D9D9D3"/>
            </a:solidFill>
            <a:prstDash val="solid"/>
          </a:ln>
        </p:spPr>
      </p:sp>
      <p:sp>
        <p:nvSpPr>
          <p:cNvPr id="13" name="Shape 11"/>
          <p:cNvSpPr/>
          <p:nvPr/>
        </p:nvSpPr>
        <p:spPr>
          <a:xfrm>
            <a:off x="768096" y="3026664"/>
            <a:ext cx="77724" cy="1088136"/>
          </a:xfrm>
          <a:prstGeom prst="rect">
            <a:avLst/>
          </a:prstGeom>
          <a:solidFill>
            <a:srgbClr val="B13D38"/>
          </a:solidFill>
          <a:ln w="12700">
            <a:solidFill>
              <a:srgbClr val="B13D38">
                <a:alpha val="0"/>
              </a:srgbClr>
            </a:solidFill>
            <a:prstDash val="solid"/>
          </a:ln>
        </p:spPr>
      </p:sp>
      <p:sp>
        <p:nvSpPr>
          <p:cNvPr id="14" name="Text 12"/>
          <p:cNvSpPr/>
          <p:nvPr/>
        </p:nvSpPr>
        <p:spPr>
          <a:xfrm>
            <a:off x="1042416" y="3172968"/>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02</a:t>
            </a:r>
            <a:endParaRPr lang="en-US" sz="1900" dirty="0"/>
          </a:p>
        </p:txBody>
      </p:sp>
      <p:sp>
        <p:nvSpPr>
          <p:cNvPr id="15" name="Text 13"/>
          <p:cNvSpPr/>
          <p:nvPr/>
        </p:nvSpPr>
        <p:spPr>
          <a:xfrm>
            <a:off x="1719072" y="3118104"/>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第142条：国徽</a:t>
            </a:r>
            <a:endParaRPr lang="en-US" sz="2100" dirty="0"/>
          </a:p>
        </p:txBody>
      </p:sp>
      <p:sp>
        <p:nvSpPr>
          <p:cNvPr id="16" name="Shape 14"/>
          <p:cNvSpPr/>
          <p:nvPr/>
        </p:nvSpPr>
        <p:spPr>
          <a:xfrm>
            <a:off x="768096" y="4270248"/>
            <a:ext cx="10652760" cy="1088136"/>
          </a:xfrm>
          <a:prstGeom prst="rect">
            <a:avLst/>
          </a:prstGeom>
          <a:solidFill>
            <a:srgbClr val="FFFFFF"/>
          </a:solidFill>
          <a:ln w="12700">
            <a:solidFill>
              <a:srgbClr val="D9D9D3"/>
            </a:solidFill>
            <a:prstDash val="solid"/>
          </a:ln>
        </p:spPr>
      </p:sp>
      <p:sp>
        <p:nvSpPr>
          <p:cNvPr id="17" name="Shape 15"/>
          <p:cNvSpPr/>
          <p:nvPr/>
        </p:nvSpPr>
        <p:spPr>
          <a:xfrm>
            <a:off x="768096" y="4270248"/>
            <a:ext cx="77724" cy="1088136"/>
          </a:xfrm>
          <a:prstGeom prst="rect">
            <a:avLst/>
          </a:prstGeom>
          <a:solidFill>
            <a:srgbClr val="B13D38"/>
          </a:solidFill>
          <a:ln w="12700">
            <a:solidFill>
              <a:srgbClr val="B13D38">
                <a:alpha val="0"/>
              </a:srgbClr>
            </a:solidFill>
            <a:prstDash val="solid"/>
          </a:ln>
        </p:spPr>
      </p:sp>
      <p:sp>
        <p:nvSpPr>
          <p:cNvPr id="18" name="Text 16"/>
          <p:cNvSpPr/>
          <p:nvPr/>
        </p:nvSpPr>
        <p:spPr>
          <a:xfrm>
            <a:off x="1042416" y="4416552"/>
            <a:ext cx="548640" cy="420624"/>
          </a:xfrm>
          <a:prstGeom prst="rect">
            <a:avLst/>
          </a:prstGeom>
          <a:noFill/>
          <a:ln/>
        </p:spPr>
        <p:txBody>
          <a:bodyPr wrap="square" lIns="0" tIns="0" rIns="0" bIns="0" rtlCol="0" anchor="ctr">
            <a:normAutofit/>
          </a:bodyPr>
          <a:lstStyle/>
          <a:p>
            <a:pPr indent="0" marL="0">
              <a:buNone/>
            </a:pPr>
            <a:r>
              <a:rPr lang="en-US" sz="1900" b="1" dirty="0">
                <a:solidFill>
                  <a:srgbClr val="B13D38"/>
                </a:solidFill>
                <a:latin typeface="Microsoft YaHei" pitchFamily="34" charset="0"/>
                <a:ea typeface="Microsoft YaHei" pitchFamily="34" charset="-122"/>
                <a:cs typeface="Microsoft YaHei" pitchFamily="34" charset="-120"/>
              </a:rPr>
              <a:t>03</a:t>
            </a:r>
            <a:endParaRPr lang="en-US" sz="1900" dirty="0"/>
          </a:p>
        </p:txBody>
      </p:sp>
      <p:sp>
        <p:nvSpPr>
          <p:cNvPr id="19" name="Text 17"/>
          <p:cNvSpPr/>
          <p:nvPr/>
        </p:nvSpPr>
        <p:spPr>
          <a:xfrm>
            <a:off x="1719072" y="4361688"/>
            <a:ext cx="9281160" cy="896112"/>
          </a:xfrm>
          <a:prstGeom prst="rect">
            <a:avLst/>
          </a:prstGeom>
          <a:noFill/>
          <a:ln/>
        </p:spPr>
        <p:txBody>
          <a:bodyPr wrap="square" lIns="0" tIns="0" rIns="0" bIns="0" rtlCol="0" anchor="ctr">
            <a:normAutofit/>
          </a:bodyPr>
          <a:lstStyle/>
          <a:p>
            <a:pPr indent="0" marL="0">
              <a:buNone/>
            </a:pPr>
            <a:r>
              <a:rPr lang="en-US" sz="2100" dirty="0">
                <a:solidFill>
                  <a:srgbClr val="20303D"/>
                </a:solidFill>
                <a:latin typeface="Microsoft YaHei" pitchFamily="34" charset="0"/>
                <a:ea typeface="Microsoft YaHei" pitchFamily="34" charset="-122"/>
                <a:cs typeface="Microsoft YaHei" pitchFamily="34" charset="-120"/>
              </a:rPr>
              <a:t>第143条：首都</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第3讲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《中华人民共和国宪法》第1—3、30—31条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12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三张条文卡</a:t>
            </a:r>
            <a:endParaRPr lang="en-US" sz="3000" dirty="0"/>
          </a:p>
        </p:txBody>
      </p:sp>
      <p:sp>
        <p:nvSpPr>
          <p:cNvPr id="8" name="Shape 6"/>
          <p:cNvSpPr/>
          <p:nvPr/>
        </p:nvSpPr>
        <p:spPr>
          <a:xfrm>
            <a:off x="768096" y="1737360"/>
            <a:ext cx="10652760" cy="1371600"/>
          </a:xfrm>
          <a:prstGeom prst="rect">
            <a:avLst/>
          </a:prstGeom>
          <a:solidFill>
            <a:srgbClr val="142735"/>
          </a:solidFill>
          <a:ln w="12700">
            <a:solidFill>
              <a:srgbClr val="142735">
                <a:alpha val="0"/>
              </a:srgbClr>
            </a:solidFill>
            <a:prstDash val="solid"/>
          </a:ln>
        </p:spPr>
      </p:sp>
      <p:sp>
        <p:nvSpPr>
          <p:cNvPr id="9" name="Text 7"/>
          <p:cNvSpPr/>
          <p:nvPr/>
        </p:nvSpPr>
        <p:spPr>
          <a:xfrm>
            <a:off x="1078992" y="1965960"/>
            <a:ext cx="10012680" cy="822960"/>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将第1条、第2条、第3条末款和第30—31条按国体、政体、国家结构归类。</a:t>
            </a:r>
            <a:endParaRPr lang="en-US" sz="2400" dirty="0"/>
          </a:p>
        </p:txBody>
      </p:sp>
      <p:sp>
        <p:nvSpPr>
          <p:cNvPr id="10" name="Shape 8"/>
          <p:cNvSpPr/>
          <p:nvPr/>
        </p:nvSpPr>
        <p:spPr>
          <a:xfrm>
            <a:off x="768096" y="3419856"/>
            <a:ext cx="10652760" cy="594360"/>
          </a:xfrm>
          <a:prstGeom prst="rect">
            <a:avLst/>
          </a:prstGeom>
          <a:solidFill>
            <a:srgbClr val="FFFFFF"/>
          </a:solidFill>
          <a:ln w="12700">
            <a:solidFill>
              <a:srgbClr val="D9D9D3"/>
            </a:solidFill>
            <a:prstDash val="solid"/>
          </a:ln>
        </p:spPr>
      </p:sp>
      <p:sp>
        <p:nvSpPr>
          <p:cNvPr id="11" name="Text 9"/>
          <p:cNvSpPr/>
          <p:nvPr/>
        </p:nvSpPr>
        <p:spPr>
          <a:xfrm>
            <a:off x="1097280" y="3493008"/>
            <a:ext cx="9829800" cy="411480"/>
          </a:xfrm>
          <a:prstGeom prst="rect">
            <a:avLst/>
          </a:prstGeom>
          <a:noFill/>
          <a:ln/>
        </p:spPr>
        <p:txBody>
          <a:bodyPr wrap="square" lIns="0" tIns="0" rIns="0" bIns="0" rtlCol="0" anchor="ctr">
            <a:normAutofit/>
          </a:bodyPr>
          <a:lstStyle/>
          <a:p>
            <a:pPr indent="0" marL="0">
              <a:buNone/>
            </a:pPr>
            <a:r>
              <a:rPr lang="en-US" sz="2000" dirty="0">
                <a:solidFill>
                  <a:srgbClr val="142735"/>
                </a:solidFill>
                <a:latin typeface="Microsoft YaHei" pitchFamily="34" charset="0"/>
                <a:ea typeface="Microsoft YaHei" pitchFamily="34" charset="-122"/>
                <a:cs typeface="Microsoft YaHei" pitchFamily="34" charset="-120"/>
              </a:rPr>
              <a:t>1  指出每张卡的条文位置</a:t>
            </a:r>
            <a:endParaRPr lang="en-US" sz="2000" dirty="0"/>
          </a:p>
        </p:txBody>
      </p:sp>
      <p:sp>
        <p:nvSpPr>
          <p:cNvPr id="12" name="Shape 10"/>
          <p:cNvSpPr/>
          <p:nvPr/>
        </p:nvSpPr>
        <p:spPr>
          <a:xfrm>
            <a:off x="768096" y="4178808"/>
            <a:ext cx="10652760" cy="594360"/>
          </a:xfrm>
          <a:prstGeom prst="rect">
            <a:avLst/>
          </a:prstGeom>
          <a:solidFill>
            <a:srgbClr val="FFFFFF"/>
          </a:solidFill>
          <a:ln w="12700">
            <a:solidFill>
              <a:srgbClr val="D9D9D3"/>
            </a:solidFill>
            <a:prstDash val="solid"/>
          </a:ln>
        </p:spPr>
      </p:sp>
      <p:sp>
        <p:nvSpPr>
          <p:cNvPr id="13" name="Text 11"/>
          <p:cNvSpPr/>
          <p:nvPr/>
        </p:nvSpPr>
        <p:spPr>
          <a:xfrm>
            <a:off x="1097280" y="4251960"/>
            <a:ext cx="9829800" cy="411480"/>
          </a:xfrm>
          <a:prstGeom prst="rect">
            <a:avLst/>
          </a:prstGeom>
          <a:noFill/>
          <a:ln/>
        </p:spPr>
        <p:txBody>
          <a:bodyPr wrap="square" lIns="0" tIns="0" rIns="0" bIns="0" rtlCol="0" anchor="ctr">
            <a:normAutofit/>
          </a:bodyPr>
          <a:lstStyle/>
          <a:p>
            <a:pPr indent="0" marL="0">
              <a:buNone/>
            </a:pPr>
            <a:r>
              <a:rPr lang="en-US" sz="2000" dirty="0">
                <a:solidFill>
                  <a:srgbClr val="142735"/>
                </a:solidFill>
                <a:latin typeface="Microsoft YaHei" pitchFamily="34" charset="0"/>
                <a:ea typeface="Microsoft YaHei" pitchFamily="34" charset="-122"/>
                <a:cs typeface="Microsoft YaHei" pitchFamily="34" charset="-120"/>
              </a:rPr>
              <a:t>2  说清三种概念各回答什么</a:t>
            </a:r>
            <a:endParaRPr lang="en-US" sz="2000" dirty="0"/>
          </a:p>
        </p:txBody>
      </p:sp>
      <p:sp>
        <p:nvSpPr>
          <p:cNvPr id="14" name="Shape 12"/>
          <p:cNvSpPr/>
          <p:nvPr/>
        </p:nvSpPr>
        <p:spPr>
          <a:xfrm>
            <a:off x="768096" y="4937760"/>
            <a:ext cx="10652760" cy="594360"/>
          </a:xfrm>
          <a:prstGeom prst="rect">
            <a:avLst/>
          </a:prstGeom>
          <a:solidFill>
            <a:srgbClr val="FFFFFF"/>
          </a:solidFill>
          <a:ln w="12700">
            <a:solidFill>
              <a:srgbClr val="D9D9D3"/>
            </a:solidFill>
            <a:prstDash val="solid"/>
          </a:ln>
        </p:spPr>
      </p:sp>
      <p:sp>
        <p:nvSpPr>
          <p:cNvPr id="15" name="Text 13"/>
          <p:cNvSpPr/>
          <p:nvPr/>
        </p:nvSpPr>
        <p:spPr>
          <a:xfrm>
            <a:off x="1097280" y="5010912"/>
            <a:ext cx="9829800" cy="411480"/>
          </a:xfrm>
          <a:prstGeom prst="rect">
            <a:avLst/>
          </a:prstGeom>
          <a:noFill/>
          <a:ln/>
        </p:spPr>
        <p:txBody>
          <a:bodyPr wrap="square" lIns="0" tIns="0" rIns="0" bIns="0" rtlCol="0" anchor="ctr">
            <a:normAutofit/>
          </a:bodyPr>
          <a:lstStyle/>
          <a:p>
            <a:pPr indent="0" marL="0">
              <a:buNone/>
            </a:pPr>
            <a:r>
              <a:rPr lang="en-US" sz="2000" dirty="0">
                <a:solidFill>
                  <a:srgbClr val="142735"/>
                </a:solidFill>
                <a:latin typeface="Microsoft YaHei" pitchFamily="34" charset="0"/>
                <a:ea typeface="Microsoft YaHei" pitchFamily="34" charset="-122"/>
                <a:cs typeface="Microsoft YaHei" pitchFamily="34" charset="-120"/>
              </a:rPr>
              <a:t>3  不要把特别行政区当作另一国家</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6F1"/>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13D38"/>
          </a:solidFill>
          <a:ln w="12700">
            <a:solidFill>
              <a:srgbClr val="B13D38">
                <a:alpha val="0"/>
              </a:srgbClr>
            </a:solidFill>
            <a:prstDash val="solid"/>
          </a:ln>
        </p:spPr>
      </p:sp>
      <p:sp>
        <p:nvSpPr>
          <p:cNvPr id="3" name="Shape 1"/>
          <p:cNvSpPr/>
          <p:nvPr/>
        </p:nvSpPr>
        <p:spPr>
          <a:xfrm>
            <a:off x="658368" y="6291072"/>
            <a:ext cx="10872216" cy="10973"/>
          </a:xfrm>
          <a:prstGeom prst="rect">
            <a:avLst/>
          </a:prstGeom>
          <a:solidFill>
            <a:srgbClr val="D9D9D3"/>
          </a:solidFill>
          <a:ln w="12700">
            <a:solidFill>
              <a:srgbClr val="D9D9D3">
                <a:alpha val="0"/>
              </a:srgbClr>
            </a:solidFill>
            <a:prstDash val="solid"/>
          </a:ln>
        </p:spPr>
      </p:sp>
      <p:sp>
        <p:nvSpPr>
          <p:cNvPr id="4" name="Text 2"/>
          <p:cNvSpPr/>
          <p:nvPr/>
        </p:nvSpPr>
        <p:spPr>
          <a:xfrm>
            <a:off x="685800" y="6391656"/>
            <a:ext cx="3474720" cy="274320"/>
          </a:xfrm>
          <a:prstGeom prst="rect">
            <a:avLst/>
          </a:prstGeom>
          <a:noFill/>
          <a:ln/>
        </p:spPr>
        <p:txBody>
          <a:bodyPr wrap="square" lIns="0" tIns="0" rIns="0" bIns="0" rtlCol="0" anchor="ctr">
            <a:normAutofit/>
          </a:bodyPr>
          <a:lstStyle/>
          <a:p>
            <a:pPr indent="0" marL="0">
              <a:buNone/>
            </a:pPr>
            <a:r>
              <a:rPr lang="en-US" sz="1100" dirty="0">
                <a:solidFill>
                  <a:srgbClr val="46545E"/>
                </a:solidFill>
                <a:latin typeface="Microsoft YaHei" pitchFamily="34" charset="0"/>
                <a:ea typeface="Microsoft YaHei" pitchFamily="34" charset="-122"/>
                <a:cs typeface="Microsoft YaHei" pitchFamily="34" charset="-120"/>
              </a:rPr>
              <a:t>宪法学  ·  第3讲</a:t>
            </a:r>
            <a:endParaRPr lang="en-US" sz="1100" dirty="0"/>
          </a:p>
        </p:txBody>
      </p:sp>
      <p:sp>
        <p:nvSpPr>
          <p:cNvPr id="5" name="Text 3"/>
          <p:cNvSpPr/>
          <p:nvPr/>
        </p:nvSpPr>
        <p:spPr>
          <a:xfrm>
            <a:off x="3749040" y="6391656"/>
            <a:ext cx="5669280" cy="274320"/>
          </a:xfrm>
          <a:prstGeom prst="rect">
            <a:avLst/>
          </a:prstGeom>
          <a:noFill/>
          <a:ln/>
        </p:spPr>
        <p:txBody>
          <a:bodyPr wrap="square" lIns="0" tIns="0" rIns="0" bIns="0" rtlCol="0" anchor="ctr">
            <a:normAutofit/>
          </a:bodyPr>
          <a:lstStyle/>
          <a:p>
            <a:pPr algn="ctr" indent="0" marL="0">
              <a:buNone/>
            </a:pPr>
            <a:r>
              <a:rPr lang="en-US" sz="1100" dirty="0">
                <a:solidFill>
                  <a:srgbClr val="46545E"/>
                </a:solidFill>
                <a:latin typeface="Microsoft YaHei" pitchFamily="34" charset="0"/>
                <a:ea typeface="Microsoft YaHei" pitchFamily="34" charset="-122"/>
                <a:cs typeface="Microsoft YaHei" pitchFamily="34" charset="-120"/>
              </a:rPr>
              <a:t>《中华人民共和国宪法》第1—4、30—31条</a:t>
            </a:r>
            <a:endParaRPr lang="en-US" sz="1100" dirty="0"/>
          </a:p>
        </p:txBody>
      </p:sp>
      <p:sp>
        <p:nvSpPr>
          <p:cNvPr id="6" name="Text 4"/>
          <p:cNvSpPr/>
          <p:nvPr/>
        </p:nvSpPr>
        <p:spPr>
          <a:xfrm>
            <a:off x="10149840" y="6391656"/>
            <a:ext cx="1371600" cy="274320"/>
          </a:xfrm>
          <a:prstGeom prst="rect">
            <a:avLst/>
          </a:prstGeom>
          <a:noFill/>
          <a:ln/>
        </p:spPr>
        <p:txBody>
          <a:bodyPr wrap="square" lIns="0" tIns="0" rIns="0" bIns="0" rtlCol="0" anchor="ctr">
            <a:normAutofit/>
          </a:bodyPr>
          <a:lstStyle/>
          <a:p>
            <a:pPr algn="r" indent="0" marL="0">
              <a:buNone/>
            </a:pPr>
            <a:r>
              <a:rPr lang="en-US" sz="1100" dirty="0">
                <a:solidFill>
                  <a:srgbClr val="46545E"/>
                </a:solidFill>
                <a:latin typeface="Microsoft YaHei" pitchFamily="34" charset="0"/>
                <a:ea typeface="Microsoft YaHei" pitchFamily="34" charset="-122"/>
                <a:cs typeface="Microsoft YaHei" pitchFamily="34" charset="-120"/>
              </a:rPr>
              <a:t>13 / 13</a:t>
            </a:r>
            <a:endParaRPr lang="en-US" sz="1100" dirty="0"/>
          </a:p>
        </p:txBody>
      </p:sp>
      <p:sp>
        <p:nvSpPr>
          <p:cNvPr id="7" name="Text 5"/>
          <p:cNvSpPr/>
          <p:nvPr/>
        </p:nvSpPr>
        <p:spPr>
          <a:xfrm>
            <a:off x="713232" y="530352"/>
            <a:ext cx="10744200" cy="594360"/>
          </a:xfrm>
          <a:prstGeom prst="rect">
            <a:avLst/>
          </a:prstGeom>
          <a:noFill/>
          <a:ln/>
        </p:spPr>
        <p:txBody>
          <a:bodyPr wrap="square" lIns="0" tIns="0" rIns="0" bIns="0" rtlCol="0" anchor="ctr">
            <a:normAutofit/>
          </a:bodyPr>
          <a:lstStyle/>
          <a:p>
            <a:pPr indent="0" marL="0">
              <a:buNone/>
            </a:pPr>
            <a:r>
              <a:rPr lang="en-US" sz="3000" b="1" dirty="0">
                <a:solidFill>
                  <a:srgbClr val="142735"/>
                </a:solidFill>
                <a:latin typeface="Microsoft YaHei" pitchFamily="34" charset="0"/>
                <a:ea typeface="Microsoft YaHei" pitchFamily="34" charset="-122"/>
                <a:cs typeface="Microsoft YaHei" pitchFamily="34" charset="-120"/>
              </a:rPr>
              <a:t>从国家性质走向基本制度</a:t>
            </a:r>
            <a:endParaRPr lang="en-US" sz="3000" dirty="0"/>
          </a:p>
        </p:txBody>
      </p:sp>
      <p:sp>
        <p:nvSpPr>
          <p:cNvPr id="8" name="Shape 6"/>
          <p:cNvSpPr/>
          <p:nvPr/>
        </p:nvSpPr>
        <p:spPr>
          <a:xfrm>
            <a:off x="777240" y="1755648"/>
            <a:ext cx="10643616" cy="987552"/>
          </a:xfrm>
          <a:prstGeom prst="rect">
            <a:avLst/>
          </a:prstGeom>
          <a:solidFill>
            <a:srgbClr val="142735"/>
          </a:solidFill>
          <a:ln w="12700">
            <a:solidFill>
              <a:srgbClr val="142735">
                <a:alpha val="0"/>
              </a:srgbClr>
            </a:solidFill>
            <a:prstDash val="solid"/>
          </a:ln>
        </p:spPr>
      </p:sp>
      <p:sp>
        <p:nvSpPr>
          <p:cNvPr id="9" name="Text 7"/>
          <p:cNvSpPr/>
          <p:nvPr/>
        </p:nvSpPr>
        <p:spPr>
          <a:xfrm>
            <a:off x="1078992" y="2002536"/>
            <a:ext cx="411480" cy="393192"/>
          </a:xfrm>
          <a:prstGeom prst="rect">
            <a:avLst/>
          </a:prstGeom>
          <a:noFill/>
          <a:ln/>
        </p:spPr>
        <p:txBody>
          <a:bodyPr wrap="square" lIns="0" tIns="0" rIns="0" bIns="0" rtlCol="0" anchor="ctr">
            <a:normAutofit/>
          </a:bodyPr>
          <a:lstStyle/>
          <a:p>
            <a:pPr indent="0" marL="0">
              <a:buNone/>
            </a:pPr>
            <a:r>
              <a:rPr lang="en-US" sz="2200" b="1" dirty="0">
                <a:solidFill>
                  <a:srgbClr val="EBC8C3"/>
                </a:solidFill>
                <a:latin typeface="Microsoft YaHei" pitchFamily="34" charset="0"/>
                <a:ea typeface="Microsoft YaHei" pitchFamily="34" charset="-122"/>
                <a:cs typeface="Microsoft YaHei" pitchFamily="34" charset="-120"/>
              </a:rPr>
              <a:t>1</a:t>
            </a:r>
            <a:endParaRPr lang="en-US" sz="2200" dirty="0"/>
          </a:p>
        </p:txBody>
      </p:sp>
      <p:sp>
        <p:nvSpPr>
          <p:cNvPr id="10" name="Text 8"/>
          <p:cNvSpPr/>
          <p:nvPr/>
        </p:nvSpPr>
        <p:spPr>
          <a:xfrm>
            <a:off x="1664208" y="1911096"/>
            <a:ext cx="9345168" cy="649224"/>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Microsoft YaHei" pitchFamily="34" charset="0"/>
                <a:ea typeface="Microsoft YaHei" pitchFamily="34" charset="-122"/>
                <a:cs typeface="Microsoft YaHei" pitchFamily="34" charset="-120"/>
              </a:rPr>
              <a:t>国体：国家的性质</a:t>
            </a:r>
            <a:endParaRPr lang="en-US" sz="2100" dirty="0"/>
          </a:p>
        </p:txBody>
      </p:sp>
      <p:sp>
        <p:nvSpPr>
          <p:cNvPr id="11" name="Shape 9"/>
          <p:cNvSpPr/>
          <p:nvPr/>
        </p:nvSpPr>
        <p:spPr>
          <a:xfrm>
            <a:off x="777240" y="2999232"/>
            <a:ext cx="10643616" cy="987552"/>
          </a:xfrm>
          <a:prstGeom prst="rect">
            <a:avLst/>
          </a:prstGeom>
          <a:solidFill>
            <a:srgbClr val="FFFFFF"/>
          </a:solidFill>
          <a:ln w="12700">
            <a:solidFill>
              <a:srgbClr val="D9D9D3"/>
            </a:solidFill>
            <a:prstDash val="solid"/>
          </a:ln>
        </p:spPr>
      </p:sp>
      <p:sp>
        <p:nvSpPr>
          <p:cNvPr id="12" name="Text 10"/>
          <p:cNvSpPr/>
          <p:nvPr/>
        </p:nvSpPr>
        <p:spPr>
          <a:xfrm>
            <a:off x="1078992" y="3246120"/>
            <a:ext cx="411480" cy="393192"/>
          </a:xfrm>
          <a:prstGeom prst="rect">
            <a:avLst/>
          </a:prstGeom>
          <a:noFill/>
          <a:ln/>
        </p:spPr>
        <p:txBody>
          <a:bodyPr wrap="square" lIns="0" tIns="0" rIns="0" bIns="0" rtlCol="0" anchor="ctr">
            <a:normAutofit/>
          </a:bodyPr>
          <a:lstStyle/>
          <a:p>
            <a:pPr indent="0" marL="0">
              <a:buNone/>
            </a:pPr>
            <a:r>
              <a:rPr lang="en-US" sz="2200" b="1" dirty="0">
                <a:solidFill>
                  <a:srgbClr val="B13D38"/>
                </a:solidFill>
                <a:latin typeface="Microsoft YaHei" pitchFamily="34" charset="0"/>
                <a:ea typeface="Microsoft YaHei" pitchFamily="34" charset="-122"/>
                <a:cs typeface="Microsoft YaHei" pitchFamily="34" charset="-120"/>
              </a:rPr>
              <a:t>2</a:t>
            </a:r>
            <a:endParaRPr lang="en-US" sz="2200" dirty="0"/>
          </a:p>
        </p:txBody>
      </p:sp>
      <p:sp>
        <p:nvSpPr>
          <p:cNvPr id="13" name="Text 11"/>
          <p:cNvSpPr/>
          <p:nvPr/>
        </p:nvSpPr>
        <p:spPr>
          <a:xfrm>
            <a:off x="1664208" y="3154680"/>
            <a:ext cx="9345168" cy="649224"/>
          </a:xfrm>
          <a:prstGeom prst="rect">
            <a:avLst/>
          </a:prstGeom>
          <a:noFill/>
          <a:ln/>
        </p:spPr>
        <p:txBody>
          <a:bodyPr wrap="square" lIns="0" tIns="0" rIns="0" bIns="0" rtlCol="0" anchor="ctr">
            <a:normAutofit/>
          </a:bodyPr>
          <a:lstStyle/>
          <a:p>
            <a:pPr indent="0" marL="0">
              <a:buNone/>
            </a:pPr>
            <a:r>
              <a:rPr lang="en-US" sz="2100" b="1" dirty="0">
                <a:solidFill>
                  <a:srgbClr val="142735"/>
                </a:solidFill>
                <a:latin typeface="Microsoft YaHei" pitchFamily="34" charset="0"/>
                <a:ea typeface="Microsoft YaHei" pitchFamily="34" charset="-122"/>
                <a:cs typeface="Microsoft YaHei" pitchFamily="34" charset="-120"/>
              </a:rPr>
              <a:t>政体：人民如何行使国家权力</a:t>
            </a:r>
            <a:endParaRPr lang="en-US" sz="2100" dirty="0"/>
          </a:p>
        </p:txBody>
      </p:sp>
      <p:sp>
        <p:nvSpPr>
          <p:cNvPr id="14" name="Shape 12"/>
          <p:cNvSpPr/>
          <p:nvPr/>
        </p:nvSpPr>
        <p:spPr>
          <a:xfrm>
            <a:off x="777240" y="4242816"/>
            <a:ext cx="10643616" cy="987552"/>
          </a:xfrm>
          <a:prstGeom prst="rect">
            <a:avLst/>
          </a:prstGeom>
          <a:solidFill>
            <a:srgbClr val="FFFFFF"/>
          </a:solidFill>
          <a:ln w="12700">
            <a:solidFill>
              <a:srgbClr val="D9D9D3"/>
            </a:solidFill>
            <a:prstDash val="solid"/>
          </a:ln>
        </p:spPr>
      </p:sp>
      <p:sp>
        <p:nvSpPr>
          <p:cNvPr id="15" name="Text 13"/>
          <p:cNvSpPr/>
          <p:nvPr/>
        </p:nvSpPr>
        <p:spPr>
          <a:xfrm>
            <a:off x="1078992" y="4489704"/>
            <a:ext cx="411480" cy="393192"/>
          </a:xfrm>
          <a:prstGeom prst="rect">
            <a:avLst/>
          </a:prstGeom>
          <a:noFill/>
          <a:ln/>
        </p:spPr>
        <p:txBody>
          <a:bodyPr wrap="square" lIns="0" tIns="0" rIns="0" bIns="0" rtlCol="0" anchor="ctr">
            <a:normAutofit/>
          </a:bodyPr>
          <a:lstStyle/>
          <a:p>
            <a:pPr indent="0" marL="0">
              <a:buNone/>
            </a:pPr>
            <a:r>
              <a:rPr lang="en-US" sz="2200" b="1" dirty="0">
                <a:solidFill>
                  <a:srgbClr val="B13D38"/>
                </a:solidFill>
                <a:latin typeface="Microsoft YaHei" pitchFamily="34" charset="0"/>
                <a:ea typeface="Microsoft YaHei" pitchFamily="34" charset="-122"/>
                <a:cs typeface="Microsoft YaHei" pitchFamily="34" charset="-120"/>
              </a:rPr>
              <a:t>3</a:t>
            </a:r>
            <a:endParaRPr lang="en-US" sz="2200" dirty="0"/>
          </a:p>
        </p:txBody>
      </p:sp>
      <p:sp>
        <p:nvSpPr>
          <p:cNvPr id="16" name="Text 14"/>
          <p:cNvSpPr/>
          <p:nvPr/>
        </p:nvSpPr>
        <p:spPr>
          <a:xfrm>
            <a:off x="1664208" y="4398264"/>
            <a:ext cx="9345168" cy="649224"/>
          </a:xfrm>
          <a:prstGeom prst="rect">
            <a:avLst/>
          </a:prstGeom>
          <a:noFill/>
          <a:ln/>
        </p:spPr>
        <p:txBody>
          <a:bodyPr wrap="square" lIns="0" tIns="0" rIns="0" bIns="0" rtlCol="0" anchor="ctr">
            <a:normAutofit/>
          </a:bodyPr>
          <a:lstStyle/>
          <a:p>
            <a:pPr indent="0" marL="0">
              <a:buNone/>
            </a:pPr>
            <a:r>
              <a:rPr lang="en-US" sz="2100" b="1" dirty="0">
                <a:solidFill>
                  <a:srgbClr val="142735"/>
                </a:solidFill>
                <a:latin typeface="Microsoft YaHei" pitchFamily="34" charset="0"/>
                <a:ea typeface="Microsoft YaHei" pitchFamily="34" charset="-122"/>
                <a:cs typeface="Microsoft YaHei" pitchFamily="34" charset="-120"/>
              </a:rPr>
              <a:t>国家结构：中央、地方与区域安排</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宪法学 第3讲 国家性质与国家形式</dc:title>
  <dc:subject>公安专业一年级宪法学课程</dc:subject>
  <dc:creator>宪法学课程教学组</dc:creator>
  <cp:lastModifiedBy>宪法学课程教学组</cp:lastModifiedBy>
  <cp:revision>1</cp:revision>
  <dcterms:created xsi:type="dcterms:W3CDTF">2026-09-26T15:21:27Z</dcterms:created>
  <dcterms:modified xsi:type="dcterms:W3CDTF">2026-09-26T15:21:27Z</dcterms:modified>
</cp:coreProperties>
</file>