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第1页 / 共22页
教学环节：第一学时
课件配套学生材料A—D及任务1—6。第1—10页用于第一学时45分钟，第11—21页用于第二学时45分钟，第22页为查读附页。开始用一分钟让学生说根本法意味着什么，教师随后给出概念解释。按学校50分钟学时口径使用的延长活动已在教案列明，不默认增加总课时。
本页来源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第2页 / 共22页
教学环节：第一学时
这是依据教材印刷18—20页与宪法作的教学概括，不冒充某条宪法或教材的逐字定义。根本内容说明安排什么，最高效力说明约束关系，修改程序提供制度稳定的保障。不要以提问取代这段概念讲解，也不把普通法律说成不重要。对应关键讲解1。
本页来源
1. 马工程宪法学第二版
定位：印刷18—20页；PDF33—35页；教材原页及核对记录见来源核对/教材
2. 中华人民共和国宪法
定位：序言末段
https://www.npc.gov.cn/zgrdw/npc/xinwen/2018-03/22/content_2052489.htm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第3页 / 共22页
教学环节：第一学时
配合学生材料A，先读第1条和序言，再看目录中的权利及机构位置。权力是公共事务的组织和职权行使，权利是公民等受保障的利益和请求资格。国家权力应当在宪法规定的制度和权利保障要求中运行。此处不展开机构职权表，留第七讲。普通法律细化具体领域，不能因此被说成不重要。
本页来源
1. 中华人民共和国宪法
定位：序言、第1—3条、第二章与第三章
https://www.npc.gov.cn/zgrdw/npc/xinwen/2018-03/22/content_2052489.htm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第4页 / 共22页
教学环节：第一学时
请学生从材料A同时找到宪法序言的最高效力表述。这个要求不是由某部普通法律赋予宪法的。没有写根据宪法的普通法律，也仍须受约束。不得抵触是规范要求，具体如何纠正由有权机关依法处理，第一讲不扩展成违宪审查程序课。
本页来源
1. 中华人民共和国宪法
定位：第5条第3款；序言末段
https://www.npc.gov.cn/zgrdw/npc/xinwen/2018-03/22/content_2052489.htm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第5页 / 共22页
教学环节：第一学时
结合关键讲解3说明：规范约束力与现实遵守状况不是同一个判断。发生违法侵权，不等于宪法因此无效；需要查明、纠正并承担相应责任。这里只辨别概念，不把具体处分、赔偿金额或程序当成已确定结论。
本页来源
1. 中华人民共和国宪法
定位：第5条第3—5款
https://www.npc.gov.cn/zgrdw/npc/xinwen/2018-03/22/content_2052489.htm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第6页 / 共22页
教学环节：第一学时
两款均为全国人大，均以全体代表为基数。左侧提议主体仅作定位，完整修改流程留第二讲。本讲说明更严格的表决要求保护根本规则的稳定性，同时保留依法修改的可能。不是所有国家都采用同一修宪程序。本轮没有采用1954年起草机构史料作事实例证。
本页来源
1. 中华人民共和国宪法
定位：第64条两款
https://www.npc.gov.cn/zgrdw/npc/xinwen/2018-03/22/content_2052489.htm
2. 马工程宪法学第二版
定位：印刷19页；PDF34页；教材原页及核对记录见来源核对/教材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第7页 / 共22页
教学环节：第一学时
先让学生口头回答，不提前翻至下一页。学生材料B给了完整第64条；题目已经假定其他条件符合，不要以没有全部程序信息回避本题关于门槛的判断。关注全体代表和到会代表的混淆。
本页来源
1. 中华人民共和国宪法
定位：第64条
https://www.npc.gov.cn/zgrdw/npc/xinwen/2018-03/22/content_2052489.htm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第8页 / 共22页
教学环节：第一学时
60%高于半数，低于三分之二，所以左项不达到、右项达到通过门槛。这里没有声称真实议案已完成全部程序。可接受学生用分数、百分比或自然语言说明。关键漏项是到会代表、半数以上或把全国人大与常委会混同。
本页来源
1. 中华人民共和国宪法
定位：第64条
https://www.npc.gov.cn/zgrdw/npc/xinwen/2018-03/22/content_2052489.htm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第9页 / 共22页
教学环节：第一学时
第一学时最后9分钟：让学生用材料A、B完成三栏短答，阅读1分钟、笔答3分钟、反馈2分钟，教师提示2分钟、转场1分钟。每栏必须给我国规范与解释，而不仅写三个标题。最后追问普通法律是否因此不重要。下一页再提供讲评。
本页来源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第10页 / 共22页
教学环节：第一学时
可接受用不同正确例证解释三方面：内容可举国家性质、根本制度、任务、权利或机构；效力依据序言和第5条；程序以第64条两款比较。根本不等于其他法律不重要。请教师从学生答案中选一条只有结论而无依据的表述，当堂补齐。第一学时到此45分钟。
本页来源
1. 马工程宪法学第二版
定位：印刷18—20页；PDF33—35页；教材原页及核对记录见来源核对/教材
2. 中华人民共和国宪法
定位：序言、第1、5、64条
https://www.npc.gov.cn/zgrdw/npc/xinwen/2018-03/22/content_2052489.htm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第11页 / 共22页
教学环节：第二学时
第二学时开始，结合关键讲解5和材料C说明制度化与法律化。把权力归属、行使机关、产生和监督关系落实成制度，并由法律确认。以下卡片节取宪法原文；左项第2条第1款，中项第2条第2款，右项第3条第2款。教材的本质论述还包含政治力量对比等维度，本课从我国制度切入，不宣称只有一种解释。
本页来源
1. 中华人民共和国宪法
定位：第2条第1、2款；第3条第2款
https://www.npc.gov.cn/zgrdw/npc/xinwen/2018-03/22/content_2052489.htm
2. 马工程宪法学第二版
定位：印刷20—21页；PDF35—36页；教材原页及核对记录见来源核对/教材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第12页 / 共22页
教学环节：第二学时
教材五项原则各有位置，右下的监督制约不可被民主集中制替换。用关键讲解6把这些原则连成一段话：在党的领导下，人民通过制度行使国家权力，权力依法运行、尊重保障人权并受监督。图中的分组只为版面展示，不表示原则之间的等级或单向因果。民主集中制在第3条国家机构组织活动层面说明。
本页来源
1. 马工程宪法学第二版
定位：印刷92、95—96、100、103页；PDF107、110—111、115、118页；教材原页及核对记录见来源核对/教材
2. 中华人民共和国宪法
定位：第1、2、3、5、33条
https://www.npc.gov.cn/zgrdw/npc/xinwen/2018-03/22/content_2052489.htm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第13页 / 共22页
教学环节：第二学时
任务3口头回答两层：先用第2、3条说出一项制度化安排，再说明第33条如何约束国家权力活动。教师说明尊重与保障既包含不任意侵害，也需要相应制度和履职保障。学生只背五个词不够，能举人大产生/负责/监督等一项联系即可。第五讲再深入基本权利理论。
本页来源
1. 中华人民共和国宪法
定位：第2、3条；第33条第3款
https://www.npc.gov.cn/zgrdw/npc/xinwen/2018-03/22/content_2052489.htm
2. 马工程宪法学第二版
定位：印刷100、103页；PDF115、118页；教材原页及核对记录见来源核对/教材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第14页 / 共22页
教学环节：第二学时
恢复原《10 宪法总论》第17页和教材印刷20页的线索。左侧确认赔偿权，右侧同时说明权利保障与促进国家机关依法行使职权。请学生先圈出两边的权利、法律规定和依法行使职权；下一页继续看法律具体增加什么，不停在根据宪法四字。
本页来源
1. 中华人民共和国宪法
定位：第41条第3款
https://www.npc.gov.cn/zgrdw/npc/xinwen/2018-03/22/content_2052489.htm
2. 中华人民共和国国家赔偿法
定位：第1条；2012年第二次修正全文
https://fgk.chinatax.gov.cn/zcfgk/c100009/c5211800/content.html
3. 马工程宪法学第二版
定位：印刷20页；PDF35页；教材原页及核对记录见来源核对/教材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第15页 / 共22页
教学环节：第二学时
此页为材料D的定位提示和教学概括，不是三段逐字引文。学生手中有完整的选用短条文。讲清第2条的条件、第3条第一项的违法行政拘留以及第7条第一款的义务机关。关键是让学生看到法律增添了可判断的情形和主体，金额、期限、管辖不在本课展开。
本页来源
1. 中华人民共和国国家赔偿法
定位：第2条第1款；第3条起句及第1项；第7条第1款；2012年第二次修正全文
https://fgk.chinatax.gov.cn/zcfgk/c100009/c5211800/content.html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第16页 / 共22页
教学环节：第二学时
按材料D任务4三个小问笔答，题目事实设为已经查明。明确行政职权，防止与刑事侦查拘留混淆。先作答后到下一页讲评，不让未知金额遮蔽已可判断的赔偿权。此段总18分钟已包括阅读3、作答5、讲解5、反馈4、转场1分钟。
本页来源
1. 中华人民共和国宪法
定位：第41条第3款
https://www.npc.gov.cn/zgrdw/npc/xinwen/2018-03/22/content_2052489.htm
2. 中华人民共和国国家赔偿法
定位：第1、2、3、7条所选条款；2012年第二次修正全文
https://fgk.chinatax.gov.cn/zcfgk/c100009/c5211800/content.html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第17页 / 共22页
教学环节：第二学时
第1问结论：甲有取得国家赔偿的权利，县公安局为义务机关。第2问从宪法权利要求讲到具体法律情形与主体。第3问回答宪法先已有最高效力，普通法律具体安排实现。每项理由应落到给定条文；不接受仅答有赔偿权而不说明行政职权，也不接受金额不明所以一概无法判断。细答及不同可接受表达见参考答案。
本页来源
1. 中华人民共和国宪法
定位：第41条第3款；序言、第5条
https://www.npc.gov.cn/zgrdw/npc/xinwen/2018-03/22/content_2052489.htm
2. 中华人民共和国国家赔偿法
定位：第2条第1款、第3条起句及第1项、第7条第1款；2012年第二次修正全文
https://fgk.chinatax.gov.cn/zcfgk/c100009/c5211800/content.html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第18页 / 共22页
教学环节：第二学时
先用材料A回答甲，再笔答乙的具体缺口。乙须区分不能证明有权和已经证明违法，不要自动套用上一题的违法行政拘留事实。题目的有限确定结论与未知边界都要说出来。任务共9分钟，讲1、读1、答3、反馈3、转场1。
本页来源
1. 中华人民共和国宪法
定位：序言、第5条、第33条第3款
https://www.npc.gov.cn/zgrdw/npc/xinwen/2018-03/22/content_2052489.htm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第19页 / 共22页
教学环节：第二学时
甲能否定不受宪法约束的主张；不需要先知道该法律名称才能判断最高效力的一般关系。乙能确定笼统目标不足以证明具体授权，却不能据此直接判定必然违法和当然应赔偿。请学生比较任务4与乙的事实差异，不能统一回答资料不足。对应参考答案任务5。
本页来源
1. 中华人民共和国宪法
定位：序言、第5条、第33条第3款
https://www.npc.gov.cn/zgrdw/npc/xinwen/2018-03/22/content_2052489.htm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第20页 / 共22页
教学环节：第二学时
先请学生自己补全。可用国家赔偿例子说明三层关系。教师依据出口句抓两个错误：法律制定前宪法无效、抽象原则自动给予全部具体权限。出口句与最后讲评共4分钟，不再扩展新部门法。
本页来源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第21页 / 共22页
教学环节：第二学时
本页给任务6参考方向，可接受不同准确表达。提示第二讲承接宪法发展与修改，第五讲深化基本权利，第七讲讲机构，第八讲讲实施监督；本轮没有改写这些课次。若学校每学时50分钟，按教案在第一学时任务2前增加互评、第二学时任务5后增加效力与效果辨析，各5分钟。
本页来源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第22页 / 共22页
教学环节：查读附页
教材关键概念均回查所列原PDF图像，印刷页和物理页分别记录。所选现行规范在本轮核查，国家赔偿法2012年第二次修正全文；2026年立法预备项目不是已生效修法。完整来源、实际读取范围、旧课件恢复与取舍见05来源与核对。此页供查读，不新增课堂任务。
本页来源
1. 马工程宪法学第二版
定位：印刷18—21、89、92、95—96、100、103页；PDF33—36、104、107、110—111、115、118页；教材原页及核对记录见来源核对/教材
本页可点击来源清单
中华人民共和国宪法
序言；第1—3、5、33、41、64条的本讲节录
https://www.npc.gov.cn/zgrdw/npc/xinwen/2018-03/22/content_2052489.htm
中华人民共和国国家赔偿法
第1条、第2条第1款、第3条起句及第1项、第7条第1款
https://fgk.chinatax.gov.cn/zcfgk/c100009/c5211800/content.html
马工程宪法学第二版及本讲配套
教材原页定位、学生材料、逐题答案与关键讲解见审阅包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www.npc.gov.cn/zgrdw/npc/xinwen/2018-03/22/content_2052489.htm" TargetMode="External"/><Relationship Id="rId2" Type="http://schemas.openxmlformats.org/officeDocument/2006/relationships/hyperlink" Target="https://fgk.chinatax.gov.cn/zcfgk/c100009/c5211800/content.html"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735"/>
        </a:solidFill>
      </p:bgPr>
    </p:bg>
    <p:spTree>
      <p:nvGrpSpPr>
        <p:cNvPr id="1" name=""/>
        <p:cNvGrpSpPr/>
        <p:nvPr/>
      </p:nvGrpSpPr>
      <p:grpSpPr>
        <a:xfrm>
          <a:off x="0" y="0"/>
          <a:ext cx="0" cy="0"/>
          <a:chOff x="0" y="0"/>
          <a:chExt cx="0" cy="0"/>
        </a:xfrm>
      </p:grpSpPr>
      <p:sp>
        <p:nvSpPr>
          <p:cNvPr id="2" name="Shape 0"/>
          <p:cNvSpPr/>
          <p:nvPr/>
        </p:nvSpPr>
        <p:spPr>
          <a:xfrm>
            <a:off x="685800" y="978408"/>
            <a:ext cx="109728" cy="4489704"/>
          </a:xfrm>
          <a:prstGeom prst="rect">
            <a:avLst/>
          </a:prstGeom>
          <a:solidFill>
            <a:srgbClr val="B13D38"/>
          </a:solidFill>
          <a:ln w="10160">
            <a:solidFill>
              <a:srgbClr val="B13D38">
                <a:alpha val="0"/>
              </a:srgbClr>
            </a:solidFill>
            <a:prstDash val="solid"/>
          </a:ln>
        </p:spPr>
      </p:sp>
      <p:sp>
        <p:nvSpPr>
          <p:cNvPr id="3" name="Text 1"/>
          <p:cNvSpPr/>
          <p:nvPr/>
        </p:nvSpPr>
        <p:spPr>
          <a:xfrm>
            <a:off x="987552" y="731520"/>
            <a:ext cx="1371600" cy="621792"/>
          </a:xfrm>
          <a:prstGeom prst="rect">
            <a:avLst/>
          </a:prstGeom>
          <a:noFill/>
          <a:ln/>
        </p:spPr>
        <p:txBody>
          <a:bodyPr wrap="square" lIns="0" tIns="0" rIns="0" bIns="0" rtlCol="0" anchor="t"/>
          <a:lstStyle/>
          <a:p>
            <a:pPr indent="0" marL="0">
              <a:lnSpc>
                <a:spcPct val="108000"/>
              </a:lnSpc>
              <a:buNone/>
            </a:pPr>
            <a:r>
              <a:rPr lang="en-US" sz="3400" b="1" dirty="0">
                <a:solidFill>
                  <a:srgbClr val="B13D38"/>
                </a:solidFill>
                <a:latin typeface="Microsoft YaHei" pitchFamily="34" charset="0"/>
                <a:ea typeface="Microsoft YaHei" pitchFamily="34" charset="-122"/>
                <a:cs typeface="Microsoft YaHei" pitchFamily="34" charset="-120"/>
              </a:rPr>
              <a:t>01</a:t>
            </a:r>
            <a:endParaRPr lang="en-US" sz="3400" dirty="0"/>
          </a:p>
        </p:txBody>
      </p:sp>
      <p:sp>
        <p:nvSpPr>
          <p:cNvPr id="4" name="Text 2"/>
          <p:cNvSpPr/>
          <p:nvPr/>
        </p:nvSpPr>
        <p:spPr>
          <a:xfrm>
            <a:off x="987552" y="1682496"/>
            <a:ext cx="4572000" cy="502920"/>
          </a:xfrm>
          <a:prstGeom prst="rect">
            <a:avLst/>
          </a:prstGeom>
          <a:noFill/>
          <a:ln/>
        </p:spPr>
        <p:txBody>
          <a:bodyPr wrap="square" lIns="0" tIns="0" rIns="0" bIns="0" rtlCol="0" anchor="t"/>
          <a:lstStyle/>
          <a:p>
            <a:pPr indent="0" marL="0">
              <a:lnSpc>
                <a:spcPct val="108000"/>
              </a:lnSpc>
              <a:buNone/>
            </a:pPr>
            <a:r>
              <a:rPr lang="en-US" sz="2200" dirty="0">
                <a:solidFill>
                  <a:srgbClr val="D9D5CA"/>
                </a:solidFill>
                <a:latin typeface="Microsoft YaHei" pitchFamily="34" charset="0"/>
                <a:ea typeface="Microsoft YaHei" pitchFamily="34" charset="-122"/>
                <a:cs typeface="Microsoft YaHei" pitchFamily="34" charset="-120"/>
              </a:rPr>
              <a:t>宪法学</a:t>
            </a:r>
            <a:endParaRPr lang="en-US" sz="2200" dirty="0"/>
          </a:p>
        </p:txBody>
      </p:sp>
      <p:sp>
        <p:nvSpPr>
          <p:cNvPr id="5" name="Text 3"/>
          <p:cNvSpPr/>
          <p:nvPr/>
        </p:nvSpPr>
        <p:spPr>
          <a:xfrm>
            <a:off x="987552" y="2304288"/>
            <a:ext cx="10241280" cy="1033272"/>
          </a:xfrm>
          <a:prstGeom prst="rect">
            <a:avLst/>
          </a:prstGeom>
          <a:noFill/>
          <a:ln/>
        </p:spPr>
        <p:txBody>
          <a:bodyPr wrap="square" lIns="0" tIns="0" rIns="0" bIns="0" rtlCol="0" anchor="t"/>
          <a:lstStyle/>
          <a:p>
            <a:pPr indent="0" marL="0">
              <a:lnSpc>
                <a:spcPct val="108000"/>
              </a:lnSpc>
              <a:buNone/>
            </a:pPr>
            <a:r>
              <a:rPr lang="en-US" sz="3400" b="1" dirty="0">
                <a:solidFill>
                  <a:srgbClr val="FFFFFF"/>
                </a:solidFill>
                <a:latin typeface="Microsoft YaHei" pitchFamily="34" charset="0"/>
                <a:ea typeface="Microsoft YaHei" pitchFamily="34" charset="-122"/>
                <a:cs typeface="Microsoft YaHei" pitchFamily="34" charset="-120"/>
              </a:rPr>
              <a:t>宪法总论</a:t>
            </a:r>
            <a:endParaRPr lang="en-US" sz="3400" dirty="0"/>
          </a:p>
        </p:txBody>
      </p:sp>
      <p:sp>
        <p:nvSpPr>
          <p:cNvPr id="6" name="Text 4"/>
          <p:cNvSpPr/>
          <p:nvPr/>
        </p:nvSpPr>
        <p:spPr>
          <a:xfrm>
            <a:off x="1005840" y="3703320"/>
            <a:ext cx="9966960" cy="1033272"/>
          </a:xfrm>
          <a:prstGeom prst="rect">
            <a:avLst/>
          </a:prstGeom>
          <a:noFill/>
          <a:ln/>
        </p:spPr>
        <p:txBody>
          <a:bodyPr wrap="square" lIns="0" tIns="0" rIns="0" bIns="0" rtlCol="0" anchor="t"/>
          <a:lstStyle/>
          <a:p>
            <a:pPr indent="0" marL="0">
              <a:lnSpc>
                <a:spcPct val="108000"/>
              </a:lnSpc>
              <a:buNone/>
            </a:pPr>
            <a:r>
              <a:rPr lang="en-US" sz="2400" dirty="0">
                <a:solidFill>
                  <a:srgbClr val="E8E3D9"/>
                </a:solidFill>
                <a:latin typeface="Microsoft YaHei" pitchFamily="34" charset="0"/>
                <a:ea typeface="Microsoft YaHei" pitchFamily="34" charset="-122"/>
                <a:cs typeface="Microsoft YaHei" pitchFamily="34" charset="-120"/>
              </a:rPr>
              <a:t>宪法为什么是国家根本法？</a:t>
            </a:r>
            <a:endParaRPr lang="en-US" sz="2400" dirty="0"/>
          </a:p>
        </p:txBody>
      </p:sp>
      <p:sp>
        <p:nvSpPr>
          <p:cNvPr id="7" name="Text 5"/>
          <p:cNvSpPr/>
          <p:nvPr/>
        </p:nvSpPr>
        <p:spPr>
          <a:xfrm>
            <a:off x="1005840" y="5623560"/>
            <a:ext cx="6858000" cy="365760"/>
          </a:xfrm>
          <a:prstGeom prst="rect">
            <a:avLst/>
          </a:prstGeom>
          <a:noFill/>
          <a:ln/>
        </p:spPr>
        <p:txBody>
          <a:bodyPr wrap="square" lIns="0" tIns="0" rIns="0" bIns="0" rtlCol="0" anchor="t"/>
          <a:lstStyle/>
          <a:p>
            <a:pPr indent="0" marL="0">
              <a:lnSpc>
                <a:spcPct val="108000"/>
              </a:lnSpc>
              <a:buNone/>
            </a:pPr>
            <a:r>
              <a:rPr lang="en-US" sz="1600" dirty="0">
                <a:solidFill>
                  <a:srgbClr val="CCC7BC"/>
                </a:solidFill>
                <a:latin typeface="Microsoft YaHei" pitchFamily="34" charset="0"/>
                <a:ea typeface="Microsoft YaHei" pitchFamily="34" charset="-122"/>
                <a:cs typeface="Microsoft YaHei" pitchFamily="34" charset="-120"/>
              </a:rPr>
              <a:t>公安专业一年级 · 两学时</a:t>
            </a:r>
            <a:endParaRPr lang="en-US" sz="1600" dirty="0"/>
          </a:p>
        </p:txBody>
      </p:sp>
      <p:sp>
        <p:nvSpPr>
          <p:cNvPr id="8" name="Shape 6"/>
          <p:cNvSpPr/>
          <p:nvPr/>
        </p:nvSpPr>
        <p:spPr>
          <a:xfrm>
            <a:off x="658368" y="6291072"/>
            <a:ext cx="10872216" cy="10973"/>
          </a:xfrm>
          <a:prstGeom prst="rect">
            <a:avLst/>
          </a:prstGeom>
          <a:solidFill>
            <a:srgbClr val="53616B"/>
          </a:solidFill>
          <a:ln w="10160">
            <a:solidFill>
              <a:srgbClr val="53616B">
                <a:alpha val="0"/>
              </a:srgbClr>
            </a:solidFill>
            <a:prstDash val="solid"/>
          </a:ln>
        </p:spPr>
      </p:sp>
      <p:sp>
        <p:nvSpPr>
          <p:cNvPr id="9" name="Text 7"/>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DDD9D0"/>
                </a:solidFill>
                <a:latin typeface="Microsoft YaHei" pitchFamily="34" charset="0"/>
                <a:ea typeface="Microsoft YaHei" pitchFamily="34" charset="-122"/>
                <a:cs typeface="Microsoft YaHei" pitchFamily="34" charset="-120"/>
              </a:rPr>
              <a:t>宪法学 · 第1讲</a:t>
            </a:r>
            <a:endParaRPr lang="en-US" sz="1100" dirty="0"/>
          </a:p>
        </p:txBody>
      </p:sp>
      <p:sp>
        <p:nvSpPr>
          <p:cNvPr id="10" name="Text 8"/>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DDD9D0"/>
                </a:solidFill>
                <a:latin typeface="Microsoft YaHei" pitchFamily="34" charset="0"/>
                <a:ea typeface="Microsoft YaHei" pitchFamily="34" charset="-122"/>
                <a:cs typeface="Microsoft YaHei" pitchFamily="34" charset="-120"/>
              </a:rPr>
              <a:t>第1讲 · 公安专业一年级 · 两学时</a:t>
            </a:r>
            <a:endParaRPr lang="en-US" sz="1100" dirty="0"/>
          </a:p>
        </p:txBody>
      </p:sp>
      <p:sp>
        <p:nvSpPr>
          <p:cNvPr id="11" name="Text 9"/>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DDD9D0"/>
                </a:solidFill>
                <a:latin typeface="Microsoft YaHei" pitchFamily="34" charset="0"/>
                <a:ea typeface="Microsoft YaHei" pitchFamily="34" charset="-122"/>
                <a:cs typeface="Microsoft YaHei" pitchFamily="34" charset="-120"/>
              </a:rPr>
              <a:t>1 / 22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先把“根本法”解释出来</a:t>
            </a:r>
            <a:endParaRPr lang="en-US" sz="3200" dirty="0"/>
          </a:p>
        </p:txBody>
      </p:sp>
      <p:sp>
        <p:nvSpPr>
          <p:cNvPr id="3" name="Shape 1"/>
          <p:cNvSpPr/>
          <p:nvPr/>
        </p:nvSpPr>
        <p:spPr>
          <a:xfrm>
            <a:off x="768096" y="1773936"/>
            <a:ext cx="10652760" cy="3090672"/>
          </a:xfrm>
          <a:prstGeom prst="rect">
            <a:avLst/>
          </a:prstGeom>
          <a:solidFill>
            <a:srgbClr val="FFFFFF"/>
          </a:solidFill>
          <a:ln w="10160">
            <a:solidFill>
              <a:srgbClr val="D9D9D3"/>
            </a:solidFill>
            <a:prstDash val="solid"/>
          </a:ln>
        </p:spPr>
      </p:sp>
      <p:sp>
        <p:nvSpPr>
          <p:cNvPr id="4" name="Text 2"/>
          <p:cNvSpPr/>
          <p:nvPr/>
        </p:nvSpPr>
        <p:spPr>
          <a:xfrm>
            <a:off x="1033272" y="1956816"/>
            <a:ext cx="3657600" cy="283464"/>
          </a:xfrm>
          <a:prstGeom prst="rect">
            <a:avLst/>
          </a:prstGeom>
          <a:noFill/>
          <a:ln/>
        </p:spPr>
        <p:txBody>
          <a:bodyPr wrap="square" lIns="0" tIns="0" rIns="0" bIns="0" rtlCol="0" anchor="t"/>
          <a:lstStyle/>
          <a:p>
            <a:pPr indent="0" marL="0">
              <a:lnSpc>
                <a:spcPct val="108000"/>
              </a:lnSpc>
              <a:buNone/>
            </a:pPr>
            <a:r>
              <a:rPr lang="en-US" sz="1400" b="1" dirty="0">
                <a:solidFill>
                  <a:srgbClr val="B13D38"/>
                </a:solidFill>
                <a:latin typeface="Microsoft YaHei" pitchFamily="34" charset="0"/>
                <a:ea typeface="Microsoft YaHei" pitchFamily="34" charset="-122"/>
                <a:cs typeface="Microsoft YaHei" pitchFamily="34" charset="-120"/>
              </a:rPr>
              <a:t>教学概括</a:t>
            </a:r>
            <a:endParaRPr lang="en-US" sz="1400" dirty="0"/>
          </a:p>
        </p:txBody>
      </p:sp>
      <p:sp>
        <p:nvSpPr>
          <p:cNvPr id="5" name="Text 3"/>
          <p:cNvSpPr/>
          <p:nvPr/>
        </p:nvSpPr>
        <p:spPr>
          <a:xfrm>
            <a:off x="1033272" y="2423160"/>
            <a:ext cx="10104120" cy="1847088"/>
          </a:xfrm>
          <a:prstGeom prst="rect">
            <a:avLst/>
          </a:prstGeom>
          <a:noFill/>
          <a:ln/>
        </p:spPr>
        <p:txBody>
          <a:bodyPr wrap="square" lIns="0" tIns="0" rIns="0" bIns="0" rtlCol="0" anchor="t"/>
          <a:lstStyle/>
          <a:p>
            <a:pPr indent="0" marL="0">
              <a:lnSpc>
                <a:spcPct val="108000"/>
              </a:lnSpc>
              <a:buNone/>
            </a:pPr>
            <a:r>
              <a:rPr lang="en-US" sz="2600" dirty="0">
                <a:solidFill>
                  <a:srgbClr val="142735"/>
                </a:solidFill>
                <a:latin typeface="Microsoft YaHei" pitchFamily="34" charset="0"/>
                <a:ea typeface="Microsoft YaHei" pitchFamily="34" charset="-122"/>
                <a:cs typeface="Microsoft YaHei" pitchFamily="34" charset="-120"/>
              </a:rPr>
              <a:t>宪法规定国家根本制度、国家根本任务、公民基本权利和义务、国家权力组织运行等根本问题，具有最高法律效力，是国家的根本法。</a:t>
            </a:r>
            <a:endParaRPr lang="en-US" sz="2600" dirty="0"/>
          </a:p>
        </p:txBody>
      </p:sp>
      <p:sp>
        <p:nvSpPr>
          <p:cNvPr id="6" name="Text 4"/>
          <p:cNvSpPr/>
          <p:nvPr/>
        </p:nvSpPr>
        <p:spPr>
          <a:xfrm>
            <a:off x="1042416" y="4416552"/>
            <a:ext cx="10104120" cy="274320"/>
          </a:xfrm>
          <a:prstGeom prst="rect">
            <a:avLst/>
          </a:prstGeom>
          <a:noFill/>
          <a:ln/>
        </p:spPr>
        <p:txBody>
          <a:bodyPr wrap="square" lIns="0" tIns="0" rIns="0" bIns="0" rtlCol="0" anchor="t"/>
          <a:lstStyle/>
          <a:p>
            <a:pPr algn="r" indent="0" marL="0">
              <a:lnSpc>
                <a:spcPct val="108000"/>
              </a:lnSpc>
              <a:buNone/>
            </a:pPr>
            <a:r>
              <a:rPr lang="en-US" sz="1400" dirty="0">
                <a:solidFill>
                  <a:srgbClr val="64717A"/>
                </a:solidFill>
                <a:latin typeface="Microsoft YaHei" pitchFamily="34" charset="0"/>
                <a:ea typeface="Microsoft YaHei" pitchFamily="34" charset="-122"/>
                <a:cs typeface="Microsoft YaHei" pitchFamily="34" charset="-120"/>
              </a:rPr>
              <a:t>本讲概念说明</a:t>
            </a:r>
            <a:endParaRPr lang="en-US" sz="1400" dirty="0"/>
          </a:p>
        </p:txBody>
      </p:sp>
      <p:sp>
        <p:nvSpPr>
          <p:cNvPr id="7" name="Text 5"/>
          <p:cNvSpPr/>
          <p:nvPr/>
        </p:nvSpPr>
        <p:spPr>
          <a:xfrm>
            <a:off x="868680" y="5202936"/>
            <a:ext cx="10378440" cy="777240"/>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从根本内容、最高效力和修改程序三个方面理解。</a:t>
            </a:r>
            <a:endParaRPr lang="en-US" sz="2200" dirty="0"/>
          </a:p>
        </p:txBody>
      </p:sp>
      <p:sp>
        <p:nvSpPr>
          <p:cNvPr id="8" name="Shape 6"/>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9" name="Text 7"/>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第1讲</a:t>
            </a:r>
            <a:endParaRPr lang="en-US" sz="1100" dirty="0"/>
          </a:p>
        </p:txBody>
      </p:sp>
      <p:sp>
        <p:nvSpPr>
          <p:cNvPr id="10" name="Text 8"/>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教材18—20页（PDF33—35）；教学概括</a:t>
            </a:r>
            <a:endParaRPr lang="en-US" sz="1100" dirty="0"/>
          </a:p>
        </p:txBody>
      </p:sp>
      <p:sp>
        <p:nvSpPr>
          <p:cNvPr id="11" name="Text 9"/>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2 / 22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根本内容：安排国家生活的基本框架</a:t>
            </a:r>
            <a:endParaRPr lang="en-US" sz="3200" dirty="0"/>
          </a:p>
        </p:txBody>
      </p:sp>
      <p:sp>
        <p:nvSpPr>
          <p:cNvPr id="3" name="Shape 1"/>
          <p:cNvSpPr/>
          <p:nvPr/>
        </p:nvSpPr>
        <p:spPr>
          <a:xfrm>
            <a:off x="768096" y="1773936"/>
            <a:ext cx="3398520" cy="3264408"/>
          </a:xfrm>
          <a:prstGeom prst="rect">
            <a:avLst/>
          </a:prstGeom>
          <a:solidFill>
            <a:srgbClr val="FFFFFF"/>
          </a:solidFill>
          <a:ln w="10160">
            <a:solidFill>
              <a:srgbClr val="D9D9D3"/>
            </a:solidFill>
            <a:prstDash val="solid"/>
          </a:ln>
        </p:spPr>
      </p:sp>
      <p:sp>
        <p:nvSpPr>
          <p:cNvPr id="4" name="Text 2"/>
          <p:cNvSpPr/>
          <p:nvPr/>
        </p:nvSpPr>
        <p:spPr>
          <a:xfrm>
            <a:off x="99669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国家制度与任务</a:t>
            </a:r>
            <a:endParaRPr lang="en-US" sz="2400" dirty="0"/>
          </a:p>
        </p:txBody>
      </p:sp>
      <p:sp>
        <p:nvSpPr>
          <p:cNvPr id="5" name="Text 3"/>
          <p:cNvSpPr/>
          <p:nvPr/>
        </p:nvSpPr>
        <p:spPr>
          <a:xfrm>
            <a:off x="99669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第1条：国家性质、</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根本制度、党的领导。</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序言：国家根本任务。</a:t>
            </a:r>
            <a:endParaRPr lang="en-US" sz="2200" dirty="0"/>
          </a:p>
        </p:txBody>
      </p:sp>
      <p:sp>
        <p:nvSpPr>
          <p:cNvPr id="6" name="Shape 4"/>
          <p:cNvSpPr/>
          <p:nvPr/>
        </p:nvSpPr>
        <p:spPr>
          <a:xfrm>
            <a:off x="4395216" y="1773936"/>
            <a:ext cx="3398520" cy="3264408"/>
          </a:xfrm>
          <a:prstGeom prst="rect">
            <a:avLst/>
          </a:prstGeom>
          <a:solidFill>
            <a:srgbClr val="FFFFFF"/>
          </a:solidFill>
          <a:ln w="10160">
            <a:solidFill>
              <a:srgbClr val="D9D9D3"/>
            </a:solidFill>
            <a:prstDash val="solid"/>
          </a:ln>
        </p:spPr>
      </p:sp>
      <p:sp>
        <p:nvSpPr>
          <p:cNvPr id="7" name="Text 5"/>
          <p:cNvSpPr/>
          <p:nvPr/>
        </p:nvSpPr>
        <p:spPr>
          <a:xfrm>
            <a:off x="462381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公民基本权利</a:t>
            </a:r>
            <a:endParaRPr lang="en-US" sz="2400" dirty="0"/>
          </a:p>
        </p:txBody>
      </p:sp>
      <p:sp>
        <p:nvSpPr>
          <p:cNvPr id="8" name="Text 6"/>
          <p:cNvSpPr/>
          <p:nvPr/>
        </p:nvSpPr>
        <p:spPr>
          <a:xfrm>
            <a:off x="462381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第二章：公民基本</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权利和义务。</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例：人权保障要求。</a:t>
            </a:r>
            <a:endParaRPr lang="en-US" sz="2200" dirty="0"/>
          </a:p>
        </p:txBody>
      </p:sp>
      <p:sp>
        <p:nvSpPr>
          <p:cNvPr id="9" name="Shape 7"/>
          <p:cNvSpPr/>
          <p:nvPr/>
        </p:nvSpPr>
        <p:spPr>
          <a:xfrm>
            <a:off x="8022336" y="1773936"/>
            <a:ext cx="3398520" cy="3264408"/>
          </a:xfrm>
          <a:prstGeom prst="rect">
            <a:avLst/>
          </a:prstGeom>
          <a:solidFill>
            <a:srgbClr val="FFFFFF"/>
          </a:solidFill>
          <a:ln w="10160">
            <a:solidFill>
              <a:srgbClr val="D9D9D3"/>
            </a:solidFill>
            <a:prstDash val="solid"/>
          </a:ln>
        </p:spPr>
      </p:sp>
      <p:sp>
        <p:nvSpPr>
          <p:cNvPr id="10" name="Text 8"/>
          <p:cNvSpPr/>
          <p:nvPr/>
        </p:nvSpPr>
        <p:spPr>
          <a:xfrm>
            <a:off x="825093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国家权力组织</a:t>
            </a:r>
            <a:endParaRPr lang="en-US" sz="2400" dirty="0"/>
          </a:p>
        </p:txBody>
      </p:sp>
      <p:sp>
        <p:nvSpPr>
          <p:cNvPr id="11" name="Text 9"/>
          <p:cNvSpPr/>
          <p:nvPr/>
        </p:nvSpPr>
        <p:spPr>
          <a:xfrm>
            <a:off x="825093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第三章：机关设置、</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职权及其相互关系。</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例：人大与其他机关。</a:t>
            </a:r>
            <a:endParaRPr lang="en-US" sz="2200" dirty="0"/>
          </a:p>
        </p:txBody>
      </p:sp>
      <p:sp>
        <p:nvSpPr>
          <p:cNvPr id="12" name="Shape 10"/>
          <p:cNvSpPr/>
          <p:nvPr/>
        </p:nvSpPr>
        <p:spPr>
          <a:xfrm>
            <a:off x="768096" y="5358384"/>
            <a:ext cx="10652760" cy="621792"/>
          </a:xfrm>
          <a:prstGeom prst="rect">
            <a:avLst/>
          </a:prstGeom>
          <a:solidFill>
            <a:srgbClr val="EEEAE1"/>
          </a:solidFill>
          <a:ln w="10160">
            <a:solidFill>
              <a:srgbClr val="EEEAE1">
                <a:alpha val="0"/>
              </a:srgbClr>
            </a:solidFill>
            <a:prstDash val="solid"/>
          </a:ln>
        </p:spPr>
      </p:sp>
      <p:sp>
        <p:nvSpPr>
          <p:cNvPr id="13" name="Text 11"/>
          <p:cNvSpPr/>
          <p:nvPr/>
        </p:nvSpPr>
        <p:spPr>
          <a:xfrm>
            <a:off x="987552" y="5477256"/>
            <a:ext cx="10213848" cy="3840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宪法建立基本框架；普通法律在具体领域进一步安排。</a:t>
            </a:r>
            <a:endParaRPr lang="en-US" sz="2200" dirty="0"/>
          </a:p>
        </p:txBody>
      </p:sp>
      <p:sp>
        <p:nvSpPr>
          <p:cNvPr id="14" name="Shape 12"/>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5" name="Text 13"/>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第1讲</a:t>
            </a:r>
            <a:endParaRPr lang="en-US" sz="1100" dirty="0"/>
          </a:p>
        </p:txBody>
      </p:sp>
      <p:sp>
        <p:nvSpPr>
          <p:cNvPr id="16" name="Text 14"/>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《宪法》序言、第1—3条及第二、三章</a:t>
            </a:r>
            <a:endParaRPr lang="en-US" sz="1100" dirty="0"/>
          </a:p>
        </p:txBody>
      </p:sp>
      <p:sp>
        <p:nvSpPr>
          <p:cNvPr id="17" name="Text 15"/>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3 / 22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最高效力：其他法律不得与宪法抵触</a:t>
            </a:r>
            <a:endParaRPr lang="en-US" sz="3200" dirty="0"/>
          </a:p>
        </p:txBody>
      </p:sp>
      <p:sp>
        <p:nvSpPr>
          <p:cNvPr id="3" name="Shape 1"/>
          <p:cNvSpPr/>
          <p:nvPr/>
        </p:nvSpPr>
        <p:spPr>
          <a:xfrm>
            <a:off x="768096" y="1773936"/>
            <a:ext cx="10652760" cy="3090672"/>
          </a:xfrm>
          <a:prstGeom prst="rect">
            <a:avLst/>
          </a:prstGeom>
          <a:solidFill>
            <a:srgbClr val="FFFFFF"/>
          </a:solidFill>
          <a:ln w="10160">
            <a:solidFill>
              <a:srgbClr val="D9D9D3"/>
            </a:solidFill>
            <a:prstDash val="solid"/>
          </a:ln>
        </p:spPr>
      </p:sp>
      <p:sp>
        <p:nvSpPr>
          <p:cNvPr id="4" name="Text 2"/>
          <p:cNvSpPr/>
          <p:nvPr/>
        </p:nvSpPr>
        <p:spPr>
          <a:xfrm>
            <a:off x="1033272" y="1956816"/>
            <a:ext cx="3657600" cy="283464"/>
          </a:xfrm>
          <a:prstGeom prst="rect">
            <a:avLst/>
          </a:prstGeom>
          <a:noFill/>
          <a:ln/>
        </p:spPr>
        <p:txBody>
          <a:bodyPr wrap="square" lIns="0" tIns="0" rIns="0" bIns="0" rtlCol="0" anchor="t"/>
          <a:lstStyle/>
          <a:p>
            <a:pPr indent="0" marL="0">
              <a:lnSpc>
                <a:spcPct val="108000"/>
              </a:lnSpc>
              <a:buNone/>
            </a:pPr>
            <a:r>
              <a:rPr lang="en-US" sz="1400" b="1" dirty="0">
                <a:solidFill>
                  <a:srgbClr val="B13D38"/>
                </a:solidFill>
                <a:latin typeface="Microsoft YaHei" pitchFamily="34" charset="0"/>
                <a:ea typeface="Microsoft YaHei" pitchFamily="34" charset="-122"/>
                <a:cs typeface="Microsoft YaHei" pitchFamily="34" charset="-120"/>
              </a:rPr>
              <a:t>法条原文</a:t>
            </a:r>
            <a:endParaRPr lang="en-US" sz="1400" dirty="0"/>
          </a:p>
        </p:txBody>
      </p:sp>
      <p:sp>
        <p:nvSpPr>
          <p:cNvPr id="5" name="Text 3"/>
          <p:cNvSpPr/>
          <p:nvPr/>
        </p:nvSpPr>
        <p:spPr>
          <a:xfrm>
            <a:off x="1033272" y="2423160"/>
            <a:ext cx="10104120" cy="1847088"/>
          </a:xfrm>
          <a:prstGeom prst="rect">
            <a:avLst/>
          </a:prstGeom>
          <a:noFill/>
          <a:ln/>
        </p:spPr>
        <p:txBody>
          <a:bodyPr wrap="square" lIns="0" tIns="0" rIns="0" bIns="0" rtlCol="0" anchor="t"/>
          <a:lstStyle/>
          <a:p>
            <a:pPr indent="0" marL="0">
              <a:lnSpc>
                <a:spcPct val="108000"/>
              </a:lnSpc>
              <a:buNone/>
            </a:pPr>
            <a:r>
              <a:rPr lang="en-US" sz="2600" dirty="0">
                <a:solidFill>
                  <a:srgbClr val="142735"/>
                </a:solidFill>
                <a:latin typeface="Microsoft YaHei" pitchFamily="34" charset="0"/>
                <a:ea typeface="Microsoft YaHei" pitchFamily="34" charset="-122"/>
                <a:cs typeface="Microsoft YaHei" pitchFamily="34" charset="-120"/>
              </a:rPr>
              <a:t>一切法律、行政法规和地方性法规都不得同宪法相抵触。</a:t>
            </a:r>
            <a:endParaRPr lang="en-US" sz="2600" dirty="0"/>
          </a:p>
        </p:txBody>
      </p:sp>
      <p:sp>
        <p:nvSpPr>
          <p:cNvPr id="6" name="Text 4"/>
          <p:cNvSpPr/>
          <p:nvPr/>
        </p:nvSpPr>
        <p:spPr>
          <a:xfrm>
            <a:off x="1042416" y="4416552"/>
            <a:ext cx="10104120" cy="274320"/>
          </a:xfrm>
          <a:prstGeom prst="rect">
            <a:avLst/>
          </a:prstGeom>
          <a:noFill/>
          <a:ln/>
        </p:spPr>
        <p:txBody>
          <a:bodyPr wrap="square" lIns="0" tIns="0" rIns="0" bIns="0" rtlCol="0" anchor="t"/>
          <a:lstStyle/>
          <a:p>
            <a:pPr algn="r" indent="0" marL="0">
              <a:lnSpc>
                <a:spcPct val="108000"/>
              </a:lnSpc>
              <a:buNone/>
            </a:pPr>
            <a:r>
              <a:rPr lang="en-US" sz="1400" dirty="0">
                <a:solidFill>
                  <a:srgbClr val="64717A"/>
                </a:solidFill>
                <a:latin typeface="Microsoft YaHei" pitchFamily="34" charset="0"/>
                <a:ea typeface="Microsoft YaHei" pitchFamily="34" charset="-122"/>
                <a:cs typeface="Microsoft YaHei" pitchFamily="34" charset="-120"/>
              </a:rPr>
              <a:t>宪法第5条第3款</a:t>
            </a:r>
            <a:endParaRPr lang="en-US" sz="1400" dirty="0"/>
          </a:p>
        </p:txBody>
      </p:sp>
      <p:sp>
        <p:nvSpPr>
          <p:cNvPr id="7" name="Text 5"/>
          <p:cNvSpPr/>
          <p:nvPr/>
        </p:nvSpPr>
        <p:spPr>
          <a:xfrm>
            <a:off x="868680" y="5202936"/>
            <a:ext cx="10378440" cy="777240"/>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是否受宪法约束，取决于宪法的地位，而非法律开头有没有特定措辞。</a:t>
            </a:r>
            <a:endParaRPr lang="en-US" sz="2200" dirty="0"/>
          </a:p>
        </p:txBody>
      </p:sp>
      <p:sp>
        <p:nvSpPr>
          <p:cNvPr id="8" name="Shape 6"/>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9" name="Text 7"/>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第1讲</a:t>
            </a:r>
            <a:endParaRPr lang="en-US" sz="1100" dirty="0"/>
          </a:p>
        </p:txBody>
      </p:sp>
      <p:sp>
        <p:nvSpPr>
          <p:cNvPr id="10" name="Text 8"/>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《宪法》第5条第3款</a:t>
            </a:r>
            <a:endParaRPr lang="en-US" sz="1100" dirty="0"/>
          </a:p>
        </p:txBody>
      </p:sp>
      <p:sp>
        <p:nvSpPr>
          <p:cNvPr id="11" name="Text 9"/>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4 / 22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法律效力与实际效果要分开看</a:t>
            </a:r>
            <a:endParaRPr lang="en-US" sz="3200" dirty="0"/>
          </a:p>
        </p:txBody>
      </p:sp>
      <p:sp>
        <p:nvSpPr>
          <p:cNvPr id="3" name="Shape 1"/>
          <p:cNvSpPr/>
          <p:nvPr/>
        </p:nvSpPr>
        <p:spPr>
          <a:xfrm>
            <a:off x="768096" y="1773936"/>
            <a:ext cx="5202936" cy="3264408"/>
          </a:xfrm>
          <a:prstGeom prst="rect">
            <a:avLst/>
          </a:prstGeom>
          <a:solidFill>
            <a:srgbClr val="FFFFFF"/>
          </a:solidFill>
          <a:ln w="10160">
            <a:solidFill>
              <a:srgbClr val="D9D9D3"/>
            </a:solidFill>
            <a:prstDash val="solid"/>
          </a:ln>
        </p:spPr>
      </p:sp>
      <p:sp>
        <p:nvSpPr>
          <p:cNvPr id="4" name="Shape 2"/>
          <p:cNvSpPr/>
          <p:nvPr/>
        </p:nvSpPr>
        <p:spPr>
          <a:xfrm>
            <a:off x="768096" y="1773936"/>
            <a:ext cx="5202936" cy="658368"/>
          </a:xfrm>
          <a:prstGeom prst="rect">
            <a:avLst/>
          </a:prstGeom>
          <a:solidFill>
            <a:srgbClr val="142735"/>
          </a:solidFill>
          <a:ln w="10160">
            <a:solidFill>
              <a:srgbClr val="142735">
                <a:alpha val="0"/>
              </a:srgbClr>
            </a:solidFill>
            <a:prstDash val="solid"/>
          </a:ln>
        </p:spPr>
      </p:sp>
      <p:sp>
        <p:nvSpPr>
          <p:cNvPr id="5" name="Text 3"/>
          <p:cNvSpPr/>
          <p:nvPr/>
        </p:nvSpPr>
        <p:spPr>
          <a:xfrm>
            <a:off x="987552" y="1920240"/>
            <a:ext cx="4764024" cy="365760"/>
          </a:xfrm>
          <a:prstGeom prst="rect">
            <a:avLst/>
          </a:prstGeom>
          <a:noFill/>
          <a:ln/>
        </p:spPr>
        <p:txBody>
          <a:bodyPr wrap="square" lIns="0" tIns="0" rIns="0" bIns="0" rtlCol="0" anchor="t"/>
          <a:lstStyle/>
          <a:p>
            <a:pPr indent="0" marL="0">
              <a:lnSpc>
                <a:spcPct val="108000"/>
              </a:lnSpc>
              <a:buNone/>
            </a:pPr>
            <a:r>
              <a:rPr lang="en-US" sz="2400" b="1" dirty="0">
                <a:solidFill>
                  <a:srgbClr val="FFFFFF"/>
                </a:solidFill>
                <a:latin typeface="Microsoft YaHei" pitchFamily="34" charset="0"/>
                <a:ea typeface="Microsoft YaHei" pitchFamily="34" charset="-122"/>
                <a:cs typeface="Microsoft YaHei" pitchFamily="34" charset="-120"/>
              </a:rPr>
              <a:t>法律效力</a:t>
            </a:r>
            <a:endParaRPr lang="en-US" sz="2400" dirty="0"/>
          </a:p>
        </p:txBody>
      </p:sp>
      <p:sp>
        <p:nvSpPr>
          <p:cNvPr id="6" name="Text 4"/>
          <p:cNvSpPr/>
          <p:nvPr/>
        </p:nvSpPr>
        <p:spPr>
          <a:xfrm>
            <a:off x="1005840" y="2706624"/>
            <a:ext cx="4727448" cy="2139696"/>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应当约束谁？</a:t>
            </a:r>
            <a:endParaRPr lang="en-US" sz="2200" dirty="0"/>
          </a:p>
          <a:p>
            <a:pPr indent="0" marL="0">
              <a:lnSpc>
                <a:spcPct val="108000"/>
              </a:lnSpc>
              <a:buNone/>
            </a:pP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与其他规范是什么关系？</a:t>
            </a:r>
            <a:endParaRPr lang="en-US" sz="2200" dirty="0"/>
          </a:p>
          <a:p>
            <a:pPr indent="0" marL="0">
              <a:lnSpc>
                <a:spcPct val="108000"/>
              </a:lnSpc>
              <a:buNone/>
            </a:pP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宪法具有最高法律效力。</a:t>
            </a:r>
            <a:endParaRPr lang="en-US" sz="2200" dirty="0"/>
          </a:p>
        </p:txBody>
      </p:sp>
      <p:sp>
        <p:nvSpPr>
          <p:cNvPr id="7" name="Shape 5"/>
          <p:cNvSpPr/>
          <p:nvPr/>
        </p:nvSpPr>
        <p:spPr>
          <a:xfrm>
            <a:off x="6217920" y="1773936"/>
            <a:ext cx="5202936" cy="3264408"/>
          </a:xfrm>
          <a:prstGeom prst="rect">
            <a:avLst/>
          </a:prstGeom>
          <a:solidFill>
            <a:srgbClr val="FFFFFF"/>
          </a:solidFill>
          <a:ln w="10160">
            <a:solidFill>
              <a:srgbClr val="D9D9D3"/>
            </a:solidFill>
            <a:prstDash val="solid"/>
          </a:ln>
        </p:spPr>
      </p:sp>
      <p:sp>
        <p:nvSpPr>
          <p:cNvPr id="8" name="Shape 6"/>
          <p:cNvSpPr/>
          <p:nvPr/>
        </p:nvSpPr>
        <p:spPr>
          <a:xfrm>
            <a:off x="6217920" y="1773936"/>
            <a:ext cx="5202936" cy="658368"/>
          </a:xfrm>
          <a:prstGeom prst="rect">
            <a:avLst/>
          </a:prstGeom>
          <a:solidFill>
            <a:srgbClr val="B13D38"/>
          </a:solidFill>
          <a:ln w="10160">
            <a:solidFill>
              <a:srgbClr val="B13D38">
                <a:alpha val="0"/>
              </a:srgbClr>
            </a:solidFill>
            <a:prstDash val="solid"/>
          </a:ln>
        </p:spPr>
      </p:sp>
      <p:sp>
        <p:nvSpPr>
          <p:cNvPr id="9" name="Text 7"/>
          <p:cNvSpPr/>
          <p:nvPr/>
        </p:nvSpPr>
        <p:spPr>
          <a:xfrm>
            <a:off x="6437376" y="1920240"/>
            <a:ext cx="4764024" cy="365760"/>
          </a:xfrm>
          <a:prstGeom prst="rect">
            <a:avLst/>
          </a:prstGeom>
          <a:noFill/>
          <a:ln/>
        </p:spPr>
        <p:txBody>
          <a:bodyPr wrap="square" lIns="0" tIns="0" rIns="0" bIns="0" rtlCol="0" anchor="t"/>
          <a:lstStyle/>
          <a:p>
            <a:pPr indent="0" marL="0">
              <a:lnSpc>
                <a:spcPct val="108000"/>
              </a:lnSpc>
              <a:buNone/>
            </a:pPr>
            <a:r>
              <a:rPr lang="en-US" sz="2400" b="1" dirty="0">
                <a:solidFill>
                  <a:srgbClr val="FFFFFF"/>
                </a:solidFill>
                <a:latin typeface="Microsoft YaHei" pitchFamily="34" charset="0"/>
                <a:ea typeface="Microsoft YaHei" pitchFamily="34" charset="-122"/>
                <a:cs typeface="Microsoft YaHei" pitchFamily="34" charset="-120"/>
              </a:rPr>
              <a:t>实际效果</a:t>
            </a:r>
            <a:endParaRPr lang="en-US" sz="2400" dirty="0"/>
          </a:p>
        </p:txBody>
      </p:sp>
      <p:sp>
        <p:nvSpPr>
          <p:cNvPr id="10" name="Text 8"/>
          <p:cNvSpPr/>
          <p:nvPr/>
        </p:nvSpPr>
        <p:spPr>
          <a:xfrm>
            <a:off x="6455664" y="2706624"/>
            <a:ext cx="4727448" cy="2139696"/>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现实中是否得到遵守？</a:t>
            </a:r>
            <a:endParaRPr lang="en-US" sz="2200" dirty="0"/>
          </a:p>
          <a:p>
            <a:pPr indent="0" marL="0">
              <a:lnSpc>
                <a:spcPct val="108000"/>
              </a:lnSpc>
              <a:buNone/>
            </a:pP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权利保障是否真正实现？</a:t>
            </a:r>
            <a:endParaRPr lang="en-US" sz="2200" dirty="0"/>
          </a:p>
          <a:p>
            <a:pPr indent="0" marL="0">
              <a:lnSpc>
                <a:spcPct val="108000"/>
              </a:lnSpc>
              <a:buNone/>
            </a:pP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需要观察履职和制度运行。</a:t>
            </a:r>
            <a:endParaRPr lang="en-US" sz="2200" dirty="0"/>
          </a:p>
        </p:txBody>
      </p:sp>
      <p:sp>
        <p:nvSpPr>
          <p:cNvPr id="11" name="Shape 9"/>
          <p:cNvSpPr/>
          <p:nvPr/>
        </p:nvSpPr>
        <p:spPr>
          <a:xfrm>
            <a:off x="768096" y="5358384"/>
            <a:ext cx="10652760" cy="621792"/>
          </a:xfrm>
          <a:prstGeom prst="rect">
            <a:avLst/>
          </a:prstGeom>
          <a:solidFill>
            <a:srgbClr val="EEEAE1"/>
          </a:solidFill>
          <a:ln w="10160">
            <a:solidFill>
              <a:srgbClr val="EEEAE1">
                <a:alpha val="0"/>
              </a:srgbClr>
            </a:solidFill>
            <a:prstDash val="solid"/>
          </a:ln>
        </p:spPr>
      </p:sp>
      <p:sp>
        <p:nvSpPr>
          <p:cNvPr id="12" name="Text 10"/>
          <p:cNvSpPr/>
          <p:nvPr/>
        </p:nvSpPr>
        <p:spPr>
          <a:xfrm>
            <a:off x="987552" y="5477256"/>
            <a:ext cx="10213848" cy="3840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发生违反规范的行为，应依法查明和纠正。</a:t>
            </a:r>
            <a:endParaRPr lang="en-US" sz="2200" dirty="0"/>
          </a:p>
        </p:txBody>
      </p:sp>
      <p:sp>
        <p:nvSpPr>
          <p:cNvPr id="13" name="Shape 11"/>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4" name="Text 12"/>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第1讲</a:t>
            </a:r>
            <a:endParaRPr lang="en-US" sz="1100" dirty="0"/>
          </a:p>
        </p:txBody>
      </p:sp>
      <p:sp>
        <p:nvSpPr>
          <p:cNvPr id="15" name="Text 13"/>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《宪法》第5条；最低必要概念区别</a:t>
            </a:r>
            <a:endParaRPr lang="en-US" sz="1100" dirty="0"/>
          </a:p>
        </p:txBody>
      </p:sp>
      <p:sp>
        <p:nvSpPr>
          <p:cNvPr id="16" name="Text 14"/>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5 / 22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修改程序特殊性：看同一机关的两种门槛</a:t>
            </a:r>
            <a:endParaRPr lang="en-US" sz="3200" dirty="0"/>
          </a:p>
        </p:txBody>
      </p:sp>
      <p:sp>
        <p:nvSpPr>
          <p:cNvPr id="3" name="Shape 1"/>
          <p:cNvSpPr/>
          <p:nvPr/>
        </p:nvSpPr>
        <p:spPr>
          <a:xfrm>
            <a:off x="768096" y="1773936"/>
            <a:ext cx="5202936" cy="3264408"/>
          </a:xfrm>
          <a:prstGeom prst="rect">
            <a:avLst/>
          </a:prstGeom>
          <a:solidFill>
            <a:srgbClr val="FFFFFF"/>
          </a:solidFill>
          <a:ln w="10160">
            <a:solidFill>
              <a:srgbClr val="D9D9D3"/>
            </a:solidFill>
            <a:prstDash val="solid"/>
          </a:ln>
        </p:spPr>
      </p:sp>
      <p:sp>
        <p:nvSpPr>
          <p:cNvPr id="4" name="Shape 2"/>
          <p:cNvSpPr/>
          <p:nvPr/>
        </p:nvSpPr>
        <p:spPr>
          <a:xfrm>
            <a:off x="768096" y="1773936"/>
            <a:ext cx="5202936" cy="658368"/>
          </a:xfrm>
          <a:prstGeom prst="rect">
            <a:avLst/>
          </a:prstGeom>
          <a:solidFill>
            <a:srgbClr val="142735"/>
          </a:solidFill>
          <a:ln w="10160">
            <a:solidFill>
              <a:srgbClr val="142735">
                <a:alpha val="0"/>
              </a:srgbClr>
            </a:solidFill>
            <a:prstDash val="solid"/>
          </a:ln>
        </p:spPr>
      </p:sp>
      <p:sp>
        <p:nvSpPr>
          <p:cNvPr id="5" name="Text 3"/>
          <p:cNvSpPr/>
          <p:nvPr/>
        </p:nvSpPr>
        <p:spPr>
          <a:xfrm>
            <a:off x="987552" y="1920240"/>
            <a:ext cx="4764024" cy="365760"/>
          </a:xfrm>
          <a:prstGeom prst="rect">
            <a:avLst/>
          </a:prstGeom>
          <a:noFill/>
          <a:ln/>
        </p:spPr>
        <p:txBody>
          <a:bodyPr wrap="square" lIns="0" tIns="0" rIns="0" bIns="0" rtlCol="0" anchor="t"/>
          <a:lstStyle/>
          <a:p>
            <a:pPr indent="0" marL="0">
              <a:lnSpc>
                <a:spcPct val="108000"/>
              </a:lnSpc>
              <a:buNone/>
            </a:pPr>
            <a:r>
              <a:rPr lang="en-US" sz="2400" b="1" dirty="0">
                <a:solidFill>
                  <a:srgbClr val="FFFFFF"/>
                </a:solidFill>
                <a:latin typeface="Microsoft YaHei" pitchFamily="34" charset="0"/>
                <a:ea typeface="Microsoft YaHei" pitchFamily="34" charset="-122"/>
                <a:cs typeface="Microsoft YaHei" pitchFamily="34" charset="-120"/>
              </a:rPr>
              <a:t>宪法修改</a:t>
            </a:r>
            <a:endParaRPr lang="en-US" sz="2400" dirty="0"/>
          </a:p>
        </p:txBody>
      </p:sp>
      <p:sp>
        <p:nvSpPr>
          <p:cNvPr id="6" name="Text 4"/>
          <p:cNvSpPr/>
          <p:nvPr/>
        </p:nvSpPr>
        <p:spPr>
          <a:xfrm>
            <a:off x="1005840" y="2706624"/>
            <a:ext cx="4727448" cy="2139696"/>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全国人大常委会或五分之一以上全国人大代表提议。</a:t>
            </a:r>
            <a:endParaRPr lang="en-US" sz="2200" dirty="0"/>
          </a:p>
          <a:p>
            <a:pPr indent="0" marL="0">
              <a:lnSpc>
                <a:spcPct val="108000"/>
              </a:lnSpc>
              <a:buNone/>
            </a:pP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由全国人大以全体代表三分之二以上的多数通过。</a:t>
            </a:r>
            <a:endParaRPr lang="en-US" sz="2200" dirty="0"/>
          </a:p>
        </p:txBody>
      </p:sp>
      <p:sp>
        <p:nvSpPr>
          <p:cNvPr id="7" name="Shape 5"/>
          <p:cNvSpPr/>
          <p:nvPr/>
        </p:nvSpPr>
        <p:spPr>
          <a:xfrm>
            <a:off x="6217920" y="1773936"/>
            <a:ext cx="5202936" cy="3264408"/>
          </a:xfrm>
          <a:prstGeom prst="rect">
            <a:avLst/>
          </a:prstGeom>
          <a:solidFill>
            <a:srgbClr val="FFFFFF"/>
          </a:solidFill>
          <a:ln w="10160">
            <a:solidFill>
              <a:srgbClr val="D9D9D3"/>
            </a:solidFill>
            <a:prstDash val="solid"/>
          </a:ln>
        </p:spPr>
      </p:sp>
      <p:sp>
        <p:nvSpPr>
          <p:cNvPr id="8" name="Shape 6"/>
          <p:cNvSpPr/>
          <p:nvPr/>
        </p:nvSpPr>
        <p:spPr>
          <a:xfrm>
            <a:off x="6217920" y="1773936"/>
            <a:ext cx="5202936" cy="658368"/>
          </a:xfrm>
          <a:prstGeom prst="rect">
            <a:avLst/>
          </a:prstGeom>
          <a:solidFill>
            <a:srgbClr val="B13D38"/>
          </a:solidFill>
          <a:ln w="10160">
            <a:solidFill>
              <a:srgbClr val="B13D38">
                <a:alpha val="0"/>
              </a:srgbClr>
            </a:solidFill>
            <a:prstDash val="solid"/>
          </a:ln>
        </p:spPr>
      </p:sp>
      <p:sp>
        <p:nvSpPr>
          <p:cNvPr id="9" name="Text 7"/>
          <p:cNvSpPr/>
          <p:nvPr/>
        </p:nvSpPr>
        <p:spPr>
          <a:xfrm>
            <a:off x="6437376" y="1920240"/>
            <a:ext cx="4764024" cy="365760"/>
          </a:xfrm>
          <a:prstGeom prst="rect">
            <a:avLst/>
          </a:prstGeom>
          <a:noFill/>
          <a:ln/>
        </p:spPr>
        <p:txBody>
          <a:bodyPr wrap="square" lIns="0" tIns="0" rIns="0" bIns="0" rtlCol="0" anchor="t"/>
          <a:lstStyle/>
          <a:p>
            <a:pPr indent="0" marL="0">
              <a:lnSpc>
                <a:spcPct val="108000"/>
              </a:lnSpc>
              <a:buNone/>
            </a:pPr>
            <a:r>
              <a:rPr lang="en-US" sz="2400" b="1" dirty="0">
                <a:solidFill>
                  <a:srgbClr val="FFFFFF"/>
                </a:solidFill>
                <a:latin typeface="Microsoft YaHei" pitchFamily="34" charset="0"/>
                <a:ea typeface="Microsoft YaHei" pitchFamily="34" charset="-122"/>
                <a:cs typeface="Microsoft YaHei" pitchFamily="34" charset="-120"/>
              </a:rPr>
              <a:t>法律和其他议案</a:t>
            </a:r>
            <a:endParaRPr lang="en-US" sz="2400" dirty="0"/>
          </a:p>
        </p:txBody>
      </p:sp>
      <p:sp>
        <p:nvSpPr>
          <p:cNvPr id="10" name="Text 8"/>
          <p:cNvSpPr/>
          <p:nvPr/>
        </p:nvSpPr>
        <p:spPr>
          <a:xfrm>
            <a:off x="6455664" y="2706624"/>
            <a:ext cx="4727448" cy="2139696"/>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由全国人民代表大会以全体代表的过半数通过。</a:t>
            </a:r>
            <a:endParaRPr lang="en-US" sz="2200" dirty="0"/>
          </a:p>
          <a:p>
            <a:pPr indent="0" marL="0">
              <a:lnSpc>
                <a:spcPct val="108000"/>
              </a:lnSpc>
              <a:buNone/>
            </a:pP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注意：过半数不包含恰好一半。</a:t>
            </a:r>
            <a:endParaRPr lang="en-US" sz="2200" dirty="0"/>
          </a:p>
        </p:txBody>
      </p:sp>
      <p:sp>
        <p:nvSpPr>
          <p:cNvPr id="11" name="Shape 9"/>
          <p:cNvSpPr/>
          <p:nvPr/>
        </p:nvSpPr>
        <p:spPr>
          <a:xfrm>
            <a:off x="768096" y="5358384"/>
            <a:ext cx="10652760" cy="621792"/>
          </a:xfrm>
          <a:prstGeom prst="rect">
            <a:avLst/>
          </a:prstGeom>
          <a:solidFill>
            <a:srgbClr val="EEEAE1"/>
          </a:solidFill>
          <a:ln w="10160">
            <a:solidFill>
              <a:srgbClr val="EEEAE1">
                <a:alpha val="0"/>
              </a:srgbClr>
            </a:solidFill>
            <a:prstDash val="solid"/>
          </a:ln>
        </p:spPr>
      </p:sp>
      <p:sp>
        <p:nvSpPr>
          <p:cNvPr id="12" name="Text 10"/>
          <p:cNvSpPr/>
          <p:nvPr/>
        </p:nvSpPr>
        <p:spPr>
          <a:xfrm>
            <a:off x="987552" y="5477256"/>
            <a:ext cx="10213848" cy="3840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更高的通过要求，为根本规则提供稳定性保障。</a:t>
            </a:r>
            <a:endParaRPr lang="en-US" sz="2200" dirty="0"/>
          </a:p>
        </p:txBody>
      </p:sp>
      <p:sp>
        <p:nvSpPr>
          <p:cNvPr id="13" name="Shape 11"/>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4" name="Text 12"/>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第1讲</a:t>
            </a:r>
            <a:endParaRPr lang="en-US" sz="1100" dirty="0"/>
          </a:p>
        </p:txBody>
      </p:sp>
      <p:sp>
        <p:nvSpPr>
          <p:cNvPr id="15" name="Text 13"/>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《宪法》第64条；本页为节录与概括</a:t>
            </a:r>
            <a:endParaRPr lang="en-US" sz="1100" dirty="0"/>
          </a:p>
        </p:txBody>
      </p:sp>
      <p:sp>
        <p:nvSpPr>
          <p:cNvPr id="16" name="Text 14"/>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6 / 22</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任务1：同是60%赞成，结果一样吗？</a:t>
            </a:r>
            <a:endParaRPr lang="en-US" sz="3200" dirty="0"/>
          </a:p>
        </p:txBody>
      </p:sp>
      <p:sp>
        <p:nvSpPr>
          <p:cNvPr id="3" name="Shape 1"/>
          <p:cNvSpPr/>
          <p:nvPr/>
        </p:nvSpPr>
        <p:spPr>
          <a:xfrm>
            <a:off x="768096" y="1773936"/>
            <a:ext cx="5202936" cy="2286000"/>
          </a:xfrm>
          <a:prstGeom prst="rect">
            <a:avLst/>
          </a:prstGeom>
          <a:solidFill>
            <a:srgbClr val="FFFFFF"/>
          </a:solidFill>
          <a:ln w="10160">
            <a:solidFill>
              <a:srgbClr val="D9D9D3"/>
            </a:solidFill>
            <a:prstDash val="solid"/>
          </a:ln>
        </p:spPr>
      </p:sp>
      <p:sp>
        <p:nvSpPr>
          <p:cNvPr id="4" name="Text 2"/>
          <p:cNvSpPr/>
          <p:nvPr/>
        </p:nvSpPr>
        <p:spPr>
          <a:xfrm>
            <a:off x="996696" y="1956816"/>
            <a:ext cx="4745736" cy="384048"/>
          </a:xfrm>
          <a:prstGeom prst="rect">
            <a:avLst/>
          </a:prstGeom>
          <a:noFill/>
          <a:ln/>
        </p:spPr>
        <p:txBody>
          <a:bodyPr wrap="square" lIns="0" tIns="0" rIns="0" bIns="0" rtlCol="0" anchor="t"/>
          <a:lstStyle/>
          <a:p>
            <a:pPr indent="0" marL="0">
              <a:lnSpc>
                <a:spcPct val="108000"/>
              </a:lnSpc>
              <a:buNone/>
            </a:pPr>
            <a:r>
              <a:rPr lang="en-US" sz="2400" b="1" dirty="0">
                <a:solidFill>
                  <a:srgbClr val="142735"/>
                </a:solidFill>
                <a:latin typeface="Microsoft YaHei" pitchFamily="34" charset="0"/>
                <a:ea typeface="Microsoft YaHei" pitchFamily="34" charset="-122"/>
                <a:cs typeface="Microsoft YaHei" pitchFamily="34" charset="-120"/>
              </a:rPr>
              <a:t>宪法修改</a:t>
            </a:r>
            <a:endParaRPr lang="en-US" sz="2400" dirty="0"/>
          </a:p>
        </p:txBody>
      </p:sp>
      <p:sp>
        <p:nvSpPr>
          <p:cNvPr id="5" name="Text 3"/>
          <p:cNvSpPr/>
          <p:nvPr/>
        </p:nvSpPr>
        <p:spPr>
          <a:xfrm>
            <a:off x="996696" y="2606040"/>
            <a:ext cx="4745736" cy="1216152"/>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全国人大全体代表</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60%赞成。</a:t>
            </a:r>
            <a:endParaRPr lang="en-US" sz="2200" dirty="0"/>
          </a:p>
        </p:txBody>
      </p:sp>
      <p:sp>
        <p:nvSpPr>
          <p:cNvPr id="6" name="Shape 4"/>
          <p:cNvSpPr/>
          <p:nvPr/>
        </p:nvSpPr>
        <p:spPr>
          <a:xfrm>
            <a:off x="6217920" y="1773936"/>
            <a:ext cx="5202936" cy="2286000"/>
          </a:xfrm>
          <a:prstGeom prst="rect">
            <a:avLst/>
          </a:prstGeom>
          <a:solidFill>
            <a:srgbClr val="FFFFFF"/>
          </a:solidFill>
          <a:ln w="10160">
            <a:solidFill>
              <a:srgbClr val="D9D9D3"/>
            </a:solidFill>
            <a:prstDash val="solid"/>
          </a:ln>
        </p:spPr>
      </p:sp>
      <p:sp>
        <p:nvSpPr>
          <p:cNvPr id="7" name="Text 5"/>
          <p:cNvSpPr/>
          <p:nvPr/>
        </p:nvSpPr>
        <p:spPr>
          <a:xfrm>
            <a:off x="6446520" y="1956816"/>
            <a:ext cx="4745736" cy="384048"/>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法律议案</a:t>
            </a:r>
            <a:endParaRPr lang="en-US" sz="2400" dirty="0"/>
          </a:p>
        </p:txBody>
      </p:sp>
      <p:sp>
        <p:nvSpPr>
          <p:cNvPr id="8" name="Text 6"/>
          <p:cNvSpPr/>
          <p:nvPr/>
        </p:nvSpPr>
        <p:spPr>
          <a:xfrm>
            <a:off x="6446520" y="2606040"/>
            <a:ext cx="4745736" cy="1216152"/>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全国人大全体代表</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60%赞成。</a:t>
            </a:r>
            <a:endParaRPr lang="en-US" sz="2200" dirty="0"/>
          </a:p>
        </p:txBody>
      </p:sp>
      <p:sp>
        <p:nvSpPr>
          <p:cNvPr id="9" name="Text 7"/>
          <p:cNvSpPr/>
          <p:nvPr/>
        </p:nvSpPr>
        <p:spPr>
          <a:xfrm>
            <a:off x="859536" y="4297680"/>
            <a:ext cx="10469880" cy="640080"/>
          </a:xfrm>
          <a:prstGeom prst="rect">
            <a:avLst/>
          </a:prstGeom>
          <a:noFill/>
          <a:ln/>
        </p:spPr>
        <p:txBody>
          <a:bodyPr wrap="square" lIns="0" tIns="0" rIns="0" bIns="0" rtlCol="0" anchor="t"/>
          <a:lstStyle/>
          <a:p>
            <a:pPr indent="0" marL="0">
              <a:lnSpc>
                <a:spcPct val="108000"/>
              </a:lnSpc>
              <a:buNone/>
            </a:pPr>
            <a:r>
              <a:rPr lang="en-US" sz="2200" dirty="0">
                <a:solidFill>
                  <a:srgbClr val="64717A"/>
                </a:solidFill>
                <a:latin typeface="Microsoft YaHei" pitchFamily="34" charset="0"/>
                <a:ea typeface="Microsoft YaHei" pitchFamily="34" charset="-122"/>
                <a:cs typeface="Microsoft YaHei" pitchFamily="34" charset="-120"/>
              </a:rPr>
              <a:t>给定条件：提议等其他法定条件均符合要求。</a:t>
            </a:r>
            <a:endParaRPr lang="en-US" sz="2200" dirty="0"/>
          </a:p>
        </p:txBody>
      </p:sp>
      <p:sp>
        <p:nvSpPr>
          <p:cNvPr id="10" name="Shape 8"/>
          <p:cNvSpPr/>
          <p:nvPr/>
        </p:nvSpPr>
        <p:spPr>
          <a:xfrm>
            <a:off x="768096" y="5175504"/>
            <a:ext cx="10652760" cy="877824"/>
          </a:xfrm>
          <a:prstGeom prst="rect">
            <a:avLst/>
          </a:prstGeom>
          <a:solidFill>
            <a:srgbClr val="142735"/>
          </a:solidFill>
          <a:ln w="10160">
            <a:solidFill>
              <a:srgbClr val="142735">
                <a:alpha val="0"/>
              </a:srgbClr>
            </a:solidFill>
            <a:prstDash val="solid"/>
          </a:ln>
        </p:spPr>
      </p:sp>
      <p:sp>
        <p:nvSpPr>
          <p:cNvPr id="11" name="Text 9"/>
          <p:cNvSpPr/>
          <p:nvPr/>
        </p:nvSpPr>
        <p:spPr>
          <a:xfrm>
            <a:off x="987552" y="5340096"/>
            <a:ext cx="10213848" cy="566928"/>
          </a:xfrm>
          <a:prstGeom prst="rect">
            <a:avLst/>
          </a:prstGeom>
          <a:noFill/>
          <a:ln/>
        </p:spPr>
        <p:txBody>
          <a:bodyPr wrap="square" lIns="0" tIns="0" rIns="0" bIns="0" rtlCol="0" anchor="t"/>
          <a:lstStyle/>
          <a:p>
            <a:pPr indent="0" marL="0">
              <a:lnSpc>
                <a:spcPct val="108000"/>
              </a:lnSpc>
              <a:buNone/>
            </a:pPr>
            <a:r>
              <a:rPr lang="en-US" sz="2200" b="1" dirty="0">
                <a:solidFill>
                  <a:srgbClr val="FFFFFF"/>
                </a:solidFill>
                <a:latin typeface="Microsoft YaHei" pitchFamily="34" charset="0"/>
                <a:ea typeface="Microsoft YaHei" pitchFamily="34" charset="-122"/>
                <a:cs typeface="Microsoft YaHei" pitchFamily="34" charset="-120"/>
              </a:rPr>
              <a:t>分别判断是否达到第64条的通过门槛，并说明理由。</a:t>
            </a:r>
            <a:endParaRPr lang="en-US" sz="2200" dirty="0"/>
          </a:p>
        </p:txBody>
      </p:sp>
      <p:sp>
        <p:nvSpPr>
          <p:cNvPr id="12" name="Shape 10"/>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3" name="Text 11"/>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第1讲</a:t>
            </a:r>
            <a:endParaRPr lang="en-US" sz="1100" dirty="0"/>
          </a:p>
        </p:txBody>
      </p:sp>
      <p:sp>
        <p:nvSpPr>
          <p:cNvPr id="14" name="Text 12"/>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材料B任务1；教学设例</a:t>
            </a:r>
            <a:endParaRPr lang="en-US" sz="1100" dirty="0"/>
          </a:p>
        </p:txBody>
      </p:sp>
      <p:sp>
        <p:nvSpPr>
          <p:cNvPr id="15" name="Text 13"/>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7 / 22</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任务1讲评：比较的是两种法定门槛</a:t>
            </a:r>
            <a:endParaRPr lang="en-US" sz="3200" dirty="0"/>
          </a:p>
        </p:txBody>
      </p:sp>
      <p:sp>
        <p:nvSpPr>
          <p:cNvPr id="3" name="Shape 1"/>
          <p:cNvSpPr/>
          <p:nvPr/>
        </p:nvSpPr>
        <p:spPr>
          <a:xfrm>
            <a:off x="768096" y="1773936"/>
            <a:ext cx="2769718" cy="640080"/>
          </a:xfrm>
          <a:prstGeom prst="rect">
            <a:avLst/>
          </a:prstGeom>
          <a:solidFill>
            <a:srgbClr val="142735"/>
          </a:solidFill>
          <a:ln w="10160">
            <a:solidFill>
              <a:srgbClr val="F8F6F1"/>
            </a:solidFill>
            <a:prstDash val="solid"/>
          </a:ln>
        </p:spPr>
      </p:sp>
      <p:sp>
        <p:nvSpPr>
          <p:cNvPr id="4" name="Text 2"/>
          <p:cNvSpPr/>
          <p:nvPr/>
        </p:nvSpPr>
        <p:spPr>
          <a:xfrm>
            <a:off x="941832" y="1929384"/>
            <a:ext cx="2422246" cy="365760"/>
          </a:xfrm>
          <a:prstGeom prst="rect">
            <a:avLst/>
          </a:prstGeom>
          <a:noFill/>
          <a:ln/>
        </p:spPr>
        <p:txBody>
          <a:bodyPr wrap="square" lIns="0" tIns="0" rIns="0" bIns="0" rtlCol="0" anchor="t"/>
          <a:lstStyle/>
          <a:p>
            <a:pPr indent="0" marL="0">
              <a:lnSpc>
                <a:spcPct val="108000"/>
              </a:lnSpc>
              <a:buNone/>
            </a:pPr>
            <a:r>
              <a:rPr lang="en-US" sz="2200" b="1" dirty="0">
                <a:solidFill>
                  <a:srgbClr val="FFFFFF"/>
                </a:solidFill>
                <a:latin typeface="Microsoft YaHei" pitchFamily="34" charset="0"/>
                <a:ea typeface="Microsoft YaHei" pitchFamily="34" charset="-122"/>
                <a:cs typeface="Microsoft YaHei" pitchFamily="34" charset="-120"/>
              </a:rPr>
              <a:t>事项</a:t>
            </a:r>
            <a:endParaRPr lang="en-US" sz="2200" dirty="0"/>
          </a:p>
        </p:txBody>
      </p:sp>
      <p:sp>
        <p:nvSpPr>
          <p:cNvPr id="5" name="Shape 3"/>
          <p:cNvSpPr/>
          <p:nvPr/>
        </p:nvSpPr>
        <p:spPr>
          <a:xfrm>
            <a:off x="3537814" y="1773936"/>
            <a:ext cx="5219852" cy="640080"/>
          </a:xfrm>
          <a:prstGeom prst="rect">
            <a:avLst/>
          </a:prstGeom>
          <a:solidFill>
            <a:srgbClr val="142735"/>
          </a:solidFill>
          <a:ln w="10160">
            <a:solidFill>
              <a:srgbClr val="F8F6F1"/>
            </a:solidFill>
            <a:prstDash val="solid"/>
          </a:ln>
        </p:spPr>
      </p:sp>
      <p:sp>
        <p:nvSpPr>
          <p:cNvPr id="6" name="Text 4"/>
          <p:cNvSpPr/>
          <p:nvPr/>
        </p:nvSpPr>
        <p:spPr>
          <a:xfrm>
            <a:off x="3711550" y="1929384"/>
            <a:ext cx="4872380" cy="365760"/>
          </a:xfrm>
          <a:prstGeom prst="rect">
            <a:avLst/>
          </a:prstGeom>
          <a:noFill/>
          <a:ln/>
        </p:spPr>
        <p:txBody>
          <a:bodyPr wrap="square" lIns="0" tIns="0" rIns="0" bIns="0" rtlCol="0" anchor="t"/>
          <a:lstStyle/>
          <a:p>
            <a:pPr indent="0" marL="0">
              <a:lnSpc>
                <a:spcPct val="108000"/>
              </a:lnSpc>
              <a:buNone/>
            </a:pPr>
            <a:r>
              <a:rPr lang="en-US" sz="2200" b="1" dirty="0">
                <a:solidFill>
                  <a:srgbClr val="FFFFFF"/>
                </a:solidFill>
                <a:latin typeface="Microsoft YaHei" pitchFamily="34" charset="0"/>
                <a:ea typeface="Microsoft YaHei" pitchFamily="34" charset="-122"/>
                <a:cs typeface="Microsoft YaHei" pitchFamily="34" charset="-120"/>
              </a:rPr>
              <a:t>全国人大全体代表的要求</a:t>
            </a:r>
            <a:endParaRPr lang="en-US" sz="2200" dirty="0"/>
          </a:p>
        </p:txBody>
      </p:sp>
      <p:sp>
        <p:nvSpPr>
          <p:cNvPr id="7" name="Shape 5"/>
          <p:cNvSpPr/>
          <p:nvPr/>
        </p:nvSpPr>
        <p:spPr>
          <a:xfrm>
            <a:off x="8757666" y="1773936"/>
            <a:ext cx="2663190" cy="640080"/>
          </a:xfrm>
          <a:prstGeom prst="rect">
            <a:avLst/>
          </a:prstGeom>
          <a:solidFill>
            <a:srgbClr val="142735"/>
          </a:solidFill>
          <a:ln w="10160">
            <a:solidFill>
              <a:srgbClr val="F8F6F1"/>
            </a:solidFill>
            <a:prstDash val="solid"/>
          </a:ln>
        </p:spPr>
      </p:sp>
      <p:sp>
        <p:nvSpPr>
          <p:cNvPr id="8" name="Text 6"/>
          <p:cNvSpPr/>
          <p:nvPr/>
        </p:nvSpPr>
        <p:spPr>
          <a:xfrm>
            <a:off x="8931402" y="1929384"/>
            <a:ext cx="2315718" cy="365760"/>
          </a:xfrm>
          <a:prstGeom prst="rect">
            <a:avLst/>
          </a:prstGeom>
          <a:noFill/>
          <a:ln/>
        </p:spPr>
        <p:txBody>
          <a:bodyPr wrap="square" lIns="0" tIns="0" rIns="0" bIns="0" rtlCol="0" anchor="t"/>
          <a:lstStyle/>
          <a:p>
            <a:pPr indent="0" marL="0">
              <a:lnSpc>
                <a:spcPct val="108000"/>
              </a:lnSpc>
              <a:buNone/>
            </a:pPr>
            <a:r>
              <a:rPr lang="en-US" sz="2200" b="1" dirty="0">
                <a:solidFill>
                  <a:srgbClr val="FFFFFF"/>
                </a:solidFill>
                <a:latin typeface="Microsoft YaHei" pitchFamily="34" charset="0"/>
                <a:ea typeface="Microsoft YaHei" pitchFamily="34" charset="-122"/>
                <a:cs typeface="Microsoft YaHei" pitchFamily="34" charset="-120"/>
              </a:rPr>
              <a:t>60%赞成</a:t>
            </a:r>
            <a:endParaRPr lang="en-US" sz="2200" dirty="0"/>
          </a:p>
        </p:txBody>
      </p:sp>
      <p:sp>
        <p:nvSpPr>
          <p:cNvPr id="9" name="Shape 7"/>
          <p:cNvSpPr/>
          <p:nvPr/>
        </p:nvSpPr>
        <p:spPr>
          <a:xfrm>
            <a:off x="768096" y="2414016"/>
            <a:ext cx="2769718" cy="1554480"/>
          </a:xfrm>
          <a:prstGeom prst="rect">
            <a:avLst/>
          </a:prstGeom>
          <a:solidFill>
            <a:srgbClr val="FFFFFF"/>
          </a:solidFill>
          <a:ln w="10160">
            <a:solidFill>
              <a:srgbClr val="F8F6F1"/>
            </a:solidFill>
            <a:prstDash val="solid"/>
          </a:ln>
        </p:spPr>
      </p:sp>
      <p:sp>
        <p:nvSpPr>
          <p:cNvPr id="10" name="Text 8"/>
          <p:cNvSpPr/>
          <p:nvPr/>
        </p:nvSpPr>
        <p:spPr>
          <a:xfrm>
            <a:off x="941832" y="2496312"/>
            <a:ext cx="2422246" cy="138988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宪法修改</a:t>
            </a:r>
            <a:endParaRPr lang="en-US" sz="2200" dirty="0"/>
          </a:p>
        </p:txBody>
      </p:sp>
      <p:sp>
        <p:nvSpPr>
          <p:cNvPr id="11" name="Shape 9"/>
          <p:cNvSpPr/>
          <p:nvPr/>
        </p:nvSpPr>
        <p:spPr>
          <a:xfrm>
            <a:off x="3537814" y="2414016"/>
            <a:ext cx="5219852" cy="1554480"/>
          </a:xfrm>
          <a:prstGeom prst="rect">
            <a:avLst/>
          </a:prstGeom>
          <a:solidFill>
            <a:srgbClr val="FFFFFF"/>
          </a:solidFill>
          <a:ln w="10160">
            <a:solidFill>
              <a:srgbClr val="F8F6F1"/>
            </a:solidFill>
            <a:prstDash val="solid"/>
          </a:ln>
        </p:spPr>
      </p:sp>
      <p:sp>
        <p:nvSpPr>
          <p:cNvPr id="12" name="Text 10"/>
          <p:cNvSpPr/>
          <p:nvPr/>
        </p:nvSpPr>
        <p:spPr>
          <a:xfrm>
            <a:off x="3711550" y="2496312"/>
            <a:ext cx="4872380" cy="1389888"/>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三分之二以上的多数</a:t>
            </a:r>
            <a:endParaRPr lang="en-US" sz="2200" dirty="0"/>
          </a:p>
        </p:txBody>
      </p:sp>
      <p:sp>
        <p:nvSpPr>
          <p:cNvPr id="13" name="Shape 11"/>
          <p:cNvSpPr/>
          <p:nvPr/>
        </p:nvSpPr>
        <p:spPr>
          <a:xfrm>
            <a:off x="8757666" y="2414016"/>
            <a:ext cx="2663190" cy="1554480"/>
          </a:xfrm>
          <a:prstGeom prst="rect">
            <a:avLst/>
          </a:prstGeom>
          <a:solidFill>
            <a:srgbClr val="FFFFFF"/>
          </a:solidFill>
          <a:ln w="10160">
            <a:solidFill>
              <a:srgbClr val="F8F6F1"/>
            </a:solidFill>
            <a:prstDash val="solid"/>
          </a:ln>
        </p:spPr>
      </p:sp>
      <p:sp>
        <p:nvSpPr>
          <p:cNvPr id="14" name="Text 12"/>
          <p:cNvSpPr/>
          <p:nvPr/>
        </p:nvSpPr>
        <p:spPr>
          <a:xfrm>
            <a:off x="8931402" y="2496312"/>
            <a:ext cx="2315718" cy="1389888"/>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未达到</a:t>
            </a:r>
            <a:endParaRPr lang="en-US" sz="2200" dirty="0"/>
          </a:p>
        </p:txBody>
      </p:sp>
      <p:sp>
        <p:nvSpPr>
          <p:cNvPr id="15" name="Shape 13"/>
          <p:cNvSpPr/>
          <p:nvPr/>
        </p:nvSpPr>
        <p:spPr>
          <a:xfrm>
            <a:off x="768096" y="3968496"/>
            <a:ext cx="2769718" cy="1554480"/>
          </a:xfrm>
          <a:prstGeom prst="rect">
            <a:avLst/>
          </a:prstGeom>
          <a:solidFill>
            <a:srgbClr val="EEEAE1"/>
          </a:solidFill>
          <a:ln w="10160">
            <a:solidFill>
              <a:srgbClr val="F8F6F1"/>
            </a:solidFill>
            <a:prstDash val="solid"/>
          </a:ln>
        </p:spPr>
      </p:sp>
      <p:sp>
        <p:nvSpPr>
          <p:cNvPr id="16" name="Text 14"/>
          <p:cNvSpPr/>
          <p:nvPr/>
        </p:nvSpPr>
        <p:spPr>
          <a:xfrm>
            <a:off x="941832" y="4050792"/>
            <a:ext cx="2422246" cy="138988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法律及其他议案</a:t>
            </a:r>
            <a:endParaRPr lang="en-US" sz="2200" dirty="0"/>
          </a:p>
        </p:txBody>
      </p:sp>
      <p:sp>
        <p:nvSpPr>
          <p:cNvPr id="17" name="Shape 15"/>
          <p:cNvSpPr/>
          <p:nvPr/>
        </p:nvSpPr>
        <p:spPr>
          <a:xfrm>
            <a:off x="3537814" y="3968496"/>
            <a:ext cx="5219852" cy="1554480"/>
          </a:xfrm>
          <a:prstGeom prst="rect">
            <a:avLst/>
          </a:prstGeom>
          <a:solidFill>
            <a:srgbClr val="EEEAE1"/>
          </a:solidFill>
          <a:ln w="10160">
            <a:solidFill>
              <a:srgbClr val="F8F6F1"/>
            </a:solidFill>
            <a:prstDash val="solid"/>
          </a:ln>
        </p:spPr>
      </p:sp>
      <p:sp>
        <p:nvSpPr>
          <p:cNvPr id="18" name="Text 16"/>
          <p:cNvSpPr/>
          <p:nvPr/>
        </p:nvSpPr>
        <p:spPr>
          <a:xfrm>
            <a:off x="3711550" y="4050792"/>
            <a:ext cx="4872380" cy="1389888"/>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过半数</a:t>
            </a:r>
            <a:endParaRPr lang="en-US" sz="2200" dirty="0"/>
          </a:p>
        </p:txBody>
      </p:sp>
      <p:sp>
        <p:nvSpPr>
          <p:cNvPr id="19" name="Shape 17"/>
          <p:cNvSpPr/>
          <p:nvPr/>
        </p:nvSpPr>
        <p:spPr>
          <a:xfrm>
            <a:off x="8757666" y="3968496"/>
            <a:ext cx="2663190" cy="1554480"/>
          </a:xfrm>
          <a:prstGeom prst="rect">
            <a:avLst/>
          </a:prstGeom>
          <a:solidFill>
            <a:srgbClr val="EEEAE1"/>
          </a:solidFill>
          <a:ln w="10160">
            <a:solidFill>
              <a:srgbClr val="F8F6F1"/>
            </a:solidFill>
            <a:prstDash val="solid"/>
          </a:ln>
        </p:spPr>
      </p:sp>
      <p:sp>
        <p:nvSpPr>
          <p:cNvPr id="20" name="Text 18"/>
          <p:cNvSpPr/>
          <p:nvPr/>
        </p:nvSpPr>
        <p:spPr>
          <a:xfrm>
            <a:off x="8931402" y="4050792"/>
            <a:ext cx="2315718" cy="1389888"/>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达到</a:t>
            </a:r>
            <a:endParaRPr lang="en-US" sz="2200" dirty="0"/>
          </a:p>
        </p:txBody>
      </p:sp>
      <p:sp>
        <p:nvSpPr>
          <p:cNvPr id="21" name="Shape 19"/>
          <p:cNvSpPr/>
          <p:nvPr/>
        </p:nvSpPr>
        <p:spPr>
          <a:xfrm>
            <a:off x="768096" y="5650992"/>
            <a:ext cx="10652760" cy="420624"/>
          </a:xfrm>
          <a:prstGeom prst="rect">
            <a:avLst/>
          </a:prstGeom>
          <a:solidFill>
            <a:srgbClr val="EEEAE1"/>
          </a:solidFill>
          <a:ln w="10160">
            <a:solidFill>
              <a:srgbClr val="EEEAE1">
                <a:alpha val="0"/>
              </a:srgbClr>
            </a:solidFill>
            <a:prstDash val="solid"/>
          </a:ln>
        </p:spPr>
      </p:sp>
      <p:sp>
        <p:nvSpPr>
          <p:cNvPr id="22" name="Text 20"/>
          <p:cNvSpPr/>
          <p:nvPr/>
        </p:nvSpPr>
        <p:spPr>
          <a:xfrm>
            <a:off x="987552" y="5696712"/>
            <a:ext cx="10213848" cy="329184"/>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本题只判断通过门槛；完整修宪过程留第二讲。</a:t>
            </a:r>
            <a:endParaRPr lang="en-US" sz="2200" dirty="0"/>
          </a:p>
        </p:txBody>
      </p:sp>
      <p:sp>
        <p:nvSpPr>
          <p:cNvPr id="23" name="Shape 21"/>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24" name="Text 22"/>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第1讲</a:t>
            </a:r>
            <a:endParaRPr lang="en-US" sz="1100" dirty="0"/>
          </a:p>
        </p:txBody>
      </p:sp>
      <p:sp>
        <p:nvSpPr>
          <p:cNvPr id="25" name="Text 23"/>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《宪法》第64条；任务1参考答案</a:t>
            </a:r>
            <a:endParaRPr lang="en-US" sz="1100" dirty="0"/>
          </a:p>
        </p:txBody>
      </p:sp>
      <p:sp>
        <p:nvSpPr>
          <p:cNvPr id="26" name="Text 24"/>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8 / 22</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任务2：给“根本法”三个有依据的理由</a:t>
            </a:r>
            <a:endParaRPr lang="en-US" sz="3200" dirty="0"/>
          </a:p>
        </p:txBody>
      </p:sp>
      <p:sp>
        <p:nvSpPr>
          <p:cNvPr id="3" name="Shape 1"/>
          <p:cNvSpPr/>
          <p:nvPr/>
        </p:nvSpPr>
        <p:spPr>
          <a:xfrm>
            <a:off x="768096" y="1773936"/>
            <a:ext cx="2982773" cy="640080"/>
          </a:xfrm>
          <a:prstGeom prst="rect">
            <a:avLst/>
          </a:prstGeom>
          <a:solidFill>
            <a:srgbClr val="142735"/>
          </a:solidFill>
          <a:ln w="10160">
            <a:solidFill>
              <a:srgbClr val="F8F6F1"/>
            </a:solidFill>
            <a:prstDash val="solid"/>
          </a:ln>
        </p:spPr>
      </p:sp>
      <p:sp>
        <p:nvSpPr>
          <p:cNvPr id="4" name="Text 2"/>
          <p:cNvSpPr/>
          <p:nvPr/>
        </p:nvSpPr>
        <p:spPr>
          <a:xfrm>
            <a:off x="941832" y="1929384"/>
            <a:ext cx="2635301" cy="365760"/>
          </a:xfrm>
          <a:prstGeom prst="rect">
            <a:avLst/>
          </a:prstGeom>
          <a:noFill/>
          <a:ln/>
        </p:spPr>
        <p:txBody>
          <a:bodyPr wrap="square" lIns="0" tIns="0" rIns="0" bIns="0" rtlCol="0" anchor="t"/>
          <a:lstStyle/>
          <a:p>
            <a:pPr indent="0" marL="0">
              <a:lnSpc>
                <a:spcPct val="108000"/>
              </a:lnSpc>
              <a:buNone/>
            </a:pPr>
            <a:r>
              <a:rPr lang="en-US" sz="2200" b="1" dirty="0">
                <a:solidFill>
                  <a:srgbClr val="FFFFFF"/>
                </a:solidFill>
                <a:latin typeface="Microsoft YaHei" pitchFamily="34" charset="0"/>
                <a:ea typeface="Microsoft YaHei" pitchFamily="34" charset="-122"/>
                <a:cs typeface="Microsoft YaHei" pitchFamily="34" charset="-120"/>
              </a:rPr>
              <a:t>方面</a:t>
            </a:r>
            <a:endParaRPr lang="en-US" sz="2200" dirty="0"/>
          </a:p>
        </p:txBody>
      </p:sp>
      <p:sp>
        <p:nvSpPr>
          <p:cNvPr id="5" name="Shape 3"/>
          <p:cNvSpPr/>
          <p:nvPr/>
        </p:nvSpPr>
        <p:spPr>
          <a:xfrm>
            <a:off x="3750869" y="1773936"/>
            <a:ext cx="7669987" cy="640080"/>
          </a:xfrm>
          <a:prstGeom prst="rect">
            <a:avLst/>
          </a:prstGeom>
          <a:solidFill>
            <a:srgbClr val="142735"/>
          </a:solidFill>
          <a:ln w="10160">
            <a:solidFill>
              <a:srgbClr val="F8F6F1"/>
            </a:solidFill>
            <a:prstDash val="solid"/>
          </a:ln>
        </p:spPr>
      </p:sp>
      <p:sp>
        <p:nvSpPr>
          <p:cNvPr id="6" name="Text 4"/>
          <p:cNvSpPr/>
          <p:nvPr/>
        </p:nvSpPr>
        <p:spPr>
          <a:xfrm>
            <a:off x="3924605" y="1929384"/>
            <a:ext cx="7322515" cy="365760"/>
          </a:xfrm>
          <a:prstGeom prst="rect">
            <a:avLst/>
          </a:prstGeom>
          <a:noFill/>
          <a:ln/>
        </p:spPr>
        <p:txBody>
          <a:bodyPr wrap="square" lIns="0" tIns="0" rIns="0" bIns="0" rtlCol="0" anchor="t"/>
          <a:lstStyle/>
          <a:p>
            <a:pPr indent="0" marL="0">
              <a:lnSpc>
                <a:spcPct val="108000"/>
              </a:lnSpc>
              <a:buNone/>
            </a:pPr>
            <a:r>
              <a:rPr lang="en-US" sz="2200" b="1" dirty="0">
                <a:solidFill>
                  <a:srgbClr val="FFFFFF"/>
                </a:solidFill>
                <a:latin typeface="Microsoft YaHei" pitchFamily="34" charset="0"/>
                <a:ea typeface="Microsoft YaHei" pitchFamily="34" charset="-122"/>
                <a:cs typeface="Microsoft YaHei" pitchFamily="34" charset="-120"/>
              </a:rPr>
              <a:t>请写出一项依据及解释</a:t>
            </a:r>
            <a:endParaRPr lang="en-US" sz="2200" dirty="0"/>
          </a:p>
        </p:txBody>
      </p:sp>
      <p:sp>
        <p:nvSpPr>
          <p:cNvPr id="7" name="Shape 5"/>
          <p:cNvSpPr/>
          <p:nvPr/>
        </p:nvSpPr>
        <p:spPr>
          <a:xfrm>
            <a:off x="768096" y="2414016"/>
            <a:ext cx="2982773" cy="1161288"/>
          </a:xfrm>
          <a:prstGeom prst="rect">
            <a:avLst/>
          </a:prstGeom>
          <a:solidFill>
            <a:srgbClr val="FFFFFF"/>
          </a:solidFill>
          <a:ln w="10160">
            <a:solidFill>
              <a:srgbClr val="F8F6F1"/>
            </a:solidFill>
            <a:prstDash val="solid"/>
          </a:ln>
        </p:spPr>
      </p:sp>
      <p:sp>
        <p:nvSpPr>
          <p:cNvPr id="8" name="Text 6"/>
          <p:cNvSpPr/>
          <p:nvPr/>
        </p:nvSpPr>
        <p:spPr>
          <a:xfrm>
            <a:off x="941832" y="2523744"/>
            <a:ext cx="2635301" cy="941832"/>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根本内容</a:t>
            </a:r>
            <a:endParaRPr lang="en-US" sz="2200" dirty="0"/>
          </a:p>
        </p:txBody>
      </p:sp>
      <p:sp>
        <p:nvSpPr>
          <p:cNvPr id="9" name="Shape 7"/>
          <p:cNvSpPr/>
          <p:nvPr/>
        </p:nvSpPr>
        <p:spPr>
          <a:xfrm>
            <a:off x="3750869" y="2414016"/>
            <a:ext cx="7669987" cy="1161288"/>
          </a:xfrm>
          <a:prstGeom prst="rect">
            <a:avLst/>
          </a:prstGeom>
          <a:solidFill>
            <a:srgbClr val="FFFFFF"/>
          </a:solidFill>
          <a:ln w="10160">
            <a:solidFill>
              <a:srgbClr val="F8F6F1"/>
            </a:solidFill>
            <a:prstDash val="solid"/>
          </a:ln>
        </p:spPr>
      </p:sp>
      <p:sp>
        <p:nvSpPr>
          <p:cNvPr id="10" name="Text 8"/>
          <p:cNvSpPr/>
          <p:nvPr/>
        </p:nvSpPr>
        <p:spPr>
          <a:xfrm>
            <a:off x="3924605" y="2523744"/>
            <a:ext cx="7322515" cy="941832"/>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条文或制度例子：________________</a:t>
            </a:r>
            <a:endParaRPr lang="en-US" sz="2200" dirty="0"/>
          </a:p>
        </p:txBody>
      </p:sp>
      <p:sp>
        <p:nvSpPr>
          <p:cNvPr id="11" name="Shape 9"/>
          <p:cNvSpPr/>
          <p:nvPr/>
        </p:nvSpPr>
        <p:spPr>
          <a:xfrm>
            <a:off x="768096" y="3575304"/>
            <a:ext cx="2982773" cy="1161288"/>
          </a:xfrm>
          <a:prstGeom prst="rect">
            <a:avLst/>
          </a:prstGeom>
          <a:solidFill>
            <a:srgbClr val="EEEAE1"/>
          </a:solidFill>
          <a:ln w="10160">
            <a:solidFill>
              <a:srgbClr val="F8F6F1"/>
            </a:solidFill>
            <a:prstDash val="solid"/>
          </a:ln>
        </p:spPr>
      </p:sp>
      <p:sp>
        <p:nvSpPr>
          <p:cNvPr id="12" name="Text 10"/>
          <p:cNvSpPr/>
          <p:nvPr/>
        </p:nvSpPr>
        <p:spPr>
          <a:xfrm>
            <a:off x="941832" y="3685032"/>
            <a:ext cx="2635301" cy="941832"/>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最高效力</a:t>
            </a:r>
            <a:endParaRPr lang="en-US" sz="2200" dirty="0"/>
          </a:p>
        </p:txBody>
      </p:sp>
      <p:sp>
        <p:nvSpPr>
          <p:cNvPr id="13" name="Shape 11"/>
          <p:cNvSpPr/>
          <p:nvPr/>
        </p:nvSpPr>
        <p:spPr>
          <a:xfrm>
            <a:off x="3750869" y="3575304"/>
            <a:ext cx="7669987" cy="1161288"/>
          </a:xfrm>
          <a:prstGeom prst="rect">
            <a:avLst/>
          </a:prstGeom>
          <a:solidFill>
            <a:srgbClr val="EEEAE1"/>
          </a:solidFill>
          <a:ln w="10160">
            <a:solidFill>
              <a:srgbClr val="F8F6F1"/>
            </a:solidFill>
            <a:prstDash val="solid"/>
          </a:ln>
        </p:spPr>
      </p:sp>
      <p:sp>
        <p:nvSpPr>
          <p:cNvPr id="14" name="Text 12"/>
          <p:cNvSpPr/>
          <p:nvPr/>
        </p:nvSpPr>
        <p:spPr>
          <a:xfrm>
            <a:off x="3924605" y="3685032"/>
            <a:ext cx="7322515" cy="941832"/>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条文与约束关系：________________</a:t>
            </a:r>
            <a:endParaRPr lang="en-US" sz="2200" dirty="0"/>
          </a:p>
        </p:txBody>
      </p:sp>
      <p:sp>
        <p:nvSpPr>
          <p:cNvPr id="15" name="Shape 13"/>
          <p:cNvSpPr/>
          <p:nvPr/>
        </p:nvSpPr>
        <p:spPr>
          <a:xfrm>
            <a:off x="768096" y="4736592"/>
            <a:ext cx="2982773" cy="1161288"/>
          </a:xfrm>
          <a:prstGeom prst="rect">
            <a:avLst/>
          </a:prstGeom>
          <a:solidFill>
            <a:srgbClr val="FFFFFF"/>
          </a:solidFill>
          <a:ln w="10160">
            <a:solidFill>
              <a:srgbClr val="F8F6F1"/>
            </a:solidFill>
            <a:prstDash val="solid"/>
          </a:ln>
        </p:spPr>
      </p:sp>
      <p:sp>
        <p:nvSpPr>
          <p:cNvPr id="16" name="Text 14"/>
          <p:cNvSpPr/>
          <p:nvPr/>
        </p:nvSpPr>
        <p:spPr>
          <a:xfrm>
            <a:off x="941832" y="4846320"/>
            <a:ext cx="2635301" cy="941832"/>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修改程序</a:t>
            </a:r>
            <a:endParaRPr lang="en-US" sz="2200" dirty="0"/>
          </a:p>
        </p:txBody>
      </p:sp>
      <p:sp>
        <p:nvSpPr>
          <p:cNvPr id="17" name="Shape 15"/>
          <p:cNvSpPr/>
          <p:nvPr/>
        </p:nvSpPr>
        <p:spPr>
          <a:xfrm>
            <a:off x="3750869" y="4736592"/>
            <a:ext cx="7669987" cy="1161288"/>
          </a:xfrm>
          <a:prstGeom prst="rect">
            <a:avLst/>
          </a:prstGeom>
          <a:solidFill>
            <a:srgbClr val="FFFFFF"/>
          </a:solidFill>
          <a:ln w="10160">
            <a:solidFill>
              <a:srgbClr val="F8F6F1"/>
            </a:solidFill>
            <a:prstDash val="solid"/>
          </a:ln>
        </p:spPr>
      </p:sp>
      <p:sp>
        <p:nvSpPr>
          <p:cNvPr id="18" name="Text 16"/>
          <p:cNvSpPr/>
          <p:nvPr/>
        </p:nvSpPr>
        <p:spPr>
          <a:xfrm>
            <a:off x="3924605" y="4846320"/>
            <a:ext cx="7322515" cy="941832"/>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比较对象与门槛：________________</a:t>
            </a:r>
            <a:endParaRPr lang="en-US" sz="2200" dirty="0"/>
          </a:p>
        </p:txBody>
      </p:sp>
      <p:sp>
        <p:nvSpPr>
          <p:cNvPr id="19" name="Shape 17"/>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20" name="Text 18"/>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第1讲</a:t>
            </a:r>
            <a:endParaRPr lang="en-US" sz="1100" dirty="0"/>
          </a:p>
        </p:txBody>
      </p:sp>
      <p:sp>
        <p:nvSpPr>
          <p:cNvPr id="21" name="Text 19"/>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材料A、B；任务2短答</a:t>
            </a:r>
            <a:endParaRPr lang="en-US" sz="1100" dirty="0"/>
          </a:p>
        </p:txBody>
      </p:sp>
      <p:sp>
        <p:nvSpPr>
          <p:cNvPr id="22" name="Text 20"/>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9 / 22</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任务2讲评：内容、效力与程序共同说明</a:t>
            </a:r>
            <a:endParaRPr lang="en-US" sz="3200" dirty="0"/>
          </a:p>
        </p:txBody>
      </p:sp>
      <p:sp>
        <p:nvSpPr>
          <p:cNvPr id="3" name="Shape 1"/>
          <p:cNvSpPr/>
          <p:nvPr/>
        </p:nvSpPr>
        <p:spPr>
          <a:xfrm>
            <a:off x="768096" y="1773936"/>
            <a:ext cx="3398520" cy="3264408"/>
          </a:xfrm>
          <a:prstGeom prst="rect">
            <a:avLst/>
          </a:prstGeom>
          <a:solidFill>
            <a:srgbClr val="FFFFFF"/>
          </a:solidFill>
          <a:ln w="10160">
            <a:solidFill>
              <a:srgbClr val="D9D9D3"/>
            </a:solidFill>
            <a:prstDash val="solid"/>
          </a:ln>
        </p:spPr>
      </p:sp>
      <p:sp>
        <p:nvSpPr>
          <p:cNvPr id="4" name="Text 2"/>
          <p:cNvSpPr/>
          <p:nvPr/>
        </p:nvSpPr>
        <p:spPr>
          <a:xfrm>
            <a:off x="99669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根本内容</a:t>
            </a:r>
            <a:endParaRPr lang="en-US" sz="2400" dirty="0"/>
          </a:p>
        </p:txBody>
      </p:sp>
      <p:sp>
        <p:nvSpPr>
          <p:cNvPr id="5" name="Text 3"/>
          <p:cNvSpPr/>
          <p:nvPr/>
        </p:nvSpPr>
        <p:spPr>
          <a:xfrm>
            <a:off x="99669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规定国家根本制度</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和根本任务等。</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例：序言、第1条。</a:t>
            </a:r>
            <a:endParaRPr lang="en-US" sz="2200" dirty="0"/>
          </a:p>
        </p:txBody>
      </p:sp>
      <p:sp>
        <p:nvSpPr>
          <p:cNvPr id="6" name="Shape 4"/>
          <p:cNvSpPr/>
          <p:nvPr/>
        </p:nvSpPr>
        <p:spPr>
          <a:xfrm>
            <a:off x="4395216" y="1773936"/>
            <a:ext cx="3398520" cy="3264408"/>
          </a:xfrm>
          <a:prstGeom prst="rect">
            <a:avLst/>
          </a:prstGeom>
          <a:solidFill>
            <a:srgbClr val="FFFFFF"/>
          </a:solidFill>
          <a:ln w="10160">
            <a:solidFill>
              <a:srgbClr val="D9D9D3"/>
            </a:solidFill>
            <a:prstDash val="solid"/>
          </a:ln>
        </p:spPr>
      </p:sp>
      <p:sp>
        <p:nvSpPr>
          <p:cNvPr id="7" name="Text 5"/>
          <p:cNvSpPr/>
          <p:nvPr/>
        </p:nvSpPr>
        <p:spPr>
          <a:xfrm>
            <a:off x="462381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最高效力</a:t>
            </a:r>
            <a:endParaRPr lang="en-US" sz="2400" dirty="0"/>
          </a:p>
        </p:txBody>
      </p:sp>
      <p:sp>
        <p:nvSpPr>
          <p:cNvPr id="8" name="Text 6"/>
          <p:cNvSpPr/>
          <p:nvPr/>
        </p:nvSpPr>
        <p:spPr>
          <a:xfrm>
            <a:off x="462381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其他法律不得</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同宪法相抵触。</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依据：第5条。</a:t>
            </a:r>
            <a:endParaRPr lang="en-US" sz="2200" dirty="0"/>
          </a:p>
        </p:txBody>
      </p:sp>
      <p:sp>
        <p:nvSpPr>
          <p:cNvPr id="9" name="Shape 7"/>
          <p:cNvSpPr/>
          <p:nvPr/>
        </p:nvSpPr>
        <p:spPr>
          <a:xfrm>
            <a:off x="8022336" y="1773936"/>
            <a:ext cx="3398520" cy="3264408"/>
          </a:xfrm>
          <a:prstGeom prst="rect">
            <a:avLst/>
          </a:prstGeom>
          <a:solidFill>
            <a:srgbClr val="FFFFFF"/>
          </a:solidFill>
          <a:ln w="10160">
            <a:solidFill>
              <a:srgbClr val="D9D9D3"/>
            </a:solidFill>
            <a:prstDash val="solid"/>
          </a:ln>
        </p:spPr>
      </p:sp>
      <p:sp>
        <p:nvSpPr>
          <p:cNvPr id="10" name="Text 8"/>
          <p:cNvSpPr/>
          <p:nvPr/>
        </p:nvSpPr>
        <p:spPr>
          <a:xfrm>
            <a:off x="825093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修改程序</a:t>
            </a:r>
            <a:endParaRPr lang="en-US" sz="2400" dirty="0"/>
          </a:p>
        </p:txBody>
      </p:sp>
      <p:sp>
        <p:nvSpPr>
          <p:cNvPr id="11" name="Text 9"/>
          <p:cNvSpPr/>
          <p:nvPr/>
        </p:nvSpPr>
        <p:spPr>
          <a:xfrm>
            <a:off x="825093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同在全国人大表决，</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修宪门槛更高。</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依据：第64条。</a:t>
            </a:r>
            <a:endParaRPr lang="en-US" sz="2200" dirty="0"/>
          </a:p>
        </p:txBody>
      </p:sp>
      <p:sp>
        <p:nvSpPr>
          <p:cNvPr id="12" name="Shape 10"/>
          <p:cNvSpPr/>
          <p:nvPr/>
        </p:nvSpPr>
        <p:spPr>
          <a:xfrm>
            <a:off x="768096" y="5358384"/>
            <a:ext cx="10652760" cy="621792"/>
          </a:xfrm>
          <a:prstGeom prst="rect">
            <a:avLst/>
          </a:prstGeom>
          <a:solidFill>
            <a:srgbClr val="EEEAE1"/>
          </a:solidFill>
          <a:ln w="10160">
            <a:solidFill>
              <a:srgbClr val="EEEAE1">
                <a:alpha val="0"/>
              </a:srgbClr>
            </a:solidFill>
            <a:prstDash val="solid"/>
          </a:ln>
        </p:spPr>
      </p:sp>
      <p:sp>
        <p:nvSpPr>
          <p:cNvPr id="13" name="Text 11"/>
          <p:cNvSpPr/>
          <p:nvPr/>
        </p:nvSpPr>
        <p:spPr>
          <a:xfrm>
            <a:off x="987552" y="5477256"/>
            <a:ext cx="10213848" cy="3840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普通法律同样重要，它把宪法要求在具体领域展开。</a:t>
            </a:r>
            <a:endParaRPr lang="en-US" sz="2200" dirty="0"/>
          </a:p>
        </p:txBody>
      </p:sp>
      <p:sp>
        <p:nvSpPr>
          <p:cNvPr id="14" name="Shape 12"/>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5" name="Text 13"/>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第1讲</a:t>
            </a:r>
            <a:endParaRPr lang="en-US" sz="1100" dirty="0"/>
          </a:p>
        </p:txBody>
      </p:sp>
      <p:sp>
        <p:nvSpPr>
          <p:cNvPr id="16" name="Text 14"/>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教材18—20页；《宪法》序言、第5、64条</a:t>
            </a:r>
            <a:endParaRPr lang="en-US" sz="1100" dirty="0"/>
          </a:p>
        </p:txBody>
      </p:sp>
      <p:sp>
        <p:nvSpPr>
          <p:cNvPr id="17" name="Text 15"/>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10 / 22</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宪法本质：人民当家作主怎样成为制度</a:t>
            </a:r>
            <a:endParaRPr lang="en-US" sz="3200" dirty="0"/>
          </a:p>
        </p:txBody>
      </p:sp>
      <p:sp>
        <p:nvSpPr>
          <p:cNvPr id="3" name="Shape 1"/>
          <p:cNvSpPr/>
          <p:nvPr/>
        </p:nvSpPr>
        <p:spPr>
          <a:xfrm>
            <a:off x="768096" y="1773936"/>
            <a:ext cx="3398520" cy="3264408"/>
          </a:xfrm>
          <a:prstGeom prst="rect">
            <a:avLst/>
          </a:prstGeom>
          <a:solidFill>
            <a:srgbClr val="FFFFFF"/>
          </a:solidFill>
          <a:ln w="10160">
            <a:solidFill>
              <a:srgbClr val="D9D9D3"/>
            </a:solidFill>
            <a:prstDash val="solid"/>
          </a:ln>
        </p:spPr>
      </p:sp>
      <p:sp>
        <p:nvSpPr>
          <p:cNvPr id="4" name="Text 2"/>
          <p:cNvSpPr/>
          <p:nvPr/>
        </p:nvSpPr>
        <p:spPr>
          <a:xfrm>
            <a:off x="99669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权力归属</a:t>
            </a:r>
            <a:endParaRPr lang="en-US" sz="2400" dirty="0"/>
          </a:p>
        </p:txBody>
      </p:sp>
      <p:sp>
        <p:nvSpPr>
          <p:cNvPr id="5" name="Text 3"/>
          <p:cNvSpPr/>
          <p:nvPr/>
        </p:nvSpPr>
        <p:spPr>
          <a:xfrm>
            <a:off x="99669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中华人民共和国的</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一切权力属于人民。</a:t>
            </a:r>
            <a:endParaRPr lang="en-US" sz="2200" dirty="0"/>
          </a:p>
        </p:txBody>
      </p:sp>
      <p:sp>
        <p:nvSpPr>
          <p:cNvPr id="6" name="Shape 4"/>
          <p:cNvSpPr/>
          <p:nvPr/>
        </p:nvSpPr>
        <p:spPr>
          <a:xfrm>
            <a:off x="4395216" y="1773936"/>
            <a:ext cx="3398520" cy="3264408"/>
          </a:xfrm>
          <a:prstGeom prst="rect">
            <a:avLst/>
          </a:prstGeom>
          <a:solidFill>
            <a:srgbClr val="FFFFFF"/>
          </a:solidFill>
          <a:ln w="10160">
            <a:solidFill>
              <a:srgbClr val="D9D9D3"/>
            </a:solidFill>
            <a:prstDash val="solid"/>
          </a:ln>
        </p:spPr>
      </p:sp>
      <p:sp>
        <p:nvSpPr>
          <p:cNvPr id="7" name="Text 5"/>
          <p:cNvSpPr/>
          <p:nvPr/>
        </p:nvSpPr>
        <p:spPr>
          <a:xfrm>
            <a:off x="462381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行使机关</a:t>
            </a:r>
            <a:endParaRPr lang="en-US" sz="2400" dirty="0"/>
          </a:p>
        </p:txBody>
      </p:sp>
      <p:sp>
        <p:nvSpPr>
          <p:cNvPr id="8" name="Text 6"/>
          <p:cNvSpPr/>
          <p:nvPr/>
        </p:nvSpPr>
        <p:spPr>
          <a:xfrm>
            <a:off x="462381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人民行使国家权力的机关是全国人民代表大会和地方各级人民代表大会。</a:t>
            </a:r>
            <a:endParaRPr lang="en-US" sz="2200" dirty="0"/>
          </a:p>
        </p:txBody>
      </p:sp>
      <p:sp>
        <p:nvSpPr>
          <p:cNvPr id="9" name="Shape 7"/>
          <p:cNvSpPr/>
          <p:nvPr/>
        </p:nvSpPr>
        <p:spPr>
          <a:xfrm>
            <a:off x="8022336" y="1773936"/>
            <a:ext cx="3398520" cy="3264408"/>
          </a:xfrm>
          <a:prstGeom prst="rect">
            <a:avLst/>
          </a:prstGeom>
          <a:solidFill>
            <a:srgbClr val="FFFFFF"/>
          </a:solidFill>
          <a:ln w="10160">
            <a:solidFill>
              <a:srgbClr val="D9D9D3"/>
            </a:solidFill>
            <a:prstDash val="solid"/>
          </a:ln>
        </p:spPr>
      </p:sp>
      <p:sp>
        <p:nvSpPr>
          <p:cNvPr id="10" name="Text 8"/>
          <p:cNvSpPr/>
          <p:nvPr/>
        </p:nvSpPr>
        <p:spPr>
          <a:xfrm>
            <a:off x="825093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产生与监督</a:t>
            </a:r>
            <a:endParaRPr lang="en-US" sz="2400" dirty="0"/>
          </a:p>
        </p:txBody>
      </p:sp>
      <p:sp>
        <p:nvSpPr>
          <p:cNvPr id="11" name="Text 9"/>
          <p:cNvSpPr/>
          <p:nvPr/>
        </p:nvSpPr>
        <p:spPr>
          <a:xfrm>
            <a:off x="825093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全国人民代表大会和地方各级人民代表大会都由民主选举产生，对人民负责，受人民监督。</a:t>
            </a:r>
            <a:endParaRPr lang="en-US" sz="2200" dirty="0"/>
          </a:p>
        </p:txBody>
      </p:sp>
      <p:sp>
        <p:nvSpPr>
          <p:cNvPr id="12" name="Shape 10"/>
          <p:cNvSpPr/>
          <p:nvPr/>
        </p:nvSpPr>
        <p:spPr>
          <a:xfrm>
            <a:off x="768096" y="5358384"/>
            <a:ext cx="10652760" cy="621792"/>
          </a:xfrm>
          <a:prstGeom prst="rect">
            <a:avLst/>
          </a:prstGeom>
          <a:solidFill>
            <a:srgbClr val="EEEAE1"/>
          </a:solidFill>
          <a:ln w="10160">
            <a:solidFill>
              <a:srgbClr val="EEEAE1">
                <a:alpha val="0"/>
              </a:srgbClr>
            </a:solidFill>
            <a:prstDash val="solid"/>
          </a:ln>
        </p:spPr>
      </p:sp>
      <p:sp>
        <p:nvSpPr>
          <p:cNvPr id="13" name="Text 11"/>
          <p:cNvSpPr/>
          <p:nvPr/>
        </p:nvSpPr>
        <p:spPr>
          <a:xfrm>
            <a:off x="987552" y="5477256"/>
            <a:ext cx="10213848" cy="3840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以制度组织人民当家作主，并以宪法规范确认和保障。</a:t>
            </a:r>
            <a:endParaRPr lang="en-US" sz="2200" dirty="0"/>
          </a:p>
        </p:txBody>
      </p:sp>
      <p:sp>
        <p:nvSpPr>
          <p:cNvPr id="14" name="Shape 12"/>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5" name="Text 13"/>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第1讲</a:t>
            </a:r>
            <a:endParaRPr lang="en-US" sz="1100" dirty="0"/>
          </a:p>
        </p:txBody>
      </p:sp>
      <p:sp>
        <p:nvSpPr>
          <p:cNvPr id="16" name="Text 14"/>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《宪法》第2、3条节录；教材21页（PDF36）</a:t>
            </a:r>
            <a:endParaRPr lang="en-US" sz="1100" dirty="0"/>
          </a:p>
        </p:txBody>
      </p:sp>
      <p:sp>
        <p:nvSpPr>
          <p:cNvPr id="17" name="Text 15"/>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11 / 22</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基本原则共同规范国家权力的运行</a:t>
            </a:r>
            <a:endParaRPr lang="en-US" sz="3200" dirty="0"/>
          </a:p>
        </p:txBody>
      </p:sp>
      <p:sp>
        <p:nvSpPr>
          <p:cNvPr id="3" name="Shape 1"/>
          <p:cNvSpPr/>
          <p:nvPr/>
        </p:nvSpPr>
        <p:spPr>
          <a:xfrm>
            <a:off x="777240" y="1828800"/>
            <a:ext cx="3337560" cy="1463040"/>
          </a:xfrm>
          <a:prstGeom prst="rect">
            <a:avLst/>
          </a:prstGeom>
          <a:solidFill>
            <a:srgbClr val="142735"/>
          </a:solidFill>
          <a:ln w="10160">
            <a:solidFill>
              <a:srgbClr val="142735">
                <a:alpha val="0"/>
              </a:srgbClr>
            </a:solidFill>
            <a:prstDash val="solid"/>
          </a:ln>
        </p:spPr>
      </p:sp>
      <p:sp>
        <p:nvSpPr>
          <p:cNvPr id="4" name="Text 2"/>
          <p:cNvSpPr/>
          <p:nvPr/>
        </p:nvSpPr>
        <p:spPr>
          <a:xfrm>
            <a:off x="941832" y="1965960"/>
            <a:ext cx="3008376" cy="429768"/>
          </a:xfrm>
          <a:prstGeom prst="rect">
            <a:avLst/>
          </a:prstGeom>
          <a:noFill/>
          <a:ln/>
        </p:spPr>
        <p:txBody>
          <a:bodyPr wrap="square" lIns="0" tIns="0" rIns="0" bIns="0" rtlCol="0" anchor="t"/>
          <a:lstStyle/>
          <a:p>
            <a:pPr algn="ctr" indent="0" marL="0">
              <a:lnSpc>
                <a:spcPct val="108000"/>
              </a:lnSpc>
              <a:buNone/>
            </a:pPr>
            <a:r>
              <a:rPr lang="en-US" sz="2200" b="1" dirty="0">
                <a:solidFill>
                  <a:srgbClr val="FFFFFF"/>
                </a:solidFill>
                <a:latin typeface="Microsoft YaHei" pitchFamily="34" charset="0"/>
                <a:ea typeface="Microsoft YaHei" pitchFamily="34" charset="-122"/>
                <a:cs typeface="Microsoft YaHei" pitchFamily="34" charset="-120"/>
              </a:rPr>
              <a:t>党的领导</a:t>
            </a:r>
            <a:endParaRPr lang="en-US" sz="2200" dirty="0"/>
          </a:p>
        </p:txBody>
      </p:sp>
      <p:sp>
        <p:nvSpPr>
          <p:cNvPr id="5" name="Text 3"/>
          <p:cNvSpPr/>
          <p:nvPr/>
        </p:nvSpPr>
        <p:spPr>
          <a:xfrm>
            <a:off x="941832" y="2532888"/>
            <a:ext cx="3008376" cy="603504"/>
          </a:xfrm>
          <a:prstGeom prst="rect">
            <a:avLst/>
          </a:prstGeom>
          <a:noFill/>
          <a:ln/>
        </p:spPr>
        <p:txBody>
          <a:bodyPr wrap="square" lIns="0" tIns="0" rIns="0" bIns="0" rtlCol="0" anchor="t"/>
          <a:lstStyle/>
          <a:p>
            <a:pPr algn="ctr" indent="0" marL="0">
              <a:lnSpc>
                <a:spcPct val="108000"/>
              </a:lnSpc>
              <a:buNone/>
            </a:pPr>
            <a:r>
              <a:rPr lang="en-US" sz="2200" dirty="0">
                <a:solidFill>
                  <a:srgbClr val="ECE8DF"/>
                </a:solidFill>
                <a:latin typeface="Microsoft YaHei" pitchFamily="34" charset="0"/>
                <a:ea typeface="Microsoft YaHei" pitchFamily="34" charset="-122"/>
                <a:cs typeface="Microsoft YaHei" pitchFamily="34" charset="-120"/>
              </a:rPr>
              <a:t>宪法确认的</a:t>
            </a:r>
            <a:endParaRPr lang="en-US" sz="2200" dirty="0"/>
          </a:p>
          <a:p>
            <a:pPr algn="ctr" indent="0" marL="0">
              <a:lnSpc>
                <a:spcPct val="108000"/>
              </a:lnSpc>
              <a:buNone/>
            </a:pPr>
            <a:r>
              <a:rPr lang="en-US" sz="2200" dirty="0">
                <a:solidFill>
                  <a:srgbClr val="ECE8DF"/>
                </a:solidFill>
                <a:latin typeface="Microsoft YaHei" pitchFamily="34" charset="0"/>
                <a:ea typeface="Microsoft YaHei" pitchFamily="34" charset="-122"/>
                <a:cs typeface="Microsoft YaHei" pitchFamily="34" charset="-120"/>
              </a:rPr>
              <a:t>政治领导保证。</a:t>
            </a:r>
            <a:endParaRPr lang="en-US" sz="2200" dirty="0"/>
          </a:p>
        </p:txBody>
      </p:sp>
      <p:sp>
        <p:nvSpPr>
          <p:cNvPr id="6" name="Shape 4"/>
          <p:cNvSpPr/>
          <p:nvPr/>
        </p:nvSpPr>
        <p:spPr>
          <a:xfrm>
            <a:off x="4425696" y="1828800"/>
            <a:ext cx="3337560" cy="1463040"/>
          </a:xfrm>
          <a:prstGeom prst="rect">
            <a:avLst/>
          </a:prstGeom>
          <a:solidFill>
            <a:srgbClr val="FFFFFF"/>
          </a:solidFill>
          <a:ln w="10160">
            <a:solidFill>
              <a:srgbClr val="D9D9D3"/>
            </a:solidFill>
            <a:prstDash val="solid"/>
          </a:ln>
        </p:spPr>
      </p:sp>
      <p:sp>
        <p:nvSpPr>
          <p:cNvPr id="7" name="Text 5"/>
          <p:cNvSpPr/>
          <p:nvPr/>
        </p:nvSpPr>
        <p:spPr>
          <a:xfrm>
            <a:off x="4590288" y="1965960"/>
            <a:ext cx="3008376" cy="429768"/>
          </a:xfrm>
          <a:prstGeom prst="rect">
            <a:avLst/>
          </a:prstGeom>
          <a:noFill/>
          <a:ln/>
        </p:spPr>
        <p:txBody>
          <a:bodyPr wrap="square" lIns="0" tIns="0" rIns="0" bIns="0" rtlCol="0" anchor="t"/>
          <a:lstStyle/>
          <a:p>
            <a:pPr algn="ct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人民主权</a:t>
            </a:r>
            <a:endParaRPr lang="en-US" sz="2200" dirty="0"/>
          </a:p>
        </p:txBody>
      </p:sp>
      <p:sp>
        <p:nvSpPr>
          <p:cNvPr id="8" name="Text 6"/>
          <p:cNvSpPr/>
          <p:nvPr/>
        </p:nvSpPr>
        <p:spPr>
          <a:xfrm>
            <a:off x="4590288" y="2532888"/>
            <a:ext cx="3008376" cy="603504"/>
          </a:xfrm>
          <a:prstGeom prst="rect">
            <a:avLst/>
          </a:prstGeom>
          <a:noFill/>
          <a:ln/>
        </p:spPr>
        <p:txBody>
          <a:bodyPr wrap="square" lIns="0" tIns="0" rIns="0" bIns="0" rtlCol="0" anchor="t"/>
          <a:lstStyle/>
          <a:p>
            <a:pPr algn="ct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权力属于人民，</a:t>
            </a:r>
            <a:endParaRPr lang="en-US" sz="2200" dirty="0"/>
          </a:p>
          <a:p>
            <a:pPr algn="ct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通过制度行使。</a:t>
            </a:r>
            <a:endParaRPr lang="en-US" sz="2200" dirty="0"/>
          </a:p>
        </p:txBody>
      </p:sp>
      <p:sp>
        <p:nvSpPr>
          <p:cNvPr id="9" name="Shape 7"/>
          <p:cNvSpPr/>
          <p:nvPr/>
        </p:nvSpPr>
        <p:spPr>
          <a:xfrm>
            <a:off x="8083296" y="1828800"/>
            <a:ext cx="3337560" cy="1463040"/>
          </a:xfrm>
          <a:prstGeom prst="rect">
            <a:avLst/>
          </a:prstGeom>
          <a:solidFill>
            <a:srgbClr val="FFFFFF"/>
          </a:solidFill>
          <a:ln w="10160">
            <a:solidFill>
              <a:srgbClr val="D9D9D3"/>
            </a:solidFill>
            <a:prstDash val="solid"/>
          </a:ln>
        </p:spPr>
      </p:sp>
      <p:sp>
        <p:nvSpPr>
          <p:cNvPr id="10" name="Text 8"/>
          <p:cNvSpPr/>
          <p:nvPr/>
        </p:nvSpPr>
        <p:spPr>
          <a:xfrm>
            <a:off x="8247888" y="1965960"/>
            <a:ext cx="3008376" cy="429768"/>
          </a:xfrm>
          <a:prstGeom prst="rect">
            <a:avLst/>
          </a:prstGeom>
          <a:noFill/>
          <a:ln/>
        </p:spPr>
        <p:txBody>
          <a:bodyPr wrap="square" lIns="0" tIns="0" rIns="0" bIns="0" rtlCol="0" anchor="t"/>
          <a:lstStyle/>
          <a:p>
            <a:pPr algn="ct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社会主义法治</a:t>
            </a:r>
            <a:endParaRPr lang="en-US" sz="2200" dirty="0"/>
          </a:p>
        </p:txBody>
      </p:sp>
      <p:sp>
        <p:nvSpPr>
          <p:cNvPr id="11" name="Text 9"/>
          <p:cNvSpPr/>
          <p:nvPr/>
        </p:nvSpPr>
        <p:spPr>
          <a:xfrm>
            <a:off x="8247888" y="2532888"/>
            <a:ext cx="3008376" cy="603504"/>
          </a:xfrm>
          <a:prstGeom prst="rect">
            <a:avLst/>
          </a:prstGeom>
          <a:noFill/>
          <a:ln/>
        </p:spPr>
        <p:txBody>
          <a:bodyPr wrap="square" lIns="0" tIns="0" rIns="0" bIns="0" rtlCol="0" anchor="t"/>
          <a:lstStyle/>
          <a:p>
            <a:pPr algn="ct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权力运行服从</a:t>
            </a:r>
            <a:endParaRPr lang="en-US" sz="2200" dirty="0"/>
          </a:p>
          <a:p>
            <a:pPr algn="ct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宪法和法律。</a:t>
            </a:r>
            <a:endParaRPr lang="en-US" sz="2200" dirty="0"/>
          </a:p>
        </p:txBody>
      </p:sp>
      <p:sp>
        <p:nvSpPr>
          <p:cNvPr id="12" name="Shape 10"/>
          <p:cNvSpPr/>
          <p:nvPr/>
        </p:nvSpPr>
        <p:spPr>
          <a:xfrm>
            <a:off x="2596896" y="3657600"/>
            <a:ext cx="3337560" cy="1463040"/>
          </a:xfrm>
          <a:prstGeom prst="rect">
            <a:avLst/>
          </a:prstGeom>
          <a:solidFill>
            <a:srgbClr val="FFFFFF"/>
          </a:solidFill>
          <a:ln w="10160">
            <a:solidFill>
              <a:srgbClr val="D9D9D3"/>
            </a:solidFill>
            <a:prstDash val="solid"/>
          </a:ln>
        </p:spPr>
      </p:sp>
      <p:sp>
        <p:nvSpPr>
          <p:cNvPr id="13" name="Text 11"/>
          <p:cNvSpPr/>
          <p:nvPr/>
        </p:nvSpPr>
        <p:spPr>
          <a:xfrm>
            <a:off x="2761488" y="3794760"/>
            <a:ext cx="3008376" cy="429768"/>
          </a:xfrm>
          <a:prstGeom prst="rect">
            <a:avLst/>
          </a:prstGeom>
          <a:noFill/>
          <a:ln/>
        </p:spPr>
        <p:txBody>
          <a:bodyPr wrap="square" lIns="0" tIns="0" rIns="0" bIns="0" rtlCol="0" anchor="t"/>
          <a:lstStyle/>
          <a:p>
            <a:pPr algn="ct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人权保障</a:t>
            </a:r>
            <a:endParaRPr lang="en-US" sz="2200" dirty="0"/>
          </a:p>
        </p:txBody>
      </p:sp>
      <p:sp>
        <p:nvSpPr>
          <p:cNvPr id="14" name="Text 12"/>
          <p:cNvSpPr/>
          <p:nvPr/>
        </p:nvSpPr>
        <p:spPr>
          <a:xfrm>
            <a:off x="2761488" y="4361688"/>
            <a:ext cx="3008376" cy="603504"/>
          </a:xfrm>
          <a:prstGeom prst="rect">
            <a:avLst/>
          </a:prstGeom>
          <a:noFill/>
          <a:ln/>
        </p:spPr>
        <p:txBody>
          <a:bodyPr wrap="square" lIns="0" tIns="0" rIns="0" bIns="0" rtlCol="0" anchor="t"/>
          <a:lstStyle/>
          <a:p>
            <a:pPr algn="ct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国家活动应当</a:t>
            </a:r>
            <a:endParaRPr lang="en-US" sz="2200" dirty="0"/>
          </a:p>
          <a:p>
            <a:pPr algn="ct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尊重、保障权利。</a:t>
            </a:r>
            <a:endParaRPr lang="en-US" sz="2200" dirty="0"/>
          </a:p>
        </p:txBody>
      </p:sp>
      <p:sp>
        <p:nvSpPr>
          <p:cNvPr id="15" name="Shape 13"/>
          <p:cNvSpPr/>
          <p:nvPr/>
        </p:nvSpPr>
        <p:spPr>
          <a:xfrm>
            <a:off x="6254496" y="3657600"/>
            <a:ext cx="3337560" cy="1463040"/>
          </a:xfrm>
          <a:prstGeom prst="rect">
            <a:avLst/>
          </a:prstGeom>
          <a:solidFill>
            <a:srgbClr val="FFFFFF"/>
          </a:solidFill>
          <a:ln w="10160">
            <a:solidFill>
              <a:srgbClr val="D9D9D3"/>
            </a:solidFill>
            <a:prstDash val="solid"/>
          </a:ln>
        </p:spPr>
      </p:sp>
      <p:sp>
        <p:nvSpPr>
          <p:cNvPr id="16" name="Text 14"/>
          <p:cNvSpPr/>
          <p:nvPr/>
        </p:nvSpPr>
        <p:spPr>
          <a:xfrm>
            <a:off x="6419088" y="3794760"/>
            <a:ext cx="3008376" cy="429768"/>
          </a:xfrm>
          <a:prstGeom prst="rect">
            <a:avLst/>
          </a:prstGeom>
          <a:noFill/>
          <a:ln/>
        </p:spPr>
        <p:txBody>
          <a:bodyPr wrap="square" lIns="0" tIns="0" rIns="0" bIns="0" rtlCol="0" anchor="t"/>
          <a:lstStyle/>
          <a:p>
            <a:pPr algn="ct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监督与制约</a:t>
            </a:r>
            <a:endParaRPr lang="en-US" sz="2200" dirty="0"/>
          </a:p>
        </p:txBody>
      </p:sp>
      <p:sp>
        <p:nvSpPr>
          <p:cNvPr id="17" name="Text 15"/>
          <p:cNvSpPr/>
          <p:nvPr/>
        </p:nvSpPr>
        <p:spPr>
          <a:xfrm>
            <a:off x="6419088" y="4361688"/>
            <a:ext cx="3008376" cy="603504"/>
          </a:xfrm>
          <a:prstGeom prst="rect">
            <a:avLst/>
          </a:prstGeom>
          <a:noFill/>
          <a:ln/>
        </p:spPr>
        <p:txBody>
          <a:bodyPr wrap="square" lIns="0" tIns="0" rIns="0" bIns="0" rtlCol="0" anchor="t"/>
          <a:lstStyle/>
          <a:p>
            <a:pPr algn="ct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通过制度防止</a:t>
            </a:r>
            <a:endParaRPr lang="en-US" sz="2200" dirty="0"/>
          </a:p>
          <a:p>
            <a:pPr algn="ct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权力滥用。</a:t>
            </a:r>
            <a:endParaRPr lang="en-US" sz="2200" dirty="0"/>
          </a:p>
        </p:txBody>
      </p:sp>
      <p:sp>
        <p:nvSpPr>
          <p:cNvPr id="18" name="Shape 16"/>
          <p:cNvSpPr/>
          <p:nvPr/>
        </p:nvSpPr>
        <p:spPr>
          <a:xfrm>
            <a:off x="768096" y="5358384"/>
            <a:ext cx="10652760" cy="621792"/>
          </a:xfrm>
          <a:prstGeom prst="rect">
            <a:avLst/>
          </a:prstGeom>
          <a:solidFill>
            <a:srgbClr val="EEEAE1"/>
          </a:solidFill>
          <a:ln w="10160">
            <a:solidFill>
              <a:srgbClr val="EEEAE1">
                <a:alpha val="0"/>
              </a:srgbClr>
            </a:solidFill>
            <a:prstDash val="solid"/>
          </a:ln>
        </p:spPr>
      </p:sp>
      <p:sp>
        <p:nvSpPr>
          <p:cNvPr id="19" name="Text 17"/>
          <p:cNvSpPr/>
          <p:nvPr/>
        </p:nvSpPr>
        <p:spPr>
          <a:xfrm>
            <a:off x="987552" y="5477256"/>
            <a:ext cx="10213848" cy="3840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民主集中制说明国家机构的组织活动方式，与这些原则相联系。</a:t>
            </a:r>
            <a:endParaRPr lang="en-US" sz="2200" dirty="0"/>
          </a:p>
        </p:txBody>
      </p:sp>
      <p:sp>
        <p:nvSpPr>
          <p:cNvPr id="20" name="Shape 18"/>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21" name="Text 19"/>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第1讲</a:t>
            </a:r>
            <a:endParaRPr lang="en-US" sz="1100" dirty="0"/>
          </a:p>
        </p:txBody>
      </p:sp>
      <p:sp>
        <p:nvSpPr>
          <p:cNvPr id="22" name="Text 20"/>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教材92—103页；关系说明为教学组织</a:t>
            </a:r>
            <a:endParaRPr lang="en-US" sz="1100" dirty="0"/>
          </a:p>
        </p:txBody>
      </p:sp>
      <p:sp>
        <p:nvSpPr>
          <p:cNvPr id="23" name="Text 21"/>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12 / 22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任务3：权力的行使为什么还要看人权？</a:t>
            </a:r>
            <a:endParaRPr lang="en-US" sz="3200" dirty="0"/>
          </a:p>
        </p:txBody>
      </p:sp>
      <p:sp>
        <p:nvSpPr>
          <p:cNvPr id="3" name="Shape 1"/>
          <p:cNvSpPr/>
          <p:nvPr/>
        </p:nvSpPr>
        <p:spPr>
          <a:xfrm>
            <a:off x="768096" y="1773936"/>
            <a:ext cx="10652760" cy="3090672"/>
          </a:xfrm>
          <a:prstGeom prst="rect">
            <a:avLst/>
          </a:prstGeom>
          <a:solidFill>
            <a:srgbClr val="FFFFFF"/>
          </a:solidFill>
          <a:ln w="10160">
            <a:solidFill>
              <a:srgbClr val="D9D9D3"/>
            </a:solidFill>
            <a:prstDash val="solid"/>
          </a:ln>
        </p:spPr>
      </p:sp>
      <p:sp>
        <p:nvSpPr>
          <p:cNvPr id="4" name="Text 2"/>
          <p:cNvSpPr/>
          <p:nvPr/>
        </p:nvSpPr>
        <p:spPr>
          <a:xfrm>
            <a:off x="1033272" y="1956816"/>
            <a:ext cx="3657600" cy="283464"/>
          </a:xfrm>
          <a:prstGeom prst="rect">
            <a:avLst/>
          </a:prstGeom>
          <a:noFill/>
          <a:ln/>
        </p:spPr>
        <p:txBody>
          <a:bodyPr wrap="square" lIns="0" tIns="0" rIns="0" bIns="0" rtlCol="0" anchor="t"/>
          <a:lstStyle/>
          <a:p>
            <a:pPr indent="0" marL="0">
              <a:lnSpc>
                <a:spcPct val="108000"/>
              </a:lnSpc>
              <a:buNone/>
            </a:pPr>
            <a:r>
              <a:rPr lang="en-US" sz="1400" b="1" dirty="0">
                <a:solidFill>
                  <a:srgbClr val="B13D38"/>
                </a:solidFill>
                <a:latin typeface="Microsoft YaHei" pitchFamily="34" charset="0"/>
                <a:ea typeface="Microsoft YaHei" pitchFamily="34" charset="-122"/>
                <a:cs typeface="Microsoft YaHei" pitchFamily="34" charset="-120"/>
              </a:rPr>
              <a:t>法条原文</a:t>
            </a:r>
            <a:endParaRPr lang="en-US" sz="1400" dirty="0"/>
          </a:p>
        </p:txBody>
      </p:sp>
      <p:sp>
        <p:nvSpPr>
          <p:cNvPr id="5" name="Text 3"/>
          <p:cNvSpPr/>
          <p:nvPr/>
        </p:nvSpPr>
        <p:spPr>
          <a:xfrm>
            <a:off x="1033272" y="2423160"/>
            <a:ext cx="10104120" cy="1847088"/>
          </a:xfrm>
          <a:prstGeom prst="rect">
            <a:avLst/>
          </a:prstGeom>
          <a:noFill/>
          <a:ln/>
        </p:spPr>
        <p:txBody>
          <a:bodyPr wrap="square" lIns="0" tIns="0" rIns="0" bIns="0" rtlCol="0" anchor="t"/>
          <a:lstStyle/>
          <a:p>
            <a:pPr indent="0" marL="0">
              <a:lnSpc>
                <a:spcPct val="108000"/>
              </a:lnSpc>
              <a:buNone/>
            </a:pPr>
            <a:r>
              <a:rPr lang="en-US" sz="2600" dirty="0">
                <a:solidFill>
                  <a:srgbClr val="142735"/>
                </a:solidFill>
                <a:latin typeface="Microsoft YaHei" pitchFamily="34" charset="0"/>
                <a:ea typeface="Microsoft YaHei" pitchFamily="34" charset="-122"/>
                <a:cs typeface="Microsoft YaHei" pitchFamily="34" charset="-120"/>
              </a:rPr>
              <a:t>国家尊重和保障人权。</a:t>
            </a:r>
            <a:endParaRPr lang="en-US" sz="2600" dirty="0"/>
          </a:p>
        </p:txBody>
      </p:sp>
      <p:sp>
        <p:nvSpPr>
          <p:cNvPr id="6" name="Text 4"/>
          <p:cNvSpPr/>
          <p:nvPr/>
        </p:nvSpPr>
        <p:spPr>
          <a:xfrm>
            <a:off x="1042416" y="4416552"/>
            <a:ext cx="10104120" cy="274320"/>
          </a:xfrm>
          <a:prstGeom prst="rect">
            <a:avLst/>
          </a:prstGeom>
          <a:noFill/>
          <a:ln/>
        </p:spPr>
        <p:txBody>
          <a:bodyPr wrap="square" lIns="0" tIns="0" rIns="0" bIns="0" rtlCol="0" anchor="t"/>
          <a:lstStyle/>
          <a:p>
            <a:pPr algn="r" indent="0" marL="0">
              <a:lnSpc>
                <a:spcPct val="108000"/>
              </a:lnSpc>
              <a:buNone/>
            </a:pPr>
            <a:r>
              <a:rPr lang="en-US" sz="1400" dirty="0">
                <a:solidFill>
                  <a:srgbClr val="64717A"/>
                </a:solidFill>
                <a:latin typeface="Microsoft YaHei" pitchFamily="34" charset="0"/>
                <a:ea typeface="Microsoft YaHei" pitchFamily="34" charset="-122"/>
                <a:cs typeface="Microsoft YaHei" pitchFamily="34" charset="-120"/>
              </a:rPr>
              <a:t>宪法第33条第3款</a:t>
            </a:r>
            <a:endParaRPr lang="en-US" sz="1400" dirty="0"/>
          </a:p>
        </p:txBody>
      </p:sp>
      <p:sp>
        <p:nvSpPr>
          <p:cNvPr id="7" name="Text 5"/>
          <p:cNvSpPr/>
          <p:nvPr/>
        </p:nvSpPr>
        <p:spPr>
          <a:xfrm>
            <a:off x="868680" y="5202936"/>
            <a:ext cx="10378440" cy="777240"/>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用材料C说明一项制度联系：人民当家作主如何落实，机关为何仍须保障权利？</a:t>
            </a:r>
            <a:endParaRPr lang="en-US" sz="2200" dirty="0"/>
          </a:p>
        </p:txBody>
      </p:sp>
      <p:sp>
        <p:nvSpPr>
          <p:cNvPr id="8" name="Shape 6"/>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9" name="Text 7"/>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第1讲</a:t>
            </a:r>
            <a:endParaRPr lang="en-US" sz="1100" dirty="0"/>
          </a:p>
        </p:txBody>
      </p:sp>
      <p:sp>
        <p:nvSpPr>
          <p:cNvPr id="10" name="Text 8"/>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《宪法》第33条第3款；材料C任务3</a:t>
            </a:r>
            <a:endParaRPr lang="en-US" sz="1100" dirty="0"/>
          </a:p>
        </p:txBody>
      </p:sp>
      <p:sp>
        <p:nvSpPr>
          <p:cNvPr id="11" name="Text 9"/>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13 / 22</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国家赔偿对读：先找到宪法上的权利</a:t>
            </a:r>
            <a:endParaRPr lang="en-US" sz="3200" dirty="0"/>
          </a:p>
        </p:txBody>
      </p:sp>
      <p:sp>
        <p:nvSpPr>
          <p:cNvPr id="3" name="Shape 1"/>
          <p:cNvSpPr/>
          <p:nvPr/>
        </p:nvSpPr>
        <p:spPr>
          <a:xfrm>
            <a:off x="768096" y="1773936"/>
            <a:ext cx="5202936" cy="3264408"/>
          </a:xfrm>
          <a:prstGeom prst="rect">
            <a:avLst/>
          </a:prstGeom>
          <a:solidFill>
            <a:srgbClr val="FFFFFF"/>
          </a:solidFill>
          <a:ln w="10160">
            <a:solidFill>
              <a:srgbClr val="D9D9D3"/>
            </a:solidFill>
            <a:prstDash val="solid"/>
          </a:ln>
        </p:spPr>
      </p:sp>
      <p:sp>
        <p:nvSpPr>
          <p:cNvPr id="4" name="Shape 2"/>
          <p:cNvSpPr/>
          <p:nvPr/>
        </p:nvSpPr>
        <p:spPr>
          <a:xfrm>
            <a:off x="768096" y="1773936"/>
            <a:ext cx="5202936" cy="658368"/>
          </a:xfrm>
          <a:prstGeom prst="rect">
            <a:avLst/>
          </a:prstGeom>
          <a:solidFill>
            <a:srgbClr val="142735"/>
          </a:solidFill>
          <a:ln w="10160">
            <a:solidFill>
              <a:srgbClr val="142735">
                <a:alpha val="0"/>
              </a:srgbClr>
            </a:solidFill>
            <a:prstDash val="solid"/>
          </a:ln>
        </p:spPr>
      </p:sp>
      <p:sp>
        <p:nvSpPr>
          <p:cNvPr id="5" name="Text 3"/>
          <p:cNvSpPr/>
          <p:nvPr/>
        </p:nvSpPr>
        <p:spPr>
          <a:xfrm>
            <a:off x="987552" y="1920240"/>
            <a:ext cx="4764024" cy="365760"/>
          </a:xfrm>
          <a:prstGeom prst="rect">
            <a:avLst/>
          </a:prstGeom>
          <a:noFill/>
          <a:ln/>
        </p:spPr>
        <p:txBody>
          <a:bodyPr wrap="square" lIns="0" tIns="0" rIns="0" bIns="0" rtlCol="0" anchor="t"/>
          <a:lstStyle/>
          <a:p>
            <a:pPr indent="0" marL="0">
              <a:lnSpc>
                <a:spcPct val="108000"/>
              </a:lnSpc>
              <a:buNone/>
            </a:pPr>
            <a:r>
              <a:rPr lang="en-US" sz="2400" b="1" dirty="0">
                <a:solidFill>
                  <a:srgbClr val="FFFFFF"/>
                </a:solidFill>
                <a:latin typeface="Microsoft YaHei" pitchFamily="34" charset="0"/>
                <a:ea typeface="Microsoft YaHei" pitchFamily="34" charset="-122"/>
                <a:cs typeface="Microsoft YaHei" pitchFamily="34" charset="-120"/>
              </a:rPr>
              <a:t>宪法第41条第3款</a:t>
            </a:r>
            <a:endParaRPr lang="en-US" sz="2400" dirty="0"/>
          </a:p>
        </p:txBody>
      </p:sp>
      <p:sp>
        <p:nvSpPr>
          <p:cNvPr id="6" name="Text 4"/>
          <p:cNvSpPr/>
          <p:nvPr/>
        </p:nvSpPr>
        <p:spPr>
          <a:xfrm>
            <a:off x="1005840" y="2706624"/>
            <a:ext cx="4727448" cy="2139696"/>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由于国家机关和国家工作人员侵犯公民权利而受到损失的人，有依照法律规定取得赔偿的权利。</a:t>
            </a:r>
            <a:endParaRPr lang="en-US" sz="2200" dirty="0"/>
          </a:p>
        </p:txBody>
      </p:sp>
      <p:sp>
        <p:nvSpPr>
          <p:cNvPr id="7" name="Shape 5"/>
          <p:cNvSpPr/>
          <p:nvPr/>
        </p:nvSpPr>
        <p:spPr>
          <a:xfrm>
            <a:off x="6217920" y="1773936"/>
            <a:ext cx="5202936" cy="3264408"/>
          </a:xfrm>
          <a:prstGeom prst="rect">
            <a:avLst/>
          </a:prstGeom>
          <a:solidFill>
            <a:srgbClr val="FFFFFF"/>
          </a:solidFill>
          <a:ln w="10160">
            <a:solidFill>
              <a:srgbClr val="D9D9D3"/>
            </a:solidFill>
            <a:prstDash val="solid"/>
          </a:ln>
        </p:spPr>
      </p:sp>
      <p:sp>
        <p:nvSpPr>
          <p:cNvPr id="8" name="Shape 6"/>
          <p:cNvSpPr/>
          <p:nvPr/>
        </p:nvSpPr>
        <p:spPr>
          <a:xfrm>
            <a:off x="6217920" y="1773936"/>
            <a:ext cx="5202936" cy="658368"/>
          </a:xfrm>
          <a:prstGeom prst="rect">
            <a:avLst/>
          </a:prstGeom>
          <a:solidFill>
            <a:srgbClr val="B13D38"/>
          </a:solidFill>
          <a:ln w="10160">
            <a:solidFill>
              <a:srgbClr val="B13D38">
                <a:alpha val="0"/>
              </a:srgbClr>
            </a:solidFill>
            <a:prstDash val="solid"/>
          </a:ln>
        </p:spPr>
      </p:sp>
      <p:sp>
        <p:nvSpPr>
          <p:cNvPr id="9" name="Text 7"/>
          <p:cNvSpPr/>
          <p:nvPr/>
        </p:nvSpPr>
        <p:spPr>
          <a:xfrm>
            <a:off x="6437376" y="1920240"/>
            <a:ext cx="4764024" cy="365760"/>
          </a:xfrm>
          <a:prstGeom prst="rect">
            <a:avLst/>
          </a:prstGeom>
          <a:noFill/>
          <a:ln/>
        </p:spPr>
        <p:txBody>
          <a:bodyPr wrap="square" lIns="0" tIns="0" rIns="0" bIns="0" rtlCol="0" anchor="t"/>
          <a:lstStyle/>
          <a:p>
            <a:pPr indent="0" marL="0">
              <a:lnSpc>
                <a:spcPct val="108000"/>
              </a:lnSpc>
              <a:buNone/>
            </a:pPr>
            <a:r>
              <a:rPr lang="en-US" sz="2400" b="1" dirty="0">
                <a:solidFill>
                  <a:srgbClr val="FFFFFF"/>
                </a:solidFill>
                <a:latin typeface="Microsoft YaHei" pitchFamily="34" charset="0"/>
                <a:ea typeface="Microsoft YaHei" pitchFamily="34" charset="-122"/>
                <a:cs typeface="Microsoft YaHei" pitchFamily="34" charset="-120"/>
              </a:rPr>
              <a:t>国家赔偿法第1条</a:t>
            </a:r>
            <a:endParaRPr lang="en-US" sz="2400" dirty="0"/>
          </a:p>
        </p:txBody>
      </p:sp>
      <p:sp>
        <p:nvSpPr>
          <p:cNvPr id="10" name="Text 8"/>
          <p:cNvSpPr/>
          <p:nvPr/>
        </p:nvSpPr>
        <p:spPr>
          <a:xfrm>
            <a:off x="6455664" y="2706624"/>
            <a:ext cx="4727448" cy="2139696"/>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为保障公民、法人和其他组织享有依法取得国家赔偿的权利，促进国家机关依法行使职权，根据宪法，制定本法。</a:t>
            </a:r>
            <a:endParaRPr lang="en-US" sz="2200" dirty="0"/>
          </a:p>
        </p:txBody>
      </p:sp>
      <p:sp>
        <p:nvSpPr>
          <p:cNvPr id="11" name="Shape 9"/>
          <p:cNvSpPr/>
          <p:nvPr/>
        </p:nvSpPr>
        <p:spPr>
          <a:xfrm>
            <a:off x="768096" y="5358384"/>
            <a:ext cx="10652760" cy="621792"/>
          </a:xfrm>
          <a:prstGeom prst="rect">
            <a:avLst/>
          </a:prstGeom>
          <a:solidFill>
            <a:srgbClr val="EEEAE1"/>
          </a:solidFill>
          <a:ln w="10160">
            <a:solidFill>
              <a:srgbClr val="EEEAE1">
                <a:alpha val="0"/>
              </a:srgbClr>
            </a:solidFill>
            <a:prstDash val="solid"/>
          </a:ln>
        </p:spPr>
      </p:sp>
      <p:sp>
        <p:nvSpPr>
          <p:cNvPr id="12" name="Text 10"/>
          <p:cNvSpPr/>
          <p:nvPr/>
        </p:nvSpPr>
        <p:spPr>
          <a:xfrm>
            <a:off x="987552" y="5477256"/>
            <a:ext cx="10213848" cy="3840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把权利保障与国家机关依法行使职权放在一起看。</a:t>
            </a:r>
            <a:endParaRPr lang="en-US" sz="2200" dirty="0"/>
          </a:p>
        </p:txBody>
      </p:sp>
      <p:sp>
        <p:nvSpPr>
          <p:cNvPr id="13" name="Shape 11"/>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4" name="Text 12"/>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第1讲</a:t>
            </a:r>
            <a:endParaRPr lang="en-US" sz="1100" dirty="0"/>
          </a:p>
        </p:txBody>
      </p:sp>
      <p:sp>
        <p:nvSpPr>
          <p:cNvPr id="15" name="Text 13"/>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《宪法》第41条第3款；国家赔偿法第1条</a:t>
            </a:r>
            <a:endParaRPr lang="en-US" sz="1100" dirty="0"/>
          </a:p>
        </p:txBody>
      </p:sp>
      <p:sp>
        <p:nvSpPr>
          <p:cNvPr id="16" name="Text 14"/>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14 / 22</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普通法律进一步规定情形与义务主体</a:t>
            </a:r>
            <a:endParaRPr lang="en-US" sz="3200" dirty="0"/>
          </a:p>
        </p:txBody>
      </p:sp>
      <p:sp>
        <p:nvSpPr>
          <p:cNvPr id="3" name="Shape 1"/>
          <p:cNvSpPr/>
          <p:nvPr/>
        </p:nvSpPr>
        <p:spPr>
          <a:xfrm>
            <a:off x="768096" y="1773936"/>
            <a:ext cx="3398520" cy="3264408"/>
          </a:xfrm>
          <a:prstGeom prst="rect">
            <a:avLst/>
          </a:prstGeom>
          <a:solidFill>
            <a:srgbClr val="FFFFFF"/>
          </a:solidFill>
          <a:ln w="10160">
            <a:solidFill>
              <a:srgbClr val="D9D9D3"/>
            </a:solidFill>
            <a:prstDash val="solid"/>
          </a:ln>
        </p:spPr>
      </p:sp>
      <p:sp>
        <p:nvSpPr>
          <p:cNvPr id="4" name="Text 2"/>
          <p:cNvSpPr/>
          <p:nvPr/>
        </p:nvSpPr>
        <p:spPr>
          <a:xfrm>
            <a:off x="99669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第2条：取得权利</a:t>
            </a:r>
            <a:endParaRPr lang="en-US" sz="2400" dirty="0"/>
          </a:p>
        </p:txBody>
      </p:sp>
      <p:sp>
        <p:nvSpPr>
          <p:cNvPr id="5" name="Text 3"/>
          <p:cNvSpPr/>
          <p:nvPr/>
        </p:nvSpPr>
        <p:spPr>
          <a:xfrm>
            <a:off x="99669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行使职权，</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有本法规定的侵权情形，</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造成损害。</a:t>
            </a:r>
            <a:endParaRPr lang="en-US" sz="2200" dirty="0"/>
          </a:p>
        </p:txBody>
      </p:sp>
      <p:sp>
        <p:nvSpPr>
          <p:cNvPr id="6" name="Shape 4"/>
          <p:cNvSpPr/>
          <p:nvPr/>
        </p:nvSpPr>
        <p:spPr>
          <a:xfrm>
            <a:off x="4395216" y="1773936"/>
            <a:ext cx="3398520" cy="3264408"/>
          </a:xfrm>
          <a:prstGeom prst="rect">
            <a:avLst/>
          </a:prstGeom>
          <a:solidFill>
            <a:srgbClr val="FFFFFF"/>
          </a:solidFill>
          <a:ln w="10160">
            <a:solidFill>
              <a:srgbClr val="D9D9D3"/>
            </a:solidFill>
            <a:prstDash val="solid"/>
          </a:ln>
        </p:spPr>
      </p:sp>
      <p:sp>
        <p:nvSpPr>
          <p:cNvPr id="7" name="Text 5"/>
          <p:cNvSpPr/>
          <p:nvPr/>
        </p:nvSpPr>
        <p:spPr>
          <a:xfrm>
            <a:off x="462381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第3条：具体情形</a:t>
            </a:r>
            <a:endParaRPr lang="en-US" sz="2400" dirty="0"/>
          </a:p>
        </p:txBody>
      </p:sp>
      <p:sp>
        <p:nvSpPr>
          <p:cNvPr id="8" name="Text 6"/>
          <p:cNvSpPr/>
          <p:nvPr/>
        </p:nvSpPr>
        <p:spPr>
          <a:xfrm>
            <a:off x="462381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行使行政职权时，</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违法拘留等情形，</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受害人有赔偿权。</a:t>
            </a:r>
            <a:endParaRPr lang="en-US" sz="2200" dirty="0"/>
          </a:p>
        </p:txBody>
      </p:sp>
      <p:sp>
        <p:nvSpPr>
          <p:cNvPr id="9" name="Shape 7"/>
          <p:cNvSpPr/>
          <p:nvPr/>
        </p:nvSpPr>
        <p:spPr>
          <a:xfrm>
            <a:off x="8022336" y="1773936"/>
            <a:ext cx="3398520" cy="3264408"/>
          </a:xfrm>
          <a:prstGeom prst="rect">
            <a:avLst/>
          </a:prstGeom>
          <a:solidFill>
            <a:srgbClr val="FFFFFF"/>
          </a:solidFill>
          <a:ln w="10160">
            <a:solidFill>
              <a:srgbClr val="D9D9D3"/>
            </a:solidFill>
            <a:prstDash val="solid"/>
          </a:ln>
        </p:spPr>
      </p:sp>
      <p:sp>
        <p:nvSpPr>
          <p:cNvPr id="10" name="Text 8"/>
          <p:cNvSpPr/>
          <p:nvPr/>
        </p:nvSpPr>
        <p:spPr>
          <a:xfrm>
            <a:off x="825093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第7条：义务主体</a:t>
            </a:r>
            <a:endParaRPr lang="en-US" sz="2400" dirty="0"/>
          </a:p>
        </p:txBody>
      </p:sp>
      <p:sp>
        <p:nvSpPr>
          <p:cNvPr id="11" name="Text 9"/>
          <p:cNvSpPr/>
          <p:nvPr/>
        </p:nvSpPr>
        <p:spPr>
          <a:xfrm>
            <a:off x="825093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相应行政机关</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为赔偿义务机关。</a:t>
            </a:r>
            <a:endParaRPr lang="en-US" sz="2200" dirty="0"/>
          </a:p>
        </p:txBody>
      </p:sp>
      <p:sp>
        <p:nvSpPr>
          <p:cNvPr id="12" name="Shape 10"/>
          <p:cNvSpPr/>
          <p:nvPr/>
        </p:nvSpPr>
        <p:spPr>
          <a:xfrm>
            <a:off x="768096" y="5358384"/>
            <a:ext cx="10652760" cy="621792"/>
          </a:xfrm>
          <a:prstGeom prst="rect">
            <a:avLst/>
          </a:prstGeom>
          <a:solidFill>
            <a:srgbClr val="EEEAE1"/>
          </a:solidFill>
          <a:ln w="10160">
            <a:solidFill>
              <a:srgbClr val="EEEAE1">
                <a:alpha val="0"/>
              </a:srgbClr>
            </a:solidFill>
            <a:prstDash val="solid"/>
          </a:ln>
        </p:spPr>
      </p:sp>
      <p:sp>
        <p:nvSpPr>
          <p:cNvPr id="13" name="Text 11"/>
          <p:cNvSpPr/>
          <p:nvPr/>
        </p:nvSpPr>
        <p:spPr>
          <a:xfrm>
            <a:off x="987552" y="5477256"/>
            <a:ext cx="10213848" cy="3840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以上为定位概括；请对照材料D中的法条原文。</a:t>
            </a:r>
            <a:endParaRPr lang="en-US" sz="2200" dirty="0"/>
          </a:p>
        </p:txBody>
      </p:sp>
      <p:sp>
        <p:nvSpPr>
          <p:cNvPr id="14" name="Shape 12"/>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5" name="Text 13"/>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第1讲</a:t>
            </a:r>
            <a:endParaRPr lang="en-US" sz="1100" dirty="0"/>
          </a:p>
        </p:txBody>
      </p:sp>
      <p:sp>
        <p:nvSpPr>
          <p:cNvPr id="16" name="Text 14"/>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国家赔偿法第2条第1款、第3条第1项、第7条第1款</a:t>
            </a:r>
            <a:endParaRPr lang="en-US" sz="1100" dirty="0"/>
          </a:p>
        </p:txBody>
      </p:sp>
      <p:sp>
        <p:nvSpPr>
          <p:cNvPr id="17" name="Text 15"/>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15 / 22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任务4：给定事实足够，可以判断到哪一步？</a:t>
            </a:r>
            <a:endParaRPr lang="en-US" sz="3200" dirty="0"/>
          </a:p>
        </p:txBody>
      </p:sp>
      <p:sp>
        <p:nvSpPr>
          <p:cNvPr id="3" name="Shape 1"/>
          <p:cNvSpPr/>
          <p:nvPr/>
        </p:nvSpPr>
        <p:spPr>
          <a:xfrm>
            <a:off x="768096" y="1773936"/>
            <a:ext cx="5202936" cy="2286000"/>
          </a:xfrm>
          <a:prstGeom prst="rect">
            <a:avLst/>
          </a:prstGeom>
          <a:solidFill>
            <a:srgbClr val="FFFFFF"/>
          </a:solidFill>
          <a:ln w="10160">
            <a:solidFill>
              <a:srgbClr val="D9D9D3"/>
            </a:solidFill>
            <a:prstDash val="solid"/>
          </a:ln>
        </p:spPr>
      </p:sp>
      <p:sp>
        <p:nvSpPr>
          <p:cNvPr id="4" name="Text 2"/>
          <p:cNvSpPr/>
          <p:nvPr/>
        </p:nvSpPr>
        <p:spPr>
          <a:xfrm>
            <a:off x="996696" y="1956816"/>
            <a:ext cx="4745736" cy="384048"/>
          </a:xfrm>
          <a:prstGeom prst="rect">
            <a:avLst/>
          </a:prstGeom>
          <a:noFill/>
          <a:ln/>
        </p:spPr>
        <p:txBody>
          <a:bodyPr wrap="square" lIns="0" tIns="0" rIns="0" bIns="0" rtlCol="0" anchor="t"/>
          <a:lstStyle/>
          <a:p>
            <a:pPr indent="0" marL="0">
              <a:lnSpc>
                <a:spcPct val="108000"/>
              </a:lnSpc>
              <a:buNone/>
            </a:pPr>
            <a:r>
              <a:rPr lang="en-US" sz="2400" b="1" dirty="0">
                <a:solidFill>
                  <a:srgbClr val="142735"/>
                </a:solidFill>
                <a:latin typeface="Microsoft YaHei" pitchFamily="34" charset="0"/>
                <a:ea typeface="Microsoft YaHei" pitchFamily="34" charset="-122"/>
                <a:cs typeface="Microsoft YaHei" pitchFamily="34" charset="-120"/>
              </a:rPr>
              <a:t>给定行为</a:t>
            </a:r>
            <a:endParaRPr lang="en-US" sz="2400" dirty="0"/>
          </a:p>
        </p:txBody>
      </p:sp>
      <p:sp>
        <p:nvSpPr>
          <p:cNvPr id="5" name="Text 3"/>
          <p:cNvSpPr/>
          <p:nvPr/>
        </p:nvSpPr>
        <p:spPr>
          <a:xfrm>
            <a:off x="996696" y="2606040"/>
            <a:ext cx="4745736" cy="1216152"/>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某县公安局工作人员，</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以本机关名义行使行政职权，</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违法拘留公民甲。</a:t>
            </a:r>
            <a:endParaRPr lang="en-US" sz="2200" dirty="0"/>
          </a:p>
        </p:txBody>
      </p:sp>
      <p:sp>
        <p:nvSpPr>
          <p:cNvPr id="6" name="Shape 4"/>
          <p:cNvSpPr/>
          <p:nvPr/>
        </p:nvSpPr>
        <p:spPr>
          <a:xfrm>
            <a:off x="6217920" y="1773936"/>
            <a:ext cx="5202936" cy="2286000"/>
          </a:xfrm>
          <a:prstGeom prst="rect">
            <a:avLst/>
          </a:prstGeom>
          <a:solidFill>
            <a:srgbClr val="FFFFFF"/>
          </a:solidFill>
          <a:ln w="10160">
            <a:solidFill>
              <a:srgbClr val="D9D9D3"/>
            </a:solidFill>
            <a:prstDash val="solid"/>
          </a:ln>
        </p:spPr>
      </p:sp>
      <p:sp>
        <p:nvSpPr>
          <p:cNvPr id="7" name="Text 5"/>
          <p:cNvSpPr/>
          <p:nvPr/>
        </p:nvSpPr>
        <p:spPr>
          <a:xfrm>
            <a:off x="6446520" y="1956816"/>
            <a:ext cx="4745736" cy="384048"/>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给定事实</a:t>
            </a:r>
            <a:endParaRPr lang="en-US" sz="2400" dirty="0"/>
          </a:p>
        </p:txBody>
      </p:sp>
      <p:sp>
        <p:nvSpPr>
          <p:cNvPr id="8" name="Text 6"/>
          <p:cNvSpPr/>
          <p:nvPr/>
        </p:nvSpPr>
        <p:spPr>
          <a:xfrm>
            <a:off x="6446520" y="2606040"/>
            <a:ext cx="4745736" cy="1216152"/>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上述职权性质、违法拘留</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和人身自由侵害均已查明。</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无共同机关、委托等情形。</a:t>
            </a:r>
            <a:endParaRPr lang="en-US" sz="2200" dirty="0"/>
          </a:p>
        </p:txBody>
      </p:sp>
      <p:sp>
        <p:nvSpPr>
          <p:cNvPr id="9" name="Text 7"/>
          <p:cNvSpPr/>
          <p:nvPr/>
        </p:nvSpPr>
        <p:spPr>
          <a:xfrm>
            <a:off x="859536" y="4297680"/>
            <a:ext cx="10469880" cy="640080"/>
          </a:xfrm>
          <a:prstGeom prst="rect">
            <a:avLst/>
          </a:prstGeom>
          <a:noFill/>
          <a:ln/>
        </p:spPr>
        <p:txBody>
          <a:bodyPr wrap="square" lIns="0" tIns="0" rIns="0" bIns="0" rtlCol="0" anchor="t"/>
          <a:lstStyle/>
          <a:p>
            <a:pPr indent="0" marL="0">
              <a:lnSpc>
                <a:spcPct val="108000"/>
              </a:lnSpc>
              <a:buNone/>
            </a:pPr>
            <a:r>
              <a:rPr lang="en-US" sz="2200" dirty="0">
                <a:solidFill>
                  <a:srgbClr val="64717A"/>
                </a:solidFill>
                <a:latin typeface="Microsoft YaHei" pitchFamily="34" charset="0"/>
                <a:ea typeface="Microsoft YaHei" pitchFamily="34" charset="-122"/>
                <a:cs typeface="Microsoft YaHei" pitchFamily="34" charset="-120"/>
              </a:rPr>
              <a:t>题目不要求计算金额，也不判断具体程序是否已经完成。</a:t>
            </a:r>
            <a:endParaRPr lang="en-US" sz="2200" dirty="0"/>
          </a:p>
        </p:txBody>
      </p:sp>
      <p:sp>
        <p:nvSpPr>
          <p:cNvPr id="10" name="Shape 8"/>
          <p:cNvSpPr/>
          <p:nvPr/>
        </p:nvSpPr>
        <p:spPr>
          <a:xfrm>
            <a:off x="768096" y="5175504"/>
            <a:ext cx="10652760" cy="877824"/>
          </a:xfrm>
          <a:prstGeom prst="rect">
            <a:avLst/>
          </a:prstGeom>
          <a:solidFill>
            <a:srgbClr val="142735"/>
          </a:solidFill>
          <a:ln w="10160">
            <a:solidFill>
              <a:srgbClr val="142735">
                <a:alpha val="0"/>
              </a:srgbClr>
            </a:solidFill>
            <a:prstDash val="solid"/>
          </a:ln>
        </p:spPr>
      </p:sp>
      <p:sp>
        <p:nvSpPr>
          <p:cNvPr id="11" name="Text 9"/>
          <p:cNvSpPr/>
          <p:nvPr/>
        </p:nvSpPr>
        <p:spPr>
          <a:xfrm>
            <a:off x="987552" y="5340096"/>
            <a:ext cx="10213848" cy="566928"/>
          </a:xfrm>
          <a:prstGeom prst="rect">
            <a:avLst/>
          </a:prstGeom>
          <a:noFill/>
          <a:ln/>
        </p:spPr>
        <p:txBody>
          <a:bodyPr wrap="square" lIns="0" tIns="0" rIns="0" bIns="0" rtlCol="0" anchor="t"/>
          <a:lstStyle/>
          <a:p>
            <a:pPr indent="0" marL="0">
              <a:lnSpc>
                <a:spcPct val="108000"/>
              </a:lnSpc>
              <a:buNone/>
            </a:pPr>
            <a:r>
              <a:rPr lang="en-US" sz="2200" b="1" dirty="0">
                <a:solidFill>
                  <a:srgbClr val="FFFFFF"/>
                </a:solidFill>
                <a:latin typeface="Microsoft YaHei" pitchFamily="34" charset="0"/>
                <a:ea typeface="Microsoft YaHei" pitchFamily="34" charset="-122"/>
                <a:cs typeface="Microsoft YaHei" pitchFamily="34" charset="-120"/>
              </a:rPr>
              <a:t>判断赔偿权与义务机关，并解释宪法和普通法律分别规定了什么。</a:t>
            </a:r>
            <a:endParaRPr lang="en-US" sz="2200" dirty="0"/>
          </a:p>
        </p:txBody>
      </p:sp>
      <p:sp>
        <p:nvSpPr>
          <p:cNvPr id="12" name="Shape 10"/>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3" name="Text 11"/>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第1讲</a:t>
            </a:r>
            <a:endParaRPr lang="en-US" sz="1100" dirty="0"/>
          </a:p>
        </p:txBody>
      </p:sp>
      <p:sp>
        <p:nvSpPr>
          <p:cNvPr id="14" name="Text 12"/>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材料D任务4；教学设例</a:t>
            </a:r>
            <a:endParaRPr lang="en-US" sz="1100" dirty="0"/>
          </a:p>
        </p:txBody>
      </p:sp>
      <p:sp>
        <p:nvSpPr>
          <p:cNvPr id="15" name="Text 13"/>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16 / 22</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任务4讲评：权利、情形、主体都有依据</a:t>
            </a:r>
            <a:endParaRPr lang="en-US" sz="3200" dirty="0"/>
          </a:p>
        </p:txBody>
      </p:sp>
      <p:sp>
        <p:nvSpPr>
          <p:cNvPr id="3" name="Shape 1"/>
          <p:cNvSpPr/>
          <p:nvPr/>
        </p:nvSpPr>
        <p:spPr>
          <a:xfrm>
            <a:off x="768096" y="1773936"/>
            <a:ext cx="2556662" cy="640080"/>
          </a:xfrm>
          <a:prstGeom prst="rect">
            <a:avLst/>
          </a:prstGeom>
          <a:solidFill>
            <a:srgbClr val="142735"/>
          </a:solidFill>
          <a:ln w="10160">
            <a:solidFill>
              <a:srgbClr val="F8F6F1"/>
            </a:solidFill>
            <a:prstDash val="solid"/>
          </a:ln>
        </p:spPr>
      </p:sp>
      <p:sp>
        <p:nvSpPr>
          <p:cNvPr id="4" name="Text 2"/>
          <p:cNvSpPr/>
          <p:nvPr/>
        </p:nvSpPr>
        <p:spPr>
          <a:xfrm>
            <a:off x="941832" y="1929384"/>
            <a:ext cx="2209190" cy="365760"/>
          </a:xfrm>
          <a:prstGeom prst="rect">
            <a:avLst/>
          </a:prstGeom>
          <a:noFill/>
          <a:ln/>
        </p:spPr>
        <p:txBody>
          <a:bodyPr wrap="square" lIns="0" tIns="0" rIns="0" bIns="0" rtlCol="0" anchor="t"/>
          <a:lstStyle/>
          <a:p>
            <a:pPr indent="0" marL="0">
              <a:lnSpc>
                <a:spcPct val="108000"/>
              </a:lnSpc>
              <a:buNone/>
            </a:pPr>
            <a:r>
              <a:rPr lang="en-US" sz="2200" b="1" dirty="0">
                <a:solidFill>
                  <a:srgbClr val="FFFFFF"/>
                </a:solidFill>
                <a:latin typeface="Microsoft YaHei" pitchFamily="34" charset="0"/>
                <a:ea typeface="Microsoft YaHei" pitchFamily="34" charset="-122"/>
                <a:cs typeface="Microsoft YaHei" pitchFamily="34" charset="-120"/>
              </a:rPr>
              <a:t>判断</a:t>
            </a:r>
            <a:endParaRPr lang="en-US" sz="2200" dirty="0"/>
          </a:p>
        </p:txBody>
      </p:sp>
      <p:sp>
        <p:nvSpPr>
          <p:cNvPr id="5" name="Shape 3"/>
          <p:cNvSpPr/>
          <p:nvPr/>
        </p:nvSpPr>
        <p:spPr>
          <a:xfrm>
            <a:off x="3324758" y="1773936"/>
            <a:ext cx="8096098" cy="640080"/>
          </a:xfrm>
          <a:prstGeom prst="rect">
            <a:avLst/>
          </a:prstGeom>
          <a:solidFill>
            <a:srgbClr val="142735"/>
          </a:solidFill>
          <a:ln w="10160">
            <a:solidFill>
              <a:srgbClr val="F8F6F1"/>
            </a:solidFill>
            <a:prstDash val="solid"/>
          </a:ln>
        </p:spPr>
      </p:sp>
      <p:sp>
        <p:nvSpPr>
          <p:cNvPr id="6" name="Text 4"/>
          <p:cNvSpPr/>
          <p:nvPr/>
        </p:nvSpPr>
        <p:spPr>
          <a:xfrm>
            <a:off x="3498494" y="1929384"/>
            <a:ext cx="7748626" cy="365760"/>
          </a:xfrm>
          <a:prstGeom prst="rect">
            <a:avLst/>
          </a:prstGeom>
          <a:noFill/>
          <a:ln/>
        </p:spPr>
        <p:txBody>
          <a:bodyPr wrap="square" lIns="0" tIns="0" rIns="0" bIns="0" rtlCol="0" anchor="t"/>
          <a:lstStyle/>
          <a:p>
            <a:pPr indent="0" marL="0">
              <a:lnSpc>
                <a:spcPct val="108000"/>
              </a:lnSpc>
              <a:buNone/>
            </a:pPr>
            <a:r>
              <a:rPr lang="en-US" sz="2200" b="1" dirty="0">
                <a:solidFill>
                  <a:srgbClr val="FFFFFF"/>
                </a:solidFill>
                <a:latin typeface="Microsoft YaHei" pitchFamily="34" charset="0"/>
                <a:ea typeface="Microsoft YaHei" pitchFamily="34" charset="-122"/>
                <a:cs typeface="Microsoft YaHei" pitchFamily="34" charset="-120"/>
              </a:rPr>
              <a:t>结论与根据</a:t>
            </a:r>
            <a:endParaRPr lang="en-US" sz="2200" dirty="0"/>
          </a:p>
        </p:txBody>
      </p:sp>
      <p:sp>
        <p:nvSpPr>
          <p:cNvPr id="7" name="Shape 5"/>
          <p:cNvSpPr/>
          <p:nvPr/>
        </p:nvSpPr>
        <p:spPr>
          <a:xfrm>
            <a:off x="768096" y="2414016"/>
            <a:ext cx="2556662" cy="777240"/>
          </a:xfrm>
          <a:prstGeom prst="rect">
            <a:avLst/>
          </a:prstGeom>
          <a:solidFill>
            <a:srgbClr val="FFFFFF"/>
          </a:solidFill>
          <a:ln w="10160">
            <a:solidFill>
              <a:srgbClr val="F8F6F1"/>
            </a:solidFill>
            <a:prstDash val="solid"/>
          </a:ln>
        </p:spPr>
      </p:sp>
      <p:sp>
        <p:nvSpPr>
          <p:cNvPr id="8" name="Text 6"/>
          <p:cNvSpPr/>
          <p:nvPr/>
        </p:nvSpPr>
        <p:spPr>
          <a:xfrm>
            <a:off x="941832" y="2496312"/>
            <a:ext cx="2209190" cy="6126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赔偿权</a:t>
            </a:r>
            <a:endParaRPr lang="en-US" sz="2200" dirty="0"/>
          </a:p>
        </p:txBody>
      </p:sp>
      <p:sp>
        <p:nvSpPr>
          <p:cNvPr id="9" name="Shape 7"/>
          <p:cNvSpPr/>
          <p:nvPr/>
        </p:nvSpPr>
        <p:spPr>
          <a:xfrm>
            <a:off x="3324758" y="2414016"/>
            <a:ext cx="8096098" cy="777240"/>
          </a:xfrm>
          <a:prstGeom prst="rect">
            <a:avLst/>
          </a:prstGeom>
          <a:solidFill>
            <a:srgbClr val="FFFFFF"/>
          </a:solidFill>
          <a:ln w="10160">
            <a:solidFill>
              <a:srgbClr val="F8F6F1"/>
            </a:solidFill>
            <a:prstDash val="solid"/>
          </a:ln>
        </p:spPr>
      </p:sp>
      <p:sp>
        <p:nvSpPr>
          <p:cNvPr id="10" name="Text 8"/>
          <p:cNvSpPr/>
          <p:nvPr/>
        </p:nvSpPr>
        <p:spPr>
          <a:xfrm>
            <a:off x="3498494" y="2496312"/>
            <a:ext cx="7748626" cy="612648"/>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甲有赔偿权：已给定违法行政拘留及自由侵害。</a:t>
            </a:r>
            <a:endParaRPr lang="en-US" sz="2200" dirty="0"/>
          </a:p>
        </p:txBody>
      </p:sp>
      <p:sp>
        <p:nvSpPr>
          <p:cNvPr id="11" name="Shape 9"/>
          <p:cNvSpPr/>
          <p:nvPr/>
        </p:nvSpPr>
        <p:spPr>
          <a:xfrm>
            <a:off x="768096" y="3191256"/>
            <a:ext cx="2556662" cy="777240"/>
          </a:xfrm>
          <a:prstGeom prst="rect">
            <a:avLst/>
          </a:prstGeom>
          <a:solidFill>
            <a:srgbClr val="EEEAE1"/>
          </a:solidFill>
          <a:ln w="10160">
            <a:solidFill>
              <a:srgbClr val="F8F6F1"/>
            </a:solidFill>
            <a:prstDash val="solid"/>
          </a:ln>
        </p:spPr>
      </p:sp>
      <p:sp>
        <p:nvSpPr>
          <p:cNvPr id="12" name="Text 10"/>
          <p:cNvSpPr/>
          <p:nvPr/>
        </p:nvSpPr>
        <p:spPr>
          <a:xfrm>
            <a:off x="941832" y="3273552"/>
            <a:ext cx="2209190" cy="6126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义务机关</a:t>
            </a:r>
            <a:endParaRPr lang="en-US" sz="2200" dirty="0"/>
          </a:p>
        </p:txBody>
      </p:sp>
      <p:sp>
        <p:nvSpPr>
          <p:cNvPr id="13" name="Shape 11"/>
          <p:cNvSpPr/>
          <p:nvPr/>
        </p:nvSpPr>
        <p:spPr>
          <a:xfrm>
            <a:off x="3324758" y="3191256"/>
            <a:ext cx="8096098" cy="777240"/>
          </a:xfrm>
          <a:prstGeom prst="rect">
            <a:avLst/>
          </a:prstGeom>
          <a:solidFill>
            <a:srgbClr val="EEEAE1"/>
          </a:solidFill>
          <a:ln w="10160">
            <a:solidFill>
              <a:srgbClr val="F8F6F1"/>
            </a:solidFill>
            <a:prstDash val="solid"/>
          </a:ln>
        </p:spPr>
      </p:sp>
      <p:sp>
        <p:nvSpPr>
          <p:cNvPr id="14" name="Text 12"/>
          <p:cNvSpPr/>
          <p:nvPr/>
        </p:nvSpPr>
        <p:spPr>
          <a:xfrm>
            <a:off x="3498494" y="3273552"/>
            <a:ext cx="7748626" cy="612648"/>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本题为县公安局：国家赔偿法第7条第1款。</a:t>
            </a:r>
            <a:endParaRPr lang="en-US" sz="2200" dirty="0"/>
          </a:p>
        </p:txBody>
      </p:sp>
      <p:sp>
        <p:nvSpPr>
          <p:cNvPr id="15" name="Shape 13"/>
          <p:cNvSpPr/>
          <p:nvPr/>
        </p:nvSpPr>
        <p:spPr>
          <a:xfrm>
            <a:off x="768096" y="3968496"/>
            <a:ext cx="2556662" cy="777240"/>
          </a:xfrm>
          <a:prstGeom prst="rect">
            <a:avLst/>
          </a:prstGeom>
          <a:solidFill>
            <a:srgbClr val="FFFFFF"/>
          </a:solidFill>
          <a:ln w="10160">
            <a:solidFill>
              <a:srgbClr val="F8F6F1"/>
            </a:solidFill>
            <a:prstDash val="solid"/>
          </a:ln>
        </p:spPr>
      </p:sp>
      <p:sp>
        <p:nvSpPr>
          <p:cNvPr id="16" name="Text 14"/>
          <p:cNvSpPr/>
          <p:nvPr/>
        </p:nvSpPr>
        <p:spPr>
          <a:xfrm>
            <a:off x="941832" y="4050792"/>
            <a:ext cx="2209190" cy="6126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规范联系</a:t>
            </a:r>
            <a:endParaRPr lang="en-US" sz="2200" dirty="0"/>
          </a:p>
        </p:txBody>
      </p:sp>
      <p:sp>
        <p:nvSpPr>
          <p:cNvPr id="17" name="Shape 15"/>
          <p:cNvSpPr/>
          <p:nvPr/>
        </p:nvSpPr>
        <p:spPr>
          <a:xfrm>
            <a:off x="3324758" y="3968496"/>
            <a:ext cx="8096098" cy="777240"/>
          </a:xfrm>
          <a:prstGeom prst="rect">
            <a:avLst/>
          </a:prstGeom>
          <a:solidFill>
            <a:srgbClr val="FFFFFF"/>
          </a:solidFill>
          <a:ln w="10160">
            <a:solidFill>
              <a:srgbClr val="F8F6F1"/>
            </a:solidFill>
            <a:prstDash val="solid"/>
          </a:ln>
        </p:spPr>
      </p:sp>
      <p:sp>
        <p:nvSpPr>
          <p:cNvPr id="18" name="Text 16"/>
          <p:cNvSpPr/>
          <p:nvPr/>
        </p:nvSpPr>
        <p:spPr>
          <a:xfrm>
            <a:off x="3498494" y="4050792"/>
            <a:ext cx="7748626" cy="612648"/>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宪法确认权利，普通法律规定具体情形与主体。</a:t>
            </a:r>
            <a:endParaRPr lang="en-US" sz="2200" dirty="0"/>
          </a:p>
        </p:txBody>
      </p:sp>
      <p:sp>
        <p:nvSpPr>
          <p:cNvPr id="19" name="Shape 17"/>
          <p:cNvSpPr/>
          <p:nvPr/>
        </p:nvSpPr>
        <p:spPr>
          <a:xfrm>
            <a:off x="768096" y="4745736"/>
            <a:ext cx="2556662" cy="777240"/>
          </a:xfrm>
          <a:prstGeom prst="rect">
            <a:avLst/>
          </a:prstGeom>
          <a:solidFill>
            <a:srgbClr val="EEEAE1"/>
          </a:solidFill>
          <a:ln w="10160">
            <a:solidFill>
              <a:srgbClr val="F8F6F1"/>
            </a:solidFill>
            <a:prstDash val="solid"/>
          </a:ln>
        </p:spPr>
      </p:sp>
      <p:sp>
        <p:nvSpPr>
          <p:cNvPr id="20" name="Text 18"/>
          <p:cNvSpPr/>
          <p:nvPr/>
        </p:nvSpPr>
        <p:spPr>
          <a:xfrm>
            <a:off x="941832" y="4828032"/>
            <a:ext cx="2209190" cy="6126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效力区别</a:t>
            </a:r>
            <a:endParaRPr lang="en-US" sz="2200" dirty="0"/>
          </a:p>
        </p:txBody>
      </p:sp>
      <p:sp>
        <p:nvSpPr>
          <p:cNvPr id="21" name="Shape 19"/>
          <p:cNvSpPr/>
          <p:nvPr/>
        </p:nvSpPr>
        <p:spPr>
          <a:xfrm>
            <a:off x="3324758" y="4745736"/>
            <a:ext cx="8096098" cy="777240"/>
          </a:xfrm>
          <a:prstGeom prst="rect">
            <a:avLst/>
          </a:prstGeom>
          <a:solidFill>
            <a:srgbClr val="EEEAE1"/>
          </a:solidFill>
          <a:ln w="10160">
            <a:solidFill>
              <a:srgbClr val="F8F6F1"/>
            </a:solidFill>
            <a:prstDash val="solid"/>
          </a:ln>
        </p:spPr>
      </p:sp>
      <p:sp>
        <p:nvSpPr>
          <p:cNvPr id="22" name="Text 20"/>
          <p:cNvSpPr/>
          <p:nvPr/>
        </p:nvSpPr>
        <p:spPr>
          <a:xfrm>
            <a:off x="3498494" y="4828032"/>
            <a:ext cx="7748626" cy="612648"/>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法律作具体安排，不是首次赋予宪法效力。</a:t>
            </a:r>
            <a:endParaRPr lang="en-US" sz="2200" dirty="0"/>
          </a:p>
        </p:txBody>
      </p:sp>
      <p:sp>
        <p:nvSpPr>
          <p:cNvPr id="23" name="Shape 21"/>
          <p:cNvSpPr/>
          <p:nvPr/>
        </p:nvSpPr>
        <p:spPr>
          <a:xfrm>
            <a:off x="768096" y="5650992"/>
            <a:ext cx="10652760" cy="420624"/>
          </a:xfrm>
          <a:prstGeom prst="rect">
            <a:avLst/>
          </a:prstGeom>
          <a:solidFill>
            <a:srgbClr val="EEEAE1"/>
          </a:solidFill>
          <a:ln w="10160">
            <a:solidFill>
              <a:srgbClr val="EEEAE1">
                <a:alpha val="0"/>
              </a:srgbClr>
            </a:solidFill>
            <a:prstDash val="solid"/>
          </a:ln>
        </p:spPr>
      </p:sp>
      <p:sp>
        <p:nvSpPr>
          <p:cNvPr id="24" name="Text 22"/>
          <p:cNvSpPr/>
          <p:nvPr/>
        </p:nvSpPr>
        <p:spPr>
          <a:xfrm>
            <a:off x="987552" y="5696712"/>
            <a:ext cx="10213848" cy="329184"/>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未知金额与程序结果，不妨碍本题作出有限确定判断。</a:t>
            </a:r>
            <a:endParaRPr lang="en-US" sz="2200" dirty="0"/>
          </a:p>
        </p:txBody>
      </p:sp>
      <p:sp>
        <p:nvSpPr>
          <p:cNvPr id="25" name="Shape 23"/>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26" name="Text 24"/>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第1讲</a:t>
            </a:r>
            <a:endParaRPr lang="en-US" sz="1100" dirty="0"/>
          </a:p>
        </p:txBody>
      </p:sp>
      <p:sp>
        <p:nvSpPr>
          <p:cNvPr id="27" name="Text 25"/>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《宪法》第41条；国家赔偿法所选条款；任务4讲评</a:t>
            </a:r>
            <a:endParaRPr lang="en-US" sz="1100" dirty="0"/>
          </a:p>
        </p:txBody>
      </p:sp>
      <p:sp>
        <p:nvSpPr>
          <p:cNvPr id="28" name="Text 26"/>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17 / 22</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任务5：换一个情境，仍能说清依据吗？</a:t>
            </a:r>
            <a:endParaRPr lang="en-US" sz="3200" dirty="0"/>
          </a:p>
        </p:txBody>
      </p:sp>
      <p:sp>
        <p:nvSpPr>
          <p:cNvPr id="3" name="Shape 1"/>
          <p:cNvSpPr/>
          <p:nvPr/>
        </p:nvSpPr>
        <p:spPr>
          <a:xfrm>
            <a:off x="768096" y="1773936"/>
            <a:ext cx="5202936" cy="2286000"/>
          </a:xfrm>
          <a:prstGeom prst="rect">
            <a:avLst/>
          </a:prstGeom>
          <a:solidFill>
            <a:srgbClr val="FFFFFF"/>
          </a:solidFill>
          <a:ln w="10160">
            <a:solidFill>
              <a:srgbClr val="D9D9D3"/>
            </a:solidFill>
            <a:prstDash val="solid"/>
          </a:ln>
        </p:spPr>
      </p:sp>
      <p:sp>
        <p:nvSpPr>
          <p:cNvPr id="4" name="Text 2"/>
          <p:cNvSpPr/>
          <p:nvPr/>
        </p:nvSpPr>
        <p:spPr>
          <a:xfrm>
            <a:off x="996696" y="1956816"/>
            <a:ext cx="4745736" cy="384048"/>
          </a:xfrm>
          <a:prstGeom prst="rect">
            <a:avLst/>
          </a:prstGeom>
          <a:noFill/>
          <a:ln/>
        </p:spPr>
        <p:txBody>
          <a:bodyPr wrap="square" lIns="0" tIns="0" rIns="0" bIns="0" rtlCol="0" anchor="t"/>
          <a:lstStyle/>
          <a:p>
            <a:pPr indent="0" marL="0">
              <a:lnSpc>
                <a:spcPct val="108000"/>
              </a:lnSpc>
              <a:buNone/>
            </a:pPr>
            <a:r>
              <a:rPr lang="en-US" sz="2400" b="1" dirty="0">
                <a:solidFill>
                  <a:srgbClr val="142735"/>
                </a:solidFill>
                <a:latin typeface="Microsoft YaHei" pitchFamily="34" charset="0"/>
                <a:ea typeface="Microsoft YaHei" pitchFamily="34" charset="-122"/>
                <a:cs typeface="Microsoft YaHei" pitchFamily="34" charset="-120"/>
              </a:rPr>
              <a:t>甲：缺少起首句</a:t>
            </a:r>
            <a:endParaRPr lang="en-US" sz="2400" dirty="0"/>
          </a:p>
        </p:txBody>
      </p:sp>
      <p:sp>
        <p:nvSpPr>
          <p:cNvPr id="5" name="Text 3"/>
          <p:cNvSpPr/>
          <p:nvPr/>
        </p:nvSpPr>
        <p:spPr>
          <a:xfrm>
            <a:off x="996696" y="2606040"/>
            <a:ext cx="4745736" cy="1216152"/>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某部普通法律没有写</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“根据宪法，制定本法”。</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它能因此不受宪法约束吗？</a:t>
            </a:r>
            <a:endParaRPr lang="en-US" sz="2200" dirty="0"/>
          </a:p>
        </p:txBody>
      </p:sp>
      <p:sp>
        <p:nvSpPr>
          <p:cNvPr id="6" name="Shape 4"/>
          <p:cNvSpPr/>
          <p:nvPr/>
        </p:nvSpPr>
        <p:spPr>
          <a:xfrm>
            <a:off x="6217920" y="1773936"/>
            <a:ext cx="5202936" cy="2286000"/>
          </a:xfrm>
          <a:prstGeom prst="rect">
            <a:avLst/>
          </a:prstGeom>
          <a:solidFill>
            <a:srgbClr val="FFFFFF"/>
          </a:solidFill>
          <a:ln w="10160">
            <a:solidFill>
              <a:srgbClr val="D9D9D3"/>
            </a:solidFill>
            <a:prstDash val="solid"/>
          </a:ln>
        </p:spPr>
      </p:sp>
      <p:sp>
        <p:nvSpPr>
          <p:cNvPr id="7" name="Text 5"/>
          <p:cNvSpPr/>
          <p:nvPr/>
        </p:nvSpPr>
        <p:spPr>
          <a:xfrm>
            <a:off x="6446520" y="1956816"/>
            <a:ext cx="4745736" cy="384048"/>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乙：笼统公益理由</a:t>
            </a:r>
            <a:endParaRPr lang="en-US" sz="2400" dirty="0"/>
          </a:p>
        </p:txBody>
      </p:sp>
      <p:sp>
        <p:nvSpPr>
          <p:cNvPr id="8" name="Text 6"/>
          <p:cNvSpPr/>
          <p:nvPr/>
        </p:nvSpPr>
        <p:spPr>
          <a:xfrm>
            <a:off x="6446520" y="2606040"/>
            <a:ext cx="4745736" cy="1216152"/>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某机关称为了公共利益，</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对公民采取限制行动措施。</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除此没有提供具体资料。</a:t>
            </a:r>
            <a:endParaRPr lang="en-US" sz="2200" dirty="0"/>
          </a:p>
        </p:txBody>
      </p:sp>
      <p:sp>
        <p:nvSpPr>
          <p:cNvPr id="9" name="Text 7"/>
          <p:cNvSpPr/>
          <p:nvPr/>
        </p:nvSpPr>
        <p:spPr>
          <a:xfrm>
            <a:off x="859536" y="4297680"/>
            <a:ext cx="10469880" cy="640080"/>
          </a:xfrm>
          <a:prstGeom prst="rect">
            <a:avLst/>
          </a:prstGeom>
          <a:noFill/>
          <a:ln/>
        </p:spPr>
        <p:txBody>
          <a:bodyPr wrap="square" lIns="0" tIns="0" rIns="0" bIns="0" rtlCol="0" anchor="t"/>
          <a:lstStyle/>
          <a:p>
            <a:pPr indent="0" marL="0">
              <a:lnSpc>
                <a:spcPct val="108000"/>
              </a:lnSpc>
              <a:buNone/>
            </a:pPr>
            <a:r>
              <a:rPr lang="en-US" sz="2200" dirty="0">
                <a:solidFill>
                  <a:srgbClr val="64717A"/>
                </a:solidFill>
                <a:latin typeface="Microsoft YaHei" pitchFamily="34" charset="0"/>
                <a:ea typeface="Microsoft YaHei" pitchFamily="34" charset="-122"/>
                <a:cs typeface="Microsoft YaHei" pitchFamily="34" charset="-120"/>
              </a:rPr>
              <a:t>题目只给出机关声称的目的和限制行动，除此没有进一步说明。</a:t>
            </a:r>
            <a:endParaRPr lang="en-US" sz="2200" dirty="0"/>
          </a:p>
        </p:txBody>
      </p:sp>
      <p:sp>
        <p:nvSpPr>
          <p:cNvPr id="10" name="Shape 8"/>
          <p:cNvSpPr/>
          <p:nvPr/>
        </p:nvSpPr>
        <p:spPr>
          <a:xfrm>
            <a:off x="768096" y="5175504"/>
            <a:ext cx="10652760" cy="877824"/>
          </a:xfrm>
          <a:prstGeom prst="rect">
            <a:avLst/>
          </a:prstGeom>
          <a:solidFill>
            <a:srgbClr val="142735"/>
          </a:solidFill>
          <a:ln w="10160">
            <a:solidFill>
              <a:srgbClr val="142735">
                <a:alpha val="0"/>
              </a:srgbClr>
            </a:solidFill>
            <a:prstDash val="solid"/>
          </a:ln>
        </p:spPr>
      </p:sp>
      <p:sp>
        <p:nvSpPr>
          <p:cNvPr id="11" name="Text 9"/>
          <p:cNvSpPr/>
          <p:nvPr/>
        </p:nvSpPr>
        <p:spPr>
          <a:xfrm>
            <a:off x="987552" y="5340096"/>
            <a:ext cx="10213848" cy="566928"/>
          </a:xfrm>
          <a:prstGeom prst="rect">
            <a:avLst/>
          </a:prstGeom>
          <a:noFill/>
          <a:ln/>
        </p:spPr>
        <p:txBody>
          <a:bodyPr wrap="square" lIns="0" tIns="0" rIns="0" bIns="0" rtlCol="0" anchor="t"/>
          <a:lstStyle/>
          <a:p>
            <a:pPr indent="0" marL="0">
              <a:lnSpc>
                <a:spcPct val="108000"/>
              </a:lnSpc>
              <a:buNone/>
            </a:pPr>
            <a:r>
              <a:rPr lang="en-US" sz="2200" b="1" dirty="0">
                <a:solidFill>
                  <a:srgbClr val="FFFFFF"/>
                </a:solidFill>
                <a:latin typeface="Microsoft YaHei" pitchFamily="34" charset="0"/>
                <a:ea typeface="Microsoft YaHei" pitchFamily="34" charset="-122"/>
                <a:cs typeface="Microsoft YaHei" pitchFamily="34" charset="-120"/>
              </a:rPr>
              <a:t>甲说明判断依据；乙列出至少三项具体缺口，再说明结论限度。</a:t>
            </a:r>
            <a:endParaRPr lang="en-US" sz="2200" dirty="0"/>
          </a:p>
        </p:txBody>
      </p:sp>
      <p:sp>
        <p:nvSpPr>
          <p:cNvPr id="12" name="Shape 10"/>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3" name="Text 11"/>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第1讲</a:t>
            </a:r>
            <a:endParaRPr lang="en-US" sz="1100" dirty="0"/>
          </a:p>
        </p:txBody>
      </p:sp>
      <p:sp>
        <p:nvSpPr>
          <p:cNvPr id="14" name="Text 12"/>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学生材料任务5；两项均为教学设例</a:t>
            </a:r>
            <a:endParaRPr lang="en-US" sz="1100" dirty="0"/>
          </a:p>
        </p:txBody>
      </p:sp>
      <p:sp>
        <p:nvSpPr>
          <p:cNvPr id="15" name="Text 13"/>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18 / 22</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任务5讲评：让结论与材料相称</a:t>
            </a:r>
            <a:endParaRPr lang="en-US" sz="3200" dirty="0"/>
          </a:p>
        </p:txBody>
      </p:sp>
      <p:sp>
        <p:nvSpPr>
          <p:cNvPr id="3" name="Shape 1"/>
          <p:cNvSpPr/>
          <p:nvPr/>
        </p:nvSpPr>
        <p:spPr>
          <a:xfrm>
            <a:off x="768096" y="1773936"/>
            <a:ext cx="5202936" cy="3264408"/>
          </a:xfrm>
          <a:prstGeom prst="rect">
            <a:avLst/>
          </a:prstGeom>
          <a:solidFill>
            <a:srgbClr val="FFFFFF"/>
          </a:solidFill>
          <a:ln w="10160">
            <a:solidFill>
              <a:srgbClr val="D9D9D3"/>
            </a:solidFill>
            <a:prstDash val="solid"/>
          </a:ln>
        </p:spPr>
      </p:sp>
      <p:sp>
        <p:nvSpPr>
          <p:cNvPr id="4" name="Shape 2"/>
          <p:cNvSpPr/>
          <p:nvPr/>
        </p:nvSpPr>
        <p:spPr>
          <a:xfrm>
            <a:off x="768096" y="1773936"/>
            <a:ext cx="5202936" cy="658368"/>
          </a:xfrm>
          <a:prstGeom prst="rect">
            <a:avLst/>
          </a:prstGeom>
          <a:solidFill>
            <a:srgbClr val="142735"/>
          </a:solidFill>
          <a:ln w="10160">
            <a:solidFill>
              <a:srgbClr val="142735">
                <a:alpha val="0"/>
              </a:srgbClr>
            </a:solidFill>
            <a:prstDash val="solid"/>
          </a:ln>
        </p:spPr>
      </p:sp>
      <p:sp>
        <p:nvSpPr>
          <p:cNvPr id="5" name="Text 3"/>
          <p:cNvSpPr/>
          <p:nvPr/>
        </p:nvSpPr>
        <p:spPr>
          <a:xfrm>
            <a:off x="987552" y="1920240"/>
            <a:ext cx="4764024" cy="365760"/>
          </a:xfrm>
          <a:prstGeom prst="rect">
            <a:avLst/>
          </a:prstGeom>
          <a:noFill/>
          <a:ln/>
        </p:spPr>
        <p:txBody>
          <a:bodyPr wrap="square" lIns="0" tIns="0" rIns="0" bIns="0" rtlCol="0" anchor="t"/>
          <a:lstStyle/>
          <a:p>
            <a:pPr indent="0" marL="0">
              <a:lnSpc>
                <a:spcPct val="108000"/>
              </a:lnSpc>
              <a:buNone/>
            </a:pPr>
            <a:r>
              <a:rPr lang="en-US" sz="2400" b="1" dirty="0">
                <a:solidFill>
                  <a:srgbClr val="FFFFFF"/>
                </a:solidFill>
                <a:latin typeface="Microsoft YaHei" pitchFamily="34" charset="0"/>
                <a:ea typeface="Microsoft YaHei" pitchFamily="34" charset="-122"/>
                <a:cs typeface="Microsoft YaHei" pitchFamily="34" charset="-120"/>
              </a:rPr>
              <a:t>甲：可以作确定判断</a:t>
            </a:r>
            <a:endParaRPr lang="en-US" sz="2400" dirty="0"/>
          </a:p>
        </p:txBody>
      </p:sp>
      <p:sp>
        <p:nvSpPr>
          <p:cNvPr id="6" name="Text 4"/>
          <p:cNvSpPr/>
          <p:nvPr/>
        </p:nvSpPr>
        <p:spPr>
          <a:xfrm>
            <a:off x="1005840" y="2706624"/>
            <a:ext cx="4727448" cy="2139696"/>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仍受宪法约束。</a:t>
            </a:r>
            <a:endParaRPr lang="en-US" sz="2200" dirty="0"/>
          </a:p>
          <a:p>
            <a:pPr indent="0" marL="0">
              <a:lnSpc>
                <a:spcPct val="108000"/>
              </a:lnSpc>
              <a:buNone/>
            </a:pP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宪法的最高效力</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不取决于法律有无特定起首句。</a:t>
            </a:r>
            <a:endParaRPr lang="en-US" sz="2200" dirty="0"/>
          </a:p>
        </p:txBody>
      </p:sp>
      <p:sp>
        <p:nvSpPr>
          <p:cNvPr id="7" name="Shape 5"/>
          <p:cNvSpPr/>
          <p:nvPr/>
        </p:nvSpPr>
        <p:spPr>
          <a:xfrm>
            <a:off x="6217920" y="1773936"/>
            <a:ext cx="5202936" cy="3264408"/>
          </a:xfrm>
          <a:prstGeom prst="rect">
            <a:avLst/>
          </a:prstGeom>
          <a:solidFill>
            <a:srgbClr val="FFFFFF"/>
          </a:solidFill>
          <a:ln w="10160">
            <a:solidFill>
              <a:srgbClr val="D9D9D3"/>
            </a:solidFill>
            <a:prstDash val="solid"/>
          </a:ln>
        </p:spPr>
      </p:sp>
      <p:sp>
        <p:nvSpPr>
          <p:cNvPr id="8" name="Shape 6"/>
          <p:cNvSpPr/>
          <p:nvPr/>
        </p:nvSpPr>
        <p:spPr>
          <a:xfrm>
            <a:off x="6217920" y="1773936"/>
            <a:ext cx="5202936" cy="658368"/>
          </a:xfrm>
          <a:prstGeom prst="rect">
            <a:avLst/>
          </a:prstGeom>
          <a:solidFill>
            <a:srgbClr val="B13D38"/>
          </a:solidFill>
          <a:ln w="10160">
            <a:solidFill>
              <a:srgbClr val="B13D38">
                <a:alpha val="0"/>
              </a:srgbClr>
            </a:solidFill>
            <a:prstDash val="solid"/>
          </a:ln>
        </p:spPr>
      </p:sp>
      <p:sp>
        <p:nvSpPr>
          <p:cNvPr id="9" name="Text 7"/>
          <p:cNvSpPr/>
          <p:nvPr/>
        </p:nvSpPr>
        <p:spPr>
          <a:xfrm>
            <a:off x="6437376" y="1920240"/>
            <a:ext cx="4764024" cy="365760"/>
          </a:xfrm>
          <a:prstGeom prst="rect">
            <a:avLst/>
          </a:prstGeom>
          <a:noFill/>
          <a:ln/>
        </p:spPr>
        <p:txBody>
          <a:bodyPr wrap="square" lIns="0" tIns="0" rIns="0" bIns="0" rtlCol="0" anchor="t"/>
          <a:lstStyle/>
          <a:p>
            <a:pPr indent="0" marL="0">
              <a:lnSpc>
                <a:spcPct val="108000"/>
              </a:lnSpc>
              <a:buNone/>
            </a:pPr>
            <a:r>
              <a:rPr lang="en-US" sz="2400" b="1" dirty="0">
                <a:solidFill>
                  <a:srgbClr val="FFFFFF"/>
                </a:solidFill>
                <a:latin typeface="Microsoft YaHei" pitchFamily="34" charset="0"/>
                <a:ea typeface="Microsoft YaHei" pitchFamily="34" charset="-122"/>
                <a:cs typeface="Microsoft YaHei" pitchFamily="34" charset="-120"/>
              </a:rPr>
              <a:t>乙：明确缺口与限度</a:t>
            </a:r>
            <a:endParaRPr lang="en-US" sz="2400" dirty="0"/>
          </a:p>
        </p:txBody>
      </p:sp>
      <p:sp>
        <p:nvSpPr>
          <p:cNvPr id="10" name="Text 8"/>
          <p:cNvSpPr/>
          <p:nvPr/>
        </p:nvSpPr>
        <p:spPr>
          <a:xfrm>
            <a:off x="6455664" y="2706624"/>
            <a:ext cx="4727448" cy="2139696"/>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须查措施、权限依据、</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条件事实和实施程序。</a:t>
            </a:r>
            <a:endParaRPr lang="en-US" sz="2200" dirty="0"/>
          </a:p>
          <a:p>
            <a:pPr indent="0" marL="0">
              <a:lnSpc>
                <a:spcPct val="108000"/>
              </a:lnSpc>
              <a:buNone/>
            </a:pP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笼统公益理由不足以证明有权，</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也不能直接推出必然违法。</a:t>
            </a:r>
            <a:endParaRPr lang="en-US" sz="2200" dirty="0"/>
          </a:p>
        </p:txBody>
      </p:sp>
      <p:sp>
        <p:nvSpPr>
          <p:cNvPr id="11" name="Shape 9"/>
          <p:cNvSpPr/>
          <p:nvPr/>
        </p:nvSpPr>
        <p:spPr>
          <a:xfrm>
            <a:off x="768096" y="5358384"/>
            <a:ext cx="10652760" cy="621792"/>
          </a:xfrm>
          <a:prstGeom prst="rect">
            <a:avLst/>
          </a:prstGeom>
          <a:solidFill>
            <a:srgbClr val="EEEAE1"/>
          </a:solidFill>
          <a:ln w="10160">
            <a:solidFill>
              <a:srgbClr val="EEEAE1">
                <a:alpha val="0"/>
              </a:srgbClr>
            </a:solidFill>
            <a:prstDash val="solid"/>
          </a:ln>
        </p:spPr>
      </p:sp>
      <p:sp>
        <p:nvSpPr>
          <p:cNvPr id="12" name="Text 10"/>
          <p:cNvSpPr/>
          <p:nvPr/>
        </p:nvSpPr>
        <p:spPr>
          <a:xfrm>
            <a:off x="987552" y="5477256"/>
            <a:ext cx="10213848" cy="3840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宪法原则有约束意义；具体措施仍须完成具体判断。</a:t>
            </a:r>
            <a:endParaRPr lang="en-US" sz="2200" dirty="0"/>
          </a:p>
        </p:txBody>
      </p:sp>
      <p:sp>
        <p:nvSpPr>
          <p:cNvPr id="13" name="Shape 11"/>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4" name="Text 12"/>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第1讲</a:t>
            </a:r>
            <a:endParaRPr lang="en-US" sz="1100" dirty="0"/>
          </a:p>
        </p:txBody>
      </p:sp>
      <p:sp>
        <p:nvSpPr>
          <p:cNvPr id="15" name="Text 13"/>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《宪法》第5、33条；材料A、C；任务5讲评</a:t>
            </a:r>
            <a:endParaRPr lang="en-US" sz="1100" dirty="0"/>
          </a:p>
        </p:txBody>
      </p:sp>
      <p:sp>
        <p:nvSpPr>
          <p:cNvPr id="16" name="Text 14"/>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19 / 22</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任务6：用三句话连起本讲</a:t>
            </a:r>
            <a:endParaRPr lang="en-US" sz="3200" dirty="0"/>
          </a:p>
        </p:txBody>
      </p:sp>
      <p:sp>
        <p:nvSpPr>
          <p:cNvPr id="3" name="Shape 1"/>
          <p:cNvSpPr/>
          <p:nvPr/>
        </p:nvSpPr>
        <p:spPr>
          <a:xfrm>
            <a:off x="768096" y="1773936"/>
            <a:ext cx="10652760" cy="1133856"/>
          </a:xfrm>
          <a:prstGeom prst="rect">
            <a:avLst/>
          </a:prstGeom>
          <a:solidFill>
            <a:srgbClr val="142735"/>
          </a:solidFill>
          <a:ln w="10160">
            <a:solidFill>
              <a:srgbClr val="142735">
                <a:alpha val="0"/>
              </a:srgbClr>
            </a:solidFill>
            <a:prstDash val="solid"/>
          </a:ln>
        </p:spPr>
      </p:sp>
      <p:sp>
        <p:nvSpPr>
          <p:cNvPr id="4" name="Text 2"/>
          <p:cNvSpPr/>
          <p:nvPr/>
        </p:nvSpPr>
        <p:spPr>
          <a:xfrm>
            <a:off x="1005840" y="1984248"/>
            <a:ext cx="548640" cy="365760"/>
          </a:xfrm>
          <a:prstGeom prst="rect">
            <a:avLst/>
          </a:prstGeom>
          <a:noFill/>
          <a:ln/>
        </p:spPr>
        <p:txBody>
          <a:bodyPr wrap="square" lIns="0" tIns="0" rIns="0" bIns="0" rtlCol="0" anchor="t"/>
          <a:lstStyle/>
          <a:p>
            <a:pPr indent="0" marL="0">
              <a:lnSpc>
                <a:spcPct val="108000"/>
              </a:lnSpc>
              <a:buNone/>
            </a:pPr>
            <a:r>
              <a:rPr lang="en-US" sz="2200" b="1" dirty="0">
                <a:solidFill>
                  <a:srgbClr val="EBC8C3"/>
                </a:solidFill>
                <a:latin typeface="Microsoft YaHei" pitchFamily="34" charset="0"/>
                <a:ea typeface="Microsoft YaHei" pitchFamily="34" charset="-122"/>
                <a:cs typeface="Microsoft YaHei" pitchFamily="34" charset="-120"/>
              </a:rPr>
              <a:t>01</a:t>
            </a:r>
            <a:endParaRPr lang="en-US" sz="2200" dirty="0"/>
          </a:p>
        </p:txBody>
      </p:sp>
      <p:sp>
        <p:nvSpPr>
          <p:cNvPr id="5" name="Text 3"/>
          <p:cNvSpPr/>
          <p:nvPr/>
        </p:nvSpPr>
        <p:spPr>
          <a:xfrm>
            <a:off x="1773936" y="1911096"/>
            <a:ext cx="9299448" cy="886968"/>
          </a:xfrm>
          <a:prstGeom prst="rect">
            <a:avLst/>
          </a:prstGeom>
          <a:noFill/>
          <a:ln/>
        </p:spPr>
        <p:txBody>
          <a:bodyPr wrap="square" lIns="0" tIns="0" rIns="0" bIns="0" rtlCol="0" anchor="t"/>
          <a:lstStyle/>
          <a:p>
            <a:pPr indent="0" marL="0">
              <a:lnSpc>
                <a:spcPct val="108000"/>
              </a:lnSpc>
              <a:buNone/>
            </a:pPr>
            <a:r>
              <a:rPr lang="en-US" sz="2400" b="1" dirty="0">
                <a:solidFill>
                  <a:srgbClr val="FFFFFF"/>
                </a:solidFill>
                <a:latin typeface="Microsoft YaHei" pitchFamily="34" charset="0"/>
                <a:ea typeface="Microsoft YaHei" pitchFamily="34" charset="-122"/>
                <a:cs typeface="Microsoft YaHei" pitchFamily="34" charset="-120"/>
              </a:rPr>
              <a:t>宪法规定________________。</a:t>
            </a:r>
            <a:endParaRPr lang="en-US" sz="2400" dirty="0"/>
          </a:p>
        </p:txBody>
      </p:sp>
      <p:sp>
        <p:nvSpPr>
          <p:cNvPr id="6" name="Shape 4"/>
          <p:cNvSpPr/>
          <p:nvPr/>
        </p:nvSpPr>
        <p:spPr>
          <a:xfrm>
            <a:off x="768096" y="3081528"/>
            <a:ext cx="10652760" cy="1133856"/>
          </a:xfrm>
          <a:prstGeom prst="rect">
            <a:avLst/>
          </a:prstGeom>
          <a:solidFill>
            <a:srgbClr val="FFFFFF"/>
          </a:solidFill>
          <a:ln w="10160">
            <a:solidFill>
              <a:srgbClr val="D9D9D3"/>
            </a:solidFill>
            <a:prstDash val="solid"/>
          </a:ln>
        </p:spPr>
      </p:sp>
      <p:sp>
        <p:nvSpPr>
          <p:cNvPr id="7" name="Text 5"/>
          <p:cNvSpPr/>
          <p:nvPr/>
        </p:nvSpPr>
        <p:spPr>
          <a:xfrm>
            <a:off x="1005840" y="3291840"/>
            <a:ext cx="548640" cy="365760"/>
          </a:xfrm>
          <a:prstGeom prst="rect">
            <a:avLst/>
          </a:prstGeom>
          <a:noFill/>
          <a:ln/>
        </p:spPr>
        <p:txBody>
          <a:bodyPr wrap="square" lIns="0" tIns="0" rIns="0" bIns="0" rtlCol="0" anchor="t"/>
          <a:lstStyle/>
          <a:p>
            <a:pPr indent="0" marL="0">
              <a:lnSpc>
                <a:spcPct val="108000"/>
              </a:lnSpc>
              <a:buNone/>
            </a:pPr>
            <a:r>
              <a:rPr lang="en-US" sz="2200" b="1" dirty="0">
                <a:solidFill>
                  <a:srgbClr val="B13D38"/>
                </a:solidFill>
                <a:latin typeface="Microsoft YaHei" pitchFamily="34" charset="0"/>
                <a:ea typeface="Microsoft YaHei" pitchFamily="34" charset="-122"/>
                <a:cs typeface="Microsoft YaHei" pitchFamily="34" charset="-120"/>
              </a:rPr>
              <a:t>02</a:t>
            </a:r>
            <a:endParaRPr lang="en-US" sz="2200" dirty="0"/>
          </a:p>
        </p:txBody>
      </p:sp>
      <p:sp>
        <p:nvSpPr>
          <p:cNvPr id="8" name="Text 6"/>
          <p:cNvSpPr/>
          <p:nvPr/>
        </p:nvSpPr>
        <p:spPr>
          <a:xfrm>
            <a:off x="1773936" y="3218688"/>
            <a:ext cx="9299448" cy="886968"/>
          </a:xfrm>
          <a:prstGeom prst="rect">
            <a:avLst/>
          </a:prstGeom>
          <a:noFill/>
          <a:ln/>
        </p:spPr>
        <p:txBody>
          <a:bodyPr wrap="square" lIns="0" tIns="0" rIns="0" bIns="0" rtlCol="0" anchor="t"/>
          <a:lstStyle/>
          <a:p>
            <a:pPr indent="0" marL="0">
              <a:lnSpc>
                <a:spcPct val="108000"/>
              </a:lnSpc>
              <a:buNone/>
            </a:pPr>
            <a:r>
              <a:rPr lang="en-US" sz="2400" b="1" dirty="0">
                <a:solidFill>
                  <a:srgbClr val="142735"/>
                </a:solidFill>
                <a:latin typeface="Microsoft YaHei" pitchFamily="34" charset="0"/>
                <a:ea typeface="Microsoft YaHei" pitchFamily="34" charset="-122"/>
                <a:cs typeface="Microsoft YaHei" pitchFamily="34" charset="-120"/>
              </a:rPr>
              <a:t>普通法律在宪法约束下________________。</a:t>
            </a:r>
            <a:endParaRPr lang="en-US" sz="2400" dirty="0"/>
          </a:p>
        </p:txBody>
      </p:sp>
      <p:sp>
        <p:nvSpPr>
          <p:cNvPr id="9" name="Shape 7"/>
          <p:cNvSpPr/>
          <p:nvPr/>
        </p:nvSpPr>
        <p:spPr>
          <a:xfrm>
            <a:off x="768096" y="4389120"/>
            <a:ext cx="10652760" cy="1133856"/>
          </a:xfrm>
          <a:prstGeom prst="rect">
            <a:avLst/>
          </a:prstGeom>
          <a:solidFill>
            <a:srgbClr val="FFFFFF"/>
          </a:solidFill>
          <a:ln w="10160">
            <a:solidFill>
              <a:srgbClr val="D9D9D3"/>
            </a:solidFill>
            <a:prstDash val="solid"/>
          </a:ln>
        </p:spPr>
      </p:sp>
      <p:sp>
        <p:nvSpPr>
          <p:cNvPr id="10" name="Text 8"/>
          <p:cNvSpPr/>
          <p:nvPr/>
        </p:nvSpPr>
        <p:spPr>
          <a:xfrm>
            <a:off x="1005840" y="4599432"/>
            <a:ext cx="548640" cy="365760"/>
          </a:xfrm>
          <a:prstGeom prst="rect">
            <a:avLst/>
          </a:prstGeom>
          <a:noFill/>
          <a:ln/>
        </p:spPr>
        <p:txBody>
          <a:bodyPr wrap="square" lIns="0" tIns="0" rIns="0" bIns="0" rtlCol="0" anchor="t"/>
          <a:lstStyle/>
          <a:p>
            <a:pPr indent="0" marL="0">
              <a:lnSpc>
                <a:spcPct val="108000"/>
              </a:lnSpc>
              <a:buNone/>
            </a:pPr>
            <a:r>
              <a:rPr lang="en-US" sz="2200" b="1" dirty="0">
                <a:solidFill>
                  <a:srgbClr val="B13D38"/>
                </a:solidFill>
                <a:latin typeface="Microsoft YaHei" pitchFamily="34" charset="0"/>
                <a:ea typeface="Microsoft YaHei" pitchFamily="34" charset="-122"/>
                <a:cs typeface="Microsoft YaHei" pitchFamily="34" charset="-120"/>
              </a:rPr>
              <a:t>03</a:t>
            </a:r>
            <a:endParaRPr lang="en-US" sz="2200" dirty="0"/>
          </a:p>
        </p:txBody>
      </p:sp>
      <p:sp>
        <p:nvSpPr>
          <p:cNvPr id="11" name="Text 9"/>
          <p:cNvSpPr/>
          <p:nvPr/>
        </p:nvSpPr>
        <p:spPr>
          <a:xfrm>
            <a:off x="1773936" y="4526280"/>
            <a:ext cx="9299448" cy="886968"/>
          </a:xfrm>
          <a:prstGeom prst="rect">
            <a:avLst/>
          </a:prstGeom>
          <a:noFill/>
          <a:ln/>
        </p:spPr>
        <p:txBody>
          <a:bodyPr wrap="square" lIns="0" tIns="0" rIns="0" bIns="0" rtlCol="0" anchor="t"/>
          <a:lstStyle/>
          <a:p>
            <a:pPr indent="0" marL="0">
              <a:lnSpc>
                <a:spcPct val="108000"/>
              </a:lnSpc>
              <a:buNone/>
            </a:pPr>
            <a:r>
              <a:rPr lang="en-US" sz="2400" b="1" dirty="0">
                <a:solidFill>
                  <a:srgbClr val="142735"/>
                </a:solidFill>
                <a:latin typeface="Microsoft YaHei" pitchFamily="34" charset="0"/>
                <a:ea typeface="Microsoft YaHei" pitchFamily="34" charset="-122"/>
                <a:cs typeface="Microsoft YaHei" pitchFamily="34" charset="-120"/>
              </a:rPr>
              <a:t>判断具体公权力措施，还要________________。</a:t>
            </a:r>
            <a:endParaRPr lang="en-US" sz="2400" dirty="0"/>
          </a:p>
        </p:txBody>
      </p:sp>
      <p:sp>
        <p:nvSpPr>
          <p:cNvPr id="12" name="Shape 10"/>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3" name="Text 11"/>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第1讲</a:t>
            </a:r>
            <a:endParaRPr lang="en-US" sz="1100" dirty="0"/>
          </a:p>
        </p:txBody>
      </p:sp>
      <p:sp>
        <p:nvSpPr>
          <p:cNvPr id="14" name="Text 12"/>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学生材料任务6；课末回收</a:t>
            </a:r>
            <a:endParaRPr lang="en-US" sz="1100" dirty="0"/>
          </a:p>
        </p:txBody>
      </p:sp>
      <p:sp>
        <p:nvSpPr>
          <p:cNvPr id="15" name="Text 13"/>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20 / 22</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根本法的地位，需要在制度与判断中理解</a:t>
            </a:r>
            <a:endParaRPr lang="en-US" sz="3200" dirty="0"/>
          </a:p>
        </p:txBody>
      </p:sp>
      <p:sp>
        <p:nvSpPr>
          <p:cNvPr id="3" name="Shape 1"/>
          <p:cNvSpPr/>
          <p:nvPr/>
        </p:nvSpPr>
        <p:spPr>
          <a:xfrm>
            <a:off x="768096" y="1773936"/>
            <a:ext cx="10652760" cy="914400"/>
          </a:xfrm>
          <a:prstGeom prst="rect">
            <a:avLst/>
          </a:prstGeom>
          <a:solidFill>
            <a:srgbClr val="142735"/>
          </a:solidFill>
          <a:ln w="10160">
            <a:solidFill>
              <a:srgbClr val="142735">
                <a:alpha val="0"/>
              </a:srgbClr>
            </a:solidFill>
            <a:prstDash val="solid"/>
          </a:ln>
        </p:spPr>
      </p:sp>
      <p:sp>
        <p:nvSpPr>
          <p:cNvPr id="4" name="Text 2"/>
          <p:cNvSpPr/>
          <p:nvPr/>
        </p:nvSpPr>
        <p:spPr>
          <a:xfrm>
            <a:off x="1005840" y="1984248"/>
            <a:ext cx="548640" cy="365760"/>
          </a:xfrm>
          <a:prstGeom prst="rect">
            <a:avLst/>
          </a:prstGeom>
          <a:noFill/>
          <a:ln/>
        </p:spPr>
        <p:txBody>
          <a:bodyPr wrap="square" lIns="0" tIns="0" rIns="0" bIns="0" rtlCol="0" anchor="t"/>
          <a:lstStyle/>
          <a:p>
            <a:pPr indent="0" marL="0">
              <a:lnSpc>
                <a:spcPct val="108000"/>
              </a:lnSpc>
              <a:buNone/>
            </a:pPr>
            <a:r>
              <a:rPr lang="en-US" sz="2200" b="1" dirty="0">
                <a:solidFill>
                  <a:srgbClr val="EBC8C3"/>
                </a:solidFill>
                <a:latin typeface="Microsoft YaHei" pitchFamily="34" charset="0"/>
                <a:ea typeface="Microsoft YaHei" pitchFamily="34" charset="-122"/>
                <a:cs typeface="Microsoft YaHei" pitchFamily="34" charset="-120"/>
              </a:rPr>
              <a:t>01</a:t>
            </a:r>
            <a:endParaRPr lang="en-US" sz="2200" dirty="0"/>
          </a:p>
        </p:txBody>
      </p:sp>
      <p:sp>
        <p:nvSpPr>
          <p:cNvPr id="5" name="Text 3"/>
          <p:cNvSpPr/>
          <p:nvPr/>
        </p:nvSpPr>
        <p:spPr>
          <a:xfrm>
            <a:off x="1773936" y="1911096"/>
            <a:ext cx="9299448" cy="667512"/>
          </a:xfrm>
          <a:prstGeom prst="rect">
            <a:avLst/>
          </a:prstGeom>
          <a:noFill/>
          <a:ln/>
        </p:spPr>
        <p:txBody>
          <a:bodyPr wrap="square" lIns="0" tIns="0" rIns="0" bIns="0" rtlCol="0" anchor="t"/>
          <a:lstStyle/>
          <a:p>
            <a:pPr indent="0" marL="0">
              <a:lnSpc>
                <a:spcPct val="108000"/>
              </a:lnSpc>
              <a:buNone/>
            </a:pPr>
            <a:r>
              <a:rPr lang="en-US" sz="2400" b="1" dirty="0">
                <a:solidFill>
                  <a:srgbClr val="FFFFFF"/>
                </a:solidFill>
                <a:latin typeface="Microsoft YaHei" pitchFamily="34" charset="0"/>
                <a:ea typeface="Microsoft YaHei" pitchFamily="34" charset="-122"/>
                <a:cs typeface="Microsoft YaHei" pitchFamily="34" charset="-120"/>
              </a:rPr>
              <a:t>根本内容、最高效力和特别修改程序相互联系。</a:t>
            </a:r>
            <a:endParaRPr lang="en-US" sz="2400" dirty="0"/>
          </a:p>
        </p:txBody>
      </p:sp>
      <p:sp>
        <p:nvSpPr>
          <p:cNvPr id="6" name="Shape 4"/>
          <p:cNvSpPr/>
          <p:nvPr/>
        </p:nvSpPr>
        <p:spPr>
          <a:xfrm>
            <a:off x="768096" y="2862072"/>
            <a:ext cx="10652760" cy="914400"/>
          </a:xfrm>
          <a:prstGeom prst="rect">
            <a:avLst/>
          </a:prstGeom>
          <a:solidFill>
            <a:srgbClr val="FFFFFF"/>
          </a:solidFill>
          <a:ln w="10160">
            <a:solidFill>
              <a:srgbClr val="D9D9D3"/>
            </a:solidFill>
            <a:prstDash val="solid"/>
          </a:ln>
        </p:spPr>
      </p:sp>
      <p:sp>
        <p:nvSpPr>
          <p:cNvPr id="7" name="Text 5"/>
          <p:cNvSpPr/>
          <p:nvPr/>
        </p:nvSpPr>
        <p:spPr>
          <a:xfrm>
            <a:off x="1005840" y="3072384"/>
            <a:ext cx="548640" cy="365760"/>
          </a:xfrm>
          <a:prstGeom prst="rect">
            <a:avLst/>
          </a:prstGeom>
          <a:noFill/>
          <a:ln/>
        </p:spPr>
        <p:txBody>
          <a:bodyPr wrap="square" lIns="0" tIns="0" rIns="0" bIns="0" rtlCol="0" anchor="t"/>
          <a:lstStyle/>
          <a:p>
            <a:pPr indent="0" marL="0">
              <a:lnSpc>
                <a:spcPct val="108000"/>
              </a:lnSpc>
              <a:buNone/>
            </a:pPr>
            <a:r>
              <a:rPr lang="en-US" sz="2200" b="1" dirty="0">
                <a:solidFill>
                  <a:srgbClr val="B13D38"/>
                </a:solidFill>
                <a:latin typeface="Microsoft YaHei" pitchFamily="34" charset="0"/>
                <a:ea typeface="Microsoft YaHei" pitchFamily="34" charset="-122"/>
                <a:cs typeface="Microsoft YaHei" pitchFamily="34" charset="-120"/>
              </a:rPr>
              <a:t>02</a:t>
            </a:r>
            <a:endParaRPr lang="en-US" sz="2200" dirty="0"/>
          </a:p>
        </p:txBody>
      </p:sp>
      <p:sp>
        <p:nvSpPr>
          <p:cNvPr id="8" name="Text 6"/>
          <p:cNvSpPr/>
          <p:nvPr/>
        </p:nvSpPr>
        <p:spPr>
          <a:xfrm>
            <a:off x="1773936" y="2999232"/>
            <a:ext cx="9299448" cy="667512"/>
          </a:xfrm>
          <a:prstGeom prst="rect">
            <a:avLst/>
          </a:prstGeom>
          <a:noFill/>
          <a:ln/>
        </p:spPr>
        <p:txBody>
          <a:bodyPr wrap="square" lIns="0" tIns="0" rIns="0" bIns="0" rtlCol="0" anchor="t"/>
          <a:lstStyle/>
          <a:p>
            <a:pPr indent="0" marL="0">
              <a:lnSpc>
                <a:spcPct val="108000"/>
              </a:lnSpc>
              <a:buNone/>
            </a:pPr>
            <a:r>
              <a:rPr lang="en-US" sz="2400" b="1" dirty="0">
                <a:solidFill>
                  <a:srgbClr val="142735"/>
                </a:solidFill>
                <a:latin typeface="Microsoft YaHei" pitchFamily="34" charset="0"/>
                <a:ea typeface="Microsoft YaHei" pitchFamily="34" charset="-122"/>
                <a:cs typeface="Microsoft YaHei" pitchFamily="34" charset="-120"/>
              </a:rPr>
              <a:t>人民当家作主通过制度组织，并受宪法规范保障。</a:t>
            </a:r>
            <a:endParaRPr lang="en-US" sz="2400" dirty="0"/>
          </a:p>
        </p:txBody>
      </p:sp>
      <p:sp>
        <p:nvSpPr>
          <p:cNvPr id="9" name="Shape 7"/>
          <p:cNvSpPr/>
          <p:nvPr/>
        </p:nvSpPr>
        <p:spPr>
          <a:xfrm>
            <a:off x="768096" y="3950208"/>
            <a:ext cx="10652760" cy="914400"/>
          </a:xfrm>
          <a:prstGeom prst="rect">
            <a:avLst/>
          </a:prstGeom>
          <a:solidFill>
            <a:srgbClr val="FFFFFF"/>
          </a:solidFill>
          <a:ln w="10160">
            <a:solidFill>
              <a:srgbClr val="D9D9D3"/>
            </a:solidFill>
            <a:prstDash val="solid"/>
          </a:ln>
        </p:spPr>
      </p:sp>
      <p:sp>
        <p:nvSpPr>
          <p:cNvPr id="10" name="Text 8"/>
          <p:cNvSpPr/>
          <p:nvPr/>
        </p:nvSpPr>
        <p:spPr>
          <a:xfrm>
            <a:off x="1005840" y="4160520"/>
            <a:ext cx="548640" cy="365760"/>
          </a:xfrm>
          <a:prstGeom prst="rect">
            <a:avLst/>
          </a:prstGeom>
          <a:noFill/>
          <a:ln/>
        </p:spPr>
        <p:txBody>
          <a:bodyPr wrap="square" lIns="0" tIns="0" rIns="0" bIns="0" rtlCol="0" anchor="t"/>
          <a:lstStyle/>
          <a:p>
            <a:pPr indent="0" marL="0">
              <a:lnSpc>
                <a:spcPct val="108000"/>
              </a:lnSpc>
              <a:buNone/>
            </a:pPr>
            <a:r>
              <a:rPr lang="en-US" sz="2200" b="1" dirty="0">
                <a:solidFill>
                  <a:srgbClr val="B13D38"/>
                </a:solidFill>
                <a:latin typeface="Microsoft YaHei" pitchFamily="34" charset="0"/>
                <a:ea typeface="Microsoft YaHei" pitchFamily="34" charset="-122"/>
                <a:cs typeface="Microsoft YaHei" pitchFamily="34" charset="-120"/>
              </a:rPr>
              <a:t>03</a:t>
            </a:r>
            <a:endParaRPr lang="en-US" sz="2200" dirty="0"/>
          </a:p>
        </p:txBody>
      </p:sp>
      <p:sp>
        <p:nvSpPr>
          <p:cNvPr id="11" name="Text 9"/>
          <p:cNvSpPr/>
          <p:nvPr/>
        </p:nvSpPr>
        <p:spPr>
          <a:xfrm>
            <a:off x="1773936" y="4087368"/>
            <a:ext cx="9299448" cy="667512"/>
          </a:xfrm>
          <a:prstGeom prst="rect">
            <a:avLst/>
          </a:prstGeom>
          <a:noFill/>
          <a:ln/>
        </p:spPr>
        <p:txBody>
          <a:bodyPr wrap="square" lIns="0" tIns="0" rIns="0" bIns="0" rtlCol="0" anchor="t"/>
          <a:lstStyle/>
          <a:p>
            <a:pPr indent="0" marL="0">
              <a:lnSpc>
                <a:spcPct val="108000"/>
              </a:lnSpc>
              <a:buNone/>
            </a:pPr>
            <a:r>
              <a:rPr lang="en-US" sz="2400" b="1" dirty="0">
                <a:solidFill>
                  <a:srgbClr val="142735"/>
                </a:solidFill>
                <a:latin typeface="Microsoft YaHei" pitchFamily="34" charset="0"/>
                <a:ea typeface="Microsoft YaHei" pitchFamily="34" charset="-122"/>
                <a:cs typeface="Microsoft YaHei" pitchFamily="34" charset="-120"/>
              </a:rPr>
              <a:t>法律具体化宪法要求；具体行为仍要核权限、事实与程序。</a:t>
            </a:r>
            <a:endParaRPr lang="en-US" sz="2400" dirty="0"/>
          </a:p>
        </p:txBody>
      </p:sp>
      <p:sp>
        <p:nvSpPr>
          <p:cNvPr id="12" name="Shape 10"/>
          <p:cNvSpPr/>
          <p:nvPr/>
        </p:nvSpPr>
        <p:spPr>
          <a:xfrm>
            <a:off x="768096" y="5358384"/>
            <a:ext cx="10652760" cy="621792"/>
          </a:xfrm>
          <a:prstGeom prst="rect">
            <a:avLst/>
          </a:prstGeom>
          <a:solidFill>
            <a:srgbClr val="EEEAE1"/>
          </a:solidFill>
          <a:ln w="10160">
            <a:solidFill>
              <a:srgbClr val="EEEAE1">
                <a:alpha val="0"/>
              </a:srgbClr>
            </a:solidFill>
            <a:prstDash val="solid"/>
          </a:ln>
        </p:spPr>
      </p:sp>
      <p:sp>
        <p:nvSpPr>
          <p:cNvPr id="13" name="Text 11"/>
          <p:cNvSpPr/>
          <p:nvPr/>
        </p:nvSpPr>
        <p:spPr>
          <a:xfrm>
            <a:off x="987552" y="5477256"/>
            <a:ext cx="10213848" cy="3840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课后用一项本讲条文或设例，把三句话连成一段。</a:t>
            </a:r>
            <a:endParaRPr lang="en-US" sz="2200" dirty="0"/>
          </a:p>
        </p:txBody>
      </p:sp>
      <p:sp>
        <p:nvSpPr>
          <p:cNvPr id="14" name="Shape 12"/>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5" name="Text 13"/>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第1讲</a:t>
            </a:r>
            <a:endParaRPr lang="en-US" sz="1100" dirty="0"/>
          </a:p>
        </p:txBody>
      </p:sp>
      <p:sp>
        <p:nvSpPr>
          <p:cNvPr id="16" name="Text 14"/>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第1讲总结；参考答案任务6与延长安排</a:t>
            </a:r>
            <a:endParaRPr lang="en-US" sz="1100" dirty="0"/>
          </a:p>
        </p:txBody>
      </p:sp>
      <p:sp>
        <p:nvSpPr>
          <p:cNvPr id="17" name="Text 15"/>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21 / 22</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查读依据与配套材料</a:t>
            </a:r>
            <a:endParaRPr lang="en-US" sz="3200" dirty="0"/>
          </a:p>
        </p:txBody>
      </p:sp>
      <p:sp>
        <p:nvSpPr>
          <p:cNvPr id="3" name="Shape 1"/>
          <p:cNvSpPr/>
          <p:nvPr/>
        </p:nvSpPr>
        <p:spPr>
          <a:xfrm>
            <a:off x="768096" y="1773936"/>
            <a:ext cx="10652760" cy="1216152"/>
          </a:xfrm>
          <a:prstGeom prst="rect">
            <a:avLst/>
          </a:prstGeom>
          <a:solidFill>
            <a:srgbClr val="FFFFFF"/>
          </a:solidFill>
          <a:ln w="10160">
            <a:solidFill>
              <a:srgbClr val="D9D9D3"/>
            </a:solidFill>
            <a:prstDash val="solid"/>
          </a:ln>
        </p:spPr>
      </p:sp>
      <p:sp>
        <p:nvSpPr>
          <p:cNvPr id="4" name="Text 2">
            <a:hlinkClick r:id="rId1" tooltip=""/>
          </p:cNvPr>
          <p:cNvSpPr/>
          <p:nvPr/>
        </p:nvSpPr>
        <p:spPr>
          <a:xfrm>
            <a:off x="1033272" y="1901952"/>
            <a:ext cx="10040112" cy="356616"/>
          </a:xfrm>
          <a:prstGeom prst="rect">
            <a:avLst/>
          </a:prstGeom>
          <a:noFill/>
          <a:ln/>
        </p:spPr>
        <p:txBody>
          <a:bodyPr wrap="square" lIns="0" tIns="0" rIns="0" bIns="0" rtlCol="0" anchor="t"/>
          <a:lstStyle/>
          <a:p>
            <a:pPr indent="0" marL="0">
              <a:lnSpc>
                <a:spcPct val="108000"/>
              </a:lnSpc>
              <a:buNone/>
            </a:pPr>
            <a:r>
              <a:rPr lang="en-US" sz="2200" b="1" u="sng" dirty="0">
                <a:solidFill>
                  <a:srgbClr val="142735"/>
                </a:solidFill>
                <a:latin typeface="Microsoft YaHei" pitchFamily="34" charset="0"/>
                <a:ea typeface="Microsoft YaHei" pitchFamily="34" charset="-122"/>
                <a:cs typeface="Microsoft YaHei" pitchFamily="34" charset="-120"/>
                <a:hlinkClick r:id="rId1" invalidUrl="" action="" tgtFrame="" tooltip="" history="1" highlightClick="0" endSnd="0">
                  <a:extLst>
                    <a:ext uri="{A12FA001-AC4F-418D-AE19-62706E023703}">
                      <ahyp:hlinkClr xmlns:ahyp="http://schemas.microsoft.com/office/drawing/2018/hyperlinkcolor" val="tx"/>
                    </a:ext>
                  </a:extLst>
                </a:hlinkClick>
              </a:rPr>
              <a:t>中华人民共和国宪法</a:t>
            </a:r>
            <a:endParaRPr lang="en-US" sz="2200" dirty="0"/>
          </a:p>
        </p:txBody>
      </p:sp>
      <p:sp>
        <p:nvSpPr>
          <p:cNvPr id="5" name="Text 3"/>
          <p:cNvSpPr/>
          <p:nvPr/>
        </p:nvSpPr>
        <p:spPr>
          <a:xfrm>
            <a:off x="1033272" y="2340864"/>
            <a:ext cx="10040112" cy="576072"/>
          </a:xfrm>
          <a:prstGeom prst="rect">
            <a:avLst/>
          </a:prstGeom>
          <a:noFill/>
          <a:ln/>
        </p:spPr>
        <p:txBody>
          <a:bodyPr wrap="square" lIns="0" tIns="0" rIns="0" bIns="0" rtlCol="0" anchor="t"/>
          <a:lstStyle/>
          <a:p>
            <a:pPr indent="0" marL="0">
              <a:lnSpc>
                <a:spcPct val="108000"/>
              </a:lnSpc>
              <a:buNone/>
            </a:pPr>
            <a:r>
              <a:rPr lang="en-US" sz="1800" dirty="0">
                <a:solidFill>
                  <a:srgbClr val="64717A"/>
                </a:solidFill>
                <a:latin typeface="Microsoft YaHei" pitchFamily="34" charset="0"/>
                <a:ea typeface="Microsoft YaHei" pitchFamily="34" charset="-122"/>
                <a:cs typeface="Microsoft YaHei" pitchFamily="34" charset="-120"/>
              </a:rPr>
              <a:t>序言；第1—3、5、33、41、64条的本讲节录</a:t>
            </a:r>
            <a:endParaRPr lang="en-US" sz="1800" dirty="0"/>
          </a:p>
        </p:txBody>
      </p:sp>
      <p:sp>
        <p:nvSpPr>
          <p:cNvPr id="6" name="Shape 4"/>
          <p:cNvSpPr/>
          <p:nvPr/>
        </p:nvSpPr>
        <p:spPr>
          <a:xfrm>
            <a:off x="768096" y="3136392"/>
            <a:ext cx="10652760" cy="1216152"/>
          </a:xfrm>
          <a:prstGeom prst="rect">
            <a:avLst/>
          </a:prstGeom>
          <a:solidFill>
            <a:srgbClr val="FFFFFF"/>
          </a:solidFill>
          <a:ln w="10160">
            <a:solidFill>
              <a:srgbClr val="D9D9D3"/>
            </a:solidFill>
            <a:prstDash val="solid"/>
          </a:ln>
        </p:spPr>
      </p:sp>
      <p:sp>
        <p:nvSpPr>
          <p:cNvPr id="7" name="Text 5">
            <a:hlinkClick r:id="rId2" tooltip=""/>
          </p:cNvPr>
          <p:cNvSpPr/>
          <p:nvPr/>
        </p:nvSpPr>
        <p:spPr>
          <a:xfrm>
            <a:off x="1033272" y="3264408"/>
            <a:ext cx="10040112" cy="356616"/>
          </a:xfrm>
          <a:prstGeom prst="rect">
            <a:avLst/>
          </a:prstGeom>
          <a:noFill/>
          <a:ln/>
        </p:spPr>
        <p:txBody>
          <a:bodyPr wrap="square" lIns="0" tIns="0" rIns="0" bIns="0" rtlCol="0" anchor="t"/>
          <a:lstStyle/>
          <a:p>
            <a:pPr indent="0" marL="0">
              <a:lnSpc>
                <a:spcPct val="108000"/>
              </a:lnSpc>
              <a:buNone/>
            </a:pPr>
            <a:r>
              <a:rPr lang="en-US" sz="2200" b="1" u="sng" dirty="0">
                <a:solidFill>
                  <a:srgbClr val="142735"/>
                </a:solidFill>
                <a:latin typeface="Microsoft YaHei" pitchFamily="34" charset="0"/>
                <a:ea typeface="Microsoft YaHei" pitchFamily="34" charset="-122"/>
                <a:cs typeface="Microsoft YaHei" pitchFamily="34" charset="-120"/>
                <a:hlinkClick r:id="rId2" invalidUrl="" action="" tgtFrame="" tooltip="" history="1" highlightClick="0" endSnd="0">
                  <a:extLst>
                    <a:ext uri="{A12FA001-AC4F-418D-AE19-62706E023703}">
                      <ahyp:hlinkClr xmlns:ahyp="http://schemas.microsoft.com/office/drawing/2018/hyperlinkcolor" val="tx"/>
                    </a:ext>
                  </a:extLst>
                </a:hlinkClick>
              </a:rPr>
              <a:t>中华人民共和国国家赔偿法</a:t>
            </a:r>
            <a:endParaRPr lang="en-US" sz="2200" dirty="0"/>
          </a:p>
        </p:txBody>
      </p:sp>
      <p:sp>
        <p:nvSpPr>
          <p:cNvPr id="8" name="Text 6"/>
          <p:cNvSpPr/>
          <p:nvPr/>
        </p:nvSpPr>
        <p:spPr>
          <a:xfrm>
            <a:off x="1033272" y="3703320"/>
            <a:ext cx="10040112" cy="576072"/>
          </a:xfrm>
          <a:prstGeom prst="rect">
            <a:avLst/>
          </a:prstGeom>
          <a:noFill/>
          <a:ln/>
        </p:spPr>
        <p:txBody>
          <a:bodyPr wrap="square" lIns="0" tIns="0" rIns="0" bIns="0" rtlCol="0" anchor="t"/>
          <a:lstStyle/>
          <a:p>
            <a:pPr indent="0" marL="0">
              <a:lnSpc>
                <a:spcPct val="108000"/>
              </a:lnSpc>
              <a:buNone/>
            </a:pPr>
            <a:r>
              <a:rPr lang="en-US" sz="1800" dirty="0">
                <a:solidFill>
                  <a:srgbClr val="64717A"/>
                </a:solidFill>
                <a:latin typeface="Microsoft YaHei" pitchFamily="34" charset="0"/>
                <a:ea typeface="Microsoft YaHei" pitchFamily="34" charset="-122"/>
                <a:cs typeface="Microsoft YaHei" pitchFamily="34" charset="-120"/>
              </a:rPr>
              <a:t>第1条、第2条第1款、第3条起句及第1项、第7条第1款</a:t>
            </a:r>
            <a:endParaRPr lang="en-US" sz="1800" dirty="0"/>
          </a:p>
        </p:txBody>
      </p:sp>
      <p:sp>
        <p:nvSpPr>
          <p:cNvPr id="9" name="Shape 7"/>
          <p:cNvSpPr/>
          <p:nvPr/>
        </p:nvSpPr>
        <p:spPr>
          <a:xfrm>
            <a:off x="768096" y="4498848"/>
            <a:ext cx="10652760" cy="1216152"/>
          </a:xfrm>
          <a:prstGeom prst="rect">
            <a:avLst/>
          </a:prstGeom>
          <a:solidFill>
            <a:srgbClr val="FFFFFF"/>
          </a:solidFill>
          <a:ln w="10160">
            <a:solidFill>
              <a:srgbClr val="D9D9D3"/>
            </a:solidFill>
            <a:prstDash val="solid"/>
          </a:ln>
        </p:spPr>
      </p:sp>
      <p:sp>
        <p:nvSpPr>
          <p:cNvPr id="10" name="Text 8"/>
          <p:cNvSpPr/>
          <p:nvPr/>
        </p:nvSpPr>
        <p:spPr>
          <a:xfrm>
            <a:off x="1033272" y="4626864"/>
            <a:ext cx="10040112" cy="356616"/>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马工程宪法学第二版及本讲配套</a:t>
            </a:r>
            <a:endParaRPr lang="en-US" sz="2200" dirty="0"/>
          </a:p>
        </p:txBody>
      </p:sp>
      <p:sp>
        <p:nvSpPr>
          <p:cNvPr id="11" name="Text 9"/>
          <p:cNvSpPr/>
          <p:nvPr/>
        </p:nvSpPr>
        <p:spPr>
          <a:xfrm>
            <a:off x="1033272" y="5065776"/>
            <a:ext cx="10040112" cy="576072"/>
          </a:xfrm>
          <a:prstGeom prst="rect">
            <a:avLst/>
          </a:prstGeom>
          <a:noFill/>
          <a:ln/>
        </p:spPr>
        <p:txBody>
          <a:bodyPr wrap="square" lIns="0" tIns="0" rIns="0" bIns="0" rtlCol="0" anchor="t"/>
          <a:lstStyle/>
          <a:p>
            <a:pPr indent="0" marL="0">
              <a:lnSpc>
                <a:spcPct val="108000"/>
              </a:lnSpc>
              <a:buNone/>
            </a:pPr>
            <a:r>
              <a:rPr lang="en-US" sz="1800" dirty="0">
                <a:solidFill>
                  <a:srgbClr val="64717A"/>
                </a:solidFill>
                <a:latin typeface="Microsoft YaHei" pitchFamily="34" charset="0"/>
                <a:ea typeface="Microsoft YaHei" pitchFamily="34" charset="-122"/>
                <a:cs typeface="Microsoft YaHei" pitchFamily="34" charset="-120"/>
              </a:rPr>
              <a:t>教材原页定位、学生材料、逐题答案与关键讲解见审阅包</a:t>
            </a:r>
            <a:endParaRPr lang="en-US" sz="1800" dirty="0"/>
          </a:p>
        </p:txBody>
      </p:sp>
      <p:sp>
        <p:nvSpPr>
          <p:cNvPr id="12" name="Shape 10"/>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3" name="Text 11"/>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第1讲</a:t>
            </a:r>
            <a:endParaRPr lang="en-US" sz="1100" dirty="0"/>
          </a:p>
        </p:txBody>
      </p:sp>
      <p:sp>
        <p:nvSpPr>
          <p:cNvPr id="14" name="Text 12"/>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来源核对日期：2026年9月27日</a:t>
            </a:r>
            <a:endParaRPr lang="en-US" sz="1100" dirty="0"/>
          </a:p>
        </p:txBody>
      </p:sp>
      <p:sp>
        <p:nvSpPr>
          <p:cNvPr id="15" name="Text 13"/>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22 / 22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宪法学 第1讲 宪法总论</dc:title>
  <dc:subject>公安专业一年级宪法学课程</dc:subject>
  <dc:creator>宪法学课程教学组</dc:creator>
  <cp:lastModifiedBy>宪法学课程教学组</cp:lastModifiedBy>
  <cp:revision>1</cp:revision>
  <dcterms:created xsi:type="dcterms:W3CDTF">2026-09-27T08:08:28Z</dcterms:created>
  <dcterms:modified xsi:type="dcterms:W3CDTF">2026-09-27T08:08:28Z</dcterms:modified>
</cp:coreProperties>
</file>