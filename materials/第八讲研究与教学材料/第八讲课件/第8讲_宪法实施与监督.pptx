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第1页 / 共24页
教学环节：第一学时
本课配套学生条文材料、案例甲乙丙独立卡与教师答案。第一学时第1—10页；第二学时第11—22页；第23—24页为课后来源索引。具体分钟数按学校每学时口径和试讲确定。课堂逐次发卡，整册学生材料在课后提供，避免提前看到案例理由和结果。本课不是个案救济程序课。
本页来源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第2页 / 共24页
教学环节：第一学时
只作知识衔接，不重新讲前七讲。三项成果分别对应任务一、案例四格卡、规范与行为迁移题。介绍本课会读一则正式报告，不提前公布案例结论。
本页来源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第3页 / 共24页
教学环节：第一学时
此页发案例甲，尚不发乙、丙。引文是报告对地方性法规的概述，不是原法规逐字文本。请学生先判断这是规范问题，说明公共安全目的及对从业机会的影响，填四格卡能够确定的部分。报告未公开地区、法规名称和具体条号，不让学生猜省份。不讲审查理由和处理结果，留到第二学时。
本页来源
1. 2021年报告公报扫描镜像
定位：PDF第3页，印刷第246页右栏
https://npcobserver.com/wp-content/uploads/2022/02/2021-RR-Report.pdf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第4页 / 共24页
教学环节：第一学时
这里的三段均为原文。教育法第9条第1款确认公民受教育权利义务，已印在学生材料，本页节取第2款突出平等机会。让学生先独立写一句说明，再请一两名学生回答；教师暂不替学生给出关系结论。追问宪法是否必须等普通法律制定才有效，下一页讲评。
本页来源
1. 宪法
定位：第46条第1款
http://www.npc.gov.cn/zgrdw/npc/xinwen/2018-03/22/content_2052489.htm
2. 教育法
定位：第1条、第9条第2款；第9条第1款见学生材料
https://www.moe.gov.cn/jyb_sjzl/sjzl_zcfg/zcfg_jyfl/202107/t20210730_547843.html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第5页 / 共24页
教学环节：第一学时
对应任务一A参考答案。强调立法落实和展开已有宪法要求，不是教育法给宪法赋予效力。学生若只说根据宪法，追问第9条增加了哪项制度要求。这组条文也不能证明任意学校的每项招生安排都合法；但不在此展开招生争议。
本页来源
1. 宪法
定位：序言末段、第5、46条
http://www.npc.gov.cn/zgrdw/npc/xinwen/2018-03/22/content_2052489.htm
2. 教育法
定位：第1、9条
https://www.moe.gov.cn/jyb_sjzl/sjzl_zcfg/zcfg_jyfl/202107/t20210730_547843.html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第6页 / 共24页
教学环节：第一学时
将解释与第二讲修宪作联系。这里给的是功能辨析，不是正式宪法解释制度的全部理论。不要声称教师讲解、学者意见或工作机构研究意见就是常委会正式宪法解释。正式机关配对留到下一页让学生完成。
本页来源
1. 宪法
定位：第62条第1、2项；第64条；第67条第1项
http://www.npc.gov.cn/zgrdw/npc/xinwen/2018-03/22/content_2052489.htm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第7页 / 共24页
教学环节：第一学时
本页是任务一B，留出配对时间。所需条文已在学生材料二，教师不要直接翻到下一页。关注两个常见错误：只填常委会监督宪法实施；把宪法和法律委员会承担的工作当成常委会的最终职权。先听学生说明，再翻页讲评。
本页来源
1. 全国人大组织法
定位：第39条第1款
http://www.npc.gov.cn/npc/c2/kgfb/202103/t20210312_310729.html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第8页 / 共24页
教学环节：第一学时
对应任务一B讲评。表中为本课涉及的职责，不是机关职权的穷尽清单。全国人大与常委会都监督宪法实施。法工委是主案的报告工作机构，和宪法和法律委员会不是同一主体；此处只说明区分方法，案例中的具体动作到第14页再整理。
本页来源
1. 宪法
定位：第62、64、67条
http://www.npc.gov.cn/zgrdw/npc/xinwen/2018-03/22/content_2052489.htm
2. 全国人大组织法
定位：第39条第1款
http://www.npc.gov.cn/npc/c2/kgfb/202103/t20210312_310729.html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第9页 / 共24页
教学环节：第一学时
这三栏是讲授观察角度，不能当成互斥、穷尽的理论分类。可口头提示公民和组织遵守宪法也属于实施，宪法第5条已有遵守义务。第一学时重在说明实际落实，不用一整堂课只讨论出问题后的纠错。
本页来源
1. 立法法
定位：第5条
http://www.npc.gov.cn/rdxwzx/xwzx2025/xwzx2025019/202501/t20250108_442296.html
2. 实施宪法的官方论述
定位：第二部分
http://www.npc.gov.cn/npc/c2/c30834/202511/t20251112_449479.html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第10页 / 共24页
教学环节：第一学时
用学生自己的话确认第一学时目标：教育法平等机会条款；常委会解释、全国人大修改。案例甲仍停在问题状态，不给理由和结果。第二学时开头再发乙卡，不提前把整册发出。
本页来源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第11页 / 共24页
教学环节：第二学时
此页发乙卡。请学生口头选择乙卡中甲乙两种概括，指出依据，并将上位法条件填入甲卡的四格表。红字仅提示定位，不替学生作结论。报告的建议调整尚不等于已实际修改；下一页讲理由，第13页才展示结果。
本页来源
1. 2021年报告公报扫描镜像
定位：PDF第3页，印刷第246页右栏
https://npcobserver.com/wp-content/uploads/2022/02/2021-RR-Report.pdf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第12页 / 共24页
教学环节：第二学时
乙卡选择题应选乙：公共安全目的与具体措施设定需分别说明。不要把本案概括为一切从业限制或者一切终身限制均违宪。宪法第42条联系是课堂分析：可问劳动机会受到何种影响、限制强度怎样说明；2021报告没有明引该条并作正式违宪认定。此时仍不公布是否实际修改。
本页来源
1. 2021年报告公报扫描镜像
定位：印刷第246页
https://npcobserver.com/wp-content/uploads/2022/02/2021-RR-Report.pdf
2. 宪法
定位：第42条
http://www.npc.gov.cn/zgrdw/npc/xinwen/2018-03/22/content_2052489.htm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第13页 / 共24页
教学环节：第二学时
此页才发丙卡，首次公开处理结果。让学生补齐甲卡四格，再作丙卡的三个口头判断。报告写明制定机关已修改调整，但没有明示具体沟通者，也没有提供法规名称或修后条文。不要补写改成几年、整部法规被废止等结论。下一页统一讲评。
本页来源
1. 2021年报告公报扫描镜像
定位：PDF第3页，印刷第246页右栏
https://npcobserver.com/wp-content/uploads/2022/02/2021-RR-Report.pdf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第14页 / 共24页
教学环节：第二学时
规范对象的简写须口头保留甲卡事实：利用行业便利违法并受行政或刑事处罚的有关从业人员。第二格的完整理由还有地方性法规不宜规定终身禁止，回看乙卡。四格讲评要给肯定结论：确有规范审查，且实际调整已发生。报告未证内容只在结尾说明，不让全课只剩不能确定。
本页来源
1. 2021年报告公报扫描镜像
定位：印刷第246页右栏
https://npcobserver.com/wp-content/uploads/2022/02/2021-RR-Report.pdf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第15页 / 共24页
教学环节：第二学时
采用独立的法律草案条文证明合宪性问题可在公布前处理，不让2021匿名案例承担它没有记载的论证。先请学生指出时点再翻页；不要把第58条一条规定画成全部事先审查程序。此处作口头辨识，不另加书面任务。
本页来源
1. 立法法
定位：第58条；另参第23、36条
http://www.npc.gov.cn/rdxwzx/xwzx2025/xwzx2025019/202501/t20250108_442296.html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第16页 / 共24页
教学环节：第二学时
先回答上一页：法律案提出阶段，发生于公布之前。本页双栏用于比较，不能解读为两个互不相干的独立系统，也不能把合宪性审查限定为公布后的一道步骤。备案审查还有适当性等内容，本课只挑与理解主案有关的几项。
本页来源
1. 立法法
定位：第23、36、58条
http://www.npc.gov.cn/rdxwzx/xwzx2025/xwzx2025019/202501/t20250108_442296.html
2. 关于完善和加强备案审查制度的决定
定位：第5、11项；新华社受权文本转载
https://www.12371.cn/2023/12/30/ARTI1703899568090547.shtml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第17页 / 共24页
教学环节：第二学时
教师演示，不加背诵任务。第6项原文的条件是工作机构初步审查认为建议审查的法规、司法解释可能与宪法或者法律相抵触，或者存在合宪性、合法性问题。本页精简为存在可能相抵触等法定问题情形，须口头展开。不是每份建议都启动相同审查，不属本机关处理的移送。图只展示一条示范路径，不穷尽所有初审处置。现行程序不能倒填2021案每一个环节均已发生。
本页来源
1. 立法法
定位：第110、111、115条
http://www.npc.gov.cn/rdxwzx/xwzx2025/xwzx2025019/202501/t20250108_442296.html
2. 关于完善和加强备案审查制度的决定
定位：第6、9项
https://www.12371.cn/2023/12/30/ARTI1703899568090547.shtml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第18页 / 共24页
教学环节：第二学时
教师演示。现行规定允许先沟通推动修改；制定机关同意并书面提出明确处理计划和时限时可中止审查，实际依意见修改或废止后终止审查。图略去这些细节，口头说明提出意见不是一律已形成同一种书面决定。未按书面意见或计划纠正的，依法提出议案建议，由委员长会议决定提请常委会会议审议决定，进一步处理不只有撤销一种。反馈按规定进行，不用本图断言只有最终撤销才反馈。不得把这张图当2021案经过的逐项证明。
本页来源
1. 立法法
定位：第112—113条
http://www.npc.gov.cn/rdxwzx/xwzx2025/xwzx2025019/202501/t20250108_442296.html
2. 关于完善和加强备案审查制度的决定
定位：第13—15项
https://www.12371.cn/2023/12/30/ARTI1703899568090547.shtml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第19页 / 共24页
教学环节：第二学时
让学生完成任务三表格和一句解释。保持题设，既不补入特殊许可法律，也不提前指定诉讼或复议管辖。不能从有限题设推定甲必然违宪、乙必然违法。答案留到下一页。
本页来源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第20页 / 共24页
教学环节：第二学时
请学生再指出一项不能确定的结论：甲必然违宪、乙必然违法、李某已经获准许可等。教师参考：行政复议法第13条、行政诉讼法第53条的普通行政规范性文件附带审查范围不含地方性法规，不能把题目甲直接按该制度要求法院撤销。行政诉讼法第63条另规定地方性法规的审判依据地位。这些限制用于讲评准确，不在课堂展开管辖、期限或法院处理规范冲突的全部方法。详见教师讲评第五部分。
本页来源
1. 立法法
定位：第110—113条
http://www.npc.gov.cn/rdxwzx/xwzx2025/xwzx2025019/202501/t20250108_442296.html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第21页 / 共24页
教学环节：第二学时
不要直接读下一页答案。根据学生回答检查实施动作、规范对象、实际结果三个层次。若学生只答抽象口号，追问具体哪一部法律、哪一种规范或哪一个动作。
本页来源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第22页 / 共24页
教学环节：第二学时
给出课末三句参考答案，不要求学生逐字一致。进一步说明第三句不证明具体修后条文或正式违宪宣告。课后任务只要求可定位的文本联系，不能把根据宪法的起首句直接当成现实效果已实现的证明。至此完成课堂放映；后两页为查读附页。
本页来源
1. 2021年报告公报扫描镜像
定位：印刷第246页
https://npcobserver.com/wp-content/uploads/2022/02/2021-RR-Report.pdf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第23页 / 共24页
教学环节：资料索引
宪法采用2018年修正文本，教育法采用2021年修正文本，组织法采用2021年修正文本，立法法采用2023年修正文本。备案审查决定链接是新华社受权文本在共产党员网的转载。教师研究另核监督法2024年修正文本与2025年备案审查报告，但未将其全部展开为课堂知识。部分中国人大网网页HTTPS读取会超时，可对照本项目保存的原件；完整阅读范围见02研究核对记录。
本页来源
1. 全国人大组织法
定位：2021年修正文本，第39条
http://www.npc.gov.cn/npc/c2/kgfb/202103/t20210312_310729.html
本页可点击来源清单
中华人民共和国宪法
序言；第5、42、46、62、64、67条
http://www.npc.gov.cn/zgrdw/npc/xinwen/2018-03/22/content_2052489.htm
中华人民共和国教育法
第1、9条；全国人大组织法第39条另见本页备注
https://www.moe.gov.cn/jyb_sjzl/sjzl_zcfg/zcfg_jyfl/202107/t20210730_547843.html
中华人民共和国立法法
第5、23、36、58、110—115条
http://www.npc.gov.cn/rdxwzx/xwzx2025/xwzx2025019/202501/t20250108_442296.html
关于完善和加强备案审查制度的决定
2023年12月29日通过；第5、6、9、11、13—15项
https://www.12371.cn/2023/12/30/ARTI1703899568090547.shtml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第24页 / 共24页
教学环节：资料索引
公报镜像PDF共6页，第3页为印刷第246页。原站公报入口返回首页，不能称为原站PDF下载成功。已用镜像原页与中国人大网官方回顾对读。官方回顾小标题用被废止，原报告段落只写修改调整，课程采用原段表述。匿名地区和具体法规身份仍未知，不从相似条例猜定。配套本地Word包括03教学设计、04学生材料、05教师答案及分发卡三张。
本页来源
1. 本地研究核对记录
定位：同级上一层02_研究核对记录.md
本页可点击来源清单
2021年备案审查报告：公报扫描镜像
《全国人大常委会公报》2022年第1号，第244—249页；主案第246页
https://npcobserver.com/wp-content/uploads/2022/02/2021-RR-Report.pdf
中国人大网2025年官方案例回顾
第四部分第7项；与原公报段落对读
http://www.npc.gov.cn/npc/c2/c30834/202502/t20250207_442730.html
本课配套：条文、案例卡与参考答案
学生材料任务一至三；案例甲、乙、丙；教师讲评与参考答案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hyperlink" Target="http://www.npc.gov.cn/zgrdw/npc/xinwen/2018-03/22/content_2052489.htm" TargetMode="External"/><Relationship Id="rId2" Type="http://schemas.openxmlformats.org/officeDocument/2006/relationships/hyperlink" Target="https://www.moe.gov.cn/jyb_sjzl/sjzl_zcfg/zcfg_jyfl/202107/t20210730_547843.html" TargetMode="External"/><Relationship Id="rId3" Type="http://schemas.openxmlformats.org/officeDocument/2006/relationships/hyperlink" Target="http://www.npc.gov.cn/rdxwzx/xwzx2025/xwzx2025019/202501/t20250108_442296.html" TargetMode="External"/><Relationship Id="rId4" Type="http://schemas.openxmlformats.org/officeDocument/2006/relationships/hyperlink" Target="https://www.12371.cn/2023/12/30/ARTI1703899568090547.shtml" TargetMode="External"/><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https://npcobserver.com/wp-content/uploads/2022/02/2021-RR-Report.pdf" TargetMode="External"/><Relationship Id="rId2" Type="http://schemas.openxmlformats.org/officeDocument/2006/relationships/hyperlink" Target="http://www.npc.gov.cn/npc/c2/c30834/202502/t20250207_442730.html" TargetMode="External"/><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735"/>
        </a:solidFill>
      </p:bgPr>
    </p:bg>
    <p:spTree>
      <p:nvGrpSpPr>
        <p:cNvPr id="1" name=""/>
        <p:cNvGrpSpPr/>
        <p:nvPr/>
      </p:nvGrpSpPr>
      <p:grpSpPr>
        <a:xfrm>
          <a:off x="0" y="0"/>
          <a:ext cx="0" cy="0"/>
          <a:chOff x="0" y="0"/>
          <a:chExt cx="0" cy="0"/>
        </a:xfrm>
      </p:grpSpPr>
      <p:sp>
        <p:nvSpPr>
          <p:cNvPr id="2" name="Shape 0"/>
          <p:cNvSpPr/>
          <p:nvPr/>
        </p:nvSpPr>
        <p:spPr>
          <a:xfrm>
            <a:off x="685800" y="978408"/>
            <a:ext cx="109728" cy="4489704"/>
          </a:xfrm>
          <a:prstGeom prst="rect">
            <a:avLst/>
          </a:prstGeom>
          <a:solidFill>
            <a:srgbClr val="B13D38"/>
          </a:solidFill>
          <a:ln w="10160">
            <a:solidFill>
              <a:srgbClr val="B13D38">
                <a:alpha val="0"/>
              </a:srgbClr>
            </a:solidFill>
            <a:prstDash val="solid"/>
          </a:ln>
        </p:spPr>
      </p:sp>
      <p:sp>
        <p:nvSpPr>
          <p:cNvPr id="3" name="Text 1"/>
          <p:cNvSpPr/>
          <p:nvPr/>
        </p:nvSpPr>
        <p:spPr>
          <a:xfrm>
            <a:off x="987552" y="731520"/>
            <a:ext cx="1371600" cy="621792"/>
          </a:xfrm>
          <a:prstGeom prst="rect">
            <a:avLst/>
          </a:prstGeom>
          <a:noFill/>
          <a:ln/>
        </p:spPr>
        <p:txBody>
          <a:bodyPr wrap="square" lIns="0" tIns="0" rIns="0" bIns="0" rtlCol="0" anchor="t"/>
          <a:lstStyle/>
          <a:p>
            <a:pPr indent="0" marL="0">
              <a:lnSpc>
                <a:spcPct val="108000"/>
              </a:lnSpc>
              <a:buNone/>
            </a:pPr>
            <a:r>
              <a:rPr lang="en-US" sz="3400" b="1" dirty="0">
                <a:solidFill>
                  <a:srgbClr val="B13D38"/>
                </a:solidFill>
                <a:latin typeface="Microsoft YaHei" pitchFamily="34" charset="0"/>
                <a:ea typeface="Microsoft YaHei" pitchFamily="34" charset="-122"/>
                <a:cs typeface="Microsoft YaHei" pitchFamily="34" charset="-120"/>
              </a:rPr>
              <a:t>08</a:t>
            </a:r>
            <a:endParaRPr lang="en-US" sz="3400" dirty="0"/>
          </a:p>
        </p:txBody>
      </p:sp>
      <p:sp>
        <p:nvSpPr>
          <p:cNvPr id="4" name="Text 2"/>
          <p:cNvSpPr/>
          <p:nvPr/>
        </p:nvSpPr>
        <p:spPr>
          <a:xfrm>
            <a:off x="987552" y="1682496"/>
            <a:ext cx="4572000" cy="502920"/>
          </a:xfrm>
          <a:prstGeom prst="rect">
            <a:avLst/>
          </a:prstGeom>
          <a:noFill/>
          <a:ln/>
        </p:spPr>
        <p:txBody>
          <a:bodyPr wrap="square" lIns="0" tIns="0" rIns="0" bIns="0" rtlCol="0" anchor="t"/>
          <a:lstStyle/>
          <a:p>
            <a:pPr indent="0" marL="0">
              <a:lnSpc>
                <a:spcPct val="108000"/>
              </a:lnSpc>
              <a:buNone/>
            </a:pPr>
            <a:r>
              <a:rPr lang="en-US" sz="2200" dirty="0">
                <a:solidFill>
                  <a:srgbClr val="D9D5CA"/>
                </a:solidFill>
                <a:latin typeface="Microsoft YaHei" pitchFamily="34" charset="0"/>
                <a:ea typeface="Microsoft YaHei" pitchFamily="34" charset="-122"/>
                <a:cs typeface="Microsoft YaHei" pitchFamily="34" charset="-120"/>
              </a:rPr>
              <a:t>宪法学</a:t>
            </a:r>
            <a:endParaRPr lang="en-US" sz="2200" dirty="0"/>
          </a:p>
        </p:txBody>
      </p:sp>
      <p:sp>
        <p:nvSpPr>
          <p:cNvPr id="5" name="Text 3"/>
          <p:cNvSpPr/>
          <p:nvPr/>
        </p:nvSpPr>
        <p:spPr>
          <a:xfrm>
            <a:off x="987552" y="2304288"/>
            <a:ext cx="10241280" cy="1033272"/>
          </a:xfrm>
          <a:prstGeom prst="rect">
            <a:avLst/>
          </a:prstGeom>
          <a:noFill/>
          <a:ln/>
        </p:spPr>
        <p:txBody>
          <a:bodyPr wrap="square" lIns="0" tIns="0" rIns="0" bIns="0" rtlCol="0" anchor="t"/>
          <a:lstStyle/>
          <a:p>
            <a:pPr indent="0" marL="0">
              <a:lnSpc>
                <a:spcPct val="108000"/>
              </a:lnSpc>
              <a:buNone/>
            </a:pPr>
            <a:r>
              <a:rPr lang="en-US" sz="3400" b="1" dirty="0">
                <a:solidFill>
                  <a:srgbClr val="FFFFFF"/>
                </a:solidFill>
                <a:latin typeface="Microsoft YaHei" pitchFamily="34" charset="0"/>
                <a:ea typeface="Microsoft YaHei" pitchFamily="34" charset="-122"/>
                <a:cs typeface="Microsoft YaHei" pitchFamily="34" charset="-120"/>
              </a:rPr>
              <a:t>宪法实施与监督</a:t>
            </a:r>
            <a:endParaRPr lang="en-US" sz="3400" dirty="0"/>
          </a:p>
        </p:txBody>
      </p:sp>
      <p:sp>
        <p:nvSpPr>
          <p:cNvPr id="6" name="Text 4"/>
          <p:cNvSpPr/>
          <p:nvPr/>
        </p:nvSpPr>
        <p:spPr>
          <a:xfrm>
            <a:off x="1005840" y="3703320"/>
            <a:ext cx="9966960" cy="1033272"/>
          </a:xfrm>
          <a:prstGeom prst="rect">
            <a:avLst/>
          </a:prstGeom>
          <a:noFill/>
          <a:ln/>
        </p:spPr>
        <p:txBody>
          <a:bodyPr wrap="square" lIns="0" tIns="0" rIns="0" bIns="0" rtlCol="0" anchor="t"/>
          <a:lstStyle/>
          <a:p>
            <a:pPr indent="0" marL="0">
              <a:lnSpc>
                <a:spcPct val="108000"/>
              </a:lnSpc>
              <a:buNone/>
            </a:pPr>
            <a:r>
              <a:rPr lang="en-US" sz="2400" dirty="0">
                <a:solidFill>
                  <a:srgbClr val="E8E3D9"/>
                </a:solidFill>
                <a:latin typeface="Microsoft YaHei" pitchFamily="34" charset="0"/>
                <a:ea typeface="Microsoft YaHei" pitchFamily="34" charset="-122"/>
                <a:cs typeface="Microsoft YaHei" pitchFamily="34" charset="-120"/>
              </a:rPr>
              <a:t>宪法怎样落实，规范中的问题怎样纠正？</a:t>
            </a:r>
            <a:endParaRPr lang="en-US" sz="2400" dirty="0"/>
          </a:p>
        </p:txBody>
      </p:sp>
      <p:sp>
        <p:nvSpPr>
          <p:cNvPr id="7" name="Text 5"/>
          <p:cNvSpPr/>
          <p:nvPr/>
        </p:nvSpPr>
        <p:spPr>
          <a:xfrm>
            <a:off x="1005840" y="5623560"/>
            <a:ext cx="6858000" cy="365760"/>
          </a:xfrm>
          <a:prstGeom prst="rect">
            <a:avLst/>
          </a:prstGeom>
          <a:noFill/>
          <a:ln/>
        </p:spPr>
        <p:txBody>
          <a:bodyPr wrap="square" lIns="0" tIns="0" rIns="0" bIns="0" rtlCol="0" anchor="t"/>
          <a:lstStyle/>
          <a:p>
            <a:pPr indent="0" marL="0">
              <a:lnSpc>
                <a:spcPct val="108000"/>
              </a:lnSpc>
              <a:buNone/>
            </a:pPr>
            <a:r>
              <a:rPr lang="en-US" sz="1600" dirty="0">
                <a:solidFill>
                  <a:srgbClr val="CCC7BC"/>
                </a:solidFill>
                <a:latin typeface="Microsoft YaHei" pitchFamily="34" charset="0"/>
                <a:ea typeface="Microsoft YaHei" pitchFamily="34" charset="-122"/>
                <a:cs typeface="Microsoft YaHei" pitchFamily="34" charset="-120"/>
              </a:rPr>
              <a:t>公安专业一年级 · 两学时</a:t>
            </a:r>
            <a:endParaRPr lang="en-US" sz="1600" dirty="0"/>
          </a:p>
        </p:txBody>
      </p:sp>
      <p:sp>
        <p:nvSpPr>
          <p:cNvPr id="8" name="Shape 6"/>
          <p:cNvSpPr/>
          <p:nvPr/>
        </p:nvSpPr>
        <p:spPr>
          <a:xfrm>
            <a:off x="658368" y="6291072"/>
            <a:ext cx="10872216" cy="10973"/>
          </a:xfrm>
          <a:prstGeom prst="rect">
            <a:avLst/>
          </a:prstGeom>
          <a:solidFill>
            <a:srgbClr val="53616B"/>
          </a:solidFill>
          <a:ln w="10160">
            <a:solidFill>
              <a:srgbClr val="53616B">
                <a:alpha val="0"/>
              </a:srgbClr>
            </a:solidFill>
            <a:prstDash val="solid"/>
          </a:ln>
        </p:spPr>
      </p:sp>
      <p:sp>
        <p:nvSpPr>
          <p:cNvPr id="9" name="Text 7"/>
          <p:cNvSpPr/>
          <p:nvPr/>
        </p:nvSpPr>
        <p:spPr>
          <a:xfrm>
            <a:off x="685800" y="6400800"/>
            <a:ext cx="2286000" cy="256032"/>
          </a:xfrm>
          <a:prstGeom prst="rect">
            <a:avLst/>
          </a:prstGeom>
          <a:noFill/>
          <a:ln/>
        </p:spPr>
        <p:txBody>
          <a:bodyPr wrap="square" lIns="0" tIns="0" rIns="0" bIns="0" rtlCol="0" anchor="t"/>
          <a:lstStyle/>
          <a:p>
            <a:pPr indent="0" marL="0">
              <a:lnSpc>
                <a:spcPct val="108000"/>
              </a:lnSpc>
              <a:buNone/>
            </a:pPr>
            <a:r>
              <a:rPr lang="en-US" sz="1100" dirty="0">
                <a:solidFill>
                  <a:srgbClr val="DDD9D0"/>
                </a:solidFill>
                <a:latin typeface="Microsoft YaHei" pitchFamily="34" charset="0"/>
                <a:ea typeface="Microsoft YaHei" pitchFamily="34" charset="-122"/>
                <a:cs typeface="Microsoft YaHei" pitchFamily="34" charset="-120"/>
              </a:rPr>
              <a:t>宪法学 · 第8讲</a:t>
            </a:r>
            <a:endParaRPr lang="en-US" sz="1100" dirty="0"/>
          </a:p>
        </p:txBody>
      </p:sp>
      <p:sp>
        <p:nvSpPr>
          <p:cNvPr id="10" name="Text 8"/>
          <p:cNvSpPr/>
          <p:nvPr/>
        </p:nvSpPr>
        <p:spPr>
          <a:xfrm>
            <a:off x="3154680" y="6400800"/>
            <a:ext cx="6720840" cy="256032"/>
          </a:xfrm>
          <a:prstGeom prst="rect">
            <a:avLst/>
          </a:prstGeom>
          <a:noFill/>
          <a:ln/>
        </p:spPr>
        <p:txBody>
          <a:bodyPr wrap="square" lIns="0" tIns="0" rIns="0" bIns="0" rtlCol="0" anchor="t"/>
          <a:lstStyle/>
          <a:p>
            <a:pPr algn="ctr" indent="0" marL="0">
              <a:lnSpc>
                <a:spcPct val="108000"/>
              </a:lnSpc>
              <a:buNone/>
            </a:pPr>
            <a:r>
              <a:rPr lang="en-US" sz="1100" dirty="0">
                <a:solidFill>
                  <a:srgbClr val="DDD9D0"/>
                </a:solidFill>
                <a:latin typeface="Microsoft YaHei" pitchFamily="34" charset="0"/>
                <a:ea typeface="Microsoft YaHei" pitchFamily="34" charset="-122"/>
                <a:cs typeface="Microsoft YaHei" pitchFamily="34" charset="-120"/>
              </a:rPr>
              <a:t>宪法学 · 公安专业一年级 · 两学时</a:t>
            </a:r>
            <a:endParaRPr lang="en-US" sz="1100" dirty="0"/>
          </a:p>
        </p:txBody>
      </p:sp>
      <p:sp>
        <p:nvSpPr>
          <p:cNvPr id="11" name="Text 9"/>
          <p:cNvSpPr/>
          <p:nvPr/>
        </p:nvSpPr>
        <p:spPr>
          <a:xfrm>
            <a:off x="10195560" y="6400800"/>
            <a:ext cx="1325880" cy="256032"/>
          </a:xfrm>
          <a:prstGeom prst="rect">
            <a:avLst/>
          </a:prstGeom>
          <a:noFill/>
          <a:ln/>
        </p:spPr>
        <p:txBody>
          <a:bodyPr wrap="square" lIns="0" tIns="0" rIns="0" bIns="0" rtlCol="0" anchor="t"/>
          <a:lstStyle/>
          <a:p>
            <a:pPr algn="r" indent="0" marL="0">
              <a:lnSpc>
                <a:spcPct val="108000"/>
              </a:lnSpc>
              <a:buNone/>
            </a:pPr>
            <a:r>
              <a:rPr lang="en-US" sz="1100" dirty="0">
                <a:solidFill>
                  <a:srgbClr val="DDD9D0"/>
                </a:solidFill>
                <a:latin typeface="Microsoft YaHei" pitchFamily="34" charset="0"/>
                <a:ea typeface="Microsoft YaHei" pitchFamily="34" charset="-122"/>
                <a:cs typeface="Microsoft YaHei" pitchFamily="34" charset="-120"/>
              </a:rPr>
              <a:t>1 / 24</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713232" y="475488"/>
            <a:ext cx="10744200" cy="594360"/>
          </a:xfrm>
          <a:prstGeom prst="rect">
            <a:avLst/>
          </a:prstGeom>
          <a:noFill/>
          <a:ln/>
        </p:spPr>
        <p:txBody>
          <a:bodyPr wrap="square" lIns="0" tIns="0" rIns="0" bIns="0" rtlCol="0" anchor="t"/>
          <a:lstStyle/>
          <a:p>
            <a:pPr indent="0" marL="0">
              <a:lnSpc>
                <a:spcPct val="108000"/>
              </a:lnSpc>
              <a:buNone/>
            </a:pPr>
            <a:r>
              <a:rPr lang="en-US" sz="3200" b="1" dirty="0">
                <a:solidFill>
                  <a:srgbClr val="142735"/>
                </a:solidFill>
                <a:latin typeface="Microsoft YaHei" pitchFamily="34" charset="0"/>
                <a:ea typeface="Microsoft YaHei" pitchFamily="34" charset="-122"/>
                <a:cs typeface="Microsoft YaHei" pitchFamily="34" charset="-120"/>
              </a:rPr>
              <a:t>从前七讲走向一个新问题</a:t>
            </a:r>
            <a:endParaRPr lang="en-US" sz="3200" dirty="0"/>
          </a:p>
        </p:txBody>
      </p:sp>
      <p:sp>
        <p:nvSpPr>
          <p:cNvPr id="3" name="Text 1"/>
          <p:cNvSpPr/>
          <p:nvPr/>
        </p:nvSpPr>
        <p:spPr>
          <a:xfrm>
            <a:off x="731520" y="1170432"/>
            <a:ext cx="10698480" cy="384048"/>
          </a:xfrm>
          <a:prstGeom prst="rect">
            <a:avLst/>
          </a:prstGeom>
          <a:noFill/>
          <a:ln/>
        </p:spPr>
        <p:txBody>
          <a:bodyPr wrap="square" lIns="0" tIns="0" rIns="0" bIns="0" rtlCol="0" anchor="t"/>
          <a:lstStyle/>
          <a:p>
            <a:pPr indent="0" marL="0">
              <a:lnSpc>
                <a:spcPct val="108000"/>
              </a:lnSpc>
              <a:buNone/>
            </a:pPr>
            <a:r>
              <a:rPr lang="en-US" sz="1600" dirty="0">
                <a:solidFill>
                  <a:srgbClr val="64717A"/>
                </a:solidFill>
                <a:latin typeface="Microsoft YaHei" pitchFamily="34" charset="0"/>
                <a:ea typeface="Microsoft YaHei" pitchFamily="34" charset="-122"/>
                <a:cs typeface="Microsoft YaHei" pitchFamily="34" charset="-120"/>
              </a:rPr>
              <a:t>已经学过宪法规定什么，现在追问怎样落实。</a:t>
            </a:r>
            <a:endParaRPr lang="en-US" sz="1600" dirty="0"/>
          </a:p>
        </p:txBody>
      </p:sp>
      <p:sp>
        <p:nvSpPr>
          <p:cNvPr id="4" name="Shape 2"/>
          <p:cNvSpPr/>
          <p:nvPr/>
        </p:nvSpPr>
        <p:spPr>
          <a:xfrm>
            <a:off x="768096" y="1773936"/>
            <a:ext cx="3398520" cy="3264408"/>
          </a:xfrm>
          <a:prstGeom prst="rect">
            <a:avLst/>
          </a:prstGeom>
          <a:solidFill>
            <a:srgbClr val="FFFFFF"/>
          </a:solidFill>
          <a:ln w="10160">
            <a:solidFill>
              <a:srgbClr val="D9D9D3"/>
            </a:solidFill>
            <a:prstDash val="solid"/>
          </a:ln>
        </p:spPr>
      </p:sp>
      <p:sp>
        <p:nvSpPr>
          <p:cNvPr id="5" name="Text 3"/>
          <p:cNvSpPr/>
          <p:nvPr/>
        </p:nvSpPr>
        <p:spPr>
          <a:xfrm>
            <a:off x="996696" y="1984248"/>
            <a:ext cx="2941320" cy="676656"/>
          </a:xfrm>
          <a:prstGeom prst="rect">
            <a:avLst/>
          </a:prstGeom>
          <a:noFill/>
          <a:ln/>
        </p:spPr>
        <p:txBody>
          <a:bodyPr wrap="square" lIns="0" tIns="0" rIns="0" bIns="0" rtlCol="0" anchor="t"/>
          <a:lstStyle/>
          <a:p>
            <a:pPr indent="0" marL="0">
              <a:lnSpc>
                <a:spcPct val="108000"/>
              </a:lnSpc>
              <a:buNone/>
            </a:pPr>
            <a:r>
              <a:rPr lang="en-US" sz="2400" b="1" dirty="0">
                <a:solidFill>
                  <a:srgbClr val="B13D38"/>
                </a:solidFill>
                <a:latin typeface="Microsoft YaHei" pitchFamily="34" charset="0"/>
                <a:ea typeface="Microsoft YaHei" pitchFamily="34" charset="-122"/>
                <a:cs typeface="Microsoft YaHei" pitchFamily="34" charset="-120"/>
              </a:rPr>
              <a:t>宪法的效力</a:t>
            </a:r>
            <a:endParaRPr lang="en-US" sz="2400" dirty="0"/>
          </a:p>
        </p:txBody>
      </p:sp>
      <p:sp>
        <p:nvSpPr>
          <p:cNvPr id="6" name="Text 4"/>
          <p:cNvSpPr/>
          <p:nvPr/>
        </p:nvSpPr>
        <p:spPr>
          <a:xfrm>
            <a:off x="996696" y="2852928"/>
            <a:ext cx="2941320" cy="1965960"/>
          </a:xfrm>
          <a:prstGeom prst="rect">
            <a:avLst/>
          </a:prstGeom>
          <a:noFill/>
          <a:ln/>
        </p:spPr>
        <p:txBody>
          <a:bodyPr wrap="square" lIns="0" tIns="0" rIns="0" bIns="0" rtlCol="0" anchor="t"/>
          <a:lstStyle/>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最高法律效力</a:t>
            </a: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怎样体现于立法？</a:t>
            </a:r>
            <a:endParaRPr lang="en-US" sz="2200" dirty="0"/>
          </a:p>
        </p:txBody>
      </p:sp>
      <p:sp>
        <p:nvSpPr>
          <p:cNvPr id="7" name="Shape 5"/>
          <p:cNvSpPr/>
          <p:nvPr/>
        </p:nvSpPr>
        <p:spPr>
          <a:xfrm>
            <a:off x="4395216" y="1773936"/>
            <a:ext cx="3398520" cy="3264408"/>
          </a:xfrm>
          <a:prstGeom prst="rect">
            <a:avLst/>
          </a:prstGeom>
          <a:solidFill>
            <a:srgbClr val="FFFFFF"/>
          </a:solidFill>
          <a:ln w="10160">
            <a:solidFill>
              <a:srgbClr val="D9D9D3"/>
            </a:solidFill>
            <a:prstDash val="solid"/>
          </a:ln>
        </p:spPr>
      </p:sp>
      <p:sp>
        <p:nvSpPr>
          <p:cNvPr id="8" name="Text 6"/>
          <p:cNvSpPr/>
          <p:nvPr/>
        </p:nvSpPr>
        <p:spPr>
          <a:xfrm>
            <a:off x="4623816" y="1984248"/>
            <a:ext cx="2941320" cy="676656"/>
          </a:xfrm>
          <a:prstGeom prst="rect">
            <a:avLst/>
          </a:prstGeom>
          <a:noFill/>
          <a:ln/>
        </p:spPr>
        <p:txBody>
          <a:bodyPr wrap="square" lIns="0" tIns="0" rIns="0" bIns="0" rtlCol="0" anchor="t"/>
          <a:lstStyle/>
          <a:p>
            <a:pPr indent="0" marL="0">
              <a:lnSpc>
                <a:spcPct val="108000"/>
              </a:lnSpc>
              <a:buNone/>
            </a:pPr>
            <a:r>
              <a:rPr lang="en-US" sz="2400" b="1" dirty="0">
                <a:solidFill>
                  <a:srgbClr val="B13D38"/>
                </a:solidFill>
                <a:latin typeface="Microsoft YaHei" pitchFamily="34" charset="0"/>
                <a:ea typeface="Microsoft YaHei" pitchFamily="34" charset="-122"/>
                <a:cs typeface="Microsoft YaHei" pitchFamily="34" charset="-120"/>
              </a:rPr>
              <a:t>基本权利</a:t>
            </a:r>
            <a:endParaRPr lang="en-US" sz="2400" dirty="0"/>
          </a:p>
        </p:txBody>
      </p:sp>
      <p:sp>
        <p:nvSpPr>
          <p:cNvPr id="9" name="Text 7"/>
          <p:cNvSpPr/>
          <p:nvPr/>
        </p:nvSpPr>
        <p:spPr>
          <a:xfrm>
            <a:off x="4623816" y="2852928"/>
            <a:ext cx="2941320" cy="1965960"/>
          </a:xfrm>
          <a:prstGeom prst="rect">
            <a:avLst/>
          </a:prstGeom>
          <a:noFill/>
          <a:ln/>
        </p:spPr>
        <p:txBody>
          <a:bodyPr wrap="square" lIns="0" tIns="0" rIns="0" bIns="0" rtlCol="0" anchor="t"/>
          <a:lstStyle/>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权利要求</a:t>
            </a: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怎样进入具体制度？</a:t>
            </a:r>
            <a:endParaRPr lang="en-US" sz="2200" dirty="0"/>
          </a:p>
        </p:txBody>
      </p:sp>
      <p:sp>
        <p:nvSpPr>
          <p:cNvPr id="10" name="Shape 8"/>
          <p:cNvSpPr/>
          <p:nvPr/>
        </p:nvSpPr>
        <p:spPr>
          <a:xfrm>
            <a:off x="8022336" y="1773936"/>
            <a:ext cx="3398520" cy="3264408"/>
          </a:xfrm>
          <a:prstGeom prst="rect">
            <a:avLst/>
          </a:prstGeom>
          <a:solidFill>
            <a:srgbClr val="FFFFFF"/>
          </a:solidFill>
          <a:ln w="10160">
            <a:solidFill>
              <a:srgbClr val="D9D9D3"/>
            </a:solidFill>
            <a:prstDash val="solid"/>
          </a:ln>
        </p:spPr>
      </p:sp>
      <p:sp>
        <p:nvSpPr>
          <p:cNvPr id="11" name="Text 9"/>
          <p:cNvSpPr/>
          <p:nvPr/>
        </p:nvSpPr>
        <p:spPr>
          <a:xfrm>
            <a:off x="8250936" y="1984248"/>
            <a:ext cx="2941320" cy="676656"/>
          </a:xfrm>
          <a:prstGeom prst="rect">
            <a:avLst/>
          </a:prstGeom>
          <a:noFill/>
          <a:ln/>
        </p:spPr>
        <p:txBody>
          <a:bodyPr wrap="square" lIns="0" tIns="0" rIns="0" bIns="0" rtlCol="0" anchor="t"/>
          <a:lstStyle/>
          <a:p>
            <a:pPr indent="0" marL="0">
              <a:lnSpc>
                <a:spcPct val="108000"/>
              </a:lnSpc>
              <a:buNone/>
            </a:pPr>
            <a:r>
              <a:rPr lang="en-US" sz="2400" b="1" dirty="0">
                <a:solidFill>
                  <a:srgbClr val="B13D38"/>
                </a:solidFill>
                <a:latin typeface="Microsoft YaHei" pitchFamily="34" charset="0"/>
                <a:ea typeface="Microsoft YaHei" pitchFamily="34" charset="-122"/>
                <a:cs typeface="Microsoft YaHei" pitchFamily="34" charset="-120"/>
              </a:rPr>
              <a:t>国家机构</a:t>
            </a:r>
            <a:endParaRPr lang="en-US" sz="2400" dirty="0"/>
          </a:p>
        </p:txBody>
      </p:sp>
      <p:sp>
        <p:nvSpPr>
          <p:cNvPr id="12" name="Text 10"/>
          <p:cNvSpPr/>
          <p:nvPr/>
        </p:nvSpPr>
        <p:spPr>
          <a:xfrm>
            <a:off x="8250936" y="2852928"/>
            <a:ext cx="2941320" cy="1965960"/>
          </a:xfrm>
          <a:prstGeom prst="rect">
            <a:avLst/>
          </a:prstGeom>
          <a:noFill/>
          <a:ln/>
        </p:spPr>
        <p:txBody>
          <a:bodyPr wrap="square" lIns="0" tIns="0" rIns="0" bIns="0" rtlCol="0" anchor="t"/>
          <a:lstStyle/>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不同机关</a:t>
            </a: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怎样履职与监督？</a:t>
            </a:r>
            <a:endParaRPr lang="en-US" sz="2200" dirty="0"/>
          </a:p>
        </p:txBody>
      </p:sp>
      <p:sp>
        <p:nvSpPr>
          <p:cNvPr id="13" name="Shape 11"/>
          <p:cNvSpPr/>
          <p:nvPr/>
        </p:nvSpPr>
        <p:spPr>
          <a:xfrm>
            <a:off x="768096" y="5358384"/>
            <a:ext cx="10652760" cy="621792"/>
          </a:xfrm>
          <a:prstGeom prst="rect">
            <a:avLst/>
          </a:prstGeom>
          <a:solidFill>
            <a:srgbClr val="EEEAE1"/>
          </a:solidFill>
          <a:ln w="10160">
            <a:solidFill>
              <a:srgbClr val="EEEAE1">
                <a:alpha val="0"/>
              </a:srgbClr>
            </a:solidFill>
            <a:prstDash val="solid"/>
          </a:ln>
        </p:spPr>
      </p:sp>
      <p:sp>
        <p:nvSpPr>
          <p:cNvPr id="14" name="Text 12"/>
          <p:cNvSpPr/>
          <p:nvPr/>
        </p:nvSpPr>
        <p:spPr>
          <a:xfrm>
            <a:off x="987552" y="5477256"/>
            <a:ext cx="10213848" cy="384048"/>
          </a:xfrm>
          <a:prstGeom prst="rect">
            <a:avLst/>
          </a:prstGeom>
          <a:noFill/>
          <a:ln/>
        </p:spPr>
        <p:txBody>
          <a:bodyPr wrap="square" lIns="0" tIns="0" rIns="0" bIns="0" rtlCol="0" anchor="t"/>
          <a:lstStyle/>
          <a:p>
            <a:pP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本讲要做到：解释一次落实动作，读懂一次审查，区分两类问题。</a:t>
            </a:r>
            <a:endParaRPr lang="en-US" sz="2200" dirty="0"/>
          </a:p>
        </p:txBody>
      </p:sp>
      <p:sp>
        <p:nvSpPr>
          <p:cNvPr id="15" name="Shape 13"/>
          <p:cNvSpPr/>
          <p:nvPr/>
        </p:nvSpPr>
        <p:spPr>
          <a:xfrm>
            <a:off x="658368" y="6291072"/>
            <a:ext cx="10872216" cy="10973"/>
          </a:xfrm>
          <a:prstGeom prst="rect">
            <a:avLst/>
          </a:prstGeom>
          <a:solidFill>
            <a:srgbClr val="D9D9D3"/>
          </a:solidFill>
          <a:ln w="10160">
            <a:solidFill>
              <a:srgbClr val="D9D9D3">
                <a:alpha val="0"/>
              </a:srgbClr>
            </a:solidFill>
            <a:prstDash val="solid"/>
          </a:ln>
        </p:spPr>
      </p:sp>
      <p:sp>
        <p:nvSpPr>
          <p:cNvPr id="16" name="Text 14"/>
          <p:cNvSpPr/>
          <p:nvPr/>
        </p:nvSpPr>
        <p:spPr>
          <a:xfrm>
            <a:off x="685800" y="6400800"/>
            <a:ext cx="2286000" cy="256032"/>
          </a:xfrm>
          <a:prstGeom prst="rect">
            <a:avLst/>
          </a:prstGeom>
          <a:noFill/>
          <a:ln/>
        </p:spPr>
        <p:txBody>
          <a:bodyPr wrap="square" lIns="0" tIns="0" rIns="0" bIns="0" rtlCol="0" anchor="t"/>
          <a:lstStyle/>
          <a:p>
            <a:pP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宪法学 · 第8讲</a:t>
            </a:r>
            <a:endParaRPr lang="en-US" sz="1100" dirty="0"/>
          </a:p>
        </p:txBody>
      </p:sp>
      <p:sp>
        <p:nvSpPr>
          <p:cNvPr id="17" name="Text 15"/>
          <p:cNvSpPr/>
          <p:nvPr/>
        </p:nvSpPr>
        <p:spPr>
          <a:xfrm>
            <a:off x="3154680" y="6400800"/>
            <a:ext cx="6720840" cy="256032"/>
          </a:xfrm>
          <a:prstGeom prst="rect">
            <a:avLst/>
          </a:prstGeom>
          <a:noFill/>
          <a:ln/>
        </p:spPr>
        <p:txBody>
          <a:bodyPr wrap="square" lIns="0" tIns="0" rIns="0" bIns="0" rtlCol="0" anchor="t"/>
          <a:lstStyle/>
          <a:p>
            <a:pPr algn="ct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前七讲衔接；本讲教学目标</a:t>
            </a:r>
            <a:endParaRPr lang="en-US" sz="1100" dirty="0"/>
          </a:p>
        </p:txBody>
      </p:sp>
      <p:sp>
        <p:nvSpPr>
          <p:cNvPr id="18" name="Text 16"/>
          <p:cNvSpPr/>
          <p:nvPr/>
        </p:nvSpPr>
        <p:spPr>
          <a:xfrm>
            <a:off x="10195560" y="6400800"/>
            <a:ext cx="1325880" cy="256032"/>
          </a:xfrm>
          <a:prstGeom prst="rect">
            <a:avLst/>
          </a:prstGeom>
          <a:noFill/>
          <a:ln/>
        </p:spPr>
        <p:txBody>
          <a:bodyPr wrap="square" lIns="0" tIns="0" rIns="0" bIns="0" rtlCol="0" anchor="t"/>
          <a:lstStyle/>
          <a:p>
            <a:pPr algn="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2 / 24</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713232" y="475488"/>
            <a:ext cx="10744200" cy="594360"/>
          </a:xfrm>
          <a:prstGeom prst="rect">
            <a:avLst/>
          </a:prstGeom>
          <a:noFill/>
          <a:ln/>
        </p:spPr>
        <p:txBody>
          <a:bodyPr wrap="square" lIns="0" tIns="0" rIns="0" bIns="0" rtlCol="0" anchor="t"/>
          <a:lstStyle/>
          <a:p>
            <a:pPr indent="0" marL="0">
              <a:lnSpc>
                <a:spcPct val="108000"/>
              </a:lnSpc>
              <a:buNone/>
            </a:pPr>
            <a:r>
              <a:rPr lang="en-US" sz="3200" b="1" dirty="0">
                <a:solidFill>
                  <a:srgbClr val="142735"/>
                </a:solidFill>
                <a:latin typeface="Microsoft YaHei" pitchFamily="34" charset="0"/>
                <a:ea typeface="Microsoft YaHei" pitchFamily="34" charset="-122"/>
                <a:cs typeface="Microsoft YaHei" pitchFamily="34" charset="-120"/>
              </a:rPr>
              <a:t>案例甲：先看被质疑的规定</a:t>
            </a:r>
            <a:endParaRPr lang="en-US" sz="3200" dirty="0"/>
          </a:p>
        </p:txBody>
      </p:sp>
      <p:sp>
        <p:nvSpPr>
          <p:cNvPr id="3" name="Text 1"/>
          <p:cNvSpPr/>
          <p:nvPr/>
        </p:nvSpPr>
        <p:spPr>
          <a:xfrm>
            <a:off x="731520" y="1170432"/>
            <a:ext cx="10698480" cy="384048"/>
          </a:xfrm>
          <a:prstGeom prst="rect">
            <a:avLst/>
          </a:prstGeom>
          <a:noFill/>
          <a:ln/>
        </p:spPr>
        <p:txBody>
          <a:bodyPr wrap="square" lIns="0" tIns="0" rIns="0" bIns="0" rtlCol="0" anchor="t"/>
          <a:lstStyle/>
          <a:p>
            <a:pPr indent="0" marL="0">
              <a:lnSpc>
                <a:spcPct val="108000"/>
              </a:lnSpc>
              <a:buNone/>
            </a:pPr>
            <a:r>
              <a:rPr lang="en-US" sz="1600" dirty="0">
                <a:solidFill>
                  <a:srgbClr val="64717A"/>
                </a:solidFill>
                <a:latin typeface="Microsoft YaHei" pitchFamily="34" charset="0"/>
                <a:ea typeface="Microsoft YaHei" pitchFamily="34" charset="-122"/>
                <a:cs typeface="Microsoft YaHei" pitchFamily="34" charset="-120"/>
              </a:rPr>
              <a:t>阅读甲卡，先判断对象与影响。</a:t>
            </a:r>
            <a:endParaRPr lang="en-US" sz="1600" dirty="0"/>
          </a:p>
        </p:txBody>
      </p:sp>
      <p:sp>
        <p:nvSpPr>
          <p:cNvPr id="4" name="Shape 2"/>
          <p:cNvSpPr/>
          <p:nvPr/>
        </p:nvSpPr>
        <p:spPr>
          <a:xfrm>
            <a:off x="768096" y="1773936"/>
            <a:ext cx="10652760" cy="3090672"/>
          </a:xfrm>
          <a:prstGeom prst="rect">
            <a:avLst/>
          </a:prstGeom>
          <a:solidFill>
            <a:srgbClr val="FFFFFF"/>
          </a:solidFill>
          <a:ln w="10160">
            <a:solidFill>
              <a:srgbClr val="D9D9D3"/>
            </a:solidFill>
            <a:prstDash val="solid"/>
          </a:ln>
        </p:spPr>
      </p:sp>
      <p:sp>
        <p:nvSpPr>
          <p:cNvPr id="5" name="Text 3"/>
          <p:cNvSpPr/>
          <p:nvPr/>
        </p:nvSpPr>
        <p:spPr>
          <a:xfrm>
            <a:off x="1033272" y="1956816"/>
            <a:ext cx="3657600" cy="283464"/>
          </a:xfrm>
          <a:prstGeom prst="rect">
            <a:avLst/>
          </a:prstGeom>
          <a:noFill/>
          <a:ln/>
        </p:spPr>
        <p:txBody>
          <a:bodyPr wrap="square" lIns="0" tIns="0" rIns="0" bIns="0" rtlCol="0" anchor="t"/>
          <a:lstStyle/>
          <a:p>
            <a:pPr indent="0" marL="0">
              <a:lnSpc>
                <a:spcPct val="108000"/>
              </a:lnSpc>
              <a:buNone/>
            </a:pPr>
            <a:r>
              <a:rPr lang="en-US" sz="1400" b="1" dirty="0">
                <a:solidFill>
                  <a:srgbClr val="B13D38"/>
                </a:solidFill>
                <a:latin typeface="Microsoft YaHei" pitchFamily="34" charset="0"/>
                <a:ea typeface="Microsoft YaHei" pitchFamily="34" charset="-122"/>
                <a:cs typeface="Microsoft YaHei" pitchFamily="34" charset="-120"/>
              </a:rPr>
              <a:t>报告节录</a:t>
            </a:r>
            <a:endParaRPr lang="en-US" sz="1400" dirty="0"/>
          </a:p>
        </p:txBody>
      </p:sp>
      <p:sp>
        <p:nvSpPr>
          <p:cNvPr id="6" name="Text 4"/>
          <p:cNvSpPr/>
          <p:nvPr/>
        </p:nvSpPr>
        <p:spPr>
          <a:xfrm>
            <a:off x="1033272" y="2423160"/>
            <a:ext cx="10104120" cy="1847088"/>
          </a:xfrm>
          <a:prstGeom prst="rect">
            <a:avLst/>
          </a:prstGeom>
          <a:noFill/>
          <a:ln/>
        </p:spPr>
        <p:txBody>
          <a:bodyPr wrap="square" lIns="0" tIns="0" rIns="0" bIns="0" rtlCol="0" anchor="t"/>
          <a:lstStyle/>
          <a:p>
            <a:pPr indent="0" marL="0">
              <a:lnSpc>
                <a:spcPct val="108000"/>
              </a:lnSpc>
              <a:buNone/>
            </a:pPr>
            <a:r>
              <a:rPr lang="en-US" sz="2600" dirty="0">
                <a:solidFill>
                  <a:srgbClr val="142735"/>
                </a:solidFill>
                <a:latin typeface="Microsoft YaHei" pitchFamily="34" charset="0"/>
                <a:ea typeface="Microsoft YaHei" pitchFamily="34" charset="-122"/>
                <a:cs typeface="Microsoft YaHei" pitchFamily="34" charset="-120"/>
              </a:rPr>
              <a:t>有的</a:t>
            </a:r>
            <a:pPr indent="0" marL="0">
              <a:lnSpc>
                <a:spcPct val="108000"/>
              </a:lnSpc>
              <a:buNone/>
            </a:pPr>
            <a:r>
              <a:rPr lang="en-US" sz="2600" b="1" dirty="0">
                <a:solidFill>
                  <a:srgbClr val="B13D38"/>
                </a:solidFill>
                <a:latin typeface="Microsoft YaHei" pitchFamily="34" charset="0"/>
                <a:ea typeface="Microsoft YaHei" pitchFamily="34" charset="-122"/>
                <a:cs typeface="Microsoft YaHei" pitchFamily="34" charset="-120"/>
              </a:rPr>
              <a:t>地方性法规</a:t>
            </a:r>
            <a:pPr indent="0" marL="0">
              <a:lnSpc>
                <a:spcPct val="108000"/>
              </a:lnSpc>
              <a:buNone/>
            </a:pPr>
            <a:r>
              <a:rPr lang="en-US" sz="2600" dirty="0">
                <a:solidFill>
                  <a:srgbClr val="142735"/>
                </a:solidFill>
                <a:latin typeface="Microsoft YaHei" pitchFamily="34" charset="0"/>
                <a:ea typeface="Microsoft YaHei" pitchFamily="34" charset="-122"/>
                <a:cs typeface="Microsoft YaHei" pitchFamily="34" charset="-120"/>
              </a:rPr>
              <a:t>规定，开锁、公章刻制、信托寄卖、金银首饰加工、废旧金属收购等特种行业从业人员利用该行业便利进行违法活动受过行政或刑事处罚的，</a:t>
            </a:r>
            <a:pPr indent="0" marL="0">
              <a:lnSpc>
                <a:spcPct val="108000"/>
              </a:lnSpc>
              <a:buNone/>
            </a:pPr>
            <a:r>
              <a:rPr lang="en-US" sz="2600" b="1" dirty="0">
                <a:solidFill>
                  <a:srgbClr val="B13D38"/>
                </a:solidFill>
                <a:latin typeface="Microsoft YaHei" pitchFamily="34" charset="0"/>
                <a:ea typeface="Microsoft YaHei" pitchFamily="34" charset="-122"/>
                <a:cs typeface="Microsoft YaHei" pitchFamily="34" charset="-120"/>
              </a:rPr>
              <a:t>终身不得从事该行业</a:t>
            </a:r>
            <a:pPr indent="0" marL="0">
              <a:lnSpc>
                <a:spcPct val="108000"/>
              </a:lnSpc>
              <a:buNone/>
            </a:pPr>
            <a:r>
              <a:rPr lang="en-US" sz="2600" dirty="0">
                <a:solidFill>
                  <a:srgbClr val="142735"/>
                </a:solidFill>
                <a:latin typeface="Microsoft YaHei" pitchFamily="34" charset="0"/>
                <a:ea typeface="Microsoft YaHei" pitchFamily="34" charset="-122"/>
                <a:cs typeface="Microsoft YaHei" pitchFamily="34" charset="-120"/>
              </a:rPr>
              <a:t>。有公民对此规定提出审查建议。</a:t>
            </a:r>
            <a:endParaRPr lang="en-US" sz="2600" dirty="0"/>
          </a:p>
        </p:txBody>
      </p:sp>
      <p:sp>
        <p:nvSpPr>
          <p:cNvPr id="7" name="Text 5"/>
          <p:cNvSpPr/>
          <p:nvPr/>
        </p:nvSpPr>
        <p:spPr>
          <a:xfrm>
            <a:off x="1042416" y="4416552"/>
            <a:ext cx="10104120" cy="274320"/>
          </a:xfrm>
          <a:prstGeom prst="rect">
            <a:avLst/>
          </a:prstGeom>
          <a:noFill/>
          <a:ln/>
        </p:spPr>
        <p:txBody>
          <a:bodyPr wrap="square" lIns="0" tIns="0" rIns="0" bIns="0" rtlCol="0" anchor="t"/>
          <a:lstStyle/>
          <a:p>
            <a:pPr algn="r" indent="0" marL="0">
              <a:lnSpc>
                <a:spcPct val="108000"/>
              </a:lnSpc>
              <a:buNone/>
            </a:pPr>
            <a:r>
              <a:rPr lang="en-US" sz="1400" dirty="0">
                <a:solidFill>
                  <a:srgbClr val="64717A"/>
                </a:solidFill>
                <a:latin typeface="Microsoft YaHei" pitchFamily="34" charset="0"/>
                <a:ea typeface="Microsoft YaHei" pitchFamily="34" charset="-122"/>
                <a:cs typeface="Microsoft YaHei" pitchFamily="34" charset="-120"/>
              </a:rPr>
              <a:t>2021年备案审查报告</a:t>
            </a:r>
            <a:endParaRPr lang="en-US" sz="1400" dirty="0"/>
          </a:p>
        </p:txBody>
      </p:sp>
      <p:sp>
        <p:nvSpPr>
          <p:cNvPr id="8" name="Text 6"/>
          <p:cNvSpPr/>
          <p:nvPr/>
        </p:nvSpPr>
        <p:spPr>
          <a:xfrm>
            <a:off x="868680" y="5202936"/>
            <a:ext cx="10378440" cy="777240"/>
          </a:xfrm>
          <a:prstGeom prst="rect">
            <a:avLst/>
          </a:prstGeom>
          <a:noFill/>
          <a:ln/>
        </p:spPr>
        <p:txBody>
          <a:bodyPr wrap="square" lIns="0" tIns="0" rIns="0" bIns="0" rtlCol="0" anchor="t"/>
          <a:lstStyle/>
          <a:p>
            <a:pP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被质疑的是什么？这项限制希望维护什么利益，又会带来什么影响？</a:t>
            </a:r>
            <a:endParaRPr lang="en-US" sz="2200" dirty="0"/>
          </a:p>
        </p:txBody>
      </p:sp>
      <p:sp>
        <p:nvSpPr>
          <p:cNvPr id="9" name="Shape 7"/>
          <p:cNvSpPr/>
          <p:nvPr/>
        </p:nvSpPr>
        <p:spPr>
          <a:xfrm>
            <a:off x="658368" y="6291072"/>
            <a:ext cx="10872216" cy="10973"/>
          </a:xfrm>
          <a:prstGeom prst="rect">
            <a:avLst/>
          </a:prstGeom>
          <a:solidFill>
            <a:srgbClr val="D9D9D3"/>
          </a:solidFill>
          <a:ln w="10160">
            <a:solidFill>
              <a:srgbClr val="D9D9D3">
                <a:alpha val="0"/>
              </a:srgbClr>
            </a:solidFill>
            <a:prstDash val="solid"/>
          </a:ln>
        </p:spPr>
      </p:sp>
      <p:sp>
        <p:nvSpPr>
          <p:cNvPr id="10" name="Text 8"/>
          <p:cNvSpPr/>
          <p:nvPr/>
        </p:nvSpPr>
        <p:spPr>
          <a:xfrm>
            <a:off x="685800" y="6400800"/>
            <a:ext cx="2286000" cy="256032"/>
          </a:xfrm>
          <a:prstGeom prst="rect">
            <a:avLst/>
          </a:prstGeom>
          <a:noFill/>
          <a:ln/>
        </p:spPr>
        <p:txBody>
          <a:bodyPr wrap="square" lIns="0" tIns="0" rIns="0" bIns="0" rtlCol="0" anchor="t"/>
          <a:lstStyle/>
          <a:p>
            <a:pP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宪法学 · 第8讲</a:t>
            </a:r>
            <a:endParaRPr lang="en-US" sz="1100" dirty="0"/>
          </a:p>
        </p:txBody>
      </p:sp>
      <p:sp>
        <p:nvSpPr>
          <p:cNvPr id="11" name="Text 9"/>
          <p:cNvSpPr/>
          <p:nvPr/>
        </p:nvSpPr>
        <p:spPr>
          <a:xfrm>
            <a:off x="3154680" y="6400800"/>
            <a:ext cx="6720840" cy="256032"/>
          </a:xfrm>
          <a:prstGeom prst="rect">
            <a:avLst/>
          </a:prstGeom>
          <a:noFill/>
          <a:ln/>
        </p:spPr>
        <p:txBody>
          <a:bodyPr wrap="square" lIns="0" tIns="0" rIns="0" bIns="0" rtlCol="0" anchor="t"/>
          <a:lstStyle/>
          <a:p>
            <a:pPr algn="ct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2021年备案审查报告；《常委会公报》2022年第1号，第246页</a:t>
            </a:r>
            <a:endParaRPr lang="en-US" sz="1100" dirty="0"/>
          </a:p>
        </p:txBody>
      </p:sp>
      <p:sp>
        <p:nvSpPr>
          <p:cNvPr id="12" name="Text 10"/>
          <p:cNvSpPr/>
          <p:nvPr/>
        </p:nvSpPr>
        <p:spPr>
          <a:xfrm>
            <a:off x="10195560" y="6400800"/>
            <a:ext cx="1325880" cy="256032"/>
          </a:xfrm>
          <a:prstGeom prst="rect">
            <a:avLst/>
          </a:prstGeom>
          <a:noFill/>
          <a:ln/>
        </p:spPr>
        <p:txBody>
          <a:bodyPr wrap="square" lIns="0" tIns="0" rIns="0" bIns="0" rtlCol="0" anchor="t"/>
          <a:lstStyle/>
          <a:p>
            <a:pPr algn="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3 / 24</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713232" y="475488"/>
            <a:ext cx="10744200" cy="594360"/>
          </a:xfrm>
          <a:prstGeom prst="rect">
            <a:avLst/>
          </a:prstGeom>
          <a:noFill/>
          <a:ln/>
        </p:spPr>
        <p:txBody>
          <a:bodyPr wrap="square" lIns="0" tIns="0" rIns="0" bIns="0" rtlCol="0" anchor="t"/>
          <a:lstStyle/>
          <a:p>
            <a:pPr indent="0" marL="0">
              <a:lnSpc>
                <a:spcPct val="108000"/>
              </a:lnSpc>
              <a:buNone/>
            </a:pPr>
            <a:r>
              <a:rPr lang="en-US" sz="3200" b="1" dirty="0">
                <a:solidFill>
                  <a:srgbClr val="142735"/>
                </a:solidFill>
                <a:latin typeface="Microsoft YaHei" pitchFamily="34" charset="0"/>
                <a:ea typeface="Microsoft YaHei" pitchFamily="34" charset="-122"/>
                <a:cs typeface="Microsoft YaHei" pitchFamily="34" charset="-120"/>
              </a:rPr>
              <a:t>任务一：法律怎样落实宪法要求？</a:t>
            </a:r>
            <a:endParaRPr lang="en-US" sz="3200" dirty="0"/>
          </a:p>
        </p:txBody>
      </p:sp>
      <p:sp>
        <p:nvSpPr>
          <p:cNvPr id="3" name="Text 1"/>
          <p:cNvSpPr/>
          <p:nvPr/>
        </p:nvSpPr>
        <p:spPr>
          <a:xfrm>
            <a:off x="731520" y="1170432"/>
            <a:ext cx="10698480" cy="384048"/>
          </a:xfrm>
          <a:prstGeom prst="rect">
            <a:avLst/>
          </a:prstGeom>
          <a:noFill/>
          <a:ln/>
        </p:spPr>
        <p:txBody>
          <a:bodyPr wrap="square" lIns="0" tIns="0" rIns="0" bIns="0" rtlCol="0" anchor="t"/>
          <a:lstStyle/>
          <a:p>
            <a:pPr indent="0" marL="0">
              <a:lnSpc>
                <a:spcPct val="108000"/>
              </a:lnSpc>
              <a:buNone/>
            </a:pPr>
            <a:r>
              <a:rPr lang="en-US" sz="1600" dirty="0">
                <a:solidFill>
                  <a:srgbClr val="64717A"/>
                </a:solidFill>
                <a:latin typeface="Microsoft YaHei" pitchFamily="34" charset="0"/>
                <a:ea typeface="Microsoft YaHei" pitchFamily="34" charset="-122"/>
                <a:cs typeface="Microsoft YaHei" pitchFamily="34" charset="-120"/>
              </a:rPr>
              <a:t>并读三处条文，完成学生材料一。</a:t>
            </a:r>
            <a:endParaRPr lang="en-US" sz="1600" dirty="0"/>
          </a:p>
        </p:txBody>
      </p:sp>
      <p:sp>
        <p:nvSpPr>
          <p:cNvPr id="4" name="Shape 2"/>
          <p:cNvSpPr/>
          <p:nvPr/>
        </p:nvSpPr>
        <p:spPr>
          <a:xfrm>
            <a:off x="768096" y="1773936"/>
            <a:ext cx="3398520" cy="3264408"/>
          </a:xfrm>
          <a:prstGeom prst="rect">
            <a:avLst/>
          </a:prstGeom>
          <a:solidFill>
            <a:srgbClr val="FFFFFF"/>
          </a:solidFill>
          <a:ln w="10160">
            <a:solidFill>
              <a:srgbClr val="D9D9D3"/>
            </a:solidFill>
            <a:prstDash val="solid"/>
          </a:ln>
        </p:spPr>
      </p:sp>
      <p:sp>
        <p:nvSpPr>
          <p:cNvPr id="5" name="Text 3"/>
          <p:cNvSpPr/>
          <p:nvPr/>
        </p:nvSpPr>
        <p:spPr>
          <a:xfrm>
            <a:off x="996696" y="1984248"/>
            <a:ext cx="2941320" cy="676656"/>
          </a:xfrm>
          <a:prstGeom prst="rect">
            <a:avLst/>
          </a:prstGeom>
          <a:noFill/>
          <a:ln/>
        </p:spPr>
        <p:txBody>
          <a:bodyPr wrap="square" lIns="0" tIns="0" rIns="0" bIns="0" rtlCol="0" anchor="t"/>
          <a:lstStyle/>
          <a:p>
            <a:pPr indent="0" marL="0">
              <a:lnSpc>
                <a:spcPct val="108000"/>
              </a:lnSpc>
              <a:buNone/>
            </a:pPr>
            <a:r>
              <a:rPr lang="en-US" sz="2400" b="1" dirty="0">
                <a:solidFill>
                  <a:srgbClr val="B13D38"/>
                </a:solidFill>
                <a:latin typeface="Microsoft YaHei" pitchFamily="34" charset="0"/>
                <a:ea typeface="Microsoft YaHei" pitchFamily="34" charset="-122"/>
                <a:cs typeface="Microsoft YaHei" pitchFamily="34" charset="-120"/>
              </a:rPr>
              <a:t>宪法第46条第1款</a:t>
            </a:r>
            <a:endParaRPr lang="en-US" sz="2400" dirty="0"/>
          </a:p>
        </p:txBody>
      </p:sp>
      <p:sp>
        <p:nvSpPr>
          <p:cNvPr id="6" name="Text 4"/>
          <p:cNvSpPr/>
          <p:nvPr/>
        </p:nvSpPr>
        <p:spPr>
          <a:xfrm>
            <a:off x="996696" y="2852928"/>
            <a:ext cx="2941320" cy="1965960"/>
          </a:xfrm>
          <a:prstGeom prst="rect">
            <a:avLst/>
          </a:prstGeom>
          <a:noFill/>
          <a:ln/>
        </p:spPr>
        <p:txBody>
          <a:bodyPr wrap="square" lIns="0" tIns="0" rIns="0" bIns="0" rtlCol="0" anchor="t"/>
          <a:lstStyle/>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中华人民共和国公民有受教育的权利和义务。</a:t>
            </a:r>
            <a:endParaRPr lang="en-US" sz="2200" dirty="0"/>
          </a:p>
        </p:txBody>
      </p:sp>
      <p:sp>
        <p:nvSpPr>
          <p:cNvPr id="7" name="Shape 5"/>
          <p:cNvSpPr/>
          <p:nvPr/>
        </p:nvSpPr>
        <p:spPr>
          <a:xfrm>
            <a:off x="4395216" y="1773936"/>
            <a:ext cx="3398520" cy="3264408"/>
          </a:xfrm>
          <a:prstGeom prst="rect">
            <a:avLst/>
          </a:prstGeom>
          <a:solidFill>
            <a:srgbClr val="FFFFFF"/>
          </a:solidFill>
          <a:ln w="10160">
            <a:solidFill>
              <a:srgbClr val="D9D9D3"/>
            </a:solidFill>
            <a:prstDash val="solid"/>
          </a:ln>
        </p:spPr>
      </p:sp>
      <p:sp>
        <p:nvSpPr>
          <p:cNvPr id="8" name="Text 6"/>
          <p:cNvSpPr/>
          <p:nvPr/>
        </p:nvSpPr>
        <p:spPr>
          <a:xfrm>
            <a:off x="4623816" y="1984248"/>
            <a:ext cx="2941320" cy="676656"/>
          </a:xfrm>
          <a:prstGeom prst="rect">
            <a:avLst/>
          </a:prstGeom>
          <a:noFill/>
          <a:ln/>
        </p:spPr>
        <p:txBody>
          <a:bodyPr wrap="square" lIns="0" tIns="0" rIns="0" bIns="0" rtlCol="0" anchor="t"/>
          <a:lstStyle/>
          <a:p>
            <a:pPr indent="0" marL="0">
              <a:lnSpc>
                <a:spcPct val="108000"/>
              </a:lnSpc>
              <a:buNone/>
            </a:pPr>
            <a:r>
              <a:rPr lang="en-US" sz="2400" b="1" dirty="0">
                <a:solidFill>
                  <a:srgbClr val="B13D38"/>
                </a:solidFill>
                <a:latin typeface="Microsoft YaHei" pitchFamily="34" charset="0"/>
                <a:ea typeface="Microsoft YaHei" pitchFamily="34" charset="-122"/>
                <a:cs typeface="Microsoft YaHei" pitchFamily="34" charset="-120"/>
              </a:rPr>
              <a:t>教育法第1条</a:t>
            </a:r>
            <a:endParaRPr lang="en-US" sz="2400" dirty="0"/>
          </a:p>
        </p:txBody>
      </p:sp>
      <p:sp>
        <p:nvSpPr>
          <p:cNvPr id="9" name="Text 7"/>
          <p:cNvSpPr/>
          <p:nvPr/>
        </p:nvSpPr>
        <p:spPr>
          <a:xfrm>
            <a:off x="4623816" y="2852928"/>
            <a:ext cx="2941320" cy="1965960"/>
          </a:xfrm>
          <a:prstGeom prst="rect">
            <a:avLst/>
          </a:prstGeom>
          <a:noFill/>
          <a:ln/>
        </p:spPr>
        <p:txBody>
          <a:bodyPr wrap="square" lIns="0" tIns="0" rIns="0" bIns="0" rtlCol="0" anchor="t"/>
          <a:lstStyle/>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为了发展教育事业，提高全民族的素质，促进社会主义物质文明和精神文明建设，根据宪法，制定本法。</a:t>
            </a:r>
            <a:endParaRPr lang="en-US" sz="2200" dirty="0"/>
          </a:p>
        </p:txBody>
      </p:sp>
      <p:sp>
        <p:nvSpPr>
          <p:cNvPr id="10" name="Shape 8"/>
          <p:cNvSpPr/>
          <p:nvPr/>
        </p:nvSpPr>
        <p:spPr>
          <a:xfrm>
            <a:off x="8022336" y="1773936"/>
            <a:ext cx="3398520" cy="3264408"/>
          </a:xfrm>
          <a:prstGeom prst="rect">
            <a:avLst/>
          </a:prstGeom>
          <a:solidFill>
            <a:srgbClr val="FFFFFF"/>
          </a:solidFill>
          <a:ln w="10160">
            <a:solidFill>
              <a:srgbClr val="D9D9D3"/>
            </a:solidFill>
            <a:prstDash val="solid"/>
          </a:ln>
        </p:spPr>
      </p:sp>
      <p:sp>
        <p:nvSpPr>
          <p:cNvPr id="11" name="Text 9"/>
          <p:cNvSpPr/>
          <p:nvPr/>
        </p:nvSpPr>
        <p:spPr>
          <a:xfrm>
            <a:off x="8250936" y="1984248"/>
            <a:ext cx="2941320" cy="676656"/>
          </a:xfrm>
          <a:prstGeom prst="rect">
            <a:avLst/>
          </a:prstGeom>
          <a:noFill/>
          <a:ln/>
        </p:spPr>
        <p:txBody>
          <a:bodyPr wrap="square" lIns="0" tIns="0" rIns="0" bIns="0" rtlCol="0" anchor="t"/>
          <a:lstStyle/>
          <a:p>
            <a:pPr indent="0" marL="0">
              <a:lnSpc>
                <a:spcPct val="108000"/>
              </a:lnSpc>
              <a:buNone/>
            </a:pPr>
            <a:r>
              <a:rPr lang="en-US" sz="2400" b="1" dirty="0">
                <a:solidFill>
                  <a:srgbClr val="B13D38"/>
                </a:solidFill>
                <a:latin typeface="Microsoft YaHei" pitchFamily="34" charset="0"/>
                <a:ea typeface="Microsoft YaHei" pitchFamily="34" charset="-122"/>
                <a:cs typeface="Microsoft YaHei" pitchFamily="34" charset="-120"/>
              </a:rPr>
              <a:t>教育法第9条第2款</a:t>
            </a:r>
            <a:endParaRPr lang="en-US" sz="2400" dirty="0"/>
          </a:p>
        </p:txBody>
      </p:sp>
      <p:sp>
        <p:nvSpPr>
          <p:cNvPr id="12" name="Text 10"/>
          <p:cNvSpPr/>
          <p:nvPr/>
        </p:nvSpPr>
        <p:spPr>
          <a:xfrm>
            <a:off x="8250936" y="2852928"/>
            <a:ext cx="2941320" cy="1965960"/>
          </a:xfrm>
          <a:prstGeom prst="rect">
            <a:avLst/>
          </a:prstGeom>
          <a:noFill/>
          <a:ln/>
        </p:spPr>
        <p:txBody>
          <a:bodyPr wrap="square" lIns="0" tIns="0" rIns="0" bIns="0" rtlCol="0" anchor="t"/>
          <a:lstStyle/>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公民不分民族、种族、性别、职业、财产状况、宗教信仰等，依法享有平等的受教育机会。</a:t>
            </a:r>
            <a:endParaRPr lang="en-US" sz="2200" dirty="0"/>
          </a:p>
        </p:txBody>
      </p:sp>
      <p:sp>
        <p:nvSpPr>
          <p:cNvPr id="13" name="Shape 11"/>
          <p:cNvSpPr/>
          <p:nvPr/>
        </p:nvSpPr>
        <p:spPr>
          <a:xfrm>
            <a:off x="768096" y="5358384"/>
            <a:ext cx="10652760" cy="621792"/>
          </a:xfrm>
          <a:prstGeom prst="rect">
            <a:avLst/>
          </a:prstGeom>
          <a:solidFill>
            <a:srgbClr val="EEEAE1"/>
          </a:solidFill>
          <a:ln w="10160">
            <a:solidFill>
              <a:srgbClr val="EEEAE1">
                <a:alpha val="0"/>
              </a:srgbClr>
            </a:solidFill>
            <a:prstDash val="solid"/>
          </a:ln>
        </p:spPr>
      </p:sp>
      <p:sp>
        <p:nvSpPr>
          <p:cNvPr id="14" name="Text 12"/>
          <p:cNvSpPr/>
          <p:nvPr/>
        </p:nvSpPr>
        <p:spPr>
          <a:xfrm>
            <a:off x="987552" y="5477256"/>
            <a:ext cx="10213848" cy="384048"/>
          </a:xfrm>
          <a:prstGeom prst="rect">
            <a:avLst/>
          </a:prstGeom>
          <a:noFill/>
          <a:ln/>
        </p:spPr>
        <p:txBody>
          <a:bodyPr wrap="square" lIns="0" tIns="0" rIns="0" bIns="0" rtlCol="0" anchor="t"/>
          <a:lstStyle/>
          <a:p>
            <a:pP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先作答：宪法确认了什么？教育法进一步写出了什么？</a:t>
            </a:r>
            <a:endParaRPr lang="en-US" sz="2200" dirty="0"/>
          </a:p>
        </p:txBody>
      </p:sp>
      <p:sp>
        <p:nvSpPr>
          <p:cNvPr id="15" name="Shape 13"/>
          <p:cNvSpPr/>
          <p:nvPr/>
        </p:nvSpPr>
        <p:spPr>
          <a:xfrm>
            <a:off x="658368" y="6291072"/>
            <a:ext cx="10872216" cy="10973"/>
          </a:xfrm>
          <a:prstGeom prst="rect">
            <a:avLst/>
          </a:prstGeom>
          <a:solidFill>
            <a:srgbClr val="D9D9D3"/>
          </a:solidFill>
          <a:ln w="10160">
            <a:solidFill>
              <a:srgbClr val="D9D9D3">
                <a:alpha val="0"/>
              </a:srgbClr>
            </a:solidFill>
            <a:prstDash val="solid"/>
          </a:ln>
        </p:spPr>
      </p:sp>
      <p:sp>
        <p:nvSpPr>
          <p:cNvPr id="16" name="Text 14"/>
          <p:cNvSpPr/>
          <p:nvPr/>
        </p:nvSpPr>
        <p:spPr>
          <a:xfrm>
            <a:off x="685800" y="6400800"/>
            <a:ext cx="2286000" cy="256032"/>
          </a:xfrm>
          <a:prstGeom prst="rect">
            <a:avLst/>
          </a:prstGeom>
          <a:noFill/>
          <a:ln/>
        </p:spPr>
        <p:txBody>
          <a:bodyPr wrap="square" lIns="0" tIns="0" rIns="0" bIns="0" rtlCol="0" anchor="t"/>
          <a:lstStyle/>
          <a:p>
            <a:pP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宪法学 · 第8讲</a:t>
            </a:r>
            <a:endParaRPr lang="en-US" sz="1100" dirty="0"/>
          </a:p>
        </p:txBody>
      </p:sp>
      <p:sp>
        <p:nvSpPr>
          <p:cNvPr id="17" name="Text 15"/>
          <p:cNvSpPr/>
          <p:nvPr/>
        </p:nvSpPr>
        <p:spPr>
          <a:xfrm>
            <a:off x="3154680" y="6400800"/>
            <a:ext cx="6720840" cy="256032"/>
          </a:xfrm>
          <a:prstGeom prst="rect">
            <a:avLst/>
          </a:prstGeom>
          <a:noFill/>
          <a:ln/>
        </p:spPr>
        <p:txBody>
          <a:bodyPr wrap="square" lIns="0" tIns="0" rIns="0" bIns="0" rtlCol="0" anchor="t"/>
          <a:lstStyle/>
          <a:p>
            <a:pPr algn="ct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《宪法》第46条；《教育法》第1、9条（节录）</a:t>
            </a:r>
            <a:endParaRPr lang="en-US" sz="1100" dirty="0"/>
          </a:p>
        </p:txBody>
      </p:sp>
      <p:sp>
        <p:nvSpPr>
          <p:cNvPr id="18" name="Text 16"/>
          <p:cNvSpPr/>
          <p:nvPr/>
        </p:nvSpPr>
        <p:spPr>
          <a:xfrm>
            <a:off x="10195560" y="6400800"/>
            <a:ext cx="1325880" cy="256032"/>
          </a:xfrm>
          <a:prstGeom prst="rect">
            <a:avLst/>
          </a:prstGeom>
          <a:noFill/>
          <a:ln/>
        </p:spPr>
        <p:txBody>
          <a:bodyPr wrap="square" lIns="0" tIns="0" rIns="0" bIns="0" rtlCol="0" anchor="t"/>
          <a:lstStyle/>
          <a:p>
            <a:pPr algn="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4 / 24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713232" y="475488"/>
            <a:ext cx="10744200" cy="594360"/>
          </a:xfrm>
          <a:prstGeom prst="rect">
            <a:avLst/>
          </a:prstGeom>
          <a:noFill/>
          <a:ln/>
        </p:spPr>
        <p:txBody>
          <a:bodyPr wrap="square" lIns="0" tIns="0" rIns="0" bIns="0" rtlCol="0" anchor="t"/>
          <a:lstStyle/>
          <a:p>
            <a:pPr indent="0" marL="0">
              <a:lnSpc>
                <a:spcPct val="108000"/>
              </a:lnSpc>
              <a:buNone/>
            </a:pPr>
            <a:r>
              <a:rPr lang="en-US" sz="3200" b="1" dirty="0">
                <a:solidFill>
                  <a:srgbClr val="142735"/>
                </a:solidFill>
                <a:latin typeface="Microsoft YaHei" pitchFamily="34" charset="0"/>
                <a:ea typeface="Microsoft YaHei" pitchFamily="34" charset="-122"/>
                <a:cs typeface="Microsoft YaHei" pitchFamily="34" charset="-120"/>
              </a:rPr>
              <a:t>讲评：把权利要求展开为制度</a:t>
            </a:r>
            <a:endParaRPr lang="en-US" sz="3200" dirty="0"/>
          </a:p>
        </p:txBody>
      </p:sp>
      <p:sp>
        <p:nvSpPr>
          <p:cNvPr id="3" name="Text 1"/>
          <p:cNvSpPr/>
          <p:nvPr/>
        </p:nvSpPr>
        <p:spPr>
          <a:xfrm>
            <a:off x="731520" y="1170432"/>
            <a:ext cx="10698480" cy="384048"/>
          </a:xfrm>
          <a:prstGeom prst="rect">
            <a:avLst/>
          </a:prstGeom>
          <a:noFill/>
          <a:ln/>
        </p:spPr>
        <p:txBody>
          <a:bodyPr wrap="square" lIns="0" tIns="0" rIns="0" bIns="0" rtlCol="0" anchor="t"/>
          <a:lstStyle/>
          <a:p>
            <a:pPr indent="0" marL="0">
              <a:lnSpc>
                <a:spcPct val="108000"/>
              </a:lnSpc>
              <a:buNone/>
            </a:pPr>
            <a:r>
              <a:rPr lang="en-US" sz="1600" dirty="0">
                <a:solidFill>
                  <a:srgbClr val="64717A"/>
                </a:solidFill>
                <a:latin typeface="Microsoft YaHei" pitchFamily="34" charset="0"/>
                <a:ea typeface="Microsoft YaHei" pitchFamily="34" charset="-122"/>
                <a:cs typeface="Microsoft YaHei" pitchFamily="34" charset="-120"/>
              </a:rPr>
              <a:t>同一项权利，在不同规范中怎样表达？</a:t>
            </a:r>
            <a:endParaRPr lang="en-US" sz="1600" dirty="0"/>
          </a:p>
        </p:txBody>
      </p:sp>
      <p:sp>
        <p:nvSpPr>
          <p:cNvPr id="4" name="Shape 2"/>
          <p:cNvSpPr/>
          <p:nvPr/>
        </p:nvSpPr>
        <p:spPr>
          <a:xfrm>
            <a:off x="768096" y="1773936"/>
            <a:ext cx="5202936" cy="3264408"/>
          </a:xfrm>
          <a:prstGeom prst="rect">
            <a:avLst/>
          </a:prstGeom>
          <a:solidFill>
            <a:srgbClr val="FFFFFF"/>
          </a:solidFill>
          <a:ln w="10160">
            <a:solidFill>
              <a:srgbClr val="D9D9D3"/>
            </a:solidFill>
            <a:prstDash val="solid"/>
          </a:ln>
        </p:spPr>
      </p:sp>
      <p:sp>
        <p:nvSpPr>
          <p:cNvPr id="5" name="Shape 3"/>
          <p:cNvSpPr/>
          <p:nvPr/>
        </p:nvSpPr>
        <p:spPr>
          <a:xfrm>
            <a:off x="768096" y="1773936"/>
            <a:ext cx="5202936" cy="658368"/>
          </a:xfrm>
          <a:prstGeom prst="rect">
            <a:avLst/>
          </a:prstGeom>
          <a:solidFill>
            <a:srgbClr val="142735"/>
          </a:solidFill>
          <a:ln w="10160">
            <a:solidFill>
              <a:srgbClr val="142735">
                <a:alpha val="0"/>
              </a:srgbClr>
            </a:solidFill>
            <a:prstDash val="solid"/>
          </a:ln>
        </p:spPr>
      </p:sp>
      <p:sp>
        <p:nvSpPr>
          <p:cNvPr id="6" name="Text 4"/>
          <p:cNvSpPr/>
          <p:nvPr/>
        </p:nvSpPr>
        <p:spPr>
          <a:xfrm>
            <a:off x="987552" y="1920240"/>
            <a:ext cx="4764024" cy="365760"/>
          </a:xfrm>
          <a:prstGeom prst="rect">
            <a:avLst/>
          </a:prstGeom>
          <a:noFill/>
          <a:ln/>
        </p:spPr>
        <p:txBody>
          <a:bodyPr wrap="square" lIns="0" tIns="0" rIns="0" bIns="0" rtlCol="0" anchor="t"/>
          <a:lstStyle/>
          <a:p>
            <a:pPr indent="0" marL="0">
              <a:lnSpc>
                <a:spcPct val="108000"/>
              </a:lnSpc>
              <a:buNone/>
            </a:pPr>
            <a:r>
              <a:rPr lang="en-US" sz="2400" b="1" dirty="0">
                <a:solidFill>
                  <a:srgbClr val="FFFFFF"/>
                </a:solidFill>
                <a:latin typeface="Microsoft YaHei" pitchFamily="34" charset="0"/>
                <a:ea typeface="Microsoft YaHei" pitchFamily="34" charset="-122"/>
                <a:cs typeface="Microsoft YaHei" pitchFamily="34" charset="-120"/>
              </a:rPr>
              <a:t>宪法确认</a:t>
            </a:r>
            <a:endParaRPr lang="en-US" sz="2400" dirty="0"/>
          </a:p>
        </p:txBody>
      </p:sp>
      <p:sp>
        <p:nvSpPr>
          <p:cNvPr id="7" name="Text 5"/>
          <p:cNvSpPr/>
          <p:nvPr/>
        </p:nvSpPr>
        <p:spPr>
          <a:xfrm>
            <a:off x="1005840" y="2706624"/>
            <a:ext cx="4727448" cy="2139696"/>
          </a:xfrm>
          <a:prstGeom prst="rect">
            <a:avLst/>
          </a:prstGeom>
          <a:noFill/>
          <a:ln/>
        </p:spPr>
        <p:txBody>
          <a:bodyPr wrap="square" lIns="0" tIns="0" rIns="0" bIns="0" rtlCol="0" anchor="t"/>
          <a:lstStyle/>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公民有受教育的权利和义务。</a:t>
            </a:r>
            <a:endParaRPr lang="en-US" sz="2200" dirty="0"/>
          </a:p>
          <a:p>
            <a:pPr indent="0" marL="0">
              <a:lnSpc>
                <a:spcPct val="108000"/>
              </a:lnSpc>
              <a:buNone/>
            </a:pP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宪法自身已经具有最高法律效力。</a:t>
            </a:r>
            <a:endParaRPr lang="en-US" sz="2200" dirty="0"/>
          </a:p>
        </p:txBody>
      </p:sp>
      <p:sp>
        <p:nvSpPr>
          <p:cNvPr id="8" name="Shape 6"/>
          <p:cNvSpPr/>
          <p:nvPr/>
        </p:nvSpPr>
        <p:spPr>
          <a:xfrm>
            <a:off x="6217920" y="1773936"/>
            <a:ext cx="5202936" cy="3264408"/>
          </a:xfrm>
          <a:prstGeom prst="rect">
            <a:avLst/>
          </a:prstGeom>
          <a:solidFill>
            <a:srgbClr val="FFFFFF"/>
          </a:solidFill>
          <a:ln w="10160">
            <a:solidFill>
              <a:srgbClr val="D9D9D3"/>
            </a:solidFill>
            <a:prstDash val="solid"/>
          </a:ln>
        </p:spPr>
      </p:sp>
      <p:sp>
        <p:nvSpPr>
          <p:cNvPr id="9" name="Shape 7"/>
          <p:cNvSpPr/>
          <p:nvPr/>
        </p:nvSpPr>
        <p:spPr>
          <a:xfrm>
            <a:off x="6217920" y="1773936"/>
            <a:ext cx="5202936" cy="658368"/>
          </a:xfrm>
          <a:prstGeom prst="rect">
            <a:avLst/>
          </a:prstGeom>
          <a:solidFill>
            <a:srgbClr val="B13D38"/>
          </a:solidFill>
          <a:ln w="10160">
            <a:solidFill>
              <a:srgbClr val="B13D38">
                <a:alpha val="0"/>
              </a:srgbClr>
            </a:solidFill>
            <a:prstDash val="solid"/>
          </a:ln>
        </p:spPr>
      </p:sp>
      <p:sp>
        <p:nvSpPr>
          <p:cNvPr id="10" name="Text 8"/>
          <p:cNvSpPr/>
          <p:nvPr/>
        </p:nvSpPr>
        <p:spPr>
          <a:xfrm>
            <a:off x="6437376" y="1920240"/>
            <a:ext cx="4764024" cy="365760"/>
          </a:xfrm>
          <a:prstGeom prst="rect">
            <a:avLst/>
          </a:prstGeom>
          <a:noFill/>
          <a:ln/>
        </p:spPr>
        <p:txBody>
          <a:bodyPr wrap="square" lIns="0" tIns="0" rIns="0" bIns="0" rtlCol="0" anchor="t"/>
          <a:lstStyle/>
          <a:p>
            <a:pPr indent="0" marL="0">
              <a:lnSpc>
                <a:spcPct val="108000"/>
              </a:lnSpc>
              <a:buNone/>
            </a:pPr>
            <a:r>
              <a:rPr lang="en-US" sz="2400" b="1" dirty="0">
                <a:solidFill>
                  <a:srgbClr val="FFFFFF"/>
                </a:solidFill>
                <a:latin typeface="Microsoft YaHei" pitchFamily="34" charset="0"/>
                <a:ea typeface="Microsoft YaHei" pitchFamily="34" charset="-122"/>
                <a:cs typeface="Microsoft YaHei" pitchFamily="34" charset="-120"/>
              </a:rPr>
              <a:t>教育法具体展开</a:t>
            </a:r>
            <a:endParaRPr lang="en-US" sz="2400" dirty="0"/>
          </a:p>
        </p:txBody>
      </p:sp>
      <p:sp>
        <p:nvSpPr>
          <p:cNvPr id="11" name="Text 9"/>
          <p:cNvSpPr/>
          <p:nvPr/>
        </p:nvSpPr>
        <p:spPr>
          <a:xfrm>
            <a:off x="6455664" y="2706624"/>
            <a:ext cx="4727448" cy="2139696"/>
          </a:xfrm>
          <a:prstGeom prst="rect">
            <a:avLst/>
          </a:prstGeom>
          <a:noFill/>
          <a:ln/>
        </p:spPr>
        <p:txBody>
          <a:bodyPr wrap="square" lIns="0" tIns="0" rIns="0" bIns="0" rtlCol="0" anchor="t"/>
          <a:lstStyle/>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根据宪法制定。</a:t>
            </a:r>
            <a:endParaRPr lang="en-US" sz="2200" dirty="0"/>
          </a:p>
          <a:p>
            <a:pPr indent="0" marL="0">
              <a:lnSpc>
                <a:spcPct val="108000"/>
              </a:lnSpc>
              <a:buNone/>
            </a:pP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在教育领域进一步规定平等的受教育机会。</a:t>
            </a:r>
            <a:endParaRPr lang="en-US" sz="2200" dirty="0"/>
          </a:p>
        </p:txBody>
      </p:sp>
      <p:sp>
        <p:nvSpPr>
          <p:cNvPr id="12" name="Shape 10"/>
          <p:cNvSpPr/>
          <p:nvPr/>
        </p:nvSpPr>
        <p:spPr>
          <a:xfrm>
            <a:off x="768096" y="5358384"/>
            <a:ext cx="10652760" cy="621792"/>
          </a:xfrm>
          <a:prstGeom prst="rect">
            <a:avLst/>
          </a:prstGeom>
          <a:solidFill>
            <a:srgbClr val="EEEAE1"/>
          </a:solidFill>
          <a:ln w="10160">
            <a:solidFill>
              <a:srgbClr val="EEEAE1">
                <a:alpha val="0"/>
              </a:srgbClr>
            </a:solidFill>
            <a:prstDash val="solid"/>
          </a:ln>
        </p:spPr>
      </p:sp>
      <p:sp>
        <p:nvSpPr>
          <p:cNvPr id="13" name="Text 11"/>
          <p:cNvSpPr/>
          <p:nvPr/>
        </p:nvSpPr>
        <p:spPr>
          <a:xfrm>
            <a:off x="987552" y="5477256"/>
            <a:ext cx="10213848" cy="384048"/>
          </a:xfrm>
          <a:prstGeom prst="rect">
            <a:avLst/>
          </a:prstGeom>
          <a:noFill/>
          <a:ln/>
        </p:spPr>
        <p:txBody>
          <a:bodyPr wrap="square" lIns="0" tIns="0" rIns="0" bIns="0" rtlCol="0" anchor="t"/>
          <a:lstStyle/>
          <a:p>
            <a:pP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通过立法落实宪法，是实施的一种方式。</a:t>
            </a:r>
            <a:endParaRPr lang="en-US" sz="2200" dirty="0"/>
          </a:p>
        </p:txBody>
      </p:sp>
      <p:sp>
        <p:nvSpPr>
          <p:cNvPr id="14" name="Shape 12"/>
          <p:cNvSpPr/>
          <p:nvPr/>
        </p:nvSpPr>
        <p:spPr>
          <a:xfrm>
            <a:off x="658368" y="6291072"/>
            <a:ext cx="10872216" cy="10973"/>
          </a:xfrm>
          <a:prstGeom prst="rect">
            <a:avLst/>
          </a:prstGeom>
          <a:solidFill>
            <a:srgbClr val="D9D9D3"/>
          </a:solidFill>
          <a:ln w="10160">
            <a:solidFill>
              <a:srgbClr val="D9D9D3">
                <a:alpha val="0"/>
              </a:srgbClr>
            </a:solidFill>
            <a:prstDash val="solid"/>
          </a:ln>
        </p:spPr>
      </p:sp>
      <p:sp>
        <p:nvSpPr>
          <p:cNvPr id="15" name="Text 13"/>
          <p:cNvSpPr/>
          <p:nvPr/>
        </p:nvSpPr>
        <p:spPr>
          <a:xfrm>
            <a:off x="685800" y="6400800"/>
            <a:ext cx="2286000" cy="256032"/>
          </a:xfrm>
          <a:prstGeom prst="rect">
            <a:avLst/>
          </a:prstGeom>
          <a:noFill/>
          <a:ln/>
        </p:spPr>
        <p:txBody>
          <a:bodyPr wrap="square" lIns="0" tIns="0" rIns="0" bIns="0" rtlCol="0" anchor="t"/>
          <a:lstStyle/>
          <a:p>
            <a:pP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宪法学 · 第8讲</a:t>
            </a:r>
            <a:endParaRPr lang="en-US" sz="1100" dirty="0"/>
          </a:p>
        </p:txBody>
      </p:sp>
      <p:sp>
        <p:nvSpPr>
          <p:cNvPr id="16" name="Text 14"/>
          <p:cNvSpPr/>
          <p:nvPr/>
        </p:nvSpPr>
        <p:spPr>
          <a:xfrm>
            <a:off x="3154680" y="6400800"/>
            <a:ext cx="6720840" cy="256032"/>
          </a:xfrm>
          <a:prstGeom prst="rect">
            <a:avLst/>
          </a:prstGeom>
          <a:noFill/>
          <a:ln/>
        </p:spPr>
        <p:txBody>
          <a:bodyPr wrap="square" lIns="0" tIns="0" rIns="0" bIns="0" rtlCol="0" anchor="t"/>
          <a:lstStyle/>
          <a:p>
            <a:pPr algn="ct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《宪法》序言、第5、46条；《教育法》第1、9条；教学分析</a:t>
            </a:r>
            <a:endParaRPr lang="en-US" sz="1100" dirty="0"/>
          </a:p>
        </p:txBody>
      </p:sp>
      <p:sp>
        <p:nvSpPr>
          <p:cNvPr id="17" name="Text 15"/>
          <p:cNvSpPr/>
          <p:nvPr/>
        </p:nvSpPr>
        <p:spPr>
          <a:xfrm>
            <a:off x="10195560" y="6400800"/>
            <a:ext cx="1325880" cy="256032"/>
          </a:xfrm>
          <a:prstGeom prst="rect">
            <a:avLst/>
          </a:prstGeom>
          <a:noFill/>
          <a:ln/>
        </p:spPr>
        <p:txBody>
          <a:bodyPr wrap="square" lIns="0" tIns="0" rIns="0" bIns="0" rtlCol="0" anchor="t"/>
          <a:lstStyle/>
          <a:p>
            <a:pPr algn="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5 / 24</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713232" y="475488"/>
            <a:ext cx="10744200" cy="594360"/>
          </a:xfrm>
          <a:prstGeom prst="rect">
            <a:avLst/>
          </a:prstGeom>
          <a:noFill/>
          <a:ln/>
        </p:spPr>
        <p:txBody>
          <a:bodyPr wrap="square" lIns="0" tIns="0" rIns="0" bIns="0" rtlCol="0" anchor="t"/>
          <a:lstStyle/>
          <a:p>
            <a:pPr indent="0" marL="0">
              <a:lnSpc>
                <a:spcPct val="108000"/>
              </a:lnSpc>
              <a:buNone/>
            </a:pPr>
            <a:r>
              <a:rPr lang="en-US" sz="3200" b="1" dirty="0">
                <a:solidFill>
                  <a:srgbClr val="142735"/>
                </a:solidFill>
                <a:latin typeface="Microsoft YaHei" pitchFamily="34" charset="0"/>
                <a:ea typeface="Microsoft YaHei" pitchFamily="34" charset="-122"/>
                <a:cs typeface="Microsoft YaHei" pitchFamily="34" charset="-120"/>
              </a:rPr>
              <a:t>解释、修改、监督各解决什么问题？</a:t>
            </a:r>
            <a:endParaRPr lang="en-US" sz="3200" dirty="0"/>
          </a:p>
        </p:txBody>
      </p:sp>
      <p:sp>
        <p:nvSpPr>
          <p:cNvPr id="3" name="Text 1"/>
          <p:cNvSpPr/>
          <p:nvPr/>
        </p:nvSpPr>
        <p:spPr>
          <a:xfrm>
            <a:off x="731520" y="1170432"/>
            <a:ext cx="10698480" cy="384048"/>
          </a:xfrm>
          <a:prstGeom prst="rect">
            <a:avLst/>
          </a:prstGeom>
          <a:noFill/>
          <a:ln/>
        </p:spPr>
        <p:txBody>
          <a:bodyPr wrap="square" lIns="0" tIns="0" rIns="0" bIns="0" rtlCol="0" anchor="t"/>
          <a:lstStyle/>
          <a:p>
            <a:pPr indent="0" marL="0">
              <a:lnSpc>
                <a:spcPct val="108000"/>
              </a:lnSpc>
              <a:buNone/>
            </a:pPr>
            <a:r>
              <a:rPr lang="en-US" sz="1600" dirty="0">
                <a:solidFill>
                  <a:srgbClr val="64717A"/>
                </a:solidFill>
                <a:latin typeface="Microsoft YaHei" pitchFamily="34" charset="0"/>
                <a:ea typeface="Microsoft YaHei" pitchFamily="34" charset="-122"/>
                <a:cs typeface="Microsoft YaHei" pitchFamily="34" charset="-120"/>
              </a:rPr>
              <a:t>先分任务，再找承担任务的机关。</a:t>
            </a:r>
            <a:endParaRPr lang="en-US" sz="1600" dirty="0"/>
          </a:p>
        </p:txBody>
      </p:sp>
      <p:sp>
        <p:nvSpPr>
          <p:cNvPr id="4" name="Shape 2"/>
          <p:cNvSpPr/>
          <p:nvPr/>
        </p:nvSpPr>
        <p:spPr>
          <a:xfrm>
            <a:off x="768096" y="1773936"/>
            <a:ext cx="3398520" cy="3264408"/>
          </a:xfrm>
          <a:prstGeom prst="rect">
            <a:avLst/>
          </a:prstGeom>
          <a:solidFill>
            <a:srgbClr val="FFFFFF"/>
          </a:solidFill>
          <a:ln w="10160">
            <a:solidFill>
              <a:srgbClr val="D9D9D3"/>
            </a:solidFill>
            <a:prstDash val="solid"/>
          </a:ln>
        </p:spPr>
      </p:sp>
      <p:sp>
        <p:nvSpPr>
          <p:cNvPr id="5" name="Text 3"/>
          <p:cNvSpPr/>
          <p:nvPr/>
        </p:nvSpPr>
        <p:spPr>
          <a:xfrm>
            <a:off x="996696" y="1984248"/>
            <a:ext cx="2941320" cy="676656"/>
          </a:xfrm>
          <a:prstGeom prst="rect">
            <a:avLst/>
          </a:prstGeom>
          <a:noFill/>
          <a:ln/>
        </p:spPr>
        <p:txBody>
          <a:bodyPr wrap="square" lIns="0" tIns="0" rIns="0" bIns="0" rtlCol="0" anchor="t"/>
          <a:lstStyle/>
          <a:p>
            <a:pPr indent="0" marL="0">
              <a:lnSpc>
                <a:spcPct val="108000"/>
              </a:lnSpc>
              <a:buNone/>
            </a:pPr>
            <a:r>
              <a:rPr lang="en-US" sz="2400" b="1" dirty="0">
                <a:solidFill>
                  <a:srgbClr val="B13D38"/>
                </a:solidFill>
                <a:latin typeface="Microsoft YaHei" pitchFamily="34" charset="0"/>
                <a:ea typeface="Microsoft YaHei" pitchFamily="34" charset="-122"/>
                <a:cs typeface="Microsoft YaHei" pitchFamily="34" charset="-120"/>
              </a:rPr>
              <a:t>解释</a:t>
            </a:r>
            <a:endParaRPr lang="en-US" sz="2400" dirty="0"/>
          </a:p>
        </p:txBody>
      </p:sp>
      <p:sp>
        <p:nvSpPr>
          <p:cNvPr id="6" name="Text 4"/>
          <p:cNvSpPr/>
          <p:nvPr/>
        </p:nvSpPr>
        <p:spPr>
          <a:xfrm>
            <a:off x="996696" y="2852928"/>
            <a:ext cx="2941320" cy="1965960"/>
          </a:xfrm>
          <a:prstGeom prst="rect">
            <a:avLst/>
          </a:prstGeom>
          <a:noFill/>
          <a:ln/>
        </p:spPr>
        <p:txBody>
          <a:bodyPr wrap="square" lIns="0" tIns="0" rIns="0" bIns="0" rtlCol="0" anchor="t"/>
          <a:lstStyle/>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现有宪法规定</a:t>
            </a: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应当怎样理解？</a:t>
            </a:r>
            <a:endParaRPr lang="en-US" sz="2200" dirty="0"/>
          </a:p>
        </p:txBody>
      </p:sp>
      <p:sp>
        <p:nvSpPr>
          <p:cNvPr id="7" name="Shape 5"/>
          <p:cNvSpPr/>
          <p:nvPr/>
        </p:nvSpPr>
        <p:spPr>
          <a:xfrm>
            <a:off x="4395216" y="1773936"/>
            <a:ext cx="3398520" cy="3264408"/>
          </a:xfrm>
          <a:prstGeom prst="rect">
            <a:avLst/>
          </a:prstGeom>
          <a:solidFill>
            <a:srgbClr val="FFFFFF"/>
          </a:solidFill>
          <a:ln w="10160">
            <a:solidFill>
              <a:srgbClr val="D9D9D3"/>
            </a:solidFill>
            <a:prstDash val="solid"/>
          </a:ln>
        </p:spPr>
      </p:sp>
      <p:sp>
        <p:nvSpPr>
          <p:cNvPr id="8" name="Text 6"/>
          <p:cNvSpPr/>
          <p:nvPr/>
        </p:nvSpPr>
        <p:spPr>
          <a:xfrm>
            <a:off x="4623816" y="1984248"/>
            <a:ext cx="2941320" cy="676656"/>
          </a:xfrm>
          <a:prstGeom prst="rect">
            <a:avLst/>
          </a:prstGeom>
          <a:noFill/>
          <a:ln/>
        </p:spPr>
        <p:txBody>
          <a:bodyPr wrap="square" lIns="0" tIns="0" rIns="0" bIns="0" rtlCol="0" anchor="t"/>
          <a:lstStyle/>
          <a:p>
            <a:pPr indent="0" marL="0">
              <a:lnSpc>
                <a:spcPct val="108000"/>
              </a:lnSpc>
              <a:buNone/>
            </a:pPr>
            <a:r>
              <a:rPr lang="en-US" sz="2400" b="1" dirty="0">
                <a:solidFill>
                  <a:srgbClr val="B13D38"/>
                </a:solidFill>
                <a:latin typeface="Microsoft YaHei" pitchFamily="34" charset="0"/>
                <a:ea typeface="Microsoft YaHei" pitchFamily="34" charset="-122"/>
                <a:cs typeface="Microsoft YaHei" pitchFamily="34" charset="-120"/>
              </a:rPr>
              <a:t>修改</a:t>
            </a:r>
            <a:endParaRPr lang="en-US" sz="2400" dirty="0"/>
          </a:p>
        </p:txBody>
      </p:sp>
      <p:sp>
        <p:nvSpPr>
          <p:cNvPr id="9" name="Text 7"/>
          <p:cNvSpPr/>
          <p:nvPr/>
        </p:nvSpPr>
        <p:spPr>
          <a:xfrm>
            <a:off x="4623816" y="2852928"/>
            <a:ext cx="2941320" cy="1965960"/>
          </a:xfrm>
          <a:prstGeom prst="rect">
            <a:avLst/>
          </a:prstGeom>
          <a:noFill/>
          <a:ln/>
        </p:spPr>
        <p:txBody>
          <a:bodyPr wrap="square" lIns="0" tIns="0" rIns="0" bIns="0" rtlCol="0" anchor="t"/>
          <a:lstStyle/>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宪法文本</a:t>
            </a: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需要怎样改变？</a:t>
            </a:r>
            <a:endParaRPr lang="en-US" sz="2200" dirty="0"/>
          </a:p>
        </p:txBody>
      </p:sp>
      <p:sp>
        <p:nvSpPr>
          <p:cNvPr id="10" name="Shape 8"/>
          <p:cNvSpPr/>
          <p:nvPr/>
        </p:nvSpPr>
        <p:spPr>
          <a:xfrm>
            <a:off x="8022336" y="1773936"/>
            <a:ext cx="3398520" cy="3264408"/>
          </a:xfrm>
          <a:prstGeom prst="rect">
            <a:avLst/>
          </a:prstGeom>
          <a:solidFill>
            <a:srgbClr val="FFFFFF"/>
          </a:solidFill>
          <a:ln w="10160">
            <a:solidFill>
              <a:srgbClr val="D9D9D3"/>
            </a:solidFill>
            <a:prstDash val="solid"/>
          </a:ln>
        </p:spPr>
      </p:sp>
      <p:sp>
        <p:nvSpPr>
          <p:cNvPr id="11" name="Text 9"/>
          <p:cNvSpPr/>
          <p:nvPr/>
        </p:nvSpPr>
        <p:spPr>
          <a:xfrm>
            <a:off x="8250936" y="1984248"/>
            <a:ext cx="2941320" cy="676656"/>
          </a:xfrm>
          <a:prstGeom prst="rect">
            <a:avLst/>
          </a:prstGeom>
          <a:noFill/>
          <a:ln/>
        </p:spPr>
        <p:txBody>
          <a:bodyPr wrap="square" lIns="0" tIns="0" rIns="0" bIns="0" rtlCol="0" anchor="t"/>
          <a:lstStyle/>
          <a:p>
            <a:pPr indent="0" marL="0">
              <a:lnSpc>
                <a:spcPct val="108000"/>
              </a:lnSpc>
              <a:buNone/>
            </a:pPr>
            <a:r>
              <a:rPr lang="en-US" sz="2400" b="1" dirty="0">
                <a:solidFill>
                  <a:srgbClr val="B13D38"/>
                </a:solidFill>
                <a:latin typeface="Microsoft YaHei" pitchFamily="34" charset="0"/>
                <a:ea typeface="Microsoft YaHei" pitchFamily="34" charset="-122"/>
                <a:cs typeface="Microsoft YaHei" pitchFamily="34" charset="-120"/>
              </a:rPr>
              <a:t>监督</a:t>
            </a:r>
            <a:endParaRPr lang="en-US" sz="2400" dirty="0"/>
          </a:p>
        </p:txBody>
      </p:sp>
      <p:sp>
        <p:nvSpPr>
          <p:cNvPr id="12" name="Text 10"/>
          <p:cNvSpPr/>
          <p:nvPr/>
        </p:nvSpPr>
        <p:spPr>
          <a:xfrm>
            <a:off x="8250936" y="2852928"/>
            <a:ext cx="2941320" cy="1965960"/>
          </a:xfrm>
          <a:prstGeom prst="rect">
            <a:avLst/>
          </a:prstGeom>
          <a:noFill/>
          <a:ln/>
        </p:spPr>
        <p:txBody>
          <a:bodyPr wrap="square" lIns="0" tIns="0" rIns="0" bIns="0" rtlCol="0" anchor="t"/>
          <a:lstStyle/>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宪法要求是否落实？</a:t>
            </a: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问题怎样发现和纠正？</a:t>
            </a:r>
            <a:endParaRPr lang="en-US" sz="2200" dirty="0"/>
          </a:p>
        </p:txBody>
      </p:sp>
      <p:sp>
        <p:nvSpPr>
          <p:cNvPr id="13" name="Shape 11"/>
          <p:cNvSpPr/>
          <p:nvPr/>
        </p:nvSpPr>
        <p:spPr>
          <a:xfrm>
            <a:off x="768096" y="5358384"/>
            <a:ext cx="10652760" cy="621792"/>
          </a:xfrm>
          <a:prstGeom prst="rect">
            <a:avLst/>
          </a:prstGeom>
          <a:solidFill>
            <a:srgbClr val="EEEAE1"/>
          </a:solidFill>
          <a:ln w="10160">
            <a:solidFill>
              <a:srgbClr val="EEEAE1">
                <a:alpha val="0"/>
              </a:srgbClr>
            </a:solidFill>
            <a:prstDash val="solid"/>
          </a:ln>
        </p:spPr>
      </p:sp>
      <p:sp>
        <p:nvSpPr>
          <p:cNvPr id="14" name="Text 12"/>
          <p:cNvSpPr/>
          <p:nvPr/>
        </p:nvSpPr>
        <p:spPr>
          <a:xfrm>
            <a:off x="987552" y="5477256"/>
            <a:ext cx="10213848" cy="384048"/>
          </a:xfrm>
          <a:prstGeom prst="rect">
            <a:avLst/>
          </a:prstGeom>
          <a:noFill/>
          <a:ln/>
        </p:spPr>
        <p:txBody>
          <a:bodyPr wrap="square" lIns="0" tIns="0" rIns="0" bIns="0" rtlCol="0" anchor="t"/>
          <a:lstStyle/>
          <a:p>
            <a:pP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课堂上的条文分析，也要与有权机关正式行使职权相区分。</a:t>
            </a:r>
            <a:endParaRPr lang="en-US" sz="2200" dirty="0"/>
          </a:p>
        </p:txBody>
      </p:sp>
      <p:sp>
        <p:nvSpPr>
          <p:cNvPr id="15" name="Shape 13"/>
          <p:cNvSpPr/>
          <p:nvPr/>
        </p:nvSpPr>
        <p:spPr>
          <a:xfrm>
            <a:off x="658368" y="6291072"/>
            <a:ext cx="10872216" cy="10973"/>
          </a:xfrm>
          <a:prstGeom prst="rect">
            <a:avLst/>
          </a:prstGeom>
          <a:solidFill>
            <a:srgbClr val="D9D9D3"/>
          </a:solidFill>
          <a:ln w="10160">
            <a:solidFill>
              <a:srgbClr val="D9D9D3">
                <a:alpha val="0"/>
              </a:srgbClr>
            </a:solidFill>
            <a:prstDash val="solid"/>
          </a:ln>
        </p:spPr>
      </p:sp>
      <p:sp>
        <p:nvSpPr>
          <p:cNvPr id="16" name="Text 14"/>
          <p:cNvSpPr/>
          <p:nvPr/>
        </p:nvSpPr>
        <p:spPr>
          <a:xfrm>
            <a:off x="685800" y="6400800"/>
            <a:ext cx="2286000" cy="256032"/>
          </a:xfrm>
          <a:prstGeom prst="rect">
            <a:avLst/>
          </a:prstGeom>
          <a:noFill/>
          <a:ln/>
        </p:spPr>
        <p:txBody>
          <a:bodyPr wrap="square" lIns="0" tIns="0" rIns="0" bIns="0" rtlCol="0" anchor="t"/>
          <a:lstStyle/>
          <a:p>
            <a:pP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宪法学 · 第8讲</a:t>
            </a:r>
            <a:endParaRPr lang="en-US" sz="1100" dirty="0"/>
          </a:p>
        </p:txBody>
      </p:sp>
      <p:sp>
        <p:nvSpPr>
          <p:cNvPr id="17" name="Text 15"/>
          <p:cNvSpPr/>
          <p:nvPr/>
        </p:nvSpPr>
        <p:spPr>
          <a:xfrm>
            <a:off x="3154680" y="6400800"/>
            <a:ext cx="6720840" cy="256032"/>
          </a:xfrm>
          <a:prstGeom prst="rect">
            <a:avLst/>
          </a:prstGeom>
          <a:noFill/>
          <a:ln/>
        </p:spPr>
        <p:txBody>
          <a:bodyPr wrap="square" lIns="0" tIns="0" rIns="0" bIns="0" rtlCol="0" anchor="t"/>
          <a:lstStyle/>
          <a:p>
            <a:pPr algn="ct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《宪法》第62、64、67条；概念说明为教学概括</a:t>
            </a:r>
            <a:endParaRPr lang="en-US" sz="1100" dirty="0"/>
          </a:p>
        </p:txBody>
      </p:sp>
      <p:sp>
        <p:nvSpPr>
          <p:cNvPr id="18" name="Text 16"/>
          <p:cNvSpPr/>
          <p:nvPr/>
        </p:nvSpPr>
        <p:spPr>
          <a:xfrm>
            <a:off x="10195560" y="6400800"/>
            <a:ext cx="1325880" cy="256032"/>
          </a:xfrm>
          <a:prstGeom prst="rect">
            <a:avLst/>
          </a:prstGeom>
          <a:noFill/>
          <a:ln/>
        </p:spPr>
        <p:txBody>
          <a:bodyPr wrap="square" lIns="0" tIns="0" rIns="0" bIns="0" rtlCol="0" anchor="t"/>
          <a:lstStyle/>
          <a:p>
            <a:pPr algn="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6 / 24</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713232" y="475488"/>
            <a:ext cx="10744200" cy="594360"/>
          </a:xfrm>
          <a:prstGeom prst="rect">
            <a:avLst/>
          </a:prstGeom>
          <a:noFill/>
          <a:ln/>
        </p:spPr>
        <p:txBody>
          <a:bodyPr wrap="square" lIns="0" tIns="0" rIns="0" bIns="0" rtlCol="0" anchor="t"/>
          <a:lstStyle/>
          <a:p>
            <a:pPr indent="0" marL="0">
              <a:lnSpc>
                <a:spcPct val="108000"/>
              </a:lnSpc>
              <a:buNone/>
            </a:pPr>
            <a:r>
              <a:rPr lang="en-US" sz="3200" b="1" dirty="0">
                <a:solidFill>
                  <a:srgbClr val="142735"/>
                </a:solidFill>
                <a:latin typeface="Microsoft YaHei" pitchFamily="34" charset="0"/>
                <a:ea typeface="Microsoft YaHei" pitchFamily="34" charset="-122"/>
                <a:cs typeface="Microsoft YaHei" pitchFamily="34" charset="-120"/>
              </a:rPr>
              <a:t>任务一：把工作交给相应的主体</a:t>
            </a:r>
            <a:endParaRPr lang="en-US" sz="3200" dirty="0"/>
          </a:p>
        </p:txBody>
      </p:sp>
      <p:sp>
        <p:nvSpPr>
          <p:cNvPr id="3" name="Text 1"/>
          <p:cNvSpPr/>
          <p:nvPr/>
        </p:nvSpPr>
        <p:spPr>
          <a:xfrm>
            <a:off x="731520" y="1170432"/>
            <a:ext cx="10698480" cy="384048"/>
          </a:xfrm>
          <a:prstGeom prst="rect">
            <a:avLst/>
          </a:prstGeom>
          <a:noFill/>
          <a:ln/>
        </p:spPr>
        <p:txBody>
          <a:bodyPr wrap="square" lIns="0" tIns="0" rIns="0" bIns="0" rtlCol="0" anchor="t"/>
          <a:lstStyle/>
          <a:p>
            <a:pPr indent="0" marL="0">
              <a:lnSpc>
                <a:spcPct val="108000"/>
              </a:lnSpc>
              <a:buNone/>
            </a:pPr>
            <a:r>
              <a:rPr lang="en-US" sz="1600" dirty="0">
                <a:solidFill>
                  <a:srgbClr val="64717A"/>
                </a:solidFill>
                <a:latin typeface="Microsoft YaHei" pitchFamily="34" charset="0"/>
                <a:ea typeface="Microsoft YaHei" pitchFamily="34" charset="-122"/>
                <a:cs typeface="Microsoft YaHei" pitchFamily="34" charset="-120"/>
              </a:rPr>
              <a:t>查学生材料二，先填写主体和条号。</a:t>
            </a:r>
            <a:endParaRPr lang="en-US" sz="1600" dirty="0"/>
          </a:p>
        </p:txBody>
      </p:sp>
      <p:sp>
        <p:nvSpPr>
          <p:cNvPr id="4" name="Shape 2"/>
          <p:cNvSpPr/>
          <p:nvPr/>
        </p:nvSpPr>
        <p:spPr>
          <a:xfrm>
            <a:off x="768096" y="1773936"/>
            <a:ext cx="5113325" cy="640080"/>
          </a:xfrm>
          <a:prstGeom prst="rect">
            <a:avLst/>
          </a:prstGeom>
          <a:solidFill>
            <a:srgbClr val="142735"/>
          </a:solidFill>
          <a:ln w="10160">
            <a:solidFill>
              <a:srgbClr val="F8F6F1"/>
            </a:solidFill>
            <a:prstDash val="solid"/>
          </a:ln>
        </p:spPr>
      </p:sp>
      <p:sp>
        <p:nvSpPr>
          <p:cNvPr id="5" name="Text 3"/>
          <p:cNvSpPr/>
          <p:nvPr/>
        </p:nvSpPr>
        <p:spPr>
          <a:xfrm>
            <a:off x="941832" y="1929384"/>
            <a:ext cx="4765853" cy="365760"/>
          </a:xfrm>
          <a:prstGeom prst="rect">
            <a:avLst/>
          </a:prstGeom>
          <a:noFill/>
          <a:ln/>
        </p:spPr>
        <p:txBody>
          <a:bodyPr wrap="square" lIns="0" tIns="0" rIns="0" bIns="0" rtlCol="0" anchor="t"/>
          <a:lstStyle/>
          <a:p>
            <a:pPr indent="0" marL="0">
              <a:lnSpc>
                <a:spcPct val="108000"/>
              </a:lnSpc>
              <a:buNone/>
            </a:pPr>
            <a:r>
              <a:rPr lang="en-US" sz="2200" b="1" dirty="0">
                <a:solidFill>
                  <a:srgbClr val="FFFFFF"/>
                </a:solidFill>
                <a:latin typeface="Microsoft YaHei" pitchFamily="34" charset="0"/>
                <a:ea typeface="Microsoft YaHei" pitchFamily="34" charset="-122"/>
                <a:cs typeface="Microsoft YaHei" pitchFamily="34" charset="-120"/>
              </a:rPr>
              <a:t>要做的事</a:t>
            </a:r>
            <a:endParaRPr lang="en-US" sz="2200" dirty="0"/>
          </a:p>
        </p:txBody>
      </p:sp>
      <p:sp>
        <p:nvSpPr>
          <p:cNvPr id="6" name="Shape 4"/>
          <p:cNvSpPr/>
          <p:nvPr/>
        </p:nvSpPr>
        <p:spPr>
          <a:xfrm>
            <a:off x="5881421" y="1773936"/>
            <a:ext cx="3195828" cy="640080"/>
          </a:xfrm>
          <a:prstGeom prst="rect">
            <a:avLst/>
          </a:prstGeom>
          <a:solidFill>
            <a:srgbClr val="142735"/>
          </a:solidFill>
          <a:ln w="10160">
            <a:solidFill>
              <a:srgbClr val="F8F6F1"/>
            </a:solidFill>
            <a:prstDash val="solid"/>
          </a:ln>
        </p:spPr>
      </p:sp>
      <p:sp>
        <p:nvSpPr>
          <p:cNvPr id="7" name="Text 5"/>
          <p:cNvSpPr/>
          <p:nvPr/>
        </p:nvSpPr>
        <p:spPr>
          <a:xfrm>
            <a:off x="6055157" y="1929384"/>
            <a:ext cx="2848356" cy="365760"/>
          </a:xfrm>
          <a:prstGeom prst="rect">
            <a:avLst/>
          </a:prstGeom>
          <a:noFill/>
          <a:ln/>
        </p:spPr>
        <p:txBody>
          <a:bodyPr wrap="square" lIns="0" tIns="0" rIns="0" bIns="0" rtlCol="0" anchor="t"/>
          <a:lstStyle/>
          <a:p>
            <a:pPr indent="0" marL="0">
              <a:lnSpc>
                <a:spcPct val="108000"/>
              </a:lnSpc>
              <a:buNone/>
            </a:pPr>
            <a:r>
              <a:rPr lang="en-US" sz="2200" b="1" dirty="0">
                <a:solidFill>
                  <a:srgbClr val="FFFFFF"/>
                </a:solidFill>
                <a:latin typeface="Microsoft YaHei" pitchFamily="34" charset="0"/>
                <a:ea typeface="Microsoft YaHei" pitchFamily="34" charset="-122"/>
                <a:cs typeface="Microsoft YaHei" pitchFamily="34" charset="-120"/>
              </a:rPr>
              <a:t>相应主体</a:t>
            </a:r>
            <a:endParaRPr lang="en-US" sz="2200" dirty="0"/>
          </a:p>
        </p:txBody>
      </p:sp>
      <p:sp>
        <p:nvSpPr>
          <p:cNvPr id="8" name="Shape 6"/>
          <p:cNvSpPr/>
          <p:nvPr/>
        </p:nvSpPr>
        <p:spPr>
          <a:xfrm>
            <a:off x="9077249" y="1773936"/>
            <a:ext cx="2343607" cy="640080"/>
          </a:xfrm>
          <a:prstGeom prst="rect">
            <a:avLst/>
          </a:prstGeom>
          <a:solidFill>
            <a:srgbClr val="142735"/>
          </a:solidFill>
          <a:ln w="10160">
            <a:solidFill>
              <a:srgbClr val="F8F6F1"/>
            </a:solidFill>
            <a:prstDash val="solid"/>
          </a:ln>
        </p:spPr>
      </p:sp>
      <p:sp>
        <p:nvSpPr>
          <p:cNvPr id="9" name="Text 7"/>
          <p:cNvSpPr/>
          <p:nvPr/>
        </p:nvSpPr>
        <p:spPr>
          <a:xfrm>
            <a:off x="9250985" y="1929384"/>
            <a:ext cx="1996135" cy="365760"/>
          </a:xfrm>
          <a:prstGeom prst="rect">
            <a:avLst/>
          </a:prstGeom>
          <a:noFill/>
          <a:ln/>
        </p:spPr>
        <p:txBody>
          <a:bodyPr wrap="square" lIns="0" tIns="0" rIns="0" bIns="0" rtlCol="0" anchor="t"/>
          <a:lstStyle/>
          <a:p>
            <a:pPr indent="0" marL="0">
              <a:lnSpc>
                <a:spcPct val="108000"/>
              </a:lnSpc>
              <a:buNone/>
            </a:pPr>
            <a:r>
              <a:rPr lang="en-US" sz="2200" b="1" dirty="0">
                <a:solidFill>
                  <a:srgbClr val="FFFFFF"/>
                </a:solidFill>
                <a:latin typeface="Microsoft YaHei" pitchFamily="34" charset="0"/>
                <a:ea typeface="Microsoft YaHei" pitchFamily="34" charset="-122"/>
                <a:cs typeface="Microsoft YaHei" pitchFamily="34" charset="-120"/>
              </a:rPr>
              <a:t>条文依据</a:t>
            </a:r>
            <a:endParaRPr lang="en-US" sz="2200" dirty="0"/>
          </a:p>
        </p:txBody>
      </p:sp>
      <p:sp>
        <p:nvSpPr>
          <p:cNvPr id="10" name="Shape 8"/>
          <p:cNvSpPr/>
          <p:nvPr/>
        </p:nvSpPr>
        <p:spPr>
          <a:xfrm>
            <a:off x="768096" y="2414016"/>
            <a:ext cx="5113325" cy="870966"/>
          </a:xfrm>
          <a:prstGeom prst="rect">
            <a:avLst/>
          </a:prstGeom>
          <a:solidFill>
            <a:srgbClr val="FFFFFF"/>
          </a:solidFill>
          <a:ln w="10160">
            <a:solidFill>
              <a:srgbClr val="F8F6F1"/>
            </a:solidFill>
            <a:prstDash val="solid"/>
          </a:ln>
        </p:spPr>
      </p:sp>
      <p:sp>
        <p:nvSpPr>
          <p:cNvPr id="11" name="Text 9"/>
          <p:cNvSpPr/>
          <p:nvPr/>
        </p:nvSpPr>
        <p:spPr>
          <a:xfrm>
            <a:off x="941832" y="2523744"/>
            <a:ext cx="4765853" cy="651510"/>
          </a:xfrm>
          <a:prstGeom prst="rect">
            <a:avLst/>
          </a:prstGeom>
          <a:noFill/>
          <a:ln/>
        </p:spPr>
        <p:txBody>
          <a:bodyPr wrap="square" lIns="0" tIns="0" rIns="0" bIns="0" rtlCol="0" anchor="t"/>
          <a:lstStyle/>
          <a:p>
            <a:pP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修改宪法文本</a:t>
            </a:r>
            <a:endParaRPr lang="en-US" sz="2200" dirty="0"/>
          </a:p>
        </p:txBody>
      </p:sp>
      <p:sp>
        <p:nvSpPr>
          <p:cNvPr id="12" name="Shape 10"/>
          <p:cNvSpPr/>
          <p:nvPr/>
        </p:nvSpPr>
        <p:spPr>
          <a:xfrm>
            <a:off x="5881421" y="2414016"/>
            <a:ext cx="3195828" cy="870966"/>
          </a:xfrm>
          <a:prstGeom prst="rect">
            <a:avLst/>
          </a:prstGeom>
          <a:solidFill>
            <a:srgbClr val="FFFFFF"/>
          </a:solidFill>
          <a:ln w="10160">
            <a:solidFill>
              <a:srgbClr val="F8F6F1"/>
            </a:solidFill>
            <a:prstDash val="solid"/>
          </a:ln>
        </p:spPr>
      </p:sp>
      <p:sp>
        <p:nvSpPr>
          <p:cNvPr id="13" name="Text 11"/>
          <p:cNvSpPr/>
          <p:nvPr/>
        </p:nvSpPr>
        <p:spPr>
          <a:xfrm>
            <a:off x="6055157" y="2523744"/>
            <a:ext cx="2848356" cy="651510"/>
          </a:xfrm>
          <a:prstGeom prst="rect">
            <a:avLst/>
          </a:prstGeom>
          <a:noFill/>
          <a:ln/>
        </p:spPr>
        <p:txBody>
          <a:bodyPr wrap="square" lIns="0" tIns="0" rIns="0" bIns="0" rtlCol="0" anchor="t"/>
          <a:lstStyle/>
          <a:p>
            <a:pPr indent="0" marL="0">
              <a:lnSpc>
                <a:spcPct val="108000"/>
              </a:lnSpc>
              <a:buNone/>
            </a:pPr>
            <a:r>
              <a:rPr lang="en-US" sz="2200" dirty="0">
                <a:solidFill>
                  <a:srgbClr val="142735"/>
                </a:solidFill>
                <a:latin typeface="Microsoft YaHei" pitchFamily="34" charset="0"/>
                <a:ea typeface="Microsoft YaHei" pitchFamily="34" charset="-122"/>
                <a:cs typeface="Microsoft YaHei" pitchFamily="34" charset="-120"/>
              </a:rPr>
              <a:t>请填写</a:t>
            </a:r>
            <a:endParaRPr lang="en-US" sz="2200" dirty="0"/>
          </a:p>
        </p:txBody>
      </p:sp>
      <p:sp>
        <p:nvSpPr>
          <p:cNvPr id="14" name="Shape 12"/>
          <p:cNvSpPr/>
          <p:nvPr/>
        </p:nvSpPr>
        <p:spPr>
          <a:xfrm>
            <a:off x="9077249" y="2414016"/>
            <a:ext cx="2343607" cy="870966"/>
          </a:xfrm>
          <a:prstGeom prst="rect">
            <a:avLst/>
          </a:prstGeom>
          <a:solidFill>
            <a:srgbClr val="FFFFFF"/>
          </a:solidFill>
          <a:ln w="10160">
            <a:solidFill>
              <a:srgbClr val="F8F6F1"/>
            </a:solidFill>
            <a:prstDash val="solid"/>
          </a:ln>
        </p:spPr>
      </p:sp>
      <p:sp>
        <p:nvSpPr>
          <p:cNvPr id="15" name="Text 13"/>
          <p:cNvSpPr/>
          <p:nvPr/>
        </p:nvSpPr>
        <p:spPr>
          <a:xfrm>
            <a:off x="9250985" y="2523744"/>
            <a:ext cx="1996135" cy="651510"/>
          </a:xfrm>
          <a:prstGeom prst="rect">
            <a:avLst/>
          </a:prstGeom>
          <a:noFill/>
          <a:ln/>
        </p:spPr>
        <p:txBody>
          <a:bodyPr wrap="square" lIns="0" tIns="0" rIns="0" bIns="0" rtlCol="0" anchor="t"/>
          <a:lstStyle/>
          <a:p>
            <a:pPr indent="0" marL="0">
              <a:lnSpc>
                <a:spcPct val="108000"/>
              </a:lnSpc>
              <a:buNone/>
            </a:pPr>
            <a:r>
              <a:rPr lang="en-US" sz="2200" dirty="0">
                <a:solidFill>
                  <a:srgbClr val="142735"/>
                </a:solidFill>
                <a:latin typeface="Microsoft YaHei" pitchFamily="34" charset="0"/>
                <a:ea typeface="Microsoft YaHei" pitchFamily="34" charset="-122"/>
                <a:cs typeface="Microsoft YaHei" pitchFamily="34" charset="-120"/>
              </a:rPr>
              <a:t>请定位</a:t>
            </a:r>
            <a:endParaRPr lang="en-US" sz="2200" dirty="0"/>
          </a:p>
        </p:txBody>
      </p:sp>
      <p:sp>
        <p:nvSpPr>
          <p:cNvPr id="16" name="Shape 14"/>
          <p:cNvSpPr/>
          <p:nvPr/>
        </p:nvSpPr>
        <p:spPr>
          <a:xfrm>
            <a:off x="768096" y="3284982"/>
            <a:ext cx="5113325" cy="870966"/>
          </a:xfrm>
          <a:prstGeom prst="rect">
            <a:avLst/>
          </a:prstGeom>
          <a:solidFill>
            <a:srgbClr val="EEEAE1"/>
          </a:solidFill>
          <a:ln w="10160">
            <a:solidFill>
              <a:srgbClr val="F8F6F1"/>
            </a:solidFill>
            <a:prstDash val="solid"/>
          </a:ln>
        </p:spPr>
      </p:sp>
      <p:sp>
        <p:nvSpPr>
          <p:cNvPr id="17" name="Text 15"/>
          <p:cNvSpPr/>
          <p:nvPr/>
        </p:nvSpPr>
        <p:spPr>
          <a:xfrm>
            <a:off x="941832" y="3394710"/>
            <a:ext cx="4765853" cy="651510"/>
          </a:xfrm>
          <a:prstGeom prst="rect">
            <a:avLst/>
          </a:prstGeom>
          <a:noFill/>
          <a:ln/>
        </p:spPr>
        <p:txBody>
          <a:bodyPr wrap="square" lIns="0" tIns="0" rIns="0" bIns="0" rtlCol="0" anchor="t"/>
          <a:lstStyle/>
          <a:p>
            <a:pP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正式行使宪法解释职权</a:t>
            </a:r>
            <a:endParaRPr lang="en-US" sz="2200" dirty="0"/>
          </a:p>
        </p:txBody>
      </p:sp>
      <p:sp>
        <p:nvSpPr>
          <p:cNvPr id="18" name="Shape 16"/>
          <p:cNvSpPr/>
          <p:nvPr/>
        </p:nvSpPr>
        <p:spPr>
          <a:xfrm>
            <a:off x="5881421" y="3284982"/>
            <a:ext cx="3195828" cy="870966"/>
          </a:xfrm>
          <a:prstGeom prst="rect">
            <a:avLst/>
          </a:prstGeom>
          <a:solidFill>
            <a:srgbClr val="EEEAE1"/>
          </a:solidFill>
          <a:ln w="10160">
            <a:solidFill>
              <a:srgbClr val="F8F6F1"/>
            </a:solidFill>
            <a:prstDash val="solid"/>
          </a:ln>
        </p:spPr>
      </p:sp>
      <p:sp>
        <p:nvSpPr>
          <p:cNvPr id="19" name="Text 17"/>
          <p:cNvSpPr/>
          <p:nvPr/>
        </p:nvSpPr>
        <p:spPr>
          <a:xfrm>
            <a:off x="6055157" y="3394710"/>
            <a:ext cx="2848356" cy="651510"/>
          </a:xfrm>
          <a:prstGeom prst="rect">
            <a:avLst/>
          </a:prstGeom>
          <a:noFill/>
          <a:ln/>
        </p:spPr>
        <p:txBody>
          <a:bodyPr wrap="square" lIns="0" tIns="0" rIns="0" bIns="0" rtlCol="0" anchor="t"/>
          <a:lstStyle/>
          <a:p>
            <a:pPr indent="0" marL="0">
              <a:lnSpc>
                <a:spcPct val="108000"/>
              </a:lnSpc>
              <a:buNone/>
            </a:pPr>
            <a:r>
              <a:rPr lang="en-US" sz="2200" dirty="0">
                <a:solidFill>
                  <a:srgbClr val="142735"/>
                </a:solidFill>
                <a:latin typeface="Microsoft YaHei" pitchFamily="34" charset="0"/>
                <a:ea typeface="Microsoft YaHei" pitchFamily="34" charset="-122"/>
                <a:cs typeface="Microsoft YaHei" pitchFamily="34" charset="-120"/>
              </a:rPr>
              <a:t>请填写</a:t>
            </a:r>
            <a:endParaRPr lang="en-US" sz="2200" dirty="0"/>
          </a:p>
        </p:txBody>
      </p:sp>
      <p:sp>
        <p:nvSpPr>
          <p:cNvPr id="20" name="Shape 18"/>
          <p:cNvSpPr/>
          <p:nvPr/>
        </p:nvSpPr>
        <p:spPr>
          <a:xfrm>
            <a:off x="9077249" y="3284982"/>
            <a:ext cx="2343607" cy="870966"/>
          </a:xfrm>
          <a:prstGeom prst="rect">
            <a:avLst/>
          </a:prstGeom>
          <a:solidFill>
            <a:srgbClr val="EEEAE1"/>
          </a:solidFill>
          <a:ln w="10160">
            <a:solidFill>
              <a:srgbClr val="F8F6F1"/>
            </a:solidFill>
            <a:prstDash val="solid"/>
          </a:ln>
        </p:spPr>
      </p:sp>
      <p:sp>
        <p:nvSpPr>
          <p:cNvPr id="21" name="Text 19"/>
          <p:cNvSpPr/>
          <p:nvPr/>
        </p:nvSpPr>
        <p:spPr>
          <a:xfrm>
            <a:off x="9250985" y="3394710"/>
            <a:ext cx="1996135" cy="651510"/>
          </a:xfrm>
          <a:prstGeom prst="rect">
            <a:avLst/>
          </a:prstGeom>
          <a:noFill/>
          <a:ln/>
        </p:spPr>
        <p:txBody>
          <a:bodyPr wrap="square" lIns="0" tIns="0" rIns="0" bIns="0" rtlCol="0" anchor="t"/>
          <a:lstStyle/>
          <a:p>
            <a:pPr indent="0" marL="0">
              <a:lnSpc>
                <a:spcPct val="108000"/>
              </a:lnSpc>
              <a:buNone/>
            </a:pPr>
            <a:r>
              <a:rPr lang="en-US" sz="2200" dirty="0">
                <a:solidFill>
                  <a:srgbClr val="142735"/>
                </a:solidFill>
                <a:latin typeface="Microsoft YaHei" pitchFamily="34" charset="0"/>
                <a:ea typeface="Microsoft YaHei" pitchFamily="34" charset="-122"/>
                <a:cs typeface="Microsoft YaHei" pitchFamily="34" charset="-120"/>
              </a:rPr>
              <a:t>请定位</a:t>
            </a:r>
            <a:endParaRPr lang="en-US" sz="2200" dirty="0"/>
          </a:p>
        </p:txBody>
      </p:sp>
      <p:sp>
        <p:nvSpPr>
          <p:cNvPr id="22" name="Shape 20"/>
          <p:cNvSpPr/>
          <p:nvPr/>
        </p:nvSpPr>
        <p:spPr>
          <a:xfrm>
            <a:off x="768096" y="4155948"/>
            <a:ext cx="5113325" cy="870966"/>
          </a:xfrm>
          <a:prstGeom prst="rect">
            <a:avLst/>
          </a:prstGeom>
          <a:solidFill>
            <a:srgbClr val="FFFFFF"/>
          </a:solidFill>
          <a:ln w="10160">
            <a:solidFill>
              <a:srgbClr val="F8F6F1"/>
            </a:solidFill>
            <a:prstDash val="solid"/>
          </a:ln>
        </p:spPr>
      </p:sp>
      <p:sp>
        <p:nvSpPr>
          <p:cNvPr id="23" name="Text 21"/>
          <p:cNvSpPr/>
          <p:nvPr/>
        </p:nvSpPr>
        <p:spPr>
          <a:xfrm>
            <a:off x="941832" y="4265676"/>
            <a:ext cx="4765853" cy="651510"/>
          </a:xfrm>
          <a:prstGeom prst="rect">
            <a:avLst/>
          </a:prstGeom>
          <a:noFill/>
          <a:ln/>
        </p:spPr>
        <p:txBody>
          <a:bodyPr wrap="square" lIns="0" tIns="0" rIns="0" bIns="0" rtlCol="0" anchor="t"/>
          <a:lstStyle/>
          <a:p>
            <a:pP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监督宪法实施</a:t>
            </a:r>
            <a:endParaRPr lang="en-US" sz="2200" dirty="0"/>
          </a:p>
        </p:txBody>
      </p:sp>
      <p:sp>
        <p:nvSpPr>
          <p:cNvPr id="24" name="Shape 22"/>
          <p:cNvSpPr/>
          <p:nvPr/>
        </p:nvSpPr>
        <p:spPr>
          <a:xfrm>
            <a:off x="5881421" y="4155948"/>
            <a:ext cx="3195828" cy="870966"/>
          </a:xfrm>
          <a:prstGeom prst="rect">
            <a:avLst/>
          </a:prstGeom>
          <a:solidFill>
            <a:srgbClr val="FFFFFF"/>
          </a:solidFill>
          <a:ln w="10160">
            <a:solidFill>
              <a:srgbClr val="F8F6F1"/>
            </a:solidFill>
            <a:prstDash val="solid"/>
          </a:ln>
        </p:spPr>
      </p:sp>
      <p:sp>
        <p:nvSpPr>
          <p:cNvPr id="25" name="Text 23"/>
          <p:cNvSpPr/>
          <p:nvPr/>
        </p:nvSpPr>
        <p:spPr>
          <a:xfrm>
            <a:off x="6055157" y="4265676"/>
            <a:ext cx="2848356" cy="651510"/>
          </a:xfrm>
          <a:prstGeom prst="rect">
            <a:avLst/>
          </a:prstGeom>
          <a:noFill/>
          <a:ln/>
        </p:spPr>
        <p:txBody>
          <a:bodyPr wrap="square" lIns="0" tIns="0" rIns="0" bIns="0" rtlCol="0" anchor="t"/>
          <a:lstStyle/>
          <a:p>
            <a:pPr indent="0" marL="0">
              <a:lnSpc>
                <a:spcPct val="108000"/>
              </a:lnSpc>
              <a:buNone/>
            </a:pPr>
            <a:r>
              <a:rPr lang="en-US" sz="2200" dirty="0">
                <a:solidFill>
                  <a:srgbClr val="142735"/>
                </a:solidFill>
                <a:latin typeface="Microsoft YaHei" pitchFamily="34" charset="0"/>
                <a:ea typeface="Microsoft YaHei" pitchFamily="34" charset="-122"/>
                <a:cs typeface="Microsoft YaHei" pitchFamily="34" charset="-120"/>
              </a:rPr>
              <a:t>可填两个主体</a:t>
            </a:r>
            <a:endParaRPr lang="en-US" sz="2200" dirty="0"/>
          </a:p>
        </p:txBody>
      </p:sp>
      <p:sp>
        <p:nvSpPr>
          <p:cNvPr id="26" name="Shape 24"/>
          <p:cNvSpPr/>
          <p:nvPr/>
        </p:nvSpPr>
        <p:spPr>
          <a:xfrm>
            <a:off x="9077249" y="4155948"/>
            <a:ext cx="2343607" cy="870966"/>
          </a:xfrm>
          <a:prstGeom prst="rect">
            <a:avLst/>
          </a:prstGeom>
          <a:solidFill>
            <a:srgbClr val="FFFFFF"/>
          </a:solidFill>
          <a:ln w="10160">
            <a:solidFill>
              <a:srgbClr val="F8F6F1"/>
            </a:solidFill>
            <a:prstDash val="solid"/>
          </a:ln>
        </p:spPr>
      </p:sp>
      <p:sp>
        <p:nvSpPr>
          <p:cNvPr id="27" name="Text 25"/>
          <p:cNvSpPr/>
          <p:nvPr/>
        </p:nvSpPr>
        <p:spPr>
          <a:xfrm>
            <a:off x="9250985" y="4265676"/>
            <a:ext cx="1996135" cy="651510"/>
          </a:xfrm>
          <a:prstGeom prst="rect">
            <a:avLst/>
          </a:prstGeom>
          <a:noFill/>
          <a:ln/>
        </p:spPr>
        <p:txBody>
          <a:bodyPr wrap="square" lIns="0" tIns="0" rIns="0" bIns="0" rtlCol="0" anchor="t"/>
          <a:lstStyle/>
          <a:p>
            <a:pPr indent="0" marL="0">
              <a:lnSpc>
                <a:spcPct val="108000"/>
              </a:lnSpc>
              <a:buNone/>
            </a:pPr>
            <a:r>
              <a:rPr lang="en-US" sz="2200" dirty="0">
                <a:solidFill>
                  <a:srgbClr val="142735"/>
                </a:solidFill>
                <a:latin typeface="Microsoft YaHei" pitchFamily="34" charset="0"/>
                <a:ea typeface="Microsoft YaHei" pitchFamily="34" charset="-122"/>
                <a:cs typeface="Microsoft YaHei" pitchFamily="34" charset="-120"/>
              </a:rPr>
              <a:t>请定位</a:t>
            </a:r>
            <a:endParaRPr lang="en-US" sz="2200" dirty="0"/>
          </a:p>
        </p:txBody>
      </p:sp>
      <p:sp>
        <p:nvSpPr>
          <p:cNvPr id="28" name="Shape 26"/>
          <p:cNvSpPr/>
          <p:nvPr/>
        </p:nvSpPr>
        <p:spPr>
          <a:xfrm>
            <a:off x="768096" y="5026914"/>
            <a:ext cx="5113325" cy="870966"/>
          </a:xfrm>
          <a:prstGeom prst="rect">
            <a:avLst/>
          </a:prstGeom>
          <a:solidFill>
            <a:srgbClr val="EEEAE1"/>
          </a:solidFill>
          <a:ln w="10160">
            <a:solidFill>
              <a:srgbClr val="F8F6F1"/>
            </a:solidFill>
            <a:prstDash val="solid"/>
          </a:ln>
        </p:spPr>
      </p:sp>
      <p:sp>
        <p:nvSpPr>
          <p:cNvPr id="29" name="Text 27"/>
          <p:cNvSpPr/>
          <p:nvPr/>
        </p:nvSpPr>
        <p:spPr>
          <a:xfrm>
            <a:off x="941832" y="5136642"/>
            <a:ext cx="4765853" cy="651510"/>
          </a:xfrm>
          <a:prstGeom prst="rect">
            <a:avLst/>
          </a:prstGeom>
          <a:noFill/>
          <a:ln/>
        </p:spPr>
        <p:txBody>
          <a:bodyPr wrap="square" lIns="0" tIns="0" rIns="0" bIns="0" rtlCol="0" anchor="t"/>
          <a:lstStyle/>
          <a:p>
            <a:pP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承担推动实施、开展解释等相关工作</a:t>
            </a:r>
            <a:endParaRPr lang="en-US" sz="2200" dirty="0"/>
          </a:p>
        </p:txBody>
      </p:sp>
      <p:sp>
        <p:nvSpPr>
          <p:cNvPr id="30" name="Shape 28"/>
          <p:cNvSpPr/>
          <p:nvPr/>
        </p:nvSpPr>
        <p:spPr>
          <a:xfrm>
            <a:off x="5881421" y="5026914"/>
            <a:ext cx="3195828" cy="870966"/>
          </a:xfrm>
          <a:prstGeom prst="rect">
            <a:avLst/>
          </a:prstGeom>
          <a:solidFill>
            <a:srgbClr val="EEEAE1"/>
          </a:solidFill>
          <a:ln w="10160">
            <a:solidFill>
              <a:srgbClr val="F8F6F1"/>
            </a:solidFill>
            <a:prstDash val="solid"/>
          </a:ln>
        </p:spPr>
      </p:sp>
      <p:sp>
        <p:nvSpPr>
          <p:cNvPr id="31" name="Text 29"/>
          <p:cNvSpPr/>
          <p:nvPr/>
        </p:nvSpPr>
        <p:spPr>
          <a:xfrm>
            <a:off x="6055157" y="5136642"/>
            <a:ext cx="2848356" cy="651510"/>
          </a:xfrm>
          <a:prstGeom prst="rect">
            <a:avLst/>
          </a:prstGeom>
          <a:noFill/>
          <a:ln/>
        </p:spPr>
        <p:txBody>
          <a:bodyPr wrap="square" lIns="0" tIns="0" rIns="0" bIns="0" rtlCol="0" anchor="t"/>
          <a:lstStyle/>
          <a:p>
            <a:pPr indent="0" marL="0">
              <a:lnSpc>
                <a:spcPct val="108000"/>
              </a:lnSpc>
              <a:buNone/>
            </a:pPr>
            <a:r>
              <a:rPr lang="en-US" sz="2200" dirty="0">
                <a:solidFill>
                  <a:srgbClr val="142735"/>
                </a:solidFill>
                <a:latin typeface="Microsoft YaHei" pitchFamily="34" charset="0"/>
                <a:ea typeface="Microsoft YaHei" pitchFamily="34" charset="-122"/>
                <a:cs typeface="Microsoft YaHei" pitchFamily="34" charset="-120"/>
              </a:rPr>
              <a:t>请填写</a:t>
            </a:r>
            <a:endParaRPr lang="en-US" sz="2200" dirty="0"/>
          </a:p>
        </p:txBody>
      </p:sp>
      <p:sp>
        <p:nvSpPr>
          <p:cNvPr id="32" name="Shape 30"/>
          <p:cNvSpPr/>
          <p:nvPr/>
        </p:nvSpPr>
        <p:spPr>
          <a:xfrm>
            <a:off x="9077249" y="5026914"/>
            <a:ext cx="2343607" cy="870966"/>
          </a:xfrm>
          <a:prstGeom prst="rect">
            <a:avLst/>
          </a:prstGeom>
          <a:solidFill>
            <a:srgbClr val="EEEAE1"/>
          </a:solidFill>
          <a:ln w="10160">
            <a:solidFill>
              <a:srgbClr val="F8F6F1"/>
            </a:solidFill>
            <a:prstDash val="solid"/>
          </a:ln>
        </p:spPr>
      </p:sp>
      <p:sp>
        <p:nvSpPr>
          <p:cNvPr id="33" name="Text 31"/>
          <p:cNvSpPr/>
          <p:nvPr/>
        </p:nvSpPr>
        <p:spPr>
          <a:xfrm>
            <a:off x="9250985" y="5136642"/>
            <a:ext cx="1996135" cy="651510"/>
          </a:xfrm>
          <a:prstGeom prst="rect">
            <a:avLst/>
          </a:prstGeom>
          <a:noFill/>
          <a:ln/>
        </p:spPr>
        <p:txBody>
          <a:bodyPr wrap="square" lIns="0" tIns="0" rIns="0" bIns="0" rtlCol="0" anchor="t"/>
          <a:lstStyle/>
          <a:p>
            <a:pPr indent="0" marL="0">
              <a:lnSpc>
                <a:spcPct val="108000"/>
              </a:lnSpc>
              <a:buNone/>
            </a:pPr>
            <a:r>
              <a:rPr lang="en-US" sz="2200" dirty="0">
                <a:solidFill>
                  <a:srgbClr val="142735"/>
                </a:solidFill>
                <a:latin typeface="Microsoft YaHei" pitchFamily="34" charset="0"/>
                <a:ea typeface="Microsoft YaHei" pitchFamily="34" charset="-122"/>
                <a:cs typeface="Microsoft YaHei" pitchFamily="34" charset="-120"/>
              </a:rPr>
              <a:t>请定位</a:t>
            </a:r>
            <a:endParaRPr lang="en-US" sz="2200" dirty="0"/>
          </a:p>
        </p:txBody>
      </p:sp>
      <p:sp>
        <p:nvSpPr>
          <p:cNvPr id="34" name="Shape 32"/>
          <p:cNvSpPr/>
          <p:nvPr/>
        </p:nvSpPr>
        <p:spPr>
          <a:xfrm>
            <a:off x="658368" y="6291072"/>
            <a:ext cx="10872216" cy="10973"/>
          </a:xfrm>
          <a:prstGeom prst="rect">
            <a:avLst/>
          </a:prstGeom>
          <a:solidFill>
            <a:srgbClr val="D9D9D3"/>
          </a:solidFill>
          <a:ln w="10160">
            <a:solidFill>
              <a:srgbClr val="D9D9D3">
                <a:alpha val="0"/>
              </a:srgbClr>
            </a:solidFill>
            <a:prstDash val="solid"/>
          </a:ln>
        </p:spPr>
      </p:sp>
      <p:sp>
        <p:nvSpPr>
          <p:cNvPr id="35" name="Text 33"/>
          <p:cNvSpPr/>
          <p:nvPr/>
        </p:nvSpPr>
        <p:spPr>
          <a:xfrm>
            <a:off x="685800" y="6400800"/>
            <a:ext cx="2286000" cy="256032"/>
          </a:xfrm>
          <a:prstGeom prst="rect">
            <a:avLst/>
          </a:prstGeom>
          <a:noFill/>
          <a:ln/>
        </p:spPr>
        <p:txBody>
          <a:bodyPr wrap="square" lIns="0" tIns="0" rIns="0" bIns="0" rtlCol="0" anchor="t"/>
          <a:lstStyle/>
          <a:p>
            <a:pP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宪法学 · 第8讲</a:t>
            </a:r>
            <a:endParaRPr lang="en-US" sz="1100" dirty="0"/>
          </a:p>
        </p:txBody>
      </p:sp>
      <p:sp>
        <p:nvSpPr>
          <p:cNvPr id="36" name="Text 34"/>
          <p:cNvSpPr/>
          <p:nvPr/>
        </p:nvSpPr>
        <p:spPr>
          <a:xfrm>
            <a:off x="3154680" y="6400800"/>
            <a:ext cx="6720840" cy="256032"/>
          </a:xfrm>
          <a:prstGeom prst="rect">
            <a:avLst/>
          </a:prstGeom>
          <a:noFill/>
          <a:ln/>
        </p:spPr>
        <p:txBody>
          <a:bodyPr wrap="square" lIns="0" tIns="0" rIns="0" bIns="0" rtlCol="0" anchor="t"/>
          <a:lstStyle/>
          <a:p>
            <a:pPr algn="ct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学生材料二；《宪法》第62、67条；全国人大组织法第39条</a:t>
            </a:r>
            <a:endParaRPr lang="en-US" sz="1100" dirty="0"/>
          </a:p>
        </p:txBody>
      </p:sp>
      <p:sp>
        <p:nvSpPr>
          <p:cNvPr id="37" name="Text 35"/>
          <p:cNvSpPr/>
          <p:nvPr/>
        </p:nvSpPr>
        <p:spPr>
          <a:xfrm>
            <a:off x="10195560" y="6400800"/>
            <a:ext cx="1325880" cy="256032"/>
          </a:xfrm>
          <a:prstGeom prst="rect">
            <a:avLst/>
          </a:prstGeom>
          <a:noFill/>
          <a:ln/>
        </p:spPr>
        <p:txBody>
          <a:bodyPr wrap="square" lIns="0" tIns="0" rIns="0" bIns="0" rtlCol="0" anchor="t"/>
          <a:lstStyle/>
          <a:p>
            <a:pPr algn="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7 / 24</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713232" y="475488"/>
            <a:ext cx="10744200" cy="594360"/>
          </a:xfrm>
          <a:prstGeom prst="rect">
            <a:avLst/>
          </a:prstGeom>
          <a:noFill/>
          <a:ln/>
        </p:spPr>
        <p:txBody>
          <a:bodyPr wrap="square" lIns="0" tIns="0" rIns="0" bIns="0" rtlCol="0" anchor="t"/>
          <a:lstStyle/>
          <a:p>
            <a:pPr indent="0" marL="0">
              <a:lnSpc>
                <a:spcPct val="108000"/>
              </a:lnSpc>
              <a:buNone/>
            </a:pPr>
            <a:r>
              <a:rPr lang="en-US" sz="3200" b="1" dirty="0">
                <a:solidFill>
                  <a:srgbClr val="142735"/>
                </a:solidFill>
                <a:latin typeface="Microsoft YaHei" pitchFamily="34" charset="0"/>
                <a:ea typeface="Microsoft YaHei" pitchFamily="34" charset="-122"/>
                <a:cs typeface="Microsoft YaHei" pitchFamily="34" charset="-120"/>
              </a:rPr>
              <a:t>讲评：职权与工作职责分别定位</a:t>
            </a:r>
            <a:endParaRPr lang="en-US" sz="3200" dirty="0"/>
          </a:p>
        </p:txBody>
      </p:sp>
      <p:sp>
        <p:nvSpPr>
          <p:cNvPr id="3" name="Text 1"/>
          <p:cNvSpPr/>
          <p:nvPr/>
        </p:nvSpPr>
        <p:spPr>
          <a:xfrm>
            <a:off x="731520" y="1170432"/>
            <a:ext cx="10698480" cy="384048"/>
          </a:xfrm>
          <a:prstGeom prst="rect">
            <a:avLst/>
          </a:prstGeom>
          <a:noFill/>
          <a:ln/>
        </p:spPr>
        <p:txBody>
          <a:bodyPr wrap="square" lIns="0" tIns="0" rIns="0" bIns="0" rtlCol="0" anchor="t"/>
          <a:lstStyle/>
          <a:p>
            <a:pPr indent="0" marL="0">
              <a:lnSpc>
                <a:spcPct val="108000"/>
              </a:lnSpc>
              <a:buNone/>
            </a:pPr>
            <a:r>
              <a:rPr lang="en-US" sz="1600" dirty="0">
                <a:solidFill>
                  <a:srgbClr val="64717A"/>
                </a:solidFill>
                <a:latin typeface="Microsoft YaHei" pitchFamily="34" charset="0"/>
                <a:ea typeface="Microsoft YaHei" pitchFamily="34" charset="-122"/>
                <a:cs typeface="Microsoft YaHei" pitchFamily="34" charset="-120"/>
              </a:rPr>
              <a:t>同样涉及宪法，承担的任务和法律地位仍需分别核对。</a:t>
            </a:r>
            <a:endParaRPr lang="en-US" sz="1600" dirty="0"/>
          </a:p>
        </p:txBody>
      </p:sp>
      <p:sp>
        <p:nvSpPr>
          <p:cNvPr id="4" name="Shape 2"/>
          <p:cNvSpPr/>
          <p:nvPr/>
        </p:nvSpPr>
        <p:spPr>
          <a:xfrm>
            <a:off x="768096" y="1773936"/>
            <a:ext cx="3195828" cy="640080"/>
          </a:xfrm>
          <a:prstGeom prst="rect">
            <a:avLst/>
          </a:prstGeom>
          <a:solidFill>
            <a:srgbClr val="142735"/>
          </a:solidFill>
          <a:ln w="10160">
            <a:solidFill>
              <a:srgbClr val="F8F6F1"/>
            </a:solidFill>
            <a:prstDash val="solid"/>
          </a:ln>
        </p:spPr>
      </p:sp>
      <p:sp>
        <p:nvSpPr>
          <p:cNvPr id="5" name="Text 3"/>
          <p:cNvSpPr/>
          <p:nvPr/>
        </p:nvSpPr>
        <p:spPr>
          <a:xfrm>
            <a:off x="941832" y="1929384"/>
            <a:ext cx="2848356" cy="365760"/>
          </a:xfrm>
          <a:prstGeom prst="rect">
            <a:avLst/>
          </a:prstGeom>
          <a:noFill/>
          <a:ln/>
        </p:spPr>
        <p:txBody>
          <a:bodyPr wrap="square" lIns="0" tIns="0" rIns="0" bIns="0" rtlCol="0" anchor="t"/>
          <a:lstStyle/>
          <a:p>
            <a:pPr indent="0" marL="0">
              <a:lnSpc>
                <a:spcPct val="108000"/>
              </a:lnSpc>
              <a:buNone/>
            </a:pPr>
            <a:r>
              <a:rPr lang="en-US" sz="2200" b="1" dirty="0">
                <a:solidFill>
                  <a:srgbClr val="FFFFFF"/>
                </a:solidFill>
                <a:latin typeface="Microsoft YaHei" pitchFamily="34" charset="0"/>
                <a:ea typeface="Microsoft YaHei" pitchFamily="34" charset="-122"/>
                <a:cs typeface="Microsoft YaHei" pitchFamily="34" charset="-120"/>
              </a:rPr>
              <a:t>主体</a:t>
            </a:r>
            <a:endParaRPr lang="en-US" sz="2200" dirty="0"/>
          </a:p>
        </p:txBody>
      </p:sp>
      <p:sp>
        <p:nvSpPr>
          <p:cNvPr id="6" name="Shape 4"/>
          <p:cNvSpPr/>
          <p:nvPr/>
        </p:nvSpPr>
        <p:spPr>
          <a:xfrm>
            <a:off x="3963924" y="1773936"/>
            <a:ext cx="4793742" cy="640080"/>
          </a:xfrm>
          <a:prstGeom prst="rect">
            <a:avLst/>
          </a:prstGeom>
          <a:solidFill>
            <a:srgbClr val="142735"/>
          </a:solidFill>
          <a:ln w="10160">
            <a:solidFill>
              <a:srgbClr val="F8F6F1"/>
            </a:solidFill>
            <a:prstDash val="solid"/>
          </a:ln>
        </p:spPr>
      </p:sp>
      <p:sp>
        <p:nvSpPr>
          <p:cNvPr id="7" name="Text 5"/>
          <p:cNvSpPr/>
          <p:nvPr/>
        </p:nvSpPr>
        <p:spPr>
          <a:xfrm>
            <a:off x="4137660" y="1929384"/>
            <a:ext cx="4446270" cy="365760"/>
          </a:xfrm>
          <a:prstGeom prst="rect">
            <a:avLst/>
          </a:prstGeom>
          <a:noFill/>
          <a:ln/>
        </p:spPr>
        <p:txBody>
          <a:bodyPr wrap="square" lIns="0" tIns="0" rIns="0" bIns="0" rtlCol="0" anchor="t"/>
          <a:lstStyle/>
          <a:p>
            <a:pPr indent="0" marL="0">
              <a:lnSpc>
                <a:spcPct val="108000"/>
              </a:lnSpc>
              <a:buNone/>
            </a:pPr>
            <a:r>
              <a:rPr lang="en-US" sz="2200" b="1" dirty="0">
                <a:solidFill>
                  <a:srgbClr val="FFFFFF"/>
                </a:solidFill>
                <a:latin typeface="Microsoft YaHei" pitchFamily="34" charset="0"/>
                <a:ea typeface="Microsoft YaHei" pitchFamily="34" charset="-122"/>
                <a:cs typeface="Microsoft YaHei" pitchFamily="34" charset="-120"/>
              </a:rPr>
              <a:t>本课对应任务</a:t>
            </a:r>
            <a:endParaRPr lang="en-US" sz="2200" dirty="0"/>
          </a:p>
        </p:txBody>
      </p:sp>
      <p:sp>
        <p:nvSpPr>
          <p:cNvPr id="8" name="Shape 6"/>
          <p:cNvSpPr/>
          <p:nvPr/>
        </p:nvSpPr>
        <p:spPr>
          <a:xfrm>
            <a:off x="8757666" y="1773936"/>
            <a:ext cx="2663190" cy="640080"/>
          </a:xfrm>
          <a:prstGeom prst="rect">
            <a:avLst/>
          </a:prstGeom>
          <a:solidFill>
            <a:srgbClr val="142735"/>
          </a:solidFill>
          <a:ln w="10160">
            <a:solidFill>
              <a:srgbClr val="F8F6F1"/>
            </a:solidFill>
            <a:prstDash val="solid"/>
          </a:ln>
        </p:spPr>
      </p:sp>
      <p:sp>
        <p:nvSpPr>
          <p:cNvPr id="9" name="Text 7"/>
          <p:cNvSpPr/>
          <p:nvPr/>
        </p:nvSpPr>
        <p:spPr>
          <a:xfrm>
            <a:off x="8931402" y="1929384"/>
            <a:ext cx="2315718" cy="365760"/>
          </a:xfrm>
          <a:prstGeom prst="rect">
            <a:avLst/>
          </a:prstGeom>
          <a:noFill/>
          <a:ln/>
        </p:spPr>
        <p:txBody>
          <a:bodyPr wrap="square" lIns="0" tIns="0" rIns="0" bIns="0" rtlCol="0" anchor="t"/>
          <a:lstStyle/>
          <a:p>
            <a:pPr indent="0" marL="0">
              <a:lnSpc>
                <a:spcPct val="108000"/>
              </a:lnSpc>
              <a:buNone/>
            </a:pPr>
            <a:r>
              <a:rPr lang="en-US" sz="2200" b="1" dirty="0">
                <a:solidFill>
                  <a:srgbClr val="FFFFFF"/>
                </a:solidFill>
                <a:latin typeface="Microsoft YaHei" pitchFamily="34" charset="0"/>
                <a:ea typeface="Microsoft YaHei" pitchFamily="34" charset="-122"/>
                <a:cs typeface="Microsoft YaHei" pitchFamily="34" charset="-120"/>
              </a:rPr>
              <a:t>依据</a:t>
            </a:r>
            <a:endParaRPr lang="en-US" sz="2200" dirty="0"/>
          </a:p>
        </p:txBody>
      </p:sp>
      <p:sp>
        <p:nvSpPr>
          <p:cNvPr id="10" name="Shape 8"/>
          <p:cNvSpPr/>
          <p:nvPr/>
        </p:nvSpPr>
        <p:spPr>
          <a:xfrm>
            <a:off x="768096" y="2414016"/>
            <a:ext cx="3195828" cy="1036320"/>
          </a:xfrm>
          <a:prstGeom prst="rect">
            <a:avLst/>
          </a:prstGeom>
          <a:solidFill>
            <a:srgbClr val="FFFFFF"/>
          </a:solidFill>
          <a:ln w="10160">
            <a:solidFill>
              <a:srgbClr val="F8F6F1"/>
            </a:solidFill>
            <a:prstDash val="solid"/>
          </a:ln>
        </p:spPr>
      </p:sp>
      <p:sp>
        <p:nvSpPr>
          <p:cNvPr id="11" name="Text 9"/>
          <p:cNvSpPr/>
          <p:nvPr/>
        </p:nvSpPr>
        <p:spPr>
          <a:xfrm>
            <a:off x="941832" y="2496312"/>
            <a:ext cx="2848356" cy="871728"/>
          </a:xfrm>
          <a:prstGeom prst="rect">
            <a:avLst/>
          </a:prstGeom>
          <a:noFill/>
          <a:ln/>
        </p:spPr>
        <p:txBody>
          <a:bodyPr wrap="square" lIns="0" tIns="0" rIns="0" bIns="0" rtlCol="0" anchor="t"/>
          <a:lstStyle/>
          <a:p>
            <a:pP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全国人大</a:t>
            </a:r>
            <a:endParaRPr lang="en-US" sz="2200" dirty="0"/>
          </a:p>
        </p:txBody>
      </p:sp>
      <p:sp>
        <p:nvSpPr>
          <p:cNvPr id="12" name="Shape 10"/>
          <p:cNvSpPr/>
          <p:nvPr/>
        </p:nvSpPr>
        <p:spPr>
          <a:xfrm>
            <a:off x="3963924" y="2414016"/>
            <a:ext cx="4793742" cy="1036320"/>
          </a:xfrm>
          <a:prstGeom prst="rect">
            <a:avLst/>
          </a:prstGeom>
          <a:solidFill>
            <a:srgbClr val="FFFFFF"/>
          </a:solidFill>
          <a:ln w="10160">
            <a:solidFill>
              <a:srgbClr val="F8F6F1"/>
            </a:solidFill>
            <a:prstDash val="solid"/>
          </a:ln>
        </p:spPr>
      </p:sp>
      <p:sp>
        <p:nvSpPr>
          <p:cNvPr id="13" name="Text 11"/>
          <p:cNvSpPr/>
          <p:nvPr/>
        </p:nvSpPr>
        <p:spPr>
          <a:xfrm>
            <a:off x="4137660" y="2496312"/>
            <a:ext cx="4446270" cy="871728"/>
          </a:xfrm>
          <a:prstGeom prst="rect">
            <a:avLst/>
          </a:prstGeom>
          <a:noFill/>
          <a:ln/>
        </p:spPr>
        <p:txBody>
          <a:bodyPr wrap="square" lIns="0" tIns="0" rIns="0" bIns="0" rtlCol="0" anchor="t"/>
          <a:lstStyle/>
          <a:p>
            <a:pPr indent="0" marL="0">
              <a:lnSpc>
                <a:spcPct val="108000"/>
              </a:lnSpc>
              <a:buNone/>
            </a:pPr>
            <a:r>
              <a:rPr lang="en-US" sz="2200" dirty="0">
                <a:solidFill>
                  <a:srgbClr val="142735"/>
                </a:solidFill>
                <a:latin typeface="Microsoft YaHei" pitchFamily="34" charset="0"/>
                <a:ea typeface="Microsoft YaHei" pitchFamily="34" charset="-122"/>
                <a:cs typeface="Microsoft YaHei" pitchFamily="34" charset="-120"/>
              </a:rPr>
              <a:t>修改宪法；监督宪法实施</a:t>
            </a:r>
            <a:endParaRPr lang="en-US" sz="2200" dirty="0"/>
          </a:p>
        </p:txBody>
      </p:sp>
      <p:sp>
        <p:nvSpPr>
          <p:cNvPr id="14" name="Shape 12"/>
          <p:cNvSpPr/>
          <p:nvPr/>
        </p:nvSpPr>
        <p:spPr>
          <a:xfrm>
            <a:off x="8757666" y="2414016"/>
            <a:ext cx="2663190" cy="1036320"/>
          </a:xfrm>
          <a:prstGeom prst="rect">
            <a:avLst/>
          </a:prstGeom>
          <a:solidFill>
            <a:srgbClr val="FFFFFF"/>
          </a:solidFill>
          <a:ln w="10160">
            <a:solidFill>
              <a:srgbClr val="F8F6F1"/>
            </a:solidFill>
            <a:prstDash val="solid"/>
          </a:ln>
        </p:spPr>
      </p:sp>
      <p:sp>
        <p:nvSpPr>
          <p:cNvPr id="15" name="Text 13"/>
          <p:cNvSpPr/>
          <p:nvPr/>
        </p:nvSpPr>
        <p:spPr>
          <a:xfrm>
            <a:off x="8931402" y="2496312"/>
            <a:ext cx="2315718" cy="871728"/>
          </a:xfrm>
          <a:prstGeom prst="rect">
            <a:avLst/>
          </a:prstGeom>
          <a:noFill/>
          <a:ln/>
        </p:spPr>
        <p:txBody>
          <a:bodyPr wrap="square" lIns="0" tIns="0" rIns="0" bIns="0" rtlCol="0" anchor="t"/>
          <a:lstStyle/>
          <a:p>
            <a:pPr indent="0" marL="0">
              <a:lnSpc>
                <a:spcPct val="108000"/>
              </a:lnSpc>
              <a:buNone/>
            </a:pPr>
            <a:r>
              <a:rPr lang="en-US" sz="2200" dirty="0">
                <a:solidFill>
                  <a:srgbClr val="142735"/>
                </a:solidFill>
                <a:latin typeface="Microsoft YaHei" pitchFamily="34" charset="0"/>
                <a:ea typeface="Microsoft YaHei" pitchFamily="34" charset="-122"/>
                <a:cs typeface="Microsoft YaHei" pitchFamily="34" charset="-120"/>
              </a:rPr>
              <a:t>宪法</a:t>
            </a:r>
            <a:endParaRPr lang="en-US" sz="2200" dirty="0"/>
          </a:p>
          <a:p>
            <a:pPr indent="0" marL="0">
              <a:lnSpc>
                <a:spcPct val="108000"/>
              </a:lnSpc>
              <a:buNone/>
            </a:pPr>
            <a:r>
              <a:rPr lang="en-US" sz="2200" dirty="0">
                <a:solidFill>
                  <a:srgbClr val="142735"/>
                </a:solidFill>
                <a:latin typeface="Microsoft YaHei" pitchFamily="34" charset="0"/>
                <a:ea typeface="Microsoft YaHei" pitchFamily="34" charset="-122"/>
                <a:cs typeface="Microsoft YaHei" pitchFamily="34" charset="-120"/>
              </a:rPr>
              <a:t>第62、64条</a:t>
            </a:r>
            <a:endParaRPr lang="en-US" sz="2200" dirty="0"/>
          </a:p>
        </p:txBody>
      </p:sp>
      <p:sp>
        <p:nvSpPr>
          <p:cNvPr id="16" name="Shape 14"/>
          <p:cNvSpPr/>
          <p:nvPr/>
        </p:nvSpPr>
        <p:spPr>
          <a:xfrm>
            <a:off x="768096" y="3450336"/>
            <a:ext cx="3195828" cy="1036320"/>
          </a:xfrm>
          <a:prstGeom prst="rect">
            <a:avLst/>
          </a:prstGeom>
          <a:solidFill>
            <a:srgbClr val="EEEAE1"/>
          </a:solidFill>
          <a:ln w="10160">
            <a:solidFill>
              <a:srgbClr val="F8F6F1"/>
            </a:solidFill>
            <a:prstDash val="solid"/>
          </a:ln>
        </p:spPr>
      </p:sp>
      <p:sp>
        <p:nvSpPr>
          <p:cNvPr id="17" name="Text 15"/>
          <p:cNvSpPr/>
          <p:nvPr/>
        </p:nvSpPr>
        <p:spPr>
          <a:xfrm>
            <a:off x="941832" y="3532632"/>
            <a:ext cx="2848356" cy="871728"/>
          </a:xfrm>
          <a:prstGeom prst="rect">
            <a:avLst/>
          </a:prstGeom>
          <a:noFill/>
          <a:ln/>
        </p:spPr>
        <p:txBody>
          <a:bodyPr wrap="square" lIns="0" tIns="0" rIns="0" bIns="0" rtlCol="0" anchor="t"/>
          <a:lstStyle/>
          <a:p>
            <a:pP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全国人大常委会</a:t>
            </a:r>
            <a:endParaRPr lang="en-US" sz="2200" dirty="0"/>
          </a:p>
        </p:txBody>
      </p:sp>
      <p:sp>
        <p:nvSpPr>
          <p:cNvPr id="18" name="Shape 16"/>
          <p:cNvSpPr/>
          <p:nvPr/>
        </p:nvSpPr>
        <p:spPr>
          <a:xfrm>
            <a:off x="3963924" y="3450336"/>
            <a:ext cx="4793742" cy="1036320"/>
          </a:xfrm>
          <a:prstGeom prst="rect">
            <a:avLst/>
          </a:prstGeom>
          <a:solidFill>
            <a:srgbClr val="EEEAE1"/>
          </a:solidFill>
          <a:ln w="10160">
            <a:solidFill>
              <a:srgbClr val="F8F6F1"/>
            </a:solidFill>
            <a:prstDash val="solid"/>
          </a:ln>
        </p:spPr>
      </p:sp>
      <p:sp>
        <p:nvSpPr>
          <p:cNvPr id="19" name="Text 17"/>
          <p:cNvSpPr/>
          <p:nvPr/>
        </p:nvSpPr>
        <p:spPr>
          <a:xfrm>
            <a:off x="4137660" y="3532632"/>
            <a:ext cx="4446270" cy="871728"/>
          </a:xfrm>
          <a:prstGeom prst="rect">
            <a:avLst/>
          </a:prstGeom>
          <a:noFill/>
          <a:ln/>
        </p:spPr>
        <p:txBody>
          <a:bodyPr wrap="square" lIns="0" tIns="0" rIns="0" bIns="0" rtlCol="0" anchor="t"/>
          <a:lstStyle/>
          <a:p>
            <a:pPr indent="0" marL="0">
              <a:lnSpc>
                <a:spcPct val="108000"/>
              </a:lnSpc>
              <a:buNone/>
            </a:pPr>
            <a:r>
              <a:rPr lang="en-US" sz="2200" dirty="0">
                <a:solidFill>
                  <a:srgbClr val="142735"/>
                </a:solidFill>
                <a:latin typeface="Microsoft YaHei" pitchFamily="34" charset="0"/>
                <a:ea typeface="Microsoft YaHei" pitchFamily="34" charset="-122"/>
                <a:cs typeface="Microsoft YaHei" pitchFamily="34" charset="-120"/>
              </a:rPr>
              <a:t>解释宪法；监督宪法实施</a:t>
            </a:r>
            <a:endParaRPr lang="en-US" sz="2200" dirty="0"/>
          </a:p>
        </p:txBody>
      </p:sp>
      <p:sp>
        <p:nvSpPr>
          <p:cNvPr id="20" name="Shape 18"/>
          <p:cNvSpPr/>
          <p:nvPr/>
        </p:nvSpPr>
        <p:spPr>
          <a:xfrm>
            <a:off x="8757666" y="3450336"/>
            <a:ext cx="2663190" cy="1036320"/>
          </a:xfrm>
          <a:prstGeom prst="rect">
            <a:avLst/>
          </a:prstGeom>
          <a:solidFill>
            <a:srgbClr val="EEEAE1"/>
          </a:solidFill>
          <a:ln w="10160">
            <a:solidFill>
              <a:srgbClr val="F8F6F1"/>
            </a:solidFill>
            <a:prstDash val="solid"/>
          </a:ln>
        </p:spPr>
      </p:sp>
      <p:sp>
        <p:nvSpPr>
          <p:cNvPr id="21" name="Text 19"/>
          <p:cNvSpPr/>
          <p:nvPr/>
        </p:nvSpPr>
        <p:spPr>
          <a:xfrm>
            <a:off x="8931402" y="3532632"/>
            <a:ext cx="2315718" cy="871728"/>
          </a:xfrm>
          <a:prstGeom prst="rect">
            <a:avLst/>
          </a:prstGeom>
          <a:noFill/>
          <a:ln/>
        </p:spPr>
        <p:txBody>
          <a:bodyPr wrap="square" lIns="0" tIns="0" rIns="0" bIns="0" rtlCol="0" anchor="t"/>
          <a:lstStyle/>
          <a:p>
            <a:pPr indent="0" marL="0">
              <a:lnSpc>
                <a:spcPct val="108000"/>
              </a:lnSpc>
              <a:buNone/>
            </a:pPr>
            <a:r>
              <a:rPr lang="en-US" sz="2200" dirty="0">
                <a:solidFill>
                  <a:srgbClr val="142735"/>
                </a:solidFill>
                <a:latin typeface="Microsoft YaHei" pitchFamily="34" charset="0"/>
                <a:ea typeface="Microsoft YaHei" pitchFamily="34" charset="-122"/>
                <a:cs typeface="Microsoft YaHei" pitchFamily="34" charset="-120"/>
              </a:rPr>
              <a:t>宪法</a:t>
            </a:r>
            <a:endParaRPr lang="en-US" sz="2200" dirty="0"/>
          </a:p>
          <a:p>
            <a:pPr indent="0" marL="0">
              <a:lnSpc>
                <a:spcPct val="108000"/>
              </a:lnSpc>
              <a:buNone/>
            </a:pPr>
            <a:r>
              <a:rPr lang="en-US" sz="2200" dirty="0">
                <a:solidFill>
                  <a:srgbClr val="142735"/>
                </a:solidFill>
                <a:latin typeface="Microsoft YaHei" pitchFamily="34" charset="0"/>
                <a:ea typeface="Microsoft YaHei" pitchFamily="34" charset="-122"/>
                <a:cs typeface="Microsoft YaHei" pitchFamily="34" charset="-120"/>
              </a:rPr>
              <a:t>第67条</a:t>
            </a:r>
            <a:endParaRPr lang="en-US" sz="2200" dirty="0"/>
          </a:p>
        </p:txBody>
      </p:sp>
      <p:sp>
        <p:nvSpPr>
          <p:cNvPr id="22" name="Shape 20"/>
          <p:cNvSpPr/>
          <p:nvPr/>
        </p:nvSpPr>
        <p:spPr>
          <a:xfrm>
            <a:off x="768096" y="4486656"/>
            <a:ext cx="3195828" cy="1036320"/>
          </a:xfrm>
          <a:prstGeom prst="rect">
            <a:avLst/>
          </a:prstGeom>
          <a:solidFill>
            <a:srgbClr val="FFFFFF"/>
          </a:solidFill>
          <a:ln w="10160">
            <a:solidFill>
              <a:srgbClr val="F8F6F1"/>
            </a:solidFill>
            <a:prstDash val="solid"/>
          </a:ln>
        </p:spPr>
      </p:sp>
      <p:sp>
        <p:nvSpPr>
          <p:cNvPr id="23" name="Text 21"/>
          <p:cNvSpPr/>
          <p:nvPr/>
        </p:nvSpPr>
        <p:spPr>
          <a:xfrm>
            <a:off x="941832" y="4568952"/>
            <a:ext cx="2848356" cy="871728"/>
          </a:xfrm>
          <a:prstGeom prst="rect">
            <a:avLst/>
          </a:prstGeom>
          <a:noFill/>
          <a:ln/>
        </p:spPr>
        <p:txBody>
          <a:bodyPr wrap="square" lIns="0" tIns="0" rIns="0" bIns="0" rtlCol="0" anchor="t"/>
          <a:lstStyle/>
          <a:p>
            <a:pP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宪法和法律委员会</a:t>
            </a:r>
            <a:endParaRPr lang="en-US" sz="2200" dirty="0"/>
          </a:p>
        </p:txBody>
      </p:sp>
      <p:sp>
        <p:nvSpPr>
          <p:cNvPr id="24" name="Shape 22"/>
          <p:cNvSpPr/>
          <p:nvPr/>
        </p:nvSpPr>
        <p:spPr>
          <a:xfrm>
            <a:off x="3963924" y="4486656"/>
            <a:ext cx="4793742" cy="1036320"/>
          </a:xfrm>
          <a:prstGeom prst="rect">
            <a:avLst/>
          </a:prstGeom>
          <a:solidFill>
            <a:srgbClr val="FFFFFF"/>
          </a:solidFill>
          <a:ln w="10160">
            <a:solidFill>
              <a:srgbClr val="F8F6F1"/>
            </a:solidFill>
            <a:prstDash val="solid"/>
          </a:ln>
        </p:spPr>
      </p:sp>
      <p:sp>
        <p:nvSpPr>
          <p:cNvPr id="25" name="Text 23"/>
          <p:cNvSpPr/>
          <p:nvPr/>
        </p:nvSpPr>
        <p:spPr>
          <a:xfrm>
            <a:off x="4137660" y="4568952"/>
            <a:ext cx="4446270" cy="871728"/>
          </a:xfrm>
          <a:prstGeom prst="rect">
            <a:avLst/>
          </a:prstGeom>
          <a:noFill/>
          <a:ln/>
        </p:spPr>
        <p:txBody>
          <a:bodyPr wrap="square" lIns="0" tIns="0" rIns="0" bIns="0" rtlCol="0" anchor="t"/>
          <a:lstStyle/>
          <a:p>
            <a:pPr indent="0" marL="0">
              <a:lnSpc>
                <a:spcPct val="108000"/>
              </a:lnSpc>
              <a:buNone/>
            </a:pPr>
            <a:r>
              <a:rPr lang="en-US" sz="2200" dirty="0">
                <a:solidFill>
                  <a:srgbClr val="142735"/>
                </a:solidFill>
                <a:latin typeface="Microsoft YaHei" pitchFamily="34" charset="0"/>
                <a:ea typeface="Microsoft YaHei" pitchFamily="34" charset="-122"/>
                <a:cs typeface="Microsoft YaHei" pitchFamily="34" charset="-120"/>
              </a:rPr>
              <a:t>推动实施、开展解释、推进合宪性审查等工作</a:t>
            </a:r>
            <a:endParaRPr lang="en-US" sz="2200" dirty="0"/>
          </a:p>
        </p:txBody>
      </p:sp>
      <p:sp>
        <p:nvSpPr>
          <p:cNvPr id="26" name="Shape 24"/>
          <p:cNvSpPr/>
          <p:nvPr/>
        </p:nvSpPr>
        <p:spPr>
          <a:xfrm>
            <a:off x="8757666" y="4486656"/>
            <a:ext cx="2663190" cy="1036320"/>
          </a:xfrm>
          <a:prstGeom prst="rect">
            <a:avLst/>
          </a:prstGeom>
          <a:solidFill>
            <a:srgbClr val="FFFFFF"/>
          </a:solidFill>
          <a:ln w="10160">
            <a:solidFill>
              <a:srgbClr val="F8F6F1"/>
            </a:solidFill>
            <a:prstDash val="solid"/>
          </a:ln>
        </p:spPr>
      </p:sp>
      <p:sp>
        <p:nvSpPr>
          <p:cNvPr id="27" name="Text 25"/>
          <p:cNvSpPr/>
          <p:nvPr/>
        </p:nvSpPr>
        <p:spPr>
          <a:xfrm>
            <a:off x="8931402" y="4568952"/>
            <a:ext cx="2315718" cy="871728"/>
          </a:xfrm>
          <a:prstGeom prst="rect">
            <a:avLst/>
          </a:prstGeom>
          <a:noFill/>
          <a:ln/>
        </p:spPr>
        <p:txBody>
          <a:bodyPr wrap="square" lIns="0" tIns="0" rIns="0" bIns="0" rtlCol="0" anchor="t"/>
          <a:lstStyle/>
          <a:p>
            <a:pPr indent="0" marL="0">
              <a:lnSpc>
                <a:spcPct val="108000"/>
              </a:lnSpc>
              <a:buNone/>
            </a:pPr>
            <a:r>
              <a:rPr lang="en-US" sz="2200" dirty="0">
                <a:solidFill>
                  <a:srgbClr val="142735"/>
                </a:solidFill>
                <a:latin typeface="Microsoft YaHei" pitchFamily="34" charset="0"/>
                <a:ea typeface="Microsoft YaHei" pitchFamily="34" charset="-122"/>
                <a:cs typeface="Microsoft YaHei" pitchFamily="34" charset="-120"/>
              </a:rPr>
              <a:t>全国人大组织法</a:t>
            </a:r>
            <a:endParaRPr lang="en-US" sz="2200" dirty="0"/>
          </a:p>
          <a:p>
            <a:pPr indent="0" marL="0">
              <a:lnSpc>
                <a:spcPct val="108000"/>
              </a:lnSpc>
              <a:buNone/>
            </a:pPr>
            <a:r>
              <a:rPr lang="en-US" sz="2200" dirty="0">
                <a:solidFill>
                  <a:srgbClr val="142735"/>
                </a:solidFill>
                <a:latin typeface="Microsoft YaHei" pitchFamily="34" charset="0"/>
                <a:ea typeface="Microsoft YaHei" pitchFamily="34" charset="-122"/>
                <a:cs typeface="Microsoft YaHei" pitchFamily="34" charset="-120"/>
              </a:rPr>
              <a:t>第39条</a:t>
            </a:r>
            <a:endParaRPr lang="en-US" sz="2200" dirty="0"/>
          </a:p>
        </p:txBody>
      </p:sp>
      <p:sp>
        <p:nvSpPr>
          <p:cNvPr id="28" name="Shape 26"/>
          <p:cNvSpPr/>
          <p:nvPr/>
        </p:nvSpPr>
        <p:spPr>
          <a:xfrm>
            <a:off x="768096" y="5650992"/>
            <a:ext cx="10652760" cy="420624"/>
          </a:xfrm>
          <a:prstGeom prst="rect">
            <a:avLst/>
          </a:prstGeom>
          <a:solidFill>
            <a:srgbClr val="EEEAE1"/>
          </a:solidFill>
          <a:ln w="10160">
            <a:solidFill>
              <a:srgbClr val="EEEAE1">
                <a:alpha val="0"/>
              </a:srgbClr>
            </a:solidFill>
            <a:prstDash val="solid"/>
          </a:ln>
        </p:spPr>
      </p:sp>
      <p:sp>
        <p:nvSpPr>
          <p:cNvPr id="29" name="Text 27"/>
          <p:cNvSpPr/>
          <p:nvPr/>
        </p:nvSpPr>
        <p:spPr>
          <a:xfrm>
            <a:off x="987552" y="5696712"/>
            <a:ext cx="10213848" cy="329184"/>
          </a:xfrm>
          <a:prstGeom prst="rect">
            <a:avLst/>
          </a:prstGeom>
          <a:noFill/>
          <a:ln/>
        </p:spPr>
        <p:txBody>
          <a:bodyPr wrap="square" lIns="0" tIns="0" rIns="0" bIns="0" rtlCol="0" anchor="t"/>
          <a:lstStyle/>
          <a:p>
            <a:pP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专门委员会承担相关工作，不能直接等同于常委会作出最终决定。</a:t>
            </a:r>
            <a:endParaRPr lang="en-US" sz="2200" dirty="0"/>
          </a:p>
        </p:txBody>
      </p:sp>
      <p:sp>
        <p:nvSpPr>
          <p:cNvPr id="30" name="Shape 28"/>
          <p:cNvSpPr/>
          <p:nvPr/>
        </p:nvSpPr>
        <p:spPr>
          <a:xfrm>
            <a:off x="658368" y="6291072"/>
            <a:ext cx="10872216" cy="10973"/>
          </a:xfrm>
          <a:prstGeom prst="rect">
            <a:avLst/>
          </a:prstGeom>
          <a:solidFill>
            <a:srgbClr val="D9D9D3"/>
          </a:solidFill>
          <a:ln w="10160">
            <a:solidFill>
              <a:srgbClr val="D9D9D3">
                <a:alpha val="0"/>
              </a:srgbClr>
            </a:solidFill>
            <a:prstDash val="solid"/>
          </a:ln>
        </p:spPr>
      </p:sp>
      <p:sp>
        <p:nvSpPr>
          <p:cNvPr id="31" name="Text 29"/>
          <p:cNvSpPr/>
          <p:nvPr/>
        </p:nvSpPr>
        <p:spPr>
          <a:xfrm>
            <a:off x="685800" y="6400800"/>
            <a:ext cx="2286000" cy="256032"/>
          </a:xfrm>
          <a:prstGeom prst="rect">
            <a:avLst/>
          </a:prstGeom>
          <a:noFill/>
          <a:ln/>
        </p:spPr>
        <p:txBody>
          <a:bodyPr wrap="square" lIns="0" tIns="0" rIns="0" bIns="0" rtlCol="0" anchor="t"/>
          <a:lstStyle/>
          <a:p>
            <a:pP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宪法学 · 第8讲</a:t>
            </a:r>
            <a:endParaRPr lang="en-US" sz="1100" dirty="0"/>
          </a:p>
        </p:txBody>
      </p:sp>
      <p:sp>
        <p:nvSpPr>
          <p:cNvPr id="32" name="Text 30"/>
          <p:cNvSpPr/>
          <p:nvPr/>
        </p:nvSpPr>
        <p:spPr>
          <a:xfrm>
            <a:off x="3154680" y="6400800"/>
            <a:ext cx="6720840" cy="256032"/>
          </a:xfrm>
          <a:prstGeom prst="rect">
            <a:avLst/>
          </a:prstGeom>
          <a:noFill/>
          <a:ln/>
        </p:spPr>
        <p:txBody>
          <a:bodyPr wrap="square" lIns="0" tIns="0" rIns="0" bIns="0" rtlCol="0" anchor="t"/>
          <a:lstStyle/>
          <a:p>
            <a:pPr algn="ct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《宪法》第62、64、67条；《全国人大组织法》第39条</a:t>
            </a:r>
            <a:endParaRPr lang="en-US" sz="1100" dirty="0"/>
          </a:p>
        </p:txBody>
      </p:sp>
      <p:sp>
        <p:nvSpPr>
          <p:cNvPr id="33" name="Text 31"/>
          <p:cNvSpPr/>
          <p:nvPr/>
        </p:nvSpPr>
        <p:spPr>
          <a:xfrm>
            <a:off x="10195560" y="6400800"/>
            <a:ext cx="1325880" cy="256032"/>
          </a:xfrm>
          <a:prstGeom prst="rect">
            <a:avLst/>
          </a:prstGeom>
          <a:noFill/>
          <a:ln/>
        </p:spPr>
        <p:txBody>
          <a:bodyPr wrap="square" lIns="0" tIns="0" rIns="0" bIns="0" rtlCol="0" anchor="t"/>
          <a:lstStyle/>
          <a:p>
            <a:pPr algn="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8 / 24</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713232" y="475488"/>
            <a:ext cx="10744200" cy="594360"/>
          </a:xfrm>
          <a:prstGeom prst="rect">
            <a:avLst/>
          </a:prstGeom>
          <a:noFill/>
          <a:ln/>
        </p:spPr>
        <p:txBody>
          <a:bodyPr wrap="square" lIns="0" tIns="0" rIns="0" bIns="0" rtlCol="0" anchor="t"/>
          <a:lstStyle/>
          <a:p>
            <a:pPr indent="0" marL="0">
              <a:lnSpc>
                <a:spcPct val="108000"/>
              </a:lnSpc>
              <a:buNone/>
            </a:pPr>
            <a:r>
              <a:rPr lang="en-US" sz="3200" b="1" dirty="0">
                <a:solidFill>
                  <a:srgbClr val="142735"/>
                </a:solidFill>
                <a:latin typeface="Microsoft YaHei" pitchFamily="34" charset="0"/>
                <a:ea typeface="Microsoft YaHei" pitchFamily="34" charset="-122"/>
                <a:cs typeface="Microsoft YaHei" pitchFamily="34" charset="-120"/>
              </a:rPr>
              <a:t>宪法实施发生在日常立法和履职中</a:t>
            </a:r>
            <a:endParaRPr lang="en-US" sz="3200" dirty="0"/>
          </a:p>
        </p:txBody>
      </p:sp>
      <p:sp>
        <p:nvSpPr>
          <p:cNvPr id="3" name="Text 1"/>
          <p:cNvSpPr/>
          <p:nvPr/>
        </p:nvSpPr>
        <p:spPr>
          <a:xfrm>
            <a:off x="731520" y="1170432"/>
            <a:ext cx="10698480" cy="384048"/>
          </a:xfrm>
          <a:prstGeom prst="rect">
            <a:avLst/>
          </a:prstGeom>
          <a:noFill/>
          <a:ln/>
        </p:spPr>
        <p:txBody>
          <a:bodyPr wrap="square" lIns="0" tIns="0" rIns="0" bIns="0" rtlCol="0" anchor="t"/>
          <a:lstStyle/>
          <a:p>
            <a:pPr indent="0" marL="0">
              <a:lnSpc>
                <a:spcPct val="108000"/>
              </a:lnSpc>
              <a:buNone/>
            </a:pPr>
            <a:r>
              <a:rPr lang="en-US" sz="1600" dirty="0">
                <a:solidFill>
                  <a:srgbClr val="64717A"/>
                </a:solidFill>
                <a:latin typeface="Microsoft YaHei" pitchFamily="34" charset="0"/>
                <a:ea typeface="Microsoft YaHei" pitchFamily="34" charset="-122"/>
                <a:cs typeface="Microsoft YaHei" pitchFamily="34" charset="-120"/>
              </a:rPr>
              <a:t>监督为宪法要求的落实提供保障。</a:t>
            </a:r>
            <a:endParaRPr lang="en-US" sz="1600" dirty="0"/>
          </a:p>
        </p:txBody>
      </p:sp>
      <p:sp>
        <p:nvSpPr>
          <p:cNvPr id="4" name="Shape 2"/>
          <p:cNvSpPr/>
          <p:nvPr/>
        </p:nvSpPr>
        <p:spPr>
          <a:xfrm>
            <a:off x="768096" y="1773936"/>
            <a:ext cx="3398520" cy="3264408"/>
          </a:xfrm>
          <a:prstGeom prst="rect">
            <a:avLst/>
          </a:prstGeom>
          <a:solidFill>
            <a:srgbClr val="FFFFFF"/>
          </a:solidFill>
          <a:ln w="10160">
            <a:solidFill>
              <a:srgbClr val="D9D9D3"/>
            </a:solidFill>
            <a:prstDash val="solid"/>
          </a:ln>
        </p:spPr>
      </p:sp>
      <p:sp>
        <p:nvSpPr>
          <p:cNvPr id="5" name="Text 3"/>
          <p:cNvSpPr/>
          <p:nvPr/>
        </p:nvSpPr>
        <p:spPr>
          <a:xfrm>
            <a:off x="996696" y="1984248"/>
            <a:ext cx="2941320" cy="676656"/>
          </a:xfrm>
          <a:prstGeom prst="rect">
            <a:avLst/>
          </a:prstGeom>
          <a:noFill/>
          <a:ln/>
        </p:spPr>
        <p:txBody>
          <a:bodyPr wrap="square" lIns="0" tIns="0" rIns="0" bIns="0" rtlCol="0" anchor="t"/>
          <a:lstStyle/>
          <a:p>
            <a:pPr indent="0" marL="0">
              <a:lnSpc>
                <a:spcPct val="108000"/>
              </a:lnSpc>
              <a:buNone/>
            </a:pPr>
            <a:r>
              <a:rPr lang="en-US" sz="2400" b="1" dirty="0">
                <a:solidFill>
                  <a:srgbClr val="B13D38"/>
                </a:solidFill>
                <a:latin typeface="Microsoft YaHei" pitchFamily="34" charset="0"/>
                <a:ea typeface="Microsoft YaHei" pitchFamily="34" charset="-122"/>
                <a:cs typeface="Microsoft YaHei" pitchFamily="34" charset="-120"/>
              </a:rPr>
              <a:t>依宪立法</a:t>
            </a:r>
            <a:endParaRPr lang="en-US" sz="2400" dirty="0"/>
          </a:p>
        </p:txBody>
      </p:sp>
      <p:sp>
        <p:nvSpPr>
          <p:cNvPr id="6" name="Text 4"/>
          <p:cNvSpPr/>
          <p:nvPr/>
        </p:nvSpPr>
        <p:spPr>
          <a:xfrm>
            <a:off x="996696" y="2852928"/>
            <a:ext cx="2941320" cy="1965960"/>
          </a:xfrm>
          <a:prstGeom prst="rect">
            <a:avLst/>
          </a:prstGeom>
          <a:noFill/>
          <a:ln/>
        </p:spPr>
        <p:txBody>
          <a:bodyPr wrap="square" lIns="0" tIns="0" rIns="0" bIns="0" rtlCol="0" anchor="t"/>
          <a:lstStyle/>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法律把宪法要求</a:t>
            </a: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展开为具体制度。</a:t>
            </a:r>
            <a:endParaRPr lang="en-US" sz="2200" dirty="0"/>
          </a:p>
        </p:txBody>
      </p:sp>
      <p:sp>
        <p:nvSpPr>
          <p:cNvPr id="7" name="Shape 5"/>
          <p:cNvSpPr/>
          <p:nvPr/>
        </p:nvSpPr>
        <p:spPr>
          <a:xfrm>
            <a:off x="4395216" y="1773936"/>
            <a:ext cx="3398520" cy="3264408"/>
          </a:xfrm>
          <a:prstGeom prst="rect">
            <a:avLst/>
          </a:prstGeom>
          <a:solidFill>
            <a:srgbClr val="FFFFFF"/>
          </a:solidFill>
          <a:ln w="10160">
            <a:solidFill>
              <a:srgbClr val="D9D9D3"/>
            </a:solidFill>
            <a:prstDash val="solid"/>
          </a:ln>
        </p:spPr>
      </p:sp>
      <p:sp>
        <p:nvSpPr>
          <p:cNvPr id="8" name="Text 6"/>
          <p:cNvSpPr/>
          <p:nvPr/>
        </p:nvSpPr>
        <p:spPr>
          <a:xfrm>
            <a:off x="4623816" y="1984248"/>
            <a:ext cx="2941320" cy="676656"/>
          </a:xfrm>
          <a:prstGeom prst="rect">
            <a:avLst/>
          </a:prstGeom>
          <a:noFill/>
          <a:ln/>
        </p:spPr>
        <p:txBody>
          <a:bodyPr wrap="square" lIns="0" tIns="0" rIns="0" bIns="0" rtlCol="0" anchor="t"/>
          <a:lstStyle/>
          <a:p>
            <a:pPr indent="0" marL="0">
              <a:lnSpc>
                <a:spcPct val="108000"/>
              </a:lnSpc>
              <a:buNone/>
            </a:pPr>
            <a:r>
              <a:rPr lang="en-US" sz="2400" b="1" dirty="0">
                <a:solidFill>
                  <a:srgbClr val="B13D38"/>
                </a:solidFill>
                <a:latin typeface="Microsoft YaHei" pitchFamily="34" charset="0"/>
                <a:ea typeface="Microsoft YaHei" pitchFamily="34" charset="-122"/>
                <a:cs typeface="Microsoft YaHei" pitchFamily="34" charset="-120"/>
              </a:rPr>
              <a:t>机关履职</a:t>
            </a:r>
            <a:endParaRPr lang="en-US" sz="2400" dirty="0"/>
          </a:p>
        </p:txBody>
      </p:sp>
      <p:sp>
        <p:nvSpPr>
          <p:cNvPr id="9" name="Text 7"/>
          <p:cNvSpPr/>
          <p:nvPr/>
        </p:nvSpPr>
        <p:spPr>
          <a:xfrm>
            <a:off x="4623816" y="2852928"/>
            <a:ext cx="2941320" cy="1965960"/>
          </a:xfrm>
          <a:prstGeom prst="rect">
            <a:avLst/>
          </a:prstGeom>
          <a:noFill/>
          <a:ln/>
        </p:spPr>
        <p:txBody>
          <a:bodyPr wrap="square" lIns="0" tIns="0" rIns="0" bIns="0" rtlCol="0" anchor="t"/>
          <a:lstStyle/>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国家机关按照</a:t>
            </a: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宪法规定的职责活动。</a:t>
            </a:r>
            <a:endParaRPr lang="en-US" sz="2200" dirty="0"/>
          </a:p>
        </p:txBody>
      </p:sp>
      <p:sp>
        <p:nvSpPr>
          <p:cNvPr id="10" name="Shape 8"/>
          <p:cNvSpPr/>
          <p:nvPr/>
        </p:nvSpPr>
        <p:spPr>
          <a:xfrm>
            <a:off x="8022336" y="1773936"/>
            <a:ext cx="3398520" cy="3264408"/>
          </a:xfrm>
          <a:prstGeom prst="rect">
            <a:avLst/>
          </a:prstGeom>
          <a:solidFill>
            <a:srgbClr val="FFFFFF"/>
          </a:solidFill>
          <a:ln w="10160">
            <a:solidFill>
              <a:srgbClr val="D9D9D3"/>
            </a:solidFill>
            <a:prstDash val="solid"/>
          </a:ln>
        </p:spPr>
      </p:sp>
      <p:sp>
        <p:nvSpPr>
          <p:cNvPr id="11" name="Text 9"/>
          <p:cNvSpPr/>
          <p:nvPr/>
        </p:nvSpPr>
        <p:spPr>
          <a:xfrm>
            <a:off x="8250936" y="1984248"/>
            <a:ext cx="2941320" cy="676656"/>
          </a:xfrm>
          <a:prstGeom prst="rect">
            <a:avLst/>
          </a:prstGeom>
          <a:noFill/>
          <a:ln/>
        </p:spPr>
        <p:txBody>
          <a:bodyPr wrap="square" lIns="0" tIns="0" rIns="0" bIns="0" rtlCol="0" anchor="t"/>
          <a:lstStyle/>
          <a:p>
            <a:pPr indent="0" marL="0">
              <a:lnSpc>
                <a:spcPct val="108000"/>
              </a:lnSpc>
              <a:buNone/>
            </a:pPr>
            <a:r>
              <a:rPr lang="en-US" sz="2400" b="1" dirty="0">
                <a:solidFill>
                  <a:srgbClr val="B13D38"/>
                </a:solidFill>
                <a:latin typeface="Microsoft YaHei" pitchFamily="34" charset="0"/>
                <a:ea typeface="Microsoft YaHei" pitchFamily="34" charset="-122"/>
                <a:cs typeface="Microsoft YaHei" pitchFamily="34" charset="-120"/>
              </a:rPr>
              <a:t>监督保障</a:t>
            </a:r>
            <a:endParaRPr lang="en-US" sz="2400" dirty="0"/>
          </a:p>
        </p:txBody>
      </p:sp>
      <p:sp>
        <p:nvSpPr>
          <p:cNvPr id="12" name="Text 10"/>
          <p:cNvSpPr/>
          <p:nvPr/>
        </p:nvSpPr>
        <p:spPr>
          <a:xfrm>
            <a:off x="8250936" y="2852928"/>
            <a:ext cx="2941320" cy="1965960"/>
          </a:xfrm>
          <a:prstGeom prst="rect">
            <a:avLst/>
          </a:prstGeom>
          <a:noFill/>
          <a:ln/>
        </p:spPr>
        <p:txBody>
          <a:bodyPr wrap="square" lIns="0" tIns="0" rIns="0" bIns="0" rtlCol="0" anchor="t"/>
          <a:lstStyle/>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发现实施中的问题，</a:t>
            </a: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依法推动纠正。</a:t>
            </a:r>
            <a:endParaRPr lang="en-US" sz="2200" dirty="0"/>
          </a:p>
        </p:txBody>
      </p:sp>
      <p:sp>
        <p:nvSpPr>
          <p:cNvPr id="13" name="Shape 11"/>
          <p:cNvSpPr/>
          <p:nvPr/>
        </p:nvSpPr>
        <p:spPr>
          <a:xfrm>
            <a:off x="768096" y="5358384"/>
            <a:ext cx="10652760" cy="621792"/>
          </a:xfrm>
          <a:prstGeom prst="rect">
            <a:avLst/>
          </a:prstGeom>
          <a:solidFill>
            <a:srgbClr val="EEEAE1"/>
          </a:solidFill>
          <a:ln w="10160">
            <a:solidFill>
              <a:srgbClr val="EEEAE1">
                <a:alpha val="0"/>
              </a:srgbClr>
            </a:solidFill>
            <a:prstDash val="solid"/>
          </a:ln>
        </p:spPr>
      </p:sp>
      <p:sp>
        <p:nvSpPr>
          <p:cNvPr id="14" name="Text 12"/>
          <p:cNvSpPr/>
          <p:nvPr/>
        </p:nvSpPr>
        <p:spPr>
          <a:xfrm>
            <a:off x="987552" y="5477256"/>
            <a:ext cx="10213848" cy="384048"/>
          </a:xfrm>
          <a:prstGeom prst="rect">
            <a:avLst/>
          </a:prstGeom>
          <a:noFill/>
          <a:ln/>
        </p:spPr>
        <p:txBody>
          <a:bodyPr wrap="square" lIns="0" tIns="0" rIns="0" bIns="0" rtlCol="0" anchor="t"/>
          <a:lstStyle/>
          <a:p>
            <a:pP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这些是本课选取的观察角度，宪法实施贯穿国家与社会生活。</a:t>
            </a:r>
            <a:endParaRPr lang="en-US" sz="2200" dirty="0"/>
          </a:p>
        </p:txBody>
      </p:sp>
      <p:sp>
        <p:nvSpPr>
          <p:cNvPr id="15" name="Shape 13"/>
          <p:cNvSpPr/>
          <p:nvPr/>
        </p:nvSpPr>
        <p:spPr>
          <a:xfrm>
            <a:off x="658368" y="6291072"/>
            <a:ext cx="10872216" cy="10973"/>
          </a:xfrm>
          <a:prstGeom prst="rect">
            <a:avLst/>
          </a:prstGeom>
          <a:solidFill>
            <a:srgbClr val="D9D9D3"/>
          </a:solidFill>
          <a:ln w="10160">
            <a:solidFill>
              <a:srgbClr val="D9D9D3">
                <a:alpha val="0"/>
              </a:srgbClr>
            </a:solidFill>
            <a:prstDash val="solid"/>
          </a:ln>
        </p:spPr>
      </p:sp>
      <p:sp>
        <p:nvSpPr>
          <p:cNvPr id="16" name="Text 14"/>
          <p:cNvSpPr/>
          <p:nvPr/>
        </p:nvSpPr>
        <p:spPr>
          <a:xfrm>
            <a:off x="685800" y="6400800"/>
            <a:ext cx="2286000" cy="256032"/>
          </a:xfrm>
          <a:prstGeom prst="rect">
            <a:avLst/>
          </a:prstGeom>
          <a:noFill/>
          <a:ln/>
        </p:spPr>
        <p:txBody>
          <a:bodyPr wrap="square" lIns="0" tIns="0" rIns="0" bIns="0" rtlCol="0" anchor="t"/>
          <a:lstStyle/>
          <a:p>
            <a:pP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宪法学 · 第8讲</a:t>
            </a:r>
            <a:endParaRPr lang="en-US" sz="1100" dirty="0"/>
          </a:p>
        </p:txBody>
      </p:sp>
      <p:sp>
        <p:nvSpPr>
          <p:cNvPr id="17" name="Text 15"/>
          <p:cNvSpPr/>
          <p:nvPr/>
        </p:nvSpPr>
        <p:spPr>
          <a:xfrm>
            <a:off x="3154680" y="6400800"/>
            <a:ext cx="6720840" cy="256032"/>
          </a:xfrm>
          <a:prstGeom prst="rect">
            <a:avLst/>
          </a:prstGeom>
          <a:noFill/>
          <a:ln/>
        </p:spPr>
        <p:txBody>
          <a:bodyPr wrap="square" lIns="0" tIns="0" rIns="0" bIns="0" rtlCol="0" anchor="t"/>
          <a:lstStyle/>
          <a:p>
            <a:pPr algn="ct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《宪法》第5、62、67条；《立法法》第5条；教学概括</a:t>
            </a:r>
            <a:endParaRPr lang="en-US" sz="1100" dirty="0"/>
          </a:p>
        </p:txBody>
      </p:sp>
      <p:sp>
        <p:nvSpPr>
          <p:cNvPr id="18" name="Text 16"/>
          <p:cNvSpPr/>
          <p:nvPr/>
        </p:nvSpPr>
        <p:spPr>
          <a:xfrm>
            <a:off x="10195560" y="6400800"/>
            <a:ext cx="1325880" cy="256032"/>
          </a:xfrm>
          <a:prstGeom prst="rect">
            <a:avLst/>
          </a:prstGeom>
          <a:noFill/>
          <a:ln/>
        </p:spPr>
        <p:txBody>
          <a:bodyPr wrap="square" lIns="0" tIns="0" rIns="0" bIns="0" rtlCol="0" anchor="t"/>
          <a:lstStyle/>
          <a:p>
            <a:pPr algn="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9 / 24</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713232" y="475488"/>
            <a:ext cx="10744200" cy="594360"/>
          </a:xfrm>
          <a:prstGeom prst="rect">
            <a:avLst/>
          </a:prstGeom>
          <a:noFill/>
          <a:ln/>
        </p:spPr>
        <p:txBody>
          <a:bodyPr wrap="square" lIns="0" tIns="0" rIns="0" bIns="0" rtlCol="0" anchor="t"/>
          <a:lstStyle/>
          <a:p>
            <a:pPr indent="0" marL="0">
              <a:lnSpc>
                <a:spcPct val="108000"/>
              </a:lnSpc>
              <a:buNone/>
            </a:pPr>
            <a:r>
              <a:rPr lang="en-US" sz="3200" b="1" dirty="0">
                <a:solidFill>
                  <a:srgbClr val="142735"/>
                </a:solidFill>
                <a:latin typeface="Microsoft YaHei" pitchFamily="34" charset="0"/>
                <a:ea typeface="Microsoft YaHei" pitchFamily="34" charset="-122"/>
                <a:cs typeface="Microsoft YaHei" pitchFamily="34" charset="-120"/>
              </a:rPr>
              <a:t>第一学时：把两件事说清楚</a:t>
            </a:r>
            <a:endParaRPr lang="en-US" sz="3200" dirty="0"/>
          </a:p>
        </p:txBody>
      </p:sp>
      <p:sp>
        <p:nvSpPr>
          <p:cNvPr id="3" name="Text 1"/>
          <p:cNvSpPr/>
          <p:nvPr/>
        </p:nvSpPr>
        <p:spPr>
          <a:xfrm>
            <a:off x="731520" y="1170432"/>
            <a:ext cx="10698480" cy="384048"/>
          </a:xfrm>
          <a:prstGeom prst="rect">
            <a:avLst/>
          </a:prstGeom>
          <a:noFill/>
          <a:ln/>
        </p:spPr>
        <p:txBody>
          <a:bodyPr wrap="square" lIns="0" tIns="0" rIns="0" bIns="0" rtlCol="0" anchor="t"/>
          <a:lstStyle/>
          <a:p>
            <a:pPr indent="0" marL="0">
              <a:lnSpc>
                <a:spcPct val="108000"/>
              </a:lnSpc>
              <a:buNone/>
            </a:pPr>
            <a:r>
              <a:rPr lang="en-US" sz="1600" dirty="0">
                <a:solidFill>
                  <a:srgbClr val="64717A"/>
                </a:solidFill>
                <a:latin typeface="Microsoft YaHei" pitchFamily="34" charset="0"/>
                <a:ea typeface="Microsoft YaHei" pitchFamily="34" charset="-122"/>
                <a:cs typeface="Microsoft YaHei" pitchFamily="34" charset="-120"/>
              </a:rPr>
              <a:t>先口头回答，再进入案例的审查理由。</a:t>
            </a:r>
            <a:endParaRPr lang="en-US" sz="1600" dirty="0"/>
          </a:p>
        </p:txBody>
      </p:sp>
      <p:sp>
        <p:nvSpPr>
          <p:cNvPr id="4" name="Shape 2"/>
          <p:cNvSpPr/>
          <p:nvPr/>
        </p:nvSpPr>
        <p:spPr>
          <a:xfrm>
            <a:off x="768096" y="1773936"/>
            <a:ext cx="10652760" cy="1133856"/>
          </a:xfrm>
          <a:prstGeom prst="rect">
            <a:avLst/>
          </a:prstGeom>
          <a:solidFill>
            <a:srgbClr val="142735"/>
          </a:solidFill>
          <a:ln w="10160">
            <a:solidFill>
              <a:srgbClr val="142735">
                <a:alpha val="0"/>
              </a:srgbClr>
            </a:solidFill>
            <a:prstDash val="solid"/>
          </a:ln>
        </p:spPr>
      </p:sp>
      <p:sp>
        <p:nvSpPr>
          <p:cNvPr id="5" name="Text 3"/>
          <p:cNvSpPr/>
          <p:nvPr/>
        </p:nvSpPr>
        <p:spPr>
          <a:xfrm>
            <a:off x="1005840" y="1984248"/>
            <a:ext cx="548640" cy="365760"/>
          </a:xfrm>
          <a:prstGeom prst="rect">
            <a:avLst/>
          </a:prstGeom>
          <a:noFill/>
          <a:ln/>
        </p:spPr>
        <p:txBody>
          <a:bodyPr wrap="square" lIns="0" tIns="0" rIns="0" bIns="0" rtlCol="0" anchor="t"/>
          <a:lstStyle/>
          <a:p>
            <a:pPr indent="0" marL="0">
              <a:lnSpc>
                <a:spcPct val="108000"/>
              </a:lnSpc>
              <a:buNone/>
            </a:pPr>
            <a:r>
              <a:rPr lang="en-US" sz="2200" b="1" dirty="0">
                <a:solidFill>
                  <a:srgbClr val="EBC8C3"/>
                </a:solidFill>
                <a:latin typeface="Microsoft YaHei" pitchFamily="34" charset="0"/>
                <a:ea typeface="Microsoft YaHei" pitchFamily="34" charset="-122"/>
                <a:cs typeface="Microsoft YaHei" pitchFamily="34" charset="-120"/>
              </a:rPr>
              <a:t>01</a:t>
            </a:r>
            <a:endParaRPr lang="en-US" sz="2200" dirty="0"/>
          </a:p>
        </p:txBody>
      </p:sp>
      <p:sp>
        <p:nvSpPr>
          <p:cNvPr id="6" name="Text 4"/>
          <p:cNvSpPr/>
          <p:nvPr/>
        </p:nvSpPr>
        <p:spPr>
          <a:xfrm>
            <a:off x="1773936" y="1911096"/>
            <a:ext cx="9299448" cy="886968"/>
          </a:xfrm>
          <a:prstGeom prst="rect">
            <a:avLst/>
          </a:prstGeom>
          <a:noFill/>
          <a:ln/>
        </p:spPr>
        <p:txBody>
          <a:bodyPr wrap="square" lIns="0" tIns="0" rIns="0" bIns="0" rtlCol="0" anchor="t"/>
          <a:lstStyle/>
          <a:p>
            <a:pPr indent="0" marL="0">
              <a:lnSpc>
                <a:spcPct val="108000"/>
              </a:lnSpc>
              <a:buNone/>
            </a:pPr>
            <a:r>
              <a:rPr lang="en-US" sz="2400" b="1" dirty="0">
                <a:solidFill>
                  <a:srgbClr val="FFFFFF"/>
                </a:solidFill>
                <a:latin typeface="Microsoft YaHei" pitchFamily="34" charset="0"/>
                <a:ea typeface="Microsoft YaHei" pitchFamily="34" charset="-122"/>
                <a:cs typeface="Microsoft YaHei" pitchFamily="34" charset="-120"/>
              </a:rPr>
              <a:t>举出教育法落实受教育权的一项内容。</a:t>
            </a:r>
            <a:endParaRPr lang="en-US" sz="2400" dirty="0"/>
          </a:p>
        </p:txBody>
      </p:sp>
      <p:sp>
        <p:nvSpPr>
          <p:cNvPr id="7" name="Shape 5"/>
          <p:cNvSpPr/>
          <p:nvPr/>
        </p:nvSpPr>
        <p:spPr>
          <a:xfrm>
            <a:off x="768096" y="3081528"/>
            <a:ext cx="10652760" cy="1133856"/>
          </a:xfrm>
          <a:prstGeom prst="rect">
            <a:avLst/>
          </a:prstGeom>
          <a:solidFill>
            <a:srgbClr val="FFFFFF"/>
          </a:solidFill>
          <a:ln w="10160">
            <a:solidFill>
              <a:srgbClr val="D9D9D3"/>
            </a:solidFill>
            <a:prstDash val="solid"/>
          </a:ln>
        </p:spPr>
      </p:sp>
      <p:sp>
        <p:nvSpPr>
          <p:cNvPr id="8" name="Text 6"/>
          <p:cNvSpPr/>
          <p:nvPr/>
        </p:nvSpPr>
        <p:spPr>
          <a:xfrm>
            <a:off x="1005840" y="3291840"/>
            <a:ext cx="548640" cy="365760"/>
          </a:xfrm>
          <a:prstGeom prst="rect">
            <a:avLst/>
          </a:prstGeom>
          <a:noFill/>
          <a:ln/>
        </p:spPr>
        <p:txBody>
          <a:bodyPr wrap="square" lIns="0" tIns="0" rIns="0" bIns="0" rtlCol="0" anchor="t"/>
          <a:lstStyle/>
          <a:p>
            <a:pPr indent="0" marL="0">
              <a:lnSpc>
                <a:spcPct val="108000"/>
              </a:lnSpc>
              <a:buNone/>
            </a:pPr>
            <a:r>
              <a:rPr lang="en-US" sz="2200" b="1" dirty="0">
                <a:solidFill>
                  <a:srgbClr val="B13D38"/>
                </a:solidFill>
                <a:latin typeface="Microsoft YaHei" pitchFamily="34" charset="0"/>
                <a:ea typeface="Microsoft YaHei" pitchFamily="34" charset="-122"/>
                <a:cs typeface="Microsoft YaHei" pitchFamily="34" charset="-120"/>
              </a:rPr>
              <a:t>02</a:t>
            </a:r>
            <a:endParaRPr lang="en-US" sz="2200" dirty="0"/>
          </a:p>
        </p:txBody>
      </p:sp>
      <p:sp>
        <p:nvSpPr>
          <p:cNvPr id="9" name="Text 7"/>
          <p:cNvSpPr/>
          <p:nvPr/>
        </p:nvSpPr>
        <p:spPr>
          <a:xfrm>
            <a:off x="1773936" y="3218688"/>
            <a:ext cx="9299448" cy="886968"/>
          </a:xfrm>
          <a:prstGeom prst="rect">
            <a:avLst/>
          </a:prstGeom>
          <a:noFill/>
          <a:ln/>
        </p:spPr>
        <p:txBody>
          <a:bodyPr wrap="square" lIns="0" tIns="0" rIns="0" bIns="0" rtlCol="0" anchor="t"/>
          <a:lstStyle/>
          <a:p>
            <a:pPr indent="0" marL="0">
              <a:lnSpc>
                <a:spcPct val="108000"/>
              </a:lnSpc>
              <a:buNone/>
            </a:pPr>
            <a:r>
              <a:rPr lang="en-US" sz="2400" b="1" dirty="0">
                <a:solidFill>
                  <a:srgbClr val="142735"/>
                </a:solidFill>
                <a:latin typeface="Microsoft YaHei" pitchFamily="34" charset="0"/>
                <a:ea typeface="Microsoft YaHei" pitchFamily="34" charset="-122"/>
                <a:cs typeface="Microsoft YaHei" pitchFamily="34" charset="-120"/>
              </a:rPr>
              <a:t>说出宪法解释与宪法修改分别由谁行使。</a:t>
            </a:r>
            <a:endParaRPr lang="en-US" sz="2400" dirty="0"/>
          </a:p>
        </p:txBody>
      </p:sp>
      <p:sp>
        <p:nvSpPr>
          <p:cNvPr id="10" name="Shape 8"/>
          <p:cNvSpPr/>
          <p:nvPr/>
        </p:nvSpPr>
        <p:spPr>
          <a:xfrm>
            <a:off x="768096" y="4389120"/>
            <a:ext cx="10652760" cy="1133856"/>
          </a:xfrm>
          <a:prstGeom prst="rect">
            <a:avLst/>
          </a:prstGeom>
          <a:solidFill>
            <a:srgbClr val="FFFFFF"/>
          </a:solidFill>
          <a:ln w="10160">
            <a:solidFill>
              <a:srgbClr val="D9D9D3"/>
            </a:solidFill>
            <a:prstDash val="solid"/>
          </a:ln>
        </p:spPr>
      </p:sp>
      <p:sp>
        <p:nvSpPr>
          <p:cNvPr id="11" name="Text 9"/>
          <p:cNvSpPr/>
          <p:nvPr/>
        </p:nvSpPr>
        <p:spPr>
          <a:xfrm>
            <a:off x="1005840" y="4599432"/>
            <a:ext cx="548640" cy="365760"/>
          </a:xfrm>
          <a:prstGeom prst="rect">
            <a:avLst/>
          </a:prstGeom>
          <a:noFill/>
          <a:ln/>
        </p:spPr>
        <p:txBody>
          <a:bodyPr wrap="square" lIns="0" tIns="0" rIns="0" bIns="0" rtlCol="0" anchor="t"/>
          <a:lstStyle/>
          <a:p>
            <a:pPr indent="0" marL="0">
              <a:lnSpc>
                <a:spcPct val="108000"/>
              </a:lnSpc>
              <a:buNone/>
            </a:pPr>
            <a:r>
              <a:rPr lang="en-US" sz="2200" b="1" dirty="0">
                <a:solidFill>
                  <a:srgbClr val="B13D38"/>
                </a:solidFill>
                <a:latin typeface="Microsoft YaHei" pitchFamily="34" charset="0"/>
                <a:ea typeface="Microsoft YaHei" pitchFamily="34" charset="-122"/>
                <a:cs typeface="Microsoft YaHei" pitchFamily="34" charset="-120"/>
              </a:rPr>
              <a:t>03</a:t>
            </a:r>
            <a:endParaRPr lang="en-US" sz="2200" dirty="0"/>
          </a:p>
        </p:txBody>
      </p:sp>
      <p:sp>
        <p:nvSpPr>
          <p:cNvPr id="12" name="Text 10"/>
          <p:cNvSpPr/>
          <p:nvPr/>
        </p:nvSpPr>
        <p:spPr>
          <a:xfrm>
            <a:off x="1773936" y="4526280"/>
            <a:ext cx="9299448" cy="886968"/>
          </a:xfrm>
          <a:prstGeom prst="rect">
            <a:avLst/>
          </a:prstGeom>
          <a:noFill/>
          <a:ln/>
        </p:spPr>
        <p:txBody>
          <a:bodyPr wrap="square" lIns="0" tIns="0" rIns="0" bIns="0" rtlCol="0" anchor="t"/>
          <a:lstStyle/>
          <a:p>
            <a:pPr indent="0" marL="0">
              <a:lnSpc>
                <a:spcPct val="108000"/>
              </a:lnSpc>
              <a:buNone/>
            </a:pPr>
            <a:r>
              <a:rPr lang="en-US" sz="2400" b="1" dirty="0">
                <a:solidFill>
                  <a:srgbClr val="142735"/>
                </a:solidFill>
                <a:latin typeface="Microsoft YaHei" pitchFamily="34" charset="0"/>
                <a:ea typeface="Microsoft YaHei" pitchFamily="34" charset="-122"/>
                <a:cs typeface="Microsoft YaHei" pitchFamily="34" charset="-120"/>
              </a:rPr>
              <a:t>带着问题进入第二学时：从业限制应当怎样判断？</a:t>
            </a:r>
            <a:endParaRPr lang="en-US" sz="2400" dirty="0"/>
          </a:p>
        </p:txBody>
      </p:sp>
      <p:sp>
        <p:nvSpPr>
          <p:cNvPr id="13" name="Shape 11"/>
          <p:cNvSpPr/>
          <p:nvPr/>
        </p:nvSpPr>
        <p:spPr>
          <a:xfrm>
            <a:off x="658368" y="6291072"/>
            <a:ext cx="10872216" cy="10973"/>
          </a:xfrm>
          <a:prstGeom prst="rect">
            <a:avLst/>
          </a:prstGeom>
          <a:solidFill>
            <a:srgbClr val="D9D9D3"/>
          </a:solidFill>
          <a:ln w="10160">
            <a:solidFill>
              <a:srgbClr val="D9D9D3">
                <a:alpha val="0"/>
              </a:srgbClr>
            </a:solidFill>
            <a:prstDash val="solid"/>
          </a:ln>
        </p:spPr>
      </p:sp>
      <p:sp>
        <p:nvSpPr>
          <p:cNvPr id="14" name="Text 12"/>
          <p:cNvSpPr/>
          <p:nvPr/>
        </p:nvSpPr>
        <p:spPr>
          <a:xfrm>
            <a:off x="685800" y="6400800"/>
            <a:ext cx="2286000" cy="256032"/>
          </a:xfrm>
          <a:prstGeom prst="rect">
            <a:avLst/>
          </a:prstGeom>
          <a:noFill/>
          <a:ln/>
        </p:spPr>
        <p:txBody>
          <a:bodyPr wrap="square" lIns="0" tIns="0" rIns="0" bIns="0" rtlCol="0" anchor="t"/>
          <a:lstStyle/>
          <a:p>
            <a:pP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宪法学 · 第8讲</a:t>
            </a:r>
            <a:endParaRPr lang="en-US" sz="1100" dirty="0"/>
          </a:p>
        </p:txBody>
      </p:sp>
      <p:sp>
        <p:nvSpPr>
          <p:cNvPr id="15" name="Text 13"/>
          <p:cNvSpPr/>
          <p:nvPr/>
        </p:nvSpPr>
        <p:spPr>
          <a:xfrm>
            <a:off x="3154680" y="6400800"/>
            <a:ext cx="6720840" cy="256032"/>
          </a:xfrm>
          <a:prstGeom prst="rect">
            <a:avLst/>
          </a:prstGeom>
          <a:noFill/>
          <a:ln/>
        </p:spPr>
        <p:txBody>
          <a:bodyPr wrap="square" lIns="0" tIns="0" rIns="0" bIns="0" rtlCol="0" anchor="t"/>
          <a:lstStyle/>
          <a:p>
            <a:pPr algn="ct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第一学时小结；对应任务一A、B</a:t>
            </a:r>
            <a:endParaRPr lang="en-US" sz="1100" dirty="0"/>
          </a:p>
        </p:txBody>
      </p:sp>
      <p:sp>
        <p:nvSpPr>
          <p:cNvPr id="16" name="Text 14"/>
          <p:cNvSpPr/>
          <p:nvPr/>
        </p:nvSpPr>
        <p:spPr>
          <a:xfrm>
            <a:off x="10195560" y="6400800"/>
            <a:ext cx="1325880" cy="256032"/>
          </a:xfrm>
          <a:prstGeom prst="rect">
            <a:avLst/>
          </a:prstGeom>
          <a:noFill/>
          <a:ln/>
        </p:spPr>
        <p:txBody>
          <a:bodyPr wrap="square" lIns="0" tIns="0" rIns="0" bIns="0" rtlCol="0" anchor="t"/>
          <a:lstStyle/>
          <a:p>
            <a:pPr algn="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10 / 24</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713232" y="475488"/>
            <a:ext cx="10744200" cy="594360"/>
          </a:xfrm>
          <a:prstGeom prst="rect">
            <a:avLst/>
          </a:prstGeom>
          <a:noFill/>
          <a:ln/>
        </p:spPr>
        <p:txBody>
          <a:bodyPr wrap="square" lIns="0" tIns="0" rIns="0" bIns="0" rtlCol="0" anchor="t"/>
          <a:lstStyle/>
          <a:p>
            <a:pPr indent="0" marL="0">
              <a:lnSpc>
                <a:spcPct val="108000"/>
              </a:lnSpc>
              <a:buNone/>
            </a:pPr>
            <a:r>
              <a:rPr lang="en-US" sz="3200" b="1" dirty="0">
                <a:solidFill>
                  <a:srgbClr val="142735"/>
                </a:solidFill>
                <a:latin typeface="Microsoft YaHei" pitchFamily="34" charset="0"/>
                <a:ea typeface="Microsoft YaHei" pitchFamily="34" charset="-122"/>
                <a:cs typeface="Microsoft YaHei" pitchFamily="34" charset="-120"/>
              </a:rPr>
              <a:t>案例乙：报告怎样说明审查理由？</a:t>
            </a:r>
            <a:endParaRPr lang="en-US" sz="3200" dirty="0"/>
          </a:p>
        </p:txBody>
      </p:sp>
      <p:sp>
        <p:nvSpPr>
          <p:cNvPr id="3" name="Text 1"/>
          <p:cNvSpPr/>
          <p:nvPr/>
        </p:nvSpPr>
        <p:spPr>
          <a:xfrm>
            <a:off x="731520" y="1170432"/>
            <a:ext cx="10698480" cy="384048"/>
          </a:xfrm>
          <a:prstGeom prst="rect">
            <a:avLst/>
          </a:prstGeom>
          <a:noFill/>
          <a:ln/>
        </p:spPr>
        <p:txBody>
          <a:bodyPr wrap="square" lIns="0" tIns="0" rIns="0" bIns="0" rtlCol="0" anchor="t"/>
          <a:lstStyle/>
          <a:p>
            <a:pPr indent="0" marL="0">
              <a:lnSpc>
                <a:spcPct val="108000"/>
              </a:lnSpc>
              <a:buNone/>
            </a:pPr>
            <a:r>
              <a:rPr lang="en-US" sz="1600" dirty="0">
                <a:solidFill>
                  <a:srgbClr val="64717A"/>
                </a:solidFill>
                <a:latin typeface="Microsoft YaHei" pitchFamily="34" charset="0"/>
                <a:ea typeface="Microsoft YaHei" pitchFamily="34" charset="-122"/>
                <a:cs typeface="Microsoft YaHei" pitchFamily="34" charset="-120"/>
              </a:rPr>
              <a:t>阅读乙卡，保留理由中的条件。</a:t>
            </a:r>
            <a:endParaRPr lang="en-US" sz="1600" dirty="0"/>
          </a:p>
        </p:txBody>
      </p:sp>
      <p:sp>
        <p:nvSpPr>
          <p:cNvPr id="4" name="Shape 2"/>
          <p:cNvSpPr/>
          <p:nvPr/>
        </p:nvSpPr>
        <p:spPr>
          <a:xfrm>
            <a:off x="768096" y="1773936"/>
            <a:ext cx="10652760" cy="3090672"/>
          </a:xfrm>
          <a:prstGeom prst="rect">
            <a:avLst/>
          </a:prstGeom>
          <a:solidFill>
            <a:srgbClr val="FFFFFF"/>
          </a:solidFill>
          <a:ln w="10160">
            <a:solidFill>
              <a:srgbClr val="D9D9D3"/>
            </a:solidFill>
            <a:prstDash val="solid"/>
          </a:ln>
        </p:spPr>
      </p:sp>
      <p:sp>
        <p:nvSpPr>
          <p:cNvPr id="5" name="Text 3"/>
          <p:cNvSpPr/>
          <p:nvPr/>
        </p:nvSpPr>
        <p:spPr>
          <a:xfrm>
            <a:off x="1033272" y="1956816"/>
            <a:ext cx="3657600" cy="283464"/>
          </a:xfrm>
          <a:prstGeom prst="rect">
            <a:avLst/>
          </a:prstGeom>
          <a:noFill/>
          <a:ln/>
        </p:spPr>
        <p:txBody>
          <a:bodyPr wrap="square" lIns="0" tIns="0" rIns="0" bIns="0" rtlCol="0" anchor="t"/>
          <a:lstStyle/>
          <a:p>
            <a:pPr indent="0" marL="0">
              <a:lnSpc>
                <a:spcPct val="108000"/>
              </a:lnSpc>
              <a:buNone/>
            </a:pPr>
            <a:r>
              <a:rPr lang="en-US" sz="1400" b="1" dirty="0">
                <a:solidFill>
                  <a:srgbClr val="B13D38"/>
                </a:solidFill>
                <a:latin typeface="Microsoft YaHei" pitchFamily="34" charset="0"/>
                <a:ea typeface="Microsoft YaHei" pitchFamily="34" charset="-122"/>
                <a:cs typeface="Microsoft YaHei" pitchFamily="34" charset="-120"/>
              </a:rPr>
              <a:t>报告节录</a:t>
            </a:r>
            <a:endParaRPr lang="en-US" sz="1400" dirty="0"/>
          </a:p>
        </p:txBody>
      </p:sp>
      <p:sp>
        <p:nvSpPr>
          <p:cNvPr id="6" name="Text 4"/>
          <p:cNvSpPr/>
          <p:nvPr/>
        </p:nvSpPr>
        <p:spPr>
          <a:xfrm>
            <a:off x="1033272" y="2423160"/>
            <a:ext cx="10104120" cy="1847088"/>
          </a:xfrm>
          <a:prstGeom prst="rect">
            <a:avLst/>
          </a:prstGeom>
          <a:noFill/>
          <a:ln/>
        </p:spPr>
        <p:txBody>
          <a:bodyPr wrap="square" lIns="0" tIns="0" rIns="0" bIns="0" rtlCol="0" anchor="t"/>
          <a:lstStyle/>
          <a:p>
            <a:pPr indent="0" marL="0">
              <a:lnSpc>
                <a:spcPct val="108000"/>
              </a:lnSpc>
              <a:buNone/>
            </a:pPr>
            <a:r>
              <a:rPr lang="en-US" sz="2600" dirty="0">
                <a:solidFill>
                  <a:srgbClr val="142735"/>
                </a:solidFill>
                <a:latin typeface="Microsoft YaHei" pitchFamily="34" charset="0"/>
                <a:ea typeface="Microsoft YaHei" pitchFamily="34" charset="-122"/>
                <a:cs typeface="Microsoft YaHei" pitchFamily="34" charset="-120"/>
              </a:rPr>
              <a:t>我们审查认为，地方性法规对某些特种行业设定较为严格的从业资格条件，对维护公共安全有积极作用，但在</a:t>
            </a:r>
            <a:pPr indent="0" marL="0">
              <a:lnSpc>
                <a:spcPct val="108000"/>
              </a:lnSpc>
              <a:buNone/>
            </a:pPr>
            <a:r>
              <a:rPr lang="en-US" sz="2600" b="1" dirty="0">
                <a:solidFill>
                  <a:srgbClr val="B13D38"/>
                </a:solidFill>
                <a:latin typeface="Microsoft YaHei" pitchFamily="34" charset="0"/>
                <a:ea typeface="Microsoft YaHei" pitchFamily="34" charset="-122"/>
                <a:cs typeface="Microsoft YaHei" pitchFamily="34" charset="-120"/>
              </a:rPr>
              <a:t>法律、行政法规没有规定从业限制的领域</a:t>
            </a:r>
            <a:pPr indent="0" marL="0">
              <a:lnSpc>
                <a:spcPct val="108000"/>
              </a:lnSpc>
              <a:buNone/>
            </a:pPr>
            <a:r>
              <a:rPr lang="en-US" sz="2600" dirty="0">
                <a:solidFill>
                  <a:srgbClr val="142735"/>
                </a:solidFill>
                <a:latin typeface="Microsoft YaHei" pitchFamily="34" charset="0"/>
                <a:ea typeface="Microsoft YaHei" pitchFamily="34" charset="-122"/>
                <a:cs typeface="Microsoft YaHei" pitchFamily="34" charset="-120"/>
              </a:rPr>
              <a:t>，地方性法规作出相关从业限制规定时，</a:t>
            </a:r>
            <a:pPr indent="0" marL="0">
              <a:lnSpc>
                <a:spcPct val="108000"/>
              </a:lnSpc>
              <a:buNone/>
            </a:pPr>
            <a:r>
              <a:rPr lang="en-US" sz="2600" b="1" dirty="0">
                <a:solidFill>
                  <a:srgbClr val="B13D38"/>
                </a:solidFill>
                <a:latin typeface="Microsoft YaHei" pitchFamily="34" charset="0"/>
                <a:ea typeface="Microsoft YaHei" pitchFamily="34" charset="-122"/>
                <a:cs typeface="Microsoft YaHei" pitchFamily="34" charset="-120"/>
              </a:rPr>
              <a:t>不宜规定“终身禁止”</a:t>
            </a:r>
            <a:pPr indent="0" marL="0">
              <a:lnSpc>
                <a:spcPct val="108000"/>
              </a:lnSpc>
              <a:buNone/>
            </a:pPr>
            <a:r>
              <a:rPr lang="en-US" sz="2600" dirty="0">
                <a:solidFill>
                  <a:srgbClr val="142735"/>
                </a:solidFill>
                <a:latin typeface="Microsoft YaHei" pitchFamily="34" charset="0"/>
                <a:ea typeface="Microsoft YaHei" pitchFamily="34" charset="-122"/>
                <a:cs typeface="Microsoft YaHei" pitchFamily="34" charset="-120"/>
              </a:rPr>
              <a:t>，建议制定机关调整完善相关规定。</a:t>
            </a:r>
            <a:endParaRPr lang="en-US" sz="2600" dirty="0"/>
          </a:p>
        </p:txBody>
      </p:sp>
      <p:sp>
        <p:nvSpPr>
          <p:cNvPr id="7" name="Text 5"/>
          <p:cNvSpPr/>
          <p:nvPr/>
        </p:nvSpPr>
        <p:spPr>
          <a:xfrm>
            <a:off x="1042416" y="4416552"/>
            <a:ext cx="10104120" cy="274320"/>
          </a:xfrm>
          <a:prstGeom prst="rect">
            <a:avLst/>
          </a:prstGeom>
          <a:noFill/>
          <a:ln/>
        </p:spPr>
        <p:txBody>
          <a:bodyPr wrap="square" lIns="0" tIns="0" rIns="0" bIns="0" rtlCol="0" anchor="t"/>
          <a:lstStyle/>
          <a:p>
            <a:pPr algn="r" indent="0" marL="0">
              <a:lnSpc>
                <a:spcPct val="108000"/>
              </a:lnSpc>
              <a:buNone/>
            </a:pPr>
            <a:r>
              <a:rPr lang="en-US" sz="1400" dirty="0">
                <a:solidFill>
                  <a:srgbClr val="64717A"/>
                </a:solidFill>
                <a:latin typeface="Microsoft YaHei" pitchFamily="34" charset="0"/>
                <a:ea typeface="Microsoft YaHei" pitchFamily="34" charset="-122"/>
                <a:cs typeface="Microsoft YaHei" pitchFamily="34" charset="-120"/>
              </a:rPr>
              <a:t>2021年备案审查报告；“我们”指报告者法工委</a:t>
            </a:r>
            <a:endParaRPr lang="en-US" sz="1400" dirty="0"/>
          </a:p>
        </p:txBody>
      </p:sp>
      <p:sp>
        <p:nvSpPr>
          <p:cNvPr id="8" name="Text 6"/>
          <p:cNvSpPr/>
          <p:nvPr/>
        </p:nvSpPr>
        <p:spPr>
          <a:xfrm>
            <a:off x="868680" y="5202936"/>
            <a:ext cx="10378440" cy="777240"/>
          </a:xfrm>
          <a:prstGeom prst="rect">
            <a:avLst/>
          </a:prstGeom>
          <a:noFill/>
          <a:ln/>
        </p:spPr>
        <p:txBody>
          <a:bodyPr wrap="square" lIns="0" tIns="0" rIns="0" bIns="0" rtlCol="0" anchor="t"/>
          <a:lstStyle/>
          <a:p>
            <a:pP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报告是否认可公共安全目的？它对地方性法规的限制附了什么条件？</a:t>
            </a:r>
            <a:endParaRPr lang="en-US" sz="2200" dirty="0"/>
          </a:p>
        </p:txBody>
      </p:sp>
      <p:sp>
        <p:nvSpPr>
          <p:cNvPr id="9" name="Shape 7"/>
          <p:cNvSpPr/>
          <p:nvPr/>
        </p:nvSpPr>
        <p:spPr>
          <a:xfrm>
            <a:off x="658368" y="6291072"/>
            <a:ext cx="10872216" cy="10973"/>
          </a:xfrm>
          <a:prstGeom prst="rect">
            <a:avLst/>
          </a:prstGeom>
          <a:solidFill>
            <a:srgbClr val="D9D9D3"/>
          </a:solidFill>
          <a:ln w="10160">
            <a:solidFill>
              <a:srgbClr val="D9D9D3">
                <a:alpha val="0"/>
              </a:srgbClr>
            </a:solidFill>
            <a:prstDash val="solid"/>
          </a:ln>
        </p:spPr>
      </p:sp>
      <p:sp>
        <p:nvSpPr>
          <p:cNvPr id="10" name="Text 8"/>
          <p:cNvSpPr/>
          <p:nvPr/>
        </p:nvSpPr>
        <p:spPr>
          <a:xfrm>
            <a:off x="685800" y="6400800"/>
            <a:ext cx="2286000" cy="256032"/>
          </a:xfrm>
          <a:prstGeom prst="rect">
            <a:avLst/>
          </a:prstGeom>
          <a:noFill/>
          <a:ln/>
        </p:spPr>
        <p:txBody>
          <a:bodyPr wrap="square" lIns="0" tIns="0" rIns="0" bIns="0" rtlCol="0" anchor="t"/>
          <a:lstStyle/>
          <a:p>
            <a:pP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宪法学 · 第8讲</a:t>
            </a:r>
            <a:endParaRPr lang="en-US" sz="1100" dirty="0"/>
          </a:p>
        </p:txBody>
      </p:sp>
      <p:sp>
        <p:nvSpPr>
          <p:cNvPr id="11" name="Text 9"/>
          <p:cNvSpPr/>
          <p:nvPr/>
        </p:nvSpPr>
        <p:spPr>
          <a:xfrm>
            <a:off x="3154680" y="6400800"/>
            <a:ext cx="6720840" cy="256032"/>
          </a:xfrm>
          <a:prstGeom prst="rect">
            <a:avLst/>
          </a:prstGeom>
          <a:noFill/>
          <a:ln/>
        </p:spPr>
        <p:txBody>
          <a:bodyPr wrap="square" lIns="0" tIns="0" rIns="0" bIns="0" rtlCol="0" anchor="t"/>
          <a:lstStyle/>
          <a:p>
            <a:pPr algn="ct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2021年备案审查报告；《常委会公报》2022年第1号，第246页</a:t>
            </a:r>
            <a:endParaRPr lang="en-US" sz="1100" dirty="0"/>
          </a:p>
        </p:txBody>
      </p:sp>
      <p:sp>
        <p:nvSpPr>
          <p:cNvPr id="12" name="Text 10"/>
          <p:cNvSpPr/>
          <p:nvPr/>
        </p:nvSpPr>
        <p:spPr>
          <a:xfrm>
            <a:off x="10195560" y="6400800"/>
            <a:ext cx="1325880" cy="256032"/>
          </a:xfrm>
          <a:prstGeom prst="rect">
            <a:avLst/>
          </a:prstGeom>
          <a:noFill/>
          <a:ln/>
        </p:spPr>
        <p:txBody>
          <a:bodyPr wrap="square" lIns="0" tIns="0" rIns="0" bIns="0" rtlCol="0" anchor="t"/>
          <a:lstStyle/>
          <a:p>
            <a:pPr algn="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11 / 24</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713232" y="475488"/>
            <a:ext cx="10744200" cy="594360"/>
          </a:xfrm>
          <a:prstGeom prst="rect">
            <a:avLst/>
          </a:prstGeom>
          <a:noFill/>
          <a:ln/>
        </p:spPr>
        <p:txBody>
          <a:bodyPr wrap="square" lIns="0" tIns="0" rIns="0" bIns="0" rtlCol="0" anchor="t"/>
          <a:lstStyle/>
          <a:p>
            <a:pPr indent="0" marL="0">
              <a:lnSpc>
                <a:spcPct val="108000"/>
              </a:lnSpc>
              <a:buNone/>
            </a:pPr>
            <a:r>
              <a:rPr lang="en-US" sz="3200" b="1" dirty="0">
                <a:solidFill>
                  <a:srgbClr val="142735"/>
                </a:solidFill>
                <a:latin typeface="Microsoft YaHei" pitchFamily="34" charset="0"/>
                <a:ea typeface="Microsoft YaHei" pitchFamily="34" charset="-122"/>
                <a:cs typeface="Microsoft YaHei" pitchFamily="34" charset="-120"/>
              </a:rPr>
              <a:t>讲评：完整读出理由的三个部分</a:t>
            </a:r>
            <a:endParaRPr lang="en-US" sz="3200" dirty="0"/>
          </a:p>
        </p:txBody>
      </p:sp>
      <p:sp>
        <p:nvSpPr>
          <p:cNvPr id="3" name="Text 1"/>
          <p:cNvSpPr/>
          <p:nvPr/>
        </p:nvSpPr>
        <p:spPr>
          <a:xfrm>
            <a:off x="731520" y="1170432"/>
            <a:ext cx="10698480" cy="384048"/>
          </a:xfrm>
          <a:prstGeom prst="rect">
            <a:avLst/>
          </a:prstGeom>
          <a:noFill/>
          <a:ln/>
        </p:spPr>
        <p:txBody>
          <a:bodyPr wrap="square" lIns="0" tIns="0" rIns="0" bIns="0" rtlCol="0" anchor="t"/>
          <a:lstStyle/>
          <a:p>
            <a:pPr indent="0" marL="0">
              <a:lnSpc>
                <a:spcPct val="108000"/>
              </a:lnSpc>
              <a:buNone/>
            </a:pPr>
            <a:r>
              <a:rPr lang="en-US" sz="1600" dirty="0">
                <a:solidFill>
                  <a:srgbClr val="64717A"/>
                </a:solidFill>
                <a:latin typeface="Microsoft YaHei" pitchFamily="34" charset="0"/>
                <a:ea typeface="Microsoft YaHei" pitchFamily="34" charset="-122"/>
                <a:cs typeface="Microsoft YaHei" pitchFamily="34" charset="-120"/>
              </a:rPr>
              <a:t>目的、条件和措施，需要连起来判断。</a:t>
            </a:r>
            <a:endParaRPr lang="en-US" sz="1600" dirty="0"/>
          </a:p>
        </p:txBody>
      </p:sp>
      <p:sp>
        <p:nvSpPr>
          <p:cNvPr id="4" name="Shape 2"/>
          <p:cNvSpPr/>
          <p:nvPr/>
        </p:nvSpPr>
        <p:spPr>
          <a:xfrm>
            <a:off x="768096" y="1773936"/>
            <a:ext cx="3398520" cy="3264408"/>
          </a:xfrm>
          <a:prstGeom prst="rect">
            <a:avLst/>
          </a:prstGeom>
          <a:solidFill>
            <a:srgbClr val="FFFFFF"/>
          </a:solidFill>
          <a:ln w="10160">
            <a:solidFill>
              <a:srgbClr val="D9D9D3"/>
            </a:solidFill>
            <a:prstDash val="solid"/>
          </a:ln>
        </p:spPr>
      </p:sp>
      <p:sp>
        <p:nvSpPr>
          <p:cNvPr id="5" name="Text 3"/>
          <p:cNvSpPr/>
          <p:nvPr/>
        </p:nvSpPr>
        <p:spPr>
          <a:xfrm>
            <a:off x="996696" y="1984248"/>
            <a:ext cx="2941320" cy="676656"/>
          </a:xfrm>
          <a:prstGeom prst="rect">
            <a:avLst/>
          </a:prstGeom>
          <a:noFill/>
          <a:ln/>
        </p:spPr>
        <p:txBody>
          <a:bodyPr wrap="square" lIns="0" tIns="0" rIns="0" bIns="0" rtlCol="0" anchor="t"/>
          <a:lstStyle/>
          <a:p>
            <a:pPr indent="0" marL="0">
              <a:lnSpc>
                <a:spcPct val="108000"/>
              </a:lnSpc>
              <a:buNone/>
            </a:pPr>
            <a:r>
              <a:rPr lang="en-US" sz="2400" b="1" dirty="0">
                <a:solidFill>
                  <a:srgbClr val="B13D38"/>
                </a:solidFill>
                <a:latin typeface="Microsoft YaHei" pitchFamily="34" charset="0"/>
                <a:ea typeface="Microsoft YaHei" pitchFamily="34" charset="-122"/>
                <a:cs typeface="Microsoft YaHei" pitchFamily="34" charset="-120"/>
              </a:rPr>
              <a:t>肯定的部分</a:t>
            </a:r>
            <a:endParaRPr lang="en-US" sz="2400" dirty="0"/>
          </a:p>
        </p:txBody>
      </p:sp>
      <p:sp>
        <p:nvSpPr>
          <p:cNvPr id="6" name="Text 4"/>
          <p:cNvSpPr/>
          <p:nvPr/>
        </p:nvSpPr>
        <p:spPr>
          <a:xfrm>
            <a:off x="996696" y="2852928"/>
            <a:ext cx="2941320" cy="1965960"/>
          </a:xfrm>
          <a:prstGeom prst="rect">
            <a:avLst/>
          </a:prstGeom>
          <a:noFill/>
          <a:ln/>
        </p:spPr>
        <p:txBody>
          <a:bodyPr wrap="square" lIns="0" tIns="0" rIns="0" bIns="0" rtlCol="0" anchor="t"/>
          <a:lstStyle/>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较严格的从业资格</a:t>
            </a: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对维护公共安全</a:t>
            </a: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有积极作用。</a:t>
            </a:r>
            <a:endParaRPr lang="en-US" sz="2200" dirty="0"/>
          </a:p>
        </p:txBody>
      </p:sp>
      <p:sp>
        <p:nvSpPr>
          <p:cNvPr id="7" name="Shape 5"/>
          <p:cNvSpPr/>
          <p:nvPr/>
        </p:nvSpPr>
        <p:spPr>
          <a:xfrm>
            <a:off x="4395216" y="1773936"/>
            <a:ext cx="3398520" cy="3264408"/>
          </a:xfrm>
          <a:prstGeom prst="rect">
            <a:avLst/>
          </a:prstGeom>
          <a:solidFill>
            <a:srgbClr val="FFFFFF"/>
          </a:solidFill>
          <a:ln w="10160">
            <a:solidFill>
              <a:srgbClr val="D9D9D3"/>
            </a:solidFill>
            <a:prstDash val="solid"/>
          </a:ln>
        </p:spPr>
      </p:sp>
      <p:sp>
        <p:nvSpPr>
          <p:cNvPr id="8" name="Text 6"/>
          <p:cNvSpPr/>
          <p:nvPr/>
        </p:nvSpPr>
        <p:spPr>
          <a:xfrm>
            <a:off x="4623816" y="1984248"/>
            <a:ext cx="2941320" cy="676656"/>
          </a:xfrm>
          <a:prstGeom prst="rect">
            <a:avLst/>
          </a:prstGeom>
          <a:noFill/>
          <a:ln/>
        </p:spPr>
        <p:txBody>
          <a:bodyPr wrap="square" lIns="0" tIns="0" rIns="0" bIns="0" rtlCol="0" anchor="t"/>
          <a:lstStyle/>
          <a:p>
            <a:pPr indent="0" marL="0">
              <a:lnSpc>
                <a:spcPct val="108000"/>
              </a:lnSpc>
              <a:buNone/>
            </a:pPr>
            <a:r>
              <a:rPr lang="en-US" sz="2400" b="1" dirty="0">
                <a:solidFill>
                  <a:srgbClr val="B13D38"/>
                </a:solidFill>
                <a:latin typeface="Microsoft YaHei" pitchFamily="34" charset="0"/>
                <a:ea typeface="Microsoft YaHei" pitchFamily="34" charset="-122"/>
                <a:cs typeface="Microsoft YaHei" pitchFamily="34" charset="-120"/>
              </a:rPr>
              <a:t>分析的条件</a:t>
            </a:r>
            <a:endParaRPr lang="en-US" sz="2400" dirty="0"/>
          </a:p>
        </p:txBody>
      </p:sp>
      <p:sp>
        <p:nvSpPr>
          <p:cNvPr id="9" name="Text 7"/>
          <p:cNvSpPr/>
          <p:nvPr/>
        </p:nvSpPr>
        <p:spPr>
          <a:xfrm>
            <a:off x="4623816" y="2852928"/>
            <a:ext cx="2941320" cy="1965960"/>
          </a:xfrm>
          <a:prstGeom prst="rect">
            <a:avLst/>
          </a:prstGeom>
          <a:noFill/>
          <a:ln/>
        </p:spPr>
        <p:txBody>
          <a:bodyPr wrap="square" lIns="0" tIns="0" rIns="0" bIns="0" rtlCol="0" anchor="t"/>
          <a:lstStyle/>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在法律、行政法规</a:t>
            </a: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没有规定从业限制</a:t>
            </a: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的领域。</a:t>
            </a:r>
            <a:endParaRPr lang="en-US" sz="2200" dirty="0"/>
          </a:p>
        </p:txBody>
      </p:sp>
      <p:sp>
        <p:nvSpPr>
          <p:cNvPr id="10" name="Shape 8"/>
          <p:cNvSpPr/>
          <p:nvPr/>
        </p:nvSpPr>
        <p:spPr>
          <a:xfrm>
            <a:off x="8022336" y="1773936"/>
            <a:ext cx="3398520" cy="3264408"/>
          </a:xfrm>
          <a:prstGeom prst="rect">
            <a:avLst/>
          </a:prstGeom>
          <a:solidFill>
            <a:srgbClr val="FFFFFF"/>
          </a:solidFill>
          <a:ln w="10160">
            <a:solidFill>
              <a:srgbClr val="D9D9D3"/>
            </a:solidFill>
            <a:prstDash val="solid"/>
          </a:ln>
        </p:spPr>
      </p:sp>
      <p:sp>
        <p:nvSpPr>
          <p:cNvPr id="11" name="Text 9"/>
          <p:cNvSpPr/>
          <p:nvPr/>
        </p:nvSpPr>
        <p:spPr>
          <a:xfrm>
            <a:off x="8250936" y="1984248"/>
            <a:ext cx="2941320" cy="676656"/>
          </a:xfrm>
          <a:prstGeom prst="rect">
            <a:avLst/>
          </a:prstGeom>
          <a:noFill/>
          <a:ln/>
        </p:spPr>
        <p:txBody>
          <a:bodyPr wrap="square" lIns="0" tIns="0" rIns="0" bIns="0" rtlCol="0" anchor="t"/>
          <a:lstStyle/>
          <a:p>
            <a:pPr indent="0" marL="0">
              <a:lnSpc>
                <a:spcPct val="108000"/>
              </a:lnSpc>
              <a:buNone/>
            </a:pPr>
            <a:r>
              <a:rPr lang="en-US" sz="2400" b="1" dirty="0">
                <a:solidFill>
                  <a:srgbClr val="B13D38"/>
                </a:solidFill>
                <a:latin typeface="Microsoft YaHei" pitchFamily="34" charset="0"/>
                <a:ea typeface="Microsoft YaHei" pitchFamily="34" charset="-122"/>
                <a:cs typeface="Microsoft YaHei" pitchFamily="34" charset="-120"/>
              </a:rPr>
              <a:t>提出的意见</a:t>
            </a:r>
            <a:endParaRPr lang="en-US" sz="2400" dirty="0"/>
          </a:p>
        </p:txBody>
      </p:sp>
      <p:sp>
        <p:nvSpPr>
          <p:cNvPr id="12" name="Text 10"/>
          <p:cNvSpPr/>
          <p:nvPr/>
        </p:nvSpPr>
        <p:spPr>
          <a:xfrm>
            <a:off x="8250936" y="2852928"/>
            <a:ext cx="2941320" cy="1965960"/>
          </a:xfrm>
          <a:prstGeom prst="rect">
            <a:avLst/>
          </a:prstGeom>
          <a:noFill/>
          <a:ln/>
        </p:spPr>
        <p:txBody>
          <a:bodyPr wrap="square" lIns="0" tIns="0" rIns="0" bIns="0" rtlCol="0" anchor="t"/>
          <a:lstStyle/>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地方性法规</a:t>
            </a: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不宜规定终身禁止，</a:t>
            </a: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建议调整完善。</a:t>
            </a:r>
            <a:endParaRPr lang="en-US" sz="2200" dirty="0"/>
          </a:p>
        </p:txBody>
      </p:sp>
      <p:sp>
        <p:nvSpPr>
          <p:cNvPr id="13" name="Shape 11"/>
          <p:cNvSpPr/>
          <p:nvPr/>
        </p:nvSpPr>
        <p:spPr>
          <a:xfrm>
            <a:off x="768096" y="5358384"/>
            <a:ext cx="10652760" cy="621792"/>
          </a:xfrm>
          <a:prstGeom prst="rect">
            <a:avLst/>
          </a:prstGeom>
          <a:solidFill>
            <a:srgbClr val="EEEAE1"/>
          </a:solidFill>
          <a:ln w="10160">
            <a:solidFill>
              <a:srgbClr val="EEEAE1">
                <a:alpha val="0"/>
              </a:srgbClr>
            </a:solidFill>
            <a:prstDash val="solid"/>
          </a:ln>
        </p:spPr>
      </p:sp>
      <p:sp>
        <p:nvSpPr>
          <p:cNvPr id="14" name="Text 12"/>
          <p:cNvSpPr/>
          <p:nvPr/>
        </p:nvSpPr>
        <p:spPr>
          <a:xfrm>
            <a:off x="987552" y="5477256"/>
            <a:ext cx="10213848" cy="384048"/>
          </a:xfrm>
          <a:prstGeom prst="rect">
            <a:avLst/>
          </a:prstGeom>
          <a:noFill/>
          <a:ln/>
        </p:spPr>
        <p:txBody>
          <a:bodyPr wrap="square" lIns="0" tIns="0" rIns="0" bIns="0" rtlCol="0" anchor="t"/>
          <a:lstStyle/>
          <a:p>
            <a:pP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课堂联系：依据宪法第42条，可进一步讨论从业机会与劳动权。</a:t>
            </a:r>
            <a:endParaRPr lang="en-US" sz="2200" dirty="0"/>
          </a:p>
        </p:txBody>
      </p:sp>
      <p:sp>
        <p:nvSpPr>
          <p:cNvPr id="15" name="Shape 13"/>
          <p:cNvSpPr/>
          <p:nvPr/>
        </p:nvSpPr>
        <p:spPr>
          <a:xfrm>
            <a:off x="658368" y="6291072"/>
            <a:ext cx="10872216" cy="10973"/>
          </a:xfrm>
          <a:prstGeom prst="rect">
            <a:avLst/>
          </a:prstGeom>
          <a:solidFill>
            <a:srgbClr val="D9D9D3"/>
          </a:solidFill>
          <a:ln w="10160">
            <a:solidFill>
              <a:srgbClr val="D9D9D3">
                <a:alpha val="0"/>
              </a:srgbClr>
            </a:solidFill>
            <a:prstDash val="solid"/>
          </a:ln>
        </p:spPr>
      </p:sp>
      <p:sp>
        <p:nvSpPr>
          <p:cNvPr id="16" name="Text 14"/>
          <p:cNvSpPr/>
          <p:nvPr/>
        </p:nvSpPr>
        <p:spPr>
          <a:xfrm>
            <a:off x="685800" y="6400800"/>
            <a:ext cx="2286000" cy="256032"/>
          </a:xfrm>
          <a:prstGeom prst="rect">
            <a:avLst/>
          </a:prstGeom>
          <a:noFill/>
          <a:ln/>
        </p:spPr>
        <p:txBody>
          <a:bodyPr wrap="square" lIns="0" tIns="0" rIns="0" bIns="0" rtlCol="0" anchor="t"/>
          <a:lstStyle/>
          <a:p>
            <a:pP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宪法学 · 第8讲</a:t>
            </a:r>
            <a:endParaRPr lang="en-US" sz="1100" dirty="0"/>
          </a:p>
        </p:txBody>
      </p:sp>
      <p:sp>
        <p:nvSpPr>
          <p:cNvPr id="17" name="Text 15"/>
          <p:cNvSpPr/>
          <p:nvPr/>
        </p:nvSpPr>
        <p:spPr>
          <a:xfrm>
            <a:off x="3154680" y="6400800"/>
            <a:ext cx="6720840" cy="256032"/>
          </a:xfrm>
          <a:prstGeom prst="rect">
            <a:avLst/>
          </a:prstGeom>
          <a:noFill/>
          <a:ln/>
        </p:spPr>
        <p:txBody>
          <a:bodyPr wrap="square" lIns="0" tIns="0" rIns="0" bIns="0" rtlCol="0" anchor="t"/>
          <a:lstStyle/>
          <a:p>
            <a:pPr algn="ct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2021年报告理由的教学整理；劳动权联系属于课堂分析</a:t>
            </a:r>
            <a:endParaRPr lang="en-US" sz="1100" dirty="0"/>
          </a:p>
        </p:txBody>
      </p:sp>
      <p:sp>
        <p:nvSpPr>
          <p:cNvPr id="18" name="Text 16"/>
          <p:cNvSpPr/>
          <p:nvPr/>
        </p:nvSpPr>
        <p:spPr>
          <a:xfrm>
            <a:off x="10195560" y="6400800"/>
            <a:ext cx="1325880" cy="256032"/>
          </a:xfrm>
          <a:prstGeom prst="rect">
            <a:avLst/>
          </a:prstGeom>
          <a:noFill/>
          <a:ln/>
        </p:spPr>
        <p:txBody>
          <a:bodyPr wrap="square" lIns="0" tIns="0" rIns="0" bIns="0" rtlCol="0" anchor="t"/>
          <a:lstStyle/>
          <a:p>
            <a:pPr algn="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12 / 24</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713232" y="475488"/>
            <a:ext cx="10744200" cy="594360"/>
          </a:xfrm>
          <a:prstGeom prst="rect">
            <a:avLst/>
          </a:prstGeom>
          <a:noFill/>
          <a:ln/>
        </p:spPr>
        <p:txBody>
          <a:bodyPr wrap="square" lIns="0" tIns="0" rIns="0" bIns="0" rtlCol="0" anchor="t"/>
          <a:lstStyle/>
          <a:p>
            <a:pPr indent="0" marL="0">
              <a:lnSpc>
                <a:spcPct val="108000"/>
              </a:lnSpc>
              <a:buNone/>
            </a:pPr>
            <a:r>
              <a:rPr lang="en-US" sz="3200" b="1" dirty="0">
                <a:solidFill>
                  <a:srgbClr val="142735"/>
                </a:solidFill>
                <a:latin typeface="Microsoft YaHei" pitchFamily="34" charset="0"/>
                <a:ea typeface="Microsoft YaHei" pitchFamily="34" charset="-122"/>
                <a:cs typeface="Microsoft YaHei" pitchFamily="34" charset="-120"/>
              </a:rPr>
              <a:t>案例丙：最后发生了什么？</a:t>
            </a:r>
            <a:endParaRPr lang="en-US" sz="3200" dirty="0"/>
          </a:p>
        </p:txBody>
      </p:sp>
      <p:sp>
        <p:nvSpPr>
          <p:cNvPr id="3" name="Text 1"/>
          <p:cNvSpPr/>
          <p:nvPr/>
        </p:nvSpPr>
        <p:spPr>
          <a:xfrm>
            <a:off x="731520" y="1170432"/>
            <a:ext cx="10698480" cy="384048"/>
          </a:xfrm>
          <a:prstGeom prst="rect">
            <a:avLst/>
          </a:prstGeom>
          <a:noFill/>
          <a:ln/>
        </p:spPr>
        <p:txBody>
          <a:bodyPr wrap="square" lIns="0" tIns="0" rIns="0" bIns="0" rtlCol="0" anchor="t"/>
          <a:lstStyle/>
          <a:p>
            <a:pPr indent="0" marL="0">
              <a:lnSpc>
                <a:spcPct val="108000"/>
              </a:lnSpc>
              <a:buNone/>
            </a:pPr>
            <a:r>
              <a:rPr lang="en-US" sz="1600" dirty="0">
                <a:solidFill>
                  <a:srgbClr val="64717A"/>
                </a:solidFill>
                <a:latin typeface="Microsoft YaHei" pitchFamily="34" charset="0"/>
                <a:ea typeface="Microsoft YaHei" pitchFamily="34" charset="-122"/>
                <a:cs typeface="Microsoft YaHei" pitchFamily="34" charset="-120"/>
              </a:rPr>
              <a:t>阅读丙卡，完成案例四格表。</a:t>
            </a:r>
            <a:endParaRPr lang="en-US" sz="1600" dirty="0"/>
          </a:p>
        </p:txBody>
      </p:sp>
      <p:sp>
        <p:nvSpPr>
          <p:cNvPr id="4" name="Shape 2"/>
          <p:cNvSpPr/>
          <p:nvPr/>
        </p:nvSpPr>
        <p:spPr>
          <a:xfrm>
            <a:off x="768096" y="1773936"/>
            <a:ext cx="10652760" cy="3090672"/>
          </a:xfrm>
          <a:prstGeom prst="rect">
            <a:avLst/>
          </a:prstGeom>
          <a:solidFill>
            <a:srgbClr val="FFFFFF"/>
          </a:solidFill>
          <a:ln w="10160">
            <a:solidFill>
              <a:srgbClr val="D9D9D3"/>
            </a:solidFill>
            <a:prstDash val="solid"/>
          </a:ln>
        </p:spPr>
      </p:sp>
      <p:sp>
        <p:nvSpPr>
          <p:cNvPr id="5" name="Text 3"/>
          <p:cNvSpPr/>
          <p:nvPr/>
        </p:nvSpPr>
        <p:spPr>
          <a:xfrm>
            <a:off x="1033272" y="1956816"/>
            <a:ext cx="3657600" cy="283464"/>
          </a:xfrm>
          <a:prstGeom prst="rect">
            <a:avLst/>
          </a:prstGeom>
          <a:noFill/>
          <a:ln/>
        </p:spPr>
        <p:txBody>
          <a:bodyPr wrap="square" lIns="0" tIns="0" rIns="0" bIns="0" rtlCol="0" anchor="t"/>
          <a:lstStyle/>
          <a:p>
            <a:pPr indent="0" marL="0">
              <a:lnSpc>
                <a:spcPct val="108000"/>
              </a:lnSpc>
              <a:buNone/>
            </a:pPr>
            <a:r>
              <a:rPr lang="en-US" sz="1400" b="1" dirty="0">
                <a:solidFill>
                  <a:srgbClr val="B13D38"/>
                </a:solidFill>
                <a:latin typeface="Microsoft YaHei" pitchFamily="34" charset="0"/>
                <a:ea typeface="Microsoft YaHei" pitchFamily="34" charset="-122"/>
                <a:cs typeface="Microsoft YaHei" pitchFamily="34" charset="-120"/>
              </a:rPr>
              <a:t>报告节录</a:t>
            </a:r>
            <a:endParaRPr lang="en-US" sz="1400" dirty="0"/>
          </a:p>
        </p:txBody>
      </p:sp>
      <p:sp>
        <p:nvSpPr>
          <p:cNvPr id="6" name="Text 4"/>
          <p:cNvSpPr/>
          <p:nvPr/>
        </p:nvSpPr>
        <p:spPr>
          <a:xfrm>
            <a:off x="1033272" y="2423160"/>
            <a:ext cx="10104120" cy="1847088"/>
          </a:xfrm>
          <a:prstGeom prst="rect">
            <a:avLst/>
          </a:prstGeom>
          <a:noFill/>
          <a:ln/>
        </p:spPr>
        <p:txBody>
          <a:bodyPr wrap="square" lIns="0" tIns="0" rIns="0" bIns="0" rtlCol="0" anchor="t"/>
          <a:lstStyle/>
          <a:p>
            <a:pPr indent="0" marL="0">
              <a:lnSpc>
                <a:spcPct val="108000"/>
              </a:lnSpc>
              <a:buNone/>
            </a:pPr>
            <a:r>
              <a:rPr lang="en-US" sz="2600" dirty="0">
                <a:solidFill>
                  <a:srgbClr val="142735"/>
                </a:solidFill>
                <a:latin typeface="Microsoft YaHei" pitchFamily="34" charset="0"/>
                <a:ea typeface="Microsoft YaHei" pitchFamily="34" charset="-122"/>
                <a:cs typeface="Microsoft YaHei" pitchFamily="34" charset="-120"/>
              </a:rPr>
              <a:t>经沟通，制定机关</a:t>
            </a:r>
            <a:pPr indent="0" marL="0">
              <a:lnSpc>
                <a:spcPct val="108000"/>
              </a:lnSpc>
              <a:buNone/>
            </a:pPr>
            <a:r>
              <a:rPr lang="en-US" sz="2600" b="1" dirty="0">
                <a:solidFill>
                  <a:srgbClr val="B13D38"/>
                </a:solidFill>
                <a:latin typeface="Microsoft YaHei" pitchFamily="34" charset="0"/>
                <a:ea typeface="Microsoft YaHei" pitchFamily="34" charset="-122"/>
                <a:cs typeface="Microsoft YaHei" pitchFamily="34" charset="-120"/>
              </a:rPr>
              <a:t>已对相关规定作出修改调整</a:t>
            </a:r>
            <a:pPr indent="0" marL="0">
              <a:lnSpc>
                <a:spcPct val="108000"/>
              </a:lnSpc>
              <a:buNone/>
            </a:pPr>
            <a:r>
              <a:rPr lang="en-US" sz="2600" dirty="0">
                <a:solidFill>
                  <a:srgbClr val="142735"/>
                </a:solidFill>
                <a:latin typeface="Microsoft YaHei" pitchFamily="34" charset="0"/>
                <a:ea typeface="Microsoft YaHei" pitchFamily="34" charset="-122"/>
                <a:cs typeface="Microsoft YaHei" pitchFamily="34" charset="-120"/>
              </a:rPr>
              <a:t>。</a:t>
            </a:r>
            <a:endParaRPr lang="en-US" sz="2600" dirty="0"/>
          </a:p>
        </p:txBody>
      </p:sp>
      <p:sp>
        <p:nvSpPr>
          <p:cNvPr id="7" name="Text 5"/>
          <p:cNvSpPr/>
          <p:nvPr/>
        </p:nvSpPr>
        <p:spPr>
          <a:xfrm>
            <a:off x="1042416" y="4416552"/>
            <a:ext cx="10104120" cy="274320"/>
          </a:xfrm>
          <a:prstGeom prst="rect">
            <a:avLst/>
          </a:prstGeom>
          <a:noFill/>
          <a:ln/>
        </p:spPr>
        <p:txBody>
          <a:bodyPr wrap="square" lIns="0" tIns="0" rIns="0" bIns="0" rtlCol="0" anchor="t"/>
          <a:lstStyle/>
          <a:p>
            <a:pPr algn="r" indent="0" marL="0">
              <a:lnSpc>
                <a:spcPct val="108000"/>
              </a:lnSpc>
              <a:buNone/>
            </a:pPr>
            <a:r>
              <a:rPr lang="en-US" sz="1400" dirty="0">
                <a:solidFill>
                  <a:srgbClr val="64717A"/>
                </a:solidFill>
                <a:latin typeface="Microsoft YaHei" pitchFamily="34" charset="0"/>
                <a:ea typeface="Microsoft YaHei" pitchFamily="34" charset="-122"/>
                <a:cs typeface="Microsoft YaHei" pitchFamily="34" charset="-120"/>
              </a:rPr>
              <a:t>2021年备案审查报告中的处理结果</a:t>
            </a:r>
            <a:endParaRPr lang="en-US" sz="1400" dirty="0"/>
          </a:p>
        </p:txBody>
      </p:sp>
      <p:sp>
        <p:nvSpPr>
          <p:cNvPr id="8" name="Text 6"/>
          <p:cNvSpPr/>
          <p:nvPr/>
        </p:nvSpPr>
        <p:spPr>
          <a:xfrm>
            <a:off x="868680" y="5202936"/>
            <a:ext cx="10378440" cy="777240"/>
          </a:xfrm>
          <a:prstGeom prst="rect">
            <a:avLst/>
          </a:prstGeom>
          <a:noFill/>
          <a:ln/>
        </p:spPr>
        <p:txBody>
          <a:bodyPr wrap="square" lIns="0" tIns="0" rIns="0" bIns="0" rtlCol="0" anchor="t"/>
          <a:lstStyle/>
          <a:p>
            <a:pP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谁完成了修改？这句话足以证明整部法规被撤销或正式宣告违宪吗？</a:t>
            </a:r>
            <a:endParaRPr lang="en-US" sz="2200" dirty="0"/>
          </a:p>
        </p:txBody>
      </p:sp>
      <p:sp>
        <p:nvSpPr>
          <p:cNvPr id="9" name="Shape 7"/>
          <p:cNvSpPr/>
          <p:nvPr/>
        </p:nvSpPr>
        <p:spPr>
          <a:xfrm>
            <a:off x="658368" y="6291072"/>
            <a:ext cx="10872216" cy="10973"/>
          </a:xfrm>
          <a:prstGeom prst="rect">
            <a:avLst/>
          </a:prstGeom>
          <a:solidFill>
            <a:srgbClr val="D9D9D3"/>
          </a:solidFill>
          <a:ln w="10160">
            <a:solidFill>
              <a:srgbClr val="D9D9D3">
                <a:alpha val="0"/>
              </a:srgbClr>
            </a:solidFill>
            <a:prstDash val="solid"/>
          </a:ln>
        </p:spPr>
      </p:sp>
      <p:sp>
        <p:nvSpPr>
          <p:cNvPr id="10" name="Text 8"/>
          <p:cNvSpPr/>
          <p:nvPr/>
        </p:nvSpPr>
        <p:spPr>
          <a:xfrm>
            <a:off x="685800" y="6400800"/>
            <a:ext cx="2286000" cy="256032"/>
          </a:xfrm>
          <a:prstGeom prst="rect">
            <a:avLst/>
          </a:prstGeom>
          <a:noFill/>
          <a:ln/>
        </p:spPr>
        <p:txBody>
          <a:bodyPr wrap="square" lIns="0" tIns="0" rIns="0" bIns="0" rtlCol="0" anchor="t"/>
          <a:lstStyle/>
          <a:p>
            <a:pP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宪法学 · 第8讲</a:t>
            </a:r>
            <a:endParaRPr lang="en-US" sz="1100" dirty="0"/>
          </a:p>
        </p:txBody>
      </p:sp>
      <p:sp>
        <p:nvSpPr>
          <p:cNvPr id="11" name="Text 9"/>
          <p:cNvSpPr/>
          <p:nvPr/>
        </p:nvSpPr>
        <p:spPr>
          <a:xfrm>
            <a:off x="3154680" y="6400800"/>
            <a:ext cx="6720840" cy="256032"/>
          </a:xfrm>
          <a:prstGeom prst="rect">
            <a:avLst/>
          </a:prstGeom>
          <a:noFill/>
          <a:ln/>
        </p:spPr>
        <p:txBody>
          <a:bodyPr wrap="square" lIns="0" tIns="0" rIns="0" bIns="0" rtlCol="0" anchor="t"/>
          <a:lstStyle/>
          <a:p>
            <a:pPr algn="ct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2021年备案审查报告；《常委会公报》2022年第1号，第246页</a:t>
            </a:r>
            <a:endParaRPr lang="en-US" sz="1100" dirty="0"/>
          </a:p>
        </p:txBody>
      </p:sp>
      <p:sp>
        <p:nvSpPr>
          <p:cNvPr id="12" name="Text 10"/>
          <p:cNvSpPr/>
          <p:nvPr/>
        </p:nvSpPr>
        <p:spPr>
          <a:xfrm>
            <a:off x="10195560" y="6400800"/>
            <a:ext cx="1325880" cy="256032"/>
          </a:xfrm>
          <a:prstGeom prst="rect">
            <a:avLst/>
          </a:prstGeom>
          <a:noFill/>
          <a:ln/>
        </p:spPr>
        <p:txBody>
          <a:bodyPr wrap="square" lIns="0" tIns="0" rIns="0" bIns="0" rtlCol="0" anchor="t"/>
          <a:lstStyle/>
          <a:p>
            <a:pPr algn="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13 / 24</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713232" y="475488"/>
            <a:ext cx="10744200" cy="594360"/>
          </a:xfrm>
          <a:prstGeom prst="rect">
            <a:avLst/>
          </a:prstGeom>
          <a:noFill/>
          <a:ln/>
        </p:spPr>
        <p:txBody>
          <a:bodyPr wrap="square" lIns="0" tIns="0" rIns="0" bIns="0" rtlCol="0" anchor="t"/>
          <a:lstStyle/>
          <a:p>
            <a:pPr indent="0" marL="0">
              <a:lnSpc>
                <a:spcPct val="108000"/>
              </a:lnSpc>
              <a:buNone/>
            </a:pPr>
            <a:r>
              <a:rPr lang="en-US" sz="3200" b="1" dirty="0">
                <a:solidFill>
                  <a:srgbClr val="142735"/>
                </a:solidFill>
                <a:latin typeface="Microsoft YaHei" pitchFamily="34" charset="0"/>
                <a:ea typeface="Microsoft YaHei" pitchFamily="34" charset="-122"/>
                <a:cs typeface="Microsoft YaHei" pitchFamily="34" charset="-120"/>
              </a:rPr>
              <a:t>讲评：把事实、理由、动作和结果接起来</a:t>
            </a:r>
            <a:endParaRPr lang="en-US" sz="3200" dirty="0"/>
          </a:p>
        </p:txBody>
      </p:sp>
      <p:sp>
        <p:nvSpPr>
          <p:cNvPr id="3" name="Text 1"/>
          <p:cNvSpPr/>
          <p:nvPr/>
        </p:nvSpPr>
        <p:spPr>
          <a:xfrm>
            <a:off x="731520" y="1170432"/>
            <a:ext cx="10698480" cy="384048"/>
          </a:xfrm>
          <a:prstGeom prst="rect">
            <a:avLst/>
          </a:prstGeom>
          <a:noFill/>
          <a:ln/>
        </p:spPr>
        <p:txBody>
          <a:bodyPr wrap="square" lIns="0" tIns="0" rIns="0" bIns="0" rtlCol="0" anchor="t"/>
          <a:lstStyle/>
          <a:p>
            <a:pPr indent="0" marL="0">
              <a:lnSpc>
                <a:spcPct val="108000"/>
              </a:lnSpc>
              <a:buNone/>
            </a:pPr>
            <a:r>
              <a:rPr lang="en-US" sz="1600" dirty="0">
                <a:solidFill>
                  <a:srgbClr val="64717A"/>
                </a:solidFill>
                <a:latin typeface="Microsoft YaHei" pitchFamily="34" charset="0"/>
                <a:ea typeface="Microsoft YaHei" pitchFamily="34" charset="-122"/>
                <a:cs typeface="Microsoft YaHei" pitchFamily="34" charset="-120"/>
              </a:rPr>
              <a:t>每一个判断都能回到刚才的三段材料。</a:t>
            </a:r>
            <a:endParaRPr lang="en-US" sz="1600" dirty="0"/>
          </a:p>
        </p:txBody>
      </p:sp>
      <p:sp>
        <p:nvSpPr>
          <p:cNvPr id="4" name="Shape 2"/>
          <p:cNvSpPr/>
          <p:nvPr/>
        </p:nvSpPr>
        <p:spPr>
          <a:xfrm>
            <a:off x="768096" y="1773936"/>
            <a:ext cx="2663190" cy="640080"/>
          </a:xfrm>
          <a:prstGeom prst="rect">
            <a:avLst/>
          </a:prstGeom>
          <a:solidFill>
            <a:srgbClr val="142735"/>
          </a:solidFill>
          <a:ln w="10160">
            <a:solidFill>
              <a:srgbClr val="F8F6F1"/>
            </a:solidFill>
            <a:prstDash val="solid"/>
          </a:ln>
        </p:spPr>
      </p:sp>
      <p:sp>
        <p:nvSpPr>
          <p:cNvPr id="5" name="Text 3"/>
          <p:cNvSpPr/>
          <p:nvPr/>
        </p:nvSpPr>
        <p:spPr>
          <a:xfrm>
            <a:off x="941832" y="1929384"/>
            <a:ext cx="2315718" cy="365760"/>
          </a:xfrm>
          <a:prstGeom prst="rect">
            <a:avLst/>
          </a:prstGeom>
          <a:noFill/>
          <a:ln/>
        </p:spPr>
        <p:txBody>
          <a:bodyPr wrap="square" lIns="0" tIns="0" rIns="0" bIns="0" rtlCol="0" anchor="t"/>
          <a:lstStyle/>
          <a:p>
            <a:pPr indent="0" marL="0">
              <a:lnSpc>
                <a:spcPct val="108000"/>
              </a:lnSpc>
              <a:buNone/>
            </a:pPr>
            <a:r>
              <a:rPr lang="en-US" sz="2200" b="1" dirty="0">
                <a:solidFill>
                  <a:srgbClr val="FFFFFF"/>
                </a:solidFill>
                <a:latin typeface="Microsoft YaHei" pitchFamily="34" charset="0"/>
                <a:ea typeface="Microsoft YaHei" pitchFamily="34" charset="-122"/>
                <a:cs typeface="Microsoft YaHei" pitchFamily="34" charset="-120"/>
              </a:rPr>
              <a:t>四格记录</a:t>
            </a:r>
            <a:endParaRPr lang="en-US" sz="2200" dirty="0"/>
          </a:p>
        </p:txBody>
      </p:sp>
      <p:sp>
        <p:nvSpPr>
          <p:cNvPr id="6" name="Shape 4"/>
          <p:cNvSpPr/>
          <p:nvPr/>
        </p:nvSpPr>
        <p:spPr>
          <a:xfrm>
            <a:off x="3431286" y="1773936"/>
            <a:ext cx="7989570" cy="640080"/>
          </a:xfrm>
          <a:prstGeom prst="rect">
            <a:avLst/>
          </a:prstGeom>
          <a:solidFill>
            <a:srgbClr val="142735"/>
          </a:solidFill>
          <a:ln w="10160">
            <a:solidFill>
              <a:srgbClr val="F8F6F1"/>
            </a:solidFill>
            <a:prstDash val="solid"/>
          </a:ln>
        </p:spPr>
      </p:sp>
      <p:sp>
        <p:nvSpPr>
          <p:cNvPr id="7" name="Text 5"/>
          <p:cNvSpPr/>
          <p:nvPr/>
        </p:nvSpPr>
        <p:spPr>
          <a:xfrm>
            <a:off x="3605022" y="1929384"/>
            <a:ext cx="7642098" cy="365760"/>
          </a:xfrm>
          <a:prstGeom prst="rect">
            <a:avLst/>
          </a:prstGeom>
          <a:noFill/>
          <a:ln/>
        </p:spPr>
        <p:txBody>
          <a:bodyPr wrap="square" lIns="0" tIns="0" rIns="0" bIns="0" rtlCol="0" anchor="t"/>
          <a:lstStyle/>
          <a:p>
            <a:pPr indent="0" marL="0">
              <a:lnSpc>
                <a:spcPct val="108000"/>
              </a:lnSpc>
              <a:buNone/>
            </a:pPr>
            <a:r>
              <a:rPr lang="en-US" sz="2200" b="1" dirty="0">
                <a:solidFill>
                  <a:srgbClr val="FFFFFF"/>
                </a:solidFill>
                <a:latin typeface="Microsoft YaHei" pitchFamily="34" charset="0"/>
                <a:ea typeface="Microsoft YaHei" pitchFamily="34" charset="-122"/>
                <a:cs typeface="Microsoft YaHei" pitchFamily="34" charset="-120"/>
              </a:rPr>
              <a:t>依据材料能够确定的内容</a:t>
            </a:r>
            <a:endParaRPr lang="en-US" sz="2200" dirty="0"/>
          </a:p>
        </p:txBody>
      </p:sp>
      <p:sp>
        <p:nvSpPr>
          <p:cNvPr id="8" name="Shape 6"/>
          <p:cNvSpPr/>
          <p:nvPr/>
        </p:nvSpPr>
        <p:spPr>
          <a:xfrm>
            <a:off x="768096" y="2414016"/>
            <a:ext cx="2663190" cy="777240"/>
          </a:xfrm>
          <a:prstGeom prst="rect">
            <a:avLst/>
          </a:prstGeom>
          <a:solidFill>
            <a:srgbClr val="FFFFFF"/>
          </a:solidFill>
          <a:ln w="10160">
            <a:solidFill>
              <a:srgbClr val="F8F6F1"/>
            </a:solidFill>
            <a:prstDash val="solid"/>
          </a:ln>
        </p:spPr>
      </p:sp>
      <p:sp>
        <p:nvSpPr>
          <p:cNvPr id="9" name="Text 7"/>
          <p:cNvSpPr/>
          <p:nvPr/>
        </p:nvSpPr>
        <p:spPr>
          <a:xfrm>
            <a:off x="941832" y="2496312"/>
            <a:ext cx="2315718" cy="612648"/>
          </a:xfrm>
          <a:prstGeom prst="rect">
            <a:avLst/>
          </a:prstGeom>
          <a:noFill/>
          <a:ln/>
        </p:spPr>
        <p:txBody>
          <a:bodyPr wrap="square" lIns="0" tIns="0" rIns="0" bIns="0" rtlCol="0" anchor="t"/>
          <a:lstStyle/>
          <a:p>
            <a:pP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规范对象</a:t>
            </a:r>
            <a:endParaRPr lang="en-US" sz="2200" dirty="0"/>
          </a:p>
        </p:txBody>
      </p:sp>
      <p:sp>
        <p:nvSpPr>
          <p:cNvPr id="10" name="Shape 8"/>
          <p:cNvSpPr/>
          <p:nvPr/>
        </p:nvSpPr>
        <p:spPr>
          <a:xfrm>
            <a:off x="3431286" y="2414016"/>
            <a:ext cx="7989570" cy="777240"/>
          </a:xfrm>
          <a:prstGeom prst="rect">
            <a:avLst/>
          </a:prstGeom>
          <a:solidFill>
            <a:srgbClr val="FFFFFF"/>
          </a:solidFill>
          <a:ln w="10160">
            <a:solidFill>
              <a:srgbClr val="F8F6F1"/>
            </a:solidFill>
            <a:prstDash val="solid"/>
          </a:ln>
        </p:spPr>
      </p:sp>
      <p:sp>
        <p:nvSpPr>
          <p:cNvPr id="11" name="Text 9"/>
          <p:cNvSpPr/>
          <p:nvPr/>
        </p:nvSpPr>
        <p:spPr>
          <a:xfrm>
            <a:off x="3605022" y="2496312"/>
            <a:ext cx="7642098" cy="612648"/>
          </a:xfrm>
          <a:prstGeom prst="rect">
            <a:avLst/>
          </a:prstGeom>
          <a:noFill/>
          <a:ln/>
        </p:spPr>
        <p:txBody>
          <a:bodyPr wrap="square" lIns="0" tIns="0" rIns="0" bIns="0" rtlCol="0" anchor="t"/>
          <a:lstStyle/>
          <a:p>
            <a:pPr indent="0" marL="0">
              <a:lnSpc>
                <a:spcPct val="108000"/>
              </a:lnSpc>
              <a:buNone/>
            </a:pPr>
            <a:r>
              <a:rPr lang="en-US" sz="2200" dirty="0">
                <a:solidFill>
                  <a:srgbClr val="142735"/>
                </a:solidFill>
                <a:latin typeface="Microsoft YaHei" pitchFamily="34" charset="0"/>
                <a:ea typeface="Microsoft YaHei" pitchFamily="34" charset="-122"/>
                <a:cs typeface="Microsoft YaHei" pitchFamily="34" charset="-120"/>
              </a:rPr>
              <a:t>地方性法规对特定从业人员设置终身禁业。</a:t>
            </a:r>
            <a:endParaRPr lang="en-US" sz="2200" dirty="0"/>
          </a:p>
        </p:txBody>
      </p:sp>
      <p:sp>
        <p:nvSpPr>
          <p:cNvPr id="12" name="Shape 10"/>
          <p:cNvSpPr/>
          <p:nvPr/>
        </p:nvSpPr>
        <p:spPr>
          <a:xfrm>
            <a:off x="768096" y="3191256"/>
            <a:ext cx="2663190" cy="777240"/>
          </a:xfrm>
          <a:prstGeom prst="rect">
            <a:avLst/>
          </a:prstGeom>
          <a:solidFill>
            <a:srgbClr val="EEEAE1"/>
          </a:solidFill>
          <a:ln w="10160">
            <a:solidFill>
              <a:srgbClr val="F8F6F1"/>
            </a:solidFill>
            <a:prstDash val="solid"/>
          </a:ln>
        </p:spPr>
      </p:sp>
      <p:sp>
        <p:nvSpPr>
          <p:cNvPr id="13" name="Text 11"/>
          <p:cNvSpPr/>
          <p:nvPr/>
        </p:nvSpPr>
        <p:spPr>
          <a:xfrm>
            <a:off x="941832" y="3273552"/>
            <a:ext cx="2315718" cy="612648"/>
          </a:xfrm>
          <a:prstGeom prst="rect">
            <a:avLst/>
          </a:prstGeom>
          <a:noFill/>
          <a:ln/>
        </p:spPr>
        <p:txBody>
          <a:bodyPr wrap="square" lIns="0" tIns="0" rIns="0" bIns="0" rtlCol="0" anchor="t"/>
          <a:lstStyle/>
          <a:p>
            <a:pP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审查理由</a:t>
            </a:r>
            <a:endParaRPr lang="en-US" sz="2200" dirty="0"/>
          </a:p>
        </p:txBody>
      </p:sp>
      <p:sp>
        <p:nvSpPr>
          <p:cNvPr id="14" name="Shape 12"/>
          <p:cNvSpPr/>
          <p:nvPr/>
        </p:nvSpPr>
        <p:spPr>
          <a:xfrm>
            <a:off x="3431286" y="3191256"/>
            <a:ext cx="7989570" cy="777240"/>
          </a:xfrm>
          <a:prstGeom prst="rect">
            <a:avLst/>
          </a:prstGeom>
          <a:solidFill>
            <a:srgbClr val="EEEAE1"/>
          </a:solidFill>
          <a:ln w="10160">
            <a:solidFill>
              <a:srgbClr val="F8F6F1"/>
            </a:solidFill>
            <a:prstDash val="solid"/>
          </a:ln>
        </p:spPr>
      </p:sp>
      <p:sp>
        <p:nvSpPr>
          <p:cNvPr id="15" name="Text 13"/>
          <p:cNvSpPr/>
          <p:nvPr/>
        </p:nvSpPr>
        <p:spPr>
          <a:xfrm>
            <a:off x="3605022" y="3273552"/>
            <a:ext cx="7642098" cy="612648"/>
          </a:xfrm>
          <a:prstGeom prst="rect">
            <a:avLst/>
          </a:prstGeom>
          <a:noFill/>
          <a:ln/>
        </p:spPr>
        <p:txBody>
          <a:bodyPr wrap="square" lIns="0" tIns="0" rIns="0" bIns="0" rtlCol="0" anchor="t"/>
          <a:lstStyle/>
          <a:p>
            <a:pPr indent="0" marL="0">
              <a:lnSpc>
                <a:spcPct val="108000"/>
              </a:lnSpc>
              <a:buNone/>
            </a:pPr>
            <a:r>
              <a:rPr lang="en-US" sz="2200" dirty="0">
                <a:solidFill>
                  <a:srgbClr val="142735"/>
                </a:solidFill>
                <a:latin typeface="Microsoft YaHei" pitchFamily="34" charset="0"/>
                <a:ea typeface="Microsoft YaHei" pitchFamily="34" charset="-122"/>
                <a:cs typeface="Microsoft YaHei" pitchFamily="34" charset="-120"/>
              </a:rPr>
              <a:t>法律、行政法规未设从业限制的领域，地方性法规不宜规定终身禁止。</a:t>
            </a:r>
            <a:endParaRPr lang="en-US" sz="2200" dirty="0"/>
          </a:p>
        </p:txBody>
      </p:sp>
      <p:sp>
        <p:nvSpPr>
          <p:cNvPr id="16" name="Shape 14"/>
          <p:cNvSpPr/>
          <p:nvPr/>
        </p:nvSpPr>
        <p:spPr>
          <a:xfrm>
            <a:off x="768096" y="3968496"/>
            <a:ext cx="2663190" cy="777240"/>
          </a:xfrm>
          <a:prstGeom prst="rect">
            <a:avLst/>
          </a:prstGeom>
          <a:solidFill>
            <a:srgbClr val="FFFFFF"/>
          </a:solidFill>
          <a:ln w="10160">
            <a:solidFill>
              <a:srgbClr val="F8F6F1"/>
            </a:solidFill>
            <a:prstDash val="solid"/>
          </a:ln>
        </p:spPr>
      </p:sp>
      <p:sp>
        <p:nvSpPr>
          <p:cNvPr id="17" name="Text 15"/>
          <p:cNvSpPr/>
          <p:nvPr/>
        </p:nvSpPr>
        <p:spPr>
          <a:xfrm>
            <a:off x="941832" y="4050792"/>
            <a:ext cx="2315718" cy="612648"/>
          </a:xfrm>
          <a:prstGeom prst="rect">
            <a:avLst/>
          </a:prstGeom>
          <a:noFill/>
          <a:ln/>
        </p:spPr>
        <p:txBody>
          <a:bodyPr wrap="square" lIns="0" tIns="0" rIns="0" bIns="0" rtlCol="0" anchor="t"/>
          <a:lstStyle/>
          <a:p>
            <a:pP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主体与动作</a:t>
            </a:r>
            <a:endParaRPr lang="en-US" sz="2200" dirty="0"/>
          </a:p>
        </p:txBody>
      </p:sp>
      <p:sp>
        <p:nvSpPr>
          <p:cNvPr id="18" name="Shape 16"/>
          <p:cNvSpPr/>
          <p:nvPr/>
        </p:nvSpPr>
        <p:spPr>
          <a:xfrm>
            <a:off x="3431286" y="3968496"/>
            <a:ext cx="7989570" cy="777240"/>
          </a:xfrm>
          <a:prstGeom prst="rect">
            <a:avLst/>
          </a:prstGeom>
          <a:solidFill>
            <a:srgbClr val="FFFFFF"/>
          </a:solidFill>
          <a:ln w="10160">
            <a:solidFill>
              <a:srgbClr val="F8F6F1"/>
            </a:solidFill>
            <a:prstDash val="solid"/>
          </a:ln>
        </p:spPr>
      </p:sp>
      <p:sp>
        <p:nvSpPr>
          <p:cNvPr id="19" name="Text 17"/>
          <p:cNvSpPr/>
          <p:nvPr/>
        </p:nvSpPr>
        <p:spPr>
          <a:xfrm>
            <a:off x="3605022" y="4050792"/>
            <a:ext cx="7642098" cy="612648"/>
          </a:xfrm>
          <a:prstGeom prst="rect">
            <a:avLst/>
          </a:prstGeom>
          <a:noFill/>
          <a:ln/>
        </p:spPr>
        <p:txBody>
          <a:bodyPr wrap="square" lIns="0" tIns="0" rIns="0" bIns="0" rtlCol="0" anchor="t"/>
          <a:lstStyle/>
          <a:p>
            <a:pPr indent="0" marL="0">
              <a:lnSpc>
                <a:spcPct val="108000"/>
              </a:lnSpc>
              <a:buNone/>
            </a:pPr>
            <a:r>
              <a:rPr lang="en-US" sz="2200" dirty="0">
                <a:solidFill>
                  <a:srgbClr val="142735"/>
                </a:solidFill>
                <a:latin typeface="Microsoft YaHei" pitchFamily="34" charset="0"/>
                <a:ea typeface="Microsoft YaHei" pitchFamily="34" charset="-122"/>
                <a:cs typeface="Microsoft YaHei" pitchFamily="34" charset="-120"/>
              </a:rPr>
              <a:t>公民提建议；法工委在报告中提出调整意见；制定机关修改。</a:t>
            </a:r>
            <a:endParaRPr lang="en-US" sz="2200" dirty="0"/>
          </a:p>
        </p:txBody>
      </p:sp>
      <p:sp>
        <p:nvSpPr>
          <p:cNvPr id="20" name="Shape 18"/>
          <p:cNvSpPr/>
          <p:nvPr/>
        </p:nvSpPr>
        <p:spPr>
          <a:xfrm>
            <a:off x="768096" y="4745736"/>
            <a:ext cx="2663190" cy="777240"/>
          </a:xfrm>
          <a:prstGeom prst="rect">
            <a:avLst/>
          </a:prstGeom>
          <a:solidFill>
            <a:srgbClr val="EEEAE1"/>
          </a:solidFill>
          <a:ln w="10160">
            <a:solidFill>
              <a:srgbClr val="F8F6F1"/>
            </a:solidFill>
            <a:prstDash val="solid"/>
          </a:ln>
        </p:spPr>
      </p:sp>
      <p:sp>
        <p:nvSpPr>
          <p:cNvPr id="21" name="Text 19"/>
          <p:cNvSpPr/>
          <p:nvPr/>
        </p:nvSpPr>
        <p:spPr>
          <a:xfrm>
            <a:off x="941832" y="4828032"/>
            <a:ext cx="2315718" cy="612648"/>
          </a:xfrm>
          <a:prstGeom prst="rect">
            <a:avLst/>
          </a:prstGeom>
          <a:noFill/>
          <a:ln/>
        </p:spPr>
        <p:txBody>
          <a:bodyPr wrap="square" lIns="0" tIns="0" rIns="0" bIns="0" rtlCol="0" anchor="t"/>
          <a:lstStyle/>
          <a:p>
            <a:pP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实际结果</a:t>
            </a:r>
            <a:endParaRPr lang="en-US" sz="2200" dirty="0"/>
          </a:p>
        </p:txBody>
      </p:sp>
      <p:sp>
        <p:nvSpPr>
          <p:cNvPr id="22" name="Shape 20"/>
          <p:cNvSpPr/>
          <p:nvPr/>
        </p:nvSpPr>
        <p:spPr>
          <a:xfrm>
            <a:off x="3431286" y="4745736"/>
            <a:ext cx="7989570" cy="777240"/>
          </a:xfrm>
          <a:prstGeom prst="rect">
            <a:avLst/>
          </a:prstGeom>
          <a:solidFill>
            <a:srgbClr val="EEEAE1"/>
          </a:solidFill>
          <a:ln w="10160">
            <a:solidFill>
              <a:srgbClr val="F8F6F1"/>
            </a:solidFill>
            <a:prstDash val="solid"/>
          </a:ln>
        </p:spPr>
      </p:sp>
      <p:sp>
        <p:nvSpPr>
          <p:cNvPr id="23" name="Text 21"/>
          <p:cNvSpPr/>
          <p:nvPr/>
        </p:nvSpPr>
        <p:spPr>
          <a:xfrm>
            <a:off x="3605022" y="4828032"/>
            <a:ext cx="7642098" cy="612648"/>
          </a:xfrm>
          <a:prstGeom prst="rect">
            <a:avLst/>
          </a:prstGeom>
          <a:noFill/>
          <a:ln/>
        </p:spPr>
        <p:txBody>
          <a:bodyPr wrap="square" lIns="0" tIns="0" rIns="0" bIns="0" rtlCol="0" anchor="t"/>
          <a:lstStyle/>
          <a:p>
            <a:pPr indent="0" marL="0">
              <a:lnSpc>
                <a:spcPct val="108000"/>
              </a:lnSpc>
              <a:buNone/>
            </a:pPr>
            <a:r>
              <a:rPr lang="en-US" sz="2200" dirty="0">
                <a:solidFill>
                  <a:srgbClr val="142735"/>
                </a:solidFill>
                <a:latin typeface="Microsoft YaHei" pitchFamily="34" charset="0"/>
                <a:ea typeface="Microsoft YaHei" pitchFamily="34" charset="-122"/>
                <a:cs typeface="Microsoft YaHei" pitchFamily="34" charset="-120"/>
              </a:rPr>
              <a:t>相关规定已修改调整；具体修后条文未公布。</a:t>
            </a:r>
            <a:endParaRPr lang="en-US" sz="2200" dirty="0"/>
          </a:p>
        </p:txBody>
      </p:sp>
      <p:sp>
        <p:nvSpPr>
          <p:cNvPr id="24" name="Shape 22"/>
          <p:cNvSpPr/>
          <p:nvPr/>
        </p:nvSpPr>
        <p:spPr>
          <a:xfrm>
            <a:off x="768096" y="5650992"/>
            <a:ext cx="10652760" cy="420624"/>
          </a:xfrm>
          <a:prstGeom prst="rect">
            <a:avLst/>
          </a:prstGeom>
          <a:solidFill>
            <a:srgbClr val="EEEAE1"/>
          </a:solidFill>
          <a:ln w="10160">
            <a:solidFill>
              <a:srgbClr val="EEEAE1">
                <a:alpha val="0"/>
              </a:srgbClr>
            </a:solidFill>
            <a:prstDash val="solid"/>
          </a:ln>
        </p:spPr>
      </p:sp>
      <p:sp>
        <p:nvSpPr>
          <p:cNvPr id="25" name="Text 23"/>
          <p:cNvSpPr/>
          <p:nvPr/>
        </p:nvSpPr>
        <p:spPr>
          <a:xfrm>
            <a:off x="987552" y="5696712"/>
            <a:ext cx="10213848" cy="329184"/>
          </a:xfrm>
          <a:prstGeom prst="rect">
            <a:avLst/>
          </a:prstGeom>
          <a:noFill/>
          <a:ln/>
        </p:spPr>
        <p:txBody>
          <a:bodyPr wrap="square" lIns="0" tIns="0" rIns="0" bIns="0" rtlCol="0" anchor="t"/>
          <a:lstStyle/>
          <a:p>
            <a:pP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“经沟通”没有明示具体沟通者；报告也未记载正式违宪宣告。</a:t>
            </a:r>
            <a:endParaRPr lang="en-US" sz="2200" dirty="0"/>
          </a:p>
        </p:txBody>
      </p:sp>
      <p:sp>
        <p:nvSpPr>
          <p:cNvPr id="26" name="Shape 24"/>
          <p:cNvSpPr/>
          <p:nvPr/>
        </p:nvSpPr>
        <p:spPr>
          <a:xfrm>
            <a:off x="658368" y="6291072"/>
            <a:ext cx="10872216" cy="10973"/>
          </a:xfrm>
          <a:prstGeom prst="rect">
            <a:avLst/>
          </a:prstGeom>
          <a:solidFill>
            <a:srgbClr val="D9D9D3"/>
          </a:solidFill>
          <a:ln w="10160">
            <a:solidFill>
              <a:srgbClr val="D9D9D3">
                <a:alpha val="0"/>
              </a:srgbClr>
            </a:solidFill>
            <a:prstDash val="solid"/>
          </a:ln>
        </p:spPr>
      </p:sp>
      <p:sp>
        <p:nvSpPr>
          <p:cNvPr id="27" name="Text 25"/>
          <p:cNvSpPr/>
          <p:nvPr/>
        </p:nvSpPr>
        <p:spPr>
          <a:xfrm>
            <a:off x="685800" y="6400800"/>
            <a:ext cx="2286000" cy="256032"/>
          </a:xfrm>
          <a:prstGeom prst="rect">
            <a:avLst/>
          </a:prstGeom>
          <a:noFill/>
          <a:ln/>
        </p:spPr>
        <p:txBody>
          <a:bodyPr wrap="square" lIns="0" tIns="0" rIns="0" bIns="0" rtlCol="0" anchor="t"/>
          <a:lstStyle/>
          <a:p>
            <a:pP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宪法学 · 第8讲</a:t>
            </a:r>
            <a:endParaRPr lang="en-US" sz="1100" dirty="0"/>
          </a:p>
        </p:txBody>
      </p:sp>
      <p:sp>
        <p:nvSpPr>
          <p:cNvPr id="28" name="Text 26"/>
          <p:cNvSpPr/>
          <p:nvPr/>
        </p:nvSpPr>
        <p:spPr>
          <a:xfrm>
            <a:off x="3154680" y="6400800"/>
            <a:ext cx="6720840" cy="256032"/>
          </a:xfrm>
          <a:prstGeom prst="rect">
            <a:avLst/>
          </a:prstGeom>
          <a:noFill/>
          <a:ln/>
        </p:spPr>
        <p:txBody>
          <a:bodyPr wrap="square" lIns="0" tIns="0" rIns="0" bIns="0" rtlCol="0" anchor="t"/>
          <a:lstStyle/>
          <a:p>
            <a:pPr algn="ct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2021年报告事实与理由；案例四格表参考答案</a:t>
            </a:r>
            <a:endParaRPr lang="en-US" sz="1100" dirty="0"/>
          </a:p>
        </p:txBody>
      </p:sp>
      <p:sp>
        <p:nvSpPr>
          <p:cNvPr id="29" name="Text 27"/>
          <p:cNvSpPr/>
          <p:nvPr/>
        </p:nvSpPr>
        <p:spPr>
          <a:xfrm>
            <a:off x="10195560" y="6400800"/>
            <a:ext cx="1325880" cy="256032"/>
          </a:xfrm>
          <a:prstGeom prst="rect">
            <a:avLst/>
          </a:prstGeom>
          <a:noFill/>
          <a:ln/>
        </p:spPr>
        <p:txBody>
          <a:bodyPr wrap="square" lIns="0" tIns="0" rIns="0" bIns="0" rtlCol="0" anchor="t"/>
          <a:lstStyle/>
          <a:p>
            <a:pPr algn="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14 / 24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713232" y="475488"/>
            <a:ext cx="10744200" cy="594360"/>
          </a:xfrm>
          <a:prstGeom prst="rect">
            <a:avLst/>
          </a:prstGeom>
          <a:noFill/>
          <a:ln/>
        </p:spPr>
        <p:txBody>
          <a:bodyPr wrap="square" lIns="0" tIns="0" rIns="0" bIns="0" rtlCol="0" anchor="t"/>
          <a:lstStyle/>
          <a:p>
            <a:pPr indent="0" marL="0">
              <a:lnSpc>
                <a:spcPct val="108000"/>
              </a:lnSpc>
              <a:buNone/>
            </a:pPr>
            <a:r>
              <a:rPr lang="en-US" sz="3200" b="1" dirty="0">
                <a:solidFill>
                  <a:srgbClr val="142735"/>
                </a:solidFill>
                <a:latin typeface="Microsoft YaHei" pitchFamily="34" charset="0"/>
                <a:ea typeface="Microsoft YaHei" pitchFamily="34" charset="-122"/>
                <a:cs typeface="Microsoft YaHei" pitchFamily="34" charset="-120"/>
              </a:rPr>
              <a:t>换一处条文：合宪性问题何时处理？</a:t>
            </a:r>
            <a:endParaRPr lang="en-US" sz="3200" dirty="0"/>
          </a:p>
        </p:txBody>
      </p:sp>
      <p:sp>
        <p:nvSpPr>
          <p:cNvPr id="3" name="Text 1"/>
          <p:cNvSpPr/>
          <p:nvPr/>
        </p:nvSpPr>
        <p:spPr>
          <a:xfrm>
            <a:off x="731520" y="1170432"/>
            <a:ext cx="10698480" cy="384048"/>
          </a:xfrm>
          <a:prstGeom prst="rect">
            <a:avLst/>
          </a:prstGeom>
          <a:noFill/>
          <a:ln/>
        </p:spPr>
        <p:txBody>
          <a:bodyPr wrap="square" lIns="0" tIns="0" rIns="0" bIns="0" rtlCol="0" anchor="t"/>
          <a:lstStyle/>
          <a:p>
            <a:pPr indent="0" marL="0">
              <a:lnSpc>
                <a:spcPct val="108000"/>
              </a:lnSpc>
              <a:buNone/>
            </a:pPr>
            <a:r>
              <a:rPr lang="en-US" sz="1600" dirty="0">
                <a:solidFill>
                  <a:srgbClr val="64717A"/>
                </a:solidFill>
                <a:latin typeface="Microsoft YaHei" pitchFamily="34" charset="0"/>
                <a:ea typeface="Microsoft YaHei" pitchFamily="34" charset="-122"/>
                <a:cs typeface="Microsoft YaHei" pitchFamily="34" charset="-120"/>
              </a:rPr>
              <a:t>《立法法》第58条要求提出法律案时提交草案及说明。</a:t>
            </a:r>
            <a:endParaRPr lang="en-US" sz="1600" dirty="0"/>
          </a:p>
        </p:txBody>
      </p:sp>
      <p:sp>
        <p:nvSpPr>
          <p:cNvPr id="4" name="Shape 2"/>
          <p:cNvSpPr/>
          <p:nvPr/>
        </p:nvSpPr>
        <p:spPr>
          <a:xfrm>
            <a:off x="768096" y="1773936"/>
            <a:ext cx="10652760" cy="3090672"/>
          </a:xfrm>
          <a:prstGeom prst="rect">
            <a:avLst/>
          </a:prstGeom>
          <a:solidFill>
            <a:srgbClr val="FFFFFF"/>
          </a:solidFill>
          <a:ln w="10160">
            <a:solidFill>
              <a:srgbClr val="D9D9D3"/>
            </a:solidFill>
            <a:prstDash val="solid"/>
          </a:ln>
        </p:spPr>
      </p:sp>
      <p:sp>
        <p:nvSpPr>
          <p:cNvPr id="5" name="Text 3"/>
          <p:cNvSpPr/>
          <p:nvPr/>
        </p:nvSpPr>
        <p:spPr>
          <a:xfrm>
            <a:off x="1033272" y="1956816"/>
            <a:ext cx="3657600" cy="283464"/>
          </a:xfrm>
          <a:prstGeom prst="rect">
            <a:avLst/>
          </a:prstGeom>
          <a:noFill/>
          <a:ln/>
        </p:spPr>
        <p:txBody>
          <a:bodyPr wrap="square" lIns="0" tIns="0" rIns="0" bIns="0" rtlCol="0" anchor="t"/>
          <a:lstStyle/>
          <a:p>
            <a:pPr indent="0" marL="0">
              <a:lnSpc>
                <a:spcPct val="108000"/>
              </a:lnSpc>
              <a:buNone/>
            </a:pPr>
            <a:r>
              <a:rPr lang="en-US" sz="1400" b="1" dirty="0">
                <a:solidFill>
                  <a:srgbClr val="B13D38"/>
                </a:solidFill>
                <a:latin typeface="Microsoft YaHei" pitchFamily="34" charset="0"/>
                <a:ea typeface="Microsoft YaHei" pitchFamily="34" charset="-122"/>
                <a:cs typeface="Microsoft YaHei" pitchFamily="34" charset="-120"/>
              </a:rPr>
              <a:t>条文节录</a:t>
            </a:r>
            <a:endParaRPr lang="en-US" sz="1400" dirty="0"/>
          </a:p>
        </p:txBody>
      </p:sp>
      <p:sp>
        <p:nvSpPr>
          <p:cNvPr id="6" name="Text 4"/>
          <p:cNvSpPr/>
          <p:nvPr/>
        </p:nvSpPr>
        <p:spPr>
          <a:xfrm>
            <a:off x="1033272" y="2423160"/>
            <a:ext cx="10104120" cy="1847088"/>
          </a:xfrm>
          <a:prstGeom prst="rect">
            <a:avLst/>
          </a:prstGeom>
          <a:noFill/>
          <a:ln/>
        </p:spPr>
        <p:txBody>
          <a:bodyPr wrap="square" lIns="0" tIns="0" rIns="0" bIns="0" rtlCol="0" anchor="t"/>
          <a:lstStyle/>
          <a:p>
            <a:pPr indent="0" marL="0">
              <a:lnSpc>
                <a:spcPct val="108000"/>
              </a:lnSpc>
              <a:buNone/>
            </a:pPr>
            <a:r>
              <a:rPr lang="en-US" sz="2600" dirty="0">
                <a:solidFill>
                  <a:srgbClr val="142735"/>
                </a:solidFill>
                <a:latin typeface="Microsoft YaHei" pitchFamily="34" charset="0"/>
                <a:ea typeface="Microsoft YaHei" pitchFamily="34" charset="-122"/>
                <a:cs typeface="Microsoft YaHei" pitchFamily="34" charset="-120"/>
              </a:rPr>
              <a:t>法律草案的说明应当包括制定或者修改法律的必要性、可行性和主要内容，</a:t>
            </a:r>
            <a:pPr indent="0" marL="0">
              <a:lnSpc>
                <a:spcPct val="108000"/>
              </a:lnSpc>
              <a:buNone/>
            </a:pPr>
            <a:r>
              <a:rPr lang="en-US" sz="2600" b="1" dirty="0">
                <a:solidFill>
                  <a:srgbClr val="B13D38"/>
                </a:solidFill>
                <a:latin typeface="Microsoft YaHei" pitchFamily="34" charset="0"/>
                <a:ea typeface="Microsoft YaHei" pitchFamily="34" charset="-122"/>
                <a:cs typeface="Microsoft YaHei" pitchFamily="34" charset="-120"/>
              </a:rPr>
              <a:t>涉及合宪性问题的相关意见</a:t>
            </a:r>
            <a:pPr indent="0" marL="0">
              <a:lnSpc>
                <a:spcPct val="108000"/>
              </a:lnSpc>
              <a:buNone/>
            </a:pPr>
            <a:r>
              <a:rPr lang="en-US" sz="2600" dirty="0">
                <a:solidFill>
                  <a:srgbClr val="142735"/>
                </a:solidFill>
                <a:latin typeface="Microsoft YaHei" pitchFamily="34" charset="0"/>
                <a:ea typeface="Microsoft YaHei" pitchFamily="34" charset="-122"/>
                <a:cs typeface="Microsoft YaHei" pitchFamily="34" charset="-120"/>
              </a:rPr>
              <a:t>以及起草过程中对重大分歧意见的协调处理情况。</a:t>
            </a:r>
            <a:endParaRPr lang="en-US" sz="2600" dirty="0"/>
          </a:p>
        </p:txBody>
      </p:sp>
      <p:sp>
        <p:nvSpPr>
          <p:cNvPr id="7" name="Text 5"/>
          <p:cNvSpPr/>
          <p:nvPr/>
        </p:nvSpPr>
        <p:spPr>
          <a:xfrm>
            <a:off x="1042416" y="4416552"/>
            <a:ext cx="10104120" cy="274320"/>
          </a:xfrm>
          <a:prstGeom prst="rect">
            <a:avLst/>
          </a:prstGeom>
          <a:noFill/>
          <a:ln/>
        </p:spPr>
        <p:txBody>
          <a:bodyPr wrap="square" lIns="0" tIns="0" rIns="0" bIns="0" rtlCol="0" anchor="t"/>
          <a:lstStyle/>
          <a:p>
            <a:pPr algn="r" indent="0" marL="0">
              <a:lnSpc>
                <a:spcPct val="108000"/>
              </a:lnSpc>
              <a:buNone/>
            </a:pPr>
            <a:r>
              <a:rPr lang="en-US" sz="1400" dirty="0">
                <a:solidFill>
                  <a:srgbClr val="64717A"/>
                </a:solidFill>
                <a:latin typeface="Microsoft YaHei" pitchFamily="34" charset="0"/>
                <a:ea typeface="Microsoft YaHei" pitchFamily="34" charset="-122"/>
                <a:cs typeface="Microsoft YaHei" pitchFamily="34" charset="-120"/>
              </a:rPr>
              <a:t>《立法法》第58条关于草案说明的规定</a:t>
            </a:r>
            <a:endParaRPr lang="en-US" sz="1400" dirty="0"/>
          </a:p>
        </p:txBody>
      </p:sp>
      <p:sp>
        <p:nvSpPr>
          <p:cNvPr id="8" name="Text 6"/>
          <p:cNvSpPr/>
          <p:nvPr/>
        </p:nvSpPr>
        <p:spPr>
          <a:xfrm>
            <a:off x="868680" y="5202936"/>
            <a:ext cx="10378440" cy="777240"/>
          </a:xfrm>
          <a:prstGeom prst="rect">
            <a:avLst/>
          </a:prstGeom>
          <a:noFill/>
          <a:ln/>
        </p:spPr>
        <p:txBody>
          <a:bodyPr wrap="square" lIns="0" tIns="0" rIns="0" bIns="0" rtlCol="0" anchor="t"/>
          <a:lstStyle/>
          <a:p>
            <a:pP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这项要求发生在法律公布之前，还是公布后的备案环节？</a:t>
            </a:r>
            <a:endParaRPr lang="en-US" sz="2200" dirty="0"/>
          </a:p>
        </p:txBody>
      </p:sp>
      <p:sp>
        <p:nvSpPr>
          <p:cNvPr id="9" name="Shape 7"/>
          <p:cNvSpPr/>
          <p:nvPr/>
        </p:nvSpPr>
        <p:spPr>
          <a:xfrm>
            <a:off x="658368" y="6291072"/>
            <a:ext cx="10872216" cy="10973"/>
          </a:xfrm>
          <a:prstGeom prst="rect">
            <a:avLst/>
          </a:prstGeom>
          <a:solidFill>
            <a:srgbClr val="D9D9D3"/>
          </a:solidFill>
          <a:ln w="10160">
            <a:solidFill>
              <a:srgbClr val="D9D9D3">
                <a:alpha val="0"/>
              </a:srgbClr>
            </a:solidFill>
            <a:prstDash val="solid"/>
          </a:ln>
        </p:spPr>
      </p:sp>
      <p:sp>
        <p:nvSpPr>
          <p:cNvPr id="10" name="Text 8"/>
          <p:cNvSpPr/>
          <p:nvPr/>
        </p:nvSpPr>
        <p:spPr>
          <a:xfrm>
            <a:off x="685800" y="6400800"/>
            <a:ext cx="2286000" cy="256032"/>
          </a:xfrm>
          <a:prstGeom prst="rect">
            <a:avLst/>
          </a:prstGeom>
          <a:noFill/>
          <a:ln/>
        </p:spPr>
        <p:txBody>
          <a:bodyPr wrap="square" lIns="0" tIns="0" rIns="0" bIns="0" rtlCol="0" anchor="t"/>
          <a:lstStyle/>
          <a:p>
            <a:pP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宪法学 · 第8讲</a:t>
            </a:r>
            <a:endParaRPr lang="en-US" sz="1100" dirty="0"/>
          </a:p>
        </p:txBody>
      </p:sp>
      <p:sp>
        <p:nvSpPr>
          <p:cNvPr id="11" name="Text 9"/>
          <p:cNvSpPr/>
          <p:nvPr/>
        </p:nvSpPr>
        <p:spPr>
          <a:xfrm>
            <a:off x="3154680" y="6400800"/>
            <a:ext cx="6720840" cy="256032"/>
          </a:xfrm>
          <a:prstGeom prst="rect">
            <a:avLst/>
          </a:prstGeom>
          <a:noFill/>
          <a:ln/>
        </p:spPr>
        <p:txBody>
          <a:bodyPr wrap="square" lIns="0" tIns="0" rIns="0" bIns="0" rtlCol="0" anchor="t"/>
          <a:lstStyle/>
          <a:p>
            <a:pPr algn="ct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《立法法》（2023年修正）第58条节录</a:t>
            </a:r>
            <a:endParaRPr lang="en-US" sz="1100" dirty="0"/>
          </a:p>
        </p:txBody>
      </p:sp>
      <p:sp>
        <p:nvSpPr>
          <p:cNvPr id="12" name="Text 10"/>
          <p:cNvSpPr/>
          <p:nvPr/>
        </p:nvSpPr>
        <p:spPr>
          <a:xfrm>
            <a:off x="10195560" y="6400800"/>
            <a:ext cx="1325880" cy="256032"/>
          </a:xfrm>
          <a:prstGeom prst="rect">
            <a:avLst/>
          </a:prstGeom>
          <a:noFill/>
          <a:ln/>
        </p:spPr>
        <p:txBody>
          <a:bodyPr wrap="square" lIns="0" tIns="0" rIns="0" bIns="0" rtlCol="0" anchor="t"/>
          <a:lstStyle/>
          <a:p>
            <a:pPr algn="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15 / 24</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713232" y="475488"/>
            <a:ext cx="10744200" cy="594360"/>
          </a:xfrm>
          <a:prstGeom prst="rect">
            <a:avLst/>
          </a:prstGeom>
          <a:noFill/>
          <a:ln/>
        </p:spPr>
        <p:txBody>
          <a:bodyPr wrap="square" lIns="0" tIns="0" rIns="0" bIns="0" rtlCol="0" anchor="t"/>
          <a:lstStyle/>
          <a:p>
            <a:pPr indent="0" marL="0">
              <a:lnSpc>
                <a:spcPct val="108000"/>
              </a:lnSpc>
              <a:buNone/>
            </a:pPr>
            <a:r>
              <a:rPr lang="en-US" sz="3200" b="1" dirty="0">
                <a:solidFill>
                  <a:srgbClr val="142735"/>
                </a:solidFill>
                <a:latin typeface="Microsoft YaHei" pitchFamily="34" charset="0"/>
                <a:ea typeface="Microsoft YaHei" pitchFamily="34" charset="-122"/>
                <a:cs typeface="Microsoft YaHei" pitchFamily="34" charset="-120"/>
              </a:rPr>
              <a:t>讲评：合宪性审查与备案审查怎样联系？</a:t>
            </a:r>
            <a:endParaRPr lang="en-US" sz="3200" dirty="0"/>
          </a:p>
        </p:txBody>
      </p:sp>
      <p:sp>
        <p:nvSpPr>
          <p:cNvPr id="3" name="Text 1"/>
          <p:cNvSpPr/>
          <p:nvPr/>
        </p:nvSpPr>
        <p:spPr>
          <a:xfrm>
            <a:off x="731520" y="1170432"/>
            <a:ext cx="10698480" cy="384048"/>
          </a:xfrm>
          <a:prstGeom prst="rect">
            <a:avLst/>
          </a:prstGeom>
          <a:noFill/>
          <a:ln/>
        </p:spPr>
        <p:txBody>
          <a:bodyPr wrap="square" lIns="0" tIns="0" rIns="0" bIns="0" rtlCol="0" anchor="t"/>
          <a:lstStyle/>
          <a:p>
            <a:pPr indent="0" marL="0">
              <a:lnSpc>
                <a:spcPct val="108000"/>
              </a:lnSpc>
              <a:buNone/>
            </a:pPr>
            <a:r>
              <a:rPr lang="en-US" sz="1600" dirty="0">
                <a:solidFill>
                  <a:srgbClr val="64717A"/>
                </a:solidFill>
                <a:latin typeface="Microsoft YaHei" pitchFamily="34" charset="0"/>
                <a:ea typeface="Microsoft YaHei" pitchFamily="34" charset="-122"/>
                <a:cs typeface="Microsoft YaHei" pitchFamily="34" charset="-120"/>
              </a:rPr>
              <a:t>审查标准、法定对象和发生时点都要看。</a:t>
            </a:r>
            <a:endParaRPr lang="en-US" sz="1600" dirty="0"/>
          </a:p>
        </p:txBody>
      </p:sp>
      <p:sp>
        <p:nvSpPr>
          <p:cNvPr id="4" name="Shape 2"/>
          <p:cNvSpPr/>
          <p:nvPr/>
        </p:nvSpPr>
        <p:spPr>
          <a:xfrm>
            <a:off x="768096" y="1773936"/>
            <a:ext cx="5202936" cy="3264408"/>
          </a:xfrm>
          <a:prstGeom prst="rect">
            <a:avLst/>
          </a:prstGeom>
          <a:solidFill>
            <a:srgbClr val="FFFFFF"/>
          </a:solidFill>
          <a:ln w="10160">
            <a:solidFill>
              <a:srgbClr val="D9D9D3"/>
            </a:solidFill>
            <a:prstDash val="solid"/>
          </a:ln>
        </p:spPr>
      </p:sp>
      <p:sp>
        <p:nvSpPr>
          <p:cNvPr id="5" name="Shape 3"/>
          <p:cNvSpPr/>
          <p:nvPr/>
        </p:nvSpPr>
        <p:spPr>
          <a:xfrm>
            <a:off x="768096" y="1773936"/>
            <a:ext cx="5202936" cy="658368"/>
          </a:xfrm>
          <a:prstGeom prst="rect">
            <a:avLst/>
          </a:prstGeom>
          <a:solidFill>
            <a:srgbClr val="142735"/>
          </a:solidFill>
          <a:ln w="10160">
            <a:solidFill>
              <a:srgbClr val="142735">
                <a:alpha val="0"/>
              </a:srgbClr>
            </a:solidFill>
            <a:prstDash val="solid"/>
          </a:ln>
        </p:spPr>
      </p:sp>
      <p:sp>
        <p:nvSpPr>
          <p:cNvPr id="6" name="Text 4"/>
          <p:cNvSpPr/>
          <p:nvPr/>
        </p:nvSpPr>
        <p:spPr>
          <a:xfrm>
            <a:off x="987552" y="1920240"/>
            <a:ext cx="4764024" cy="365760"/>
          </a:xfrm>
          <a:prstGeom prst="rect">
            <a:avLst/>
          </a:prstGeom>
          <a:noFill/>
          <a:ln/>
        </p:spPr>
        <p:txBody>
          <a:bodyPr wrap="square" lIns="0" tIns="0" rIns="0" bIns="0" rtlCol="0" anchor="t"/>
          <a:lstStyle/>
          <a:p>
            <a:pPr indent="0" marL="0">
              <a:lnSpc>
                <a:spcPct val="108000"/>
              </a:lnSpc>
              <a:buNone/>
            </a:pPr>
            <a:r>
              <a:rPr lang="en-US" sz="2400" b="1" dirty="0">
                <a:solidFill>
                  <a:srgbClr val="FFFFFF"/>
                </a:solidFill>
                <a:latin typeface="Microsoft YaHei" pitchFamily="34" charset="0"/>
                <a:ea typeface="Microsoft YaHei" pitchFamily="34" charset="-122"/>
                <a:cs typeface="Microsoft YaHei" pitchFamily="34" charset="-120"/>
              </a:rPr>
              <a:t>合宪性审查</a:t>
            </a:r>
            <a:endParaRPr lang="en-US" sz="2400" dirty="0"/>
          </a:p>
        </p:txBody>
      </p:sp>
      <p:sp>
        <p:nvSpPr>
          <p:cNvPr id="7" name="Text 5"/>
          <p:cNvSpPr/>
          <p:nvPr/>
        </p:nvSpPr>
        <p:spPr>
          <a:xfrm>
            <a:off x="1005840" y="2706624"/>
            <a:ext cx="4727448" cy="2139696"/>
          </a:xfrm>
          <a:prstGeom prst="rect">
            <a:avLst/>
          </a:prstGeom>
          <a:noFill/>
          <a:ln/>
        </p:spPr>
        <p:txBody>
          <a:bodyPr wrap="square" lIns="0" tIns="0" rIns="0" bIns="0" rtlCol="0" anchor="t"/>
          <a:lstStyle/>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看是否符合宪法的规定、原则和精神。</a:t>
            </a:r>
            <a:endParaRPr lang="en-US" sz="2200" dirty="0"/>
          </a:p>
          <a:p>
            <a:pPr indent="0" marL="0">
              <a:lnSpc>
                <a:spcPct val="108000"/>
              </a:lnSpc>
              <a:buNone/>
            </a:pP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法律草案阶段也可能处理合宪性问题。</a:t>
            </a:r>
            <a:endParaRPr lang="en-US" sz="2200" dirty="0"/>
          </a:p>
        </p:txBody>
      </p:sp>
      <p:sp>
        <p:nvSpPr>
          <p:cNvPr id="8" name="Shape 6"/>
          <p:cNvSpPr/>
          <p:nvPr/>
        </p:nvSpPr>
        <p:spPr>
          <a:xfrm>
            <a:off x="6217920" y="1773936"/>
            <a:ext cx="5202936" cy="3264408"/>
          </a:xfrm>
          <a:prstGeom prst="rect">
            <a:avLst/>
          </a:prstGeom>
          <a:solidFill>
            <a:srgbClr val="FFFFFF"/>
          </a:solidFill>
          <a:ln w="10160">
            <a:solidFill>
              <a:srgbClr val="D9D9D3"/>
            </a:solidFill>
            <a:prstDash val="solid"/>
          </a:ln>
        </p:spPr>
      </p:sp>
      <p:sp>
        <p:nvSpPr>
          <p:cNvPr id="9" name="Shape 7"/>
          <p:cNvSpPr/>
          <p:nvPr/>
        </p:nvSpPr>
        <p:spPr>
          <a:xfrm>
            <a:off x="6217920" y="1773936"/>
            <a:ext cx="5202936" cy="658368"/>
          </a:xfrm>
          <a:prstGeom prst="rect">
            <a:avLst/>
          </a:prstGeom>
          <a:solidFill>
            <a:srgbClr val="B13D38"/>
          </a:solidFill>
          <a:ln w="10160">
            <a:solidFill>
              <a:srgbClr val="B13D38">
                <a:alpha val="0"/>
              </a:srgbClr>
            </a:solidFill>
            <a:prstDash val="solid"/>
          </a:ln>
        </p:spPr>
      </p:sp>
      <p:sp>
        <p:nvSpPr>
          <p:cNvPr id="10" name="Text 8"/>
          <p:cNvSpPr/>
          <p:nvPr/>
        </p:nvSpPr>
        <p:spPr>
          <a:xfrm>
            <a:off x="6437376" y="1920240"/>
            <a:ext cx="4764024" cy="365760"/>
          </a:xfrm>
          <a:prstGeom prst="rect">
            <a:avLst/>
          </a:prstGeom>
          <a:noFill/>
          <a:ln/>
        </p:spPr>
        <p:txBody>
          <a:bodyPr wrap="square" lIns="0" tIns="0" rIns="0" bIns="0" rtlCol="0" anchor="t"/>
          <a:lstStyle/>
          <a:p>
            <a:pPr indent="0" marL="0">
              <a:lnSpc>
                <a:spcPct val="108000"/>
              </a:lnSpc>
              <a:buNone/>
            </a:pPr>
            <a:r>
              <a:rPr lang="en-US" sz="2400" b="1" dirty="0">
                <a:solidFill>
                  <a:srgbClr val="FFFFFF"/>
                </a:solidFill>
                <a:latin typeface="Microsoft YaHei" pitchFamily="34" charset="0"/>
                <a:ea typeface="Microsoft YaHei" pitchFamily="34" charset="-122"/>
                <a:cs typeface="Microsoft YaHei" pitchFamily="34" charset="-120"/>
              </a:rPr>
              <a:t>备案审查</a:t>
            </a:r>
            <a:endParaRPr lang="en-US" sz="2400" dirty="0"/>
          </a:p>
        </p:txBody>
      </p:sp>
      <p:sp>
        <p:nvSpPr>
          <p:cNvPr id="11" name="Text 9"/>
          <p:cNvSpPr/>
          <p:nvPr/>
        </p:nvSpPr>
        <p:spPr>
          <a:xfrm>
            <a:off x="6455664" y="2706624"/>
            <a:ext cx="4727448" cy="2139696"/>
          </a:xfrm>
          <a:prstGeom prst="rect">
            <a:avLst/>
          </a:prstGeom>
          <a:noFill/>
          <a:ln/>
        </p:spPr>
        <p:txBody>
          <a:bodyPr wrap="square" lIns="0" tIns="0" rIns="0" bIns="0" rtlCol="0" anchor="t"/>
          <a:lstStyle/>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依法定对象与职权开展。</a:t>
            </a:r>
            <a:endParaRPr lang="en-US" sz="2200" dirty="0"/>
          </a:p>
          <a:p>
            <a:pPr indent="0" marL="0">
              <a:lnSpc>
                <a:spcPct val="108000"/>
              </a:lnSpc>
              <a:buNone/>
            </a:pP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可涉及合宪性，也涉及上位法、权限、程序等问题。</a:t>
            </a:r>
            <a:endParaRPr lang="en-US" sz="2200" dirty="0"/>
          </a:p>
        </p:txBody>
      </p:sp>
      <p:sp>
        <p:nvSpPr>
          <p:cNvPr id="12" name="Shape 10"/>
          <p:cNvSpPr/>
          <p:nvPr/>
        </p:nvSpPr>
        <p:spPr>
          <a:xfrm>
            <a:off x="768096" y="5358384"/>
            <a:ext cx="10652760" cy="621792"/>
          </a:xfrm>
          <a:prstGeom prst="rect">
            <a:avLst/>
          </a:prstGeom>
          <a:solidFill>
            <a:srgbClr val="EEEAE1"/>
          </a:solidFill>
          <a:ln w="10160">
            <a:solidFill>
              <a:srgbClr val="EEEAE1">
                <a:alpha val="0"/>
              </a:srgbClr>
            </a:solidFill>
            <a:prstDash val="solid"/>
          </a:ln>
        </p:spPr>
      </p:sp>
      <p:sp>
        <p:nvSpPr>
          <p:cNvPr id="13" name="Text 11"/>
          <p:cNvSpPr/>
          <p:nvPr/>
        </p:nvSpPr>
        <p:spPr>
          <a:xfrm>
            <a:off x="987552" y="5477256"/>
            <a:ext cx="10213848" cy="384048"/>
          </a:xfrm>
          <a:prstGeom prst="rect">
            <a:avLst/>
          </a:prstGeom>
          <a:noFill/>
          <a:ln/>
        </p:spPr>
        <p:txBody>
          <a:bodyPr wrap="square" lIns="0" tIns="0" rIns="0" bIns="0" rtlCol="0" anchor="t"/>
          <a:lstStyle/>
          <a:p>
            <a:pP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备案审查可能涉及合宪性问题；两者不能互换名称。</a:t>
            </a:r>
            <a:endParaRPr lang="en-US" sz="2200" dirty="0"/>
          </a:p>
        </p:txBody>
      </p:sp>
      <p:sp>
        <p:nvSpPr>
          <p:cNvPr id="14" name="Shape 12"/>
          <p:cNvSpPr/>
          <p:nvPr/>
        </p:nvSpPr>
        <p:spPr>
          <a:xfrm>
            <a:off x="658368" y="6291072"/>
            <a:ext cx="10872216" cy="10973"/>
          </a:xfrm>
          <a:prstGeom prst="rect">
            <a:avLst/>
          </a:prstGeom>
          <a:solidFill>
            <a:srgbClr val="D9D9D3"/>
          </a:solidFill>
          <a:ln w="10160">
            <a:solidFill>
              <a:srgbClr val="D9D9D3">
                <a:alpha val="0"/>
              </a:srgbClr>
            </a:solidFill>
            <a:prstDash val="solid"/>
          </a:ln>
        </p:spPr>
      </p:sp>
      <p:sp>
        <p:nvSpPr>
          <p:cNvPr id="15" name="Text 13"/>
          <p:cNvSpPr/>
          <p:nvPr/>
        </p:nvSpPr>
        <p:spPr>
          <a:xfrm>
            <a:off x="685800" y="6400800"/>
            <a:ext cx="2286000" cy="256032"/>
          </a:xfrm>
          <a:prstGeom prst="rect">
            <a:avLst/>
          </a:prstGeom>
          <a:noFill/>
          <a:ln/>
        </p:spPr>
        <p:txBody>
          <a:bodyPr wrap="square" lIns="0" tIns="0" rIns="0" bIns="0" rtlCol="0" anchor="t"/>
          <a:lstStyle/>
          <a:p>
            <a:pP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宪法学 · 第8讲</a:t>
            </a:r>
            <a:endParaRPr lang="en-US" sz="1100" dirty="0"/>
          </a:p>
        </p:txBody>
      </p:sp>
      <p:sp>
        <p:nvSpPr>
          <p:cNvPr id="16" name="Text 14"/>
          <p:cNvSpPr/>
          <p:nvPr/>
        </p:nvSpPr>
        <p:spPr>
          <a:xfrm>
            <a:off x="3154680" y="6400800"/>
            <a:ext cx="6720840" cy="256032"/>
          </a:xfrm>
          <a:prstGeom prst="rect">
            <a:avLst/>
          </a:prstGeom>
          <a:noFill/>
          <a:ln/>
        </p:spPr>
        <p:txBody>
          <a:bodyPr wrap="square" lIns="0" tIns="0" rIns="0" bIns="0" rtlCol="0" anchor="t"/>
          <a:lstStyle/>
          <a:p>
            <a:pPr algn="ct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《立法法》第23、36、58条；2023年备案审查决定第5、11项</a:t>
            </a:r>
            <a:endParaRPr lang="en-US" sz="1100" dirty="0"/>
          </a:p>
        </p:txBody>
      </p:sp>
      <p:sp>
        <p:nvSpPr>
          <p:cNvPr id="17" name="Text 15"/>
          <p:cNvSpPr/>
          <p:nvPr/>
        </p:nvSpPr>
        <p:spPr>
          <a:xfrm>
            <a:off x="10195560" y="6400800"/>
            <a:ext cx="1325880" cy="256032"/>
          </a:xfrm>
          <a:prstGeom prst="rect">
            <a:avLst/>
          </a:prstGeom>
          <a:noFill/>
          <a:ln/>
        </p:spPr>
        <p:txBody>
          <a:bodyPr wrap="square" lIns="0" tIns="0" rIns="0" bIns="0" rtlCol="0" anchor="t"/>
          <a:lstStyle/>
          <a:p>
            <a:pPr algn="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16 / 24</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713232" y="475488"/>
            <a:ext cx="10744200" cy="594360"/>
          </a:xfrm>
          <a:prstGeom prst="rect">
            <a:avLst/>
          </a:prstGeom>
          <a:noFill/>
          <a:ln/>
        </p:spPr>
        <p:txBody>
          <a:bodyPr wrap="square" lIns="0" tIns="0" rIns="0" bIns="0" rtlCol="0" anchor="t"/>
          <a:lstStyle/>
          <a:p>
            <a:pPr indent="0" marL="0">
              <a:lnSpc>
                <a:spcPct val="108000"/>
              </a:lnSpc>
              <a:buNone/>
            </a:pPr>
            <a:r>
              <a:rPr lang="en-US" sz="3200" b="1" dirty="0">
                <a:solidFill>
                  <a:srgbClr val="142735"/>
                </a:solidFill>
                <a:latin typeface="Microsoft YaHei" pitchFamily="34" charset="0"/>
                <a:ea typeface="Microsoft YaHei" pitchFamily="34" charset="-122"/>
                <a:cs typeface="Microsoft YaHei" pitchFamily="34" charset="-120"/>
              </a:rPr>
              <a:t>提出建议后，还要经过哪些判断？</a:t>
            </a:r>
            <a:endParaRPr lang="en-US" sz="3200" dirty="0"/>
          </a:p>
        </p:txBody>
      </p:sp>
      <p:sp>
        <p:nvSpPr>
          <p:cNvPr id="3" name="Text 1"/>
          <p:cNvSpPr/>
          <p:nvPr/>
        </p:nvSpPr>
        <p:spPr>
          <a:xfrm>
            <a:off x="731520" y="1170432"/>
            <a:ext cx="10698480" cy="384048"/>
          </a:xfrm>
          <a:prstGeom prst="rect">
            <a:avLst/>
          </a:prstGeom>
          <a:noFill/>
          <a:ln/>
        </p:spPr>
        <p:txBody>
          <a:bodyPr wrap="square" lIns="0" tIns="0" rIns="0" bIns="0" rtlCol="0" anchor="t"/>
          <a:lstStyle/>
          <a:p>
            <a:pPr indent="0" marL="0">
              <a:lnSpc>
                <a:spcPct val="108000"/>
              </a:lnSpc>
              <a:buNone/>
            </a:pPr>
            <a:r>
              <a:rPr lang="en-US" sz="1600" dirty="0">
                <a:solidFill>
                  <a:srgbClr val="64717A"/>
                </a:solidFill>
                <a:latin typeface="Microsoft YaHei" pitchFamily="34" charset="0"/>
                <a:ea typeface="Microsoft YaHei" pitchFamily="34" charset="-122"/>
                <a:cs typeface="Microsoft YaHei" pitchFamily="34" charset="-120"/>
              </a:rPr>
              <a:t>以向全国人大常委会提出地方性法规审查建议为例；现行程序教学概括。</a:t>
            </a:r>
            <a:endParaRPr lang="en-US" sz="1600" dirty="0"/>
          </a:p>
        </p:txBody>
      </p:sp>
      <p:sp>
        <p:nvSpPr>
          <p:cNvPr id="4" name="Shape 2"/>
          <p:cNvSpPr/>
          <p:nvPr/>
        </p:nvSpPr>
        <p:spPr>
          <a:xfrm>
            <a:off x="3657600" y="2743200"/>
            <a:ext cx="640080" cy="0"/>
          </a:xfrm>
          <a:prstGeom prst="line">
            <a:avLst/>
          </a:prstGeom>
          <a:noFill/>
          <a:ln w="20320">
            <a:solidFill>
              <a:srgbClr val="64717A"/>
            </a:solidFill>
            <a:prstDash val="solid"/>
            <a:tailEnd type="triangle"/>
          </a:ln>
        </p:spPr>
      </p:sp>
      <p:sp>
        <p:nvSpPr>
          <p:cNvPr id="5" name="Shape 3"/>
          <p:cNvSpPr/>
          <p:nvPr/>
        </p:nvSpPr>
        <p:spPr>
          <a:xfrm>
            <a:off x="7360920" y="2743200"/>
            <a:ext cx="685800" cy="0"/>
          </a:xfrm>
          <a:prstGeom prst="line">
            <a:avLst/>
          </a:prstGeom>
          <a:noFill/>
          <a:ln w="20320">
            <a:solidFill>
              <a:srgbClr val="64717A"/>
            </a:solidFill>
            <a:prstDash val="solid"/>
            <a:tailEnd type="triangle"/>
          </a:ln>
        </p:spPr>
      </p:sp>
      <p:sp>
        <p:nvSpPr>
          <p:cNvPr id="6" name="Shape 4"/>
          <p:cNvSpPr/>
          <p:nvPr/>
        </p:nvSpPr>
        <p:spPr>
          <a:xfrm>
            <a:off x="5829300" y="3566160"/>
            <a:ext cx="0" cy="548640"/>
          </a:xfrm>
          <a:prstGeom prst="line">
            <a:avLst/>
          </a:prstGeom>
          <a:noFill/>
          <a:ln w="20320">
            <a:solidFill>
              <a:srgbClr val="64717A"/>
            </a:solidFill>
            <a:prstDash val="solid"/>
            <a:tailEnd type="triangle"/>
          </a:ln>
        </p:spPr>
      </p:sp>
      <p:sp>
        <p:nvSpPr>
          <p:cNvPr id="7" name="Shape 5"/>
          <p:cNvSpPr/>
          <p:nvPr/>
        </p:nvSpPr>
        <p:spPr>
          <a:xfrm>
            <a:off x="731520" y="1920240"/>
            <a:ext cx="2926080" cy="1645920"/>
          </a:xfrm>
          <a:prstGeom prst="rect">
            <a:avLst/>
          </a:prstGeom>
          <a:solidFill>
            <a:srgbClr val="142735"/>
          </a:solidFill>
          <a:ln w="10160">
            <a:solidFill>
              <a:srgbClr val="142735">
                <a:alpha val="0"/>
              </a:srgbClr>
            </a:solidFill>
            <a:prstDash val="solid"/>
          </a:ln>
        </p:spPr>
      </p:sp>
      <p:sp>
        <p:nvSpPr>
          <p:cNvPr id="8" name="Text 6"/>
          <p:cNvSpPr/>
          <p:nvPr/>
        </p:nvSpPr>
        <p:spPr>
          <a:xfrm>
            <a:off x="896112" y="2057400"/>
            <a:ext cx="2596896" cy="429768"/>
          </a:xfrm>
          <a:prstGeom prst="rect">
            <a:avLst/>
          </a:prstGeom>
          <a:noFill/>
          <a:ln/>
        </p:spPr>
        <p:txBody>
          <a:bodyPr wrap="square" lIns="0" tIns="0" rIns="0" bIns="0" rtlCol="0" anchor="t"/>
          <a:lstStyle/>
          <a:p>
            <a:pPr algn="ctr" indent="0" marL="0">
              <a:lnSpc>
                <a:spcPct val="108000"/>
              </a:lnSpc>
              <a:buNone/>
            </a:pPr>
            <a:r>
              <a:rPr lang="en-US" sz="2200" b="1" dirty="0">
                <a:solidFill>
                  <a:srgbClr val="FFFFFF"/>
                </a:solidFill>
                <a:latin typeface="Microsoft YaHei" pitchFamily="34" charset="0"/>
                <a:ea typeface="Microsoft YaHei" pitchFamily="34" charset="-122"/>
                <a:cs typeface="Microsoft YaHei" pitchFamily="34" charset="-120"/>
              </a:rPr>
              <a:t>提出审查建议</a:t>
            </a:r>
            <a:endParaRPr lang="en-US" sz="2200" dirty="0"/>
          </a:p>
        </p:txBody>
      </p:sp>
      <p:sp>
        <p:nvSpPr>
          <p:cNvPr id="9" name="Text 7"/>
          <p:cNvSpPr/>
          <p:nvPr/>
        </p:nvSpPr>
        <p:spPr>
          <a:xfrm>
            <a:off x="896112" y="2624328"/>
            <a:ext cx="2596896" cy="786384"/>
          </a:xfrm>
          <a:prstGeom prst="rect">
            <a:avLst/>
          </a:prstGeom>
          <a:noFill/>
          <a:ln/>
        </p:spPr>
        <p:txBody>
          <a:bodyPr wrap="square" lIns="0" tIns="0" rIns="0" bIns="0" rtlCol="0" anchor="t"/>
          <a:lstStyle/>
          <a:p>
            <a:pPr algn="ctr" indent="0" marL="0">
              <a:lnSpc>
                <a:spcPct val="108000"/>
              </a:lnSpc>
              <a:buNone/>
            </a:pPr>
            <a:r>
              <a:rPr lang="en-US" sz="2200" dirty="0">
                <a:solidFill>
                  <a:srgbClr val="ECE8DF"/>
                </a:solidFill>
                <a:latin typeface="Microsoft YaHei" pitchFamily="34" charset="0"/>
                <a:ea typeface="Microsoft YaHei" pitchFamily="34" charset="-122"/>
                <a:cs typeface="Microsoft YaHei" pitchFamily="34" charset="-120"/>
              </a:rPr>
              <a:t>公民等依法</a:t>
            </a:r>
            <a:endParaRPr lang="en-US" sz="2200" dirty="0"/>
          </a:p>
          <a:p>
            <a:pPr algn="ctr" indent="0" marL="0">
              <a:lnSpc>
                <a:spcPct val="108000"/>
              </a:lnSpc>
              <a:buNone/>
            </a:pPr>
            <a:r>
              <a:rPr lang="en-US" sz="2200" dirty="0">
                <a:solidFill>
                  <a:srgbClr val="ECE8DF"/>
                </a:solidFill>
                <a:latin typeface="Microsoft YaHei" pitchFamily="34" charset="0"/>
                <a:ea typeface="Microsoft YaHei" pitchFamily="34" charset="-122"/>
                <a:cs typeface="Microsoft YaHei" pitchFamily="34" charset="-120"/>
              </a:rPr>
              <a:t>提出书面建议。</a:t>
            </a:r>
            <a:endParaRPr lang="en-US" sz="2200" dirty="0"/>
          </a:p>
        </p:txBody>
      </p:sp>
      <p:sp>
        <p:nvSpPr>
          <p:cNvPr id="10" name="Shape 8"/>
          <p:cNvSpPr/>
          <p:nvPr/>
        </p:nvSpPr>
        <p:spPr>
          <a:xfrm>
            <a:off x="4297680" y="1920240"/>
            <a:ext cx="3063240" cy="1645920"/>
          </a:xfrm>
          <a:prstGeom prst="rect">
            <a:avLst/>
          </a:prstGeom>
          <a:solidFill>
            <a:srgbClr val="FFFFFF"/>
          </a:solidFill>
          <a:ln w="10160">
            <a:solidFill>
              <a:srgbClr val="D9D9D3"/>
            </a:solidFill>
            <a:prstDash val="solid"/>
          </a:ln>
        </p:spPr>
      </p:sp>
      <p:sp>
        <p:nvSpPr>
          <p:cNvPr id="11" name="Text 9"/>
          <p:cNvSpPr/>
          <p:nvPr/>
        </p:nvSpPr>
        <p:spPr>
          <a:xfrm>
            <a:off x="4462272" y="2057400"/>
            <a:ext cx="2734056" cy="429768"/>
          </a:xfrm>
          <a:prstGeom prst="rect">
            <a:avLst/>
          </a:prstGeom>
          <a:noFill/>
          <a:ln/>
        </p:spPr>
        <p:txBody>
          <a:bodyPr wrap="square" lIns="0" tIns="0" rIns="0" bIns="0" rtlCol="0" anchor="t"/>
          <a:lstStyle/>
          <a:p>
            <a:pPr algn="ct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工作机构初审</a:t>
            </a:r>
            <a:endParaRPr lang="en-US" sz="2200" dirty="0"/>
          </a:p>
        </p:txBody>
      </p:sp>
      <p:sp>
        <p:nvSpPr>
          <p:cNvPr id="12" name="Text 10"/>
          <p:cNvSpPr/>
          <p:nvPr/>
        </p:nvSpPr>
        <p:spPr>
          <a:xfrm>
            <a:off x="4462272" y="2624328"/>
            <a:ext cx="2734056" cy="786384"/>
          </a:xfrm>
          <a:prstGeom prst="rect">
            <a:avLst/>
          </a:prstGeom>
          <a:noFill/>
          <a:ln/>
        </p:spPr>
        <p:txBody>
          <a:bodyPr wrap="square" lIns="0" tIns="0" rIns="0" bIns="0" rtlCol="0" anchor="t"/>
          <a:lstStyle/>
          <a:p>
            <a:pPr algn="ct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先核对处理范围，</a:t>
            </a:r>
            <a:endParaRPr lang="en-US" sz="2200" dirty="0"/>
          </a:p>
          <a:p>
            <a:pPr algn="ct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判断启动条件。</a:t>
            </a:r>
            <a:endParaRPr lang="en-US" sz="2200" dirty="0"/>
          </a:p>
        </p:txBody>
      </p:sp>
      <p:sp>
        <p:nvSpPr>
          <p:cNvPr id="13" name="Shape 11"/>
          <p:cNvSpPr/>
          <p:nvPr/>
        </p:nvSpPr>
        <p:spPr>
          <a:xfrm>
            <a:off x="8046720" y="1920240"/>
            <a:ext cx="3383280" cy="1645920"/>
          </a:xfrm>
          <a:prstGeom prst="rect">
            <a:avLst/>
          </a:prstGeom>
          <a:solidFill>
            <a:srgbClr val="FFFFFF"/>
          </a:solidFill>
          <a:ln w="10160">
            <a:solidFill>
              <a:srgbClr val="D9D9D3"/>
            </a:solidFill>
            <a:prstDash val="solid"/>
          </a:ln>
        </p:spPr>
      </p:sp>
      <p:sp>
        <p:nvSpPr>
          <p:cNvPr id="14" name="Text 12"/>
          <p:cNvSpPr/>
          <p:nvPr/>
        </p:nvSpPr>
        <p:spPr>
          <a:xfrm>
            <a:off x="8211312" y="2057400"/>
            <a:ext cx="3054096" cy="429768"/>
          </a:xfrm>
          <a:prstGeom prst="rect">
            <a:avLst/>
          </a:prstGeom>
          <a:noFill/>
          <a:ln/>
        </p:spPr>
        <p:txBody>
          <a:bodyPr wrap="square" lIns="0" tIns="0" rIns="0" bIns="0" rtlCol="0" anchor="t"/>
          <a:lstStyle/>
          <a:p>
            <a:pPr algn="ct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依法启动审查</a:t>
            </a:r>
            <a:endParaRPr lang="en-US" sz="2200" dirty="0"/>
          </a:p>
        </p:txBody>
      </p:sp>
      <p:sp>
        <p:nvSpPr>
          <p:cNvPr id="15" name="Text 13"/>
          <p:cNvSpPr/>
          <p:nvPr/>
        </p:nvSpPr>
        <p:spPr>
          <a:xfrm>
            <a:off x="8211312" y="2624328"/>
            <a:ext cx="3054096" cy="786384"/>
          </a:xfrm>
          <a:prstGeom prst="rect">
            <a:avLst/>
          </a:prstGeom>
          <a:noFill/>
          <a:ln/>
        </p:spPr>
        <p:txBody>
          <a:bodyPr wrap="square" lIns="0" tIns="0" rIns="0" bIns="0" rtlCol="0" anchor="t"/>
          <a:lstStyle/>
          <a:p>
            <a:pPr algn="ct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存在可能相抵触等</a:t>
            </a:r>
            <a:endParaRPr lang="en-US" sz="2200" dirty="0"/>
          </a:p>
          <a:p>
            <a:pPr algn="ct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法定问题情形时。</a:t>
            </a:r>
            <a:endParaRPr lang="en-US" sz="2200" dirty="0"/>
          </a:p>
        </p:txBody>
      </p:sp>
      <p:sp>
        <p:nvSpPr>
          <p:cNvPr id="16" name="Shape 14"/>
          <p:cNvSpPr/>
          <p:nvPr/>
        </p:nvSpPr>
        <p:spPr>
          <a:xfrm>
            <a:off x="4297680" y="4114800"/>
            <a:ext cx="3063240" cy="960120"/>
          </a:xfrm>
          <a:prstGeom prst="rect">
            <a:avLst/>
          </a:prstGeom>
          <a:solidFill>
            <a:srgbClr val="EEEAE1"/>
          </a:solidFill>
          <a:ln w="10160">
            <a:solidFill>
              <a:srgbClr val="D9D9D3"/>
            </a:solidFill>
            <a:prstDash val="solid"/>
          </a:ln>
        </p:spPr>
      </p:sp>
      <p:sp>
        <p:nvSpPr>
          <p:cNvPr id="17" name="Text 15"/>
          <p:cNvSpPr/>
          <p:nvPr/>
        </p:nvSpPr>
        <p:spPr>
          <a:xfrm>
            <a:off x="4462272" y="4251960"/>
            <a:ext cx="2734056" cy="685800"/>
          </a:xfrm>
          <a:prstGeom prst="rect">
            <a:avLst/>
          </a:prstGeom>
          <a:noFill/>
          <a:ln/>
        </p:spPr>
        <p:txBody>
          <a:bodyPr wrap="square" lIns="0" tIns="0" rIns="0" bIns="0" rtlCol="0" anchor="ctr"/>
          <a:lstStyle/>
          <a:p>
            <a:pPr algn="ct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移送有关机关</a:t>
            </a:r>
            <a:endParaRPr lang="en-US" sz="2200" dirty="0"/>
          </a:p>
        </p:txBody>
      </p:sp>
      <p:sp>
        <p:nvSpPr>
          <p:cNvPr id="18" name="Shape 16"/>
          <p:cNvSpPr/>
          <p:nvPr/>
        </p:nvSpPr>
        <p:spPr>
          <a:xfrm>
            <a:off x="5989320" y="3694176"/>
            <a:ext cx="3108960" cy="365760"/>
          </a:xfrm>
          <a:prstGeom prst="rect">
            <a:avLst/>
          </a:prstGeom>
          <a:solidFill>
            <a:srgbClr val="F8F6F1"/>
          </a:solidFill>
          <a:ln w="10160">
            <a:solidFill>
              <a:srgbClr val="F8F6F1">
                <a:alpha val="0"/>
              </a:srgbClr>
            </a:solidFill>
            <a:prstDash val="solid"/>
          </a:ln>
        </p:spPr>
      </p:sp>
      <p:sp>
        <p:nvSpPr>
          <p:cNvPr id="19" name="Text 17"/>
          <p:cNvSpPr/>
          <p:nvPr/>
        </p:nvSpPr>
        <p:spPr>
          <a:xfrm>
            <a:off x="5989320" y="3694176"/>
            <a:ext cx="3108960" cy="365760"/>
          </a:xfrm>
          <a:prstGeom prst="rect">
            <a:avLst/>
          </a:prstGeom>
          <a:noFill/>
          <a:ln/>
        </p:spPr>
        <p:txBody>
          <a:bodyPr wrap="square" lIns="0" tIns="0" rIns="0" bIns="0" rtlCol="0" anchor="ctr"/>
          <a:lstStyle/>
          <a:p>
            <a:pPr algn="ctr" indent="0" marL="0">
              <a:lnSpc>
                <a:spcPct val="108000"/>
              </a:lnSpc>
              <a:buNone/>
            </a:pPr>
            <a:r>
              <a:rPr lang="en-US" sz="1800" b="1" dirty="0">
                <a:solidFill>
                  <a:srgbClr val="64717A"/>
                </a:solidFill>
                <a:latin typeface="Microsoft YaHei" pitchFamily="34" charset="0"/>
                <a:ea typeface="Microsoft YaHei" pitchFamily="34" charset="-122"/>
                <a:cs typeface="Microsoft YaHei" pitchFamily="34" charset="-120"/>
              </a:rPr>
              <a:t>应由其他机关处理</a:t>
            </a:r>
            <a:endParaRPr lang="en-US" sz="1800" dirty="0"/>
          </a:p>
        </p:txBody>
      </p:sp>
      <p:sp>
        <p:nvSpPr>
          <p:cNvPr id="20" name="Shape 18"/>
          <p:cNvSpPr/>
          <p:nvPr/>
        </p:nvSpPr>
        <p:spPr>
          <a:xfrm>
            <a:off x="768096" y="5358384"/>
            <a:ext cx="10652760" cy="621792"/>
          </a:xfrm>
          <a:prstGeom prst="rect">
            <a:avLst/>
          </a:prstGeom>
          <a:solidFill>
            <a:srgbClr val="EEEAE1"/>
          </a:solidFill>
          <a:ln w="10160">
            <a:solidFill>
              <a:srgbClr val="EEEAE1">
                <a:alpha val="0"/>
              </a:srgbClr>
            </a:solidFill>
            <a:prstDash val="solid"/>
          </a:ln>
        </p:spPr>
      </p:sp>
      <p:sp>
        <p:nvSpPr>
          <p:cNvPr id="21" name="Text 19"/>
          <p:cNvSpPr/>
          <p:nvPr/>
        </p:nvSpPr>
        <p:spPr>
          <a:xfrm>
            <a:off x="987552" y="5477256"/>
            <a:ext cx="10213848" cy="384048"/>
          </a:xfrm>
          <a:prstGeom prst="rect">
            <a:avLst/>
          </a:prstGeom>
          <a:noFill/>
          <a:ln/>
        </p:spPr>
        <p:txBody>
          <a:bodyPr wrap="square" lIns="0" tIns="0" rIns="0" bIns="0" rtlCol="0" anchor="t"/>
          <a:lstStyle/>
          <a:p>
            <a:pP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本图展示经初审进入审查的一支；另有主动审查、专项审查等方式。</a:t>
            </a:r>
            <a:endParaRPr lang="en-US" sz="2200" dirty="0"/>
          </a:p>
        </p:txBody>
      </p:sp>
      <p:sp>
        <p:nvSpPr>
          <p:cNvPr id="22" name="Shape 20"/>
          <p:cNvSpPr/>
          <p:nvPr/>
        </p:nvSpPr>
        <p:spPr>
          <a:xfrm>
            <a:off x="658368" y="6291072"/>
            <a:ext cx="10872216" cy="10973"/>
          </a:xfrm>
          <a:prstGeom prst="rect">
            <a:avLst/>
          </a:prstGeom>
          <a:solidFill>
            <a:srgbClr val="D9D9D3"/>
          </a:solidFill>
          <a:ln w="10160">
            <a:solidFill>
              <a:srgbClr val="D9D9D3">
                <a:alpha val="0"/>
              </a:srgbClr>
            </a:solidFill>
            <a:prstDash val="solid"/>
          </a:ln>
        </p:spPr>
      </p:sp>
      <p:sp>
        <p:nvSpPr>
          <p:cNvPr id="23" name="Text 21"/>
          <p:cNvSpPr/>
          <p:nvPr/>
        </p:nvSpPr>
        <p:spPr>
          <a:xfrm>
            <a:off x="685800" y="6400800"/>
            <a:ext cx="2286000" cy="256032"/>
          </a:xfrm>
          <a:prstGeom prst="rect">
            <a:avLst/>
          </a:prstGeom>
          <a:noFill/>
          <a:ln/>
        </p:spPr>
        <p:txBody>
          <a:bodyPr wrap="square" lIns="0" tIns="0" rIns="0" bIns="0" rtlCol="0" anchor="t"/>
          <a:lstStyle/>
          <a:p>
            <a:pP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宪法学 · 第8讲</a:t>
            </a:r>
            <a:endParaRPr lang="en-US" sz="1100" dirty="0"/>
          </a:p>
        </p:txBody>
      </p:sp>
      <p:sp>
        <p:nvSpPr>
          <p:cNvPr id="24" name="Text 22"/>
          <p:cNvSpPr/>
          <p:nvPr/>
        </p:nvSpPr>
        <p:spPr>
          <a:xfrm>
            <a:off x="3154680" y="6400800"/>
            <a:ext cx="6720840" cy="256032"/>
          </a:xfrm>
          <a:prstGeom prst="rect">
            <a:avLst/>
          </a:prstGeom>
          <a:noFill/>
          <a:ln/>
        </p:spPr>
        <p:txBody>
          <a:bodyPr wrap="square" lIns="0" tIns="0" rIns="0" bIns="0" rtlCol="0" anchor="t"/>
          <a:lstStyle/>
          <a:p>
            <a:pPr algn="ct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《立法法》第110—111、115条；2023年决定第6、9项</a:t>
            </a:r>
            <a:endParaRPr lang="en-US" sz="1100" dirty="0"/>
          </a:p>
        </p:txBody>
      </p:sp>
      <p:sp>
        <p:nvSpPr>
          <p:cNvPr id="25" name="Text 23"/>
          <p:cNvSpPr/>
          <p:nvPr/>
        </p:nvSpPr>
        <p:spPr>
          <a:xfrm>
            <a:off x="10195560" y="6400800"/>
            <a:ext cx="1325880" cy="256032"/>
          </a:xfrm>
          <a:prstGeom prst="rect">
            <a:avLst/>
          </a:prstGeom>
          <a:noFill/>
          <a:ln/>
        </p:spPr>
        <p:txBody>
          <a:bodyPr wrap="square" lIns="0" tIns="0" rIns="0" bIns="0" rtlCol="0" anchor="t"/>
          <a:lstStyle/>
          <a:p>
            <a:pPr algn="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17 / 24</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713232" y="475488"/>
            <a:ext cx="10744200" cy="594360"/>
          </a:xfrm>
          <a:prstGeom prst="rect">
            <a:avLst/>
          </a:prstGeom>
          <a:noFill/>
          <a:ln/>
        </p:spPr>
        <p:txBody>
          <a:bodyPr wrap="square" lIns="0" tIns="0" rIns="0" bIns="0" rtlCol="0" anchor="t"/>
          <a:lstStyle/>
          <a:p>
            <a:pPr indent="0" marL="0">
              <a:lnSpc>
                <a:spcPct val="108000"/>
              </a:lnSpc>
              <a:buNone/>
            </a:pPr>
            <a:r>
              <a:rPr lang="en-US" sz="3200" b="1" dirty="0">
                <a:solidFill>
                  <a:srgbClr val="142735"/>
                </a:solidFill>
                <a:latin typeface="Microsoft YaHei" pitchFamily="34" charset="0"/>
                <a:ea typeface="Microsoft YaHei" pitchFamily="34" charset="-122"/>
                <a:cs typeface="Microsoft YaHei" pitchFamily="34" charset="-120"/>
              </a:rPr>
              <a:t>审查意见怎样走向实际纠正？</a:t>
            </a:r>
            <a:endParaRPr lang="en-US" sz="3200" dirty="0"/>
          </a:p>
        </p:txBody>
      </p:sp>
      <p:sp>
        <p:nvSpPr>
          <p:cNvPr id="3" name="Text 1"/>
          <p:cNvSpPr/>
          <p:nvPr/>
        </p:nvSpPr>
        <p:spPr>
          <a:xfrm>
            <a:off x="731520" y="1170432"/>
            <a:ext cx="10698480" cy="384048"/>
          </a:xfrm>
          <a:prstGeom prst="rect">
            <a:avLst/>
          </a:prstGeom>
          <a:noFill/>
          <a:ln/>
        </p:spPr>
        <p:txBody>
          <a:bodyPr wrap="square" lIns="0" tIns="0" rIns="0" bIns="0" rtlCol="0" anchor="t"/>
          <a:lstStyle/>
          <a:p>
            <a:pPr indent="0" marL="0">
              <a:lnSpc>
                <a:spcPct val="108000"/>
              </a:lnSpc>
              <a:buNone/>
            </a:pPr>
            <a:r>
              <a:rPr lang="en-US" sz="1600" dirty="0">
                <a:solidFill>
                  <a:srgbClr val="64717A"/>
                </a:solidFill>
                <a:latin typeface="Microsoft YaHei" pitchFamily="34" charset="0"/>
                <a:ea typeface="Microsoft YaHei" pitchFamily="34" charset="-122"/>
                <a:cs typeface="Microsoft YaHei" pitchFamily="34" charset="-120"/>
              </a:rPr>
              <a:t>需要纠正的规范，后续处理仍有不同路径。</a:t>
            </a:r>
            <a:endParaRPr lang="en-US" sz="1600" dirty="0"/>
          </a:p>
        </p:txBody>
      </p:sp>
      <p:sp>
        <p:nvSpPr>
          <p:cNvPr id="4" name="Shape 2"/>
          <p:cNvSpPr/>
          <p:nvPr/>
        </p:nvSpPr>
        <p:spPr>
          <a:xfrm>
            <a:off x="3474720" y="3474720"/>
            <a:ext cx="320040" cy="0"/>
          </a:xfrm>
          <a:prstGeom prst="line">
            <a:avLst/>
          </a:prstGeom>
          <a:noFill/>
          <a:ln w="20320">
            <a:solidFill>
              <a:srgbClr val="64717A"/>
            </a:solidFill>
            <a:prstDash val="solid"/>
          </a:ln>
        </p:spPr>
      </p:sp>
      <p:sp>
        <p:nvSpPr>
          <p:cNvPr id="5" name="Shape 3"/>
          <p:cNvSpPr/>
          <p:nvPr/>
        </p:nvSpPr>
        <p:spPr>
          <a:xfrm flipV="1">
            <a:off x="3794760" y="2468880"/>
            <a:ext cx="0" cy="1005840"/>
          </a:xfrm>
          <a:prstGeom prst="line">
            <a:avLst/>
          </a:prstGeom>
          <a:noFill/>
          <a:ln w="20320">
            <a:solidFill>
              <a:srgbClr val="64717A"/>
            </a:solidFill>
            <a:prstDash val="solid"/>
          </a:ln>
        </p:spPr>
      </p:sp>
      <p:sp>
        <p:nvSpPr>
          <p:cNvPr id="6" name="Shape 4"/>
          <p:cNvSpPr/>
          <p:nvPr/>
        </p:nvSpPr>
        <p:spPr>
          <a:xfrm>
            <a:off x="3794760" y="2468880"/>
            <a:ext cx="411480" cy="0"/>
          </a:xfrm>
          <a:prstGeom prst="line">
            <a:avLst/>
          </a:prstGeom>
          <a:noFill/>
          <a:ln w="20320">
            <a:solidFill>
              <a:srgbClr val="64717A"/>
            </a:solidFill>
            <a:prstDash val="solid"/>
            <a:tailEnd type="triangle"/>
          </a:ln>
        </p:spPr>
      </p:sp>
      <p:sp>
        <p:nvSpPr>
          <p:cNvPr id="7" name="Shape 5"/>
          <p:cNvSpPr/>
          <p:nvPr/>
        </p:nvSpPr>
        <p:spPr>
          <a:xfrm>
            <a:off x="3474720" y="3474720"/>
            <a:ext cx="320040" cy="0"/>
          </a:xfrm>
          <a:prstGeom prst="line">
            <a:avLst/>
          </a:prstGeom>
          <a:noFill/>
          <a:ln w="20320">
            <a:solidFill>
              <a:srgbClr val="64717A"/>
            </a:solidFill>
            <a:prstDash val="solid"/>
          </a:ln>
        </p:spPr>
      </p:sp>
      <p:sp>
        <p:nvSpPr>
          <p:cNvPr id="8" name="Shape 6"/>
          <p:cNvSpPr/>
          <p:nvPr/>
        </p:nvSpPr>
        <p:spPr>
          <a:xfrm>
            <a:off x="3794760" y="3474720"/>
            <a:ext cx="0" cy="914400"/>
          </a:xfrm>
          <a:prstGeom prst="line">
            <a:avLst/>
          </a:prstGeom>
          <a:noFill/>
          <a:ln w="20320">
            <a:solidFill>
              <a:srgbClr val="64717A"/>
            </a:solidFill>
            <a:prstDash val="solid"/>
          </a:ln>
        </p:spPr>
      </p:sp>
      <p:sp>
        <p:nvSpPr>
          <p:cNvPr id="9" name="Shape 7"/>
          <p:cNvSpPr/>
          <p:nvPr/>
        </p:nvSpPr>
        <p:spPr>
          <a:xfrm>
            <a:off x="3794760" y="4389120"/>
            <a:ext cx="411480" cy="0"/>
          </a:xfrm>
          <a:prstGeom prst="line">
            <a:avLst/>
          </a:prstGeom>
          <a:noFill/>
          <a:ln w="20320">
            <a:solidFill>
              <a:srgbClr val="64717A"/>
            </a:solidFill>
            <a:prstDash val="solid"/>
            <a:tailEnd type="triangle"/>
          </a:ln>
        </p:spPr>
      </p:sp>
      <p:sp>
        <p:nvSpPr>
          <p:cNvPr id="10" name="Shape 8"/>
          <p:cNvSpPr/>
          <p:nvPr/>
        </p:nvSpPr>
        <p:spPr>
          <a:xfrm>
            <a:off x="7452360" y="2468880"/>
            <a:ext cx="365760" cy="0"/>
          </a:xfrm>
          <a:prstGeom prst="line">
            <a:avLst/>
          </a:prstGeom>
          <a:noFill/>
          <a:ln w="20320">
            <a:solidFill>
              <a:srgbClr val="64717A"/>
            </a:solidFill>
            <a:prstDash val="solid"/>
          </a:ln>
        </p:spPr>
      </p:sp>
      <p:sp>
        <p:nvSpPr>
          <p:cNvPr id="11" name="Shape 9"/>
          <p:cNvSpPr/>
          <p:nvPr/>
        </p:nvSpPr>
        <p:spPr>
          <a:xfrm>
            <a:off x="7818120" y="2468880"/>
            <a:ext cx="0" cy="1005840"/>
          </a:xfrm>
          <a:prstGeom prst="line">
            <a:avLst/>
          </a:prstGeom>
          <a:noFill/>
          <a:ln w="20320">
            <a:solidFill>
              <a:srgbClr val="64717A"/>
            </a:solidFill>
            <a:prstDash val="solid"/>
          </a:ln>
        </p:spPr>
      </p:sp>
      <p:sp>
        <p:nvSpPr>
          <p:cNvPr id="12" name="Shape 10"/>
          <p:cNvSpPr/>
          <p:nvPr/>
        </p:nvSpPr>
        <p:spPr>
          <a:xfrm>
            <a:off x="7818120" y="3474720"/>
            <a:ext cx="411480" cy="0"/>
          </a:xfrm>
          <a:prstGeom prst="line">
            <a:avLst/>
          </a:prstGeom>
          <a:noFill/>
          <a:ln w="20320">
            <a:solidFill>
              <a:srgbClr val="64717A"/>
            </a:solidFill>
            <a:prstDash val="solid"/>
            <a:tailEnd type="triangle"/>
          </a:ln>
        </p:spPr>
      </p:sp>
      <p:sp>
        <p:nvSpPr>
          <p:cNvPr id="13" name="Shape 11"/>
          <p:cNvSpPr/>
          <p:nvPr/>
        </p:nvSpPr>
        <p:spPr>
          <a:xfrm>
            <a:off x="7452360" y="4389120"/>
            <a:ext cx="365760" cy="0"/>
          </a:xfrm>
          <a:prstGeom prst="line">
            <a:avLst/>
          </a:prstGeom>
          <a:noFill/>
          <a:ln w="20320">
            <a:solidFill>
              <a:srgbClr val="64717A"/>
            </a:solidFill>
            <a:prstDash val="solid"/>
          </a:ln>
        </p:spPr>
      </p:sp>
      <p:sp>
        <p:nvSpPr>
          <p:cNvPr id="14" name="Shape 12"/>
          <p:cNvSpPr/>
          <p:nvPr/>
        </p:nvSpPr>
        <p:spPr>
          <a:xfrm flipV="1">
            <a:off x="7818120" y="3474720"/>
            <a:ext cx="0" cy="914400"/>
          </a:xfrm>
          <a:prstGeom prst="line">
            <a:avLst/>
          </a:prstGeom>
          <a:noFill/>
          <a:ln w="20320">
            <a:solidFill>
              <a:srgbClr val="64717A"/>
            </a:solidFill>
            <a:prstDash val="solid"/>
          </a:ln>
        </p:spPr>
      </p:sp>
      <p:sp>
        <p:nvSpPr>
          <p:cNvPr id="15" name="Shape 13"/>
          <p:cNvSpPr/>
          <p:nvPr/>
        </p:nvSpPr>
        <p:spPr>
          <a:xfrm>
            <a:off x="7818120" y="3474720"/>
            <a:ext cx="411480" cy="0"/>
          </a:xfrm>
          <a:prstGeom prst="line">
            <a:avLst/>
          </a:prstGeom>
          <a:noFill/>
          <a:ln w="20320">
            <a:solidFill>
              <a:srgbClr val="64717A"/>
            </a:solidFill>
            <a:prstDash val="solid"/>
            <a:tailEnd type="triangle"/>
          </a:ln>
        </p:spPr>
      </p:sp>
      <p:sp>
        <p:nvSpPr>
          <p:cNvPr id="16" name="Shape 14"/>
          <p:cNvSpPr/>
          <p:nvPr/>
        </p:nvSpPr>
        <p:spPr>
          <a:xfrm>
            <a:off x="731520" y="2743200"/>
            <a:ext cx="2743200" cy="1463040"/>
          </a:xfrm>
          <a:prstGeom prst="rect">
            <a:avLst/>
          </a:prstGeom>
          <a:solidFill>
            <a:srgbClr val="142735"/>
          </a:solidFill>
          <a:ln w="10160">
            <a:solidFill>
              <a:srgbClr val="142735">
                <a:alpha val="0"/>
              </a:srgbClr>
            </a:solidFill>
            <a:prstDash val="solid"/>
          </a:ln>
        </p:spPr>
      </p:sp>
      <p:sp>
        <p:nvSpPr>
          <p:cNvPr id="17" name="Text 15"/>
          <p:cNvSpPr/>
          <p:nvPr/>
        </p:nvSpPr>
        <p:spPr>
          <a:xfrm>
            <a:off x="896112" y="2880360"/>
            <a:ext cx="2414016" cy="429768"/>
          </a:xfrm>
          <a:prstGeom prst="rect">
            <a:avLst/>
          </a:prstGeom>
          <a:noFill/>
          <a:ln/>
        </p:spPr>
        <p:txBody>
          <a:bodyPr wrap="square" lIns="0" tIns="0" rIns="0" bIns="0" rtlCol="0" anchor="t"/>
          <a:lstStyle/>
          <a:p>
            <a:pPr algn="ctr" indent="0" marL="0">
              <a:lnSpc>
                <a:spcPct val="108000"/>
              </a:lnSpc>
              <a:buNone/>
            </a:pPr>
            <a:r>
              <a:rPr lang="en-US" sz="2200" b="1" dirty="0">
                <a:solidFill>
                  <a:srgbClr val="FFFFFF"/>
                </a:solidFill>
                <a:latin typeface="Microsoft YaHei" pitchFamily="34" charset="0"/>
                <a:ea typeface="Microsoft YaHei" pitchFamily="34" charset="-122"/>
                <a:cs typeface="Microsoft YaHei" pitchFamily="34" charset="-120"/>
              </a:rPr>
              <a:t>提出纠正意见</a:t>
            </a:r>
            <a:endParaRPr lang="en-US" sz="2200" dirty="0"/>
          </a:p>
        </p:txBody>
      </p:sp>
      <p:sp>
        <p:nvSpPr>
          <p:cNvPr id="18" name="Text 16"/>
          <p:cNvSpPr/>
          <p:nvPr/>
        </p:nvSpPr>
        <p:spPr>
          <a:xfrm>
            <a:off x="896112" y="3447288"/>
            <a:ext cx="2414016" cy="603504"/>
          </a:xfrm>
          <a:prstGeom prst="rect">
            <a:avLst/>
          </a:prstGeom>
          <a:noFill/>
          <a:ln/>
        </p:spPr>
        <p:txBody>
          <a:bodyPr wrap="square" lIns="0" tIns="0" rIns="0" bIns="0" rtlCol="0" anchor="t"/>
          <a:lstStyle/>
          <a:p>
            <a:pPr algn="ctr" indent="0" marL="0">
              <a:lnSpc>
                <a:spcPct val="108000"/>
              </a:lnSpc>
              <a:buNone/>
            </a:pPr>
            <a:r>
              <a:rPr lang="en-US" sz="2200" dirty="0">
                <a:solidFill>
                  <a:srgbClr val="ECE8DF"/>
                </a:solidFill>
                <a:latin typeface="Microsoft YaHei" pitchFamily="34" charset="0"/>
                <a:ea typeface="Microsoft YaHei" pitchFamily="34" charset="-122"/>
                <a:cs typeface="Microsoft YaHei" pitchFamily="34" charset="-120"/>
              </a:rPr>
              <a:t>专门委员会、</a:t>
            </a:r>
            <a:endParaRPr lang="en-US" sz="2200" dirty="0"/>
          </a:p>
          <a:p>
            <a:pPr algn="ctr" indent="0" marL="0">
              <a:lnSpc>
                <a:spcPct val="108000"/>
              </a:lnSpc>
              <a:buNone/>
            </a:pPr>
            <a:r>
              <a:rPr lang="en-US" sz="2200" dirty="0">
                <a:solidFill>
                  <a:srgbClr val="ECE8DF"/>
                </a:solidFill>
                <a:latin typeface="Microsoft YaHei" pitchFamily="34" charset="0"/>
                <a:ea typeface="Microsoft YaHei" pitchFamily="34" charset="-122"/>
                <a:cs typeface="Microsoft YaHei" pitchFamily="34" charset="-120"/>
              </a:rPr>
              <a:t>常委会工作机构。</a:t>
            </a:r>
            <a:endParaRPr lang="en-US" sz="2200" dirty="0"/>
          </a:p>
        </p:txBody>
      </p:sp>
      <p:sp>
        <p:nvSpPr>
          <p:cNvPr id="19" name="Shape 17"/>
          <p:cNvSpPr/>
          <p:nvPr/>
        </p:nvSpPr>
        <p:spPr>
          <a:xfrm>
            <a:off x="4206240" y="1737360"/>
            <a:ext cx="3246120" cy="1463040"/>
          </a:xfrm>
          <a:prstGeom prst="rect">
            <a:avLst/>
          </a:prstGeom>
          <a:solidFill>
            <a:srgbClr val="FFFFFF"/>
          </a:solidFill>
          <a:ln w="10160">
            <a:solidFill>
              <a:srgbClr val="D9D9D3"/>
            </a:solidFill>
            <a:prstDash val="solid"/>
          </a:ln>
        </p:spPr>
      </p:sp>
      <p:sp>
        <p:nvSpPr>
          <p:cNvPr id="20" name="Text 18"/>
          <p:cNvSpPr/>
          <p:nvPr/>
        </p:nvSpPr>
        <p:spPr>
          <a:xfrm>
            <a:off x="4370832" y="1874520"/>
            <a:ext cx="2916936" cy="429768"/>
          </a:xfrm>
          <a:prstGeom prst="rect">
            <a:avLst/>
          </a:prstGeom>
          <a:noFill/>
          <a:ln/>
        </p:spPr>
        <p:txBody>
          <a:bodyPr wrap="square" lIns="0" tIns="0" rIns="0" bIns="0" rtlCol="0" anchor="t"/>
          <a:lstStyle/>
          <a:p>
            <a:pPr algn="ct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制定机关纠正</a:t>
            </a:r>
            <a:endParaRPr lang="en-US" sz="2200" dirty="0"/>
          </a:p>
        </p:txBody>
      </p:sp>
      <p:sp>
        <p:nvSpPr>
          <p:cNvPr id="21" name="Text 19"/>
          <p:cNvSpPr/>
          <p:nvPr/>
        </p:nvSpPr>
        <p:spPr>
          <a:xfrm>
            <a:off x="4370832" y="2441448"/>
            <a:ext cx="2916936" cy="603504"/>
          </a:xfrm>
          <a:prstGeom prst="rect">
            <a:avLst/>
          </a:prstGeom>
          <a:noFill/>
          <a:ln/>
        </p:spPr>
        <p:txBody>
          <a:bodyPr wrap="square" lIns="0" tIns="0" rIns="0" bIns="0" rtlCol="0" anchor="t"/>
          <a:lstStyle/>
          <a:p>
            <a:pPr algn="ct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完成修改或废止，</a:t>
            </a:r>
            <a:endParaRPr lang="en-US" sz="2200" dirty="0"/>
          </a:p>
          <a:p>
            <a:pPr algn="ct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依法终止审查。</a:t>
            </a:r>
            <a:endParaRPr lang="en-US" sz="2200" dirty="0"/>
          </a:p>
        </p:txBody>
      </p:sp>
      <p:sp>
        <p:nvSpPr>
          <p:cNvPr id="22" name="Shape 20"/>
          <p:cNvSpPr/>
          <p:nvPr/>
        </p:nvSpPr>
        <p:spPr>
          <a:xfrm>
            <a:off x="4206240" y="3657600"/>
            <a:ext cx="3246120" cy="1463040"/>
          </a:xfrm>
          <a:prstGeom prst="rect">
            <a:avLst/>
          </a:prstGeom>
          <a:solidFill>
            <a:srgbClr val="FFFFFF"/>
          </a:solidFill>
          <a:ln w="10160">
            <a:solidFill>
              <a:srgbClr val="D9D9D3"/>
            </a:solidFill>
            <a:prstDash val="solid"/>
          </a:ln>
        </p:spPr>
      </p:sp>
      <p:sp>
        <p:nvSpPr>
          <p:cNvPr id="23" name="Text 21"/>
          <p:cNvSpPr/>
          <p:nvPr/>
        </p:nvSpPr>
        <p:spPr>
          <a:xfrm>
            <a:off x="4370832" y="3794760"/>
            <a:ext cx="2916936" cy="429768"/>
          </a:xfrm>
          <a:prstGeom prst="rect">
            <a:avLst/>
          </a:prstGeom>
          <a:noFill/>
          <a:ln/>
        </p:spPr>
        <p:txBody>
          <a:bodyPr wrap="square" lIns="0" tIns="0" rIns="0" bIns="0" rtlCol="0" anchor="t"/>
          <a:lstStyle/>
          <a:p>
            <a:pPr algn="ct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未按要求纠正</a:t>
            </a:r>
            <a:endParaRPr lang="en-US" sz="2200" dirty="0"/>
          </a:p>
        </p:txBody>
      </p:sp>
      <p:sp>
        <p:nvSpPr>
          <p:cNvPr id="24" name="Text 22"/>
          <p:cNvSpPr/>
          <p:nvPr/>
        </p:nvSpPr>
        <p:spPr>
          <a:xfrm>
            <a:off x="4370832" y="4361688"/>
            <a:ext cx="2916936" cy="603504"/>
          </a:xfrm>
          <a:prstGeom prst="rect">
            <a:avLst/>
          </a:prstGeom>
          <a:noFill/>
          <a:ln/>
        </p:spPr>
        <p:txBody>
          <a:bodyPr wrap="square" lIns="0" tIns="0" rIns="0" bIns="0" rtlCol="0" anchor="t"/>
          <a:lstStyle/>
          <a:p>
            <a:pPr algn="ct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依权限和程序，</a:t>
            </a:r>
            <a:endParaRPr lang="en-US" sz="2200" dirty="0"/>
          </a:p>
          <a:p>
            <a:pPr algn="ct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提请进一步处理。</a:t>
            </a:r>
            <a:endParaRPr lang="en-US" sz="2200" dirty="0"/>
          </a:p>
        </p:txBody>
      </p:sp>
      <p:sp>
        <p:nvSpPr>
          <p:cNvPr id="25" name="Shape 23"/>
          <p:cNvSpPr/>
          <p:nvPr/>
        </p:nvSpPr>
        <p:spPr>
          <a:xfrm>
            <a:off x="8229600" y="2743200"/>
            <a:ext cx="3200400" cy="1463040"/>
          </a:xfrm>
          <a:prstGeom prst="rect">
            <a:avLst/>
          </a:prstGeom>
          <a:solidFill>
            <a:srgbClr val="EEEAE1"/>
          </a:solidFill>
          <a:ln w="10160">
            <a:solidFill>
              <a:srgbClr val="D9D9D3"/>
            </a:solidFill>
            <a:prstDash val="solid"/>
          </a:ln>
        </p:spPr>
      </p:sp>
      <p:sp>
        <p:nvSpPr>
          <p:cNvPr id="26" name="Text 24"/>
          <p:cNvSpPr/>
          <p:nvPr/>
        </p:nvSpPr>
        <p:spPr>
          <a:xfrm>
            <a:off x="8394192" y="2880360"/>
            <a:ext cx="2871216" cy="429768"/>
          </a:xfrm>
          <a:prstGeom prst="rect">
            <a:avLst/>
          </a:prstGeom>
          <a:noFill/>
          <a:ln/>
        </p:spPr>
        <p:txBody>
          <a:bodyPr wrap="square" lIns="0" tIns="0" rIns="0" bIns="0" rtlCol="0" anchor="t"/>
          <a:lstStyle/>
          <a:p>
            <a:pPr algn="ct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按规定反馈</a:t>
            </a:r>
            <a:endParaRPr lang="en-US" sz="2200" dirty="0"/>
          </a:p>
        </p:txBody>
      </p:sp>
      <p:sp>
        <p:nvSpPr>
          <p:cNvPr id="27" name="Text 25"/>
          <p:cNvSpPr/>
          <p:nvPr/>
        </p:nvSpPr>
        <p:spPr>
          <a:xfrm>
            <a:off x="8394192" y="3447288"/>
            <a:ext cx="2871216" cy="603504"/>
          </a:xfrm>
          <a:prstGeom prst="rect">
            <a:avLst/>
          </a:prstGeom>
          <a:noFill/>
          <a:ln/>
        </p:spPr>
        <p:txBody>
          <a:bodyPr wrap="square" lIns="0" tIns="0" rIns="0" bIns="0" rtlCol="0" anchor="t"/>
          <a:lstStyle/>
          <a:p>
            <a:pPr algn="ct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反馈审查情况</a:t>
            </a:r>
            <a:endParaRPr lang="en-US" sz="2200" dirty="0"/>
          </a:p>
          <a:p>
            <a:pPr algn="ct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或者结果。</a:t>
            </a:r>
            <a:endParaRPr lang="en-US" sz="2200" dirty="0"/>
          </a:p>
        </p:txBody>
      </p:sp>
      <p:sp>
        <p:nvSpPr>
          <p:cNvPr id="28" name="Shape 26"/>
          <p:cNvSpPr/>
          <p:nvPr/>
        </p:nvSpPr>
        <p:spPr>
          <a:xfrm>
            <a:off x="768096" y="5358384"/>
            <a:ext cx="10652760" cy="621792"/>
          </a:xfrm>
          <a:prstGeom prst="rect">
            <a:avLst/>
          </a:prstGeom>
          <a:solidFill>
            <a:srgbClr val="EEEAE1"/>
          </a:solidFill>
          <a:ln w="10160">
            <a:solidFill>
              <a:srgbClr val="EEEAE1">
                <a:alpha val="0"/>
              </a:srgbClr>
            </a:solidFill>
            <a:prstDash val="solid"/>
          </a:ln>
        </p:spPr>
      </p:sp>
      <p:sp>
        <p:nvSpPr>
          <p:cNvPr id="29" name="Text 27"/>
          <p:cNvSpPr/>
          <p:nvPr/>
        </p:nvSpPr>
        <p:spPr>
          <a:xfrm>
            <a:off x="987552" y="5477256"/>
            <a:ext cx="10213848" cy="384048"/>
          </a:xfrm>
          <a:prstGeom prst="rect">
            <a:avLst/>
          </a:prstGeom>
          <a:noFill/>
          <a:ln/>
        </p:spPr>
        <p:txBody>
          <a:bodyPr wrap="square" lIns="0" tIns="0" rIns="0" bIns="0" rtlCol="0" anchor="t"/>
          <a:lstStyle/>
          <a:p>
            <a:pP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提出意见、承诺调整、实际修改，各是不同状态。</a:t>
            </a:r>
            <a:endParaRPr lang="en-US" sz="2200" dirty="0"/>
          </a:p>
        </p:txBody>
      </p:sp>
      <p:sp>
        <p:nvSpPr>
          <p:cNvPr id="30" name="Shape 28"/>
          <p:cNvSpPr/>
          <p:nvPr/>
        </p:nvSpPr>
        <p:spPr>
          <a:xfrm>
            <a:off x="658368" y="6291072"/>
            <a:ext cx="10872216" cy="10973"/>
          </a:xfrm>
          <a:prstGeom prst="rect">
            <a:avLst/>
          </a:prstGeom>
          <a:solidFill>
            <a:srgbClr val="D9D9D3"/>
          </a:solidFill>
          <a:ln w="10160">
            <a:solidFill>
              <a:srgbClr val="D9D9D3">
                <a:alpha val="0"/>
              </a:srgbClr>
            </a:solidFill>
            <a:prstDash val="solid"/>
          </a:ln>
        </p:spPr>
      </p:sp>
      <p:sp>
        <p:nvSpPr>
          <p:cNvPr id="31" name="Text 29"/>
          <p:cNvSpPr/>
          <p:nvPr/>
        </p:nvSpPr>
        <p:spPr>
          <a:xfrm>
            <a:off x="685800" y="6400800"/>
            <a:ext cx="2286000" cy="256032"/>
          </a:xfrm>
          <a:prstGeom prst="rect">
            <a:avLst/>
          </a:prstGeom>
          <a:noFill/>
          <a:ln/>
        </p:spPr>
        <p:txBody>
          <a:bodyPr wrap="square" lIns="0" tIns="0" rIns="0" bIns="0" rtlCol="0" anchor="t"/>
          <a:lstStyle/>
          <a:p>
            <a:pP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宪法学 · 第8讲</a:t>
            </a:r>
            <a:endParaRPr lang="en-US" sz="1100" dirty="0"/>
          </a:p>
        </p:txBody>
      </p:sp>
      <p:sp>
        <p:nvSpPr>
          <p:cNvPr id="32" name="Text 30"/>
          <p:cNvSpPr/>
          <p:nvPr/>
        </p:nvSpPr>
        <p:spPr>
          <a:xfrm>
            <a:off x="3154680" y="6400800"/>
            <a:ext cx="6720840" cy="256032"/>
          </a:xfrm>
          <a:prstGeom prst="rect">
            <a:avLst/>
          </a:prstGeom>
          <a:noFill/>
          <a:ln/>
        </p:spPr>
        <p:txBody>
          <a:bodyPr wrap="square" lIns="0" tIns="0" rIns="0" bIns="0" rtlCol="0" anchor="t"/>
          <a:lstStyle/>
          <a:p>
            <a:pPr algn="ct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《立法法》第112—113条；2023年备案审查决定第13—15项</a:t>
            </a:r>
            <a:endParaRPr lang="en-US" sz="1100" dirty="0"/>
          </a:p>
        </p:txBody>
      </p:sp>
      <p:sp>
        <p:nvSpPr>
          <p:cNvPr id="33" name="Text 31"/>
          <p:cNvSpPr/>
          <p:nvPr/>
        </p:nvSpPr>
        <p:spPr>
          <a:xfrm>
            <a:off x="10195560" y="6400800"/>
            <a:ext cx="1325880" cy="256032"/>
          </a:xfrm>
          <a:prstGeom prst="rect">
            <a:avLst/>
          </a:prstGeom>
          <a:noFill/>
          <a:ln/>
        </p:spPr>
        <p:txBody>
          <a:bodyPr wrap="square" lIns="0" tIns="0" rIns="0" bIns="0" rtlCol="0" anchor="t"/>
          <a:lstStyle/>
          <a:p>
            <a:pPr algn="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18 / 24</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713232" y="475488"/>
            <a:ext cx="10744200" cy="594360"/>
          </a:xfrm>
          <a:prstGeom prst="rect">
            <a:avLst/>
          </a:prstGeom>
          <a:noFill/>
          <a:ln/>
        </p:spPr>
        <p:txBody>
          <a:bodyPr wrap="square" lIns="0" tIns="0" rIns="0" bIns="0" rtlCol="0" anchor="t"/>
          <a:lstStyle/>
          <a:p>
            <a:pPr indent="0" marL="0">
              <a:lnSpc>
                <a:spcPct val="108000"/>
              </a:lnSpc>
              <a:buNone/>
            </a:pPr>
            <a:r>
              <a:rPr lang="en-US" sz="3200" b="1" dirty="0">
                <a:solidFill>
                  <a:srgbClr val="142735"/>
                </a:solidFill>
                <a:latin typeface="Microsoft YaHei" pitchFamily="34" charset="0"/>
                <a:ea typeface="Microsoft YaHei" pitchFamily="34" charset="-122"/>
                <a:cs typeface="Microsoft YaHei" pitchFamily="34" charset="-120"/>
              </a:rPr>
              <a:t>任务三：建议已经提交，决定就撤销了吗？</a:t>
            </a:r>
            <a:endParaRPr lang="en-US" sz="3200" dirty="0"/>
          </a:p>
        </p:txBody>
      </p:sp>
      <p:sp>
        <p:nvSpPr>
          <p:cNvPr id="3" name="Text 1"/>
          <p:cNvSpPr/>
          <p:nvPr/>
        </p:nvSpPr>
        <p:spPr>
          <a:xfrm>
            <a:off x="731520" y="1170432"/>
            <a:ext cx="10698480" cy="384048"/>
          </a:xfrm>
          <a:prstGeom prst="rect">
            <a:avLst/>
          </a:prstGeom>
          <a:noFill/>
          <a:ln/>
        </p:spPr>
        <p:txBody>
          <a:bodyPr wrap="square" lIns="0" tIns="0" rIns="0" bIns="0" rtlCol="0" anchor="t"/>
          <a:lstStyle/>
          <a:p>
            <a:pPr indent="0" marL="0">
              <a:lnSpc>
                <a:spcPct val="108000"/>
              </a:lnSpc>
              <a:buNone/>
            </a:pPr>
            <a:r>
              <a:rPr lang="en-US" sz="1600" dirty="0">
                <a:solidFill>
                  <a:srgbClr val="64717A"/>
                </a:solidFill>
                <a:latin typeface="Microsoft YaHei" pitchFamily="34" charset="0"/>
                <a:ea typeface="Microsoft YaHei" pitchFamily="34" charset="-122"/>
                <a:cs typeface="Microsoft YaHei" pitchFamily="34" charset="-120"/>
              </a:rPr>
              <a:t>以下为教学虚构，与前述真实案例无对应关系。</a:t>
            </a:r>
            <a:endParaRPr lang="en-US" sz="1600" dirty="0"/>
          </a:p>
        </p:txBody>
      </p:sp>
      <p:sp>
        <p:nvSpPr>
          <p:cNvPr id="4" name="Shape 2"/>
          <p:cNvSpPr/>
          <p:nvPr/>
        </p:nvSpPr>
        <p:spPr>
          <a:xfrm>
            <a:off x="768096" y="1773936"/>
            <a:ext cx="5202936" cy="2286000"/>
          </a:xfrm>
          <a:prstGeom prst="rect">
            <a:avLst/>
          </a:prstGeom>
          <a:solidFill>
            <a:srgbClr val="FFFFFF"/>
          </a:solidFill>
          <a:ln w="10160">
            <a:solidFill>
              <a:srgbClr val="D9D9D3"/>
            </a:solidFill>
            <a:prstDash val="solid"/>
          </a:ln>
        </p:spPr>
      </p:sp>
      <p:sp>
        <p:nvSpPr>
          <p:cNvPr id="5" name="Text 3"/>
          <p:cNvSpPr/>
          <p:nvPr/>
        </p:nvSpPr>
        <p:spPr>
          <a:xfrm>
            <a:off x="996696" y="1956816"/>
            <a:ext cx="4745736" cy="384048"/>
          </a:xfrm>
          <a:prstGeom prst="rect">
            <a:avLst/>
          </a:prstGeom>
          <a:noFill/>
          <a:ln/>
        </p:spPr>
        <p:txBody>
          <a:bodyPr wrap="square" lIns="0" tIns="0" rIns="0" bIns="0" rtlCol="0" anchor="t"/>
          <a:lstStyle/>
          <a:p>
            <a:pPr indent="0" marL="0">
              <a:lnSpc>
                <a:spcPct val="108000"/>
              </a:lnSpc>
              <a:buNone/>
            </a:pPr>
            <a:r>
              <a:rPr lang="en-US" sz="2400" b="1" dirty="0">
                <a:solidFill>
                  <a:srgbClr val="142735"/>
                </a:solidFill>
                <a:latin typeface="Microsoft YaHei" pitchFamily="34" charset="0"/>
                <a:ea typeface="Microsoft YaHei" pitchFamily="34" charset="-122"/>
                <a:cs typeface="Microsoft YaHei" pitchFamily="34" charset="-120"/>
              </a:rPr>
              <a:t>甲：地方性法规条款</a:t>
            </a:r>
            <a:endParaRPr lang="en-US" sz="2400" dirty="0"/>
          </a:p>
        </p:txBody>
      </p:sp>
      <p:sp>
        <p:nvSpPr>
          <p:cNvPr id="6" name="Text 4"/>
          <p:cNvSpPr/>
          <p:nvPr/>
        </p:nvSpPr>
        <p:spPr>
          <a:xfrm>
            <a:off x="996696" y="2606040"/>
            <a:ext cx="4745736" cy="1216152"/>
          </a:xfrm>
          <a:prstGeom prst="rect">
            <a:avLst/>
          </a:prstGeom>
          <a:noFill/>
          <a:ln/>
        </p:spPr>
        <p:txBody>
          <a:bodyPr wrap="square" lIns="0" tIns="0" rIns="0" bIns="0" rtlCol="0" anchor="t"/>
          <a:lstStyle/>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某省人大常委会制定的法规，对一类曾受处罚的人员设置从业限制。</a:t>
            </a:r>
            <a:endParaRPr lang="en-US" sz="2200" dirty="0"/>
          </a:p>
        </p:txBody>
      </p:sp>
      <p:sp>
        <p:nvSpPr>
          <p:cNvPr id="7" name="Shape 5"/>
          <p:cNvSpPr/>
          <p:nvPr/>
        </p:nvSpPr>
        <p:spPr>
          <a:xfrm>
            <a:off x="6217920" y="1773936"/>
            <a:ext cx="5202936" cy="2286000"/>
          </a:xfrm>
          <a:prstGeom prst="rect">
            <a:avLst/>
          </a:prstGeom>
          <a:solidFill>
            <a:srgbClr val="FFFFFF"/>
          </a:solidFill>
          <a:ln w="10160">
            <a:solidFill>
              <a:srgbClr val="D9D9D3"/>
            </a:solidFill>
            <a:prstDash val="solid"/>
          </a:ln>
        </p:spPr>
      </p:sp>
      <p:sp>
        <p:nvSpPr>
          <p:cNvPr id="8" name="Text 6"/>
          <p:cNvSpPr/>
          <p:nvPr/>
        </p:nvSpPr>
        <p:spPr>
          <a:xfrm>
            <a:off x="6446520" y="1956816"/>
            <a:ext cx="4745736" cy="384048"/>
          </a:xfrm>
          <a:prstGeom prst="rect">
            <a:avLst/>
          </a:prstGeom>
          <a:noFill/>
          <a:ln/>
        </p:spPr>
        <p:txBody>
          <a:bodyPr wrap="square" lIns="0" tIns="0" rIns="0" bIns="0" rtlCol="0" anchor="t"/>
          <a:lstStyle/>
          <a:p>
            <a:pPr indent="0" marL="0">
              <a:lnSpc>
                <a:spcPct val="108000"/>
              </a:lnSpc>
              <a:buNone/>
            </a:pPr>
            <a:r>
              <a:rPr lang="en-US" sz="2400" b="1" dirty="0">
                <a:solidFill>
                  <a:srgbClr val="B13D38"/>
                </a:solidFill>
                <a:latin typeface="Microsoft YaHei" pitchFamily="34" charset="0"/>
                <a:ea typeface="Microsoft YaHei" pitchFamily="34" charset="-122"/>
                <a:cs typeface="Microsoft YaHei" pitchFamily="34" charset="-120"/>
              </a:rPr>
              <a:t>乙：具体行政决定</a:t>
            </a:r>
            <a:endParaRPr lang="en-US" sz="2400" dirty="0"/>
          </a:p>
        </p:txBody>
      </p:sp>
      <p:sp>
        <p:nvSpPr>
          <p:cNvPr id="9" name="Text 7"/>
          <p:cNvSpPr/>
          <p:nvPr/>
        </p:nvSpPr>
        <p:spPr>
          <a:xfrm>
            <a:off x="6446520" y="2606040"/>
            <a:ext cx="4745736" cy="1216152"/>
          </a:xfrm>
          <a:prstGeom prst="rect">
            <a:avLst/>
          </a:prstGeom>
          <a:noFill/>
          <a:ln/>
        </p:spPr>
        <p:txBody>
          <a:bodyPr wrap="square" lIns="0" tIns="0" rIns="0" bIns="0" rtlCol="0" anchor="t"/>
          <a:lstStyle/>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某行政机关依据甲条款，对李某作出不予许可的书面决定。</a:t>
            </a:r>
            <a:endParaRPr lang="en-US" sz="2200" dirty="0"/>
          </a:p>
        </p:txBody>
      </p:sp>
      <p:sp>
        <p:nvSpPr>
          <p:cNvPr id="10" name="Text 8"/>
          <p:cNvSpPr/>
          <p:nvPr/>
        </p:nvSpPr>
        <p:spPr>
          <a:xfrm>
            <a:off x="859536" y="4297680"/>
            <a:ext cx="10469880" cy="640080"/>
          </a:xfrm>
          <a:prstGeom prst="rect">
            <a:avLst/>
          </a:prstGeom>
          <a:noFill/>
          <a:ln/>
        </p:spPr>
        <p:txBody>
          <a:bodyPr wrap="square" lIns="0" tIns="0" rIns="0" bIns="0" rtlCol="0" anchor="t"/>
          <a:lstStyle/>
          <a:p>
            <a:pPr indent="0" marL="0">
              <a:lnSpc>
                <a:spcPct val="108000"/>
              </a:lnSpc>
              <a:buNone/>
            </a:pPr>
            <a:r>
              <a:rPr lang="en-US" sz="2200" dirty="0">
                <a:solidFill>
                  <a:srgbClr val="64717A"/>
                </a:solidFill>
                <a:latin typeface="Microsoft YaHei" pitchFamily="34" charset="0"/>
                <a:ea typeface="Microsoft YaHei" pitchFamily="34" charset="-122"/>
                <a:cs typeface="Microsoft YaHei" pitchFamily="34" charset="-120"/>
              </a:rPr>
              <a:t>给定事实：李某已就甲提交审查建议，尚无处理结果；题目未给完整条文和事实。</a:t>
            </a:r>
            <a:endParaRPr lang="en-US" sz="2200" dirty="0"/>
          </a:p>
        </p:txBody>
      </p:sp>
      <p:sp>
        <p:nvSpPr>
          <p:cNvPr id="11" name="Shape 9"/>
          <p:cNvSpPr/>
          <p:nvPr/>
        </p:nvSpPr>
        <p:spPr>
          <a:xfrm>
            <a:off x="768096" y="5175504"/>
            <a:ext cx="10652760" cy="877824"/>
          </a:xfrm>
          <a:prstGeom prst="rect">
            <a:avLst/>
          </a:prstGeom>
          <a:solidFill>
            <a:srgbClr val="142735"/>
          </a:solidFill>
          <a:ln w="10160">
            <a:solidFill>
              <a:srgbClr val="142735">
                <a:alpha val="0"/>
              </a:srgbClr>
            </a:solidFill>
            <a:prstDash val="solid"/>
          </a:ln>
        </p:spPr>
      </p:sp>
      <p:sp>
        <p:nvSpPr>
          <p:cNvPr id="12" name="Text 10"/>
          <p:cNvSpPr/>
          <p:nvPr/>
        </p:nvSpPr>
        <p:spPr>
          <a:xfrm>
            <a:off x="987552" y="5340096"/>
            <a:ext cx="10213848" cy="566928"/>
          </a:xfrm>
          <a:prstGeom prst="rect">
            <a:avLst/>
          </a:prstGeom>
          <a:noFill/>
          <a:ln/>
        </p:spPr>
        <p:txBody>
          <a:bodyPr wrap="square" lIns="0" tIns="0" rIns="0" bIns="0" rtlCol="0" anchor="t"/>
          <a:lstStyle/>
          <a:p>
            <a:pPr indent="0" marL="0">
              <a:lnSpc>
                <a:spcPct val="108000"/>
              </a:lnSpc>
              <a:buNone/>
            </a:pPr>
            <a:r>
              <a:rPr lang="en-US" sz="2200" b="1" dirty="0">
                <a:solidFill>
                  <a:srgbClr val="FFFFFF"/>
                </a:solidFill>
                <a:latin typeface="Microsoft YaHei" pitchFamily="34" charset="0"/>
                <a:ea typeface="Microsoft YaHei" pitchFamily="34" charset="-122"/>
                <a:cs typeface="Microsoft YaHei" pitchFamily="34" charset="-120"/>
              </a:rPr>
              <a:t>分别写出甲、乙的问题对象和制度入口，再判断乙是否已被撤销。</a:t>
            </a:r>
            <a:endParaRPr lang="en-US" sz="2200" dirty="0"/>
          </a:p>
        </p:txBody>
      </p:sp>
      <p:sp>
        <p:nvSpPr>
          <p:cNvPr id="13" name="Shape 11"/>
          <p:cNvSpPr/>
          <p:nvPr/>
        </p:nvSpPr>
        <p:spPr>
          <a:xfrm>
            <a:off x="658368" y="6291072"/>
            <a:ext cx="10872216" cy="10973"/>
          </a:xfrm>
          <a:prstGeom prst="rect">
            <a:avLst/>
          </a:prstGeom>
          <a:solidFill>
            <a:srgbClr val="D9D9D3"/>
          </a:solidFill>
          <a:ln w="10160">
            <a:solidFill>
              <a:srgbClr val="D9D9D3">
                <a:alpha val="0"/>
              </a:srgbClr>
            </a:solidFill>
            <a:prstDash val="solid"/>
          </a:ln>
        </p:spPr>
      </p:sp>
      <p:sp>
        <p:nvSpPr>
          <p:cNvPr id="14" name="Text 12"/>
          <p:cNvSpPr/>
          <p:nvPr/>
        </p:nvSpPr>
        <p:spPr>
          <a:xfrm>
            <a:off x="685800" y="6400800"/>
            <a:ext cx="2286000" cy="256032"/>
          </a:xfrm>
          <a:prstGeom prst="rect">
            <a:avLst/>
          </a:prstGeom>
          <a:noFill/>
          <a:ln/>
        </p:spPr>
        <p:txBody>
          <a:bodyPr wrap="square" lIns="0" tIns="0" rIns="0" bIns="0" rtlCol="0" anchor="t"/>
          <a:lstStyle/>
          <a:p>
            <a:pP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宪法学 · 第8讲</a:t>
            </a:r>
            <a:endParaRPr lang="en-US" sz="1100" dirty="0"/>
          </a:p>
        </p:txBody>
      </p:sp>
      <p:sp>
        <p:nvSpPr>
          <p:cNvPr id="15" name="Text 13"/>
          <p:cNvSpPr/>
          <p:nvPr/>
        </p:nvSpPr>
        <p:spPr>
          <a:xfrm>
            <a:off x="3154680" y="6400800"/>
            <a:ext cx="6720840" cy="256032"/>
          </a:xfrm>
          <a:prstGeom prst="rect">
            <a:avLst/>
          </a:prstGeom>
          <a:noFill/>
          <a:ln/>
        </p:spPr>
        <p:txBody>
          <a:bodyPr wrap="square" lIns="0" tIns="0" rIns="0" bIns="0" rtlCol="0" anchor="t"/>
          <a:lstStyle/>
          <a:p>
            <a:pPr algn="ct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学生材料任务三；教学虚构情境</a:t>
            </a:r>
            <a:endParaRPr lang="en-US" sz="1100" dirty="0"/>
          </a:p>
        </p:txBody>
      </p:sp>
      <p:sp>
        <p:nvSpPr>
          <p:cNvPr id="16" name="Text 14"/>
          <p:cNvSpPr/>
          <p:nvPr/>
        </p:nvSpPr>
        <p:spPr>
          <a:xfrm>
            <a:off x="10195560" y="6400800"/>
            <a:ext cx="1325880" cy="256032"/>
          </a:xfrm>
          <a:prstGeom prst="rect">
            <a:avLst/>
          </a:prstGeom>
          <a:noFill/>
          <a:ln/>
        </p:spPr>
        <p:txBody>
          <a:bodyPr wrap="square" lIns="0" tIns="0" rIns="0" bIns="0" rtlCol="0" anchor="t"/>
          <a:lstStyle/>
          <a:p>
            <a:pPr algn="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19 / 24</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713232" y="475488"/>
            <a:ext cx="10744200" cy="594360"/>
          </a:xfrm>
          <a:prstGeom prst="rect">
            <a:avLst/>
          </a:prstGeom>
          <a:noFill/>
          <a:ln/>
        </p:spPr>
        <p:txBody>
          <a:bodyPr wrap="square" lIns="0" tIns="0" rIns="0" bIns="0" rtlCol="0" anchor="t"/>
          <a:lstStyle/>
          <a:p>
            <a:pPr indent="0" marL="0">
              <a:lnSpc>
                <a:spcPct val="108000"/>
              </a:lnSpc>
              <a:buNone/>
            </a:pPr>
            <a:r>
              <a:rPr lang="en-US" sz="3200" b="1" dirty="0">
                <a:solidFill>
                  <a:srgbClr val="142735"/>
                </a:solidFill>
                <a:latin typeface="Microsoft YaHei" pitchFamily="34" charset="0"/>
                <a:ea typeface="Microsoft YaHei" pitchFamily="34" charset="-122"/>
                <a:cs typeface="Microsoft YaHei" pitchFamily="34" charset="-120"/>
              </a:rPr>
              <a:t>讲评：两个对象，分别查找制度入口</a:t>
            </a:r>
            <a:endParaRPr lang="en-US" sz="3200" dirty="0"/>
          </a:p>
        </p:txBody>
      </p:sp>
      <p:sp>
        <p:nvSpPr>
          <p:cNvPr id="3" name="Text 1"/>
          <p:cNvSpPr/>
          <p:nvPr/>
        </p:nvSpPr>
        <p:spPr>
          <a:xfrm>
            <a:off x="731520" y="1170432"/>
            <a:ext cx="10698480" cy="384048"/>
          </a:xfrm>
          <a:prstGeom prst="rect">
            <a:avLst/>
          </a:prstGeom>
          <a:noFill/>
          <a:ln/>
        </p:spPr>
        <p:txBody>
          <a:bodyPr wrap="square" lIns="0" tIns="0" rIns="0" bIns="0" rtlCol="0" anchor="t"/>
          <a:lstStyle/>
          <a:p>
            <a:pPr indent="0" marL="0">
              <a:lnSpc>
                <a:spcPct val="108000"/>
              </a:lnSpc>
              <a:buNone/>
            </a:pPr>
            <a:r>
              <a:rPr lang="en-US" sz="1600" dirty="0">
                <a:solidFill>
                  <a:srgbClr val="64717A"/>
                </a:solidFill>
                <a:latin typeface="Microsoft YaHei" pitchFamily="34" charset="0"/>
                <a:ea typeface="Microsoft YaHei" pitchFamily="34" charset="-122"/>
                <a:cs typeface="Microsoft YaHei" pitchFamily="34" charset="-120"/>
              </a:rPr>
              <a:t>先说明能够确定的判断，再指出还缺哪些事实。</a:t>
            </a:r>
            <a:endParaRPr lang="en-US" sz="1600" dirty="0"/>
          </a:p>
        </p:txBody>
      </p:sp>
      <p:sp>
        <p:nvSpPr>
          <p:cNvPr id="4" name="Shape 2"/>
          <p:cNvSpPr/>
          <p:nvPr/>
        </p:nvSpPr>
        <p:spPr>
          <a:xfrm>
            <a:off x="768096" y="1773936"/>
            <a:ext cx="5202936" cy="3264408"/>
          </a:xfrm>
          <a:prstGeom prst="rect">
            <a:avLst/>
          </a:prstGeom>
          <a:solidFill>
            <a:srgbClr val="FFFFFF"/>
          </a:solidFill>
          <a:ln w="10160">
            <a:solidFill>
              <a:srgbClr val="D9D9D3"/>
            </a:solidFill>
            <a:prstDash val="solid"/>
          </a:ln>
        </p:spPr>
      </p:sp>
      <p:sp>
        <p:nvSpPr>
          <p:cNvPr id="5" name="Shape 3"/>
          <p:cNvSpPr/>
          <p:nvPr/>
        </p:nvSpPr>
        <p:spPr>
          <a:xfrm>
            <a:off x="768096" y="1773936"/>
            <a:ext cx="5202936" cy="658368"/>
          </a:xfrm>
          <a:prstGeom prst="rect">
            <a:avLst/>
          </a:prstGeom>
          <a:solidFill>
            <a:srgbClr val="142735"/>
          </a:solidFill>
          <a:ln w="10160">
            <a:solidFill>
              <a:srgbClr val="142735">
                <a:alpha val="0"/>
              </a:srgbClr>
            </a:solidFill>
            <a:prstDash val="solid"/>
          </a:ln>
        </p:spPr>
      </p:sp>
      <p:sp>
        <p:nvSpPr>
          <p:cNvPr id="6" name="Text 4"/>
          <p:cNvSpPr/>
          <p:nvPr/>
        </p:nvSpPr>
        <p:spPr>
          <a:xfrm>
            <a:off x="987552" y="1920240"/>
            <a:ext cx="4764024" cy="365760"/>
          </a:xfrm>
          <a:prstGeom prst="rect">
            <a:avLst/>
          </a:prstGeom>
          <a:noFill/>
          <a:ln/>
        </p:spPr>
        <p:txBody>
          <a:bodyPr wrap="square" lIns="0" tIns="0" rIns="0" bIns="0" rtlCol="0" anchor="t"/>
          <a:lstStyle/>
          <a:p>
            <a:pPr indent="0" marL="0">
              <a:lnSpc>
                <a:spcPct val="108000"/>
              </a:lnSpc>
              <a:buNone/>
            </a:pPr>
            <a:r>
              <a:rPr lang="en-US" sz="2400" b="1" dirty="0">
                <a:solidFill>
                  <a:srgbClr val="FFFFFF"/>
                </a:solidFill>
                <a:latin typeface="Microsoft YaHei" pitchFamily="34" charset="0"/>
                <a:ea typeface="Microsoft YaHei" pitchFamily="34" charset="-122"/>
                <a:cs typeface="Microsoft YaHei" pitchFamily="34" charset="-120"/>
              </a:rPr>
              <a:t>甲：规范问题</a:t>
            </a:r>
            <a:endParaRPr lang="en-US" sz="2400" dirty="0"/>
          </a:p>
        </p:txBody>
      </p:sp>
      <p:sp>
        <p:nvSpPr>
          <p:cNvPr id="7" name="Text 5"/>
          <p:cNvSpPr/>
          <p:nvPr/>
        </p:nvSpPr>
        <p:spPr>
          <a:xfrm>
            <a:off x="1005840" y="2706624"/>
            <a:ext cx="4727448" cy="2139696"/>
          </a:xfrm>
          <a:prstGeom prst="rect">
            <a:avLst/>
          </a:prstGeom>
          <a:noFill/>
          <a:ln/>
        </p:spPr>
        <p:txBody>
          <a:bodyPr wrap="square" lIns="0" tIns="0" rIns="0" bIns="0" rtlCol="0" anchor="t"/>
          <a:lstStyle/>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查地方性法规的审查建议、审查与处理制度。</a:t>
            </a:r>
            <a:endParaRPr lang="en-US" sz="2200" dirty="0"/>
          </a:p>
          <a:p>
            <a:pPr indent="0" marL="0">
              <a:lnSpc>
                <a:spcPct val="108000"/>
              </a:lnSpc>
              <a:buNone/>
            </a:pP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依据：立法法第110—113条。</a:t>
            </a:r>
            <a:endParaRPr lang="en-US" sz="2200" dirty="0"/>
          </a:p>
        </p:txBody>
      </p:sp>
      <p:sp>
        <p:nvSpPr>
          <p:cNvPr id="8" name="Shape 6"/>
          <p:cNvSpPr/>
          <p:nvPr/>
        </p:nvSpPr>
        <p:spPr>
          <a:xfrm>
            <a:off x="6217920" y="1773936"/>
            <a:ext cx="5202936" cy="3264408"/>
          </a:xfrm>
          <a:prstGeom prst="rect">
            <a:avLst/>
          </a:prstGeom>
          <a:solidFill>
            <a:srgbClr val="FFFFFF"/>
          </a:solidFill>
          <a:ln w="10160">
            <a:solidFill>
              <a:srgbClr val="D9D9D3"/>
            </a:solidFill>
            <a:prstDash val="solid"/>
          </a:ln>
        </p:spPr>
      </p:sp>
      <p:sp>
        <p:nvSpPr>
          <p:cNvPr id="9" name="Shape 7"/>
          <p:cNvSpPr/>
          <p:nvPr/>
        </p:nvSpPr>
        <p:spPr>
          <a:xfrm>
            <a:off x="6217920" y="1773936"/>
            <a:ext cx="5202936" cy="658368"/>
          </a:xfrm>
          <a:prstGeom prst="rect">
            <a:avLst/>
          </a:prstGeom>
          <a:solidFill>
            <a:srgbClr val="B13D38"/>
          </a:solidFill>
          <a:ln w="10160">
            <a:solidFill>
              <a:srgbClr val="B13D38">
                <a:alpha val="0"/>
              </a:srgbClr>
            </a:solidFill>
            <a:prstDash val="solid"/>
          </a:ln>
        </p:spPr>
      </p:sp>
      <p:sp>
        <p:nvSpPr>
          <p:cNvPr id="10" name="Text 8"/>
          <p:cNvSpPr/>
          <p:nvPr/>
        </p:nvSpPr>
        <p:spPr>
          <a:xfrm>
            <a:off x="6437376" y="1920240"/>
            <a:ext cx="4764024" cy="365760"/>
          </a:xfrm>
          <a:prstGeom prst="rect">
            <a:avLst/>
          </a:prstGeom>
          <a:noFill/>
          <a:ln/>
        </p:spPr>
        <p:txBody>
          <a:bodyPr wrap="square" lIns="0" tIns="0" rIns="0" bIns="0" rtlCol="0" anchor="t"/>
          <a:lstStyle/>
          <a:p>
            <a:pPr indent="0" marL="0">
              <a:lnSpc>
                <a:spcPct val="108000"/>
              </a:lnSpc>
              <a:buNone/>
            </a:pPr>
            <a:r>
              <a:rPr lang="en-US" sz="2400" b="1" dirty="0">
                <a:solidFill>
                  <a:srgbClr val="FFFFFF"/>
                </a:solidFill>
                <a:latin typeface="Microsoft YaHei" pitchFamily="34" charset="0"/>
                <a:ea typeface="Microsoft YaHei" pitchFamily="34" charset="-122"/>
                <a:cs typeface="Microsoft YaHei" pitchFamily="34" charset="-120"/>
              </a:rPr>
              <a:t>乙：具体行为问题</a:t>
            </a:r>
            <a:endParaRPr lang="en-US" sz="2400" dirty="0"/>
          </a:p>
        </p:txBody>
      </p:sp>
      <p:sp>
        <p:nvSpPr>
          <p:cNvPr id="11" name="Text 9"/>
          <p:cNvSpPr/>
          <p:nvPr/>
        </p:nvSpPr>
        <p:spPr>
          <a:xfrm>
            <a:off x="6455664" y="2706624"/>
            <a:ext cx="4727448" cy="2139696"/>
          </a:xfrm>
          <a:prstGeom prst="rect">
            <a:avLst/>
          </a:prstGeom>
          <a:noFill/>
          <a:ln/>
        </p:spPr>
        <p:txBody>
          <a:bodyPr wrap="square" lIns="0" tIns="0" rIns="0" bIns="0" rtlCol="0" anchor="t"/>
          <a:lstStyle/>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另查行为的事实、权限、程序及法定救济。</a:t>
            </a:r>
            <a:endParaRPr lang="en-US" sz="2200" dirty="0"/>
          </a:p>
          <a:p>
            <a:pPr indent="0" marL="0">
              <a:lnSpc>
                <a:spcPct val="108000"/>
              </a:lnSpc>
              <a:buNone/>
            </a:pPr>
            <a:endParaRPr lang="en-US" sz="2200" dirty="0"/>
          </a:p>
          <a:p>
            <a:pPr indent="0" marL="0">
              <a:lnSpc>
                <a:spcPct val="108000"/>
              </a:lnSpc>
              <a:buNone/>
            </a:pPr>
            <a:r>
              <a:rPr lang="en-US" sz="2200" dirty="0">
                <a:solidFill>
                  <a:srgbClr val="20303D"/>
                </a:solidFill>
                <a:latin typeface="Microsoft YaHei" pitchFamily="34" charset="0"/>
                <a:ea typeface="Microsoft YaHei" pitchFamily="34" charset="-122"/>
                <a:cs typeface="Microsoft YaHei" pitchFamily="34" charset="-120"/>
              </a:rPr>
              <a:t>提出针对甲的建议，不等于作出撤销乙的决定。</a:t>
            </a:r>
            <a:endParaRPr lang="en-US" sz="2200" dirty="0"/>
          </a:p>
        </p:txBody>
      </p:sp>
      <p:sp>
        <p:nvSpPr>
          <p:cNvPr id="12" name="Shape 10"/>
          <p:cNvSpPr/>
          <p:nvPr/>
        </p:nvSpPr>
        <p:spPr>
          <a:xfrm>
            <a:off x="768096" y="5358384"/>
            <a:ext cx="10652760" cy="621792"/>
          </a:xfrm>
          <a:prstGeom prst="rect">
            <a:avLst/>
          </a:prstGeom>
          <a:solidFill>
            <a:srgbClr val="EEEAE1"/>
          </a:solidFill>
          <a:ln w="10160">
            <a:solidFill>
              <a:srgbClr val="EEEAE1">
                <a:alpha val="0"/>
              </a:srgbClr>
            </a:solidFill>
            <a:prstDash val="solid"/>
          </a:ln>
        </p:spPr>
      </p:sp>
      <p:sp>
        <p:nvSpPr>
          <p:cNvPr id="13" name="Text 11"/>
          <p:cNvSpPr/>
          <p:nvPr/>
        </p:nvSpPr>
        <p:spPr>
          <a:xfrm>
            <a:off x="987552" y="5477256"/>
            <a:ext cx="10213848" cy="384048"/>
          </a:xfrm>
          <a:prstGeom prst="rect">
            <a:avLst/>
          </a:prstGeom>
          <a:noFill/>
          <a:ln/>
        </p:spPr>
        <p:txBody>
          <a:bodyPr wrap="square" lIns="0" tIns="0" rIns="0" bIns="0" rtlCol="0" anchor="t"/>
          <a:lstStyle/>
          <a:p>
            <a:pP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能够确定：对象不同，提交建议不会自动撤销具体决定。</a:t>
            </a:r>
            <a:endParaRPr lang="en-US" sz="2200" dirty="0"/>
          </a:p>
        </p:txBody>
      </p:sp>
      <p:sp>
        <p:nvSpPr>
          <p:cNvPr id="14" name="Shape 12"/>
          <p:cNvSpPr/>
          <p:nvPr/>
        </p:nvSpPr>
        <p:spPr>
          <a:xfrm>
            <a:off x="658368" y="6291072"/>
            <a:ext cx="10872216" cy="10973"/>
          </a:xfrm>
          <a:prstGeom prst="rect">
            <a:avLst/>
          </a:prstGeom>
          <a:solidFill>
            <a:srgbClr val="D9D9D3"/>
          </a:solidFill>
          <a:ln w="10160">
            <a:solidFill>
              <a:srgbClr val="D9D9D3">
                <a:alpha val="0"/>
              </a:srgbClr>
            </a:solidFill>
            <a:prstDash val="solid"/>
          </a:ln>
        </p:spPr>
      </p:sp>
      <p:sp>
        <p:nvSpPr>
          <p:cNvPr id="15" name="Text 13"/>
          <p:cNvSpPr/>
          <p:nvPr/>
        </p:nvSpPr>
        <p:spPr>
          <a:xfrm>
            <a:off x="685800" y="6400800"/>
            <a:ext cx="2286000" cy="256032"/>
          </a:xfrm>
          <a:prstGeom prst="rect">
            <a:avLst/>
          </a:prstGeom>
          <a:noFill/>
          <a:ln/>
        </p:spPr>
        <p:txBody>
          <a:bodyPr wrap="square" lIns="0" tIns="0" rIns="0" bIns="0" rtlCol="0" anchor="t"/>
          <a:lstStyle/>
          <a:p>
            <a:pP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宪法学 · 第8讲</a:t>
            </a:r>
            <a:endParaRPr lang="en-US" sz="1100" dirty="0"/>
          </a:p>
        </p:txBody>
      </p:sp>
      <p:sp>
        <p:nvSpPr>
          <p:cNvPr id="16" name="Text 14"/>
          <p:cNvSpPr/>
          <p:nvPr/>
        </p:nvSpPr>
        <p:spPr>
          <a:xfrm>
            <a:off x="3154680" y="6400800"/>
            <a:ext cx="6720840" cy="256032"/>
          </a:xfrm>
          <a:prstGeom prst="rect">
            <a:avLst/>
          </a:prstGeom>
          <a:noFill/>
          <a:ln/>
        </p:spPr>
        <p:txBody>
          <a:bodyPr wrap="square" lIns="0" tIns="0" rIns="0" bIns="0" rtlCol="0" anchor="t"/>
          <a:lstStyle/>
          <a:p>
            <a:pPr algn="ct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《立法法》第110—113条；任务三教学分析</a:t>
            </a:r>
            <a:endParaRPr lang="en-US" sz="1100" dirty="0"/>
          </a:p>
        </p:txBody>
      </p:sp>
      <p:sp>
        <p:nvSpPr>
          <p:cNvPr id="17" name="Text 15"/>
          <p:cNvSpPr/>
          <p:nvPr/>
        </p:nvSpPr>
        <p:spPr>
          <a:xfrm>
            <a:off x="10195560" y="6400800"/>
            <a:ext cx="1325880" cy="256032"/>
          </a:xfrm>
          <a:prstGeom prst="rect">
            <a:avLst/>
          </a:prstGeom>
          <a:noFill/>
          <a:ln/>
        </p:spPr>
        <p:txBody>
          <a:bodyPr wrap="square" lIns="0" tIns="0" rIns="0" bIns="0" rtlCol="0" anchor="t"/>
          <a:lstStyle/>
          <a:p>
            <a:pPr algn="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20 / 24</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713232" y="475488"/>
            <a:ext cx="10744200" cy="594360"/>
          </a:xfrm>
          <a:prstGeom prst="rect">
            <a:avLst/>
          </a:prstGeom>
          <a:noFill/>
          <a:ln/>
        </p:spPr>
        <p:txBody>
          <a:bodyPr wrap="square" lIns="0" tIns="0" rIns="0" bIns="0" rtlCol="0" anchor="t"/>
          <a:lstStyle/>
          <a:p>
            <a:pPr indent="0" marL="0">
              <a:lnSpc>
                <a:spcPct val="108000"/>
              </a:lnSpc>
              <a:buNone/>
            </a:pPr>
            <a:r>
              <a:rPr lang="en-US" sz="3200" b="1" dirty="0">
                <a:solidFill>
                  <a:srgbClr val="142735"/>
                </a:solidFill>
                <a:latin typeface="Microsoft YaHei" pitchFamily="34" charset="0"/>
                <a:ea typeface="Microsoft YaHei" pitchFamily="34" charset="-122"/>
                <a:cs typeface="Microsoft YaHei" pitchFamily="34" charset="-120"/>
              </a:rPr>
              <a:t>课末三句：用自己的话补全</a:t>
            </a:r>
            <a:endParaRPr lang="en-US" sz="3200" dirty="0"/>
          </a:p>
        </p:txBody>
      </p:sp>
      <p:sp>
        <p:nvSpPr>
          <p:cNvPr id="3" name="Text 1"/>
          <p:cNvSpPr/>
          <p:nvPr/>
        </p:nvSpPr>
        <p:spPr>
          <a:xfrm>
            <a:off x="731520" y="1170432"/>
            <a:ext cx="10698480" cy="384048"/>
          </a:xfrm>
          <a:prstGeom prst="rect">
            <a:avLst/>
          </a:prstGeom>
          <a:noFill/>
          <a:ln/>
        </p:spPr>
        <p:txBody>
          <a:bodyPr wrap="square" lIns="0" tIns="0" rIns="0" bIns="0" rtlCol="0" anchor="t"/>
          <a:lstStyle/>
          <a:p>
            <a:pPr indent="0" marL="0">
              <a:lnSpc>
                <a:spcPct val="108000"/>
              </a:lnSpc>
              <a:buNone/>
            </a:pPr>
            <a:r>
              <a:rPr lang="en-US" sz="1600" dirty="0">
                <a:solidFill>
                  <a:srgbClr val="64717A"/>
                </a:solidFill>
                <a:latin typeface="Microsoft YaHei" pitchFamily="34" charset="0"/>
                <a:ea typeface="Microsoft YaHei" pitchFamily="34" charset="-122"/>
                <a:cs typeface="Microsoft YaHei" pitchFamily="34" charset="-120"/>
              </a:rPr>
              <a:t>先口头回答；也可作为课后回顾。</a:t>
            </a:r>
            <a:endParaRPr lang="en-US" sz="1600" dirty="0"/>
          </a:p>
        </p:txBody>
      </p:sp>
      <p:sp>
        <p:nvSpPr>
          <p:cNvPr id="4" name="Shape 2"/>
          <p:cNvSpPr/>
          <p:nvPr/>
        </p:nvSpPr>
        <p:spPr>
          <a:xfrm>
            <a:off x="768096" y="1773936"/>
            <a:ext cx="10652760" cy="1133856"/>
          </a:xfrm>
          <a:prstGeom prst="rect">
            <a:avLst/>
          </a:prstGeom>
          <a:solidFill>
            <a:srgbClr val="142735"/>
          </a:solidFill>
          <a:ln w="10160">
            <a:solidFill>
              <a:srgbClr val="142735">
                <a:alpha val="0"/>
              </a:srgbClr>
            </a:solidFill>
            <a:prstDash val="solid"/>
          </a:ln>
        </p:spPr>
      </p:sp>
      <p:sp>
        <p:nvSpPr>
          <p:cNvPr id="5" name="Text 3"/>
          <p:cNvSpPr/>
          <p:nvPr/>
        </p:nvSpPr>
        <p:spPr>
          <a:xfrm>
            <a:off x="1005840" y="1984248"/>
            <a:ext cx="548640" cy="365760"/>
          </a:xfrm>
          <a:prstGeom prst="rect">
            <a:avLst/>
          </a:prstGeom>
          <a:noFill/>
          <a:ln/>
        </p:spPr>
        <p:txBody>
          <a:bodyPr wrap="square" lIns="0" tIns="0" rIns="0" bIns="0" rtlCol="0" anchor="t"/>
          <a:lstStyle/>
          <a:p>
            <a:pPr indent="0" marL="0">
              <a:lnSpc>
                <a:spcPct val="108000"/>
              </a:lnSpc>
              <a:buNone/>
            </a:pPr>
            <a:r>
              <a:rPr lang="en-US" sz="2200" b="1" dirty="0">
                <a:solidFill>
                  <a:srgbClr val="EBC8C3"/>
                </a:solidFill>
                <a:latin typeface="Microsoft YaHei" pitchFamily="34" charset="0"/>
                <a:ea typeface="Microsoft YaHei" pitchFamily="34" charset="-122"/>
                <a:cs typeface="Microsoft YaHei" pitchFamily="34" charset="-120"/>
              </a:rPr>
              <a:t>01</a:t>
            </a:r>
            <a:endParaRPr lang="en-US" sz="2200" dirty="0"/>
          </a:p>
        </p:txBody>
      </p:sp>
      <p:sp>
        <p:nvSpPr>
          <p:cNvPr id="6" name="Text 4"/>
          <p:cNvSpPr/>
          <p:nvPr/>
        </p:nvSpPr>
        <p:spPr>
          <a:xfrm>
            <a:off x="1773936" y="1911096"/>
            <a:ext cx="9299448" cy="886968"/>
          </a:xfrm>
          <a:prstGeom prst="rect">
            <a:avLst/>
          </a:prstGeom>
          <a:noFill/>
          <a:ln/>
        </p:spPr>
        <p:txBody>
          <a:bodyPr wrap="square" lIns="0" tIns="0" rIns="0" bIns="0" rtlCol="0" anchor="t"/>
          <a:lstStyle/>
          <a:p>
            <a:pPr indent="0" marL="0">
              <a:lnSpc>
                <a:spcPct val="108000"/>
              </a:lnSpc>
              <a:buNone/>
            </a:pPr>
            <a:r>
              <a:rPr lang="en-US" sz="2400" b="1" dirty="0">
                <a:solidFill>
                  <a:srgbClr val="FFFFFF"/>
                </a:solidFill>
                <a:latin typeface="Microsoft YaHei" pitchFamily="34" charset="0"/>
                <a:ea typeface="Microsoft YaHei" pitchFamily="34" charset="-122"/>
                <a:cs typeface="Microsoft YaHei" pitchFamily="34" charset="-120"/>
              </a:rPr>
              <a:t>宪法可以通过________落实。</a:t>
            </a:r>
            <a:endParaRPr lang="en-US" sz="2400" dirty="0"/>
          </a:p>
        </p:txBody>
      </p:sp>
      <p:sp>
        <p:nvSpPr>
          <p:cNvPr id="7" name="Shape 5"/>
          <p:cNvSpPr/>
          <p:nvPr/>
        </p:nvSpPr>
        <p:spPr>
          <a:xfrm>
            <a:off x="768096" y="3081528"/>
            <a:ext cx="10652760" cy="1133856"/>
          </a:xfrm>
          <a:prstGeom prst="rect">
            <a:avLst/>
          </a:prstGeom>
          <a:solidFill>
            <a:srgbClr val="FFFFFF"/>
          </a:solidFill>
          <a:ln w="10160">
            <a:solidFill>
              <a:srgbClr val="D9D9D3"/>
            </a:solidFill>
            <a:prstDash val="solid"/>
          </a:ln>
        </p:spPr>
      </p:sp>
      <p:sp>
        <p:nvSpPr>
          <p:cNvPr id="8" name="Text 6"/>
          <p:cNvSpPr/>
          <p:nvPr/>
        </p:nvSpPr>
        <p:spPr>
          <a:xfrm>
            <a:off x="1005840" y="3291840"/>
            <a:ext cx="548640" cy="365760"/>
          </a:xfrm>
          <a:prstGeom prst="rect">
            <a:avLst/>
          </a:prstGeom>
          <a:noFill/>
          <a:ln/>
        </p:spPr>
        <p:txBody>
          <a:bodyPr wrap="square" lIns="0" tIns="0" rIns="0" bIns="0" rtlCol="0" anchor="t"/>
          <a:lstStyle/>
          <a:p>
            <a:pPr indent="0" marL="0">
              <a:lnSpc>
                <a:spcPct val="108000"/>
              </a:lnSpc>
              <a:buNone/>
            </a:pPr>
            <a:r>
              <a:rPr lang="en-US" sz="2200" b="1" dirty="0">
                <a:solidFill>
                  <a:srgbClr val="B13D38"/>
                </a:solidFill>
                <a:latin typeface="Microsoft YaHei" pitchFamily="34" charset="0"/>
                <a:ea typeface="Microsoft YaHei" pitchFamily="34" charset="-122"/>
                <a:cs typeface="Microsoft YaHei" pitchFamily="34" charset="-120"/>
              </a:rPr>
              <a:t>02</a:t>
            </a:r>
            <a:endParaRPr lang="en-US" sz="2200" dirty="0"/>
          </a:p>
        </p:txBody>
      </p:sp>
      <p:sp>
        <p:nvSpPr>
          <p:cNvPr id="9" name="Text 7"/>
          <p:cNvSpPr/>
          <p:nvPr/>
        </p:nvSpPr>
        <p:spPr>
          <a:xfrm>
            <a:off x="1773936" y="3218688"/>
            <a:ext cx="9299448" cy="886968"/>
          </a:xfrm>
          <a:prstGeom prst="rect">
            <a:avLst/>
          </a:prstGeom>
          <a:noFill/>
          <a:ln/>
        </p:spPr>
        <p:txBody>
          <a:bodyPr wrap="square" lIns="0" tIns="0" rIns="0" bIns="0" rtlCol="0" anchor="t"/>
          <a:lstStyle/>
          <a:p>
            <a:pPr indent="0" marL="0">
              <a:lnSpc>
                <a:spcPct val="108000"/>
              </a:lnSpc>
              <a:buNone/>
            </a:pPr>
            <a:r>
              <a:rPr lang="en-US" sz="2400" b="1" dirty="0">
                <a:solidFill>
                  <a:srgbClr val="142735"/>
                </a:solidFill>
                <a:latin typeface="Microsoft YaHei" pitchFamily="34" charset="0"/>
                <a:ea typeface="Microsoft YaHei" pitchFamily="34" charset="-122"/>
                <a:cs typeface="Microsoft YaHei" pitchFamily="34" charset="-120"/>
              </a:rPr>
              <a:t>本讲案例审查的是________。</a:t>
            </a:r>
            <a:endParaRPr lang="en-US" sz="2400" dirty="0"/>
          </a:p>
        </p:txBody>
      </p:sp>
      <p:sp>
        <p:nvSpPr>
          <p:cNvPr id="10" name="Shape 8"/>
          <p:cNvSpPr/>
          <p:nvPr/>
        </p:nvSpPr>
        <p:spPr>
          <a:xfrm>
            <a:off x="768096" y="4389120"/>
            <a:ext cx="10652760" cy="1133856"/>
          </a:xfrm>
          <a:prstGeom prst="rect">
            <a:avLst/>
          </a:prstGeom>
          <a:solidFill>
            <a:srgbClr val="FFFFFF"/>
          </a:solidFill>
          <a:ln w="10160">
            <a:solidFill>
              <a:srgbClr val="D9D9D3"/>
            </a:solidFill>
            <a:prstDash val="solid"/>
          </a:ln>
        </p:spPr>
      </p:sp>
      <p:sp>
        <p:nvSpPr>
          <p:cNvPr id="11" name="Text 9"/>
          <p:cNvSpPr/>
          <p:nvPr/>
        </p:nvSpPr>
        <p:spPr>
          <a:xfrm>
            <a:off x="1005840" y="4599432"/>
            <a:ext cx="548640" cy="365760"/>
          </a:xfrm>
          <a:prstGeom prst="rect">
            <a:avLst/>
          </a:prstGeom>
          <a:noFill/>
          <a:ln/>
        </p:spPr>
        <p:txBody>
          <a:bodyPr wrap="square" lIns="0" tIns="0" rIns="0" bIns="0" rtlCol="0" anchor="t"/>
          <a:lstStyle/>
          <a:p>
            <a:pPr indent="0" marL="0">
              <a:lnSpc>
                <a:spcPct val="108000"/>
              </a:lnSpc>
              <a:buNone/>
            </a:pPr>
            <a:r>
              <a:rPr lang="en-US" sz="2200" b="1" dirty="0">
                <a:solidFill>
                  <a:srgbClr val="B13D38"/>
                </a:solidFill>
                <a:latin typeface="Microsoft YaHei" pitchFamily="34" charset="0"/>
                <a:ea typeface="Microsoft YaHei" pitchFamily="34" charset="-122"/>
                <a:cs typeface="Microsoft YaHei" pitchFamily="34" charset="-120"/>
              </a:rPr>
              <a:t>03</a:t>
            </a:r>
            <a:endParaRPr lang="en-US" sz="2200" dirty="0"/>
          </a:p>
        </p:txBody>
      </p:sp>
      <p:sp>
        <p:nvSpPr>
          <p:cNvPr id="12" name="Text 10"/>
          <p:cNvSpPr/>
          <p:nvPr/>
        </p:nvSpPr>
        <p:spPr>
          <a:xfrm>
            <a:off x="1773936" y="4526280"/>
            <a:ext cx="9299448" cy="886968"/>
          </a:xfrm>
          <a:prstGeom prst="rect">
            <a:avLst/>
          </a:prstGeom>
          <a:noFill/>
          <a:ln/>
        </p:spPr>
        <p:txBody>
          <a:bodyPr wrap="square" lIns="0" tIns="0" rIns="0" bIns="0" rtlCol="0" anchor="t"/>
          <a:lstStyle/>
          <a:p>
            <a:pPr indent="0" marL="0">
              <a:lnSpc>
                <a:spcPct val="108000"/>
              </a:lnSpc>
              <a:buNone/>
            </a:pPr>
            <a:r>
              <a:rPr lang="en-US" sz="2400" b="1" dirty="0">
                <a:solidFill>
                  <a:srgbClr val="142735"/>
                </a:solidFill>
                <a:latin typeface="Microsoft YaHei" pitchFamily="34" charset="0"/>
                <a:ea typeface="Microsoft YaHei" pitchFamily="34" charset="-122"/>
                <a:cs typeface="Microsoft YaHei" pitchFamily="34" charset="-120"/>
              </a:rPr>
              <a:t>报告中的“修改调整”证明________。</a:t>
            </a:r>
            <a:endParaRPr lang="en-US" sz="2400" dirty="0"/>
          </a:p>
        </p:txBody>
      </p:sp>
      <p:sp>
        <p:nvSpPr>
          <p:cNvPr id="13" name="Shape 11"/>
          <p:cNvSpPr/>
          <p:nvPr/>
        </p:nvSpPr>
        <p:spPr>
          <a:xfrm>
            <a:off x="658368" y="6291072"/>
            <a:ext cx="10872216" cy="10973"/>
          </a:xfrm>
          <a:prstGeom prst="rect">
            <a:avLst/>
          </a:prstGeom>
          <a:solidFill>
            <a:srgbClr val="D9D9D3"/>
          </a:solidFill>
          <a:ln w="10160">
            <a:solidFill>
              <a:srgbClr val="D9D9D3">
                <a:alpha val="0"/>
              </a:srgbClr>
            </a:solidFill>
            <a:prstDash val="solid"/>
          </a:ln>
        </p:spPr>
      </p:sp>
      <p:sp>
        <p:nvSpPr>
          <p:cNvPr id="14" name="Text 12"/>
          <p:cNvSpPr/>
          <p:nvPr/>
        </p:nvSpPr>
        <p:spPr>
          <a:xfrm>
            <a:off x="685800" y="6400800"/>
            <a:ext cx="2286000" cy="256032"/>
          </a:xfrm>
          <a:prstGeom prst="rect">
            <a:avLst/>
          </a:prstGeom>
          <a:noFill/>
          <a:ln/>
        </p:spPr>
        <p:txBody>
          <a:bodyPr wrap="square" lIns="0" tIns="0" rIns="0" bIns="0" rtlCol="0" anchor="t"/>
          <a:lstStyle/>
          <a:p>
            <a:pP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宪法学 · 第8讲</a:t>
            </a:r>
            <a:endParaRPr lang="en-US" sz="1100" dirty="0"/>
          </a:p>
        </p:txBody>
      </p:sp>
      <p:sp>
        <p:nvSpPr>
          <p:cNvPr id="15" name="Text 13"/>
          <p:cNvSpPr/>
          <p:nvPr/>
        </p:nvSpPr>
        <p:spPr>
          <a:xfrm>
            <a:off x="3154680" y="6400800"/>
            <a:ext cx="6720840" cy="256032"/>
          </a:xfrm>
          <a:prstGeom prst="rect">
            <a:avLst/>
          </a:prstGeom>
          <a:noFill/>
          <a:ln/>
        </p:spPr>
        <p:txBody>
          <a:bodyPr wrap="square" lIns="0" tIns="0" rIns="0" bIns="0" rtlCol="0" anchor="t"/>
          <a:lstStyle/>
          <a:p>
            <a:pPr algn="ct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学生材料课末三句</a:t>
            </a:r>
            <a:endParaRPr lang="en-US" sz="1100" dirty="0"/>
          </a:p>
        </p:txBody>
      </p:sp>
      <p:sp>
        <p:nvSpPr>
          <p:cNvPr id="16" name="Text 14"/>
          <p:cNvSpPr/>
          <p:nvPr/>
        </p:nvSpPr>
        <p:spPr>
          <a:xfrm>
            <a:off x="10195560" y="6400800"/>
            <a:ext cx="1325880" cy="256032"/>
          </a:xfrm>
          <a:prstGeom prst="rect">
            <a:avLst/>
          </a:prstGeom>
          <a:noFill/>
          <a:ln/>
        </p:spPr>
        <p:txBody>
          <a:bodyPr wrap="square" lIns="0" tIns="0" rIns="0" bIns="0" rtlCol="0" anchor="t"/>
          <a:lstStyle/>
          <a:p>
            <a:pPr algn="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21 / 24</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713232" y="475488"/>
            <a:ext cx="10744200" cy="594360"/>
          </a:xfrm>
          <a:prstGeom prst="rect">
            <a:avLst/>
          </a:prstGeom>
          <a:noFill/>
          <a:ln/>
        </p:spPr>
        <p:txBody>
          <a:bodyPr wrap="square" lIns="0" tIns="0" rIns="0" bIns="0" rtlCol="0" anchor="t"/>
          <a:lstStyle/>
          <a:p>
            <a:pPr indent="0" marL="0">
              <a:lnSpc>
                <a:spcPct val="108000"/>
              </a:lnSpc>
              <a:buNone/>
            </a:pPr>
            <a:r>
              <a:rPr lang="en-US" sz="3200" b="1" dirty="0">
                <a:solidFill>
                  <a:srgbClr val="142735"/>
                </a:solidFill>
                <a:latin typeface="Microsoft YaHei" pitchFamily="34" charset="0"/>
                <a:ea typeface="Microsoft YaHei" pitchFamily="34" charset="-122"/>
                <a:cs typeface="Microsoft YaHei" pitchFamily="34" charset="-120"/>
              </a:rPr>
              <a:t>把八讲连起来：规定、落实与保障</a:t>
            </a:r>
            <a:endParaRPr lang="en-US" sz="3200" dirty="0"/>
          </a:p>
        </p:txBody>
      </p:sp>
      <p:sp>
        <p:nvSpPr>
          <p:cNvPr id="3" name="Text 1"/>
          <p:cNvSpPr/>
          <p:nvPr/>
        </p:nvSpPr>
        <p:spPr>
          <a:xfrm>
            <a:off x="731520" y="1170432"/>
            <a:ext cx="10698480" cy="384048"/>
          </a:xfrm>
          <a:prstGeom prst="rect">
            <a:avLst/>
          </a:prstGeom>
          <a:noFill/>
          <a:ln/>
        </p:spPr>
        <p:txBody>
          <a:bodyPr wrap="square" lIns="0" tIns="0" rIns="0" bIns="0" rtlCol="0" anchor="t"/>
          <a:lstStyle/>
          <a:p>
            <a:pPr indent="0" marL="0">
              <a:lnSpc>
                <a:spcPct val="108000"/>
              </a:lnSpc>
              <a:buNone/>
            </a:pPr>
            <a:r>
              <a:rPr lang="en-US" sz="1600" dirty="0">
                <a:solidFill>
                  <a:srgbClr val="64717A"/>
                </a:solidFill>
                <a:latin typeface="Microsoft YaHei" pitchFamily="34" charset="0"/>
                <a:ea typeface="Microsoft YaHei" pitchFamily="34" charset="-122"/>
                <a:cs typeface="Microsoft YaHei" pitchFamily="34" charset="-120"/>
              </a:rPr>
              <a:t>前七讲认识国家与权利，第八讲观察它们怎样落实。</a:t>
            </a:r>
            <a:endParaRPr lang="en-US" sz="1600" dirty="0"/>
          </a:p>
        </p:txBody>
      </p:sp>
      <p:sp>
        <p:nvSpPr>
          <p:cNvPr id="4" name="Shape 2"/>
          <p:cNvSpPr/>
          <p:nvPr/>
        </p:nvSpPr>
        <p:spPr>
          <a:xfrm>
            <a:off x="768096" y="1773936"/>
            <a:ext cx="10652760" cy="914400"/>
          </a:xfrm>
          <a:prstGeom prst="rect">
            <a:avLst/>
          </a:prstGeom>
          <a:solidFill>
            <a:srgbClr val="142735"/>
          </a:solidFill>
          <a:ln w="10160">
            <a:solidFill>
              <a:srgbClr val="142735">
                <a:alpha val="0"/>
              </a:srgbClr>
            </a:solidFill>
            <a:prstDash val="solid"/>
          </a:ln>
        </p:spPr>
      </p:sp>
      <p:sp>
        <p:nvSpPr>
          <p:cNvPr id="5" name="Text 3"/>
          <p:cNvSpPr/>
          <p:nvPr/>
        </p:nvSpPr>
        <p:spPr>
          <a:xfrm>
            <a:off x="1005840" y="1984248"/>
            <a:ext cx="548640" cy="365760"/>
          </a:xfrm>
          <a:prstGeom prst="rect">
            <a:avLst/>
          </a:prstGeom>
          <a:noFill/>
          <a:ln/>
        </p:spPr>
        <p:txBody>
          <a:bodyPr wrap="square" lIns="0" tIns="0" rIns="0" bIns="0" rtlCol="0" anchor="t"/>
          <a:lstStyle/>
          <a:p>
            <a:pPr indent="0" marL="0">
              <a:lnSpc>
                <a:spcPct val="108000"/>
              </a:lnSpc>
              <a:buNone/>
            </a:pPr>
            <a:r>
              <a:rPr lang="en-US" sz="2200" b="1" dirty="0">
                <a:solidFill>
                  <a:srgbClr val="EBC8C3"/>
                </a:solidFill>
                <a:latin typeface="Microsoft YaHei" pitchFamily="34" charset="0"/>
                <a:ea typeface="Microsoft YaHei" pitchFamily="34" charset="-122"/>
                <a:cs typeface="Microsoft YaHei" pitchFamily="34" charset="-120"/>
              </a:rPr>
              <a:t>01</a:t>
            </a:r>
            <a:endParaRPr lang="en-US" sz="2200" dirty="0"/>
          </a:p>
        </p:txBody>
      </p:sp>
      <p:sp>
        <p:nvSpPr>
          <p:cNvPr id="6" name="Text 4"/>
          <p:cNvSpPr/>
          <p:nvPr/>
        </p:nvSpPr>
        <p:spPr>
          <a:xfrm>
            <a:off x="1773936" y="1911096"/>
            <a:ext cx="9299448" cy="667512"/>
          </a:xfrm>
          <a:prstGeom prst="rect">
            <a:avLst/>
          </a:prstGeom>
          <a:noFill/>
          <a:ln/>
        </p:spPr>
        <p:txBody>
          <a:bodyPr wrap="square" lIns="0" tIns="0" rIns="0" bIns="0" rtlCol="0" anchor="t"/>
          <a:lstStyle/>
          <a:p>
            <a:pPr indent="0" marL="0">
              <a:lnSpc>
                <a:spcPct val="108000"/>
              </a:lnSpc>
              <a:buNone/>
            </a:pPr>
            <a:r>
              <a:rPr lang="en-US" sz="2400" b="1" dirty="0">
                <a:solidFill>
                  <a:srgbClr val="FFFFFF"/>
                </a:solidFill>
                <a:latin typeface="Microsoft YaHei" pitchFamily="34" charset="0"/>
                <a:ea typeface="Microsoft YaHei" pitchFamily="34" charset="-122"/>
                <a:cs typeface="Microsoft YaHei" pitchFamily="34" charset="-120"/>
              </a:rPr>
              <a:t>依宪立法、机关履职等活动落实宪法要求。</a:t>
            </a:r>
            <a:endParaRPr lang="en-US" sz="2400" dirty="0"/>
          </a:p>
        </p:txBody>
      </p:sp>
      <p:sp>
        <p:nvSpPr>
          <p:cNvPr id="7" name="Shape 5"/>
          <p:cNvSpPr/>
          <p:nvPr/>
        </p:nvSpPr>
        <p:spPr>
          <a:xfrm>
            <a:off x="768096" y="2862072"/>
            <a:ext cx="10652760" cy="914400"/>
          </a:xfrm>
          <a:prstGeom prst="rect">
            <a:avLst/>
          </a:prstGeom>
          <a:solidFill>
            <a:srgbClr val="FFFFFF"/>
          </a:solidFill>
          <a:ln w="10160">
            <a:solidFill>
              <a:srgbClr val="D9D9D3"/>
            </a:solidFill>
            <a:prstDash val="solid"/>
          </a:ln>
        </p:spPr>
      </p:sp>
      <p:sp>
        <p:nvSpPr>
          <p:cNvPr id="8" name="Text 6"/>
          <p:cNvSpPr/>
          <p:nvPr/>
        </p:nvSpPr>
        <p:spPr>
          <a:xfrm>
            <a:off x="1005840" y="3072384"/>
            <a:ext cx="548640" cy="365760"/>
          </a:xfrm>
          <a:prstGeom prst="rect">
            <a:avLst/>
          </a:prstGeom>
          <a:noFill/>
          <a:ln/>
        </p:spPr>
        <p:txBody>
          <a:bodyPr wrap="square" lIns="0" tIns="0" rIns="0" bIns="0" rtlCol="0" anchor="t"/>
          <a:lstStyle/>
          <a:p>
            <a:pPr indent="0" marL="0">
              <a:lnSpc>
                <a:spcPct val="108000"/>
              </a:lnSpc>
              <a:buNone/>
            </a:pPr>
            <a:r>
              <a:rPr lang="en-US" sz="2200" b="1" dirty="0">
                <a:solidFill>
                  <a:srgbClr val="B13D38"/>
                </a:solidFill>
                <a:latin typeface="Microsoft YaHei" pitchFamily="34" charset="0"/>
                <a:ea typeface="Microsoft YaHei" pitchFamily="34" charset="-122"/>
                <a:cs typeface="Microsoft YaHei" pitchFamily="34" charset="-120"/>
              </a:rPr>
              <a:t>02</a:t>
            </a:r>
            <a:endParaRPr lang="en-US" sz="2200" dirty="0"/>
          </a:p>
        </p:txBody>
      </p:sp>
      <p:sp>
        <p:nvSpPr>
          <p:cNvPr id="9" name="Text 7"/>
          <p:cNvSpPr/>
          <p:nvPr/>
        </p:nvSpPr>
        <p:spPr>
          <a:xfrm>
            <a:off x="1773936" y="2999232"/>
            <a:ext cx="9299448" cy="667512"/>
          </a:xfrm>
          <a:prstGeom prst="rect">
            <a:avLst/>
          </a:prstGeom>
          <a:noFill/>
          <a:ln/>
        </p:spPr>
        <p:txBody>
          <a:bodyPr wrap="square" lIns="0" tIns="0" rIns="0" bIns="0" rtlCol="0" anchor="t"/>
          <a:lstStyle/>
          <a:p>
            <a:pPr indent="0" marL="0">
              <a:lnSpc>
                <a:spcPct val="108000"/>
              </a:lnSpc>
              <a:buNone/>
            </a:pPr>
            <a:r>
              <a:rPr lang="en-US" sz="2400" b="1" dirty="0">
                <a:solidFill>
                  <a:srgbClr val="142735"/>
                </a:solidFill>
                <a:latin typeface="Microsoft YaHei" pitchFamily="34" charset="0"/>
                <a:ea typeface="Microsoft YaHei" pitchFamily="34" charset="-122"/>
                <a:cs typeface="Microsoft YaHei" pitchFamily="34" charset="-120"/>
              </a:rPr>
              <a:t>本案审查地方性法规中的从业限制规定。</a:t>
            </a:r>
            <a:endParaRPr lang="en-US" sz="2400" dirty="0"/>
          </a:p>
        </p:txBody>
      </p:sp>
      <p:sp>
        <p:nvSpPr>
          <p:cNvPr id="10" name="Shape 8"/>
          <p:cNvSpPr/>
          <p:nvPr/>
        </p:nvSpPr>
        <p:spPr>
          <a:xfrm>
            <a:off x="768096" y="3950208"/>
            <a:ext cx="10652760" cy="914400"/>
          </a:xfrm>
          <a:prstGeom prst="rect">
            <a:avLst/>
          </a:prstGeom>
          <a:solidFill>
            <a:srgbClr val="FFFFFF"/>
          </a:solidFill>
          <a:ln w="10160">
            <a:solidFill>
              <a:srgbClr val="D9D9D3"/>
            </a:solidFill>
            <a:prstDash val="solid"/>
          </a:ln>
        </p:spPr>
      </p:sp>
      <p:sp>
        <p:nvSpPr>
          <p:cNvPr id="11" name="Text 9"/>
          <p:cNvSpPr/>
          <p:nvPr/>
        </p:nvSpPr>
        <p:spPr>
          <a:xfrm>
            <a:off x="1005840" y="4160520"/>
            <a:ext cx="548640" cy="365760"/>
          </a:xfrm>
          <a:prstGeom prst="rect">
            <a:avLst/>
          </a:prstGeom>
          <a:noFill/>
          <a:ln/>
        </p:spPr>
        <p:txBody>
          <a:bodyPr wrap="square" lIns="0" tIns="0" rIns="0" bIns="0" rtlCol="0" anchor="t"/>
          <a:lstStyle/>
          <a:p>
            <a:pPr indent="0" marL="0">
              <a:lnSpc>
                <a:spcPct val="108000"/>
              </a:lnSpc>
              <a:buNone/>
            </a:pPr>
            <a:r>
              <a:rPr lang="en-US" sz="2200" b="1" dirty="0">
                <a:solidFill>
                  <a:srgbClr val="B13D38"/>
                </a:solidFill>
                <a:latin typeface="Microsoft YaHei" pitchFamily="34" charset="0"/>
                <a:ea typeface="Microsoft YaHei" pitchFamily="34" charset="-122"/>
                <a:cs typeface="Microsoft YaHei" pitchFamily="34" charset="-120"/>
              </a:rPr>
              <a:t>03</a:t>
            </a:r>
            <a:endParaRPr lang="en-US" sz="2200" dirty="0"/>
          </a:p>
        </p:txBody>
      </p:sp>
      <p:sp>
        <p:nvSpPr>
          <p:cNvPr id="12" name="Text 10"/>
          <p:cNvSpPr/>
          <p:nvPr/>
        </p:nvSpPr>
        <p:spPr>
          <a:xfrm>
            <a:off x="1773936" y="4087368"/>
            <a:ext cx="9299448" cy="667512"/>
          </a:xfrm>
          <a:prstGeom prst="rect">
            <a:avLst/>
          </a:prstGeom>
          <a:noFill/>
          <a:ln/>
        </p:spPr>
        <p:txBody>
          <a:bodyPr wrap="square" lIns="0" tIns="0" rIns="0" bIns="0" rtlCol="0" anchor="t"/>
          <a:lstStyle/>
          <a:p>
            <a:pPr indent="0" marL="0">
              <a:lnSpc>
                <a:spcPct val="108000"/>
              </a:lnSpc>
              <a:buNone/>
            </a:pPr>
            <a:r>
              <a:rPr lang="en-US" sz="2400" b="1" dirty="0">
                <a:solidFill>
                  <a:srgbClr val="142735"/>
                </a:solidFill>
                <a:latin typeface="Microsoft YaHei" pitchFamily="34" charset="0"/>
                <a:ea typeface="Microsoft YaHei" pitchFamily="34" charset="-122"/>
                <a:cs typeface="Microsoft YaHei" pitchFamily="34" charset="-120"/>
              </a:rPr>
              <a:t>报告证明相关规定已经修改调整。</a:t>
            </a:r>
            <a:endParaRPr lang="en-US" sz="2400" dirty="0"/>
          </a:p>
        </p:txBody>
      </p:sp>
      <p:sp>
        <p:nvSpPr>
          <p:cNvPr id="13" name="Shape 11"/>
          <p:cNvSpPr/>
          <p:nvPr/>
        </p:nvSpPr>
        <p:spPr>
          <a:xfrm>
            <a:off x="768096" y="5358384"/>
            <a:ext cx="10652760" cy="621792"/>
          </a:xfrm>
          <a:prstGeom prst="rect">
            <a:avLst/>
          </a:prstGeom>
          <a:solidFill>
            <a:srgbClr val="EEEAE1"/>
          </a:solidFill>
          <a:ln w="10160">
            <a:solidFill>
              <a:srgbClr val="EEEAE1">
                <a:alpha val="0"/>
              </a:srgbClr>
            </a:solidFill>
            <a:prstDash val="solid"/>
          </a:ln>
        </p:spPr>
      </p:sp>
      <p:sp>
        <p:nvSpPr>
          <p:cNvPr id="14" name="Text 12"/>
          <p:cNvSpPr/>
          <p:nvPr/>
        </p:nvSpPr>
        <p:spPr>
          <a:xfrm>
            <a:off x="987552" y="5477256"/>
            <a:ext cx="10213848" cy="384048"/>
          </a:xfrm>
          <a:prstGeom prst="rect">
            <a:avLst/>
          </a:prstGeom>
          <a:noFill/>
          <a:ln/>
        </p:spPr>
        <p:txBody>
          <a:bodyPr wrap="square" lIns="0" tIns="0" rIns="0" bIns="0" rtlCol="0" anchor="t"/>
          <a:lstStyle/>
          <a:p>
            <a:pP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课后：选一部法律，找到“根据宪法”，说明一项具体制度联系。</a:t>
            </a:r>
            <a:endParaRPr lang="en-US" sz="2200" dirty="0"/>
          </a:p>
        </p:txBody>
      </p:sp>
      <p:sp>
        <p:nvSpPr>
          <p:cNvPr id="15" name="Shape 13"/>
          <p:cNvSpPr/>
          <p:nvPr/>
        </p:nvSpPr>
        <p:spPr>
          <a:xfrm>
            <a:off x="658368" y="6291072"/>
            <a:ext cx="10872216" cy="10973"/>
          </a:xfrm>
          <a:prstGeom prst="rect">
            <a:avLst/>
          </a:prstGeom>
          <a:solidFill>
            <a:srgbClr val="D9D9D3"/>
          </a:solidFill>
          <a:ln w="10160">
            <a:solidFill>
              <a:srgbClr val="D9D9D3">
                <a:alpha val="0"/>
              </a:srgbClr>
            </a:solidFill>
            <a:prstDash val="solid"/>
          </a:ln>
        </p:spPr>
      </p:sp>
      <p:sp>
        <p:nvSpPr>
          <p:cNvPr id="16" name="Text 14"/>
          <p:cNvSpPr/>
          <p:nvPr/>
        </p:nvSpPr>
        <p:spPr>
          <a:xfrm>
            <a:off x="685800" y="6400800"/>
            <a:ext cx="2286000" cy="256032"/>
          </a:xfrm>
          <a:prstGeom prst="rect">
            <a:avLst/>
          </a:prstGeom>
          <a:noFill/>
          <a:ln/>
        </p:spPr>
        <p:txBody>
          <a:bodyPr wrap="square" lIns="0" tIns="0" rIns="0" bIns="0" rtlCol="0" anchor="t"/>
          <a:lstStyle/>
          <a:p>
            <a:pP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宪法学 · 第8讲</a:t>
            </a:r>
            <a:endParaRPr lang="en-US" sz="1100" dirty="0"/>
          </a:p>
        </p:txBody>
      </p:sp>
      <p:sp>
        <p:nvSpPr>
          <p:cNvPr id="17" name="Text 15"/>
          <p:cNvSpPr/>
          <p:nvPr/>
        </p:nvSpPr>
        <p:spPr>
          <a:xfrm>
            <a:off x="3154680" y="6400800"/>
            <a:ext cx="6720840" cy="256032"/>
          </a:xfrm>
          <a:prstGeom prst="rect">
            <a:avLst/>
          </a:prstGeom>
          <a:noFill/>
          <a:ln/>
        </p:spPr>
        <p:txBody>
          <a:bodyPr wrap="square" lIns="0" tIns="0" rIns="0" bIns="0" rtlCol="0" anchor="t"/>
          <a:lstStyle/>
          <a:p>
            <a:pPr algn="ct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全课总结；2021年报告事实与本讲教学分析</a:t>
            </a:r>
            <a:endParaRPr lang="en-US" sz="1100" dirty="0"/>
          </a:p>
        </p:txBody>
      </p:sp>
      <p:sp>
        <p:nvSpPr>
          <p:cNvPr id="18" name="Text 16"/>
          <p:cNvSpPr/>
          <p:nvPr/>
        </p:nvSpPr>
        <p:spPr>
          <a:xfrm>
            <a:off x="10195560" y="6400800"/>
            <a:ext cx="1325880" cy="256032"/>
          </a:xfrm>
          <a:prstGeom prst="rect">
            <a:avLst/>
          </a:prstGeom>
          <a:noFill/>
          <a:ln/>
        </p:spPr>
        <p:txBody>
          <a:bodyPr wrap="square" lIns="0" tIns="0" rIns="0" bIns="0" rtlCol="0" anchor="t"/>
          <a:lstStyle/>
          <a:p>
            <a:pPr algn="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22 / 24</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713232" y="475488"/>
            <a:ext cx="10744200" cy="594360"/>
          </a:xfrm>
          <a:prstGeom prst="rect">
            <a:avLst/>
          </a:prstGeom>
          <a:noFill/>
          <a:ln/>
        </p:spPr>
        <p:txBody>
          <a:bodyPr wrap="square" lIns="0" tIns="0" rIns="0" bIns="0" rtlCol="0" anchor="t"/>
          <a:lstStyle/>
          <a:p>
            <a:pPr indent="0" marL="0">
              <a:lnSpc>
                <a:spcPct val="108000"/>
              </a:lnSpc>
              <a:buNone/>
            </a:pPr>
            <a:r>
              <a:rPr lang="en-US" sz="3200" b="1" dirty="0">
                <a:solidFill>
                  <a:srgbClr val="142735"/>
                </a:solidFill>
                <a:latin typeface="Microsoft YaHei" pitchFamily="34" charset="0"/>
                <a:ea typeface="Microsoft YaHei" pitchFamily="34" charset="-122"/>
                <a:cs typeface="Microsoft YaHei" pitchFamily="34" charset="-120"/>
              </a:rPr>
              <a:t>查读附页：法律与制度依据</a:t>
            </a:r>
            <a:endParaRPr lang="en-US" sz="3200" dirty="0"/>
          </a:p>
        </p:txBody>
      </p:sp>
      <p:sp>
        <p:nvSpPr>
          <p:cNvPr id="3" name="Text 1"/>
          <p:cNvSpPr/>
          <p:nvPr/>
        </p:nvSpPr>
        <p:spPr>
          <a:xfrm>
            <a:off x="731520" y="1170432"/>
            <a:ext cx="10698480" cy="384048"/>
          </a:xfrm>
          <a:prstGeom prst="rect">
            <a:avLst/>
          </a:prstGeom>
          <a:noFill/>
          <a:ln/>
        </p:spPr>
        <p:txBody>
          <a:bodyPr wrap="square" lIns="0" tIns="0" rIns="0" bIns="0" rtlCol="0" anchor="t"/>
          <a:lstStyle/>
          <a:p>
            <a:pPr indent="0" marL="0">
              <a:lnSpc>
                <a:spcPct val="108000"/>
              </a:lnSpc>
              <a:buNone/>
            </a:pPr>
            <a:r>
              <a:rPr lang="en-US" sz="1600" dirty="0">
                <a:solidFill>
                  <a:srgbClr val="64717A"/>
                </a:solidFill>
                <a:latin typeface="Microsoft YaHei" pitchFamily="34" charset="0"/>
                <a:ea typeface="Microsoft YaHei" pitchFamily="34" charset="-122"/>
                <a:cs typeface="Microsoft YaHei" pitchFamily="34" charset="-120"/>
              </a:rPr>
              <a:t>点击来源名称可打开网页；具体位置也保存在教师备注。</a:t>
            </a:r>
            <a:endParaRPr lang="en-US" sz="1600" dirty="0"/>
          </a:p>
        </p:txBody>
      </p:sp>
      <p:sp>
        <p:nvSpPr>
          <p:cNvPr id="4" name="Shape 2"/>
          <p:cNvSpPr/>
          <p:nvPr/>
        </p:nvSpPr>
        <p:spPr>
          <a:xfrm>
            <a:off x="768096" y="1773936"/>
            <a:ext cx="10652760" cy="875538"/>
          </a:xfrm>
          <a:prstGeom prst="rect">
            <a:avLst/>
          </a:prstGeom>
          <a:solidFill>
            <a:srgbClr val="FFFFFF"/>
          </a:solidFill>
          <a:ln w="10160">
            <a:solidFill>
              <a:srgbClr val="D9D9D3"/>
            </a:solidFill>
            <a:prstDash val="solid"/>
          </a:ln>
        </p:spPr>
      </p:sp>
      <p:sp>
        <p:nvSpPr>
          <p:cNvPr id="5" name="Text 3">
            <a:hlinkClick r:id="rId1" tooltip=""/>
          </p:cNvPr>
          <p:cNvSpPr/>
          <p:nvPr/>
        </p:nvSpPr>
        <p:spPr>
          <a:xfrm>
            <a:off x="1033272" y="1901952"/>
            <a:ext cx="10040112" cy="356616"/>
          </a:xfrm>
          <a:prstGeom prst="rect">
            <a:avLst/>
          </a:prstGeom>
          <a:noFill/>
          <a:ln/>
        </p:spPr>
        <p:txBody>
          <a:bodyPr wrap="square" lIns="0" tIns="0" rIns="0" bIns="0" rtlCol="0" anchor="t"/>
          <a:lstStyle/>
          <a:p>
            <a:pPr indent="0" marL="0">
              <a:lnSpc>
                <a:spcPct val="108000"/>
              </a:lnSpc>
              <a:buNone/>
            </a:pPr>
            <a:r>
              <a:rPr lang="en-US" sz="2200" b="1" u="sng" dirty="0">
                <a:solidFill>
                  <a:srgbClr val="142735"/>
                </a:solidFill>
                <a:latin typeface="Microsoft YaHei" pitchFamily="34" charset="0"/>
                <a:ea typeface="Microsoft YaHei" pitchFamily="34" charset="-122"/>
                <a:cs typeface="Microsoft YaHei" pitchFamily="34" charset="-120"/>
                <a:hlinkClick r:id="rId1" invalidUrl="" action="" tgtFrame="" tooltip="" history="1" highlightClick="0" endSnd="0">
                  <a:extLst>
                    <a:ext uri="{A12FA001-AC4F-418D-AE19-62706E023703}">
                      <ahyp:hlinkClr xmlns:ahyp="http://schemas.microsoft.com/office/drawing/2018/hyperlinkcolor" val="tx"/>
                    </a:ext>
                  </a:extLst>
                </a:hlinkClick>
              </a:rPr>
              <a:t>中华人民共和国宪法</a:t>
            </a:r>
            <a:endParaRPr lang="en-US" sz="2200" dirty="0"/>
          </a:p>
        </p:txBody>
      </p:sp>
      <p:sp>
        <p:nvSpPr>
          <p:cNvPr id="6" name="Text 4"/>
          <p:cNvSpPr/>
          <p:nvPr/>
        </p:nvSpPr>
        <p:spPr>
          <a:xfrm>
            <a:off x="1033272" y="2340864"/>
            <a:ext cx="10040112" cy="235458"/>
          </a:xfrm>
          <a:prstGeom prst="rect">
            <a:avLst/>
          </a:prstGeom>
          <a:noFill/>
          <a:ln/>
        </p:spPr>
        <p:txBody>
          <a:bodyPr wrap="square" lIns="0" tIns="0" rIns="0" bIns="0" rtlCol="0" anchor="t"/>
          <a:lstStyle/>
          <a:p>
            <a:pPr indent="0" marL="0">
              <a:lnSpc>
                <a:spcPct val="108000"/>
              </a:lnSpc>
              <a:buNone/>
            </a:pPr>
            <a:r>
              <a:rPr lang="en-US" sz="1800" dirty="0">
                <a:solidFill>
                  <a:srgbClr val="64717A"/>
                </a:solidFill>
                <a:latin typeface="Microsoft YaHei" pitchFamily="34" charset="0"/>
                <a:ea typeface="Microsoft YaHei" pitchFamily="34" charset="-122"/>
                <a:cs typeface="Microsoft YaHei" pitchFamily="34" charset="-120"/>
              </a:rPr>
              <a:t>序言；第5、42、46、62、64、67条</a:t>
            </a:r>
            <a:endParaRPr lang="en-US" sz="1800" dirty="0"/>
          </a:p>
        </p:txBody>
      </p:sp>
      <p:sp>
        <p:nvSpPr>
          <p:cNvPr id="7" name="Shape 5"/>
          <p:cNvSpPr/>
          <p:nvPr/>
        </p:nvSpPr>
        <p:spPr>
          <a:xfrm>
            <a:off x="768096" y="2795778"/>
            <a:ext cx="10652760" cy="875538"/>
          </a:xfrm>
          <a:prstGeom prst="rect">
            <a:avLst/>
          </a:prstGeom>
          <a:solidFill>
            <a:srgbClr val="FFFFFF"/>
          </a:solidFill>
          <a:ln w="10160">
            <a:solidFill>
              <a:srgbClr val="D9D9D3"/>
            </a:solidFill>
            <a:prstDash val="solid"/>
          </a:ln>
        </p:spPr>
      </p:sp>
      <p:sp>
        <p:nvSpPr>
          <p:cNvPr id="8" name="Text 6">
            <a:hlinkClick r:id="rId2" tooltip=""/>
          </p:cNvPr>
          <p:cNvSpPr/>
          <p:nvPr/>
        </p:nvSpPr>
        <p:spPr>
          <a:xfrm>
            <a:off x="1033272" y="2923794"/>
            <a:ext cx="10040112" cy="356616"/>
          </a:xfrm>
          <a:prstGeom prst="rect">
            <a:avLst/>
          </a:prstGeom>
          <a:noFill/>
          <a:ln/>
        </p:spPr>
        <p:txBody>
          <a:bodyPr wrap="square" lIns="0" tIns="0" rIns="0" bIns="0" rtlCol="0" anchor="t"/>
          <a:lstStyle/>
          <a:p>
            <a:pPr indent="0" marL="0">
              <a:lnSpc>
                <a:spcPct val="108000"/>
              </a:lnSpc>
              <a:buNone/>
            </a:pPr>
            <a:r>
              <a:rPr lang="en-US" sz="2200" b="1" u="sng" dirty="0">
                <a:solidFill>
                  <a:srgbClr val="142735"/>
                </a:solidFill>
                <a:latin typeface="Microsoft YaHei" pitchFamily="34" charset="0"/>
                <a:ea typeface="Microsoft YaHei" pitchFamily="34" charset="-122"/>
                <a:cs typeface="Microsoft YaHei" pitchFamily="34" charset="-120"/>
                <a:hlinkClick r:id="rId2" invalidUrl="" action="" tgtFrame="" tooltip="" history="1" highlightClick="0" endSnd="0">
                  <a:extLst>
                    <a:ext uri="{A12FA001-AC4F-418D-AE19-62706E023703}">
                      <ahyp:hlinkClr xmlns:ahyp="http://schemas.microsoft.com/office/drawing/2018/hyperlinkcolor" val="tx"/>
                    </a:ext>
                  </a:extLst>
                </a:hlinkClick>
              </a:rPr>
              <a:t>中华人民共和国教育法</a:t>
            </a:r>
            <a:endParaRPr lang="en-US" sz="2200" dirty="0"/>
          </a:p>
        </p:txBody>
      </p:sp>
      <p:sp>
        <p:nvSpPr>
          <p:cNvPr id="9" name="Text 7"/>
          <p:cNvSpPr/>
          <p:nvPr/>
        </p:nvSpPr>
        <p:spPr>
          <a:xfrm>
            <a:off x="1033272" y="3362706"/>
            <a:ext cx="10040112" cy="235458"/>
          </a:xfrm>
          <a:prstGeom prst="rect">
            <a:avLst/>
          </a:prstGeom>
          <a:noFill/>
          <a:ln/>
        </p:spPr>
        <p:txBody>
          <a:bodyPr wrap="square" lIns="0" tIns="0" rIns="0" bIns="0" rtlCol="0" anchor="t"/>
          <a:lstStyle/>
          <a:p>
            <a:pPr indent="0" marL="0">
              <a:lnSpc>
                <a:spcPct val="108000"/>
              </a:lnSpc>
              <a:buNone/>
            </a:pPr>
            <a:r>
              <a:rPr lang="en-US" sz="1800" dirty="0">
                <a:solidFill>
                  <a:srgbClr val="64717A"/>
                </a:solidFill>
                <a:latin typeface="Microsoft YaHei" pitchFamily="34" charset="0"/>
                <a:ea typeface="Microsoft YaHei" pitchFamily="34" charset="-122"/>
                <a:cs typeface="Microsoft YaHei" pitchFamily="34" charset="-120"/>
              </a:rPr>
              <a:t>第1、9条；全国人大组织法第39条另见本页备注</a:t>
            </a:r>
            <a:endParaRPr lang="en-US" sz="1800" dirty="0"/>
          </a:p>
        </p:txBody>
      </p:sp>
      <p:sp>
        <p:nvSpPr>
          <p:cNvPr id="10" name="Shape 8"/>
          <p:cNvSpPr/>
          <p:nvPr/>
        </p:nvSpPr>
        <p:spPr>
          <a:xfrm>
            <a:off x="768096" y="3817620"/>
            <a:ext cx="10652760" cy="875538"/>
          </a:xfrm>
          <a:prstGeom prst="rect">
            <a:avLst/>
          </a:prstGeom>
          <a:solidFill>
            <a:srgbClr val="FFFFFF"/>
          </a:solidFill>
          <a:ln w="10160">
            <a:solidFill>
              <a:srgbClr val="D9D9D3"/>
            </a:solidFill>
            <a:prstDash val="solid"/>
          </a:ln>
        </p:spPr>
      </p:sp>
      <p:sp>
        <p:nvSpPr>
          <p:cNvPr id="11" name="Text 9">
            <a:hlinkClick r:id="rId3" tooltip=""/>
          </p:cNvPr>
          <p:cNvSpPr/>
          <p:nvPr/>
        </p:nvSpPr>
        <p:spPr>
          <a:xfrm>
            <a:off x="1033272" y="3945636"/>
            <a:ext cx="10040112" cy="356616"/>
          </a:xfrm>
          <a:prstGeom prst="rect">
            <a:avLst/>
          </a:prstGeom>
          <a:noFill/>
          <a:ln/>
        </p:spPr>
        <p:txBody>
          <a:bodyPr wrap="square" lIns="0" tIns="0" rIns="0" bIns="0" rtlCol="0" anchor="t"/>
          <a:lstStyle/>
          <a:p>
            <a:pPr indent="0" marL="0">
              <a:lnSpc>
                <a:spcPct val="108000"/>
              </a:lnSpc>
              <a:buNone/>
            </a:pPr>
            <a:r>
              <a:rPr lang="en-US" sz="2200" b="1" u="sng" dirty="0">
                <a:solidFill>
                  <a:srgbClr val="142735"/>
                </a:solidFill>
                <a:latin typeface="Microsoft YaHei" pitchFamily="34" charset="0"/>
                <a:ea typeface="Microsoft YaHei" pitchFamily="34" charset="-122"/>
                <a:cs typeface="Microsoft YaHei" pitchFamily="34" charset="-120"/>
                <a:hlinkClick r:id="rId3" invalidUrl="" action="" tgtFrame="" tooltip="" history="1" highlightClick="0" endSnd="0">
                  <a:extLst>
                    <a:ext uri="{A12FA001-AC4F-418D-AE19-62706E023703}">
                      <ahyp:hlinkClr xmlns:ahyp="http://schemas.microsoft.com/office/drawing/2018/hyperlinkcolor" val="tx"/>
                    </a:ext>
                  </a:extLst>
                </a:hlinkClick>
              </a:rPr>
              <a:t>中华人民共和国立法法</a:t>
            </a:r>
            <a:endParaRPr lang="en-US" sz="2200" dirty="0"/>
          </a:p>
        </p:txBody>
      </p:sp>
      <p:sp>
        <p:nvSpPr>
          <p:cNvPr id="12" name="Text 10"/>
          <p:cNvSpPr/>
          <p:nvPr/>
        </p:nvSpPr>
        <p:spPr>
          <a:xfrm>
            <a:off x="1033272" y="4384548"/>
            <a:ext cx="10040112" cy="235458"/>
          </a:xfrm>
          <a:prstGeom prst="rect">
            <a:avLst/>
          </a:prstGeom>
          <a:noFill/>
          <a:ln/>
        </p:spPr>
        <p:txBody>
          <a:bodyPr wrap="square" lIns="0" tIns="0" rIns="0" bIns="0" rtlCol="0" anchor="t"/>
          <a:lstStyle/>
          <a:p>
            <a:pPr indent="0" marL="0">
              <a:lnSpc>
                <a:spcPct val="108000"/>
              </a:lnSpc>
              <a:buNone/>
            </a:pPr>
            <a:r>
              <a:rPr lang="en-US" sz="1800" dirty="0">
                <a:solidFill>
                  <a:srgbClr val="64717A"/>
                </a:solidFill>
                <a:latin typeface="Microsoft YaHei" pitchFamily="34" charset="0"/>
                <a:ea typeface="Microsoft YaHei" pitchFamily="34" charset="-122"/>
                <a:cs typeface="Microsoft YaHei" pitchFamily="34" charset="-120"/>
              </a:rPr>
              <a:t>第5、23、36、58、110—115条</a:t>
            </a:r>
            <a:endParaRPr lang="en-US" sz="1800" dirty="0"/>
          </a:p>
        </p:txBody>
      </p:sp>
      <p:sp>
        <p:nvSpPr>
          <p:cNvPr id="13" name="Shape 11"/>
          <p:cNvSpPr/>
          <p:nvPr/>
        </p:nvSpPr>
        <p:spPr>
          <a:xfrm>
            <a:off x="768096" y="4839462"/>
            <a:ext cx="10652760" cy="875538"/>
          </a:xfrm>
          <a:prstGeom prst="rect">
            <a:avLst/>
          </a:prstGeom>
          <a:solidFill>
            <a:srgbClr val="FFFFFF"/>
          </a:solidFill>
          <a:ln w="10160">
            <a:solidFill>
              <a:srgbClr val="D9D9D3"/>
            </a:solidFill>
            <a:prstDash val="solid"/>
          </a:ln>
        </p:spPr>
      </p:sp>
      <p:sp>
        <p:nvSpPr>
          <p:cNvPr id="14" name="Text 12">
            <a:hlinkClick r:id="rId4" tooltip=""/>
          </p:cNvPr>
          <p:cNvSpPr/>
          <p:nvPr/>
        </p:nvSpPr>
        <p:spPr>
          <a:xfrm>
            <a:off x="1033272" y="4967478"/>
            <a:ext cx="10040112" cy="356616"/>
          </a:xfrm>
          <a:prstGeom prst="rect">
            <a:avLst/>
          </a:prstGeom>
          <a:noFill/>
          <a:ln/>
        </p:spPr>
        <p:txBody>
          <a:bodyPr wrap="square" lIns="0" tIns="0" rIns="0" bIns="0" rtlCol="0" anchor="t"/>
          <a:lstStyle/>
          <a:p>
            <a:pPr indent="0" marL="0">
              <a:lnSpc>
                <a:spcPct val="108000"/>
              </a:lnSpc>
              <a:buNone/>
            </a:pPr>
            <a:r>
              <a:rPr lang="en-US" sz="2200" b="1" u="sng" dirty="0">
                <a:solidFill>
                  <a:srgbClr val="142735"/>
                </a:solidFill>
                <a:latin typeface="Microsoft YaHei" pitchFamily="34" charset="0"/>
                <a:ea typeface="Microsoft YaHei" pitchFamily="34" charset="-122"/>
                <a:cs typeface="Microsoft YaHei" pitchFamily="34" charset="-120"/>
                <a:hlinkClick r:id="rId4" invalidUrl="" action="" tgtFrame="" tooltip="" history="1" highlightClick="0" endSnd="0">
                  <a:extLst>
                    <a:ext uri="{A12FA001-AC4F-418D-AE19-62706E023703}">
                      <ahyp:hlinkClr xmlns:ahyp="http://schemas.microsoft.com/office/drawing/2018/hyperlinkcolor" val="tx"/>
                    </a:ext>
                  </a:extLst>
                </a:hlinkClick>
              </a:rPr>
              <a:t>关于完善和加强备案审查制度的决定</a:t>
            </a:r>
            <a:endParaRPr lang="en-US" sz="2200" dirty="0"/>
          </a:p>
        </p:txBody>
      </p:sp>
      <p:sp>
        <p:nvSpPr>
          <p:cNvPr id="15" name="Text 13"/>
          <p:cNvSpPr/>
          <p:nvPr/>
        </p:nvSpPr>
        <p:spPr>
          <a:xfrm>
            <a:off x="1033272" y="5406390"/>
            <a:ext cx="10040112" cy="235458"/>
          </a:xfrm>
          <a:prstGeom prst="rect">
            <a:avLst/>
          </a:prstGeom>
          <a:noFill/>
          <a:ln/>
        </p:spPr>
        <p:txBody>
          <a:bodyPr wrap="square" lIns="0" tIns="0" rIns="0" bIns="0" rtlCol="0" anchor="t"/>
          <a:lstStyle/>
          <a:p>
            <a:pPr indent="0" marL="0">
              <a:lnSpc>
                <a:spcPct val="108000"/>
              </a:lnSpc>
              <a:buNone/>
            </a:pPr>
            <a:r>
              <a:rPr lang="en-US" sz="1800" dirty="0">
                <a:solidFill>
                  <a:srgbClr val="64717A"/>
                </a:solidFill>
                <a:latin typeface="Microsoft YaHei" pitchFamily="34" charset="0"/>
                <a:ea typeface="Microsoft YaHei" pitchFamily="34" charset="-122"/>
                <a:cs typeface="Microsoft YaHei" pitchFamily="34" charset="-120"/>
              </a:rPr>
              <a:t>2023年12月29日通过；第5、6、9、11、13—15项</a:t>
            </a:r>
            <a:endParaRPr lang="en-US" sz="1800" dirty="0"/>
          </a:p>
        </p:txBody>
      </p:sp>
      <p:sp>
        <p:nvSpPr>
          <p:cNvPr id="16" name="Shape 14"/>
          <p:cNvSpPr/>
          <p:nvPr/>
        </p:nvSpPr>
        <p:spPr>
          <a:xfrm>
            <a:off x="658368" y="6291072"/>
            <a:ext cx="10872216" cy="10973"/>
          </a:xfrm>
          <a:prstGeom prst="rect">
            <a:avLst/>
          </a:prstGeom>
          <a:solidFill>
            <a:srgbClr val="D9D9D3"/>
          </a:solidFill>
          <a:ln w="10160">
            <a:solidFill>
              <a:srgbClr val="D9D9D3">
                <a:alpha val="0"/>
              </a:srgbClr>
            </a:solidFill>
            <a:prstDash val="solid"/>
          </a:ln>
        </p:spPr>
      </p:sp>
      <p:sp>
        <p:nvSpPr>
          <p:cNvPr id="17" name="Text 15"/>
          <p:cNvSpPr/>
          <p:nvPr/>
        </p:nvSpPr>
        <p:spPr>
          <a:xfrm>
            <a:off x="685800" y="6400800"/>
            <a:ext cx="2286000" cy="256032"/>
          </a:xfrm>
          <a:prstGeom prst="rect">
            <a:avLst/>
          </a:prstGeom>
          <a:noFill/>
          <a:ln/>
        </p:spPr>
        <p:txBody>
          <a:bodyPr wrap="square" lIns="0" tIns="0" rIns="0" bIns="0" rtlCol="0" anchor="t"/>
          <a:lstStyle/>
          <a:p>
            <a:pP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宪法学 · 第8讲</a:t>
            </a:r>
            <a:endParaRPr lang="en-US" sz="1100" dirty="0"/>
          </a:p>
        </p:txBody>
      </p:sp>
      <p:sp>
        <p:nvSpPr>
          <p:cNvPr id="18" name="Text 16"/>
          <p:cNvSpPr/>
          <p:nvPr/>
        </p:nvSpPr>
        <p:spPr>
          <a:xfrm>
            <a:off x="3154680" y="6400800"/>
            <a:ext cx="6720840" cy="256032"/>
          </a:xfrm>
          <a:prstGeom prst="rect">
            <a:avLst/>
          </a:prstGeom>
          <a:noFill/>
          <a:ln/>
        </p:spPr>
        <p:txBody>
          <a:bodyPr wrap="square" lIns="0" tIns="0" rIns="0" bIns="0" rtlCol="0" anchor="t"/>
          <a:lstStyle/>
          <a:p>
            <a:pPr algn="ct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查读附页；法规版本和实际阅读范围详见研究核对记录</a:t>
            </a:r>
            <a:endParaRPr lang="en-US" sz="1100" dirty="0"/>
          </a:p>
        </p:txBody>
      </p:sp>
      <p:sp>
        <p:nvSpPr>
          <p:cNvPr id="19" name="Text 17"/>
          <p:cNvSpPr/>
          <p:nvPr/>
        </p:nvSpPr>
        <p:spPr>
          <a:xfrm>
            <a:off x="10195560" y="6400800"/>
            <a:ext cx="1325880" cy="256032"/>
          </a:xfrm>
          <a:prstGeom prst="rect">
            <a:avLst/>
          </a:prstGeom>
          <a:noFill/>
          <a:ln/>
        </p:spPr>
        <p:txBody>
          <a:bodyPr wrap="square" lIns="0" tIns="0" rIns="0" bIns="0" rtlCol="0" anchor="t"/>
          <a:lstStyle/>
          <a:p>
            <a:pPr algn="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23 / 24</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713232" y="475488"/>
            <a:ext cx="10744200" cy="594360"/>
          </a:xfrm>
          <a:prstGeom prst="rect">
            <a:avLst/>
          </a:prstGeom>
          <a:noFill/>
          <a:ln/>
        </p:spPr>
        <p:txBody>
          <a:bodyPr wrap="square" lIns="0" tIns="0" rIns="0" bIns="0" rtlCol="0" anchor="t"/>
          <a:lstStyle/>
          <a:p>
            <a:pPr indent="0" marL="0">
              <a:lnSpc>
                <a:spcPct val="108000"/>
              </a:lnSpc>
              <a:buNone/>
            </a:pPr>
            <a:r>
              <a:rPr lang="en-US" sz="3200" b="1" dirty="0">
                <a:solidFill>
                  <a:srgbClr val="142735"/>
                </a:solidFill>
                <a:latin typeface="Microsoft YaHei" pitchFamily="34" charset="0"/>
                <a:ea typeface="Microsoft YaHei" pitchFamily="34" charset="-122"/>
                <a:cs typeface="Microsoft YaHei" pitchFamily="34" charset="-120"/>
              </a:rPr>
              <a:t>查读附页：主案例与配套材料</a:t>
            </a:r>
            <a:endParaRPr lang="en-US" sz="3200" dirty="0"/>
          </a:p>
        </p:txBody>
      </p:sp>
      <p:sp>
        <p:nvSpPr>
          <p:cNvPr id="3" name="Text 1"/>
          <p:cNvSpPr/>
          <p:nvPr/>
        </p:nvSpPr>
        <p:spPr>
          <a:xfrm>
            <a:off x="731520" y="1170432"/>
            <a:ext cx="10698480" cy="384048"/>
          </a:xfrm>
          <a:prstGeom prst="rect">
            <a:avLst/>
          </a:prstGeom>
          <a:noFill/>
          <a:ln/>
        </p:spPr>
        <p:txBody>
          <a:bodyPr wrap="square" lIns="0" tIns="0" rIns="0" bIns="0" rtlCol="0" anchor="t"/>
          <a:lstStyle/>
          <a:p>
            <a:pPr indent="0" marL="0">
              <a:lnSpc>
                <a:spcPct val="108000"/>
              </a:lnSpc>
              <a:buNone/>
            </a:pPr>
            <a:r>
              <a:rPr lang="en-US" sz="1600" dirty="0">
                <a:solidFill>
                  <a:srgbClr val="64717A"/>
                </a:solidFill>
                <a:latin typeface="Microsoft YaHei" pitchFamily="34" charset="0"/>
                <a:ea typeface="Microsoft YaHei" pitchFamily="34" charset="-122"/>
                <a:cs typeface="Microsoft YaHei" pitchFamily="34" charset="-120"/>
              </a:rPr>
              <a:t>报告事实、课堂分析和假设练习各有明确出处。</a:t>
            </a:r>
            <a:endParaRPr lang="en-US" sz="1600" dirty="0"/>
          </a:p>
        </p:txBody>
      </p:sp>
      <p:sp>
        <p:nvSpPr>
          <p:cNvPr id="4" name="Shape 2"/>
          <p:cNvSpPr/>
          <p:nvPr/>
        </p:nvSpPr>
        <p:spPr>
          <a:xfrm>
            <a:off x="768096" y="1773936"/>
            <a:ext cx="10652760" cy="1216152"/>
          </a:xfrm>
          <a:prstGeom prst="rect">
            <a:avLst/>
          </a:prstGeom>
          <a:solidFill>
            <a:srgbClr val="FFFFFF"/>
          </a:solidFill>
          <a:ln w="10160">
            <a:solidFill>
              <a:srgbClr val="D9D9D3"/>
            </a:solidFill>
            <a:prstDash val="solid"/>
          </a:ln>
        </p:spPr>
      </p:sp>
      <p:sp>
        <p:nvSpPr>
          <p:cNvPr id="5" name="Text 3">
            <a:hlinkClick r:id="rId1" tooltip=""/>
          </p:cNvPr>
          <p:cNvSpPr/>
          <p:nvPr/>
        </p:nvSpPr>
        <p:spPr>
          <a:xfrm>
            <a:off x="1033272" y="1901952"/>
            <a:ext cx="10040112" cy="356616"/>
          </a:xfrm>
          <a:prstGeom prst="rect">
            <a:avLst/>
          </a:prstGeom>
          <a:noFill/>
          <a:ln/>
        </p:spPr>
        <p:txBody>
          <a:bodyPr wrap="square" lIns="0" tIns="0" rIns="0" bIns="0" rtlCol="0" anchor="t"/>
          <a:lstStyle/>
          <a:p>
            <a:pPr indent="0" marL="0">
              <a:lnSpc>
                <a:spcPct val="108000"/>
              </a:lnSpc>
              <a:buNone/>
            </a:pPr>
            <a:r>
              <a:rPr lang="en-US" sz="2200" b="1" u="sng" dirty="0">
                <a:solidFill>
                  <a:srgbClr val="142735"/>
                </a:solidFill>
                <a:latin typeface="Microsoft YaHei" pitchFamily="34" charset="0"/>
                <a:ea typeface="Microsoft YaHei" pitchFamily="34" charset="-122"/>
                <a:cs typeface="Microsoft YaHei" pitchFamily="34" charset="-120"/>
                <a:hlinkClick r:id="rId1" invalidUrl="" action="" tgtFrame="" tooltip="" history="1" highlightClick="0" endSnd="0">
                  <a:extLst>
                    <a:ext uri="{A12FA001-AC4F-418D-AE19-62706E023703}">
                      <ahyp:hlinkClr xmlns:ahyp="http://schemas.microsoft.com/office/drawing/2018/hyperlinkcolor" val="tx"/>
                    </a:ext>
                  </a:extLst>
                </a:hlinkClick>
              </a:rPr>
              <a:t>2021年备案审查报告：公报扫描镜像</a:t>
            </a:r>
            <a:endParaRPr lang="en-US" sz="2200" dirty="0"/>
          </a:p>
        </p:txBody>
      </p:sp>
      <p:sp>
        <p:nvSpPr>
          <p:cNvPr id="6" name="Text 4"/>
          <p:cNvSpPr/>
          <p:nvPr/>
        </p:nvSpPr>
        <p:spPr>
          <a:xfrm>
            <a:off x="1033272" y="2340864"/>
            <a:ext cx="10040112" cy="576072"/>
          </a:xfrm>
          <a:prstGeom prst="rect">
            <a:avLst/>
          </a:prstGeom>
          <a:noFill/>
          <a:ln/>
        </p:spPr>
        <p:txBody>
          <a:bodyPr wrap="square" lIns="0" tIns="0" rIns="0" bIns="0" rtlCol="0" anchor="t"/>
          <a:lstStyle/>
          <a:p>
            <a:pPr indent="0" marL="0">
              <a:lnSpc>
                <a:spcPct val="108000"/>
              </a:lnSpc>
              <a:buNone/>
            </a:pPr>
            <a:r>
              <a:rPr lang="en-US" sz="1800" dirty="0">
                <a:solidFill>
                  <a:srgbClr val="64717A"/>
                </a:solidFill>
                <a:latin typeface="Microsoft YaHei" pitchFamily="34" charset="0"/>
                <a:ea typeface="Microsoft YaHei" pitchFamily="34" charset="-122"/>
                <a:cs typeface="Microsoft YaHei" pitchFamily="34" charset="-120"/>
              </a:rPr>
              <a:t>《全国人大常委会公报》2022年第1号，第244—249页；主案第246页</a:t>
            </a:r>
            <a:endParaRPr lang="en-US" sz="1800" dirty="0"/>
          </a:p>
        </p:txBody>
      </p:sp>
      <p:sp>
        <p:nvSpPr>
          <p:cNvPr id="7" name="Shape 5"/>
          <p:cNvSpPr/>
          <p:nvPr/>
        </p:nvSpPr>
        <p:spPr>
          <a:xfrm>
            <a:off x="768096" y="3136392"/>
            <a:ext cx="10652760" cy="1216152"/>
          </a:xfrm>
          <a:prstGeom prst="rect">
            <a:avLst/>
          </a:prstGeom>
          <a:solidFill>
            <a:srgbClr val="FFFFFF"/>
          </a:solidFill>
          <a:ln w="10160">
            <a:solidFill>
              <a:srgbClr val="D9D9D3"/>
            </a:solidFill>
            <a:prstDash val="solid"/>
          </a:ln>
        </p:spPr>
      </p:sp>
      <p:sp>
        <p:nvSpPr>
          <p:cNvPr id="8" name="Text 6">
            <a:hlinkClick r:id="rId2" tooltip=""/>
          </p:cNvPr>
          <p:cNvSpPr/>
          <p:nvPr/>
        </p:nvSpPr>
        <p:spPr>
          <a:xfrm>
            <a:off x="1033272" y="3264408"/>
            <a:ext cx="10040112" cy="356616"/>
          </a:xfrm>
          <a:prstGeom prst="rect">
            <a:avLst/>
          </a:prstGeom>
          <a:noFill/>
          <a:ln/>
        </p:spPr>
        <p:txBody>
          <a:bodyPr wrap="square" lIns="0" tIns="0" rIns="0" bIns="0" rtlCol="0" anchor="t"/>
          <a:lstStyle/>
          <a:p>
            <a:pPr indent="0" marL="0">
              <a:lnSpc>
                <a:spcPct val="108000"/>
              </a:lnSpc>
              <a:buNone/>
            </a:pPr>
            <a:r>
              <a:rPr lang="en-US" sz="2200" b="1" u="sng" dirty="0">
                <a:solidFill>
                  <a:srgbClr val="142735"/>
                </a:solidFill>
                <a:latin typeface="Microsoft YaHei" pitchFamily="34" charset="0"/>
                <a:ea typeface="Microsoft YaHei" pitchFamily="34" charset="-122"/>
                <a:cs typeface="Microsoft YaHei" pitchFamily="34" charset="-120"/>
                <a:hlinkClick r:id="rId2" invalidUrl="" action="" tgtFrame="" tooltip="" history="1" highlightClick="0" endSnd="0">
                  <a:extLst>
                    <a:ext uri="{A12FA001-AC4F-418D-AE19-62706E023703}">
                      <ahyp:hlinkClr xmlns:ahyp="http://schemas.microsoft.com/office/drawing/2018/hyperlinkcolor" val="tx"/>
                    </a:ext>
                  </a:extLst>
                </a:hlinkClick>
              </a:rPr>
              <a:t>中国人大网2025年官方案例回顾</a:t>
            </a:r>
            <a:endParaRPr lang="en-US" sz="2200" dirty="0"/>
          </a:p>
        </p:txBody>
      </p:sp>
      <p:sp>
        <p:nvSpPr>
          <p:cNvPr id="9" name="Text 7"/>
          <p:cNvSpPr/>
          <p:nvPr/>
        </p:nvSpPr>
        <p:spPr>
          <a:xfrm>
            <a:off x="1033272" y="3703320"/>
            <a:ext cx="10040112" cy="576072"/>
          </a:xfrm>
          <a:prstGeom prst="rect">
            <a:avLst/>
          </a:prstGeom>
          <a:noFill/>
          <a:ln/>
        </p:spPr>
        <p:txBody>
          <a:bodyPr wrap="square" lIns="0" tIns="0" rIns="0" bIns="0" rtlCol="0" anchor="t"/>
          <a:lstStyle/>
          <a:p>
            <a:pPr indent="0" marL="0">
              <a:lnSpc>
                <a:spcPct val="108000"/>
              </a:lnSpc>
              <a:buNone/>
            </a:pPr>
            <a:r>
              <a:rPr lang="en-US" sz="1800" dirty="0">
                <a:solidFill>
                  <a:srgbClr val="64717A"/>
                </a:solidFill>
                <a:latin typeface="Microsoft YaHei" pitchFamily="34" charset="0"/>
                <a:ea typeface="Microsoft YaHei" pitchFamily="34" charset="-122"/>
                <a:cs typeface="Microsoft YaHei" pitchFamily="34" charset="-120"/>
              </a:rPr>
              <a:t>第四部分第7项；与原公报段落对读</a:t>
            </a:r>
            <a:endParaRPr lang="en-US" sz="1800" dirty="0"/>
          </a:p>
        </p:txBody>
      </p:sp>
      <p:sp>
        <p:nvSpPr>
          <p:cNvPr id="10" name="Shape 8"/>
          <p:cNvSpPr/>
          <p:nvPr/>
        </p:nvSpPr>
        <p:spPr>
          <a:xfrm>
            <a:off x="768096" y="4498848"/>
            <a:ext cx="10652760" cy="1216152"/>
          </a:xfrm>
          <a:prstGeom prst="rect">
            <a:avLst/>
          </a:prstGeom>
          <a:solidFill>
            <a:srgbClr val="FFFFFF"/>
          </a:solidFill>
          <a:ln w="10160">
            <a:solidFill>
              <a:srgbClr val="D9D9D3"/>
            </a:solidFill>
            <a:prstDash val="solid"/>
          </a:ln>
        </p:spPr>
      </p:sp>
      <p:sp>
        <p:nvSpPr>
          <p:cNvPr id="11" name="Text 9"/>
          <p:cNvSpPr/>
          <p:nvPr/>
        </p:nvSpPr>
        <p:spPr>
          <a:xfrm>
            <a:off x="1033272" y="4626864"/>
            <a:ext cx="10040112" cy="356616"/>
          </a:xfrm>
          <a:prstGeom prst="rect">
            <a:avLst/>
          </a:prstGeom>
          <a:noFill/>
          <a:ln/>
        </p:spPr>
        <p:txBody>
          <a:bodyPr wrap="square" lIns="0" tIns="0" rIns="0" bIns="0" rtlCol="0" anchor="t"/>
          <a:lstStyle/>
          <a:p>
            <a:pPr indent="0" marL="0">
              <a:lnSpc>
                <a:spcPct val="108000"/>
              </a:lnSpc>
              <a:buNone/>
            </a:pPr>
            <a:r>
              <a:rPr lang="en-US" sz="2200" b="1" dirty="0">
                <a:solidFill>
                  <a:srgbClr val="142735"/>
                </a:solidFill>
                <a:latin typeface="Microsoft YaHei" pitchFamily="34" charset="0"/>
                <a:ea typeface="Microsoft YaHei" pitchFamily="34" charset="-122"/>
                <a:cs typeface="Microsoft YaHei" pitchFamily="34" charset="-120"/>
              </a:rPr>
              <a:t>本课配套：条文、案例卡与参考答案</a:t>
            </a:r>
            <a:endParaRPr lang="en-US" sz="2200" dirty="0"/>
          </a:p>
        </p:txBody>
      </p:sp>
      <p:sp>
        <p:nvSpPr>
          <p:cNvPr id="12" name="Text 10"/>
          <p:cNvSpPr/>
          <p:nvPr/>
        </p:nvSpPr>
        <p:spPr>
          <a:xfrm>
            <a:off x="1033272" y="5065776"/>
            <a:ext cx="10040112" cy="576072"/>
          </a:xfrm>
          <a:prstGeom prst="rect">
            <a:avLst/>
          </a:prstGeom>
          <a:noFill/>
          <a:ln/>
        </p:spPr>
        <p:txBody>
          <a:bodyPr wrap="square" lIns="0" tIns="0" rIns="0" bIns="0" rtlCol="0" anchor="t"/>
          <a:lstStyle/>
          <a:p>
            <a:pPr indent="0" marL="0">
              <a:lnSpc>
                <a:spcPct val="108000"/>
              </a:lnSpc>
              <a:buNone/>
            </a:pPr>
            <a:r>
              <a:rPr lang="en-US" sz="1800" dirty="0">
                <a:solidFill>
                  <a:srgbClr val="64717A"/>
                </a:solidFill>
                <a:latin typeface="Microsoft YaHei" pitchFamily="34" charset="0"/>
                <a:ea typeface="Microsoft YaHei" pitchFamily="34" charset="-122"/>
                <a:cs typeface="Microsoft YaHei" pitchFamily="34" charset="-120"/>
              </a:rPr>
              <a:t>学生材料任务一至三；案例甲、乙、丙；教师讲评与参考答案</a:t>
            </a:r>
            <a:endParaRPr lang="en-US" sz="1800" dirty="0"/>
          </a:p>
        </p:txBody>
      </p:sp>
      <p:sp>
        <p:nvSpPr>
          <p:cNvPr id="13" name="Shape 11"/>
          <p:cNvSpPr/>
          <p:nvPr/>
        </p:nvSpPr>
        <p:spPr>
          <a:xfrm>
            <a:off x="658368" y="6291072"/>
            <a:ext cx="10872216" cy="10973"/>
          </a:xfrm>
          <a:prstGeom prst="rect">
            <a:avLst/>
          </a:prstGeom>
          <a:solidFill>
            <a:srgbClr val="D9D9D3"/>
          </a:solidFill>
          <a:ln w="10160">
            <a:solidFill>
              <a:srgbClr val="D9D9D3">
                <a:alpha val="0"/>
              </a:srgbClr>
            </a:solidFill>
            <a:prstDash val="solid"/>
          </a:ln>
        </p:spPr>
      </p:sp>
      <p:sp>
        <p:nvSpPr>
          <p:cNvPr id="14" name="Text 12"/>
          <p:cNvSpPr/>
          <p:nvPr/>
        </p:nvSpPr>
        <p:spPr>
          <a:xfrm>
            <a:off x="685800" y="6400800"/>
            <a:ext cx="2286000" cy="256032"/>
          </a:xfrm>
          <a:prstGeom prst="rect">
            <a:avLst/>
          </a:prstGeom>
          <a:noFill/>
          <a:ln/>
        </p:spPr>
        <p:txBody>
          <a:bodyPr wrap="square" lIns="0" tIns="0" rIns="0" bIns="0" rtlCol="0" anchor="t"/>
          <a:lstStyle/>
          <a:p>
            <a:pP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宪法学 · 第8讲</a:t>
            </a:r>
            <a:endParaRPr lang="en-US" sz="1100" dirty="0"/>
          </a:p>
        </p:txBody>
      </p:sp>
      <p:sp>
        <p:nvSpPr>
          <p:cNvPr id="15" name="Text 13"/>
          <p:cNvSpPr/>
          <p:nvPr/>
        </p:nvSpPr>
        <p:spPr>
          <a:xfrm>
            <a:off x="3154680" y="6400800"/>
            <a:ext cx="6720840" cy="256032"/>
          </a:xfrm>
          <a:prstGeom prst="rect">
            <a:avLst/>
          </a:prstGeom>
          <a:noFill/>
          <a:ln/>
        </p:spPr>
        <p:txBody>
          <a:bodyPr wrap="square" lIns="0" tIns="0" rIns="0" bIns="0" rtlCol="0" anchor="t"/>
          <a:lstStyle/>
          <a:p>
            <a:pPr algn="ct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第八讲研究与教学材料；核对日期：2026年9月27日</a:t>
            </a:r>
            <a:endParaRPr lang="en-US" sz="1100" dirty="0"/>
          </a:p>
        </p:txBody>
      </p:sp>
      <p:sp>
        <p:nvSpPr>
          <p:cNvPr id="16" name="Text 14"/>
          <p:cNvSpPr/>
          <p:nvPr/>
        </p:nvSpPr>
        <p:spPr>
          <a:xfrm>
            <a:off x="10195560" y="6400800"/>
            <a:ext cx="1325880" cy="256032"/>
          </a:xfrm>
          <a:prstGeom prst="rect">
            <a:avLst/>
          </a:prstGeom>
          <a:noFill/>
          <a:ln/>
        </p:spPr>
        <p:txBody>
          <a:bodyPr wrap="square" lIns="0" tIns="0" rIns="0" bIns="0" rtlCol="0" anchor="t"/>
          <a:lstStyle/>
          <a:p>
            <a:pPr algn="r" indent="0" marL="0">
              <a:lnSpc>
                <a:spcPct val="108000"/>
              </a:lnSpc>
              <a:buNone/>
            </a:pPr>
            <a:r>
              <a:rPr lang="en-US" sz="1100" dirty="0">
                <a:solidFill>
                  <a:srgbClr val="46545E"/>
                </a:solidFill>
                <a:latin typeface="Microsoft YaHei" pitchFamily="34" charset="0"/>
                <a:ea typeface="Microsoft YaHei" pitchFamily="34" charset="-122"/>
                <a:cs typeface="Microsoft YaHei" pitchFamily="34" charset="-120"/>
              </a:rPr>
              <a:t>24 / 24</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宪法学 第8讲 宪法实施与监督</dc:title>
  <dc:subject>公安专业一年级宪法学课程</dc:subject>
  <dc:creator>宪法学课程教学组</dc:creator>
  <cp:lastModifiedBy>宪法学课程教学组</cp:lastModifiedBy>
  <cp:revision>1</cp:revision>
  <dcterms:created xsi:type="dcterms:W3CDTF">2026-09-26T17:00:55Z</dcterms:created>
  <dcterms:modified xsi:type="dcterms:W3CDTF">2026-09-26T17:00:55Z</dcterms:modified>
</cp:coreProperties>
</file>