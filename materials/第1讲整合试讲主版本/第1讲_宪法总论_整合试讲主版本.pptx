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01｜宪法总论
核心/条件性安排：核心；页预算2.5分钟
1. 逐字讲述
先看这张照片。1954年9月15日，第一届全国人民代表大会第一次会议的代表走进中南海怀仁堂。五天以后，这次大会通过了新中国第一部宪法。照片记录的是入场，宪法的通过发生在9月20日。
2. 活动，不朗读（0.5分钟）
观察照片，留意会议名称，再独立想一想屏幕上的问题。教师停讲。
3. 逐字讲述
到1954年，新中国已经成立，国家机关已经在工作，也已经有了规范国家生活的共同纲领。为什么还要制定一部宪法？如果把答案只说成“因为宪法最重要”，我们只是换了一个词，还没有解释这部法律要做什么。
4. 逐字讲述
今天我们从这个问题出发，先看国家生活中有哪些事情需要共同而稳定的根本安排，再看这些安排怎样组织和约束权力。后半堂把目光移到一位请求国家赔偿的公民身上，看看一项宪法权利如何通过具体法律和机关履职获得回应。到课末，希望大家能把这两个尺度接起来：国家的制度，怎样关系到一个人的处境。
教师备查，不朗读
照片不证明现行最高效力。原图署名保留；不编造人物心理或会场对话。
本页出处
新华社刘东鳌摄：1954年9月15日代表入场
来源及定位
新华社资料照片
https://www.xinhuanet.com/politics/2019-09/15/c_1124998159.htm
代表进入怀仁堂；既有原图与来源保留
宪法制定和发展完善历程
https://www.npc.gov.cn/npc/c12434/dzlfxzgcl70nlflc/202108/t20210824_313204.html
1954年9月20日通过宪法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02｜从过渡安排，到持续的共同规则
核心/条件性安排：核心；页预算3.5分钟
1. 逐字讲述
先把两份历史文本放在一起。1949年的共同纲领发挥了临时宪法的作用。第十三条已经考虑到全国人大召开以前怎样安排国家权力，明确由政协全体会议执行全国人大的职权。请看“以前”这个词，它告诉我们：当时的安排面对的是一个过渡阶段。
2. 活动，不朗读（0.75分钟）
读学生材料A的两段历史节录，圈出“以前”和“最高国家权力机关”。
3. 逐字讲述
1954年，全国人大召开，当年宪法第二十一条确认全国人大是最高国家权力机关。这就不只是两份文件先后出现，而是过渡安排向全国人大制度的进一步展开衔接。制定宪法有具体的制度内容，不是为一本更重要的书换封面。
4. 逐字讲述
再向前想一步。一次会议可以决定这一次要做什么；根本规则还要使后来的国家活动有所遵循。将来换了任职者，有关机关仍须在法定地位、权限和责任中工作。宪法把国家的根本安排写成共同规范，使我们能够超出某个人的愿望或某一次临时决定，讨论国家应当怎样运行。
5. 逐字讲述
这个历史对照帮助我们提出问题，但不替代对今天条文的理解。我们现在回到2018年修正的现行宪法，看看持续的共同规则具体规定了什么。完整的制宪发展过程，下一讲再展开。
教师备查，不朗读
屏幕第一段为历史条文提要，有简称，不冒充逐字引文；所用原句见学生材料。起草委员会与全国人大审议通过不同，若被问及据旧来源说明，不展开起草年代线。
本页出处
共同纲领第13条提要；1954年宪法第21条原文
来源及定位
共同纲领
http://www.cppcc.gov.cn/2011/12/16/ARTI1513309181327976.shtml
第13条；既有原文
1954年宪法
http://www.cppcc.gov.cn/2011/09/06/ARTI1315304517625183.shtml
第21条；既有原文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03｜先读国家要做什么，再读怎样组织国家
核心/条件性安排：核心；页预算3.5分钟
1. 逐字讲述
请翻到材料A现行宪法部分。序言明确说，国家的根本任务是沿着中国特色社会主义道路，集中力量进行社会主义现代化建设。这里回答国家发展的根本方向。序言末段又说明，宪法规定国家的根本制度和根本任务，具有最高法律效力。先把这两处各自回答的问题分开。
2. 活动，不朗读（1.25分钟）
静默阅读材料A现行序言两段，标出“根本任务”和“根本法地位”。
3. 逐字讲述
国家要实现共同任务，就要组织资源、形成决定、付诸行动。这些活动由谁来进行，用什么权力来进行，对人的权利承担什么义务，不能留给每个机关临时回答。因此，根本任务与国家机构、基本权利并不是两组不相干的内容：有共同目标，也需要实现目标的制度和规则。
4. 逐字讲述
材料A列有宪法目录。请留意，国家的根本方向、权力组织和公民地位被放进同一个法律文本。对未来从事公安工作的同学而言，维护秩序也要回答：机关从何获得职权，履职须遵守什么？下面看总纲的两个起点。
本页出处
现行宪法序言（节录）与目录
来源及定位
中华人民共和国宪法（2018年修正）
https://www.mofcom.gov.cn/xxgcxjpxsdzgtsshzysx/zywj/art/2018/art_45c1e16fe351469090d53e63178268c8.html
序言根本任务所在段及末段；目录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04｜国家的根本安排，先回答哪些问题？
核心/条件性安排：核心；页预算2.25分钟
1. 逐字讲述
第一条规定我国是工人阶级领导的、以工农联盟为基础的人民民主专政的社会主义国家；社会主义制度是根本制度，中国共产党领导是中国特色社会主义最本质的特征。第二条随即明确，一切权力属于人民。这里既有国家性质和根本制度，也有国家权力归属。
2. 逐字讲述
为什么这些内容具有根本性？因为无论以后讨论经济制度、教育事务、公安履职还是赔偿请求，都已经置身于一定的国家制度和权力秩序之中。具体法律不能每进入一个领域，就重新决定国家性质、权力属于谁、公民是否有基本权利。宪法先确立这些共同前提，其他法律和国家活动在其中展开。
3. 逐字讲述
普通法律处理具体事务，同样关系到人的切身利益。这里区分的是规范承担的工作：宪法确立共同的基本安排，普通法律展开具体领域的规则。宪法没有把每项合同条款、犯罪构成和赔偿标准全部写进来。现在把已经看到的内容连成概念。
教师备查，不朗读
屏幕第1条为明确的教学提要，不加原文引号；完整条文在材料B。第3、4讲分别深化国体政体和基本制度。
本页出处
现行宪法第1、2条；教材印刷18—20页
来源及定位
中华人民共和国宪法（2018年修正）
https://www.mofcom.gov.cn/xxgcxjpxsdzgtsshzysx/zywj/art/2018/art_45c1e16fe351469090d53e63178268c8.html
第1、2条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05｜现在，把“宪法”说完整
核心/条件性安排：核心；页预算1.75分钟
1. 逐字讲述
我们可以作这样的概括：宪法是规定国家根本制度和根本任务、公民基本权利和义务、国家权力组织运行等根本问题，具有最高法律效力的国家根本法。这是本课根据教材和条文作的概括，便于把刚才看到的内容连起来。
2. 逐字讲述
概念不只帮助我们认出一本书，还帮助我们判断正在讨论哪一层问题。问权力属于谁，是在问根本安排；问普通法律能否背离宪法，是在问效力关系；问怎样修改宪法，是在问根本规则的程序保障。三个方面相互联系，但不能互相替代。
3. 逐字讲述
下面就把第二个方面展开：宪法为什么能够约束制定法律的活动？请直接看第5条。
教师备查，不朗读
这里不是某一条宪法的逐字定义。完整解释与修宪对照分别在后页，不恢复词源、分类与渊源目录。
本页出处
教材印刷18—20页；宪法序言末段
来源及定位
中华人民共和国宪法（2018年修正）
https://www.mofcom.gov.cn/xxgcxjpxsdzgtsshzysx/zywj/art/2018/art_45c1e16fe351469090d53e63178268c8.html
序言末段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06｜制定法律的人和机关，也处在宪法之内
核心/条件性安排：核心；页预算3.5分钟
1. 逐字讲述
我们刚才说，宪法规定国家权力归属和机关安排。现在把立法放进这个框架：制定法律本身也是行使国家权力。立法机关的地位和权限并不在宪法之外，因此它形成的具体规则也不能取得排除宪法约束的权力。
2. 活动，不朗读（0.5分钟）
读第5条第3款，圈出被约束的规范种类和“不得抵触”。
3. 逐字讲述
第5条把这个关系说得很明确：一切法律、行政法规和地方性法规，都不得同宪法相抵触。最高效力因此不只是一句高低排名，它要求其他规范在制定和实施中符合宪法。规则写得更详细，并不会使它的位置反而高于宪法。
4. 逐字讲述
我们可以作一个简短的设想。如果每个领域的法律都能说“在我这里，宪法要求可以不算”，共同的国家制度和基本权利就会被分领域逐项排除。最终剩下的只是宪法的名称，失去的是它作为共同规范的作用。普通法律可以在一个领域作具体选择，但具体选择要在共同约束下形成。
5. 逐字讲述
你将来适用具体职权规定，仍在这个规范关系之中。后半堂用国家赔偿法观察具体安排。现在先追问：权力既然属于人民，怎样被组织成能够运行的国家机构？
教师备查，不朗读
不由本页推出任何个人可自行宣布法律普遍失效，纠正机制留第8讲；规范结构说明不冒充完整的宪法权威历史解释。
本页出处
宪法第5条第3款；教材印刷19—20页
来源及定位
中华人民共和国宪法（2018年修正）
https://www.mofcom.gov.cn/xxgcxjpxsdzgtsshzysx/zywj/art/2018/art_45c1e16fe351469090d53e63178268c8.html
第5条第3款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07｜“属于人民”，怎样进入国家机构？
核心/条件性安排：核心；页预算4分钟
1. 逐字讲述
请把第2条与第3条连续读。第2条先说明权力属于人民，再说明人民行使国家权力的机关是全国人大和地方各级人大。第3条则写出民主选举、负责和监督，并说明行政、监察、审判、检察机关同人大的关系。
2. 活动，不朗读（1.25分钟）
阅读材料B第2条及第3条前三款，在“产生”“负责”“监督”下划线。
3. 逐字讲述
图中的向下箭头只表示产生或组织关系：人大由民主选举产生，相应国家机关由人大产生。它没有展开直接选举与间接选举的层级，不能读成各级人大都由全体人民直接选举。负责和监督请看右侧文字：人大对人民负责、受人民监督；这些机关对产生它的人大负责、受该人大监督。产生说明制度位置，负责和监督说明持续的责任，不能用同一根向下箭头代替。
4. 逐字讲述
第2条也没有把人民管理国家和社会事务的方式缩成参加一次选举。它还规定人民依照法律，通过各种途径和形式，管理国家事务、经济和文化事业以及社会事务。本课先认识整体关系，具体制度以后逐一展开。
5. 逐字讲述
民主集中制在这里有实际内容：既有民主选举和监督，也有由相应国家机关依法形成并执行决定的组织安排。不能只记住“集中”，也不能把每个人的个人决定都当作国家决定。权力属于人民，与权力通过制度得到组织，是需要同时说明的两件事。
教师备查，不朗读
人大由人民选举产生的直接/间接层级不在本页铺开；图不表示所有人大都由全民直接选举。民主集中制完整内容包括中央地方关系等，留后续。
本页出处
宪法第2、3条；选举层级未展开，非各级均全民直选
来源及定位
中华人民共和国宪法（2018年修正）
https://www.mofcom.gov.cn/xxgcxjpxsdzgtsshzysx/zywj/art/2018/art_45c1e16fe351469090d53e63178268c8.html
第2条全部；第3条前三款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08｜机关依法产生，为什么还要依法履职？
核心/条件性安排：核心；页预算2.75分钟
1. 逐字讲述
有同学可能会问：既然机关已经依照制度产生，为什么还要不断强调依法履职和监督？因为机关怎样产生，与它每次怎样行使职权，是两个相连却不同的问题。具有法定地位，不等于每项具体行为都已经得到证明。
2. 逐字讲述
例如，第3条不是只写“由人大产生”便结束，还写“对它负责，受它监督”。这说明责任并不是等到我们怀疑某个人品质时才临时加上的要求，它本来就是机关关系的一部分。产生赋予机关履职的制度位置，负责和监督又持续约束履职。
3. 逐字讲述
教材用“民主制度化、法律化”说明宪法本质的一个重要方面。制度化，就是把人民当家作主组织为相应机关、程序和关系；法律化，就是用规范确认这些安排，使其成为应当遵守的要求。它使“人民当家作主”能够被进一步追问：通过什么制度，对谁负责，怎样受到监督。
4. 逐字讲述
因此，我们理解权力属于人民，不能停在权力从哪里来的第一句话。还要看这份权力在行使中怎样对人民负责。把权力的归属写清楚，还要把行使权力的责任写清楚。后面讲基本原则和赔偿权，都会继续回答这一层问题。
教师备查，不朗读
本质还有政治力量对比关系集中体现等教材论述。本页选择民主制度化、法律化作为必要入口，不声称穷尽本质理论。收束句为课程原创概括。
本页出处
宪法第2、3条；教材印刷20—21页
来源及定位
中华人民共和国宪法（2018年修正）
https://www.mofcom.gov.cn/xxgcxjpxsdzgtsshzysx/zywj/art/2018/art_45c1e16fe351469090d53e63178268c8.html
第2、3条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09｜党的领导与依法活动，怎样连起来理解？
核心/条件性安排：核心；页预算2.75分钟
1. 逐字讲述
现在看基本原则。先把党的领导与社会主义法治放在一起。第1条确认中国共产党领导的宪法地位；第5条同时规定各政党和国家机关都必须遵守宪法和法律。这两处不是互相取消的命题，而是同一宪法中需要共同理解的要求。
2. 逐字讲述
教材解释党的领导时，谈到领导立法、保证执法、支持司法、带头守法，以及在宪法和法律范围内活动。这里的联系是：领导推动国家制度和法律的运行，也通过制度和法律的方式得到体现。不能只看领导地位而漏掉依法活动，也不能把法治理解为与我国根本制度无关的一套技术。
3. 逐字讲述
对国家机关而言，具有某项工作任务，还须说明它依据什么权限、按照什么规则履行。法律不是做完工作后再附上的说明，而是组织和开展工作的依据。有关主体共同遵守宪法法律，才使刚才所说的最高效力在权力运行中有具体方向。
4. 逐字讲述
还有一个问题没有回答：权力依法组织起来，是为了怎样对待生活在其中的人？这就把我们带到第33条。
教师备查，不朗读
两段均明确节录；材料B给完整有关款。教材原图印刷94/PDF109。避免把教材解释冒充宪法逐字原文。
本页出处
宪法第1条第2款、第5条第4款；教材印刷94页
来源及定位
中华人民共和国宪法（2018年修正）
https://www.mofcom.gov.cn/xxgcxjpxsdzgtsshzysx/zywj/art/2018/art_45c1e16fe351469090d53e63178268c8.html
第1条第2款；第5条第4款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10｜权力怎样行使，必须看见人的权利
核心/条件性安排：核心；页预算3分钟
1. 逐字讲述
第33条第3款写着很短一句：国家尊重和保障人权。它并不因为短，就只是装饰性的态度。它直接对国家活动提出要求：组织权力、制定规则和具体履职，都需要认真对待人的权利。
2. 活动，不朗读（0.5分钟）
读这一款，分别想一想“尊重”和“保障”把哪些问题交给国家活动。
3. 逐字讲述
尊重，提示国家不能任意侵害人的权利；保障，又提示国家要通过制度建设和依法履职保护权利。一个人处于怎样的实际情境，能否主张权利，遇到侵害怎样得到救济，都不只是条文以外的闲话，而是理解权利保障的具体入口。
4. 逐字讲述
这里也分清两个读音相同的词。国家“权力”涉及公共事务的组织与职权行使；公民“权利”涉及依法应当受到保障的利益和请求资格。机关有职权，不意味着可以任意处置人的权利；人有权利，也并非每项具体请求都无须条件。我们要看相应规范如何安排二者。
5. 逐字讲述
后半堂的赔偿例子就是其中一种联系：国家工作人员行使职权造成法定侵害时，法律怎样回应受害人的请求。它能说明救济的一面，人权保障还有许多内容，第五讲再作系统展开。现在把它与刚才的权力归属、法治和监督放在一起。
教师备查，不朗读
尊重与保障为入门说明，不将义务类型作完备二分；基本权利主体、效力与限制留第5讲。
本页出处
宪法第33条第3款；教材印刷100页
来源及定位
中华人民共和国宪法（2018年修正）
https://www.mofcom.gov.cn/xxgcxjpxsdzgtsshzysx/zywj/art/2018/art_45c1e16fe351469090d53e63178268c8.html
第33条第3款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11｜五项原则，共同说明国家权力怎样运行
核心/条件性安排：核心；页预算2.5分钟
1. 逐字讲述
现在可以把教材的五项基本原则连起来理解：坚持中国共产党的领导、人民主权、社会主义法治、尊重和保障人权、权力监督与制约。这些名称是对宪法内容的学理归纳，读懂它们还要回到条文和制度。
2. 逐字讲述
它们不是五句依次喊过的口号，也不是完成第一步便自动发生第二步的流水线。我们面对同一项国家活动，可以同时问：它在怎样的根本制度下进行，权力来自什么制度安排，行使中遵循什么规范，对人的权利有什么义务，由谁监督并依法纠正偏离。
3. 逐字讲述
比如，一个机关由人大产生，说明了它的制度位置；对人大负责、受人大监督，说明它不能把这种位置变成不受过问的理由；尊重和保障人权，又使我们不能只看机关办成了多少事，还要看它怎样影响人的权利。几项原则各有内容，合起来使理解更完整。
4. 逐字讲述
民主集中制是国家机构组织活动的重要原则，本课通过第3条作了说明。接下来请大家自己试着把两处条文连起来，看看能否从列名词走到说明制度关系。
教师备查，不朗读
版式用共同作用的关系组织，不给五原则标单向因果箭头。不得声称该简图展示全部原则理论。
本页出处
教材第三章第二节；宪法第1、2、3、5、33条
来源及定位
中华人民共和国宪法（2018年修正）
https://www.mofcom.gov.cn/xxgcxjpxsdzgtsshzysx/zywj/art/2018/art_45c1e16fe351469090d53e63178268c8.html
第1、2、3、5、33条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12｜任务1：把两处条文连成一个解释
核心/条件性安排：核心；页预算2.5分钟
1. 逐字讲述
请做任务1。选择第2、3、33条中的至少两处，解释人民通过国家机关行使权力，为什么还要规定负责、监督和人权保障。可以先写两句话，也可以画一条带动词的关系，再向同桌解释。
2. 活动，不朗读（1.75分钟）
独立写作约1分钟，与同桌交流约45秒。停留本页，不提前显示讲评。
教师备查，不朗读
这是关系表达练习，不据一次回答认定独立掌握。后页才出现参考说明。
本页出处
任务1｜学生材料B
来源及定位
中华人民共和国宪法（2018年修正）
https://www.mofcom.gov.cn/xxgcxjpxsdzgtsshzysx/zywj/art/2018/art_45c1e16fe351469090d53e63178268c8.html
第2、3、33条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13｜任务1讲评：归属、组织与责任需要一起说明
核心/条件性安排：核心；页预算2.25分钟
1. 活动，不朗读（0.5分钟）
邀请一名学生说明所选两处条文，约30秒。
2. 逐字讲述
一种可行的回答是：权力属于人民，通过宪法规定的机关行使；机关由相应制度产生，同时应当负责、接受监督。再加上第33条，就能说明机关在履职中仍须尊重和保障人的权利。
3. 逐字讲述
如果你用的是第3条与第33条，也可以从机关的产生走到履职的约束。不同顺序都可以，关键是说出联系，而不只是把“人民主权、人权保障”两个词放在一起。
4. 逐字讲述
为什么不能只说“机关代表人民，所以行为当然正确”？因为第3条本身还规定负责与监督，第33条又提出国家活动应当遵守的权利要求。机关的法定地位和某项具体行为是否符合要求，仍需分别说明。接下来还有一个关节：这些根本规则如果需要改变，怎样保持调整与稳定之间的关系？
教师备查，不朗读
不要求学生复述屏幕措辞。只有原则名词没有制度动词，须追问补充。
本页出处
任务1参考说明｜宪法第2、3、33条
来源及定位
中华人民共和国宪法（2018年修正）
https://www.mofcom.gov.cn/xxgcxjpxsdzgtsshzysx/zywj/art/2018/art_45c1e16fe351469090d53e63178268c8.html
第2、3、33条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14｜根本规则可以改变，但修改有特别要求
核心/条件性安排：核心；页预算3分钟
1. 逐字讲述
宪法具有根本地位，并不意味着永远不能修改。国家生活会发展，根本规则也保留依法调整的可能。我国第64条设置了比法律和其他议案更严格的修宪通过门槛。这里先比较同一个机关、同一个分母，不展开完整程序。
2. 活动，不朗读（0.75分钟）
读材料C第64条两款，找出“全体代表”及两个通过门槛。
3. 逐字讲述
宪法修改由全国人大以全体代表三分之二以上的多数通过；法律和其他议案由全国人大以全体代表过半数通过。注意分母都是全体代表，并不是当天举手者或已经投票者。三分之二以上包括恰好三分之二，过半数不包括恰好一半。
4. 逐字讲述
修改根本规则影响国家制度和基本权利，需要更高程度的同意。这种特别程序既维护稳定，也保留调整的可能。稳定不是拒绝改变，而是让重大改变依照更严格的共同程序作出。
5. 逐字讲述
材料中还保留了修宪提议主体，便于看到完整原款。本课先用通过门槛理解程序特殊性，提议、审议和历次修改留第二讲。现在用一个很短的数字条件检查我们有没有真正看清。
教师备查，不朗读
不把全国人大门槛概括成所有机关立法的唯一规则；两款原文和提议条件见材料C。
本页出处
宪法第64条两款（屏幕为通过要求节录）
来源及定位
中华人民共和国宪法（2018年修正）
https://www.mofcom.gov.cn/xxgcxjpxsdzgtsshzysx/zywj/art/2018/art_45c1e16fe351469090d53e63178268c8.html
第64条两款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15｜任务2：同样60%赞成，结果一样吗？
核心/条件性安排：核心；页预算1.25分钟
1. 逐字讲述
在均由全国人大表决、其他程序条件符合的设定下，全体代表百分之六十赞成，宪法修改与法律和其他议案能否分别通过？请直接依据两款原文说明。
2. 活动，不朗读（0.6666667分钟）
独立判断40秒，只记录两项结论与门槛。
教师备查，不朗读
不得提前显示下一页结果。题目是教学设定，不指真实会议。
本页出处
任务2｜宪法第64条
来源及定位
中华人民共和国宪法（2018年修正）
https://www.mofcom.gov.cn/xxgcxjpxsdzgtsshzysx/zywj/art/2018/art_45c1e16fe351469090d53e63178268c8.html
第64条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16｜回看第一学时：“根本”已经有了哪些内容？
核心/条件性安排：核心；页预算2分钟
本学时另有2分钟机动，可前移到实际指读、追问或补充理由处，不新增固定讲述。
1. 逐字讲述
在题目给定的条件下，宪法修改不能通过，法律和其他议案可以通过。关键不是笼统地说“多数赞成”，而是分清要求哪一种多数。
2. 逐字讲述
回到开场，“根本法”现在就不只是最重要三个字。我们已经看到它规定国家的根本制度和任务，组织国家权力，确认基本权利；立法本身也在这个框架内，其他规范不得抵触；修改根本规则又有特别程序。
3. 逐字讲述
这三个方面相互联系，但各自都有依据。你若能把其中一项解释给别人，而不只列出名称，今天的概念就已经开始展开。下半堂要处理的疑问是：既然宪法有最高效力，为什么国家生活仍需要大量普通法律？我们把这个问题放到一项具体的赔偿请求中。
4. 活动，不朗读（0.3分钟）
学生在材料页边各写一个词，概括自己还没说清的一层关系；收回注意后下课。课间另计。
教师备查，不朗读
本页常规流程累计43分钟；本学时另留2分钟供实际指读、追问与回看，按需穿插，不另加内容。若每学时50分钟，此处转附页E1（第32—33页）共5分钟，再进入课间。
本页出处
任务2讲评；第一学时收束
来源及定位
中华人民共和国宪法（2018年修正）
https://www.mofcom.gov.cn/xxgcxjpxsdzgtsshzysx/zywj/art/2018/art_45c1e16fe351469090d53e63178268c8.html
序言末段；第5、64条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17｜一个赔偿请求，为什么要读两部法律？
核心/条件性安排：核心；页预算2.75分钟
1. 逐字讲述
上半堂从国家的根本安排走到权力的组织和约束。现在把问题放到一位公民身上：如果他受到国家机关和工作人员侵犯权利的损失，宪法怎样对待他的请求？请先不急着找办理机关，读第41条第三款。
2. 活动，不朗读（0.75分钟）
静默读材料D第41条第3款，圈出侵害主体、赔偿权和“依照法律规定”。
3. 逐字讲述
这项规定已经把相应赔偿确认为一项权利。公民的请求有宪法上的依据，国家活动也受到这一要求的约束。这里并不是等到某个工作人员愿意照顾，才临时承认受害人可以开口。
4. 逐字讲述
不过，真正提出请求时，还有一些问题等待回答：什么具体情形纳入赔偿，由哪个机关承担义务，怎样提出请求？第41条没有逐一写完。宪法既已经确认权利，又明确写了依照法律规定，这两层话为什么可以同时成立？我们先看具体法律究竟增加了什么，再回头回答这个疑问。
教师备查，不朗读
不把全部国家赔偿规则归为本例行政违法标准；未讨论法院直接援引宪法的完整争论。
本页出处
现行宪法第41条第3款
来源及定位
中华人民共和国宪法（2018年修正）
https://www.mofcom.gov.cn/xxgcxjpxsdzgtsshzysx/zywj/art/2018/art_45c1e16fe351469090d53e63178268c8.html
第41条第3款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18｜“根据宪法”，先告诉我们什么？
核心/条件性安排：核心；页预算3分钟
1. 逐字讲述
把宪法第41条与国家赔偿法第1条并在一起。第1条写出两个目的：保障依法取得国家赔偿的权利，促进国家机关依法行使职权。最后写明根据宪法制定。赔偿不是脱离国家权力运行的另一件事，对侵害依法承担赔偿义务，也是规范权力运行的一部分。
2. 活动，不朗读（0.75分钟）
静默对读两段，分别标出“权利”“依法行使职权”“根据宪法”。
3. 逐字讲述
起首句有明确的信息价值。它告诉我们这部法律的制定依据和所要完成的任务。但是，如果一位工作人员现在就要处理赔偿请求，只把“根据宪法”读三遍，还不能知道该请求属于哪种情形、哪个机关负义务。
4. 逐字讲述
所以，理解两部法律的关系，不能停在国家赔偿法第1条的依据声明。还需要看普通法律用哪些具体规则承接宪法要求。接下来我们只抓住两条主要材料：第3条说明本例的赔偿情形，第7条说明承担义务的机关。
本页出处
宪法第41条第3款；国家赔偿法第1条（2012年第二次修正）
来源及定位
中华人民共和国宪法（2018年修正）
https://www.mofcom.gov.cn/xxgcxjpxsdzgtsshzysx/zywj/art/2018/art_45c1e16fe351469090d53e63178268c8.html
第41条第3款
国家赔偿法
https://fgk.chinatax.gov.cn/zcfgk/c100009/c5211800/content.html
第1条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19｜法律先回答：哪些情形进入这项赔偿？
核心/条件性安排：核心；页预算4分钟
1. 逐字讲述
国家赔偿法第2条先把本法赔偿权与行使职权、法定侵权情形、合法权益及损害联系起来。材料D保留了这段范围说明。我们现在聚焦行政赔偿中的一项情形，请读第3条起句和第一项。
2. 活动，不朗读（1.5分钟）
读第2条第1款、第3条起句及第1项。用不同记号标“行政职权”与“违法拘留”。
3. 逐字讲述
它不是只要出现公安机关几个字，就直接得出赔偿结论。我们必须看机关当时是在行使什么职权，发生什么行为，是否属于条文规定的侵害。本课只取行政职权中的违法拘留。刑事侦查中的拘留和其他赔偿类型，不能直接套用这一项。
4. 逐字讲述
这时可以看出普通法律新增的第一层信息：它在宪法的权利要求下，区分并规定具体适用情形。宪法第41条使我们知道存在这样的根本权利依据；第3条则使我们能够对一项给定事实继续判断。
5. 逐字讲述
把条件看清不是在回避保障权利。条件本来就是具体制度的一部分。我们要做的是把事实和规则连接起来，既不把每一个不满都直接宣布为同一种赔偿，也不在事实已经给足时一律推说无法判断。接着还有第二层：即使属于赔偿情形，由谁依法回应？
教师备查，不朗读
本页正文较长，允许22磅引文；不得截去行政职权条件。2010年已修改第2条表述，不能把全法一律说成违法归责。
本页出处
国家赔偿法第2条第1款、第3条起句及第1项；其他项略
来源及定位
国家赔偿法
https://fgk.chinatax.gov.cn/zcfgk/c100009/c5211800/content.html
第2条第1款、第3条起句及第1项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20｜法律还回答：谁依法承担赔偿义务？
核心/条件性安排：核心；页预算3分钟
1. 逐字讲述
再看第7条第一款。相应行政机关成为赔偿义务机关。这个规定并不只是让我们多记一个机关名称，它给权利请求确定了制度上的承担者。
2. 活动，不朗读（0.75分钟）
读该款，分别标出前面的行为条件与最后的义务主体。
3. 逐字讲述
假设一位工作人员态度友善，愿意耐心接待，这当然值得肯定。但当相应法定条件已经成立时，受害人提出请求的根据，不能只取决于他有没有碰上一位愿意额外帮忙的人。法律把义务落实到机关，就使请求能够依据规则提出，而不是到处寻找私人照顾。
4. 逐字讲述
这也改变了看问题的位置。我们不只问工作人员有没有善意，还要问相应机关是否依法承担赔偿义务。即使更换了具体承办人，机关也不能因此摆脱法定义务。友善可以使办理更体贴，法定职责则使办理成为应当承担的事。
5. 逐字讲述
这句话要连着前面的条件理解：依法承担赔偿义务，不等于每个请求人主张的全部事项都当然成立。现在我们已经有了情形和义务机关两项信息，给定事实以后，就能作一个有根据的有限判断。
教师备查，不朗读
凝练段落为课程原创，表达选择参研究/02。机关对外赔偿与第16条追偿、处分等不同，不据此说工作人员免责。
本页出处
国家赔偿法第7条第1款
来源及定位
国家赔偿法
https://fgk.chinatax.gov.cn/zcfgk/c100009/c5211800/content.html
第7条第1款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21｜把已经确认的权利，安排成可以办理的请求
核心/条件性安排：核心；页预算2.25分钟
1. 逐字讲述
现在把刚才的两条接回第41条。普通法律不是把“有赔偿权”重复几次，它增加了可以据以处理请求的信息：哪些情形、谁负义务，以及请求怎样提出。
2. 逐字讲述
提出途径也是制度安排。学生材料附页保留第9条第二款完整文字：赔偿请求人要求赔偿，应当先向赔偿义务机关提出，也可以在申请行政复议或者提起行政诉讼时一并提出。今天用它说明制度还需要安排入口，不要求大家在这节宪法课里记熟所有救济路线。
3. 逐字讲述
请想一想，一位工作人员真的要依法办理受害人的请求，他还需要能核对事实、找到责任主体并知道如何依法处理的规则。这正是具体法律增加的工作。
4. 逐字讲述
这些具体安排又怎样受到宪法约束？这个问题暂且保留。我们先用给定事实检验刚才读到的两项规定，再回过头完整说明规范之间的关系。
教师备查，不朗读
第9条完整第二款在附页，主讲保留两种途径的原句，避免写成所有请求都必须另行单独申请。不考金额、期限、管辖。该段借鉴已有前提与剩余问题的表达选择，不把宪法类比技术产品。
本页出处
宪法第5、41条；国家赔偿法第3、7、9条
来源及定位
中华人民共和国宪法（2018年修正）
https://www.mofcom.gov.cn/xxgcxjpxsdzgtsshzysx/zywj/art/2018/art_45c1e16fe351469090d53e63178268c8.html
第5、41条
国家赔偿法
https://fgk.chinatax.gov.cn/zcfgk/c100009/c5211800/content.html
第3、7、9条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22｜任务3：给定事实，能作哪些判断？
核心/条件性安排：核心；页预算2.25分钟
1. 逐字讲述
任务3的事实已经给定：县公安局工作人员以本机关名义，在行使行政职权时违法拘留甲，造成其人身自由受到侵害。违法性在题目中已查明。请依据第3、7条判断甲的赔偿权和本例义务机关。
2. 活动，不朗读（1.5分钟）
独立写出两项结论及对应条文，约1分30秒。保持本页。
教师备查，不朗读
备查：设例按第7条第1款的单一机关情形，无共同机关、委托、机关撤销及法定不赔等特殊事实；不把这一例外清单念给学生。不另问请求途径，降低第9条识记负担。
本页出处
任务3｜教学设例，依据国家赔偿法第3、7条
来源及定位
国家赔偿法
https://fgk.chinatax.gov.cn/zcfgk/c100009/c5211800/content.html
第3条第1项、第7条第1款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23｜任务3讲评：每一步判断都能回到依据
核心/条件性安排：核心；页预算2分钟
1. 活动，不朗读（0.3333333分钟）
请一名学生简短说明两项依据，约20秒。
2. 逐字讲述
按题设查明的事实，甲有依照国家赔偿法取得赔偿的权利。行政职权中的违法拘留，对应第3条第一项；相应县公安局是赔偿义务机关，对应第7条第一款。两项结论都有具体条件和依据。
3. 逐字讲述
如果只答“宪法最高，所以应当赔”，还没有完成本题。宪法提供根本权利依据，具体法律让我们继续说明这是什么赔偿情形、哪个机关承担义务。未知金额不妨碍这两项已有充分依据的判断。
4. 逐字讲述
这道题练的是把给定事实与规则相接。我们没有在这里审查拘留到底为何违法，因为题目已明确给出。下面换一个问题：不再寻找某机关名称，而是解释宪法要求和具体法律为何都不可省略。
本页出处
任务3参考说明｜国家赔偿法第3条第1项、第7条第1款
来源及定位
国家赔偿法
https://fgk.chinatax.gov.cn/zcfgk/c100009/c5211800/content.html
第3条第1项、第7条第1款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24｜刚才一直在读普通法律，宪法还在哪里？
核心/条件性安排：核心；页预算1.5分钟
1. 逐字讲述
刚才处理请求时，我们一直在读国家赔偿法。那么宪法是不是只剩一段背景？既然还有细节要由法律规定，宪法的效力是不是也要等法律来决定？
2. 逐字讲述
先不急着听教师的解释。请回到第5条、第41条，再回看刚才帮助我们找到赔偿情形和义务机关的两条法律。下一页用这些材料自己组织一个回答。
3. 活动，不朗读（0.5分钟）
回看指定条文，约30秒。只定位材料，不在此页先给完整关系解释。
教师备查，不朗读
本页保留真实疑问及作答所需条文定位，完整关系讲解集中在学生尝试之后的第26页；不要求无材料猜答案。
本页出处
任务4准备｜宪法第5、41条；国家赔偿法第3、7条
来源及定位
中华人民共和国宪法（2018年修正）
https://www.mofcom.gov.cn/xxgcxjpxsdzgtsshzysx/zywj/art/2018/art_45c1e16fe351469090d53e63178268c8.html
第5、41条
国家赔偿法
https://fgk.chinatax.gov.cn/zcfgk/c100009/c5211800/content.html
第3、7条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25｜任务4：宪法在这里究竟还约束什么？
核心/条件性安排：核心；页预算3.75分钟
1. 逐字讲述
用第5条和第41条说明宪法的约束，再举一项国家赔偿法增加的安排，解释为什么两种规范都需要。可以按自己的顺序写出理由。
2. 活动，不朗读（3分钟）
独立写作2分30秒；同桌各读一句并指出对方是否只给结论，约30秒。不要跳到下一页。
教师备查，不朗读
保留M1关系说明任务：先回看、尝试，再反馈。题面不预填完整结论。不得把教学设问称为真实学生原话。
本页出处
任务4｜材料B、D；宪法第5、41条
来源及定位
中华人民共和国宪法（2018年修正）
https://www.mofcom.gov.cn/xxgcxjpxsdzgtsshzysx/zywj/art/2018/art_45c1e16fe351469090d53e63178268c8.html
第5条第3款、第41条第3款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26｜任务4讲评：把已有约束与新增安排同时说清
核心/条件性安排：核心；页预算3分钟
1. 活动，不朗读（1分钟）
请两名学生各给一个理由或一个制度例子，总计约1分钟。依据实际回答选择短反馈或备查展开，不虚构错误。
2. 逐字讲述
把刚才的回答放回两组条文：第41条已经确认相应赔偿权，第5条约束普通法律；第7条再确定谁负赔偿义务。需要补充办理制度，并不表示宪法此前无效；已有最高效力，也没有替我们写完个案条件。法律继续回答怎样保障，仍须尊重宪法已经确认的保障要求。
3. 逐字讲述
这道题要说明的是已有约束与新增安排怎样并存。接下来用两个短问题，看看这个关系是否取决于法律开头有没有写根据宪法。
教师备查，不朗读
常规讲评先听实际回答。上面的短反馈用于已说清两层关系的回答；不要再逐段复读本页全部备查。若仍有混淆，用下段替代短反馈中对应部分，并从第二学时3分钟机动中调配，不额外叠加两套完整讲评。
需要展开时：最高效力回答普通法律能不能排除或背离宪法要求；具体制度回答相应要求怎样在一个领域展开。规范已经有约束力，与全部办理细节已经写完，是两个不同判断。第41条已经确认相应赔偿权，对国家机关具有约束力；国家赔偿法第3条增加具体情形，第7条明确义务机关，第9条安排提出途径。需要后者，因为办理需要具体制度，而不是前者原本没有效力。
另一面的限度：宪法已经确认权利，并不等于个案事实和结论全部齐备，仍须核查职权性质、法定侵害及损害等。法律有形成具体制度的空间，不能说所有细节早已逐字藏在第41条，也不能把依照法律规定理解成可以任意取消该宪法要求。
按实际缺口回应：只说宪法最高，追问第41条确认什么、具体法律增加什么；只列第7条义务机关，追问第5条怎样约束这一安排。接受第3条或第9条准确例子，不要求统一学理措辞。
保留主讲之外的完整理由供教师按需调用。不就宪法直接裁判依据作一概结论；立法形成空间的学理区别见来源记录。不把即时回答当作独立迁移已经成功。
本页出处
任务4参考说明｜宪法第5、41条；国家赔偿法第3、7、9条
来源及定位
中华人民共和国宪法（2018年修正）
https://www.mofcom.gov.cn/xxgcxjpxsdzgtsshzysx/zywj/art/2018/art_45c1e16fe351469090d53e63178268c8.html
第5、41条
国家赔偿法
https://fgk.chinatax.gov.cn/zcfgk/c100009/c5211800/content.html
第3、7、9条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27｜任务5：一部法律的开头，能决定多少？
核心/条件性安排：核心；页预算2分钟
1. 逐字讲述
请给这两个问题各一句理由。第一部普通法律没有写根据宪法，第二部写了。起首句的有无，分别能让我们得到什么结论？
2. 活动，不朗读（0.6666667分钟）
静默思考40秒。页面不出现答案；随后听教师反馈。
3. 逐字讲述
第一种情况仍受宪法约束，因为第5条的要求并不由普通法律自行选择是否接受。第二种情况表明制定依据，却不能独自证明每个条款都符合宪法，还须看权限、程序和具体内容。
4. 逐字讲述
因此，依据声明值得读，但不能替代对实际规范的判断。这个认识还可以再走一步：一个机关说明目标正当，是否就已经证明它所采取的具体措施获得合法授权？
教师备查，不朗读
口头反馈在思考之后，答案不提前上屏；教师可依逐题讲评进一步追问，不增加陌生法名记忆。
本页出处
任务5｜宪法第5条；国家赔偿法第1条用于对照
来源及定位
中华人民共和国宪法（2018年修正）
https://www.mofcom.gov.cn/xxgcxjpxsdzgtsshzysx/zywj/art/2018/art_45c1e16fe351469090d53e63178268c8.html
第5条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28｜任务6：目标正当，具体措施就有依据吗？
核心/条件性安排：核心；页预算3分钟
1. 逐字讲述
这一次材料没有给足。只知道某机关为了公共利益限制乙的行动，没有说明机关身份、采取的措施和具体依据。请判断现有信息是否已经证明合法授权，再写出两类你真正需要知道的事实或规范。
2. 活动，不朗读（2分钟）
独立列出缺口约1分30秒，与同桌比较是否只写“资料不足”，约30秒。
3. 逐字讲述
列缺口要能指导下一步查找。如果只写“还要看法律”，范围太大；应进一步说，需要查什么机关的哪项职权、何种措施的什么条件。先保留自己的答案，下一页再一起看。
教师备查，不朗读
不把未提供授权等同法律客观不存在授权。该题不预设措施真实合法或违法；原版同类题保留并收紧主讲。
本页出处
任务6｜教学设例；宪法第5、33条等作规范背景
来源及定位
中华人民共和国宪法（2018年修正）
https://www.mofcom.gov.cn/xxgcxjpxsdzgtsshzysx/zywj/art/2018/art_45c1e16fe351469090d53e63178268c8.html
第5、33条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29｜任务6讲评：把目标、权限、条件和程序分开
核心/条件性安排：核心；页预算3分钟
1. 活动，不朗读（0.75分钟）
请一名学生给出一个具体缺口，另一名补充不同类别，总计约45秒。
2. 逐字讲述
现有材料足以支持一个确定判断：单凭为了公共利益，不能证明这项具体限制措施已经获得合法授权。要继续判断，还需知道机关具有什么职权，采取的是哪种措施，具体法律依据和适用条件是什么，事实是否符合，程序怎样进行。
3. 逐字讲述
这与前面的赔偿题为什么不同？赔偿题明确给了行政职权、违法拘留和人身自由侵害，相关条件已经查明，所以能够作出有限结论。这里没有给出这些关键材料，才需要继续查。不是法律问题一律没有答案，而是结论必须与已经掌握的依据相称。
4. 逐字讲述
原则仍有法律意义。它约束和引导立法、履职和解释，但从一般要求到具体措施，需要完成相应的权限和事实判断。我们既不能让普通法律摆脱宪法，也不能让抽象原则自动授予任何具体措施的权限。
5. 逐字讲述
带着这两端的联系，最后再看宪法要求如何进入制度和实际工作。
教师备查，不朗读
不作正式违宪宣告或个案执法结论；具体机关职权与救济留后续课。
本页出处
任务6参考说明；与任务3对照
来源及定位
中华人民共和国宪法（2018年修正）
https://www.mofcom.gov.cn/xxgcxjpxsdzgtsshzysx/zywj/art/2018/art_45c1e16fe351469090d53e63178268c8.html
第5、33条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30｜从根本要求，到依法办理和权利救济
核心/条件性安排：核心；页预算3分钟
1. 逐字讲述
把今天的四个位置放在一起：宪法确认和约束，普通法律在约束下形成具体制度，国家机关依事实和规则履行职责，权利通过制度获得保障。本例最后这一环表现为法定赔偿救济，是权利保障的一种方式。
2. 逐字讲述
这里有两个不同的国家行为：违法拘留造成侵害，依法办理赔偿回应侵害。后者不会把前者变成合法，却承担着依法救济的责任。
3. 逐字讲述
同样，箭头表示制度联系，不证明现实结果已经发生。法律写明义务以后，还需要受理、调查、判断和实际履行。1994年准备实施国家赔偿法时，国办通知就专门提出受理机构、人员与配套安排的问题。法律已经公布，与实施工作已经完成，是两个不同判断。
4. 逐字讲述
因此，现实中发生侵权或办理不当，需要追问违反什么要求、怎样依法纠正；不能因为有人违反，就说规范从来没有效力。反过来，也不能因为条文写得清楚，就宣布每个人的权利已经得到充分保障。
5. 逐字讲述
我们今天所学的根本法，不会代替所有具体法律和履职工作，却为它们提供共同要求，也使我们有依据问：国家活动是否尊重了应当遵守的规则和人的权利？
教师备查，不朗读
图的箭头不是自动兑现，不是全部宪法实施的唯一路径。100分钟第二学时可在本页后转E2（第34—35页）5分钟，再返回第31页收束。
本页出处
宪法第5、41条；国办发〔1994〕106号（历史实施背景）
来源及定位
中华人民共和国宪法（2018年修正）
https://www.mofcom.gov.cn/xxgcxjpxsdzgtsshzysx/zywj/art/2018/art_45c1e16fe351469090d53e63178268c8.html
第5、41条
1994年国务院公报
https://www.gov.cn/gongbao/shuju/1994/gwyb199431.pdf
印刷1209—1210/PDF57—58；历史背景，非今日程序依据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31｜任务7：把国家的制度与个人的权利接起来
核心/条件性安排：核心；页预算3.5分钟
本学时另有3分钟机动，可前移到实际指读、追问或补充理由处，不新增固定讲述。
1. 逐字讲述
最后请写两三句话，把宪法、普通法律、机关履职和个人权利放在同一个解释里。至少选择一项今天实际读到的制度作支撑，不需要复制整张关系图。
2. 活动，不朗读（1分钟）
独立写作1分钟，教师巡视或收取，不预填学习效果。
3. 逐字讲述
一种写法是：宪法确立国家权力和基本权利的根本要求，普通法律在这些要求下形成具体制度；国家机关依法履行义务，使有关权利获得制度保障。例如，国家赔偿法规定相应行政机关为义务机关，使符合条件的受害人请求有了具体承担者。也可以从产生、负责和监督关系组织自己的答案。
4. 逐字讲述
回到1954年的照片，我们关心的不只是一次会议怎样举行，而是国家生活为什么需要持续的共同规则；回到甲的请求，我们关心的也不只是找到某个条号，而是根本要求怎样进入具体制度。宪法的根本地位，既体现在它怎样安排国家，也体现在它要求国家怎样对待人。
5. 逐字讲述
第一讲到这里。下一讲转向宪法的发展，继续解释这些根本规则怎样形成和调整。今天先把一件事说清：国家权力需要组织起来，也必须在规范和权利要求之中行使。
教师备查，不朗读
本学时常规流程42分钟，另留3分钟机动；优先按真实回答调用第26页必要理由、指读和回看，不虚填为固定讲述。
90分钟核心到本页结束。后四页为100分钟条件性扩展，按指定位置插入，不在90分钟课后继续全放。没有真人试读，不预写效果评价。
本页出处
任务7及第一讲收束；下一讲：宪法的发展
来源及定位
中华人民共和国宪法（2018年修正）
https://www.mofcom.gov.cn/xxgcxjpxsdzgtsshzysx/zywj/art/2018/art_45c1e16fe351469090d53e63178268c8.html
序言及第2、3、5、33、41条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32｜延伸讨论一：宪法只有抽象原则吗？
核心/条件性安排：条件性扩展或备查；页预算2.5分钟
1. 逐字讲述
我们再看一个值得辨析的说法。请把它与第64条对照：宪法是不是只有抽象原则，普通法律才有具体规则？找到反例后，还要解释为什么不能因此把二者地位混同。
2. 活动，不朗读（2分钟）
各自用材料写一个反例约1分钟，同桌互相解释约1分钟。
教师备查，不朗读
在核心第16页后插入本页及第33页，共5分钟；随后课间，再回第17页。
本页出处
扩展E1｜宪法第64条
来源及定位
中华人民共和国宪法（2018年修正）
https://www.mofcom.gov.cn/xxgcxjpxsdzgtsshzysx/zywj/art/2018/art_45c1e16fe351469090d53e63178268c8.html
第64条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33｜延伸讨论一讲评：具体程度不决定效力地位
核心/条件性安排：条件性扩展或备查；页预算2.5分钟
1. 活动，不朗读（0.5分钟）
邀请一名学生读出反例与修正后的说法，约30秒。
2. 逐字讲述
第64条直接规定提议主体和表决门槛，足以说明宪法也有具体规则。因而宪法只有抽象原则这个判断过宽。
3. 逐字讲述
但是，找到这个反例，并不说明宪法和普通法律地位一样。效力地位有序言和第5条等依据，不由一句话写得详细还是抽象来决定。普通法律同样可能有原则性规定。
4. 逐字讲述
更准确的表达是：宪法规定国家的根本问题，具有最高法律效力；普通法律在具体领域进一步作出制度安排。两类文本都可能含有不同具体程度的规范。我们需要按照正在回答的问题选判断标准，而不是拿一个外观特征包办所有区别。
5. 逐字讲述
请在刚才自己的概括里检查：你谈的是规范内容、具体程度，还是法律地位？将这三个问题分开，定义才不容易在遇到反例时崩塌。
教师备查，不朗读
回到课间，再进入第17页。两页累计5分钟，不在90分钟方案内另加。
本页出处
扩展E1参考说明｜宪法序言、第5、64条
来源及定位
中华人民共和国宪法（2018年修正）
https://www.mofcom.gov.cn/xxgcxjpxsdzgtsshzysx/zywj/art/2018/art_45c1e16fe351469090d53e63178268c8.html
序言；第5、64条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34｜延伸讨论二：有条文，为什么仍要追问实施？
核心/条件性安排：条件性扩展或备查；页预算2.5分钟
1. 逐字讲述
再讨论一个假设：规则已经明确，请求仍迟迟未得到依法处理。只是再把同一条文宣读一遍，是否已经解决问题？请指出一个还需查明的具体环节，并说明实施问题与规范效力是什么关系。
2. 活动，不朗读（2分钟）
独立思考1分钟，再与同桌交换一个具体实施问题约1分钟。
教师备查，不朗读
在核心第30页之后使用本页和第35页，合计5分钟；然后回第31页收束。
本页出处
扩展E2｜教学假设
来源及定位
中华人民共和国宪法（2018年修正）
https://www.mofcom.gov.cn/xxgcxjpxsdzgtsshzysx/zywj/art/2018/art_45c1e16fe351469090d53e63178268c8.html
第5、41条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35｜延伸讨论二讲评：规范提供要求，履职需要落实
核心/条件性安排：条件性扩展或备查；页预算2.5分钟
1. 活动，不朗读（0.5分钟）
邀请一人说一个具体环节，约30秒。
2. 逐字讲述
可以查请求是否依法受理、事实材料是否得到核实、相关义务是否履行，以及在何种情形下需要启动纠正途径。只反复宣读条文，没有回答这些实际问题。
3. 逐字讲述
但这也不意味着宪法从未有效。正因为存在应当遵守的要求，我们才能进一步判断哪些工作没有依法完成，谁应当负责，怎样纠正。把实施中的不足说成规范根本不存在，会丢掉判断这些不足的依据。
4. 逐字讲述
另一面也要保留：条文存在，不是实际保障充分的成绩单。1994年的实施通知提出机构和人员安排，就是当时已经看到法律施行还需要具体工作。这只能说明提出过这些任务，不能替今天的实际履职结果作证明。
5. 逐字讲述
请把讨论中的一个具体问题留在材料上。以后第八讲讨论宪法实施与监督，会把规范要求、实际活动和纠正机制接得更完整。现在回到最后的课末收束。
教师备查，不朗读
随后回第31页。不要增加赔偿期限、管辖或未经查证的新个案。
本页出处
扩展E2参考说明；国办发〔1994〕106号为历史背景
来源及定位
中华人民共和国宪法（2018年修正）
https://www.mofcom.gov.cn/xxgcxjpxsdzgtsshzysx/zywj/art/2018/art_45c1e16fe351469090d53e63178268c8.html
第5、41条
1994年国务院公报
https://www.gov.cn/gongbao/shuju/1994/gwyb199431.pdf
印刷1209—1210/PDF57—58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36｜本讲主要依据与阅读入口
核心/条件性安排：条件性扩展或备查；页预算0分钟
教师备查，不朗读
来源页不占核心讲授时间。中文原作是备课表达研究对象，不是本讲法律论据，详见研究目录。
本页出处
具体网页、印刷页及PDF物理页见研究与来源记录
来源及定位
中华人民共和国宪法（2018年修正）
https://www.mofcom.gov.cn/xxgcxjpxsdzgtsshzysx/zywj/art/2018/art_45c1e16fe351469090d53e63178268c8.html
本讲所用条款
国家赔偿法
https://fgk.chinatax.gov.cn/zcfgk/c100009/c5211800/content.html
第1、2、3、7、9条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43E3B"/>
        </a:solidFill>
      </p:bgPr>
    </p:bg>
    <p:spTree>
      <p:nvGrpSpPr>
        <p:cNvPr id="1" name=""/>
        <p:cNvGrpSpPr/>
        <p:nvPr/>
      </p:nvGrpSpPr>
      <p:grpSpPr>
        <a:xfrm>
          <a:off x="0" y="0"/>
          <a:ext cx="0" cy="0"/>
          <a:chOff x="0" y="0"/>
          <a:chExt cx="0" cy="0"/>
        </a:xfrm>
      </p:grpSpPr>
      <p:sp>
        <p:nvSpPr>
          <p:cNvPr id="2" name="Text 0"/>
          <p:cNvSpPr/>
          <p:nvPr/>
        </p:nvSpPr>
        <p:spPr>
          <a:xfrm>
            <a:off x="795528" y="594360"/>
            <a:ext cx="10607040" cy="411480"/>
          </a:xfrm>
          <a:prstGeom prst="rect">
            <a:avLst/>
          </a:prstGeom>
          <a:noFill/>
          <a:ln/>
        </p:spPr>
        <p:txBody>
          <a:bodyPr wrap="none" lIns="0" tIns="0" rIns="0" bIns="0" rtlCol="0" anchor="t"/>
          <a:lstStyle/>
          <a:p>
            <a:pPr algn="l" indent="0" marL="0">
              <a:lnSpc>
                <a:spcPct val="105000"/>
              </a:lnSpc>
              <a:buNone/>
            </a:pPr>
            <a:r>
              <a:rPr lang="zh-CN" altLang="en-US" sz="2000" dirty="0">
                <a:solidFill>
                  <a:srgbClr val="E8E4D9"/>
                </a:solidFill>
                <a:latin typeface="Microsoft YaHei" pitchFamily="34" charset="0"/>
                <a:ea typeface="Microsoft YaHei" pitchFamily="34" charset="-122"/>
                <a:cs typeface="Microsoft YaHei" pitchFamily="34" charset="-120"/>
              </a:rPr>
              <a:t>一 国家生活的根本规则</a:t>
            </a:r>
            <a:endParaRPr lang="zh-CN" sz="2000" dirty="0"/>
          </a:p>
        </p:txBody>
      </p:sp>
      <p:sp>
        <p:nvSpPr>
          <p:cNvPr id="3" name="Text 1"/>
          <p:cNvSpPr/>
          <p:nvPr/>
        </p:nvSpPr>
        <p:spPr>
          <a:xfrm>
            <a:off x="777240" y="1536192"/>
            <a:ext cx="5486400" cy="1234440"/>
          </a:xfrm>
          <a:prstGeom prst="rect">
            <a:avLst/>
          </a:prstGeom>
          <a:noFill/>
          <a:ln/>
        </p:spPr>
        <p:txBody>
          <a:bodyPr wrap="none" lIns="0" tIns="0" rIns="0" bIns="0" rtlCol="0" anchor="t"/>
          <a:lstStyle/>
          <a:p>
            <a:pPr algn="l" indent="0" marL="0">
              <a:lnSpc>
                <a:spcPct val="105000"/>
              </a:lnSpc>
              <a:buNone/>
            </a:pPr>
            <a:r>
              <a:rPr lang="zh-CN" altLang="en-US" sz="4400" b="1" dirty="0">
                <a:solidFill>
                  <a:srgbClr val="F7F4ED"/>
                </a:solidFill>
                <a:latin typeface="Microsoft YaHei" pitchFamily="34" charset="0"/>
                <a:ea typeface="Microsoft YaHei" pitchFamily="34" charset="-122"/>
                <a:cs typeface="Microsoft YaHei" pitchFamily="34" charset="-120"/>
              </a:rPr>
              <a:t>宪法总论</a:t>
            </a:r>
            <a:endParaRPr lang="zh-CN" sz="4400" dirty="0"/>
          </a:p>
        </p:txBody>
      </p:sp>
      <p:sp>
        <p:nvSpPr>
          <p:cNvPr id="4" name="Text 2"/>
          <p:cNvSpPr/>
          <p:nvPr/>
        </p:nvSpPr>
        <p:spPr>
          <a:xfrm>
            <a:off x="832104" y="3090672"/>
            <a:ext cx="5212080"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E8E4D9"/>
                </a:solidFill>
                <a:latin typeface="Microsoft YaHei" pitchFamily="34" charset="0"/>
                <a:ea typeface="Microsoft YaHei" pitchFamily="34" charset="-122"/>
                <a:cs typeface="Microsoft YaHei" pitchFamily="34" charset="-120"/>
              </a:rPr>
              <a:t>国家已有规则</a:t>
            </a:r>
            <a:endParaRPr lang="zh-CN" sz="2400" dirty="0"/>
          </a:p>
        </p:txBody>
      </p:sp>
      <p:sp>
        <p:nvSpPr>
          <p:cNvPr id="5" name="Text 3"/>
          <p:cNvSpPr/>
          <p:nvPr/>
        </p:nvSpPr>
        <p:spPr>
          <a:xfrm>
            <a:off x="832104" y="3730752"/>
            <a:ext cx="5212080" cy="1097280"/>
          </a:xfrm>
          <a:prstGeom prst="rect">
            <a:avLst/>
          </a:prstGeom>
          <a:noFill/>
          <a:ln/>
        </p:spPr>
        <p:txBody>
          <a:bodyPr wrap="none" lIns="0" tIns="0" rIns="0" bIns="0" rtlCol="0" anchor="t"/>
          <a:lstStyle/>
          <a:p>
            <a:pPr algn="l" indent="0" marL="0">
              <a:lnSpc>
                <a:spcPct val="105000"/>
              </a:lnSpc>
              <a:buNone/>
            </a:pPr>
            <a:r>
              <a:rPr lang="zh-CN" altLang="en-US" sz="2600" dirty="0">
                <a:solidFill>
                  <a:srgbClr val="F7F4ED"/>
                </a:solidFill>
                <a:latin typeface="Microsoft YaHei" pitchFamily="34" charset="0"/>
                <a:ea typeface="Microsoft YaHei" pitchFamily="34" charset="-122"/>
                <a:cs typeface="Microsoft YaHei" pitchFamily="34" charset="-120"/>
              </a:rPr>
              <a:t>为什么还需要制定宪法？</a:t>
            </a:r>
            <a:endParaRPr lang="zh-CN" sz="2600" dirty="0"/>
          </a:p>
        </p:txBody>
      </p:sp>
      <p:pic>
        <p:nvPicPr>
          <p:cNvPr id="6" name="Image 0" descr="C:\Users\tsunami\Documents\ChatGPT\教学工作\constitution-law-8-lessons\materials\第1讲叙事授课试做\来源\1954\1954-09-15_代表进入怀仁堂_刘东鳌_新华社.jpg">    </p:cNvPr>
          <p:cNvPicPr>
            <a:picLocks noChangeAspect="1"/>
          </p:cNvPicPr>
          <p:nvPr/>
        </p:nvPicPr>
        <p:blipFill>
          <a:blip r:embed="rId1"/>
          <a:stretch>
            <a:fillRect/>
          </a:stretch>
        </p:blipFill>
        <p:spPr>
          <a:xfrm>
            <a:off x="6446520" y="1857502"/>
            <a:ext cx="5029200" cy="3481324"/>
          </a:xfrm>
          <a:prstGeom prst="rect">
            <a:avLst/>
          </a:prstGeom>
        </p:spPr>
      </p:pic>
      <p:sp>
        <p:nvSpPr>
          <p:cNvPr id="7" name="Text 4"/>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E8E4D9"/>
                </a:solidFill>
                <a:latin typeface="Microsoft YaHei" pitchFamily="34" charset="0"/>
                <a:ea typeface="Microsoft YaHei" pitchFamily="34" charset="-122"/>
                <a:cs typeface="Microsoft YaHei" pitchFamily="34" charset="-120"/>
              </a:rPr>
              <a:t>从国家的制度，到个人的权利</a:t>
            </a:r>
            <a:endParaRPr lang="zh-CN" sz="2400" dirty="0"/>
          </a:p>
        </p:txBody>
      </p:sp>
      <p:sp>
        <p:nvSpPr>
          <p:cNvPr id="8" name="Text 5"/>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E8E4D9"/>
                </a:solidFill>
                <a:latin typeface="Microsoft YaHei" pitchFamily="34" charset="0"/>
                <a:ea typeface="Microsoft YaHei" pitchFamily="34" charset="-122"/>
                <a:cs typeface="Microsoft YaHei" pitchFamily="34" charset="-120"/>
              </a:rPr>
              <a:t>新华社刘东鳌摄：1954年9月15日代表入场</a:t>
            </a:r>
            <a:endParaRPr lang="zh-CN" sz="1200" dirty="0"/>
          </a:p>
        </p:txBody>
      </p:sp>
      <p:sp>
        <p:nvSpPr>
          <p:cNvPr id="9" name="Text 6"/>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E8E4D9"/>
                </a:solidFill>
                <a:latin typeface="Microsoft YaHei" pitchFamily="34" charset="0"/>
                <a:ea typeface="Microsoft YaHei" pitchFamily="34" charset="-122"/>
                <a:cs typeface="Microsoft YaHei" pitchFamily="34" charset="-120"/>
              </a:rPr>
              <a:t>1 / 36</a:t>
            </a:r>
            <a:endParaRPr lang="zh-CN"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从过渡安排，到持续的共同规则</a:t>
            </a:r>
            <a:endParaRPr lang="zh-CN" sz="3600" dirty="0"/>
          </a:p>
        </p:txBody>
      </p:sp>
      <p:sp>
        <p:nvSpPr>
          <p:cNvPr id="4" name="Text 2"/>
          <p:cNvSpPr/>
          <p:nvPr/>
        </p:nvSpPr>
        <p:spPr>
          <a:xfrm>
            <a:off x="768096" y="1938528"/>
            <a:ext cx="2880360" cy="603504"/>
          </a:xfrm>
          <a:prstGeom prst="rect">
            <a:avLst/>
          </a:prstGeom>
          <a:noFill/>
          <a:ln/>
        </p:spPr>
        <p:txBody>
          <a:bodyPr wrap="none" lIns="0" tIns="0" rIns="0" bIns="0" rtlCol="0" anchor="t"/>
          <a:lstStyle/>
          <a:p>
            <a:pPr algn="l" indent="0" marL="0">
              <a:lnSpc>
                <a:spcPct val="105000"/>
              </a:lnSpc>
              <a:buNone/>
            </a:pPr>
            <a:r>
              <a:rPr lang="zh-CN" altLang="en-US" sz="3200" b="1" dirty="0">
                <a:solidFill>
                  <a:srgbClr val="9B3D32"/>
                </a:solidFill>
                <a:latin typeface="Microsoft YaHei" pitchFamily="34" charset="0"/>
                <a:ea typeface="Microsoft YaHei" pitchFamily="34" charset="-122"/>
                <a:cs typeface="Microsoft YaHei" pitchFamily="34" charset="-120"/>
              </a:rPr>
              <a:t>1949</a:t>
            </a:r>
            <a:endParaRPr lang="zh-CN" sz="3200" dirty="0"/>
          </a:p>
        </p:txBody>
      </p:sp>
      <p:sp>
        <p:nvSpPr>
          <p:cNvPr id="5" name="Text 3"/>
          <p:cNvSpPr/>
          <p:nvPr/>
        </p:nvSpPr>
        <p:spPr>
          <a:xfrm>
            <a:off x="786384" y="2633472"/>
            <a:ext cx="2971800" cy="7772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共同纲领第13条</a:t>
            </a:r>
            <a:endParaRPr lang="zh-CN" sz="2400" dirty="0"/>
          </a:p>
        </p:txBody>
      </p:sp>
      <p:sp>
        <p:nvSpPr>
          <p:cNvPr id="6" name="Text 4"/>
          <p:cNvSpPr/>
          <p:nvPr/>
        </p:nvSpPr>
        <p:spPr>
          <a:xfrm>
            <a:off x="4224528" y="2057400"/>
            <a:ext cx="7187184" cy="1444752"/>
          </a:xfrm>
          <a:prstGeom prst="rect">
            <a:avLst/>
          </a:prstGeom>
          <a:noFill/>
          <a:ln/>
        </p:spPr>
        <p:txBody>
          <a:bodyPr wrap="none" lIns="0" tIns="0" rIns="0" bIns="0" rtlCol="0" anchor="t"/>
          <a:lstStyle/>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在普选的全国人民代表大会召开以前，由政协全</a:t>
            </a:r>
            <a:endParaRPr lang="zh-CN" sz="2500" dirty="0"/>
          </a:p>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体会议执行全国人大的职权。</a:t>
            </a:r>
            <a:endParaRPr lang="zh-CN" sz="2500" dirty="0"/>
          </a:p>
        </p:txBody>
      </p:sp>
      <p:sp>
        <p:nvSpPr>
          <p:cNvPr id="7" name="Text 5"/>
          <p:cNvSpPr/>
          <p:nvPr/>
        </p:nvSpPr>
        <p:spPr>
          <a:xfrm>
            <a:off x="768096" y="3703320"/>
            <a:ext cx="2880360" cy="603504"/>
          </a:xfrm>
          <a:prstGeom prst="rect">
            <a:avLst/>
          </a:prstGeom>
          <a:noFill/>
          <a:ln/>
        </p:spPr>
        <p:txBody>
          <a:bodyPr wrap="none" lIns="0" tIns="0" rIns="0" bIns="0" rtlCol="0" anchor="t"/>
          <a:lstStyle/>
          <a:p>
            <a:pPr algn="l" indent="0" marL="0">
              <a:lnSpc>
                <a:spcPct val="105000"/>
              </a:lnSpc>
              <a:buNone/>
            </a:pPr>
            <a:r>
              <a:rPr lang="zh-CN" altLang="en-US" sz="3200" b="1" dirty="0">
                <a:solidFill>
                  <a:srgbClr val="9B3D32"/>
                </a:solidFill>
                <a:latin typeface="Microsoft YaHei" pitchFamily="34" charset="0"/>
                <a:ea typeface="Microsoft YaHei" pitchFamily="34" charset="-122"/>
                <a:cs typeface="Microsoft YaHei" pitchFamily="34" charset="-120"/>
              </a:rPr>
              <a:t>1954</a:t>
            </a:r>
            <a:endParaRPr lang="zh-CN" sz="3200" dirty="0"/>
          </a:p>
        </p:txBody>
      </p:sp>
      <p:sp>
        <p:nvSpPr>
          <p:cNvPr id="8" name="Text 6"/>
          <p:cNvSpPr/>
          <p:nvPr/>
        </p:nvSpPr>
        <p:spPr>
          <a:xfrm>
            <a:off x="786384" y="4398264"/>
            <a:ext cx="2971800" cy="7772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宪法第21条</a:t>
            </a:r>
            <a:endParaRPr lang="zh-CN" sz="2400" dirty="0"/>
          </a:p>
        </p:txBody>
      </p:sp>
      <p:sp>
        <p:nvSpPr>
          <p:cNvPr id="9" name="Text 7"/>
          <p:cNvSpPr/>
          <p:nvPr/>
        </p:nvSpPr>
        <p:spPr>
          <a:xfrm>
            <a:off x="4224528" y="3822192"/>
            <a:ext cx="7187184" cy="1444752"/>
          </a:xfrm>
          <a:prstGeom prst="rect">
            <a:avLst/>
          </a:prstGeom>
          <a:noFill/>
          <a:ln/>
        </p:spPr>
        <p:txBody>
          <a:bodyPr wrap="none" lIns="0" tIns="0" rIns="0" bIns="0" rtlCol="0" anchor="t"/>
          <a:lstStyle/>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中华人民共和国全国人民代表大会</a:t>
            </a:r>
            <a:endParaRPr lang="zh-CN" sz="2500" dirty="0"/>
          </a:p>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是最高国家权力机关。</a:t>
            </a:r>
            <a:endParaRPr lang="zh-CN" sz="25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观察制度怎样展开，不把历史简化成“以前没有规则”。</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共同纲领第13条提要；1954年宪法第21条原文</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 / 36</a:t>
            </a:r>
            <a:endParaRPr lang="zh-CN"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先读国家要做什么，再读怎样组织国家</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序言：国家</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的根本任务</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国家的根本任务是，沿着中国特色社会主义道路，集中</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力量进行社会主义现代化建设。</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序言末段：</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根本法地位</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规定了国家的根本制度和根本任务，是国家的根本法，</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具有最高的法律效力。</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共同任务，需要制度承载，也需要规范约束。</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现行宪法序言（节录）与目录</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 / 36</a:t>
            </a:r>
            <a:endParaRPr lang="zh-CN"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国家的根本安排，先回答哪些问题？</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国家性质与根本制度｜第1条</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人民民主专政的社会主义国家；</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社会主义制度；中国共产党领导</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的宪法地位。</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国家权力归属｜第2条</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中华人民共和国的</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一切权力属于人民。</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根本内容是共同前提，不是全部细则的总和。</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现行宪法第1、2条；教材印刷18—20页</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4 / 36</a:t>
            </a:r>
            <a:endParaRPr lang="zh-CN"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现在，把“宪法”说完整</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本课概括</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宪法规定国家根本制度和任务、公民基本权利义务、国</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家权力组织运行等根本问题，具有最高法律效力。</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三个彼此</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联系的观察面</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规定什么　｜　怎样约束其他规范　｜　根本规则怎样修改</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概念用于理解关系，不是把“最重要”换一种说法。</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教材印刷18—20页；宪法序言末段</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5 / 36</a:t>
            </a:r>
            <a:endParaRPr lang="zh-CN"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制定法律的人和机关，也处在宪法之内</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第5条第3款</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一切法律、行政法规和</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地方性法规都不得同宪法相抵触。</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连接这条</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规定的理由</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宪法组织和约束国家权力；制定</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法律本身也是行使国家权力。</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具体安排有形成空间，不能自行排除根本约束。</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宪法第5条第3款；教材印刷19—20页</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6 / 36</a:t>
            </a:r>
            <a:endParaRPr lang="zh-CN"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“属于人民”，怎样进入国家机构？</a:t>
            </a:r>
            <a:endParaRPr lang="zh-CN" sz="3600" dirty="0"/>
          </a:p>
        </p:txBody>
      </p:sp>
      <p:sp>
        <p:nvSpPr>
          <p:cNvPr id="4" name="Shape 2"/>
          <p:cNvSpPr/>
          <p:nvPr/>
        </p:nvSpPr>
        <p:spPr>
          <a:xfrm>
            <a:off x="804672" y="1938528"/>
            <a:ext cx="3730752" cy="914400"/>
          </a:xfrm>
          <a:prstGeom prst="rect">
            <a:avLst/>
          </a:prstGeom>
          <a:solidFill>
            <a:srgbClr val="343E3B"/>
          </a:solidFill>
          <a:ln w="12700">
            <a:solidFill>
              <a:srgbClr val="343E3B">
                <a:alpha val="0"/>
              </a:srgbClr>
            </a:solidFill>
            <a:prstDash val="solid"/>
          </a:ln>
        </p:spPr>
      </p:sp>
      <p:sp>
        <p:nvSpPr>
          <p:cNvPr id="5" name="Text 3"/>
          <p:cNvSpPr/>
          <p:nvPr/>
        </p:nvSpPr>
        <p:spPr>
          <a:xfrm>
            <a:off x="969264" y="2029968"/>
            <a:ext cx="3401568" cy="768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F7F4ED"/>
                </a:solidFill>
                <a:latin typeface="Microsoft YaHei" pitchFamily="34" charset="0"/>
                <a:ea typeface="Microsoft YaHei" pitchFamily="34" charset="-122"/>
                <a:cs typeface="Microsoft YaHei" pitchFamily="34" charset="-120"/>
              </a:rPr>
              <a:t>人民</a:t>
            </a:r>
            <a:endParaRPr lang="zh-CN" sz="2400" dirty="0"/>
          </a:p>
        </p:txBody>
      </p:sp>
      <p:sp>
        <p:nvSpPr>
          <p:cNvPr id="6" name="Text 4"/>
          <p:cNvSpPr/>
          <p:nvPr/>
        </p:nvSpPr>
        <p:spPr>
          <a:xfrm>
            <a:off x="4919472" y="2029968"/>
            <a:ext cx="6364224" cy="7772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国家的一切权力属于人民。</a:t>
            </a:r>
            <a:endParaRPr lang="zh-CN" sz="2400" dirty="0"/>
          </a:p>
        </p:txBody>
      </p:sp>
      <p:sp>
        <p:nvSpPr>
          <p:cNvPr id="7" name="Shape 5"/>
          <p:cNvSpPr/>
          <p:nvPr/>
        </p:nvSpPr>
        <p:spPr>
          <a:xfrm>
            <a:off x="2286000" y="2880360"/>
            <a:ext cx="0" cy="338328"/>
          </a:xfrm>
          <a:prstGeom prst="line">
            <a:avLst/>
          </a:prstGeom>
          <a:noFill/>
          <a:ln w="16510">
            <a:solidFill>
              <a:srgbClr val="9B3D32"/>
            </a:solidFill>
            <a:prstDash val="solid"/>
            <a:tailEnd type="triangle"/>
          </a:ln>
        </p:spPr>
      </p:sp>
      <p:sp>
        <p:nvSpPr>
          <p:cNvPr id="8" name="Text 6"/>
          <p:cNvSpPr/>
          <p:nvPr/>
        </p:nvSpPr>
        <p:spPr>
          <a:xfrm>
            <a:off x="2560320" y="2912364"/>
            <a:ext cx="2029968" cy="320040"/>
          </a:xfrm>
          <a:prstGeom prst="rect">
            <a:avLst/>
          </a:prstGeom>
          <a:noFill/>
          <a:ln/>
        </p:spPr>
        <p:txBody>
          <a:bodyPr wrap="none" lIns="0" tIns="0" rIns="0" bIns="0" rtlCol="0" anchor="t"/>
          <a:lstStyle/>
          <a:p>
            <a:pPr algn="l" indent="0" marL="0">
              <a:lnSpc>
                <a:spcPct val="105000"/>
              </a:lnSpc>
              <a:buNone/>
            </a:pPr>
            <a:r>
              <a:rPr lang="zh-CN" altLang="en-US" sz="1800" dirty="0">
                <a:solidFill>
                  <a:srgbClr val="9B3D32"/>
                </a:solidFill>
                <a:latin typeface="Microsoft YaHei" pitchFamily="34" charset="0"/>
                <a:ea typeface="Microsoft YaHei" pitchFamily="34" charset="-122"/>
                <a:cs typeface="Microsoft YaHei" pitchFamily="34" charset="-120"/>
              </a:rPr>
              <a:t>民主选举产生</a:t>
            </a:r>
            <a:endParaRPr lang="zh-CN" sz="1800" dirty="0"/>
          </a:p>
        </p:txBody>
      </p:sp>
      <p:sp>
        <p:nvSpPr>
          <p:cNvPr id="9" name="Shape 7"/>
          <p:cNvSpPr/>
          <p:nvPr/>
        </p:nvSpPr>
        <p:spPr>
          <a:xfrm>
            <a:off x="804672" y="3246120"/>
            <a:ext cx="3730752" cy="914400"/>
          </a:xfrm>
          <a:prstGeom prst="rect">
            <a:avLst/>
          </a:prstGeom>
          <a:solidFill>
            <a:srgbClr val="E8ECE6"/>
          </a:solidFill>
          <a:ln w="12700">
            <a:solidFill>
              <a:srgbClr val="E8ECE6">
                <a:alpha val="0"/>
              </a:srgbClr>
            </a:solidFill>
            <a:prstDash val="solid"/>
          </a:ln>
        </p:spPr>
      </p:sp>
      <p:sp>
        <p:nvSpPr>
          <p:cNvPr id="10" name="Text 8"/>
          <p:cNvSpPr/>
          <p:nvPr/>
        </p:nvSpPr>
        <p:spPr>
          <a:xfrm>
            <a:off x="969264" y="3337560"/>
            <a:ext cx="3401568" cy="768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人民代表大会</a:t>
            </a:r>
            <a:endParaRPr lang="zh-CN" sz="2400" dirty="0"/>
          </a:p>
        </p:txBody>
      </p:sp>
      <p:sp>
        <p:nvSpPr>
          <p:cNvPr id="11" name="Text 9"/>
          <p:cNvSpPr/>
          <p:nvPr/>
        </p:nvSpPr>
        <p:spPr>
          <a:xfrm>
            <a:off x="4919472" y="3337560"/>
            <a:ext cx="6364224" cy="7772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人民代表大会对人民负责，受人民监督。</a:t>
            </a:r>
            <a:endParaRPr lang="zh-CN" sz="2400" dirty="0"/>
          </a:p>
        </p:txBody>
      </p:sp>
      <p:sp>
        <p:nvSpPr>
          <p:cNvPr id="12" name="Shape 10"/>
          <p:cNvSpPr/>
          <p:nvPr/>
        </p:nvSpPr>
        <p:spPr>
          <a:xfrm>
            <a:off x="2286000" y="4187952"/>
            <a:ext cx="0" cy="338328"/>
          </a:xfrm>
          <a:prstGeom prst="line">
            <a:avLst/>
          </a:prstGeom>
          <a:noFill/>
          <a:ln w="16510">
            <a:solidFill>
              <a:srgbClr val="9B3D32"/>
            </a:solidFill>
            <a:prstDash val="solid"/>
            <a:tailEnd type="triangle"/>
          </a:ln>
        </p:spPr>
      </p:sp>
      <p:sp>
        <p:nvSpPr>
          <p:cNvPr id="13" name="Text 11"/>
          <p:cNvSpPr/>
          <p:nvPr/>
        </p:nvSpPr>
        <p:spPr>
          <a:xfrm>
            <a:off x="2560320" y="4219956"/>
            <a:ext cx="2029968" cy="320040"/>
          </a:xfrm>
          <a:prstGeom prst="rect">
            <a:avLst/>
          </a:prstGeom>
          <a:noFill/>
          <a:ln/>
        </p:spPr>
        <p:txBody>
          <a:bodyPr wrap="none" lIns="0" tIns="0" rIns="0" bIns="0" rtlCol="0" anchor="t"/>
          <a:lstStyle/>
          <a:p>
            <a:pPr algn="l" indent="0" marL="0">
              <a:lnSpc>
                <a:spcPct val="105000"/>
              </a:lnSpc>
              <a:buNone/>
            </a:pPr>
            <a:r>
              <a:rPr lang="zh-CN" altLang="en-US" sz="1800" dirty="0">
                <a:solidFill>
                  <a:srgbClr val="9B3D32"/>
                </a:solidFill>
                <a:latin typeface="Microsoft YaHei" pitchFamily="34" charset="0"/>
                <a:ea typeface="Microsoft YaHei" pitchFamily="34" charset="-122"/>
                <a:cs typeface="Microsoft YaHei" pitchFamily="34" charset="-120"/>
              </a:rPr>
              <a:t>由人大产生</a:t>
            </a:r>
            <a:endParaRPr lang="zh-CN" sz="1800" dirty="0"/>
          </a:p>
        </p:txBody>
      </p:sp>
      <p:sp>
        <p:nvSpPr>
          <p:cNvPr id="14" name="Shape 12"/>
          <p:cNvSpPr/>
          <p:nvPr/>
        </p:nvSpPr>
        <p:spPr>
          <a:xfrm>
            <a:off x="804672" y="4553712"/>
            <a:ext cx="3730752" cy="914400"/>
          </a:xfrm>
          <a:prstGeom prst="rect">
            <a:avLst/>
          </a:prstGeom>
          <a:solidFill>
            <a:srgbClr val="E8ECE6"/>
          </a:solidFill>
          <a:ln w="12700">
            <a:solidFill>
              <a:srgbClr val="E8ECE6">
                <a:alpha val="0"/>
              </a:srgbClr>
            </a:solidFill>
            <a:prstDash val="solid"/>
          </a:ln>
        </p:spPr>
      </p:sp>
      <p:sp>
        <p:nvSpPr>
          <p:cNvPr id="15" name="Text 13"/>
          <p:cNvSpPr/>
          <p:nvPr/>
        </p:nvSpPr>
        <p:spPr>
          <a:xfrm>
            <a:off x="969264" y="4645152"/>
            <a:ext cx="3401568" cy="768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行政、监察机关</a:t>
            </a:r>
            <a:endParaRPr lang="zh-CN" sz="2400" dirty="0"/>
          </a:p>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审判、检察机关</a:t>
            </a:r>
            <a:endParaRPr lang="zh-CN" sz="2400" dirty="0"/>
          </a:p>
        </p:txBody>
      </p:sp>
      <p:sp>
        <p:nvSpPr>
          <p:cNvPr id="16" name="Text 14"/>
          <p:cNvSpPr/>
          <p:nvPr/>
        </p:nvSpPr>
        <p:spPr>
          <a:xfrm>
            <a:off x="4919472" y="4645152"/>
            <a:ext cx="6364224" cy="7772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这些机关对产生它的人大</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负责，受该人大监督。</a:t>
            </a:r>
            <a:endParaRPr lang="zh-CN" sz="2400" dirty="0"/>
          </a:p>
        </p:txBody>
      </p:sp>
      <p:sp>
        <p:nvSpPr>
          <p:cNvPr id="17" name="Text 15"/>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箭头只表产生；负责与监督看右侧明确的主客体。</a:t>
            </a:r>
            <a:endParaRPr lang="zh-CN" sz="2400" dirty="0"/>
          </a:p>
        </p:txBody>
      </p:sp>
      <p:sp>
        <p:nvSpPr>
          <p:cNvPr id="18" name="Text 16"/>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宪法第2、3条；选举层级未展开，非各级均全民直选</a:t>
            </a:r>
            <a:endParaRPr lang="zh-CN" sz="1200" dirty="0"/>
          </a:p>
        </p:txBody>
      </p:sp>
      <p:sp>
        <p:nvSpPr>
          <p:cNvPr id="19" name="Text 17"/>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7 / 36</a:t>
            </a:r>
            <a:endParaRPr lang="zh-CN"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机关依法产生，为什么还要依法履职？</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制度化</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形成机关、程序及产生、负责、</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监督关系。</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法律化</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把这些关系确认为</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应当遵守的法律要求。</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把权力的归属写清楚，还要把行使权力的责任写清楚。</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宪法第2、3条；教材印刷20—21页</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8 / 36</a:t>
            </a:r>
            <a:endParaRPr lang="zh-CN"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党的领导与依法活动，怎样连起来理解？</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第1条第2款节录</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中国共产党领导是中国特色社会</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主义最本质的特征。</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第5条第4款节录</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一切国家机关和武装力量、各政</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党和各社会团体、各企业事业组</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织都必须遵守宪法和法律。</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领导地位与依法活动，在同一宪法中共同理解。</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宪法第1条第2款、第5条第4款；教材印刷94页</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9 / 36</a:t>
            </a:r>
            <a:endParaRPr lang="zh-CN"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权力怎样行使，必须看见人的权利</a:t>
            </a:r>
            <a:endParaRPr lang="zh-CN" sz="3600" dirty="0"/>
          </a:p>
        </p:txBody>
      </p:sp>
      <p:sp>
        <p:nvSpPr>
          <p:cNvPr id="4" name="Text 2"/>
          <p:cNvSpPr/>
          <p:nvPr/>
        </p:nvSpPr>
        <p:spPr>
          <a:xfrm>
            <a:off x="758952" y="1965960"/>
            <a:ext cx="2194560" cy="146761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第33条第3款</a:t>
            </a:r>
            <a:endParaRPr lang="zh-CN" sz="2400" dirty="0"/>
          </a:p>
        </p:txBody>
      </p:sp>
      <p:sp>
        <p:nvSpPr>
          <p:cNvPr id="5" name="Text 3"/>
          <p:cNvSpPr/>
          <p:nvPr/>
        </p:nvSpPr>
        <p:spPr>
          <a:xfrm>
            <a:off x="3410712" y="1965960"/>
            <a:ext cx="8019288" cy="146761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国家尊重和保障人权。</a:t>
            </a:r>
            <a:endParaRPr lang="zh-CN" sz="2400" dirty="0"/>
          </a:p>
        </p:txBody>
      </p:sp>
      <p:sp>
        <p:nvSpPr>
          <p:cNvPr id="6" name="Text 4"/>
          <p:cNvSpPr/>
          <p:nvPr/>
        </p:nvSpPr>
        <p:spPr>
          <a:xfrm>
            <a:off x="758952" y="3726180"/>
            <a:ext cx="2194560" cy="183337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两个相互</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联系的要求</a:t>
            </a:r>
            <a:endParaRPr lang="zh-CN" sz="2400" dirty="0"/>
          </a:p>
        </p:txBody>
      </p:sp>
      <p:sp>
        <p:nvSpPr>
          <p:cNvPr id="7" name="Text 5"/>
          <p:cNvSpPr/>
          <p:nvPr/>
        </p:nvSpPr>
        <p:spPr>
          <a:xfrm>
            <a:off x="3410712" y="3726180"/>
            <a:ext cx="8019288" cy="183337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尊重：约束国家行为　　保障：通过制度与履职保护权利</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组织国家权力，同时要回答它怎样对待人的权利。</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宪法第33条第3款；教材印刷100页</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10 / 36</a:t>
            </a:r>
            <a:endParaRPr lang="zh-CN"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五项原则，共同说明国家权力怎样运行</a:t>
            </a:r>
            <a:endParaRPr lang="zh-CN" sz="3600" dirty="0"/>
          </a:p>
        </p:txBody>
      </p:sp>
      <p:sp>
        <p:nvSpPr>
          <p:cNvPr id="4" name="Text 2"/>
          <p:cNvSpPr/>
          <p:nvPr/>
        </p:nvSpPr>
        <p:spPr>
          <a:xfrm>
            <a:off x="758952" y="1965960"/>
            <a:ext cx="2706624" cy="84307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坚持</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中国共产党的领导</a:t>
            </a:r>
            <a:endParaRPr lang="zh-CN" sz="2400" dirty="0"/>
          </a:p>
        </p:txBody>
      </p:sp>
      <p:sp>
        <p:nvSpPr>
          <p:cNvPr id="5" name="Text 3"/>
          <p:cNvSpPr/>
          <p:nvPr/>
        </p:nvSpPr>
        <p:spPr>
          <a:xfrm>
            <a:off x="3922776" y="1965960"/>
            <a:ext cx="7507224" cy="84307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国家根本制度与领导地位</a:t>
            </a:r>
            <a:endParaRPr lang="zh-CN" sz="2400" dirty="0"/>
          </a:p>
        </p:txBody>
      </p:sp>
      <p:sp>
        <p:nvSpPr>
          <p:cNvPr id="6" name="Shape 4"/>
          <p:cNvSpPr/>
          <p:nvPr/>
        </p:nvSpPr>
        <p:spPr>
          <a:xfrm>
            <a:off x="758952" y="2891333"/>
            <a:ext cx="10671048" cy="0"/>
          </a:xfrm>
          <a:prstGeom prst="line">
            <a:avLst/>
          </a:prstGeom>
          <a:noFill/>
          <a:ln w="16510">
            <a:solidFill>
              <a:srgbClr val="CBCDC5"/>
            </a:solidFill>
            <a:prstDash val="solid"/>
          </a:ln>
        </p:spPr>
      </p:sp>
      <p:sp>
        <p:nvSpPr>
          <p:cNvPr id="7" name="Text 5"/>
          <p:cNvSpPr/>
          <p:nvPr/>
        </p:nvSpPr>
        <p:spPr>
          <a:xfrm>
            <a:off x="758952" y="3019349"/>
            <a:ext cx="2706624" cy="47731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人民主权</a:t>
            </a:r>
            <a:endParaRPr lang="zh-CN" sz="2400" dirty="0"/>
          </a:p>
        </p:txBody>
      </p:sp>
      <p:sp>
        <p:nvSpPr>
          <p:cNvPr id="8" name="Text 6"/>
          <p:cNvSpPr/>
          <p:nvPr/>
        </p:nvSpPr>
        <p:spPr>
          <a:xfrm>
            <a:off x="3922776" y="3019349"/>
            <a:ext cx="7507224" cy="47731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权力归属与人民参与</a:t>
            </a:r>
            <a:endParaRPr lang="zh-CN" sz="2400" dirty="0"/>
          </a:p>
        </p:txBody>
      </p:sp>
      <p:sp>
        <p:nvSpPr>
          <p:cNvPr id="9" name="Shape 7"/>
          <p:cNvSpPr/>
          <p:nvPr/>
        </p:nvSpPr>
        <p:spPr>
          <a:xfrm>
            <a:off x="758952" y="3578962"/>
            <a:ext cx="10671048" cy="0"/>
          </a:xfrm>
          <a:prstGeom prst="line">
            <a:avLst/>
          </a:prstGeom>
          <a:noFill/>
          <a:ln w="16510">
            <a:solidFill>
              <a:srgbClr val="CBCDC5"/>
            </a:solidFill>
            <a:prstDash val="solid"/>
          </a:ln>
        </p:spPr>
      </p:sp>
      <p:sp>
        <p:nvSpPr>
          <p:cNvPr id="10" name="Text 8"/>
          <p:cNvSpPr/>
          <p:nvPr/>
        </p:nvSpPr>
        <p:spPr>
          <a:xfrm>
            <a:off x="758952" y="3706978"/>
            <a:ext cx="2706624" cy="47731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社会主义法治</a:t>
            </a:r>
            <a:endParaRPr lang="zh-CN" sz="2400" dirty="0"/>
          </a:p>
        </p:txBody>
      </p:sp>
      <p:sp>
        <p:nvSpPr>
          <p:cNvPr id="11" name="Text 9"/>
          <p:cNvSpPr/>
          <p:nvPr/>
        </p:nvSpPr>
        <p:spPr>
          <a:xfrm>
            <a:off x="3922776" y="3706978"/>
            <a:ext cx="7507224" cy="47731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依据宪法法律组织和运行</a:t>
            </a:r>
            <a:endParaRPr lang="zh-CN" sz="2400" dirty="0"/>
          </a:p>
        </p:txBody>
      </p:sp>
      <p:sp>
        <p:nvSpPr>
          <p:cNvPr id="12" name="Shape 10"/>
          <p:cNvSpPr/>
          <p:nvPr/>
        </p:nvSpPr>
        <p:spPr>
          <a:xfrm>
            <a:off x="758952" y="4266590"/>
            <a:ext cx="10671048" cy="0"/>
          </a:xfrm>
          <a:prstGeom prst="line">
            <a:avLst/>
          </a:prstGeom>
          <a:noFill/>
          <a:ln w="16510">
            <a:solidFill>
              <a:srgbClr val="CBCDC5"/>
            </a:solidFill>
            <a:prstDash val="solid"/>
          </a:ln>
        </p:spPr>
      </p:sp>
      <p:sp>
        <p:nvSpPr>
          <p:cNvPr id="13" name="Text 11"/>
          <p:cNvSpPr/>
          <p:nvPr/>
        </p:nvSpPr>
        <p:spPr>
          <a:xfrm>
            <a:off x="758952" y="4394606"/>
            <a:ext cx="2706624" cy="47731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尊重和保障人权</a:t>
            </a:r>
            <a:endParaRPr lang="zh-CN" sz="2400" dirty="0"/>
          </a:p>
        </p:txBody>
      </p:sp>
      <p:sp>
        <p:nvSpPr>
          <p:cNvPr id="14" name="Text 12"/>
          <p:cNvSpPr/>
          <p:nvPr/>
        </p:nvSpPr>
        <p:spPr>
          <a:xfrm>
            <a:off x="3922776" y="4394606"/>
            <a:ext cx="7507224" cy="47731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国家活动的权利要求</a:t>
            </a:r>
            <a:endParaRPr lang="zh-CN" sz="2400" dirty="0"/>
          </a:p>
        </p:txBody>
      </p:sp>
      <p:sp>
        <p:nvSpPr>
          <p:cNvPr id="15" name="Shape 13"/>
          <p:cNvSpPr/>
          <p:nvPr/>
        </p:nvSpPr>
        <p:spPr>
          <a:xfrm>
            <a:off x="758952" y="4954219"/>
            <a:ext cx="10671048" cy="0"/>
          </a:xfrm>
          <a:prstGeom prst="line">
            <a:avLst/>
          </a:prstGeom>
          <a:noFill/>
          <a:ln w="16510">
            <a:solidFill>
              <a:srgbClr val="CBCDC5"/>
            </a:solidFill>
            <a:prstDash val="solid"/>
          </a:ln>
        </p:spPr>
      </p:sp>
      <p:sp>
        <p:nvSpPr>
          <p:cNvPr id="16" name="Text 14"/>
          <p:cNvSpPr/>
          <p:nvPr/>
        </p:nvSpPr>
        <p:spPr>
          <a:xfrm>
            <a:off x="758952" y="5082235"/>
            <a:ext cx="2706624" cy="47731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权力监督与制约</a:t>
            </a:r>
            <a:endParaRPr lang="zh-CN" sz="2400" dirty="0"/>
          </a:p>
        </p:txBody>
      </p:sp>
      <p:sp>
        <p:nvSpPr>
          <p:cNvPr id="17" name="Text 15"/>
          <p:cNvSpPr/>
          <p:nvPr/>
        </p:nvSpPr>
        <p:spPr>
          <a:xfrm>
            <a:off x="3922776" y="5082235"/>
            <a:ext cx="7507224" cy="47731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负责、监督和纠正</a:t>
            </a:r>
            <a:endParaRPr lang="zh-CN" sz="2400" dirty="0"/>
          </a:p>
        </p:txBody>
      </p:sp>
      <p:sp>
        <p:nvSpPr>
          <p:cNvPr id="18" name="Text 1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同一国家活动，同时面对这些原则的要求。</a:t>
            </a:r>
            <a:endParaRPr lang="zh-CN" sz="2400" dirty="0"/>
          </a:p>
        </p:txBody>
      </p:sp>
      <p:sp>
        <p:nvSpPr>
          <p:cNvPr id="19" name="Text 1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教材第三章第二节；宪法第1、2、3、5、33条</a:t>
            </a:r>
            <a:endParaRPr lang="zh-CN" sz="1200" dirty="0"/>
          </a:p>
        </p:txBody>
      </p:sp>
      <p:sp>
        <p:nvSpPr>
          <p:cNvPr id="20" name="Text 1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11 / 36</a:t>
            </a:r>
            <a:endParaRPr lang="zh-CN"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任务1：把两处条文连成一个解释</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使用材料B</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第2条、第3条、第33条第3款</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请用自己的话回答</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人民通过国家机关行使权力，为什么还要规定负责、监督和人权保</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障？任选两处条文连成一段，不只列原则名称。</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先说明关系，再核对你所用的条文。</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任务1｜学生材料B</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12 / 36</a:t>
            </a:r>
            <a:endParaRPr lang="zh-CN"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任务1讲评：归属、组织与责任需要一起说明</a:t>
            </a:r>
            <a:endParaRPr lang="zh-CN" sz="3600" dirty="0"/>
          </a:p>
        </p:txBody>
      </p:sp>
      <p:sp>
        <p:nvSpPr>
          <p:cNvPr id="4" name="Shape 2"/>
          <p:cNvSpPr/>
          <p:nvPr/>
        </p:nvSpPr>
        <p:spPr>
          <a:xfrm>
            <a:off x="713232" y="1920240"/>
            <a:ext cx="73152" cy="1879092"/>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83337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一种可行解释</a:t>
            </a:r>
            <a:endParaRPr lang="zh-CN" sz="2400" dirty="0"/>
          </a:p>
        </p:txBody>
      </p:sp>
      <p:sp>
        <p:nvSpPr>
          <p:cNvPr id="6" name="Text 4"/>
          <p:cNvSpPr/>
          <p:nvPr/>
        </p:nvSpPr>
        <p:spPr>
          <a:xfrm>
            <a:off x="3410712" y="1965960"/>
            <a:ext cx="8019288" cy="183337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权力属于人民，通过宪法规定的机关行使；机关有产生</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关系，也有负责和监督关系。</a:t>
            </a:r>
            <a:endParaRPr lang="zh-CN" sz="2400" dirty="0"/>
          </a:p>
        </p:txBody>
      </p:sp>
      <p:sp>
        <p:nvSpPr>
          <p:cNvPr id="7" name="Shape 5"/>
          <p:cNvSpPr/>
          <p:nvPr/>
        </p:nvSpPr>
        <p:spPr>
          <a:xfrm>
            <a:off x="713232" y="4046220"/>
            <a:ext cx="73152" cy="1513332"/>
          </a:xfrm>
          <a:prstGeom prst="rect">
            <a:avLst/>
          </a:prstGeom>
          <a:solidFill>
            <a:srgbClr val="9B3D32"/>
          </a:solidFill>
          <a:ln w="12700">
            <a:solidFill>
              <a:srgbClr val="9B3D32">
                <a:alpha val="0"/>
              </a:srgbClr>
            </a:solidFill>
            <a:prstDash val="solid"/>
          </a:ln>
        </p:spPr>
      </p:sp>
      <p:sp>
        <p:nvSpPr>
          <p:cNvPr id="8" name="Text 6"/>
          <p:cNvSpPr/>
          <p:nvPr/>
        </p:nvSpPr>
        <p:spPr>
          <a:xfrm>
            <a:off x="923544" y="4091940"/>
            <a:ext cx="2194560" cy="146761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再接人权要求</a:t>
            </a:r>
            <a:endParaRPr lang="zh-CN" sz="2400" dirty="0"/>
          </a:p>
        </p:txBody>
      </p:sp>
      <p:sp>
        <p:nvSpPr>
          <p:cNvPr id="9" name="Text 7"/>
          <p:cNvSpPr/>
          <p:nvPr/>
        </p:nvSpPr>
        <p:spPr>
          <a:xfrm>
            <a:off x="3410712" y="4091940"/>
            <a:ext cx="8019288" cy="146761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依法产生的机关，行使职权仍须尊重和保障人权。</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产生关系不替代履职要求，权力归属需要责任关系。</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任务1参考说明｜宪法第2、3、33条</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13 / 36</a:t>
            </a:r>
            <a:endParaRPr lang="zh-CN"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根本规则可以改变，但修改有特别要求</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宪法修改｜第64条第1款</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由全国人大以全体代表的三分之</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二以上的多数通过。</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法律和其他议案｜第64条第2款</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由全国人大以全体</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代表的过半数通过。</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同一机关、同一分母，比较两种通过门槛。</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宪法第64条两款（屏幕为通过要求节录）</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14 / 36</a:t>
            </a:r>
            <a:endParaRPr lang="zh-CN"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任务2：同样60%赞成，结果一样吗？</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给定条件</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均由全国人大表决；其他程序条件符合；全体代表60%赞成。</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分别判断</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①宪法修改　②法律和其他议案</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比较法定门槛，不把多数都当成同一种多数。</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任务2｜宪法第64条</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15 / 36</a:t>
            </a:r>
            <a:endParaRPr lang="zh-CN"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回看第一学时：“根本”已经有了哪些内容？</a:t>
            </a:r>
            <a:endParaRPr lang="zh-CN" sz="3600" dirty="0"/>
          </a:p>
        </p:txBody>
      </p:sp>
      <p:sp>
        <p:nvSpPr>
          <p:cNvPr id="4" name="Shape 2"/>
          <p:cNvSpPr/>
          <p:nvPr/>
        </p:nvSpPr>
        <p:spPr>
          <a:xfrm>
            <a:off x="713232" y="1920240"/>
            <a:ext cx="73152" cy="1696212"/>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任务2讲评</a:t>
            </a:r>
            <a:endParaRPr lang="zh-CN" sz="2400" dirty="0"/>
          </a:p>
        </p:txBody>
      </p:sp>
      <p:sp>
        <p:nvSpPr>
          <p:cNvPr id="6" name="Text 4"/>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60%未达三分之二以上；已超过全体代表的一半。</a:t>
            </a:r>
            <a:endParaRPr lang="zh-CN" sz="2400" dirty="0"/>
          </a:p>
        </p:txBody>
      </p:sp>
      <p:sp>
        <p:nvSpPr>
          <p:cNvPr id="7" name="Shape 5"/>
          <p:cNvSpPr/>
          <p:nvPr/>
        </p:nvSpPr>
        <p:spPr>
          <a:xfrm>
            <a:off x="713232" y="3863340"/>
            <a:ext cx="73152" cy="1696212"/>
          </a:xfrm>
          <a:prstGeom prst="rect">
            <a:avLst/>
          </a:prstGeom>
          <a:solidFill>
            <a:srgbClr val="9B3D32"/>
          </a:solidFill>
          <a:ln w="12700">
            <a:solidFill>
              <a:srgbClr val="9B3D32">
                <a:alpha val="0"/>
              </a:srgbClr>
            </a:solidFill>
            <a:prstDash val="solid"/>
          </a:ln>
        </p:spPr>
      </p:sp>
      <p:sp>
        <p:nvSpPr>
          <p:cNvPr id="8" name="Text 6"/>
          <p:cNvSpPr/>
          <p:nvPr/>
        </p:nvSpPr>
        <p:spPr>
          <a:xfrm>
            <a:off x="923544"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三个位置</a:t>
            </a:r>
            <a:endParaRPr lang="zh-CN" sz="2400" dirty="0"/>
          </a:p>
        </p:txBody>
      </p:sp>
      <p:sp>
        <p:nvSpPr>
          <p:cNvPr id="9" name="Text 7"/>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国家根本安排　｜　最高法律效力　｜　特别修改程序</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下半堂：宪法已有约束，具体法律还要做什么？</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任务2讲评；第一学时收束</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16 / 36</a:t>
            </a:r>
            <a:endParaRPr lang="zh-CN"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一个赔偿请求，为什么要读两部法律？</a:t>
            </a:r>
            <a:endParaRPr lang="zh-CN" sz="3600" dirty="0"/>
          </a:p>
        </p:txBody>
      </p:sp>
      <p:sp>
        <p:nvSpPr>
          <p:cNvPr id="4" name="Text 2"/>
          <p:cNvSpPr/>
          <p:nvPr/>
        </p:nvSpPr>
        <p:spPr>
          <a:xfrm>
            <a:off x="786384" y="1993392"/>
            <a:ext cx="10607040" cy="512064"/>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宪法第41条第3款</a:t>
            </a:r>
            <a:endParaRPr lang="zh-CN" sz="2400" dirty="0"/>
          </a:p>
        </p:txBody>
      </p:sp>
      <p:sp>
        <p:nvSpPr>
          <p:cNvPr id="5" name="Text 3"/>
          <p:cNvSpPr/>
          <p:nvPr/>
        </p:nvSpPr>
        <p:spPr>
          <a:xfrm>
            <a:off x="786384" y="2724912"/>
            <a:ext cx="10607040" cy="2770632"/>
          </a:xfrm>
          <a:prstGeom prst="rect">
            <a:avLst/>
          </a:prstGeom>
          <a:noFill/>
          <a:ln/>
        </p:spPr>
        <p:txBody>
          <a:bodyPr wrap="none" lIns="0" tIns="0" rIns="0" bIns="0" rtlCol="0" anchor="t"/>
          <a:lstStyle/>
          <a:p>
            <a:pPr algn="l" indent="0" marL="0">
              <a:lnSpc>
                <a:spcPct val="105000"/>
              </a:lnSpc>
              <a:buNone/>
            </a:pPr>
            <a:r>
              <a:rPr lang="zh-CN" altLang="en-US" sz="2800" dirty="0">
                <a:solidFill>
                  <a:srgbClr val="2B302F"/>
                </a:solidFill>
                <a:latin typeface="Microsoft YaHei" pitchFamily="34" charset="0"/>
                <a:ea typeface="Microsoft YaHei" pitchFamily="34" charset="-122"/>
                <a:cs typeface="Microsoft YaHei" pitchFamily="34" charset="-120"/>
              </a:rPr>
              <a:t>由于国家机关和国家工作人员侵犯公民权利而受到损失的人，有</a:t>
            </a:r>
            <a:endParaRPr lang="zh-CN" sz="2800" dirty="0"/>
          </a:p>
          <a:p>
            <a:pPr algn="l" indent="0" marL="0">
              <a:lnSpc>
                <a:spcPct val="105000"/>
              </a:lnSpc>
              <a:buNone/>
            </a:pPr>
            <a:r>
              <a:rPr lang="zh-CN" altLang="en-US" sz="2800" dirty="0">
                <a:solidFill>
                  <a:srgbClr val="2B302F"/>
                </a:solidFill>
                <a:latin typeface="Microsoft YaHei" pitchFamily="34" charset="0"/>
                <a:ea typeface="Microsoft YaHei" pitchFamily="34" charset="-122"/>
                <a:cs typeface="Microsoft YaHei" pitchFamily="34" charset="-120"/>
              </a:rPr>
              <a:t>依照法律规定取得赔偿的权利。</a:t>
            </a:r>
            <a:endParaRPr lang="zh-CN" sz="2800" dirty="0"/>
          </a:p>
        </p:txBody>
      </p:sp>
      <p:sp>
        <p:nvSpPr>
          <p:cNvPr id="6" name="Text 4"/>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宪法已经确认权利；具体办理还有哪些问题？</a:t>
            </a:r>
            <a:endParaRPr lang="zh-CN" sz="2400" dirty="0"/>
          </a:p>
        </p:txBody>
      </p:sp>
      <p:sp>
        <p:nvSpPr>
          <p:cNvPr id="7" name="Text 5"/>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现行宪法第41条第3款</a:t>
            </a:r>
            <a:endParaRPr lang="zh-CN" sz="1200" dirty="0"/>
          </a:p>
        </p:txBody>
      </p:sp>
      <p:sp>
        <p:nvSpPr>
          <p:cNvPr id="8" name="Text 6"/>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17 / 36</a:t>
            </a:r>
            <a:endParaRPr lang="zh-CN"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“根据宪法”，先告诉我们什么？</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宪法第41条第3款</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由于国家机关和国家工作人员侵</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犯公民权利而受到损失的人，有</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依照法律规定取得赔偿的权利。</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国家赔偿法第1条</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为保障公民、法人和其他组织享</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有依法取得国家赔偿的权利，促</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进国家机关依法行使职权，根据</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宪法，制定本法。</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依据和目的已经显明；办理条件仍须继续往下读。</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宪法第41条第3款；国家赔偿法第1条（2012年第二次修正）</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18 / 36</a:t>
            </a:r>
            <a:endParaRPr lang="zh-CN"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法律先回答：哪些情形进入这项赔偿？</a:t>
            </a:r>
            <a:endParaRPr lang="zh-CN" sz="3600" dirty="0"/>
          </a:p>
        </p:txBody>
      </p:sp>
      <p:sp>
        <p:nvSpPr>
          <p:cNvPr id="4" name="Text 2"/>
          <p:cNvSpPr/>
          <p:nvPr/>
        </p:nvSpPr>
        <p:spPr>
          <a:xfrm>
            <a:off x="777240" y="1938528"/>
            <a:ext cx="10588752"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国家赔偿法第3条起句及第1项｜节录</a:t>
            </a:r>
            <a:endParaRPr lang="zh-CN" sz="2400" dirty="0"/>
          </a:p>
        </p:txBody>
      </p:sp>
      <p:sp>
        <p:nvSpPr>
          <p:cNvPr id="5" name="Text 3"/>
          <p:cNvSpPr/>
          <p:nvPr/>
        </p:nvSpPr>
        <p:spPr>
          <a:xfrm>
            <a:off x="777240" y="2633472"/>
            <a:ext cx="10588752" cy="1700784"/>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行政机关及其工作人员在行使行政职权时有下列侵犯人身权情形之一的，</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受害人有取得赔偿的权利：</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（一）违法拘留或者违法采取限制公民人身自由的行政强制措施的；</a:t>
            </a:r>
            <a:endParaRPr lang="zh-CN" sz="2400" dirty="0"/>
          </a:p>
        </p:txBody>
      </p:sp>
      <p:sp>
        <p:nvSpPr>
          <p:cNvPr id="6" name="Text 4"/>
          <p:cNvSpPr/>
          <p:nvPr/>
        </p:nvSpPr>
        <p:spPr>
          <a:xfrm>
            <a:off x="777240" y="4645152"/>
            <a:ext cx="2377440" cy="7772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先看条件</a:t>
            </a:r>
            <a:endParaRPr lang="zh-CN" sz="2400" dirty="0"/>
          </a:p>
        </p:txBody>
      </p:sp>
      <p:sp>
        <p:nvSpPr>
          <p:cNvPr id="7" name="Text 5"/>
          <p:cNvSpPr/>
          <p:nvPr/>
        </p:nvSpPr>
        <p:spPr>
          <a:xfrm>
            <a:off x="3474720" y="4645152"/>
            <a:ext cx="7863840" cy="82296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行政职权　｜　侵犯人身权　｜　违法拘留等法定情形</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权利要求继续展开为可以核对事实的适用条件。</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国家赔偿法第2条第1款、第3条起句及第1项；其他项略</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19 / 36</a:t>
            </a:r>
            <a:endParaRPr lang="zh-CN"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法律还回答：谁依法承担赔偿义务？</a:t>
            </a:r>
            <a:endParaRPr lang="zh-CN" sz="3600" dirty="0"/>
          </a:p>
        </p:txBody>
      </p:sp>
      <p:sp>
        <p:nvSpPr>
          <p:cNvPr id="4" name="Text 2"/>
          <p:cNvSpPr/>
          <p:nvPr/>
        </p:nvSpPr>
        <p:spPr>
          <a:xfrm>
            <a:off x="786384" y="1993392"/>
            <a:ext cx="10607040" cy="512064"/>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国家赔偿法第7条第1款</a:t>
            </a:r>
            <a:endParaRPr lang="zh-CN" sz="2400" dirty="0"/>
          </a:p>
        </p:txBody>
      </p:sp>
      <p:sp>
        <p:nvSpPr>
          <p:cNvPr id="5" name="Text 3"/>
          <p:cNvSpPr/>
          <p:nvPr/>
        </p:nvSpPr>
        <p:spPr>
          <a:xfrm>
            <a:off x="786384" y="2724912"/>
            <a:ext cx="10607040" cy="2770632"/>
          </a:xfrm>
          <a:prstGeom prst="rect">
            <a:avLst/>
          </a:prstGeom>
          <a:noFill/>
          <a:ln/>
        </p:spPr>
        <p:txBody>
          <a:bodyPr wrap="none" lIns="0" tIns="0" rIns="0" bIns="0" rtlCol="0" anchor="t"/>
          <a:lstStyle/>
          <a:p>
            <a:pPr algn="l" indent="0" marL="0">
              <a:lnSpc>
                <a:spcPct val="105000"/>
              </a:lnSpc>
              <a:buNone/>
            </a:pPr>
            <a:r>
              <a:rPr lang="zh-CN" altLang="en-US" sz="2800" dirty="0">
                <a:solidFill>
                  <a:srgbClr val="2B302F"/>
                </a:solidFill>
                <a:latin typeface="Microsoft YaHei" pitchFamily="34" charset="0"/>
                <a:ea typeface="Microsoft YaHei" pitchFamily="34" charset="-122"/>
                <a:cs typeface="Microsoft YaHei" pitchFamily="34" charset="-120"/>
              </a:rPr>
              <a:t>行政机关及其工作人员行使行政职权侵犯公民、法人和其他组织</a:t>
            </a:r>
            <a:endParaRPr lang="zh-CN" sz="2800" dirty="0"/>
          </a:p>
          <a:p>
            <a:pPr algn="l" indent="0" marL="0">
              <a:lnSpc>
                <a:spcPct val="105000"/>
              </a:lnSpc>
              <a:buNone/>
            </a:pPr>
            <a:r>
              <a:rPr lang="zh-CN" altLang="en-US" sz="2800" dirty="0">
                <a:solidFill>
                  <a:srgbClr val="2B302F"/>
                </a:solidFill>
                <a:latin typeface="Microsoft YaHei" pitchFamily="34" charset="0"/>
                <a:ea typeface="Microsoft YaHei" pitchFamily="34" charset="-122"/>
                <a:cs typeface="Microsoft YaHei" pitchFamily="34" charset="-120"/>
              </a:rPr>
              <a:t>的合法权益造成损害的，该行政机关为赔偿义务机关。</a:t>
            </a:r>
            <a:endParaRPr lang="zh-CN" sz="2800" dirty="0"/>
          </a:p>
        </p:txBody>
      </p:sp>
      <p:sp>
        <p:nvSpPr>
          <p:cNvPr id="6" name="Text 4"/>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请求有法定依据，义务也有制度上的承担者。</a:t>
            </a:r>
            <a:endParaRPr lang="zh-CN" sz="2400" dirty="0"/>
          </a:p>
        </p:txBody>
      </p:sp>
      <p:sp>
        <p:nvSpPr>
          <p:cNvPr id="7" name="Text 5"/>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国家赔偿法第7条第1款</a:t>
            </a:r>
            <a:endParaRPr lang="zh-CN" sz="1200" dirty="0"/>
          </a:p>
        </p:txBody>
      </p:sp>
      <p:sp>
        <p:nvSpPr>
          <p:cNvPr id="8" name="Text 6"/>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20 / 36</a:t>
            </a:r>
            <a:endParaRPr lang="zh-CN"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把已经确认的权利，安排成可以办理的请求</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宪法已经确认</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相应侵权损失者有依照法律规定</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取得赔偿的权利。</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普通法律继续安排</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何种情形、谁负义务，以及请求</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怎样提出。</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增加的是办理制度，受到约束的仍是国家权力。</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宪法第5、41条；国家赔偿法第3、7、9条</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21 / 36</a:t>
            </a:r>
            <a:endParaRPr lang="zh-CN"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任务3：给定事实，能作哪些判断？</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教学设例｜以下事实已查明</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某县公安局工作人员以本机关名义，在行使行政职权时违法拘留</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甲，造成甲的人身自由受到侵害。</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请依第3、7条回答</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甲有无依法取得赔偿的权利？</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本例赔偿义务机关是谁？分别指出依据。</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先核事实条件，再给结论；本题不计算金额。</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任务3｜教学设例，依据国家赔偿法第3、7条</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22 / 36</a:t>
            </a:r>
            <a:endParaRPr lang="zh-CN"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任务3讲评：每一步判断都能回到依据</a:t>
            </a:r>
            <a:endParaRPr lang="zh-CN" sz="3600" dirty="0"/>
          </a:p>
        </p:txBody>
      </p:sp>
      <p:sp>
        <p:nvSpPr>
          <p:cNvPr id="4" name="Shape 2"/>
          <p:cNvSpPr/>
          <p:nvPr/>
        </p:nvSpPr>
        <p:spPr>
          <a:xfrm>
            <a:off x="713232" y="1920240"/>
            <a:ext cx="73152" cy="1696212"/>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第3条第1项</a:t>
            </a:r>
            <a:endParaRPr lang="zh-CN" sz="2400" dirty="0"/>
          </a:p>
        </p:txBody>
      </p:sp>
      <p:sp>
        <p:nvSpPr>
          <p:cNvPr id="6" name="Text 4"/>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行政职权中的违法拘留：甲有依法取得赔偿的权利。</a:t>
            </a:r>
            <a:endParaRPr lang="zh-CN" sz="2400" dirty="0"/>
          </a:p>
        </p:txBody>
      </p:sp>
      <p:sp>
        <p:nvSpPr>
          <p:cNvPr id="7" name="Shape 5"/>
          <p:cNvSpPr/>
          <p:nvPr/>
        </p:nvSpPr>
        <p:spPr>
          <a:xfrm>
            <a:off x="713232" y="3863340"/>
            <a:ext cx="73152" cy="1696212"/>
          </a:xfrm>
          <a:prstGeom prst="rect">
            <a:avLst/>
          </a:prstGeom>
          <a:solidFill>
            <a:srgbClr val="9B3D32"/>
          </a:solidFill>
          <a:ln w="12700">
            <a:solidFill>
              <a:srgbClr val="9B3D32">
                <a:alpha val="0"/>
              </a:srgbClr>
            </a:solidFill>
            <a:prstDash val="solid"/>
          </a:ln>
        </p:spPr>
      </p:sp>
      <p:sp>
        <p:nvSpPr>
          <p:cNvPr id="8" name="Text 6"/>
          <p:cNvSpPr/>
          <p:nvPr/>
        </p:nvSpPr>
        <p:spPr>
          <a:xfrm>
            <a:off x="923544"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第7条第1款</a:t>
            </a:r>
            <a:endParaRPr lang="zh-CN" sz="2400" dirty="0"/>
          </a:p>
        </p:txBody>
      </p:sp>
      <p:sp>
        <p:nvSpPr>
          <p:cNvPr id="9" name="Text 7"/>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题设中相应的县公安局：赔偿义务机关。</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本题练习规则定位；下一题解释规范关系。</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任务3参考说明｜国家赔偿法第3条第1项、第7条第1款</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23 / 36</a:t>
            </a:r>
            <a:endParaRPr lang="zh-CN"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刚才一直在读普通法律，宪法还在哪里？</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回看材料B、D</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宪法第5条第3款</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宪法第41条第3款</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回看刚用过的规则</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国家赔偿法第3条、第7条：我们</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据此作了哪些判断？</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先回到手中的条文，再解释它们为什么都需要。</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任务4准备｜宪法第5、41条；国家赔偿法第3、7条</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24 / 36</a:t>
            </a:r>
            <a:endParaRPr lang="zh-CN"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任务4：宪法在这里究竟还约束什么？</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继续刚才的疑问｜教学设定</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赔偿情形和义务机关都由普通法律规定，</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宪法在这里究竟还约束什么？</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请完成一段解释</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用第5条与第41条回应；再举国家赔偿法的一项具体安排，说明为何</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仍需普通法律。</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要求解释关系；可以用自己的措辞组织理由。</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任务4｜材料B、D；宪法第5、41条</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25 / 36</a:t>
            </a:r>
            <a:endParaRPr lang="zh-CN"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任务4讲评：把已有约束与新增安排同时说清</a:t>
            </a:r>
            <a:endParaRPr lang="zh-CN" sz="3600" dirty="0"/>
          </a:p>
        </p:txBody>
      </p:sp>
      <p:sp>
        <p:nvSpPr>
          <p:cNvPr id="4" name="Shape 2"/>
          <p:cNvSpPr/>
          <p:nvPr/>
        </p:nvSpPr>
        <p:spPr>
          <a:xfrm>
            <a:off x="713232" y="1920240"/>
            <a:ext cx="73152" cy="1696212"/>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已经有的</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宪法要求</a:t>
            </a:r>
            <a:endParaRPr lang="zh-CN" sz="2400" dirty="0"/>
          </a:p>
        </p:txBody>
      </p:sp>
      <p:sp>
        <p:nvSpPr>
          <p:cNvPr id="6" name="Text 4"/>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相应赔偿权已获确认；普通法律不得抵触宪法。</a:t>
            </a:r>
            <a:endParaRPr lang="zh-CN" sz="2400" dirty="0"/>
          </a:p>
        </p:txBody>
      </p:sp>
      <p:sp>
        <p:nvSpPr>
          <p:cNvPr id="7" name="Shape 5"/>
          <p:cNvSpPr/>
          <p:nvPr/>
        </p:nvSpPr>
        <p:spPr>
          <a:xfrm>
            <a:off x="713232" y="3863340"/>
            <a:ext cx="73152" cy="1696212"/>
          </a:xfrm>
          <a:prstGeom prst="rect">
            <a:avLst/>
          </a:prstGeom>
          <a:solidFill>
            <a:srgbClr val="9B3D32"/>
          </a:solidFill>
          <a:ln w="12700">
            <a:solidFill>
              <a:srgbClr val="9B3D32">
                <a:alpha val="0"/>
              </a:srgbClr>
            </a:solidFill>
            <a:prstDash val="solid"/>
          </a:ln>
        </p:spPr>
      </p:sp>
      <p:sp>
        <p:nvSpPr>
          <p:cNvPr id="8" name="Text 6"/>
          <p:cNvSpPr/>
          <p:nvPr/>
        </p:nvSpPr>
        <p:spPr>
          <a:xfrm>
            <a:off x="923544"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法律仍须</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形成的安排</a:t>
            </a:r>
            <a:endParaRPr lang="zh-CN" sz="2400" dirty="0"/>
          </a:p>
        </p:txBody>
      </p:sp>
      <p:sp>
        <p:nvSpPr>
          <p:cNvPr id="9" name="Text 7"/>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例如第7条确定赔偿义务机关，</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供请求人与办理者据以判断。</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解释具体化，应同时说明“增加了什么”和“受什么约束”。</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任务4参考说明｜宪法第5、41条；国家赔偿法第3、7、9条</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26 / 36</a:t>
            </a:r>
            <a:endParaRPr lang="zh-CN"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任务5：一部法律的开头，能决定多少？</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情况一</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普通法律没有写“根据宪法”，能否因此不受宪法约束？</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情况二</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写了“根据宪法”，是否已经证明每个条款都符合宪法？</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分别给出理由，不只报“是”或“否”。</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任务5｜宪法第5条；国家赔偿法第1条用于对照</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27 / 36</a:t>
            </a:r>
            <a:endParaRPr lang="zh-CN"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任务6：目标正当，具体措施就有依据吗？</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教学设例｜现有信息仅此</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某机关声称“为了公共利益”，限制了乙的行动。</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请分两层回答</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这些信息能否证明措施已获合法授权？</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要继续判断，具体还缺什么信息？</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指出具体缺口，才能把判断继续做下去。</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任务6｜教学设例；宪法第5、33条等作规范背景</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28 / 36</a:t>
            </a:r>
            <a:endParaRPr lang="zh-CN"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任务6讲评：把目标、权限、条件和程序分开</a:t>
            </a:r>
            <a:endParaRPr lang="zh-CN" sz="3600" dirty="0"/>
          </a:p>
        </p:txBody>
      </p:sp>
      <p:sp>
        <p:nvSpPr>
          <p:cNvPr id="4" name="Shape 2"/>
          <p:cNvSpPr/>
          <p:nvPr/>
        </p:nvSpPr>
        <p:spPr>
          <a:xfrm>
            <a:off x="713232" y="1920240"/>
            <a:ext cx="73152" cy="1696212"/>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现有材料</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足以说明</a:t>
            </a:r>
            <a:endParaRPr lang="zh-CN" sz="2400" dirty="0"/>
          </a:p>
        </p:txBody>
      </p:sp>
      <p:sp>
        <p:nvSpPr>
          <p:cNvPr id="6" name="Text 4"/>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抽象目标本身，不足以证明具体措施已获合法授权。</a:t>
            </a:r>
            <a:endParaRPr lang="zh-CN" sz="2400" dirty="0"/>
          </a:p>
        </p:txBody>
      </p:sp>
      <p:sp>
        <p:nvSpPr>
          <p:cNvPr id="7" name="Shape 5"/>
          <p:cNvSpPr/>
          <p:nvPr/>
        </p:nvSpPr>
        <p:spPr>
          <a:xfrm>
            <a:off x="713232" y="3863340"/>
            <a:ext cx="73152" cy="1696212"/>
          </a:xfrm>
          <a:prstGeom prst="rect">
            <a:avLst/>
          </a:prstGeom>
          <a:solidFill>
            <a:srgbClr val="9B3D32"/>
          </a:solidFill>
          <a:ln w="12700">
            <a:solidFill>
              <a:srgbClr val="9B3D32">
                <a:alpha val="0"/>
              </a:srgbClr>
            </a:solidFill>
            <a:prstDash val="solid"/>
          </a:ln>
        </p:spPr>
      </p:sp>
      <p:sp>
        <p:nvSpPr>
          <p:cNvPr id="8" name="Text 6"/>
          <p:cNvSpPr/>
          <p:nvPr/>
        </p:nvSpPr>
        <p:spPr>
          <a:xfrm>
            <a:off x="923544"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还须查明</a:t>
            </a:r>
            <a:endParaRPr lang="zh-CN" sz="2400" dirty="0"/>
          </a:p>
        </p:txBody>
      </p:sp>
      <p:sp>
        <p:nvSpPr>
          <p:cNvPr id="9" name="Text 7"/>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什么机关与职权？什么措施？</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依据和事实条件？采用什么程序？</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有依据时作有限判断；缺材料时指出真正缺的是什么。</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任务6参考说明；与任务3对照</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29 / 36</a:t>
            </a:r>
            <a:endParaRPr lang="zh-CN"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从根本要求，到依法办理和权利救济</a:t>
            </a:r>
            <a:endParaRPr lang="zh-CN" sz="3600" dirty="0"/>
          </a:p>
        </p:txBody>
      </p:sp>
      <p:sp>
        <p:nvSpPr>
          <p:cNvPr id="4" name="Shape 2"/>
          <p:cNvSpPr/>
          <p:nvPr/>
        </p:nvSpPr>
        <p:spPr>
          <a:xfrm>
            <a:off x="804672" y="1956816"/>
            <a:ext cx="3438144" cy="770382"/>
          </a:xfrm>
          <a:prstGeom prst="rect">
            <a:avLst/>
          </a:prstGeom>
          <a:solidFill>
            <a:srgbClr val="343E3B"/>
          </a:solidFill>
          <a:ln w="12700">
            <a:solidFill>
              <a:srgbClr val="343E3B">
                <a:alpha val="0"/>
              </a:srgbClr>
            </a:solidFill>
            <a:prstDash val="solid"/>
          </a:ln>
        </p:spPr>
      </p:sp>
      <p:sp>
        <p:nvSpPr>
          <p:cNvPr id="5" name="Text 3"/>
          <p:cNvSpPr/>
          <p:nvPr/>
        </p:nvSpPr>
        <p:spPr>
          <a:xfrm>
            <a:off x="969264" y="2075688"/>
            <a:ext cx="3108960" cy="587502"/>
          </a:xfrm>
          <a:prstGeom prst="rect">
            <a:avLst/>
          </a:prstGeom>
          <a:noFill/>
          <a:ln/>
        </p:spPr>
        <p:txBody>
          <a:bodyPr wrap="none" lIns="0" tIns="0" rIns="0" bIns="0" rtlCol="0" anchor="t"/>
          <a:lstStyle/>
          <a:p>
            <a:pPr algn="l" indent="0" marL="0">
              <a:lnSpc>
                <a:spcPct val="105000"/>
              </a:lnSpc>
              <a:buNone/>
            </a:pPr>
            <a:r>
              <a:rPr lang="zh-CN" altLang="en-US" sz="2400" b="1" dirty="0">
                <a:solidFill>
                  <a:srgbClr val="F7F4ED"/>
                </a:solidFill>
                <a:latin typeface="Microsoft YaHei" pitchFamily="34" charset="0"/>
                <a:ea typeface="Microsoft YaHei" pitchFamily="34" charset="-122"/>
                <a:cs typeface="Microsoft YaHei" pitchFamily="34" charset="-120"/>
              </a:rPr>
              <a:t>宪法要求</a:t>
            </a:r>
            <a:endParaRPr lang="zh-CN" sz="2400" dirty="0"/>
          </a:p>
        </p:txBody>
      </p:sp>
      <p:sp>
        <p:nvSpPr>
          <p:cNvPr id="6" name="Text 4"/>
          <p:cNvSpPr/>
          <p:nvPr/>
        </p:nvSpPr>
        <p:spPr>
          <a:xfrm>
            <a:off x="4617720" y="2048256"/>
            <a:ext cx="6675120" cy="65151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确认权利并约束立法和履职</a:t>
            </a:r>
            <a:endParaRPr lang="zh-CN" sz="2400" dirty="0"/>
          </a:p>
        </p:txBody>
      </p:sp>
      <p:sp>
        <p:nvSpPr>
          <p:cNvPr id="7" name="Shape 5"/>
          <p:cNvSpPr/>
          <p:nvPr/>
        </p:nvSpPr>
        <p:spPr>
          <a:xfrm>
            <a:off x="2523744" y="2745486"/>
            <a:ext cx="0" cy="137160"/>
          </a:xfrm>
          <a:prstGeom prst="line">
            <a:avLst/>
          </a:prstGeom>
          <a:noFill/>
          <a:ln w="16510">
            <a:solidFill>
              <a:srgbClr val="9B3D32"/>
            </a:solidFill>
            <a:prstDash val="solid"/>
            <a:tailEnd type="triangle"/>
          </a:ln>
        </p:spPr>
      </p:sp>
      <p:sp>
        <p:nvSpPr>
          <p:cNvPr id="8" name="Shape 6"/>
          <p:cNvSpPr/>
          <p:nvPr/>
        </p:nvSpPr>
        <p:spPr>
          <a:xfrm>
            <a:off x="804672" y="2900934"/>
            <a:ext cx="3438144" cy="770382"/>
          </a:xfrm>
          <a:prstGeom prst="rect">
            <a:avLst/>
          </a:prstGeom>
          <a:solidFill>
            <a:srgbClr val="E8ECE6"/>
          </a:solidFill>
          <a:ln w="12700">
            <a:solidFill>
              <a:srgbClr val="E8ECE6">
                <a:alpha val="0"/>
              </a:srgbClr>
            </a:solidFill>
            <a:prstDash val="solid"/>
          </a:ln>
        </p:spPr>
      </p:sp>
      <p:sp>
        <p:nvSpPr>
          <p:cNvPr id="9" name="Text 7"/>
          <p:cNvSpPr/>
          <p:nvPr/>
        </p:nvSpPr>
        <p:spPr>
          <a:xfrm>
            <a:off x="969264" y="3019806"/>
            <a:ext cx="3108960" cy="587502"/>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普通法律的具体规定</a:t>
            </a:r>
            <a:endParaRPr lang="zh-CN" sz="2400" dirty="0"/>
          </a:p>
        </p:txBody>
      </p:sp>
      <p:sp>
        <p:nvSpPr>
          <p:cNvPr id="10" name="Text 8"/>
          <p:cNvSpPr/>
          <p:nvPr/>
        </p:nvSpPr>
        <p:spPr>
          <a:xfrm>
            <a:off x="4617720" y="2992374"/>
            <a:ext cx="6675120" cy="65151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形成情形、义务主体和提出途径</a:t>
            </a:r>
            <a:endParaRPr lang="zh-CN" sz="2400" dirty="0"/>
          </a:p>
        </p:txBody>
      </p:sp>
      <p:sp>
        <p:nvSpPr>
          <p:cNvPr id="11" name="Shape 9"/>
          <p:cNvSpPr/>
          <p:nvPr/>
        </p:nvSpPr>
        <p:spPr>
          <a:xfrm>
            <a:off x="2523744" y="3689604"/>
            <a:ext cx="0" cy="137160"/>
          </a:xfrm>
          <a:prstGeom prst="line">
            <a:avLst/>
          </a:prstGeom>
          <a:noFill/>
          <a:ln w="16510">
            <a:solidFill>
              <a:srgbClr val="9B3D32"/>
            </a:solidFill>
            <a:prstDash val="solid"/>
            <a:tailEnd type="triangle"/>
          </a:ln>
        </p:spPr>
      </p:sp>
      <p:sp>
        <p:nvSpPr>
          <p:cNvPr id="12" name="Shape 10"/>
          <p:cNvSpPr/>
          <p:nvPr/>
        </p:nvSpPr>
        <p:spPr>
          <a:xfrm>
            <a:off x="804672" y="3845052"/>
            <a:ext cx="3438144" cy="770382"/>
          </a:xfrm>
          <a:prstGeom prst="rect">
            <a:avLst/>
          </a:prstGeom>
          <a:solidFill>
            <a:srgbClr val="E8ECE6"/>
          </a:solidFill>
          <a:ln w="12700">
            <a:solidFill>
              <a:srgbClr val="E8ECE6">
                <a:alpha val="0"/>
              </a:srgbClr>
            </a:solidFill>
            <a:prstDash val="solid"/>
          </a:ln>
        </p:spPr>
      </p:sp>
      <p:sp>
        <p:nvSpPr>
          <p:cNvPr id="13" name="Text 11"/>
          <p:cNvSpPr/>
          <p:nvPr/>
        </p:nvSpPr>
        <p:spPr>
          <a:xfrm>
            <a:off x="969264" y="3963924"/>
            <a:ext cx="3108960" cy="587502"/>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机关依法办理赔偿</a:t>
            </a:r>
            <a:endParaRPr lang="zh-CN" sz="2400" dirty="0"/>
          </a:p>
        </p:txBody>
      </p:sp>
      <p:sp>
        <p:nvSpPr>
          <p:cNvPr id="14" name="Text 12"/>
          <p:cNvSpPr/>
          <p:nvPr/>
        </p:nvSpPr>
        <p:spPr>
          <a:xfrm>
            <a:off x="4617720" y="3936492"/>
            <a:ext cx="6675120" cy="65151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核对事实、适用规则并履行义务</a:t>
            </a:r>
            <a:endParaRPr lang="zh-CN" sz="2400" dirty="0"/>
          </a:p>
        </p:txBody>
      </p:sp>
      <p:sp>
        <p:nvSpPr>
          <p:cNvPr id="15" name="Shape 13"/>
          <p:cNvSpPr/>
          <p:nvPr/>
        </p:nvSpPr>
        <p:spPr>
          <a:xfrm>
            <a:off x="2523744" y="4633722"/>
            <a:ext cx="0" cy="137160"/>
          </a:xfrm>
          <a:prstGeom prst="line">
            <a:avLst/>
          </a:prstGeom>
          <a:noFill/>
          <a:ln w="16510">
            <a:solidFill>
              <a:srgbClr val="9B3D32"/>
            </a:solidFill>
            <a:prstDash val="solid"/>
            <a:tailEnd type="triangle"/>
          </a:ln>
        </p:spPr>
      </p:sp>
      <p:sp>
        <p:nvSpPr>
          <p:cNvPr id="16" name="Shape 14"/>
          <p:cNvSpPr/>
          <p:nvPr/>
        </p:nvSpPr>
        <p:spPr>
          <a:xfrm>
            <a:off x="804672" y="4789170"/>
            <a:ext cx="3438144" cy="770382"/>
          </a:xfrm>
          <a:prstGeom prst="rect">
            <a:avLst/>
          </a:prstGeom>
          <a:solidFill>
            <a:srgbClr val="E8ECE6"/>
          </a:solidFill>
          <a:ln w="12700">
            <a:solidFill>
              <a:srgbClr val="E8ECE6">
                <a:alpha val="0"/>
              </a:srgbClr>
            </a:solidFill>
            <a:prstDash val="solid"/>
          </a:ln>
        </p:spPr>
      </p:sp>
      <p:sp>
        <p:nvSpPr>
          <p:cNvPr id="17" name="Text 15"/>
          <p:cNvSpPr/>
          <p:nvPr/>
        </p:nvSpPr>
        <p:spPr>
          <a:xfrm>
            <a:off x="969264" y="4908042"/>
            <a:ext cx="3108960" cy="587502"/>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法定权利救济</a:t>
            </a:r>
            <a:endParaRPr lang="zh-CN" sz="2400" dirty="0"/>
          </a:p>
        </p:txBody>
      </p:sp>
      <p:sp>
        <p:nvSpPr>
          <p:cNvPr id="18" name="Text 16"/>
          <p:cNvSpPr/>
          <p:nvPr/>
        </p:nvSpPr>
        <p:spPr>
          <a:xfrm>
            <a:off x="4617720" y="4880610"/>
            <a:ext cx="6675120" cy="65151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请求通过相应制度获得依法处理</a:t>
            </a:r>
            <a:endParaRPr lang="zh-CN" sz="2400" dirty="0"/>
          </a:p>
        </p:txBody>
      </p:sp>
      <p:sp>
        <p:nvSpPr>
          <p:cNvPr id="19" name="Text 17"/>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本例为赔偿救济；连线表示制度联系，不表示自动兑现。</a:t>
            </a:r>
            <a:endParaRPr lang="zh-CN" sz="2400" dirty="0"/>
          </a:p>
        </p:txBody>
      </p:sp>
      <p:sp>
        <p:nvSpPr>
          <p:cNvPr id="20" name="Text 18"/>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宪法第5、41条；国办发〔1994〕106号（历史实施背景）</a:t>
            </a:r>
            <a:endParaRPr lang="zh-CN" sz="1200" dirty="0"/>
          </a:p>
        </p:txBody>
      </p:sp>
      <p:sp>
        <p:nvSpPr>
          <p:cNvPr id="21" name="Text 19"/>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30 / 36</a:t>
            </a:r>
            <a:endParaRPr lang="zh-CN"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任务7：把国家的制度与个人的权利接起来</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用两三句话</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回答</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宪法、普通法律、机关履职</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和个人权利之间是什么关系？</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给一个</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具体支撑</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可以选本课的机关负责监督关系，</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或国家赔偿的一项安排。</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宪法总论：国家怎样组织，权力怎样受约束，权利怎样获保障。</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任务7及第一讲收束；下一讲：宪法的发展</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31 / 36</a:t>
            </a:r>
            <a:endParaRPr lang="zh-CN"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100分钟条件性扩展｜第一学时增加5分钟</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延伸讨论一：宪法只有抽象原则吗？</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待辨析的说法｜教学设定</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“宪法只有抽象原则，普通法律才有具体规则。”</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请用材料C回应</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第64条能否提供反例？据此又能否说宪法与普通法律地位相同？</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用反例修正过宽概括，不走向另一个过宽概括。</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扩展E1｜宪法第64条</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32 / 36</a:t>
            </a:r>
            <a:endParaRPr lang="zh-CN"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100分钟条件性扩展｜第一学时增加5分钟</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延伸讨论一讲评：具体程度不决定效力地位</a:t>
            </a:r>
            <a:endParaRPr lang="zh-CN" sz="3600" dirty="0"/>
          </a:p>
        </p:txBody>
      </p:sp>
      <p:sp>
        <p:nvSpPr>
          <p:cNvPr id="4" name="Shape 2"/>
          <p:cNvSpPr/>
          <p:nvPr/>
        </p:nvSpPr>
        <p:spPr>
          <a:xfrm>
            <a:off x="713232" y="1920240"/>
            <a:ext cx="73152" cy="1956816"/>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911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第64条</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提供的反例</a:t>
            </a:r>
            <a:endParaRPr lang="zh-CN" sz="2400" dirty="0"/>
          </a:p>
        </p:txBody>
      </p:sp>
      <p:sp>
        <p:nvSpPr>
          <p:cNvPr id="6" name="Text 4"/>
          <p:cNvSpPr/>
          <p:nvPr/>
        </p:nvSpPr>
        <p:spPr>
          <a:xfrm>
            <a:off x="3410712" y="1965960"/>
            <a:ext cx="8019288" cy="191109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宪法也规定明确的提议主体和通过门槛。</a:t>
            </a:r>
            <a:endParaRPr lang="zh-CN" sz="2400" dirty="0"/>
          </a:p>
        </p:txBody>
      </p:sp>
      <p:sp>
        <p:nvSpPr>
          <p:cNvPr id="7" name="Shape 5"/>
          <p:cNvSpPr/>
          <p:nvPr/>
        </p:nvSpPr>
        <p:spPr>
          <a:xfrm>
            <a:off x="713232" y="4123944"/>
            <a:ext cx="73152" cy="1956816"/>
          </a:xfrm>
          <a:prstGeom prst="rect">
            <a:avLst/>
          </a:prstGeom>
          <a:solidFill>
            <a:srgbClr val="9B3D32"/>
          </a:solidFill>
          <a:ln w="12700">
            <a:solidFill>
              <a:srgbClr val="9B3D32">
                <a:alpha val="0"/>
              </a:srgbClr>
            </a:solidFill>
            <a:prstDash val="solid"/>
          </a:ln>
        </p:spPr>
      </p:sp>
      <p:sp>
        <p:nvSpPr>
          <p:cNvPr id="8" name="Text 6"/>
          <p:cNvSpPr/>
          <p:nvPr/>
        </p:nvSpPr>
        <p:spPr>
          <a:xfrm>
            <a:off x="923544" y="4169664"/>
            <a:ext cx="2194560" cy="1911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应当保留的</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区别</a:t>
            </a:r>
            <a:endParaRPr lang="zh-CN" sz="2400" dirty="0"/>
          </a:p>
        </p:txBody>
      </p:sp>
      <p:sp>
        <p:nvSpPr>
          <p:cNvPr id="9" name="Text 7"/>
          <p:cNvSpPr/>
          <p:nvPr/>
        </p:nvSpPr>
        <p:spPr>
          <a:xfrm>
            <a:off x="3410712" y="4169664"/>
            <a:ext cx="8019288" cy="191109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抽象或具体，不等于效力高或</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低；普通法律也可能规定原则。</a:t>
            </a:r>
            <a:endParaRPr lang="zh-CN" sz="2400" dirty="0"/>
          </a:p>
        </p:txBody>
      </p:sp>
      <p:sp>
        <p:nvSpPr>
          <p:cNvPr id="10" name="Text 8"/>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扩展E1参考说明｜宪法序言、第5、64条</a:t>
            </a:r>
            <a:endParaRPr lang="zh-CN" sz="1200" dirty="0"/>
          </a:p>
        </p:txBody>
      </p:sp>
      <p:sp>
        <p:nvSpPr>
          <p:cNvPr id="11" name="Text 9"/>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33 / 36</a:t>
            </a:r>
            <a:endParaRPr lang="zh-CN"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100分钟条件性扩展｜第二学时增加5分钟</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延伸讨论二：有条文，为什么仍要追问实施？</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教学假设</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有关权利及办理规则已经明确，但一项请求迟迟未获依法处理。</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请说明</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反复宣读同一权利条款是否已经解决问题？指出还要查明的一项办</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理环节，并解释这为何不等于宪法无效。</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区分规范要求与履行过程，指出下一步要查什么。</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扩展E2｜教学假设</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34 / 36</a:t>
            </a:r>
            <a:endParaRPr lang="zh-CN"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100分钟条件性扩展｜第二学时增加5分钟</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延伸讨论二讲评：规范提供要求，履职需要落实</a:t>
            </a:r>
            <a:endParaRPr lang="zh-CN" sz="3600" dirty="0"/>
          </a:p>
        </p:txBody>
      </p:sp>
      <p:sp>
        <p:nvSpPr>
          <p:cNvPr id="4" name="Shape 2"/>
          <p:cNvSpPr/>
          <p:nvPr/>
        </p:nvSpPr>
        <p:spPr>
          <a:xfrm>
            <a:off x="713232" y="1920240"/>
            <a:ext cx="73152" cy="1956816"/>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911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可以继续查明</a:t>
            </a:r>
            <a:endParaRPr lang="zh-CN" sz="2400" dirty="0"/>
          </a:p>
        </p:txBody>
      </p:sp>
      <p:sp>
        <p:nvSpPr>
          <p:cNvPr id="6" name="Text 4"/>
          <p:cNvSpPr/>
          <p:nvPr/>
        </p:nvSpPr>
        <p:spPr>
          <a:xfrm>
            <a:off x="3410712" y="1965960"/>
            <a:ext cx="8019288" cy="191109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请求是否依法受理、事实是否核实、义务是否履行，以</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及有关纠正途径。</a:t>
            </a:r>
            <a:endParaRPr lang="zh-CN" sz="2400" dirty="0"/>
          </a:p>
        </p:txBody>
      </p:sp>
      <p:sp>
        <p:nvSpPr>
          <p:cNvPr id="7" name="Shape 5"/>
          <p:cNvSpPr/>
          <p:nvPr/>
        </p:nvSpPr>
        <p:spPr>
          <a:xfrm>
            <a:off x="713232" y="4123944"/>
            <a:ext cx="73152" cy="1956816"/>
          </a:xfrm>
          <a:prstGeom prst="rect">
            <a:avLst/>
          </a:prstGeom>
          <a:solidFill>
            <a:srgbClr val="9B3D32"/>
          </a:solidFill>
          <a:ln w="12700">
            <a:solidFill>
              <a:srgbClr val="9B3D32">
                <a:alpha val="0"/>
              </a:srgbClr>
            </a:solidFill>
            <a:prstDash val="solid"/>
          </a:ln>
        </p:spPr>
      </p:sp>
      <p:sp>
        <p:nvSpPr>
          <p:cNvPr id="8" name="Text 6"/>
          <p:cNvSpPr/>
          <p:nvPr/>
        </p:nvSpPr>
        <p:spPr>
          <a:xfrm>
            <a:off x="923544" y="4169664"/>
            <a:ext cx="2194560" cy="1911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分别判断</a:t>
            </a:r>
            <a:endParaRPr lang="zh-CN" sz="2400" dirty="0"/>
          </a:p>
        </p:txBody>
      </p:sp>
      <p:sp>
        <p:nvSpPr>
          <p:cNvPr id="9" name="Text 7"/>
          <p:cNvSpPr/>
          <p:nvPr/>
        </p:nvSpPr>
        <p:spPr>
          <a:xfrm>
            <a:off x="3410712" y="4169664"/>
            <a:ext cx="8019288" cy="191109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未依法落实可能揭示实施问题；</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不由此推成规范从未有约束力。</a:t>
            </a:r>
            <a:endParaRPr lang="zh-CN" sz="2400" dirty="0"/>
          </a:p>
        </p:txBody>
      </p:sp>
      <p:sp>
        <p:nvSpPr>
          <p:cNvPr id="10" name="Text 8"/>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扩展E2参考说明；国办发〔1994〕106号为历史背景</a:t>
            </a:r>
            <a:endParaRPr lang="zh-CN" sz="1200" dirty="0"/>
          </a:p>
        </p:txBody>
      </p:sp>
      <p:sp>
        <p:nvSpPr>
          <p:cNvPr id="11" name="Text 9"/>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35 / 36</a:t>
            </a:r>
            <a:endParaRPr lang="zh-CN"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课后查读</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本讲主要依据与阅读入口</a:t>
            </a:r>
            <a:endParaRPr lang="zh-CN" sz="3600" dirty="0"/>
          </a:p>
        </p:txBody>
      </p:sp>
      <p:sp>
        <p:nvSpPr>
          <p:cNvPr id="4" name="Text 2"/>
          <p:cNvSpPr/>
          <p:nvPr/>
        </p:nvSpPr>
        <p:spPr>
          <a:xfrm>
            <a:off x="758952" y="1965960"/>
            <a:ext cx="2194560" cy="129844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规范与教材</a:t>
            </a:r>
            <a:endParaRPr lang="zh-CN" sz="2400" dirty="0"/>
          </a:p>
        </p:txBody>
      </p:sp>
      <p:sp>
        <p:nvSpPr>
          <p:cNvPr id="5" name="Text 3"/>
          <p:cNvSpPr/>
          <p:nvPr/>
        </p:nvSpPr>
        <p:spPr>
          <a:xfrm>
            <a:off x="3410712" y="1965960"/>
            <a:ext cx="8019288" cy="1298448"/>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宪法（2018年修正）；</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国家赔偿法（2012年第二次修正）；</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马工程《宪法学》第二版。</a:t>
            </a:r>
            <a:endParaRPr lang="zh-CN" sz="2400" dirty="0"/>
          </a:p>
        </p:txBody>
      </p:sp>
      <p:sp>
        <p:nvSpPr>
          <p:cNvPr id="6" name="Shape 4"/>
          <p:cNvSpPr/>
          <p:nvPr/>
        </p:nvSpPr>
        <p:spPr>
          <a:xfrm>
            <a:off x="758952" y="3387852"/>
            <a:ext cx="10671048" cy="0"/>
          </a:xfrm>
          <a:prstGeom prst="line">
            <a:avLst/>
          </a:prstGeom>
          <a:noFill/>
          <a:ln w="16510">
            <a:solidFill>
              <a:srgbClr val="CBCDC5"/>
            </a:solidFill>
            <a:prstDash val="solid"/>
          </a:ln>
        </p:spPr>
      </p:sp>
      <p:sp>
        <p:nvSpPr>
          <p:cNvPr id="7" name="Text 5"/>
          <p:cNvSpPr/>
          <p:nvPr/>
        </p:nvSpPr>
        <p:spPr>
          <a:xfrm>
            <a:off x="758952" y="3557016"/>
            <a:ext cx="2194560" cy="129844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历史与学理</a:t>
            </a:r>
            <a:endParaRPr lang="zh-CN" sz="2400" dirty="0"/>
          </a:p>
        </p:txBody>
      </p:sp>
      <p:sp>
        <p:nvSpPr>
          <p:cNvPr id="8" name="Text 6"/>
          <p:cNvSpPr/>
          <p:nvPr/>
        </p:nvSpPr>
        <p:spPr>
          <a:xfrm>
            <a:off x="3410712" y="3557016"/>
            <a:ext cx="8019288" cy="1298448"/>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共同纲领、1954年宪法及新华社资料照片；</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张翔《中国法律评论》2019年第1期；</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王锴《法学论坛》2024年第1期。</a:t>
            </a:r>
            <a:endParaRPr lang="zh-CN" sz="2400" dirty="0"/>
          </a:p>
        </p:txBody>
      </p:sp>
      <p:sp>
        <p:nvSpPr>
          <p:cNvPr id="9" name="Shape 7"/>
          <p:cNvSpPr/>
          <p:nvPr/>
        </p:nvSpPr>
        <p:spPr>
          <a:xfrm>
            <a:off x="758952" y="4978908"/>
            <a:ext cx="10671048" cy="0"/>
          </a:xfrm>
          <a:prstGeom prst="line">
            <a:avLst/>
          </a:prstGeom>
          <a:noFill/>
          <a:ln w="16510">
            <a:solidFill>
              <a:srgbClr val="CBCDC5"/>
            </a:solidFill>
            <a:prstDash val="solid"/>
          </a:ln>
        </p:spPr>
      </p:sp>
      <p:sp>
        <p:nvSpPr>
          <p:cNvPr id="10" name="Text 8"/>
          <p:cNvSpPr/>
          <p:nvPr/>
        </p:nvSpPr>
        <p:spPr>
          <a:xfrm>
            <a:off x="758952" y="5148072"/>
            <a:ext cx="2194560" cy="93268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配套阅读</a:t>
            </a:r>
            <a:endParaRPr lang="zh-CN" sz="2400" dirty="0"/>
          </a:p>
        </p:txBody>
      </p:sp>
      <p:sp>
        <p:nvSpPr>
          <p:cNvPr id="11" name="Text 9"/>
          <p:cNvSpPr/>
          <p:nvPr/>
        </p:nvSpPr>
        <p:spPr>
          <a:xfrm>
            <a:off x="3410712" y="5148072"/>
            <a:ext cx="8019288" cy="932688"/>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学生材料与逐题讲评分册；</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完整来源、原作细读和修订记录见本轮仓库入口。</a:t>
            </a:r>
            <a:endParaRPr lang="zh-CN" sz="2400" dirty="0"/>
          </a:p>
        </p:txBody>
      </p:sp>
      <p:sp>
        <p:nvSpPr>
          <p:cNvPr id="12" name="Text 10"/>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具体网页、印刷页及PDF物理页见研究与来源记录</a:t>
            </a:r>
            <a:endParaRPr lang="zh-CN" sz="1200" dirty="0"/>
          </a:p>
        </p:txBody>
      </p:sp>
      <p:sp>
        <p:nvSpPr>
          <p:cNvPr id="13" name="Text 11"/>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36 / 36</a:t>
            </a:r>
            <a:endParaRPr lang="zh-CN"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第一讲 宪法总论</dc:title>
  <dc:subject>第一讲整合试讲主版本</dc:subject>
  <dc:creator>宪法学课程备课组</dc:creator>
  <cp:lastModifiedBy>宪法学课程备课组</cp:lastModifiedBy>
  <cp:revision>1</cp:revision>
  <dcterms:created xsi:type="dcterms:W3CDTF">2026-10-05T07:58:28Z</dcterms:created>
  <dcterms:modified xsi:type="dcterms:W3CDTF">2026-10-05T07:58:28Z</dcterms:modified>
</cp:coreProperties>
</file>