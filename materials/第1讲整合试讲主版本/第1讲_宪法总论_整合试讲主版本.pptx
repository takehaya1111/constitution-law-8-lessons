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notesMaster" Target="notesMasters/notesMaster1.xml"/><Relationship Id="rId41" Type="http://schemas.openxmlformats.org/officeDocument/2006/relationships/presProps" Target="presProps.xml"/><Relationship Id="rId42" Type="http://schemas.openxmlformats.org/officeDocument/2006/relationships/viewProps" Target="viewProps.xml"/><Relationship Id="rId43" Type="http://schemas.openxmlformats.org/officeDocument/2006/relationships/theme" Target="theme/theme1.xml"/><Relationship Id="rId4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01｜宪法总论
上节（本节0—45分钟）｜本节约0—2.1分钟
页定位按180汉字/分钟与计划独立活动粗列，不是实测；口读校正、多语速、活动情景及调整路径见双45分钟容量报告。
1. 逐字讲述
先看这张照片。1954年9月15日，第一届全国人民代表大会第一次会议的代表走进中南海怀仁堂。五天以后，这次大会通过了新中国第一部宪法。照片记录的是入场，宪法的通过发生在9月20日。
2. 活动，不朗读（0.5分钟）
观察照片，留意会议名称，再独立想一想屏幕上的问题。教师停讲。
3. 逐字讲述
到1954年，新中国已经成立，国家机关已经在工作，也已经有了规范国家生活的共同纲领。为什么还要制定一部宪法？如果把答案只说成“因为宪法最重要”，我们只是换了一个词，还没有解释这部法律要做什么。
4. 逐字讲述
今天我们从这个问题出发，先看国家生活中有哪些事情需要共同而稳定的根本安排，再看这些安排怎样组织和约束权力。后半堂把目光移到一位请求国家赔偿的公民身上，看看一项宪法权利如何通过具体法律和机关履职获得回应。到课末，希望大家能把这两个尺度接起来：国家的制度，怎样关系到一个人的处境。
教师备查，不朗读
照片不证明现行最高效力。原图署名保留；不编造人物心理或会场对话。
本页出处
新华社刘东鳌摄：1954年9月15日代表入场
来源及定位
新华社资料照片
https://www.xinhuanet.com/politics/2019-09/15/c_1124998159.htm
代表进入怀仁堂；既有原图与来源保留
宪法制定和发展完善历程
https://www.npc.gov.cn/npc/c12434/dzlfxzgcl70nlflc/202108/t20210824_313204.html
1954年9月20日通过宪法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02｜从过渡安排，到持续的共同规则
上节（本节0—45分钟）｜本节约2.1—4.9分钟
页定位按180汉字/分钟与计划独立活动粗列，不是实测；口读校正、多语速、活动情景及调整路径见双45分钟容量报告。
1. 逐字讲述
先把两份历史文本放在一起。1949年的共同纲领发挥了临时宪法的作用。第十三条已经考虑到全国人大召开以前怎样安排国家权力，明确由政协全体会议执行全国人大的职权。请看“以前”这个词，它告诉我们：当时的安排面对的是一个过渡阶段。
2. 活动，不朗读（0.75分钟）
读学生材料A的两段历史节录，圈出“以前”和“最高国家权力机关”。
3. 逐字讲述
1954年，全国人大召开，当年宪法第二十一条确认全国人大是最高国家权力机关。这就不只是两份文件先后出现，而是过渡安排向全国人大制度的进一步展开衔接。制定宪法有具体的制度内容，不是为一本更重要的书换封面。
4. 逐字讲述
再向前想一步。一次会议可以决定这一次要做什么；根本规则还要使后来的国家活动有所遵循。将来换了任职者，有关机关仍须在法定地位、权限和责任中工作。宪法把国家的根本安排写成共同规范，使我们能够超出某个人的愿望或某一次临时决定，讨论国家应当怎样运行。
5. 逐字讲述
这个历史对照帮助我们提出问题，但不替代对今天条文的理解。我们现在回到2018年修正的现行宪法，看看持续的共同规则具体规定了什么。完整的制宪发展过程，下一讲再展开。
教师备查，不朗读
屏幕第一段为历史条文提要，有简称，不冒充逐字引文；所用原句见学生材料。起草委员会与全国人大审议通过不同，若被问及据旧来源说明，不展开起草年代线。
节内短讲C1：历史对照
替换本页全部口述；本页既定独立阅读/学生回应仍执行。含阅读的页先依原任务阅读，再连续讲短版，不再读主版同页讲述。
以下短讲替换本页全部口述；不要与上面的主讲重复朗读。
共同纲领第十三条规定，在普选的全国人大召开以前，由政协全体会议执行全国人大的职权。这里已有过渡性规则。1954年全国人大召开，当年宪法第二十一条确认它是最高国家权力机关，说明过渡安排进一步展开为国家制度。宪法不是给一本更重要的书换封面，而是把根本安排写成后来国家活动应当遵循的共同规范。历史对照帮助我们提出问题，现行效力仍须回到今天的宪法，完整制宪史留下一讲。
本页出处
共同纲领第13条提要；1954年宪法第21条原文
来源及定位
共同纲领
http://www.cppcc.gov.cn/2011/12/16/ARTI1513309181327976.shtml
第13条；既有原文
1954年宪法
http://www.cppcc.gov.cn/2011/09/06/ARTI1315304517625183.shtml
第21条；既有原文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03｜先读国家要做什么，再读怎样组织国家
上节（本节0—45分钟）｜本节约4.9—7.8分钟
页定位按180汉字/分钟与计划独立活动粗列，不是实测；口读校正、多语速、活动情景及调整路径见双45分钟容量报告。
1. 逐字讲述
请翻到材料A现行宪法部分。序言明确说，国家的根本任务是沿着中国特色社会主义道路，集中力量进行社会主义现代化建设。这里回答国家发展的根本方向。序言末段又说明，宪法规定国家的根本制度和根本任务，具有最高法律效力。先把这两处各自回答的问题分开。
2. 活动，不朗读（1.25分钟）
静默阅读材料A现行序言两段，标出“根本任务”和“根本法地位”。
3. 逐字讲述
国家要实现共同任务，就要组织资源、形成决定、付诸行动。这些活动由谁来进行，用什么权力来进行，对人的权利承担什么义务，不能留给每个机关临时回答。因此，根本任务与国家机构、基本权利并不是两组不相干的内容：有共同目标，也需要实现目标的制度和规则。
4. 逐字讲述
材料A列有宪法目录。请留意，国家的根本方向、权力组织和公民地位被放进同一个法律文本。对未来从事公安工作的同学而言，维护秩序也要回答：机关从何获得职权，履职须遵守什么？下面看总纲的两个起点。
本页出处
现行宪法序言（节录）与目录
来源及定位
中华人民共和国宪法（2018年修正）
https://www.mofcom.gov.cn/xxgcxjpxsdzgtsshzysx/zywj/art/2018/art_45c1e16fe351469090d53e63178268c8.html
序言根本任务所在段及末段；目录</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04｜国家的根本安排，先回答哪些问题？
上节（本节0—45分钟）｜本节约7.8—9.6分钟
页定位按180汉字/分钟与计划独立活动粗列，不是实测；口读校正、多语速、活动情景及调整路径见双45分钟容量报告。
1. 逐字讲述
第一条规定我国是工人阶级领导的、以工农联盟为基础的人民民主专政的社会主义国家；社会主义制度是根本制度，中国共产党领导是中国特色社会主义最本质的特征。第二条随即明确，一切权力属于人民。这里既有国家性质和根本制度，也有国家权力归属。
2. 逐字讲述
为什么这些内容具有根本性？因为无论以后讨论经济制度、教育事务、公安履职还是赔偿请求，都已经置身于一定的国家制度和权力秩序之中。具体法律不能每进入一个领域，就重新决定国家性质、权力属于谁、公民是否有基本权利。宪法先确立这些共同前提，其他法律和国家活动在其中展开。
3. 逐字讲述
普通法律处理具体事务，同样关系到人的切身利益。这里区分的是规范承担的工作：宪法确立共同的基本安排，普通法律展开具体领域的规则。宪法没有把每项合同条款、犯罪构成和赔偿标准全部写进来。现在把已经看到的内容连成概念。
教师备查，不朗读
屏幕第1条为明确的教学提要，不加原文引号；完整条文在材料B。第3、4讲分别深化国体政体和基本制度。
本页出处
现行宪法第1、2条；教材印刷18—20页
来源及定位
中华人民共和国宪法（2018年修正）
https://www.mofcom.gov.cn/xxgcxjpxsdzgtsshzysx/zywj/art/2018/art_45c1e16fe351469090d53e63178268c8.html
第1、2条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05｜现在，把“宪法”说完整
上节（本节0—45分钟）｜本节约9.6—10.8分钟
页定位按180汉字/分钟与计划独立活动粗列，不是实测；口读校正、多语速、活动情景及调整路径见双45分钟容量报告。
1. 逐字讲述
我们可以作这样的概括：宪法是规定国家根本制度和根本任务、公民基本权利和义务、国家权力组织运行等根本问题，具有最高法律效力的国家根本法。这是本课根据教材和条文作的概括，便于把刚才看到的内容连起来。
2. 逐字讲述
概念不只帮助我们认出一本书，还帮助我们判断正在讨论哪一层问题。问权力属于谁，是在问根本安排；问普通法律能否背离宪法，是在问效力关系；问怎样修改宪法，是在问根本规则的程序保障。三个方面相互联系，但不能互相替代。
3. 逐字讲述
下面就把第二个方面展开：宪法为什么能够约束制定法律的活动？请直接看第5条。
教师备查，不朗读
这里不是某一条宪法的逐字定义。完整解释与修宪对照分别在后页，不恢复词源、分类与渊源目录。
本页出处
教材印刷18—20页；宪法序言末段
来源及定位
中华人民共和国宪法（2018年修正）
https://www.mofcom.gov.cn/xxgcxjpxsdzgtsshzysx/zywj/art/2018/art_45c1e16fe351469090d53e63178268c8.html
序言末段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06｜制定法律的人和机关，也处在宪法之内
上节（本节0—45分钟）｜本节约10.8—15.5分钟
页定位按180汉字/分钟与计划独立活动粗列，不是实测；口读校正、多语速、活动情景及调整路径见双45分钟容量报告。
1. 逐字讲述
我们刚才说，宪法规定国家权力归属和机关安排。现在把立法放进这个框架：制定法律本身也是行使国家权力。立法机关的地位和权限并不在宪法之外，因此它形成的具体规则也不能取得排除宪法约束的权力。
2. 活动，不朗读（0.5分钟）
读第5条第3款，圈出被约束的规范种类和“不得抵触”。
3. 逐字讲述
第5条把这个关系说得很明确：一切法律、行政法规和地方性法规，都不得同宪法相抵触。最高效力因此不只是一句高低排名，它要求其他规范在制定和实施中符合宪法。规则写得更详细，并不会使它的位置反而高于宪法。
4. 逐字讲述
我们可以作一个简短的设想。如果每个领域的法律都能说“在我这里，宪法要求可以不算”，共同的国家制度和基本权利就会被分领域逐项排除。最终剩下的只是宪法的名称，失去的是它作为共同规范的作用。普通法律可以在一个领域作具体选择，但具体选择要在共同约束下形成。
5. 逐字讲述
这里有一个值得认真对待的疑问：立法机关需要回应现实问题，如果始终受一部宪法约束，岂不是只能照抄，失去了作出新安排的能力？这个担心抓住了立法的一项真实工作。社会中哪些情况应当区别对待，义务由谁承担，什么程序既可靠又可行，都需要判断；宪法没有预先替立法者完成所有调查和选择。
6. 逐字讲述
但是，从需要作判断，不能直接推出可以不受约束。请分清两件事：一件是某种安排不能越过共同规则，另一件是在共同规则允许的范围内选择哪种具体办法。前者给判断设定依据，后者才有继续讨论不同办法的空间。如果把具体选择全部取消，立法就难以回应新的生活问题；如果把约束全部取消，所谓具体选择又能把基本权利和国家制度逐项排除。
7. 逐字讲述
判断一种新规定时，因此至少要追问两层。先问它有没有触及宪法已经规定的权限、程序和权利要求；再问在这些要求之内，它根据什么事实作出具体安排。不能只因有新的细节就说它违背宪法，也不能只因它要解决一个实际问题就免除宪法上的追问。最高效力不是替所有部门写好全部答案，而是使它们不能各自决定哪些根本要求还算数。
8. 逐字讲述
你将来适用具体职权规定，仍在这个规范关系之中。后半堂用国家赔偿法观察具体安排。现在先追问：权力既然属于人民，怎样被组织成能够运行的国家机构？
教师备查，不朗读
不由本页推出任何个人可自行宣布法律普遍失效，纠正机制留第8讲；规范结构说明不冒充完整的宪法权威历史解释。
节内短讲C2：立法受约束与作选择
替换本页全部口述；本页既定独立阅读/学生回应仍执行。含阅读的页先依原任务阅读，再连续讲短版，不再读主版同页讲述。
以下短讲替换本页全部口述；不要与上面的主讲重复朗读。
刚才读到的第5条第3款要求法律不得抵触宪法。立法本身也是国家权力的行使，其他法律不得抵触宪法；不是规则越详细，效力越高。有人担心，这样会不会把立法变成照抄？需要回应：受约束与没有选择是两回事。宪法没有预先写完所有生活领域的办法，立法仍要根据事实安排条件、主体和程序。但是，需要解决实际问题，也不能成为排除宪法要求的理由。判断一项新规则，既要问有没有越过宪法的权限、程序和权利要求，也要问范围内的具体选择依据什么。取消选择，难以回应现实；取消约束，根本要求又会被逐项排除。接着看国家权力怎样组织，后半节再用赔偿条文检验这些关系。
本页出处
宪法第5条第3款；教材印刷19—20页
来源及定位
中华人民共和国宪法（2018年修正）
https://www.mofcom.gov.cn/xxgcxjpxsdzgtsshzysx/zywj/art/2018/art_45c1e16fe351469090d53e63178268c8.html
第5条第3款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07｜“属于人民”，怎样进入国家机构？
上节（本节0—45分钟）｜本节约15.5—19.1分钟
页定位按180汉字/分钟与计划独立活动粗列，不是实测；口读校正、多语速、活动情景及调整路径见双45分钟容量报告。
1. 逐字讲述
请把第2条与第3条连续读。第2条先说明权力属于人民，再说明人民行使国家权力的机关是全国人大和地方各级人大。第3条则写出民主选举、负责和监督，并说明行政、监察、审判、检察机关同人大的关系。
2. 活动，不朗读（1.25分钟）
阅读材料B第2条及第3条前三款，在“产生”“负责”“监督”下划线。
3. 逐字讲述
图中的向下箭头只表示产生或组织关系：人大由民主选举产生，相应国家机关由人大产生。它没有展开直接选举与间接选举的层级，不能读成各级人大都由全体人民直接选举。负责和监督请看右侧文字：人大对人民负责、受人民监督；这些机关对产生它的人大负责、受该人大监督。产生说明制度位置，负责和监督说明持续的责任，不能用同一根向下箭头代替。
4. 逐字讲述
第2条也没有把人民管理国家和社会事务的方式缩成参加一次选举。它还规定人民依照法律，通过各种途径和形式，管理国家事务、经济和文化事业以及社会事务。本课先认识整体关系，具体制度以后逐一展开。
5. 逐字讲述
民主集中制在这里有实际内容：既有民主选举和监督，也有由相应国家机关依法形成并执行决定的组织安排。不能只记住“集中”，也不能把每个人的个人决定都当作国家决定。权力属于人民，与权力通过制度得到组织，是需要同时说明的两件事。
教师备查，不朗读
人大由人民选举产生的直接/间接层级不在本页铺开；图不表示所有人大都由全民直接选举。民主集中制完整内容包括中央地方关系等，留后续。
本页出处
宪法第2、3条；选举层级未展开，非各级均全民直选
来源及定位
中华人民共和国宪法（2018年修正）
https://www.mofcom.gov.cn/xxgcxjpxsdzgtsshzysx/zywj/art/2018/art_45c1e16fe351469090d53e63178268c8.html
第2条全部；第3条前三款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08｜机关依法产生，为什么还要依法履职？
上节（本节0—45分钟）｜本节约19.1—22.9分钟
页定位按180汉字/分钟与计划独立活动粗列，不是实测；口读校正、多语速、活动情景及调整路径见双45分钟容量报告。
1. 逐字讲述
有同学可能会问：既然机关已经依照制度产生，为什么还要不断强调依法履职和监督？因为机关怎样产生，与它每次怎样行使职权，是两个相连却不同的问题。具有法定地位，不等于每项具体行为都已经得到证明。
2. 逐字讲述
例如，第3条不是只写“由人大产生”便结束，还写“对它负责，受它监督”。这说明责任并不是等到我们怀疑某个人品质时才临时加上的要求，它本来就是机关关系的一部分。产生赋予机关履职的制度位置，负责和监督又持续约束履职。
3. 逐字讲述
也可以提出一个更有力的理由：机关要完成公共任务，专业人员需要信任和行动空间。如果所有决定都重新讨论一遍，可能拖延工作。不能把这个理由简单斥为不愿受监督；国家机关确实必须能够履职。问题在于，给予履职空间与取消说明责任，是不是同一件事？
4. 逐字讲述
仍看第三条。它同时写产生、负责和监督，没有把其中一项设成另一项的替代。我们可以承认机关依法作出决定的地位，同时要求它说明行为依据并依法接受监督。具体监督怎样避免重复、怎样保证专业判断，由相应制度继续安排；这一节不预设某一种监督方式永远最好。
5. 逐字讲述
因此，信任不能独自证明某次行为正确，监督也不等于把每次决定交给没有权限的人重做。我们需要的论证是：谁依法作出决定，谁承担说明和改正的责任，监督者又按什么权限行使监督。效率的要求没有消失，但它不能把宪法已经写下的负责和监督删掉。
6. 逐字讲述
教材用“民主制度化、法律化”说明宪法本质的一个重要方面。制度化，就是把人民当家作主组织为相应机关、程序和关系；法律化，就是用规范确认这些安排，使其成为应当遵守的要求。它使“人民当家作主”能够被进一步追问：通过什么制度，对谁负责，怎样受到监督。
7. 逐字讲述
因此，我们理解权力属于人民，不能停在权力从哪里来的第一句话。还要看这份权力在行使中怎样对人民负责。把权力的归属写清楚，还要把行使权力的责任写清楚。后面讲基本原则和赔偿权，都会继续回答这一层问题。
教师备查，不朗读
本质还有政治力量对比关系集中体现等教材论述。本页选择民主制度化、法律化作为必要入口，不声称穷尽本质理论。收束句为课程原创概括。
节内短讲C3：依法产生与履职责任
替换本页全部口述；本页既定独立阅读/学生回应仍执行。含阅读的页先依原任务阅读，再连续讲短版，不再读主版同页讲述。
以下短讲替换本页全部口述；不要与上面的主讲重复朗读。
机关依法产生，说明它具有相应制度地位，却不能独自证明每一次行为正确。第3条在产生之后仍写负责和监督。有人担心监督妨碍专业判断和及时行动，这种效率关切值得认真对待；但给予依法履职的空间，不等于取消说明责任。监督本身也应依法进行，不能变成任何人重做所有决定。要问的是谁作决定、依据什么、向谁负责、怎样纠正。教材所说民主制度化、法律化，就使人民当家作主进入机关、程序和责任关系，而非只停在权力属于谁。把权力的归属写清楚，还要把行使权力的责任写清楚。
本页出处
宪法第2、3条；教材印刷20—21页
来源及定位
中华人民共和国宪法（2018年修正）
https://www.mofcom.gov.cn/xxgcxjpxsdzgtsshzysx/zywj/art/2018/art_45c1e16fe351469090d53e63178268c8.html
第2、3条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09｜党的领导与依法活动，怎样连起来理解？
上节（本节0—45分钟）｜本节约22.9—24.8分钟
页定位按180汉字/分钟与计划独立活动粗列，不是实测；口读校正、多语速、活动情景及调整路径见双45分钟容量报告。
1. 逐字讲述
现在看基本原则。先把党的领导与社会主义法治放在一起。第1条确认中国共产党领导的宪法地位；第5条同时规定各政党和国家机关都必须遵守宪法和法律。这两处不是互相取消的命题，而是同一宪法中需要共同理解的要求。
2. 逐字讲述
教材解释党的领导时，谈到领导立法、保证执法、支持司法、带头守法，以及在宪法和法律范围内活动。这里的联系是：领导推动国家制度和法律的运行，也通过制度和法律的方式得到体现。不能只看领导地位而漏掉依法活动，也不能把法治理解为与我国根本制度无关的一套技术。
3. 逐字讲述
对国家机关而言，具有某项工作任务，还须说明它依据什么权限、按照什么规则履行。法律不是做完工作后再附上的说明，而是组织和开展工作的依据。有关主体共同遵守宪法法律，才使刚才所说的最高效力在权力运行中有具体方向。
4. 逐字讲述
还有一个问题没有回答：权力依法组织起来，是为了怎样对待生活在其中的人？这就把我们带到第33条。
教师备查，不朗读
两段均明确节录；材料B给完整有关款。教材原图印刷94/PDF109。避免把教材解释冒充宪法逐字原文。
本页出处
宪法第1条第2款、第5条第4款；教材印刷94页
来源及定位
中华人民共和国宪法（2018年修正）
https://www.mofcom.gov.cn/xxgcxjpxsdzgtsshzysx/zywj/art/2018/art_45c1e16fe351469090d53e63178268c8.html
第1条第2款；第5条第4款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10｜权力怎样行使，必须看见人的权利
上节（本节0—45分钟）｜本节约24.8—28.2分钟
页定位按180汉字/分钟与计划独立活动粗列，不是实测；口读校正、多语速、活动情景及调整路径见双45分钟容量报告。
1. 逐字讲述
第33条第3款写着很短一句：国家尊重和保障人权。它并不因为短，就只是装饰性的态度。它直接对国家活动提出要求：组织权力、制定规则和具体履职，都需要认真对待人的权利。
2. 活动，不朗读（0.5分钟）
读这一款，分别想一想“尊重”和“保障”把哪些问题交给国家活动。
3. 逐字讲述
尊重，提示国家不能任意侵害人的权利；保障，又提示国家要通过制度建设和依法履职保护权利。一个人处于怎样的实际情境，能否主张权利，遇到侵害怎样得到救济，都不只是条文以外的闲话，而是理解权利保障的具体入口。
4. 逐字讲述
这里也分清两个读音相同的词。国家“权力”涉及公共事务的组织与职权行使；公民“权利”涉及依法应当受到保障的利益和请求资格。机关有职权，不意味着可以任意处置人的权利；人有权利，也并非每项具体请求都无须条件。我们要看相应规范如何安排二者。
5. 逐字讲述
如果有人担心，只强调权利，会不会让国家机关什么都不能做，这个问题要用刚才的两个词来回答。保障人的安全、维持共同生活，本身可能需要国家积极履职；但一项工作有公共目的，还不足以说明任何手段都被允许。应当继续说明机关有什么职权、措施适用于哪些情形、怎样依法保护受影响的人。我们既不能把保障理解为国家一概退出，也不能把积极履职理解为权限无限。这个区别将在下半节的资料缺口题中用到。
6. 逐字讲述
后半堂的赔偿例子就是其中一种联系：国家工作人员行使职权造成法定侵害时，法律怎样回应受害人的请求。它能说明救济的一面，人权保障还有许多内容，第五讲再作系统展开。现在把它与刚才的权力归属、法治和监督放在一起。
教师备查，不朗读
尊重与保障为入门说明，不将义务类型作完备二分；基本权利主体、效力与限制留第5讲。
本页出处
宪法第33条第3款；教材印刷100页
来源及定位
中华人民共和国宪法（2018年修正）
https://www.mofcom.gov.cn/xxgcxjpxsdzgtsshzysx/zywj/art/2018/art_45c1e16fe351469090d53e63178268c8.html
第33条第3款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11｜五项原则，共同说明国家权力怎样运行
上节（本节0—45分钟）｜本节约28.2—30.2分钟
页定位按180汉字/分钟与计划独立活动粗列，不是实测；口读校正、多语速、活动情景及调整路径见双45分钟容量报告。
1. 逐字讲述
现在可以把教材的五项基本原则连起来理解：坚持中国共产党的领导、人民主权、社会主义法治、尊重和保障人权、权力监督与制约。这些名称是对宪法内容的学理归纳，读懂它们还要回到条文和制度。
2. 逐字讲述
它们不是五句依次喊过的口号，也不是完成第一步便自动发生第二步的流水线。我们面对同一项国家活动，可以同时问：它在怎样的根本制度下进行，权力来自什么制度安排，行使中遵循什么规范，对人的权利有什么义务，由谁监督并依法纠正偏离。
3. 逐字讲述
比如，一个机关由人大产生，说明了它的制度位置；对人大负责、受人大监督，说明它不能把这种位置变成不受过问的理由；尊重和保障人权，又使我们不能只看机关办成了多少事，还要看它怎样影响人的权利。几项原则各有内容，合起来使理解更完整。
4. 逐字讲述
民主集中制是国家机构组织活动的重要原则，本课通过第3条作了说明。接下来请大家自己试着把两处条文连起来，看看能否从列名词走到说明制度关系。
教师备查，不朗读
版式用共同作用的关系组织，不给五原则标单向因果箭头。不得声称该简图展示全部原则理论。
本页出处
教材第三章第二节；宪法第1、2、3、5、33条
来源及定位
中华人民共和国宪法（2018年修正）
https://www.mofcom.gov.cn/xxgcxjpxsdzgtsshzysx/zywj/art/2018/art_45c1e16fe351469090d53e63178268c8.html
第1、2、3、5、33条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12｜任务1：把两处条文连成一个解释
上节（本节0—45分钟）｜本节约30.2—32.3分钟
页定位按180汉字/分钟与计划独立活动粗列，不是实测；口读校正、多语速、活动情景及调整路径见双45分钟容量报告。
1. 逐字讲述
请做任务1。选择第2、3、33条中的至少两处，解释人民通过国家机关行使权力，为什么还要规定负责、监督和人权保障。可以先写两句话，也可以画一条带动词的关系，再向同桌解释。
2. 活动，不朗读（1.75分钟）
独立写作约1分钟，与同桌交流约45秒。停留本页，不提前显示讲评。
教师备查，不朗读
这是关系表达练习，不据一次回答认定独立掌握。后页才出现参考说明。
本页出处
任务1｜学生材料B
来源及定位
中华人民共和国宪法（2018年修正）
https://www.mofcom.gov.cn/xxgcxjpxsdzgtsshzysx/zywj/art/2018/art_45c1e16fe351469090d53e63178268c8.html
第2、3、33条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13｜任务1讲评：归属、组织与责任需要一起说明
上节（本节0—45分钟）｜本节约32.3—34.1分钟
页定位按180汉字/分钟与计划独立活动粗列，不是实测；口读校正、多语速、活动情景及调整路径见双45分钟容量报告。
1. 活动，不朗读（0.5分钟）
邀请一名学生说明所选两处条文，约30秒。
2. 逐字讲述
一种可行的回答是：权力属于人民，通过宪法规定的机关行使；机关由相应制度产生，同时应当负责、接受监督。再加上第33条，就能说明机关在履职中仍须尊重和保障人的权利。
3. 逐字讲述
如果你用的是第3条与第33条，也可以从机关的产生走到履职的约束。不同顺序都可以，关键是说出联系，而不只是把“人民主权、人权保障”两个词放在一起。
4. 逐字讲述
为什么不能只说“机关代表人民，所以行为当然正确”？因为第3条本身还规定负责与监督，第33条又提出国家活动应当遵守的权利要求。机关的法定地位和某项具体行为是否符合要求，仍需分别说明。接下来还有一个关节：这些根本规则如果需要改变，怎样保持调整与稳定之间的关系？
教师备查，不朗读
不要求学生复述屏幕措辞。只有原则名词没有制度动词，须追问补充。
本页出处
任务1参考说明｜宪法第2、3、33条
来源及定位
中华人民共和国宪法（2018年修正）
https://www.mofcom.gov.cn/xxgcxjpxsdzgtsshzysx/zywj/art/2018/art_45c1e16fe351469090d53e63178268c8.html
第2、3、33条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14｜根本规则可以改变，但修改有特别要求
上节（本节0—45分钟）｜本节约34.1—39.1分钟
页定位按180汉字/分钟与计划独立活动粗列，不是实测；口读校正、多语速、活动情景及调整路径见双45分钟容量报告。
1. 逐字讲述
宪法具有根本地位，并不意味着永远不能修改。国家生活会发展，根本规则也保留依法调整的可能。我国第64条设置了比法律和其他议案更严格的修宪通过门槛。这里先比较同一个机关、同一个分母，不展开完整程序。
2. 活动，不朗读（0.75分钟）
读材料C第64条两款，找出“全体代表”及两个通过门槛。
3. 逐字讲述
宪法修改由全国人大以全体代表三分之二以上的多数通过；法律和其他议案由全国人大以全体代表过半数通过。注意分母都是全体代表，并不是当天举手者或已经投票者。三分之二以上包括恰好三分之二，过半数不包括恰好一半。
4. 逐字讲述
为什么修改根本规则要获得更广泛的支持？一种理由是，它改变的可能不只是一项眼前安排，而是后来许多决定共同遵循的制度前提。要求更广泛同意，有助于使重大改变经过更审慎的考虑，减少规则随一时意见反复变动的风险。这里说明的是一种制度理由，不是声称我们已经证明三分之二在所有场合最优。
5. 逐字讲述
现在认真看另一面的理由。规则可能需要改正，社会条件也会发生变化。主张保留调整可能的人，并不必然轻视宪法；他可能恰恰担心，不合适的规则继续存在，同样会给国家活动和人的权利带来代价。提高门槛能够使改变更难，却不会自动使维持现状更正确。
6. 逐字讲述
只作一个明确的课堂假设：其他条件相同，把表决门槛从三分之二提高到全体一致。一方面，更少有人能在强烈反对中被迫接受改变；另一方面，即使很多代表已认为有必要调整，少数反对也足以阻止改变。这不是现实会议的故事，而是门槛条件变化后的逻辑结果。它说明选择门槛须同时面对轻率改变与难以纠正两种风险，不能只说越高越好。
7. 逐字讲述
回到我国条文，能够确定的是现行制度要求特别多数，同时保留依法修改的通道。支持比例解决按什么程序形成决定的问题；新内容是否有充分理由，还要阅读内容和材料。我们没有用这段一般分析替代精确比例的历史研究，也不在这里开始设计另一个比例。下面先辨认已经生效的门槛，再记录判断更高门槛时不能漏掉的另一面。
8. 逐字讲述
材料中还保留了修宪提议主体，便于看到完整原款。本课先用通过门槛理解程序特殊性，提议、审议和历次修改留第二讲。现在用一个很短的数字条件检查我们有没有真正看清。
教师备查，不朗读
不把全国人大门槛概括成所有机关立法的唯一规则；两款原文和提议条件见材料C。
节内短讲C4：修改门槛及其两面理由
替换本页全部口述；本页既定独立阅读/学生回应仍执行。含阅读的页先依原任务阅读，再连续讲短版，不再读主版同页讲述。
以下短讲替换本页全部口述；不要与上面的主讲重复朗读。
刚才对读了第64条两款。分母同为全国人大全体代表，修宪须三分之二以上，法律和其他议案须过半数。特别多数要求更广泛支持，可用以减少根本规则轻率变动的风险。但规则也可能需要纠正，提高门槛会让必要调整更难；更难改变不能独自证明维持现状更正确。只在其他条件相同的假设下，改成全体一致，会使更少的反对意见也足以阻止改变。这是条件分析，不是我国实际会议故事，更没有证明三分之二在所有制度中唯一最优。我国现行制度同时保留稳定要求和依法修改的通道。完整程序留第二讲，下面先识别已生效的门槛，并写出不能忽略的一项代价。
本页出处
宪法第64条两款（屏幕为通过要求节录）
来源及定位
中华人民共和国宪法（2018年修正）
https://www.mofcom.gov.cn/xxgcxjpxsdzgtsshzysx/zywj/art/2018/art_45c1e16fe351469090d53e63178268c8.html
第64条两款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15｜任务2：同样60%赞成，结果一样吗？
上节（本节0—45分钟）｜本节约39.1—40.9分钟
页定位按180汉字/分钟与计划独立活动粗列，不是实测；口读校正、多语速、活动情景及调整路径见双45分钟容量报告。
1. 逐字讲述
在均由全国人大表决、其他程序条件符合的设定下，全体代表百分之六十赞成，宪法修改与法律和其他议案能否分别通过？请直接依据两款原文说明。 再写一个短理由：为什么不能只凭“更难修改”，就认定一种门槛一定更好？
2. 活动，不朗读（1.25分钟）
独立作答75秒：先给两项门槛结论，再写出提高门槛须考虑的一项代价。
教师备查，不朗读
不得提前显示下一页结果。题目是教学设定，不指真实会议。
本页出处
任务2｜宪法第64条
来源及定位
中华人民共和国宪法（2018年修正）
https://www.mofcom.gov.cn/xxgcxjpxsdzgtsshzysx/zywj/art/2018/art_45c1e16fe351469090d53e63178268c8.html
第64条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16｜回看第一学时：“根本”已经有了哪些内容？
上节（本节0—45分钟）｜本节约40.9—43.1分钟
页定位按180汉字/分钟与计划独立活动粗列，不是实测；口读校正、多语速、活动情景及调整路径见双45分钟容量报告。
1. 逐字讲述
在题目给定的条件下，宪法修改不能通过，法律和其他议案可以通过。关键不是笼统地说“多数赞成”，而是分清要求哪一种多数。
2. 逐字讲述
关于门槛的理由，能够说明避免轻率改变，同时指出必要调整可能更难，就已经把两面的判断接起来了。若有人更重视其中一种风险，还须交代所讨论的条件；不能只把另一方说成不尊重宪法。现行规则仍按第六十四条适用，评价理由不能自行改变通过门槛。
3. 逐字讲述
回到开场，“根本法”现在就不只是最重要三个字。我们已经看到它规定国家的根本制度和任务，组织国家权力，确认基本权利；立法本身也在这个框架内，其他规范不得抵触；修改根本规则又有特别程序。
4. 逐字讲述
这三个方面相互联系，但各自都有依据。你若能把其中一项解释给别人，而不只列出名称，今天的概念就已经开始展开。下半堂要处理的疑问是：既然宪法有最高效力，为什么国家生活仍需要大量普通法律？我们把这个问题放到一项具体的赔偿请求中。
5. 活动，不朗读（0.3分钟）
学生在材料页边各写一个词，概括自己还没说清的一层关系；收回注意后下课。课间另计。
教师备查，不朗读
上节收束后课间另计。若节内选用32—33页，须按容量报告的具体路径与检查点调用，不能超出本节45分钟。
本页出处
任务2讲评；第一学时收束
来源及定位
中华人民共和国宪法（2018年修正）
https://www.mofcom.gov.cn/xxgcxjpxsdzgtsshzysx/zywj/art/2018/art_45c1e16fe351469090d53e63178268c8.html
序言末段；第5、64条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17｜一个赔偿请求，为什么要读两部法律？
下节（本节0—45分钟）｜本节约0—2.2分钟
页定位按180汉字/分钟与计划独立活动粗列，不是实测；口读校正、多语速、活动情景及调整路径见双45分钟容量报告。
1. 逐字讲述
上半堂从国家的根本安排走到权力的组织和约束。现在把问题放到一位公民身上：如果他受到国家机关和工作人员侵犯权利的损失，宪法怎样对待他的请求？请先不急着找办理机关，读第41条第三款。
2. 活动，不朗读（0.75分钟）
静默读材料D第41条第3款，圈出侵害主体、赔偿权和“依照法律规定”。
3. 逐字讲述
这项规定已经把相应赔偿确认为一项权利。公民的请求有宪法上的依据，国家活动也受到这一要求的约束。这里并不是等到某个工作人员愿意照顾，才临时承认受害人可以开口。
4. 逐字讲述
不过，真正提出请求时，还有一些问题等待回答：什么具体情形纳入赔偿，由哪个机关承担义务，怎样提出请求？第41条没有逐一写完。宪法既已经确认权利，又明确写了依照法律规定，这两层话为什么可以同时成立？我们先看具体法律究竟增加了什么，再回头回答这个疑问。
教师备查，不朗读
不把全部国家赔偿规则归为本例行政违法标准；未讨论法院直接援引宪法的完整争论。
本页出处
现行宪法第41条第3款
来源及定位
中华人民共和国宪法（2018年修正）
https://www.mofcom.gov.cn/xxgcxjpxsdzgtsshzysx/zywj/art/2018/art_45c1e16fe351469090d53e63178268c8.html
第41条第3款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18｜“根据宪法”，先告诉我们什么？
下节（本节0—45分钟）｜本节约2.2—4.4分钟
页定位按180汉字/分钟与计划独立活动粗列，不是实测；口读校正、多语速、活动情景及调整路径见双45分钟容量报告。
1. 逐字讲述
把宪法第41条与国家赔偿法第1条并在一起。第1条写出两个目的：保障依法取得国家赔偿的权利，促进国家机关依法行使职权。最后写明根据宪法制定。赔偿不是脱离国家权力运行的另一件事，对侵害依法承担赔偿义务，也是规范权力运行的一部分。
2. 活动，不朗读（0.75分钟）
静默对读两段，分别标出“权利”“依法行使职权”“根据宪法”。
3. 逐字讲述
起首句有明确的信息价值。它告诉我们这部法律的制定依据和所要完成的任务。但是，如果一位工作人员现在就要处理赔偿请求，只把“根据宪法”读三遍，还不能知道该请求属于哪种情形、哪个机关负义务。
4. 逐字讲述
所以，理解两部法律的关系，不能停在国家赔偿法第1条的依据声明。还需要看普通法律用哪些具体规则承接宪法要求。接下来我们只抓住两条主要材料：第3条说明本例的赔偿情形，第7条说明承担义务的机关。
本页出处
宪法第41条第3款；国家赔偿法第1条（2012年第二次修正）
来源及定位
中华人民共和国宪法（2018年修正）
https://www.mofcom.gov.cn/xxgcxjpxsdzgtsshzysx/zywj/art/2018/art_45c1e16fe351469090d53e63178268c8.html
第41条第3款
国家赔偿法
https://fgk.chinatax.gov.cn/zcfgk/c100009/c5211800/content.html
第1条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19｜法律先回答：哪些情形进入这项赔偿？
下节（本节0—45分钟）｜本节约4.4—7.9分钟
页定位按180汉字/分钟与计划独立活动粗列，不是实测；口读校正、多语速、活动情景及调整路径见双45分钟容量报告。
1. 逐字讲述
国家赔偿法第2条先把本法赔偿权与行使职权、法定侵权情形、合法权益及损害联系起来。材料D保留了这段范围说明。我们现在聚焦行政赔偿中的一项情形，请读第3条起句和第一项。
2. 活动，不朗读（1.5分钟）
读第2条第1款、第3条起句及第1项。用不同记号标“行政职权”与“违法拘留”。
3. 逐字讲述
它不是只要出现公安机关几个字，就直接得出赔偿结论。我们必须看机关当时是在行使什么职权，发生什么行为，是否属于条文规定的侵害。本课只取行政职权中的违法拘留。刑事侦查中的拘留和其他赔偿类型，不能直接套用这一项。
4. 逐字讲述
这时可以看出普通法律新增的第一层信息：它在宪法的权利要求下，区分并规定具体适用情形。宪法第41条使我们知道存在这样的根本权利依据；第3条则使我们能够对一项给定事实继续判断。
5. 逐字讲述
把条件看清不是在回避保障权利。条件本来就是具体制度的一部分。我们要做的是把事实和规则连接起来，既不把每一个不满都直接宣布为同一种赔偿，也不在事实已经给足时一律推说无法判断。接着还有第二层：即使属于赔偿情形，由谁依法回应？
教师备查，不朗读
本页正文较长，允许22磅引文；不得截去行政职权条件。2010年已修改第2条表述，不能把全法一律说成违法归责。
节内短讲C5：赔偿情形的必要条件
替换本页全部口述；本页既定独立阅读/学生回应仍执行。含阅读的页先依原任务阅读，再连续讲短版，不再读主版同页讲述。
以下短讲替换本页全部口述；不要与上面的主讲重复朗读。
材料D的两处规定要连起来看。第2条把本法赔偿与行使职权、法定侵害及损害相联系；第3条这一项具体规定行政职权中的违法拘留。不能只看到公安机关就下结论，必须看职权性质和事实。本课不把行政赔偿的一项标准套到全部刑事赔偿。任务三已经给足的条件可以支持有限判断；如果关键事实未明，则应明确查什么，而非宣布任何不满都应赔。再看义务由谁承担。
本页出处
国家赔偿法第2条第1款、第3条起句及第1项；其他项略
来源及定位
国家赔偿法
https://fgk.chinatax.gov.cn/zcfgk/c100009/c5211800/content.html
第2条第1款、第3条起句及第1项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20｜法律还回答：谁依法承担赔偿义务？
下节（本节0—45分钟）｜本节约7.9—13.7分钟
页定位按180汉字/分钟与计划独立活动粗列，不是实测；口读校正、多语速、活动情景及调整路径见双45分钟容量报告。
1. 逐字讲述
再看第7条第一款。相应行政机关成为赔偿义务机关。这个规定并不只是让我们多记一个机关名称，它给权利请求确定了制度上的承担者。
2. 活动，不朗读（1.25分钟）
先读第7条第1款标记义务主体，再对读附页第16条第1款，圈出过错条件与赔偿后的顺序，约75秒。
3. 逐字讲述
假设一位工作人员态度友善，愿意耐心接待，这当然值得肯定。但当相应法定条件已经成立时，受害人提出请求的根据，不能只取决于他有没有碰上一位愿意额外帮忙的人。法律把义务落实到机关，就使请求能够依据规则提出，而不是到处寻找私人照顾。
4. 逐字讲述
这也改变了看问题的位置。我们不只问工作人员有没有善意，还要问相应机关是否依法承担赔偿义务。即使更换了具体承办人，机关也不能因此摆脱法定义务。友善可以使办理更体贴，法定职责则使办理成为应当承担的事。
5. 逐字讲述
这里还可能有一个疑问：具体侵害是工作人员造成的，为什么让机关赔偿，不直接只找那个人？“谁造成侵害谁承担责任”有追究责任的合理关切。若只回答为了方便受害人，就没有充分回应这个疑问。关键还在于题设中工作人员正在以机关名义行使行政职权，这同他在私人交往中造成损害不同。
6. 逐字讲述
受害人面对的是国家职权的行使，法律据此把对外赔偿义务落实到相应机关。若让这种请求完全依赖个人是否愿意赔、能否赔，机关行使职权所产生的责任就可能被推回私人关系。这里是在解释第七条安排的意义，不是说任何有机关身份的人的任何行为都由国家赔偿；职权性质和法定侵害条件仍要成立。
7. 逐字讲述
机关承担赔偿义务，也不等于工作人员的个人责任被抹掉。附页的第十六条第一款另规定，机关赔偿损失后，对有故意或者重大过失的工作人员等，应当责令其承担部分或者全部赔偿费用。注意两个限制：这里有故意或者重大过失的条件，也有机关赔偿损失后的顺序，不能讲成只要赔偿就一律由个人全额承担。
8. 逐字讲述
两组规定分别处理对外保障请求和内部追究责任。将它们分开，既不会因强调受害人的请求就说责任人员一概免责，也不会因希望追究个人就取消机关已经负有的赔偿义务。公共责任和个人责任不是只能保留一个。具体追偿程序今天不展开，我们只借这一个区别看清普通法律怎样继续组织宪法上的赔偿要求。
9. 逐字讲述
这句话要连着前面的条件理解：依法承担赔偿义务，不等于每个请求人主张的全部事项都当然成立。现在我们已经有了情形和义务机关两项信息，给定事实以后，就能作一个有根据的有限判断。
教师备查，不朗读
凝练段落为课程原创，表达选择参研究/02。机关对外赔偿与第16条追偿、处分等不同，不据此说工作人员免责。
第16条第1款只用于说明机关对外赔偿不等于工作人员一概免责；不展开追偿程序，不以个人过错作为本例赔偿权的一般前提。
节内短讲C6：机关义务与个人责任
替换本页全部口述；本页既定独立阅读/学生回应仍执行。含阅读的页先依原任务阅读，再连续讲短版，不再读主版同页讲述。
以下短讲替换本页全部口述；不要与上面的主讲重复朗读。
第7条第1款确定了义务主体。相应行政机关是赔偿义务机关，受害人的请求不取决于某个承办人是否愿意额外照顾；换人也不会取消机关义务。友善有价值，但不能替代法定义务。为什么具体人员侵害却由机关赔？本例是以机关名义行使行政职权，受害人面对的是国家职权行使，不能把对外责任全部推回私人关系。同时，机关赔偿不是个人免责：第16条第1款规定，赔偿后对有故意或者重大过失的工作人员等责令承担部分或者全部费用。条件和顺序不能省略，也不是一律个人全赔。对外保障请求与内部追究责任分别安排，不必二选一；具体追偿程序不在本讲展开。
本页出处
国家赔偿法第7条第1款、第16条第1款；机关义务与个人责任分开说明
来源及定位
国家赔偿法
https://fgk.chinatax.gov.cn/zcfgk/c100009/c5211800/content.html
第7条第1款
国家赔偿法
https://fgk.chinatax.gov.cn/zcfgk/c100009/c5211800/content.html
第7条第1款、第16条第1款；2026-10-06核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21｜把已经确认的权利，安排成可以办理的请求
下节（本节0—45分钟）｜本节约13.7—15.3分钟
页定位按180汉字/分钟与计划独立活动粗列，不是实测；口读校正、多语速、活动情景及调整路径见双45分钟容量报告。
1. 逐字讲述
现在把刚才的两条接回第41条。普通法律不是把“有赔偿权”重复几次，它增加了可以据以处理请求的信息：哪些情形、谁负义务，以及请求怎样提出。
2. 逐字讲述
提出途径也是制度安排。学生材料附页保留第9条第二款完整文字：赔偿请求人要求赔偿，应当先向赔偿义务机关提出，也可以在申请行政复议或者提起行政诉讼时一并提出。今天用它说明制度还需要安排入口，不要求大家在这节宪法课里记熟所有救济路线。
3. 逐字讲述
请想一想，一位工作人员真的要依法办理受害人的请求，他还需要能核对事实、找到责任主体并知道如何依法处理的规则。这正是具体法律增加的工作。
4. 逐字讲述
这些具体安排又怎样受到宪法约束？这个问题暂且保留。我们先用给定事实检验刚才读到的两项规定，再回过头完整说明规范之间的关系。
教师备查，不朗读
第9条完整第二款在附页，主讲保留两种途径的原句，避免写成所有请求都必须另行单独申请。不考金额、期限、管辖。该段借鉴已有前提与剩余问题的表达选择，不把宪法类比技术产品。
本页出处
宪法第5、41条；国家赔偿法第3、7、9条
来源及定位
中华人民共和国宪法（2018年修正）
https://www.mofcom.gov.cn/xxgcxjpxsdzgtsshzysx/zywj/art/2018/art_45c1e16fe351469090d53e63178268c8.html
第5、41条
国家赔偿法
https://fgk.chinatax.gov.cn/zcfgk/c100009/c5211800/content.html
第3、7、9条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22｜任务3：给定事实，能作哪些判断？
下节（本节0—45分钟）｜本节约15.3—17.2分钟
页定位按180汉字/分钟与计划独立活动粗列，不是实测；口读校正、多语速、活动情景及调整路径见双45分钟容量报告。
1. 逐字讲述
任务3的事实已经给定：县公安局工作人员以本机关名义，在行使行政职权时违法拘留甲，造成其人身自由受到侵害。违法性在题目中已查明。请依据第3、7条判断甲的赔偿权和本例义务机关。
2. 活动，不朗读（1.5分钟）
独立写出两项结论及对应条文，约1分30秒。保持本页。
教师备查，不朗读
备查：设例按第7条第1款的单一机关情形，无共同机关、委托、机关撤销及法定不赔等特殊事实；不把这一例外清单念给学生。不另问请求途径，降低第9条识记负担。
本页出处
任务3｜教学设例，依据国家赔偿法第3、7条
来源及定位
国家赔偿法
https://fgk.chinatax.gov.cn/zcfgk/c100009/c5211800/content.html
第3条第1项、第7条第1款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23｜任务3讲评：每一步判断都能回到依据
下节（本节0—45分钟）｜本节约17.2—18.8分钟
页定位按180汉字/分钟与计划独立活动粗列，不是实测；口读校正、多语速、活动情景及调整路径见双45分钟容量报告。
1. 活动，不朗读（0.3333333分钟）
请一名学生简短说明两项依据，约20秒。
2. 逐字讲述
按题设查明的事实，甲有依照国家赔偿法取得赔偿的权利。行政职权中的违法拘留，对应第3条第一项；相应县公安局是赔偿义务机关，对应第7条第一款。两项结论都有具体条件和依据。
3. 逐字讲述
如果只答“宪法最高，所以应当赔”，还没有完成本题。宪法提供根本权利依据，具体法律让我们继续说明这是什么赔偿情形、哪个机关承担义务。未知金额不妨碍这两项已有充分依据的判断。
4. 逐字讲述
这道题练的是把给定事实与规则相接。我们没有在这里审查拘留到底为何违法，因为题目已明确给出。下面换一个问题：不再寻找某机关名称，而是解释宪法要求和具体法律为何都不可省略。
本页出处
任务3参考说明｜国家赔偿法第3条第1项、第7条第1款
来源及定位
国家赔偿法
https://fgk.chinatax.gov.cn/zcfgk/c100009/c5211800/content.html
第3条第1项、第7条第1款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24｜刚才一直在读普通法律，宪法还在哪里？
下节（本节0—45分钟）｜本节约18.8—20.6分钟
页定位按180汉字/分钟与计划独立活动粗列，不是实测；口读校正、多语速、活动情景及调整路径见双45分钟容量报告。
1. 逐字讲述
刚才处理请求时，我们一直在读国家赔偿法。那么宪法是不是只剩一段背景？既然还有细节要由法律规定，宪法的效力是不是也要等法律来决定？
2. 逐字讲述
先不急着听教师解释。请回到第5条、第41条，再看帮助我们找到情形和义务机关的法律，并补读附页第12条。下一页用这些材料组织回答，说明办理条件和权利保障是不是只能二选一。
3. 活动，不朗读（1分钟）
回看第5、41条和第3、7条，再读附页第12条节录，圈出信息要求及书写确有困难时的安排，共1分钟。只定位材料，不预讲完整关系。
教师备查，不朗读
本页保留真实疑问及作答所需条文定位，完整关系讲解集中在学生尝试之后的第26页；不要求无材料猜答案。
本页出处
任务4准备｜宪法第5、41条；国家赔偿法第3、7条
来源及定位
中华人民共和国宪法（2018年修正）
https://www.mofcom.gov.cn/xxgcxjpxsdzgtsshzysx/zywj/art/2018/art_45c1e16fe351469090d53e63178268c8.html
第5、41条
国家赔偿法
https://fgk.chinatax.gov.cn/zcfgk/c100009/c5211800/content.html
第3、7条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25｜任务4：宪法在这里究竟还约束什么？
下节（本节0—45分钟）｜本节约20.6—24分钟
页定位按180汉字/分钟与计划独立活动粗列，不是实测；口读校正、多语速、活动情景及调整路径见双45分钟容量报告。
1. 逐字讲述
请先用第5条和第41条说明宪法约束，再举一项国家赔偿法增加的安排。接着回应一个备课时提出的主张：为了保障权利，申请条件越少越好。结合第12条，写出它合理的关切，以及仍需补充的理由。两部分各写一两句即可。
2. 活动，不朗读（3分钟）
独立写作2分30秒；同桌各读一句并指出对方是否只给结论，约30秒。不要跳到下一页。
教师备查，不朗读
保留M1关系说明任务：先回看、尝试，再反馈。题面不预填完整结论。不得把教学设问称为真实学生原话。
本页出处
任务4｜材料B、D；宪法第5、41条
来源及定位
中华人民共和国宪法（2018年修正）
https://www.mofcom.gov.cn/xxgcxjpxsdzgtsshzysx/zywj/art/2018/art_45c1e16fe351469090d53e63178268c8.html
第5条第3款、第41条第3款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26｜任务4讲评：把已有约束与新增安排同时说清
下节（本节0—45分钟）｜本节约24—30.2分钟
页定位按180汉字/分钟与计划独立活动粗列，不是实测；口读校正、多语速、活动情景及调整路径见双45分钟容量报告。
1. 活动，不朗读（1分钟）
请两名学生各给一个理由或一个制度例子，总计约1分钟。依据实际回答选择短反馈或备查展开，不虚构错误。
2. 逐字讲述
先看刚才回答中的两种依据。第41条已经确认相应赔偿权，第5条要求普通法律不得同宪法抵触；第3条、第7条又补出本例赔偿情形和义务机关。已有法律约束，与全部办理事项已经写完，是两个不同判断。这解释了为什么需要具体法律，不表示宪法要等法律许可才开始有效。
3. 逐字讲述
但如果只停在这两句话，还有一个困难没有解决：既然条文写着依照法律规定，立法者究竟能作多少选择？一边可能担心，允许法律规定条件，权利会不会被条件一点点掏空；另一边可能担心，不允许规定任何条件，就无法核实事实，无法区分应赔与不应赔。两种担心都涉及权利怎样可靠实现，不能把任何一方简单说成不重视保障。
4. 逐字讲述
先说为什么要有条件。请求是否涉及国家职权，发生了什么法定侵害，是否造成损害，需要有依据地判断。对这些问题作区分，不是因为权利不重要，而是因为不能把不同情况不加区别地都当成同一项请求。刚才任务三能得出结论，正是因为有关事实和规则已经给出。若只有一个不满的结果，没有职权、行为和损害的信息，结论就还不能同样作出。
5. 逐字讲述
再看条件为什么仍须受约束。普通法律可以安排如何核实，不能仅凭“由法律规定”这几个字，就把是否承认宪法已经确认的赔偿要求变成随意选择。假如某项安排让符合保障要求的人根本无法提出请求，就应继续追问它的理由与宪法依据，不能只说既然写进法律便不必再问。不过，具体一条规定是否抵触宪法，还要审查完整内容和适用情形；不是课堂上觉得不方便，就自行宣布法律失效。
6. 逐字讲述
实际法律里可以看到一种更细的安排。附页第十二条先要求提出具体请求、事实根据和理由，让处理有可核查的内容；同一条又规定，书写申请书确有困难的，可以由他人代书，也可以口头申请，由义务机关记入笔录。这里没有为了照顾困难就放弃记录事实，也没有为了统一书面形式就让不会写的人无法提出请求。
7. 逐字讲述
这段材料改变了我们对具体化的理解。具体法律并非总是在权利与程序之间二选一；它可以调整办理方式，使核实所需的信息与请求人的实际困难都进入安排。我们只能据此说明这一条增加了什么，不能凭一项较周全的办法宣布整部法律所有规定都已合宪、所有人都得到救济。今天不记忆申请书的栏目，更不进入期限和管辖。
8. 逐字讲述
因此，判断制度选择，要先辨认宪法已经要求什么，再看具体规则怎样组织条件、主体和办理办法，遇到可能排除保障的安排继续核查理由。尊重立法的选择，并不是把选择免于宪法约束；维护宪法约束，也不是假定每个细节只有一个预先写好的答案。下一页检验这个关系会不会因法律开头的一句话改变。
教师备查，不朗读
本页在任务4作答后集中一次讲评；主稿内的理由比较首次在此展开，不再整段重复旧备查。根据进度只选主讲或明确短讲分支之一。
第12条所用段落为第1款起句/第2项及第2款，材料已给；只说明可办理制度与保障条件，不增加申请路线、期限、金额和管辖考核。
假设安排让权利无法提出属于教学问题，不指称现行法已有此规定；一项程序有局限不等于课堂可作正式违宪宣告。
节内短讲C7：已有约束与制度选择
替换本页全部口述；本页既定独立阅读/学生回应仍执行。含阅读的页先依原任务阅读，再连续讲短版，不再读主版同页讲述。
以下短讲替换本页全部口述；不要与上面的主讲重复朗读。
把刚才任务四的回答放回条文。第41条已确认相应赔偿权，第5条约束普通法律；第3、7条增加具体情形和义务主体。需要办理制度，不表示宪法此前无效。真正的困难是：规定条件会不会掏空权利，不规定条件又怎样核实请求？两种担心都值得回应。职权、侵害和损害需要查明，不能不分情况一律下结论；但法律有安排条件的空间，也不能因此任意取消宪法要求。第12条要求具体请求、事实和理由，又允许书写确有困难者代书或口头申请、由机关记入笔录。它保留核实信息，同时调整办理方式回应困难。这里没有证明全部程序都完善，更不能由某种不便直接宣布违宪。判断应回到宪法要求、具体办法及其理由，不把受约束等同没有选择，也不把有选择等同可以不受约束。下一页看起首句能证明多少。
本页出处
宪法第5、41条；国家赔偿法第3、7、9条及第12条节录
来源及定位
中华人民共和国宪法（2018年修正）
https://www.mofcom.gov.cn/xxgcxjpxsdzgtsshzysx/zywj/art/2018/art_45c1e16fe351469090d53e63178268c8.html
第5、41条
国家赔偿法
https://fgk.chinatax.gov.cn/zcfgk/c100009/c5211800/content.html
第3、7、9条
国家赔偿法
https://fgk.chinatax.gov.cn/zcfgk/c100009/c5211800/content.html
第12条第1款起句、第2项与第2款；不教授期限和管辖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27｜任务5：一部法律的开头，能决定多少？
下节（本节0—45分钟）｜本节约30.2—31.9分钟
页定位按180汉字/分钟与计划独立活动粗列，不是实测；口读校正、多语速、活动情景及调整路径见双45分钟容量报告。
1. 逐字讲述
请给这两个问题各一句理由。第一部普通法律没有写根据宪法，第二部写了。起首句的有无，分别能让我们得到什么结论？
2. 活动，不朗读（0.6666667分钟）
静默思考40秒。页面不出现答案；随后听教师反馈。
3. 逐字讲述
第一种情况仍受宪法约束，因为第5条的要求并不由普通法律自行选择是否接受。第二种情况表明制定依据，却不能独自证明每个条款都符合宪法，还须看权限、程序和具体内容。
4. 逐字讲述
因此，依据声明值得读，但不能替代对实际规范的判断。这个认识还可以再走一步：一个机关说明目标正当，是否就已经证明它所采取的具体措施获得合法授权？
教师备查，不朗读
口头反馈在思考之后，答案不提前上屏；教师可依逐题讲评进一步追问，不增加陌生法名记忆。
本页出处
任务5｜宪法第5条；国家赔偿法第1条用于对照
来源及定位
中华人民共和国宪法（2018年修正）
https://www.mofcom.gov.cn/xxgcxjpxsdzgtsshzysx/zywj/art/2018/art_45c1e16fe351469090d53e63178268c8.html
第5条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28｜任务6：目标正当，具体措施就有依据吗？
下节（本节0—45分钟）｜本节约31.9—34.7分钟
页定位按180汉字/分钟与计划独立活动粗列，不是实测；口读校正、多语速、活动情景及调整路径见双45分钟容量报告。
1. 逐字讲述
这一次材料没有给足。只知道某机关为了公共利益限制乙的行动，没有说明机关身份、采取的措施和具体依据。请判断现有信息是否已经证明合法授权，再写出两类你真正需要知道的事实或规范。
2. 活动，不朗读（2分钟）
独立列出缺口约1分30秒，与同桌比较是否只写“资料不足”，约30秒。
3. 逐字讲述
列缺口要能指导下一步查找。如果只写“还要看法律”，范围太大；应进一步说，需要查什么机关的哪项职权、何种措施的什么条件。先保留自己的答案，下一页再一起看。
教师备查，不朗读
不把未提供授权等同法律客观不存在授权。该题不预设措施真实合法或违法；原版同类题保留并收紧主讲。
本页出处
任务6｜教学设例；宪法第5、33条等作规范背景
来源及定位
中华人民共和国宪法（2018年修正）
https://www.mofcom.gov.cn/xxgcxjpxsdzgtsshzysx/zywj/art/2018/art_45c1e16fe351469090d53e63178268c8.html
第5、33条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29｜任务6讲评：把目标、权限、条件和程序分开
下节（本节0—45分钟）｜本节约34.7—38.2分钟
页定位按180汉字/分钟与计划独立活动粗列，不是实测；口读校正、多语速、活动情景及调整路径见双45分钟容量报告。
1. 活动，不朗读（0.75分钟）
请一名学生给出一个具体缺口，另一名补充不同类别，总计约45秒。
2. 逐字讲述
现有材料足以支持一个确定判断：单凭为了公共利益，不能证明这项具体限制措施已经获得合法授权。要继续判断，还需知道机关具有什么职权，采取的是哪种措施，具体法律依据和适用条件是什么，事实是否符合，程序怎样进行。
3. 逐字讲述
这与前面的赔偿题为什么不同？赔偿题明确给了行政职权、违法拘留和人身自由侵害，相关条件已经查明，所以能够作出有限结论。这里没有给出这些关键材料，才需要继续查。不是法律问题一律没有答案，而是结论必须与已经掌握的依据相称。
4. 逐字讲述
原则仍有法律意义。它约束和引导立法、履职和解释，但从一般要求到具体措施，需要完成相应的权限和事实判断。我们既不能让普通法律摆脱宪法，也不能让抽象原则自动授予任何具体措施的权限。
5. 逐字讲述
还有一种值得注意的解释：公共任务需要及时完成，如果每一步都追问权限，会不会影响履职？及时行动可能确有必要，但紧迫需要是否存在、法律为其安排了何种权限，仍须查明。说明一个目标值得追求，与说明某个机关可以采用某种手段，证明的是不同事情。缺少后者时，不能用前者填空；如果法律已经给了相应职权，也不能因为存在限制就断言完全不得采取措施。我们要核的是具体授权和条件，不是让机关用抽象目的自行创造权限，也不是要求它一概停止履职。
6. 逐字讲述
带着这两端的联系，最后再看宪法要求如何进入制度和实际工作。
教师备查，不朗读
不作正式违宪宣告或个案执法结论；具体机关职权与救济留后续课。
节内短讲C8：正当目的与具体权限
替换本页全部口述；本页既定独立阅读/学生回应仍执行。含阅读的页先依原任务阅读，再连续讲短版，不再读主版同页讲述。
以下短讲替换本页全部口述；不要与上面的主讲重复朗读。
现有材料能确定的是：为了公共利益不足以证明具体限制已有合法授权。还要查机关职权、措施种类、法律依据、启动事实和程序。未提供授权，不等于已经证明法律没有授权，也不能直接推出乙当然应获赔偿。任务三已经给足违法行政拘留等事实，因此能够作有限判断；本题缺关键材料，所以需要继续查。及时履职可能有必要，但它不能代替具体权限依据；法律若已设相应职权，也不能因为有限制就说机关一概不能行动。原则约束并指导权力行使，却不自动授予任何措施的权限。
本页出处
任务6参考说明；与任务3对照
来源及定位
中华人民共和国宪法（2018年修正）
https://www.mofcom.gov.cn/xxgcxjpxsdzgtsshzysx/zywj/art/2018/art_45c1e16fe351469090d53e63178268c8.html
第5、33条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30｜从根本要求，到依法办理和权利救济
下节（本节0—45分钟）｜本节约38.2—40.3分钟
页定位按180汉字/分钟与计划独立活动粗列，不是实测；口读校正、多语速、活动情景及调整路径见双45分钟容量报告。
1. 逐字讲述
把今天的四个位置放在一起：宪法确认和约束，普通法律在约束下形成具体制度，国家机关依事实和规则履行职责，权利通过制度获得保障。本例最后这一环表现为法定赔偿救济，是权利保障的一种方式。
2. 逐字讲述
这里有两个不同的国家行为：违法拘留造成侵害，依法办理赔偿回应侵害。后者不会把前者变成合法，却承担着依法救济的责任。
3. 逐字讲述
同样，箭头表示制度联系，不证明现实结果已经发生。法律写明义务以后，还需要受理、调查、判断和实际履行。1994年准备实施国家赔偿法时，国办通知就专门提出受理机构、人员与配套安排的问题。法律已经公布，与实施工作已经完成，是两个不同判断。
4. 逐字讲述
因此，现实中发生侵权或办理不当，需要追问违反什么要求、怎样依法纠正；不能因为有人违反，就说规范从来没有效力。反过来，也不能因为条文写得清楚，就宣布每个人的权利已经得到充分保障。
5. 逐字讲述
我们今天所学的根本法，不会代替所有具体法律和履职工作，却为它们提供共同要求，也使我们有依据问：国家活动是否尊重了应当遵守的规则和人的权利？
教师备查，不朗读
图的箭头不是自动兑现，也不是全部宪法实施的唯一路径。34—35页仅供下节内按需调用，时间从本节实际余量或等量替换取得。
本页出处
宪法第5、41条；国办发〔1994〕106号（历史实施背景）
来源及定位
中华人民共和国宪法（2018年修正）
https://www.mofcom.gov.cn/xxgcxjpxsdzgtsshzysx/zywj/art/2018/art_45c1e16fe351469090d53e63178268c8.html
第5、41条
1994年国务院公报
https://www.gov.cn/gongbao/shuju/1994/gwyb199431.pdf
印刷1209—1210/PDF57—58；历史背景，非今日程序依据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31｜任务7：把国家的制度与个人的权利接起来
下节（本节0—45分钟）｜本节约40.3—43.2分钟
页定位按180汉字/分钟与计划独立活动粗列，不是实测；口读校正、多语速、活动情景及调整路径见双45分钟容量报告。
1. 逐字讲述
最后请写两三句话，把宪法、普通法律、机关履职和个人权利放在同一个解释里。至少选择一项今天实际读到的制度作支撑，不需要复制整张关系图。
2. 活动，不朗读（1分钟）
独立写作1分钟，教师巡视或收取，不预填学习效果。
3. 逐字讲述
一种写法是：宪法确立国家权力和基本权利的根本要求，普通法律在这些要求下形成具体制度；国家机关依法履行义务，使有关权利获得制度保障。例如，国家赔偿法规定相应行政机关为义务机关，使符合条件的受害人请求有了具体承担者。也可以从产生、负责和监督关系组织自己的答案。
4. 逐字讲述
回到1954年的照片，我们关心的不只是一次会议怎样举行，而是国家生活为什么需要持续的共同规则；回到甲的请求，我们关心的也不只是找到某个条号，而是根本要求怎样进入具体制度。宪法的根本地位，既体现在它怎样安排国家，也体现在它要求国家怎样对待人。
5. 逐字讲述
第一讲到这里。下一讲转向宪法的发展，继续解释这些根本规则怎样形成和调整。今天先把一件事说清：国家权力需要组织起来，也必须在规范和权利要求之中行使。
教师备查，不朗读
下节45分钟内保留本页收束。32—35页为默认隐藏的节内备查，不追加课时；无真人试读。
本页出处
任务7及第一讲收束；下一讲：宪法的发展
来源及定位
中华人民共和国宪法（2018年修正）
https://www.mofcom.gov.cn/xxgcxjpxsdzgtsshzysx/zywj/art/2018/art_45c1e16fe351469090d53e63178268c8.html
序言及第2、3、5、33、41条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32｜延伸讨论一：宪法只有抽象原则吗？
节内备用页：常规放映隐藏。按本节容量报告调用，不追加课时。
上节第14页后依次调用第32—33页；若同选E3，完成本组与第36页后返回第15页。仅用本组时直接返回第15页。
1. 逐字讲述
我们再看一个值得辨析的说法。请把它与第64条对照：宪法是不是只有抽象原则，普通法律才有具体规则？找到反例后，还要解释为什么不能因此把二者地位混同。
2. 活动，不朗读（1分钟）
独立写出一个反例及理由，1分钟；不再额外安排同桌讨论。
教师备查，不朗读
仅按本节容量报告调用；同一材料不与主稿重复讲述，不追加课时。
本页出处
扩展E1｜宪法第64条
来源及定位
中华人民共和国宪法（2018年修正）
https://www.mofcom.gov.cn/xxgcxjpxsdzgtsshzysx/zywj/art/2018/art_45c1e16fe351469090d53e63178268c8.html
第64条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33｜延伸讨论一讲评：具体程度不决定效力地位
节内备用页：常规放映隐藏。按本节容量报告调用，不追加课时。
上节第14页后依次调用第32—33页；若同选E3，完成本组与第36页后返回第15页。仅用本组时直接返回第15页。
1. 活动，不朗读（0.5分钟）
邀请一名学生读出反例与修正后的说法，约30秒。
2. 逐字讲述
第64条直接规定提议主体和表决门槛，足以说明宪法也有具体规则。因而宪法只有抽象原则这个判断过宽。
3. 逐字讲述
但是，找到这个反例，并不说明宪法和普通法律地位一样。效力地位有序言和第5条等依据，不由一句话写得详细还是抽象来决定。普通法律同样可能有原则性规定。
4. 逐字讲述
更准确的表达是：宪法规定国家的根本问题，具有最高法律效力；普通法律在具体领域进一步作出制度安排。两类文本都可能含有不同具体程度的规范。我们需要按照正在回答的问题选判断标准，而不是拿一个外观特征包办所有区别。
5. 逐字讲述
请在刚才自己的概括里检查：你谈的是规范内容、具体程度，还是法律地位？将这三个问题分开，定义才不容易在遇到反例时崩塌。
教师备查，不朗读
仅按本节容量报告调用；同一材料不与主稿重复讲述，不追加课时。
本页出处
扩展E1参考说明｜宪法序言、第5、64条
来源及定位
中华人民共和国宪法（2018年修正）
https://www.mofcom.gov.cn/xxgcxjpxsdzgtsshzysx/zywj/art/2018/art_45c1e16fe351469090d53e63178268c8.html
序言；第5、64条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34｜延伸讨论二：有条文，为什么仍要追问实施？
节内备用页：常规放映隐藏。按本节容量报告调用，不追加课时。
下节第30页后依次调用第34—35页；仅用E2时回第31页，同选E4时先到第37页，最后回第31页收束。
1. 逐字讲述
再讨论一个假设：规则已经明确，请求仍迟迟未得到依法处理。只是再把同一条文宣读一遍，是否已经解决问题？请指出一个还需查明的具体环节，并说明实施问题与规范效力是什么关系。
2. 活动，不朗读（1分钟）
独立写出一个待核办理环节及理由，1分钟；不再额外安排同桌讨论。
教师备查，不朗读
仅按本节容量报告调用；同一材料不与主稿重复讲述，不追加课时。
本页出处
扩展E2｜教学假设
来源及定位
中华人民共和国宪法（2018年修正）
https://www.mofcom.gov.cn/xxgcxjpxsdzgtsshzysx/zywj/art/2018/art_45c1e16fe351469090d53e63178268c8.html
第5、41条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35｜延伸讨论二讲评：规范提供要求，履职需要落实
节内备用页：常规放映隐藏。按本节容量报告调用，不追加课时。
下节第30页后依次调用第34—35页；仅用E2时回第31页，同选E4时先到第37页，最后回第31页收束。
1. 活动，不朗读（0.5分钟）
邀请一人说一个具体环节，约30秒。
2. 逐字讲述
可以查请求是否依法受理、事实材料是否得到核实、相关义务是否履行，以及在何种情形下需要启动纠正途径。只反复宣读条文，没有回答这些实际问题。
3. 逐字讲述
但这也不意味着宪法从未有效。正因为存在应当遵守的要求，我们才能进一步判断哪些工作没有依法完成，谁应当负责，怎样纠正。把实施中的不足说成规范根本不存在，会丢掉判断这些不足的依据。
4. 逐字讲述
另一面也要保留：条文存在，不是实际保障充分的成绩单。1994年的实施通知提出机构和人员安排，就是当时已经看到法律施行还需要具体工作。这只能说明提出过这些任务，不能替今天的实际履职结果作证明。
5. 逐字讲述
请把讨论中的一个具体问题留在材料上。以后第八讲讨论宪法实施与监督，会把规范要求、实际活动和纠正机制接得更完整。把这些区别带入最后的课末收束。
教师备查，不朗读
仅用E2时回第31页；同用E4时先到第37页，再回第31页收束。不追加课时，不增加金额、期限、管辖或未经查证的个案。
本页出处
扩展E2参考说明；国办发〔1994〕106号为历史背景
来源及定位
中华人民共和国宪法（2018年修正）
https://www.mofcom.gov.cn/xxgcxjpxsdzgtsshzysx/zywj/art/2018/art_45c1e16fe351469090d53e63178268c8.html
第5、41条
1994年国务院公报
https://www.gov.cn/gongbao/shuju/1994/gwyb199431.pdf
印刷1209—1210/PDF57—58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36｜节内追问：最高国家权力机关也受约束吗？
节内备用页：常规放映隐藏。按本节容量报告调用，不追加课时。
上节第14页讲完第64条后调用本页；若同选E1，依容量报告完成本页及第32—33页后返回第15页。仅用本页时直接返回第15页。
1. 逐字讲述
再对读两处容易使人迟疑的文字。第五十七条说全国人大是最高国家权力机关，第五条又要求一切国家机关遵守宪法。最高国家权力机关怎么也受到约束，这是不是自相矛盾？请先把两处的比较对象写清。
2. 活动，不朗读（0.75分钟）
静默对读学生附页第57条与材料B第5条，写出两个“最高/受约束”各自在比较什么，45秒。
3. 逐字讲述
一种疑问是，如果最高机关也受约束，似乎就还需要找一个更高的机关。这种想法把机关在国家机构中的地位，与规范对于机关的约束合成了一张机关排名表。第五十七条回答的是国家机构的地位，第五条回答的是国家活动须遵守什么规范。遵守宪法并不要求我们在最高机关之上凭空另造一个机关。
4. 逐字讲述
这个区别为什么有用？因为如果仅凭机关地位最高，就推成每次决定都可以不遵守宪法，宪法规定的权限和修改程序便会被机关地位自行排除。刚才第六十四条已经提供一个具体检验：全国人大修改宪法，仍须依规定的特别多数通过。机关地位没有让程序条件消失。
5. 逐字讲述
另一面也不能漏掉。承认规范约束，不等于让任何个人自行撤销全国人大的决定，也不能跳过法定制度讨论谁有何种纠正职权。规范要求是否成立，与谁依什么权限实现监督，是相联系的两个问题；后者会在国家机构、宪法实施课程继续展开。
6. 逐字讲述
因此，我们不需要用取消其中一条来消除表面的矛盾。国家机构中的最高地位和整个法律秩序中的最高效力，比较对象不同。将二者分开，反而能同时说明权力的组织与权力的规范依据。回到本节收束时，可以用这个例子说明为什么“根本法”不是一个脱离机关运行的称号。
教师备查，不朗读
这是备用的完整讲述与活动，计入容量时须选择此路径，不在主线结束后追加。
本页出处
现行宪法第5、57、64条；机关地位与规范约束分别说明
来源及定位
中华人民共和国宪法（2018年修正）
https://www.mofcom.gov.cn/xxgcxjpxsdzgtsshzysx/zywj/art/2018/art_45c1e16fe351469090d53e63178268c8.html
第5、57、64条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37｜节内追问：履行赔偿以后，哪些问题仍然存在？
节内备用页：常规放映隐藏。按本节容量报告调用，不追加课时。
下节第30页后调用本页；与E2同选时先完成第34—35页，再用本页，最后返回第31页收束。
1. 逐字讲述
再改变本课的一个条件：赔偿义务已经依法履行。有人可能认为，国家已经作出补偿，这件事对权利保障的要求是否就全部结束了？请把“这项赔偿义务已完成”和“以前的行为合法、以后不用再改进”分开判断。
2. 活动，不朗读（0.75分钟）
按明确教学假设独立写出两项不能直接推出的结论，45秒；不计算金额，不编造真实事件。
3. 逐字讲述
先承认履行赔偿的真实意义。应承担的义务已经履行，与请求无人处理并不一样。不能为了强调权利仍需保障，就把已经依法提供的救济说成毫无价值。对受害人而言，法定请求得到回应本身就是需要完成的工作。
4. 逐字讲述
但赔偿针对的是此前发生的法定侵害。后来履行义务，没有改变过去行为在发生时是否符合法律的条件。如果把赔偿看成事后买到的许可，便会混淆“违反后须承担责任”与“原来就允许违反”。国家赔偿法第一条把保障赔偿权与促进依法行使职权并列，也提醒我们不能只在侵害已经发生以后理解整部法律。
5. 逐字讲述
有必要继续查的，还包括是否依法追究相应责任，履职中有哪些条件和程序需要落实，以防止同类侵害。这里不是仅凭一个假设就认定某位人员必须承担何种处分或追偿，而是辨认还存在不同的法律问题。第十六条的故意或者重大过失等条件仍要核实，不能用“已经赔了”或“造成了损害”替代全部判断。
6. 逐字讲述
再把目光放回第三十三条。尊重和保障人权，既涉及侵害发生后的救济，也涉及国家如何行使职权，怎样依法防止任意侵害。完成一种救济，不能独自证明此前没有侵害，也不能保证今后永远不再发生问题；但今后的问题需要哪些改进，同样须有事实和具体制度依据。
7. 逐字讲述
所以，评价制度时可以同时承认已经完成的义务与仍需查明的任务。这样的判断比“赔了就全部解决”更准确，也比“赔偿改变不了过去所以毫无意义”更有依据。我们没有比较赔偿金额是否足够，只是用同一件事的不同阶段，检验宪法上的要求如何持续约束国家活动。
教师备查，不朗读
这是备用的完整讲述与活动，计入容量时须选择此路径，不在主线结束后追加。
本页出处
宪法第5、33、41条；国家赔偿法第1、7、16条；教学假设
来源及定位
中华人民共和国宪法（2018年修正）
https://www.mofcom.gov.cn/xxgcxjpxsdzgtsshzysx/zywj/art/2018/art_45c1e16fe351469090d53e63178268c8.html
第5、33、41条
国家赔偿法
https://fgk.chinatax.gov.cn/zcfgk/c100009/c5211800/content.html
第1、7、16条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38｜本讲主要依据与阅读入口
课后来源页，不计主线口述。
教师备查，不朗读
来源页不占核心讲授时间。中文原作是备课表达研究对象，不是本讲法律论据，详见研究目录。
本页出处
具体网页、印刷页及PDF物理页见研究与来源记录
来源及定位
中华人民共和国宪法（2018年修正）
https://www.mofcom.gov.cn/xxgcxjpxsdzgtsshzysx/zywj/art/2018/art_45c1e16fe351469090d53e63178268c8.html
本讲所用条款
国家赔偿法
https://fgk.chinatax.gov.cn/zcfgk/c100009/c5211800/content.html
第1、2、3、7、9条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43E3B"/>
        </a:solidFill>
      </p:bgPr>
    </p:bg>
    <p:spTree>
      <p:nvGrpSpPr>
        <p:cNvPr id="1" name=""/>
        <p:cNvGrpSpPr/>
        <p:nvPr/>
      </p:nvGrpSpPr>
      <p:grpSpPr>
        <a:xfrm>
          <a:off x="0" y="0"/>
          <a:ext cx="0" cy="0"/>
          <a:chOff x="0" y="0"/>
          <a:chExt cx="0" cy="0"/>
        </a:xfrm>
      </p:grpSpPr>
      <p:sp>
        <p:nvSpPr>
          <p:cNvPr id="2" name="Text 0"/>
          <p:cNvSpPr/>
          <p:nvPr/>
        </p:nvSpPr>
        <p:spPr>
          <a:xfrm>
            <a:off x="795528" y="594360"/>
            <a:ext cx="10607040" cy="411480"/>
          </a:xfrm>
          <a:prstGeom prst="rect">
            <a:avLst/>
          </a:prstGeom>
          <a:noFill/>
          <a:ln/>
        </p:spPr>
        <p:txBody>
          <a:bodyPr wrap="none" lIns="0" tIns="0" rIns="0" bIns="0" rtlCol="0" anchor="t"/>
          <a:lstStyle/>
          <a:p>
            <a:pPr algn="l" indent="0" marL="0">
              <a:lnSpc>
                <a:spcPct val="105000"/>
              </a:lnSpc>
              <a:buNone/>
            </a:pPr>
            <a:r>
              <a:rPr lang="zh-CN" altLang="en-US" sz="2000" dirty="0">
                <a:solidFill>
                  <a:srgbClr val="E8E4D9"/>
                </a:solidFill>
                <a:latin typeface="Microsoft YaHei" pitchFamily="34" charset="0"/>
                <a:ea typeface="Microsoft YaHei" pitchFamily="34" charset="-122"/>
                <a:cs typeface="Microsoft YaHei" pitchFamily="34" charset="-120"/>
              </a:rPr>
              <a:t>上节｜一 国家生活的根本规则</a:t>
            </a:r>
            <a:endParaRPr lang="zh-CN" sz="2000" dirty="0"/>
          </a:p>
        </p:txBody>
      </p:sp>
      <p:sp>
        <p:nvSpPr>
          <p:cNvPr id="3" name="Text 1"/>
          <p:cNvSpPr/>
          <p:nvPr/>
        </p:nvSpPr>
        <p:spPr>
          <a:xfrm>
            <a:off x="777240" y="1536192"/>
            <a:ext cx="5486400" cy="1234440"/>
          </a:xfrm>
          <a:prstGeom prst="rect">
            <a:avLst/>
          </a:prstGeom>
          <a:noFill/>
          <a:ln/>
        </p:spPr>
        <p:txBody>
          <a:bodyPr wrap="none" lIns="0" tIns="0" rIns="0" bIns="0" rtlCol="0" anchor="t"/>
          <a:lstStyle/>
          <a:p>
            <a:pPr algn="l" indent="0" marL="0">
              <a:lnSpc>
                <a:spcPct val="105000"/>
              </a:lnSpc>
              <a:buNone/>
            </a:pPr>
            <a:r>
              <a:rPr lang="zh-CN" altLang="en-US" sz="4400" b="1" dirty="0">
                <a:solidFill>
                  <a:srgbClr val="F7F4ED"/>
                </a:solidFill>
                <a:latin typeface="Microsoft YaHei" pitchFamily="34" charset="0"/>
                <a:ea typeface="Microsoft YaHei" pitchFamily="34" charset="-122"/>
                <a:cs typeface="Microsoft YaHei" pitchFamily="34" charset="-120"/>
              </a:rPr>
              <a:t>宪法总论</a:t>
            </a:r>
            <a:endParaRPr lang="zh-CN" sz="4400" dirty="0"/>
          </a:p>
        </p:txBody>
      </p:sp>
      <p:sp>
        <p:nvSpPr>
          <p:cNvPr id="4" name="Text 2"/>
          <p:cNvSpPr/>
          <p:nvPr/>
        </p:nvSpPr>
        <p:spPr>
          <a:xfrm>
            <a:off x="832104" y="3090672"/>
            <a:ext cx="5212080" cy="548640"/>
          </a:xfrm>
          <a:prstGeom prst="rect">
            <a:avLst/>
          </a:prstGeom>
          <a:noFill/>
          <a:ln/>
        </p:spPr>
        <p:txBody>
          <a:bodyPr wrap="none" lIns="0" tIns="0" rIns="0" bIns="0" rtlCol="0" anchor="t"/>
          <a:lstStyle/>
          <a:p>
            <a:pPr algn="l" indent="0" marL="0">
              <a:lnSpc>
                <a:spcPct val="105000"/>
              </a:lnSpc>
              <a:buNone/>
            </a:pPr>
            <a:r>
              <a:rPr lang="zh-CN" altLang="en-US" sz="2400" b="1" dirty="0">
                <a:solidFill>
                  <a:srgbClr val="E8E4D9"/>
                </a:solidFill>
                <a:latin typeface="Microsoft YaHei" pitchFamily="34" charset="0"/>
                <a:ea typeface="Microsoft YaHei" pitchFamily="34" charset="-122"/>
                <a:cs typeface="Microsoft YaHei" pitchFamily="34" charset="-120"/>
              </a:rPr>
              <a:t>国家已有规则</a:t>
            </a:r>
            <a:endParaRPr lang="zh-CN" sz="2400" dirty="0"/>
          </a:p>
        </p:txBody>
      </p:sp>
      <p:sp>
        <p:nvSpPr>
          <p:cNvPr id="5" name="Text 3"/>
          <p:cNvSpPr/>
          <p:nvPr/>
        </p:nvSpPr>
        <p:spPr>
          <a:xfrm>
            <a:off x="832104" y="3730752"/>
            <a:ext cx="5212080" cy="1097280"/>
          </a:xfrm>
          <a:prstGeom prst="rect">
            <a:avLst/>
          </a:prstGeom>
          <a:noFill/>
          <a:ln/>
        </p:spPr>
        <p:txBody>
          <a:bodyPr wrap="none" lIns="0" tIns="0" rIns="0" bIns="0" rtlCol="0" anchor="t"/>
          <a:lstStyle/>
          <a:p>
            <a:pPr algn="l" indent="0" marL="0">
              <a:lnSpc>
                <a:spcPct val="105000"/>
              </a:lnSpc>
              <a:buNone/>
            </a:pPr>
            <a:r>
              <a:rPr lang="zh-CN" altLang="en-US" sz="2600" dirty="0">
                <a:solidFill>
                  <a:srgbClr val="F7F4ED"/>
                </a:solidFill>
                <a:latin typeface="Microsoft YaHei" pitchFamily="34" charset="0"/>
                <a:ea typeface="Microsoft YaHei" pitchFamily="34" charset="-122"/>
                <a:cs typeface="Microsoft YaHei" pitchFamily="34" charset="-120"/>
              </a:rPr>
              <a:t>为什么还需要制定宪法？</a:t>
            </a:r>
            <a:endParaRPr lang="zh-CN" sz="2600" dirty="0"/>
          </a:p>
        </p:txBody>
      </p:sp>
      <p:pic>
        <p:nvPicPr>
          <p:cNvPr id="6" name="Image 0" descr="C:\Users\tsunami\Documents\ChatGPT\教学工作\constitution-law-8-lessons\materials\第1讲叙事授课试做\来源\1954\1954-09-15_代表进入怀仁堂_刘东鳌_新华社.jpg">    </p:cNvPr>
          <p:cNvPicPr>
            <a:picLocks noChangeAspect="1"/>
          </p:cNvPicPr>
          <p:nvPr/>
        </p:nvPicPr>
        <p:blipFill>
          <a:blip r:embed="rId1"/>
          <a:stretch>
            <a:fillRect/>
          </a:stretch>
        </p:blipFill>
        <p:spPr>
          <a:xfrm>
            <a:off x="6446520" y="1857502"/>
            <a:ext cx="5029200" cy="3481324"/>
          </a:xfrm>
          <a:prstGeom prst="rect">
            <a:avLst/>
          </a:prstGeom>
        </p:spPr>
      </p:pic>
      <p:sp>
        <p:nvSpPr>
          <p:cNvPr id="7" name="Text 4"/>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E8E4D9"/>
                </a:solidFill>
                <a:latin typeface="Microsoft YaHei" pitchFamily="34" charset="0"/>
                <a:ea typeface="Microsoft YaHei" pitchFamily="34" charset="-122"/>
                <a:cs typeface="Microsoft YaHei" pitchFamily="34" charset="-120"/>
              </a:rPr>
              <a:t>从国家的制度，到个人的权利</a:t>
            </a:r>
            <a:endParaRPr lang="zh-CN" sz="2400" dirty="0"/>
          </a:p>
        </p:txBody>
      </p:sp>
      <p:sp>
        <p:nvSpPr>
          <p:cNvPr id="8" name="Text 5"/>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E8E4D9"/>
                </a:solidFill>
                <a:latin typeface="Microsoft YaHei" pitchFamily="34" charset="0"/>
                <a:ea typeface="Microsoft YaHei" pitchFamily="34" charset="-122"/>
                <a:cs typeface="Microsoft YaHei" pitchFamily="34" charset="-120"/>
              </a:rPr>
              <a:t>新华社刘东鳌摄：1954年9月15日代表入场</a:t>
            </a:r>
            <a:endParaRPr lang="zh-CN" sz="1200" dirty="0"/>
          </a:p>
        </p:txBody>
      </p:sp>
      <p:sp>
        <p:nvSpPr>
          <p:cNvPr id="9" name="Text 6"/>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E8E4D9"/>
                </a:solidFill>
                <a:latin typeface="Microsoft YaHei" pitchFamily="34" charset="0"/>
                <a:ea typeface="Microsoft YaHei" pitchFamily="34" charset="-122"/>
                <a:cs typeface="Microsoft YaHei" pitchFamily="34" charset="-120"/>
              </a:rPr>
              <a:t>1 / 38</a:t>
            </a:r>
            <a:endParaRPr lang="zh-CN"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上节｜一 国家生活的根本规则</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从过渡安排，到持续的共同规则</a:t>
            </a:r>
            <a:endParaRPr lang="zh-CN" sz="3600" dirty="0"/>
          </a:p>
        </p:txBody>
      </p:sp>
      <p:sp>
        <p:nvSpPr>
          <p:cNvPr id="4" name="Text 2"/>
          <p:cNvSpPr/>
          <p:nvPr/>
        </p:nvSpPr>
        <p:spPr>
          <a:xfrm>
            <a:off x="768096" y="1938528"/>
            <a:ext cx="2880360" cy="603504"/>
          </a:xfrm>
          <a:prstGeom prst="rect">
            <a:avLst/>
          </a:prstGeom>
          <a:noFill/>
          <a:ln/>
        </p:spPr>
        <p:txBody>
          <a:bodyPr wrap="none" lIns="0" tIns="0" rIns="0" bIns="0" rtlCol="0" anchor="t"/>
          <a:lstStyle/>
          <a:p>
            <a:pPr algn="l" indent="0" marL="0">
              <a:lnSpc>
                <a:spcPct val="105000"/>
              </a:lnSpc>
              <a:buNone/>
            </a:pPr>
            <a:r>
              <a:rPr lang="zh-CN" altLang="en-US" sz="3200" b="1" dirty="0">
                <a:solidFill>
                  <a:srgbClr val="9B3D32"/>
                </a:solidFill>
                <a:latin typeface="Microsoft YaHei" pitchFamily="34" charset="0"/>
                <a:ea typeface="Microsoft YaHei" pitchFamily="34" charset="-122"/>
                <a:cs typeface="Microsoft YaHei" pitchFamily="34" charset="-120"/>
              </a:rPr>
              <a:t>1949</a:t>
            </a:r>
            <a:endParaRPr lang="zh-CN" sz="3200" dirty="0"/>
          </a:p>
        </p:txBody>
      </p:sp>
      <p:sp>
        <p:nvSpPr>
          <p:cNvPr id="5" name="Text 3"/>
          <p:cNvSpPr/>
          <p:nvPr/>
        </p:nvSpPr>
        <p:spPr>
          <a:xfrm>
            <a:off x="786384" y="2633472"/>
            <a:ext cx="2971800" cy="77724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共同纲领第13条</a:t>
            </a:r>
            <a:endParaRPr lang="zh-CN" sz="2400" dirty="0"/>
          </a:p>
        </p:txBody>
      </p:sp>
      <p:sp>
        <p:nvSpPr>
          <p:cNvPr id="6" name="Text 4"/>
          <p:cNvSpPr/>
          <p:nvPr/>
        </p:nvSpPr>
        <p:spPr>
          <a:xfrm>
            <a:off x="4224528" y="2057400"/>
            <a:ext cx="7187184" cy="1444752"/>
          </a:xfrm>
          <a:prstGeom prst="rect">
            <a:avLst/>
          </a:prstGeom>
          <a:noFill/>
          <a:ln/>
        </p:spPr>
        <p:txBody>
          <a:bodyPr wrap="none" lIns="0" tIns="0" rIns="0" bIns="0" rtlCol="0" anchor="t"/>
          <a:lstStyle/>
          <a:p>
            <a:pPr algn="l" indent="0" marL="0">
              <a:lnSpc>
                <a:spcPct val="105000"/>
              </a:lnSpc>
              <a:buNone/>
            </a:pPr>
            <a:r>
              <a:rPr lang="zh-CN" altLang="en-US" sz="2500" dirty="0">
                <a:solidFill>
                  <a:srgbClr val="2B302F"/>
                </a:solidFill>
                <a:latin typeface="Microsoft YaHei" pitchFamily="34" charset="0"/>
                <a:ea typeface="Microsoft YaHei" pitchFamily="34" charset="-122"/>
                <a:cs typeface="Microsoft YaHei" pitchFamily="34" charset="-120"/>
              </a:rPr>
              <a:t>在普选的全国人民代表大会召开以前，由政协全</a:t>
            </a:r>
            <a:endParaRPr lang="zh-CN" sz="2500" dirty="0"/>
          </a:p>
          <a:p>
            <a:pPr algn="l" indent="0" marL="0">
              <a:lnSpc>
                <a:spcPct val="105000"/>
              </a:lnSpc>
              <a:buNone/>
            </a:pPr>
            <a:r>
              <a:rPr lang="zh-CN" altLang="en-US" sz="2500" dirty="0">
                <a:solidFill>
                  <a:srgbClr val="2B302F"/>
                </a:solidFill>
                <a:latin typeface="Microsoft YaHei" pitchFamily="34" charset="0"/>
                <a:ea typeface="Microsoft YaHei" pitchFamily="34" charset="-122"/>
                <a:cs typeface="Microsoft YaHei" pitchFamily="34" charset="-120"/>
              </a:rPr>
              <a:t>体会议执行全国人大的职权。</a:t>
            </a:r>
            <a:endParaRPr lang="zh-CN" sz="2500" dirty="0"/>
          </a:p>
        </p:txBody>
      </p:sp>
      <p:sp>
        <p:nvSpPr>
          <p:cNvPr id="7" name="Text 5"/>
          <p:cNvSpPr/>
          <p:nvPr/>
        </p:nvSpPr>
        <p:spPr>
          <a:xfrm>
            <a:off x="768096" y="3703320"/>
            <a:ext cx="2880360" cy="603504"/>
          </a:xfrm>
          <a:prstGeom prst="rect">
            <a:avLst/>
          </a:prstGeom>
          <a:noFill/>
          <a:ln/>
        </p:spPr>
        <p:txBody>
          <a:bodyPr wrap="none" lIns="0" tIns="0" rIns="0" bIns="0" rtlCol="0" anchor="t"/>
          <a:lstStyle/>
          <a:p>
            <a:pPr algn="l" indent="0" marL="0">
              <a:lnSpc>
                <a:spcPct val="105000"/>
              </a:lnSpc>
              <a:buNone/>
            </a:pPr>
            <a:r>
              <a:rPr lang="zh-CN" altLang="en-US" sz="3200" b="1" dirty="0">
                <a:solidFill>
                  <a:srgbClr val="9B3D32"/>
                </a:solidFill>
                <a:latin typeface="Microsoft YaHei" pitchFamily="34" charset="0"/>
                <a:ea typeface="Microsoft YaHei" pitchFamily="34" charset="-122"/>
                <a:cs typeface="Microsoft YaHei" pitchFamily="34" charset="-120"/>
              </a:rPr>
              <a:t>1954</a:t>
            </a:r>
            <a:endParaRPr lang="zh-CN" sz="3200" dirty="0"/>
          </a:p>
        </p:txBody>
      </p:sp>
      <p:sp>
        <p:nvSpPr>
          <p:cNvPr id="8" name="Text 6"/>
          <p:cNvSpPr/>
          <p:nvPr/>
        </p:nvSpPr>
        <p:spPr>
          <a:xfrm>
            <a:off x="786384" y="4398264"/>
            <a:ext cx="2971800" cy="77724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宪法第21条</a:t>
            </a:r>
            <a:endParaRPr lang="zh-CN" sz="2400" dirty="0"/>
          </a:p>
        </p:txBody>
      </p:sp>
      <p:sp>
        <p:nvSpPr>
          <p:cNvPr id="9" name="Text 7"/>
          <p:cNvSpPr/>
          <p:nvPr/>
        </p:nvSpPr>
        <p:spPr>
          <a:xfrm>
            <a:off x="4224528" y="3822192"/>
            <a:ext cx="7187184" cy="1444752"/>
          </a:xfrm>
          <a:prstGeom prst="rect">
            <a:avLst/>
          </a:prstGeom>
          <a:noFill/>
          <a:ln/>
        </p:spPr>
        <p:txBody>
          <a:bodyPr wrap="none" lIns="0" tIns="0" rIns="0" bIns="0" rtlCol="0" anchor="t"/>
          <a:lstStyle/>
          <a:p>
            <a:pPr algn="l" indent="0" marL="0">
              <a:lnSpc>
                <a:spcPct val="105000"/>
              </a:lnSpc>
              <a:buNone/>
            </a:pPr>
            <a:r>
              <a:rPr lang="zh-CN" altLang="en-US" sz="2500" dirty="0">
                <a:solidFill>
                  <a:srgbClr val="2B302F"/>
                </a:solidFill>
                <a:latin typeface="Microsoft YaHei" pitchFamily="34" charset="0"/>
                <a:ea typeface="Microsoft YaHei" pitchFamily="34" charset="-122"/>
                <a:cs typeface="Microsoft YaHei" pitchFamily="34" charset="-120"/>
              </a:rPr>
              <a:t>中华人民共和国全国人民代表大会</a:t>
            </a:r>
            <a:endParaRPr lang="zh-CN" sz="2500" dirty="0"/>
          </a:p>
          <a:p>
            <a:pPr algn="l" indent="0" marL="0">
              <a:lnSpc>
                <a:spcPct val="105000"/>
              </a:lnSpc>
              <a:buNone/>
            </a:pPr>
            <a:r>
              <a:rPr lang="zh-CN" altLang="en-US" sz="2500" dirty="0">
                <a:solidFill>
                  <a:srgbClr val="2B302F"/>
                </a:solidFill>
                <a:latin typeface="Microsoft YaHei" pitchFamily="34" charset="0"/>
                <a:ea typeface="Microsoft YaHei" pitchFamily="34" charset="-122"/>
                <a:cs typeface="Microsoft YaHei" pitchFamily="34" charset="-120"/>
              </a:rPr>
              <a:t>是最高国家权力机关。</a:t>
            </a:r>
            <a:endParaRPr lang="zh-CN" sz="2500" dirty="0"/>
          </a:p>
        </p:txBody>
      </p:sp>
      <p:sp>
        <p:nvSpPr>
          <p:cNvPr id="10" name="Text 8"/>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观察制度怎样展开，不把历史简化成“以前没有规则”。</a:t>
            </a:r>
            <a:endParaRPr lang="zh-CN" sz="2400" dirty="0"/>
          </a:p>
        </p:txBody>
      </p:sp>
      <p:sp>
        <p:nvSpPr>
          <p:cNvPr id="11" name="Text 9"/>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共同纲领第13条提要；1954年宪法第21条原文</a:t>
            </a:r>
            <a:endParaRPr lang="zh-CN" sz="1200" dirty="0"/>
          </a:p>
        </p:txBody>
      </p:sp>
      <p:sp>
        <p:nvSpPr>
          <p:cNvPr id="12" name="Text 10"/>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2 / 38</a:t>
            </a:r>
            <a:endParaRPr lang="zh-CN"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上节｜一 国家生活的根本规则</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先读国家要做什么，再读怎样组织国家</a:t>
            </a:r>
            <a:endParaRPr lang="zh-CN" sz="3600" dirty="0"/>
          </a:p>
        </p:txBody>
      </p:sp>
      <p:sp>
        <p:nvSpPr>
          <p:cNvPr id="4" name="Text 2"/>
          <p:cNvSpPr/>
          <p:nvPr/>
        </p:nvSpPr>
        <p:spPr>
          <a:xfrm>
            <a:off x="758952" y="1965960"/>
            <a:ext cx="2194560" cy="1650492"/>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序言：国家</a:t>
            </a:r>
            <a:endParaRPr lang="zh-CN" sz="2400" dirty="0"/>
          </a:p>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的根本任务</a:t>
            </a:r>
            <a:endParaRPr lang="zh-CN" sz="2400" dirty="0"/>
          </a:p>
        </p:txBody>
      </p:sp>
      <p:sp>
        <p:nvSpPr>
          <p:cNvPr id="5" name="Text 3"/>
          <p:cNvSpPr/>
          <p:nvPr/>
        </p:nvSpPr>
        <p:spPr>
          <a:xfrm>
            <a:off x="3410712" y="1965960"/>
            <a:ext cx="8019288" cy="1650492"/>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国家的根本任务是，沿着中国特色社会主义道路，集中</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力量进行社会主义现代化建设。</a:t>
            </a:r>
            <a:endParaRPr lang="zh-CN" sz="2400" dirty="0"/>
          </a:p>
        </p:txBody>
      </p:sp>
      <p:sp>
        <p:nvSpPr>
          <p:cNvPr id="6" name="Text 4"/>
          <p:cNvSpPr/>
          <p:nvPr/>
        </p:nvSpPr>
        <p:spPr>
          <a:xfrm>
            <a:off x="758952" y="3909060"/>
            <a:ext cx="2194560" cy="1650492"/>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序言末段：</a:t>
            </a:r>
            <a:endParaRPr lang="zh-CN" sz="2400" dirty="0"/>
          </a:p>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根本法地位</a:t>
            </a:r>
            <a:endParaRPr lang="zh-CN" sz="2400" dirty="0"/>
          </a:p>
        </p:txBody>
      </p:sp>
      <p:sp>
        <p:nvSpPr>
          <p:cNvPr id="7" name="Text 5"/>
          <p:cNvSpPr/>
          <p:nvPr/>
        </p:nvSpPr>
        <p:spPr>
          <a:xfrm>
            <a:off x="3410712" y="3909060"/>
            <a:ext cx="8019288" cy="1650492"/>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规定了国家的根本制度和根本任务，是国家的根本法，</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具有最高的法律效力。</a:t>
            </a:r>
            <a:endParaRPr lang="zh-CN" sz="2400" dirty="0"/>
          </a:p>
        </p:txBody>
      </p:sp>
      <p:sp>
        <p:nvSpPr>
          <p:cNvPr id="8" name="Text 6"/>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共同任务，需要制度承载，也需要规范约束。</a:t>
            </a:r>
            <a:endParaRPr lang="zh-CN" sz="2400" dirty="0"/>
          </a:p>
        </p:txBody>
      </p:sp>
      <p:sp>
        <p:nvSpPr>
          <p:cNvPr id="9" name="Text 7"/>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现行宪法序言（节录）与目录</a:t>
            </a:r>
            <a:endParaRPr lang="zh-CN" sz="1200" dirty="0"/>
          </a:p>
        </p:txBody>
      </p:sp>
      <p:sp>
        <p:nvSpPr>
          <p:cNvPr id="10" name="Text 8"/>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3 / 38</a:t>
            </a:r>
            <a:endParaRPr lang="zh-CN"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上节｜一 国家生活的根本规则</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国家的根本安排，先回答哪些问题？</a:t>
            </a:r>
            <a:endParaRPr lang="zh-CN" sz="3600" dirty="0"/>
          </a:p>
        </p:txBody>
      </p:sp>
      <p:sp>
        <p:nvSpPr>
          <p:cNvPr id="4" name="Shape 2"/>
          <p:cNvSpPr/>
          <p:nvPr/>
        </p:nvSpPr>
        <p:spPr>
          <a:xfrm>
            <a:off x="713232" y="1901952"/>
            <a:ext cx="5175504" cy="3657600"/>
          </a:xfrm>
          <a:prstGeom prst="rect">
            <a:avLst/>
          </a:prstGeom>
          <a:solidFill>
            <a:srgbClr val="FFFFFF"/>
          </a:solidFill>
          <a:ln w="12700">
            <a:solidFill>
              <a:srgbClr val="FFFFFF">
                <a:alpha val="0"/>
              </a:srgbClr>
            </a:solidFill>
            <a:prstDash val="solid"/>
          </a:ln>
        </p:spPr>
      </p:sp>
      <p:sp>
        <p:nvSpPr>
          <p:cNvPr id="5" name="Text 3"/>
          <p:cNvSpPr/>
          <p:nvPr/>
        </p:nvSpPr>
        <p:spPr>
          <a:xfrm>
            <a:off x="914400" y="2103120"/>
            <a:ext cx="4773168" cy="54864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国家性质与根本制度｜第1条</a:t>
            </a:r>
            <a:endParaRPr lang="zh-CN" sz="2400" dirty="0"/>
          </a:p>
        </p:txBody>
      </p:sp>
      <p:sp>
        <p:nvSpPr>
          <p:cNvPr id="6" name="Text 4"/>
          <p:cNvSpPr/>
          <p:nvPr/>
        </p:nvSpPr>
        <p:spPr>
          <a:xfrm>
            <a:off x="914400" y="2798064"/>
            <a:ext cx="4773168" cy="2606040"/>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人民民主专政的社会主义国家；</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社会主义制度；中国共产党领导</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的宪法地位。</a:t>
            </a:r>
            <a:endParaRPr lang="zh-CN" sz="2400" dirty="0"/>
          </a:p>
        </p:txBody>
      </p:sp>
      <p:sp>
        <p:nvSpPr>
          <p:cNvPr id="7" name="Shape 5"/>
          <p:cNvSpPr/>
          <p:nvPr/>
        </p:nvSpPr>
        <p:spPr>
          <a:xfrm>
            <a:off x="6327648" y="1901952"/>
            <a:ext cx="5175504" cy="3657600"/>
          </a:xfrm>
          <a:prstGeom prst="rect">
            <a:avLst/>
          </a:prstGeom>
          <a:solidFill>
            <a:srgbClr val="E8ECE6"/>
          </a:solidFill>
          <a:ln w="12700">
            <a:solidFill>
              <a:srgbClr val="E8ECE6">
                <a:alpha val="0"/>
              </a:srgbClr>
            </a:solidFill>
            <a:prstDash val="solid"/>
          </a:ln>
        </p:spPr>
      </p:sp>
      <p:sp>
        <p:nvSpPr>
          <p:cNvPr id="8" name="Text 6"/>
          <p:cNvSpPr/>
          <p:nvPr/>
        </p:nvSpPr>
        <p:spPr>
          <a:xfrm>
            <a:off x="6528816" y="2103120"/>
            <a:ext cx="4773168" cy="54864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国家权力归属｜第2条</a:t>
            </a:r>
            <a:endParaRPr lang="zh-CN" sz="2400" dirty="0"/>
          </a:p>
        </p:txBody>
      </p:sp>
      <p:sp>
        <p:nvSpPr>
          <p:cNvPr id="9" name="Text 7"/>
          <p:cNvSpPr/>
          <p:nvPr/>
        </p:nvSpPr>
        <p:spPr>
          <a:xfrm>
            <a:off x="6528816" y="2798064"/>
            <a:ext cx="4773168" cy="2606040"/>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中华人民共和国的</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一切权力属于人民。</a:t>
            </a:r>
            <a:endParaRPr lang="zh-CN" sz="2400" dirty="0"/>
          </a:p>
        </p:txBody>
      </p:sp>
      <p:sp>
        <p:nvSpPr>
          <p:cNvPr id="10" name="Text 8"/>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根本内容是共同前提，不是全部细则的总和。</a:t>
            </a:r>
            <a:endParaRPr lang="zh-CN" sz="2400" dirty="0"/>
          </a:p>
        </p:txBody>
      </p:sp>
      <p:sp>
        <p:nvSpPr>
          <p:cNvPr id="11" name="Text 9"/>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现行宪法第1、2条；教材印刷18—20页</a:t>
            </a:r>
            <a:endParaRPr lang="zh-CN" sz="1200" dirty="0"/>
          </a:p>
        </p:txBody>
      </p:sp>
      <p:sp>
        <p:nvSpPr>
          <p:cNvPr id="12" name="Text 10"/>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4 / 38</a:t>
            </a:r>
            <a:endParaRPr lang="zh-CN"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上节｜一 国家生活的根本规则</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现在，把“宪法”说完整</a:t>
            </a:r>
            <a:endParaRPr lang="zh-CN" sz="3600" dirty="0"/>
          </a:p>
        </p:txBody>
      </p:sp>
      <p:sp>
        <p:nvSpPr>
          <p:cNvPr id="4" name="Text 2"/>
          <p:cNvSpPr/>
          <p:nvPr/>
        </p:nvSpPr>
        <p:spPr>
          <a:xfrm>
            <a:off x="758952" y="1965960"/>
            <a:ext cx="2194560" cy="1650492"/>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本课概括</a:t>
            </a:r>
            <a:endParaRPr lang="zh-CN" sz="2400" dirty="0"/>
          </a:p>
        </p:txBody>
      </p:sp>
      <p:sp>
        <p:nvSpPr>
          <p:cNvPr id="5" name="Text 3"/>
          <p:cNvSpPr/>
          <p:nvPr/>
        </p:nvSpPr>
        <p:spPr>
          <a:xfrm>
            <a:off x="3410712" y="1965960"/>
            <a:ext cx="8019288" cy="1650492"/>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宪法规定国家根本制度和任务、公民基本权利义务、国</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家权力组织运行等根本问题，具有最高法律效力。</a:t>
            </a:r>
            <a:endParaRPr lang="zh-CN" sz="2400" dirty="0"/>
          </a:p>
        </p:txBody>
      </p:sp>
      <p:sp>
        <p:nvSpPr>
          <p:cNvPr id="6" name="Text 4"/>
          <p:cNvSpPr/>
          <p:nvPr/>
        </p:nvSpPr>
        <p:spPr>
          <a:xfrm>
            <a:off x="758952" y="3909060"/>
            <a:ext cx="2194560" cy="1650492"/>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三个彼此</a:t>
            </a:r>
            <a:endParaRPr lang="zh-CN" sz="2400" dirty="0"/>
          </a:p>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联系的观察面</a:t>
            </a:r>
            <a:endParaRPr lang="zh-CN" sz="2400" dirty="0"/>
          </a:p>
        </p:txBody>
      </p:sp>
      <p:sp>
        <p:nvSpPr>
          <p:cNvPr id="7" name="Text 5"/>
          <p:cNvSpPr/>
          <p:nvPr/>
        </p:nvSpPr>
        <p:spPr>
          <a:xfrm>
            <a:off x="3410712" y="3909060"/>
            <a:ext cx="8019288" cy="1650492"/>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规定什么　｜　怎样约束其他规范　｜　根本规则怎样修改</a:t>
            </a:r>
            <a:endParaRPr lang="zh-CN" sz="2400" dirty="0"/>
          </a:p>
        </p:txBody>
      </p:sp>
      <p:sp>
        <p:nvSpPr>
          <p:cNvPr id="8" name="Text 6"/>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概念用于理解关系，不是把“最重要”换一种说法。</a:t>
            </a:r>
            <a:endParaRPr lang="zh-CN" sz="2400" dirty="0"/>
          </a:p>
        </p:txBody>
      </p:sp>
      <p:sp>
        <p:nvSpPr>
          <p:cNvPr id="9" name="Text 7"/>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教材印刷18—20页；宪法序言末段</a:t>
            </a:r>
            <a:endParaRPr lang="zh-CN" sz="1200" dirty="0"/>
          </a:p>
        </p:txBody>
      </p:sp>
      <p:sp>
        <p:nvSpPr>
          <p:cNvPr id="10" name="Text 8"/>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5 / 38</a:t>
            </a:r>
            <a:endParaRPr lang="zh-CN"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上节｜一 国家生活的根本规则</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制定法律的人和机关，也处在宪法之内</a:t>
            </a:r>
            <a:endParaRPr lang="zh-CN" sz="3600" dirty="0"/>
          </a:p>
        </p:txBody>
      </p:sp>
      <p:sp>
        <p:nvSpPr>
          <p:cNvPr id="4" name="Text 2"/>
          <p:cNvSpPr/>
          <p:nvPr/>
        </p:nvSpPr>
        <p:spPr>
          <a:xfrm>
            <a:off x="758952" y="1965960"/>
            <a:ext cx="2194560" cy="1002792"/>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现行宪法</a:t>
            </a:r>
            <a:endParaRPr lang="zh-CN" sz="2400" dirty="0"/>
          </a:p>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第5条第3款</a:t>
            </a:r>
            <a:endParaRPr lang="zh-CN" sz="2400" dirty="0"/>
          </a:p>
        </p:txBody>
      </p:sp>
      <p:sp>
        <p:nvSpPr>
          <p:cNvPr id="5" name="Text 3"/>
          <p:cNvSpPr/>
          <p:nvPr/>
        </p:nvSpPr>
        <p:spPr>
          <a:xfrm>
            <a:off x="3410712" y="1965960"/>
            <a:ext cx="8019288" cy="1002792"/>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一切法律、行政法规和</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地方性法规都不得同宪法相抵触。</a:t>
            </a:r>
            <a:endParaRPr lang="zh-CN" sz="2400" dirty="0"/>
          </a:p>
        </p:txBody>
      </p:sp>
      <p:sp>
        <p:nvSpPr>
          <p:cNvPr id="6" name="Shape 4"/>
          <p:cNvSpPr/>
          <p:nvPr/>
        </p:nvSpPr>
        <p:spPr>
          <a:xfrm>
            <a:off x="758952" y="3092196"/>
            <a:ext cx="10671048" cy="0"/>
          </a:xfrm>
          <a:prstGeom prst="line">
            <a:avLst/>
          </a:prstGeom>
          <a:noFill/>
          <a:ln w="16510">
            <a:solidFill>
              <a:srgbClr val="CBCDC5"/>
            </a:solidFill>
            <a:prstDash val="solid"/>
          </a:ln>
        </p:spPr>
      </p:sp>
      <p:sp>
        <p:nvSpPr>
          <p:cNvPr id="7" name="Text 5"/>
          <p:cNvSpPr/>
          <p:nvPr/>
        </p:nvSpPr>
        <p:spPr>
          <a:xfrm>
            <a:off x="758952" y="3261360"/>
            <a:ext cx="2194560" cy="1002792"/>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立法仍须回答</a:t>
            </a:r>
            <a:endParaRPr lang="zh-CN" sz="2400" dirty="0"/>
          </a:p>
        </p:txBody>
      </p:sp>
      <p:sp>
        <p:nvSpPr>
          <p:cNvPr id="8" name="Text 6"/>
          <p:cNvSpPr/>
          <p:nvPr/>
        </p:nvSpPr>
        <p:spPr>
          <a:xfrm>
            <a:off x="3410712" y="3261360"/>
            <a:ext cx="8019288" cy="1002792"/>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在共同约束之内，具体情形、</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责任主体与办理方式怎样安排？</a:t>
            </a:r>
            <a:endParaRPr lang="zh-CN" sz="2400" dirty="0"/>
          </a:p>
        </p:txBody>
      </p:sp>
      <p:sp>
        <p:nvSpPr>
          <p:cNvPr id="9" name="Shape 7"/>
          <p:cNvSpPr/>
          <p:nvPr/>
        </p:nvSpPr>
        <p:spPr>
          <a:xfrm>
            <a:off x="758952" y="4387596"/>
            <a:ext cx="10671048" cy="0"/>
          </a:xfrm>
          <a:prstGeom prst="line">
            <a:avLst/>
          </a:prstGeom>
          <a:noFill/>
          <a:ln w="16510">
            <a:solidFill>
              <a:srgbClr val="CBCDC5"/>
            </a:solidFill>
            <a:prstDash val="solid"/>
          </a:ln>
        </p:spPr>
      </p:sp>
      <p:sp>
        <p:nvSpPr>
          <p:cNvPr id="10" name="Text 8"/>
          <p:cNvSpPr/>
          <p:nvPr/>
        </p:nvSpPr>
        <p:spPr>
          <a:xfrm>
            <a:off x="758952" y="4556760"/>
            <a:ext cx="2194560" cy="1002792"/>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两种不能</a:t>
            </a:r>
            <a:endParaRPr lang="zh-CN" sz="2400" dirty="0"/>
          </a:p>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省略的判断</a:t>
            </a:r>
            <a:endParaRPr lang="zh-CN" sz="2400" dirty="0"/>
          </a:p>
        </p:txBody>
      </p:sp>
      <p:sp>
        <p:nvSpPr>
          <p:cNvPr id="11" name="Text 9"/>
          <p:cNvSpPr/>
          <p:nvPr/>
        </p:nvSpPr>
        <p:spPr>
          <a:xfrm>
            <a:off x="3410712" y="4556760"/>
            <a:ext cx="8019288" cy="1002792"/>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有没有越过宪法要求？具体选择有什么理由？</a:t>
            </a:r>
            <a:endParaRPr lang="zh-CN" sz="2400" dirty="0"/>
          </a:p>
        </p:txBody>
      </p:sp>
      <p:sp>
        <p:nvSpPr>
          <p:cNvPr id="12" name="Text 10"/>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有选择空间，仍须说明选择的依据。</a:t>
            </a:r>
            <a:endParaRPr lang="zh-CN" sz="2400" dirty="0"/>
          </a:p>
        </p:txBody>
      </p:sp>
      <p:sp>
        <p:nvSpPr>
          <p:cNvPr id="13" name="Text 11"/>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宪法第5条第3款；教材印刷19—20页</a:t>
            </a:r>
            <a:endParaRPr lang="zh-CN" sz="1200" dirty="0"/>
          </a:p>
        </p:txBody>
      </p:sp>
      <p:sp>
        <p:nvSpPr>
          <p:cNvPr id="14" name="Text 12"/>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6 / 38</a:t>
            </a:r>
            <a:endParaRPr lang="zh-CN"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上节｜一 国家生活的根本规则</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“属于人民”，怎样进入国家机构？</a:t>
            </a:r>
            <a:endParaRPr lang="zh-CN" sz="3600" dirty="0"/>
          </a:p>
        </p:txBody>
      </p:sp>
      <p:sp>
        <p:nvSpPr>
          <p:cNvPr id="4" name="Shape 2"/>
          <p:cNvSpPr/>
          <p:nvPr/>
        </p:nvSpPr>
        <p:spPr>
          <a:xfrm>
            <a:off x="804672" y="1938528"/>
            <a:ext cx="3730752" cy="914400"/>
          </a:xfrm>
          <a:prstGeom prst="rect">
            <a:avLst/>
          </a:prstGeom>
          <a:solidFill>
            <a:srgbClr val="343E3B"/>
          </a:solidFill>
          <a:ln w="12700">
            <a:solidFill>
              <a:srgbClr val="343E3B">
                <a:alpha val="0"/>
              </a:srgbClr>
            </a:solidFill>
            <a:prstDash val="solid"/>
          </a:ln>
        </p:spPr>
      </p:sp>
      <p:sp>
        <p:nvSpPr>
          <p:cNvPr id="5" name="Text 3"/>
          <p:cNvSpPr/>
          <p:nvPr/>
        </p:nvSpPr>
        <p:spPr>
          <a:xfrm>
            <a:off x="969264" y="2029968"/>
            <a:ext cx="3401568" cy="768096"/>
          </a:xfrm>
          <a:prstGeom prst="rect">
            <a:avLst/>
          </a:prstGeom>
          <a:noFill/>
          <a:ln/>
        </p:spPr>
        <p:txBody>
          <a:bodyPr wrap="none" lIns="0" tIns="0" rIns="0" bIns="0" rtlCol="0" anchor="t"/>
          <a:lstStyle/>
          <a:p>
            <a:pPr algn="l" indent="0" marL="0">
              <a:lnSpc>
                <a:spcPct val="105000"/>
              </a:lnSpc>
              <a:buNone/>
            </a:pPr>
            <a:r>
              <a:rPr lang="zh-CN" altLang="en-US" sz="2400" b="1" dirty="0">
                <a:solidFill>
                  <a:srgbClr val="F7F4ED"/>
                </a:solidFill>
                <a:latin typeface="Microsoft YaHei" pitchFamily="34" charset="0"/>
                <a:ea typeface="Microsoft YaHei" pitchFamily="34" charset="-122"/>
                <a:cs typeface="Microsoft YaHei" pitchFamily="34" charset="-120"/>
              </a:rPr>
              <a:t>人民</a:t>
            </a:r>
            <a:endParaRPr lang="zh-CN" sz="2400" dirty="0"/>
          </a:p>
        </p:txBody>
      </p:sp>
      <p:sp>
        <p:nvSpPr>
          <p:cNvPr id="6" name="Text 4"/>
          <p:cNvSpPr/>
          <p:nvPr/>
        </p:nvSpPr>
        <p:spPr>
          <a:xfrm>
            <a:off x="4919472" y="2029968"/>
            <a:ext cx="6364224" cy="777240"/>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国家的一切权力属于人民。</a:t>
            </a:r>
            <a:endParaRPr lang="zh-CN" sz="2400" dirty="0"/>
          </a:p>
        </p:txBody>
      </p:sp>
      <p:sp>
        <p:nvSpPr>
          <p:cNvPr id="7" name="Shape 5"/>
          <p:cNvSpPr/>
          <p:nvPr/>
        </p:nvSpPr>
        <p:spPr>
          <a:xfrm>
            <a:off x="2286000" y="2880360"/>
            <a:ext cx="0" cy="338328"/>
          </a:xfrm>
          <a:prstGeom prst="line">
            <a:avLst/>
          </a:prstGeom>
          <a:noFill/>
          <a:ln w="16510">
            <a:solidFill>
              <a:srgbClr val="9B3D32"/>
            </a:solidFill>
            <a:prstDash val="solid"/>
            <a:tailEnd type="triangle"/>
          </a:ln>
        </p:spPr>
      </p:sp>
      <p:sp>
        <p:nvSpPr>
          <p:cNvPr id="8" name="Text 6"/>
          <p:cNvSpPr/>
          <p:nvPr/>
        </p:nvSpPr>
        <p:spPr>
          <a:xfrm>
            <a:off x="2560320" y="2912364"/>
            <a:ext cx="2029968" cy="320040"/>
          </a:xfrm>
          <a:prstGeom prst="rect">
            <a:avLst/>
          </a:prstGeom>
          <a:noFill/>
          <a:ln/>
        </p:spPr>
        <p:txBody>
          <a:bodyPr wrap="none" lIns="0" tIns="0" rIns="0" bIns="0" rtlCol="0" anchor="t"/>
          <a:lstStyle/>
          <a:p>
            <a:pPr algn="l" indent="0" marL="0">
              <a:lnSpc>
                <a:spcPct val="105000"/>
              </a:lnSpc>
              <a:buNone/>
            </a:pPr>
            <a:r>
              <a:rPr lang="zh-CN" altLang="en-US" sz="1800" dirty="0">
                <a:solidFill>
                  <a:srgbClr val="9B3D32"/>
                </a:solidFill>
                <a:latin typeface="Microsoft YaHei" pitchFamily="34" charset="0"/>
                <a:ea typeface="Microsoft YaHei" pitchFamily="34" charset="-122"/>
                <a:cs typeface="Microsoft YaHei" pitchFamily="34" charset="-120"/>
              </a:rPr>
              <a:t>民主选举产生</a:t>
            </a:r>
            <a:endParaRPr lang="zh-CN" sz="1800" dirty="0"/>
          </a:p>
        </p:txBody>
      </p:sp>
      <p:sp>
        <p:nvSpPr>
          <p:cNvPr id="9" name="Shape 7"/>
          <p:cNvSpPr/>
          <p:nvPr/>
        </p:nvSpPr>
        <p:spPr>
          <a:xfrm>
            <a:off x="804672" y="3246120"/>
            <a:ext cx="3730752" cy="914400"/>
          </a:xfrm>
          <a:prstGeom prst="rect">
            <a:avLst/>
          </a:prstGeom>
          <a:solidFill>
            <a:srgbClr val="E8ECE6"/>
          </a:solidFill>
          <a:ln w="12700">
            <a:solidFill>
              <a:srgbClr val="E8ECE6">
                <a:alpha val="0"/>
              </a:srgbClr>
            </a:solidFill>
            <a:prstDash val="solid"/>
          </a:ln>
        </p:spPr>
      </p:sp>
      <p:sp>
        <p:nvSpPr>
          <p:cNvPr id="10" name="Text 8"/>
          <p:cNvSpPr/>
          <p:nvPr/>
        </p:nvSpPr>
        <p:spPr>
          <a:xfrm>
            <a:off x="969264" y="3337560"/>
            <a:ext cx="3401568" cy="768096"/>
          </a:xfrm>
          <a:prstGeom prst="rect">
            <a:avLst/>
          </a:prstGeom>
          <a:noFill/>
          <a:ln/>
        </p:spPr>
        <p:txBody>
          <a:bodyPr wrap="none" lIns="0" tIns="0" rIns="0" bIns="0" rtlCol="0" anchor="t"/>
          <a:lstStyle/>
          <a:p>
            <a:pPr algn="l" indent="0" marL="0">
              <a:lnSpc>
                <a:spcPct val="105000"/>
              </a:lnSpc>
              <a:buNone/>
            </a:pPr>
            <a:r>
              <a:rPr lang="zh-CN" altLang="en-US" sz="2400" b="1" dirty="0">
                <a:solidFill>
                  <a:srgbClr val="343E3B"/>
                </a:solidFill>
                <a:latin typeface="Microsoft YaHei" pitchFamily="34" charset="0"/>
                <a:ea typeface="Microsoft YaHei" pitchFamily="34" charset="-122"/>
                <a:cs typeface="Microsoft YaHei" pitchFamily="34" charset="-120"/>
              </a:rPr>
              <a:t>人民代表大会</a:t>
            </a:r>
            <a:endParaRPr lang="zh-CN" sz="2400" dirty="0"/>
          </a:p>
        </p:txBody>
      </p:sp>
      <p:sp>
        <p:nvSpPr>
          <p:cNvPr id="11" name="Text 9"/>
          <p:cNvSpPr/>
          <p:nvPr/>
        </p:nvSpPr>
        <p:spPr>
          <a:xfrm>
            <a:off x="4919472" y="3337560"/>
            <a:ext cx="6364224" cy="777240"/>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人民代表大会对人民负责，受人民监督。</a:t>
            </a:r>
            <a:endParaRPr lang="zh-CN" sz="2400" dirty="0"/>
          </a:p>
        </p:txBody>
      </p:sp>
      <p:sp>
        <p:nvSpPr>
          <p:cNvPr id="12" name="Shape 10"/>
          <p:cNvSpPr/>
          <p:nvPr/>
        </p:nvSpPr>
        <p:spPr>
          <a:xfrm>
            <a:off x="2286000" y="4187952"/>
            <a:ext cx="0" cy="338328"/>
          </a:xfrm>
          <a:prstGeom prst="line">
            <a:avLst/>
          </a:prstGeom>
          <a:noFill/>
          <a:ln w="16510">
            <a:solidFill>
              <a:srgbClr val="9B3D32"/>
            </a:solidFill>
            <a:prstDash val="solid"/>
            <a:tailEnd type="triangle"/>
          </a:ln>
        </p:spPr>
      </p:sp>
      <p:sp>
        <p:nvSpPr>
          <p:cNvPr id="13" name="Text 11"/>
          <p:cNvSpPr/>
          <p:nvPr/>
        </p:nvSpPr>
        <p:spPr>
          <a:xfrm>
            <a:off x="2560320" y="4219956"/>
            <a:ext cx="2029968" cy="320040"/>
          </a:xfrm>
          <a:prstGeom prst="rect">
            <a:avLst/>
          </a:prstGeom>
          <a:noFill/>
          <a:ln/>
        </p:spPr>
        <p:txBody>
          <a:bodyPr wrap="none" lIns="0" tIns="0" rIns="0" bIns="0" rtlCol="0" anchor="t"/>
          <a:lstStyle/>
          <a:p>
            <a:pPr algn="l" indent="0" marL="0">
              <a:lnSpc>
                <a:spcPct val="105000"/>
              </a:lnSpc>
              <a:buNone/>
            </a:pPr>
            <a:r>
              <a:rPr lang="zh-CN" altLang="en-US" sz="1800" dirty="0">
                <a:solidFill>
                  <a:srgbClr val="9B3D32"/>
                </a:solidFill>
                <a:latin typeface="Microsoft YaHei" pitchFamily="34" charset="0"/>
                <a:ea typeface="Microsoft YaHei" pitchFamily="34" charset="-122"/>
                <a:cs typeface="Microsoft YaHei" pitchFamily="34" charset="-120"/>
              </a:rPr>
              <a:t>由人大产生</a:t>
            </a:r>
            <a:endParaRPr lang="zh-CN" sz="1800" dirty="0"/>
          </a:p>
        </p:txBody>
      </p:sp>
      <p:sp>
        <p:nvSpPr>
          <p:cNvPr id="14" name="Shape 12"/>
          <p:cNvSpPr/>
          <p:nvPr/>
        </p:nvSpPr>
        <p:spPr>
          <a:xfrm>
            <a:off x="804672" y="4553712"/>
            <a:ext cx="3730752" cy="914400"/>
          </a:xfrm>
          <a:prstGeom prst="rect">
            <a:avLst/>
          </a:prstGeom>
          <a:solidFill>
            <a:srgbClr val="E8ECE6"/>
          </a:solidFill>
          <a:ln w="12700">
            <a:solidFill>
              <a:srgbClr val="E8ECE6">
                <a:alpha val="0"/>
              </a:srgbClr>
            </a:solidFill>
            <a:prstDash val="solid"/>
          </a:ln>
        </p:spPr>
      </p:sp>
      <p:sp>
        <p:nvSpPr>
          <p:cNvPr id="15" name="Text 13"/>
          <p:cNvSpPr/>
          <p:nvPr/>
        </p:nvSpPr>
        <p:spPr>
          <a:xfrm>
            <a:off x="969264" y="4645152"/>
            <a:ext cx="3401568" cy="768096"/>
          </a:xfrm>
          <a:prstGeom prst="rect">
            <a:avLst/>
          </a:prstGeom>
          <a:noFill/>
          <a:ln/>
        </p:spPr>
        <p:txBody>
          <a:bodyPr wrap="none" lIns="0" tIns="0" rIns="0" bIns="0" rtlCol="0" anchor="t"/>
          <a:lstStyle/>
          <a:p>
            <a:pPr algn="l" indent="0" marL="0">
              <a:lnSpc>
                <a:spcPct val="105000"/>
              </a:lnSpc>
              <a:buNone/>
            </a:pPr>
            <a:r>
              <a:rPr lang="zh-CN" altLang="en-US" sz="2400" b="1" dirty="0">
                <a:solidFill>
                  <a:srgbClr val="343E3B"/>
                </a:solidFill>
                <a:latin typeface="Microsoft YaHei" pitchFamily="34" charset="0"/>
                <a:ea typeface="Microsoft YaHei" pitchFamily="34" charset="-122"/>
                <a:cs typeface="Microsoft YaHei" pitchFamily="34" charset="-120"/>
              </a:rPr>
              <a:t>行政、监察机关</a:t>
            </a:r>
            <a:endParaRPr lang="zh-CN" sz="2400" dirty="0"/>
          </a:p>
          <a:p>
            <a:pPr algn="l" indent="0" marL="0">
              <a:lnSpc>
                <a:spcPct val="105000"/>
              </a:lnSpc>
              <a:buNone/>
            </a:pPr>
            <a:r>
              <a:rPr lang="zh-CN" altLang="en-US" sz="2400" b="1" dirty="0">
                <a:solidFill>
                  <a:srgbClr val="343E3B"/>
                </a:solidFill>
                <a:latin typeface="Microsoft YaHei" pitchFamily="34" charset="0"/>
                <a:ea typeface="Microsoft YaHei" pitchFamily="34" charset="-122"/>
                <a:cs typeface="Microsoft YaHei" pitchFamily="34" charset="-120"/>
              </a:rPr>
              <a:t>审判、检察机关</a:t>
            </a:r>
            <a:endParaRPr lang="zh-CN" sz="2400" dirty="0"/>
          </a:p>
        </p:txBody>
      </p:sp>
      <p:sp>
        <p:nvSpPr>
          <p:cNvPr id="16" name="Text 14"/>
          <p:cNvSpPr/>
          <p:nvPr/>
        </p:nvSpPr>
        <p:spPr>
          <a:xfrm>
            <a:off x="4919472" y="4645152"/>
            <a:ext cx="6364224" cy="777240"/>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这些机关对产生它的人大</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负责，受该人大监督。</a:t>
            </a:r>
            <a:endParaRPr lang="zh-CN" sz="2400" dirty="0"/>
          </a:p>
        </p:txBody>
      </p:sp>
      <p:sp>
        <p:nvSpPr>
          <p:cNvPr id="17" name="Text 15"/>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箭头只表产生；负责与监督看右侧明确的主客体。</a:t>
            </a:r>
            <a:endParaRPr lang="zh-CN" sz="2400" dirty="0"/>
          </a:p>
        </p:txBody>
      </p:sp>
      <p:sp>
        <p:nvSpPr>
          <p:cNvPr id="18" name="Text 16"/>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宪法第2、3条；选举层级未展开，非各级均全民直选</a:t>
            </a:r>
            <a:endParaRPr lang="zh-CN" sz="1200" dirty="0"/>
          </a:p>
        </p:txBody>
      </p:sp>
      <p:sp>
        <p:nvSpPr>
          <p:cNvPr id="19" name="Text 17"/>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7 / 38</a:t>
            </a:r>
            <a:endParaRPr lang="zh-CN"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上节｜一 国家生活的根本规则</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机关依法产生，为什么还要依法履职？</a:t>
            </a:r>
            <a:endParaRPr lang="zh-CN" sz="3600" dirty="0"/>
          </a:p>
        </p:txBody>
      </p:sp>
      <p:sp>
        <p:nvSpPr>
          <p:cNvPr id="4" name="Shape 2"/>
          <p:cNvSpPr/>
          <p:nvPr/>
        </p:nvSpPr>
        <p:spPr>
          <a:xfrm>
            <a:off x="713232" y="1901952"/>
            <a:ext cx="5175504" cy="3657600"/>
          </a:xfrm>
          <a:prstGeom prst="rect">
            <a:avLst/>
          </a:prstGeom>
          <a:solidFill>
            <a:srgbClr val="FFFFFF"/>
          </a:solidFill>
          <a:ln w="12700">
            <a:solidFill>
              <a:srgbClr val="FFFFFF">
                <a:alpha val="0"/>
              </a:srgbClr>
            </a:solidFill>
            <a:prstDash val="solid"/>
          </a:ln>
        </p:spPr>
      </p:sp>
      <p:sp>
        <p:nvSpPr>
          <p:cNvPr id="5" name="Text 3"/>
          <p:cNvSpPr/>
          <p:nvPr/>
        </p:nvSpPr>
        <p:spPr>
          <a:xfrm>
            <a:off x="914400" y="2103120"/>
            <a:ext cx="4773168" cy="54864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制度化</a:t>
            </a:r>
            <a:endParaRPr lang="zh-CN" sz="2400" dirty="0"/>
          </a:p>
        </p:txBody>
      </p:sp>
      <p:sp>
        <p:nvSpPr>
          <p:cNvPr id="6" name="Text 4"/>
          <p:cNvSpPr/>
          <p:nvPr/>
        </p:nvSpPr>
        <p:spPr>
          <a:xfrm>
            <a:off x="914400" y="2798064"/>
            <a:ext cx="4773168" cy="2606040"/>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形成机关、程序及产生、负责、</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监督关系。</a:t>
            </a:r>
            <a:endParaRPr lang="zh-CN" sz="2400" dirty="0"/>
          </a:p>
        </p:txBody>
      </p:sp>
      <p:sp>
        <p:nvSpPr>
          <p:cNvPr id="7" name="Shape 5"/>
          <p:cNvSpPr/>
          <p:nvPr/>
        </p:nvSpPr>
        <p:spPr>
          <a:xfrm>
            <a:off x="6327648" y="1901952"/>
            <a:ext cx="5175504" cy="3657600"/>
          </a:xfrm>
          <a:prstGeom prst="rect">
            <a:avLst/>
          </a:prstGeom>
          <a:solidFill>
            <a:srgbClr val="E8ECE6"/>
          </a:solidFill>
          <a:ln w="12700">
            <a:solidFill>
              <a:srgbClr val="E8ECE6">
                <a:alpha val="0"/>
              </a:srgbClr>
            </a:solidFill>
            <a:prstDash val="solid"/>
          </a:ln>
        </p:spPr>
      </p:sp>
      <p:sp>
        <p:nvSpPr>
          <p:cNvPr id="8" name="Text 6"/>
          <p:cNvSpPr/>
          <p:nvPr/>
        </p:nvSpPr>
        <p:spPr>
          <a:xfrm>
            <a:off x="6528816" y="2103120"/>
            <a:ext cx="4773168" cy="54864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法律化</a:t>
            </a:r>
            <a:endParaRPr lang="zh-CN" sz="2400" dirty="0"/>
          </a:p>
        </p:txBody>
      </p:sp>
      <p:sp>
        <p:nvSpPr>
          <p:cNvPr id="9" name="Text 7"/>
          <p:cNvSpPr/>
          <p:nvPr/>
        </p:nvSpPr>
        <p:spPr>
          <a:xfrm>
            <a:off x="6528816" y="2798064"/>
            <a:ext cx="4773168" cy="2606040"/>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把这些关系确认为</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应当遵守的法律要求。</a:t>
            </a:r>
            <a:endParaRPr lang="zh-CN" sz="2400" dirty="0"/>
          </a:p>
        </p:txBody>
      </p:sp>
      <p:sp>
        <p:nvSpPr>
          <p:cNvPr id="10" name="Text 8"/>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把权力的归属写清楚，还要把行使权力的责任写清楚。</a:t>
            </a:r>
            <a:endParaRPr lang="zh-CN" sz="2400" dirty="0"/>
          </a:p>
        </p:txBody>
      </p:sp>
      <p:sp>
        <p:nvSpPr>
          <p:cNvPr id="11" name="Text 9"/>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宪法第2、3条；教材印刷20—21页</a:t>
            </a:r>
            <a:endParaRPr lang="zh-CN" sz="1200" dirty="0"/>
          </a:p>
        </p:txBody>
      </p:sp>
      <p:sp>
        <p:nvSpPr>
          <p:cNvPr id="12" name="Text 10"/>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8 / 38</a:t>
            </a:r>
            <a:endParaRPr lang="zh-CN"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上节｜一 国家生活的根本规则</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党的领导与依法活动，怎样连起来理解？</a:t>
            </a:r>
            <a:endParaRPr lang="zh-CN" sz="3600" dirty="0"/>
          </a:p>
        </p:txBody>
      </p:sp>
      <p:sp>
        <p:nvSpPr>
          <p:cNvPr id="4" name="Shape 2"/>
          <p:cNvSpPr/>
          <p:nvPr/>
        </p:nvSpPr>
        <p:spPr>
          <a:xfrm>
            <a:off x="713232" y="1901952"/>
            <a:ext cx="5175504" cy="3657600"/>
          </a:xfrm>
          <a:prstGeom prst="rect">
            <a:avLst/>
          </a:prstGeom>
          <a:solidFill>
            <a:srgbClr val="FFFFFF"/>
          </a:solidFill>
          <a:ln w="12700">
            <a:solidFill>
              <a:srgbClr val="FFFFFF">
                <a:alpha val="0"/>
              </a:srgbClr>
            </a:solidFill>
            <a:prstDash val="solid"/>
          </a:ln>
        </p:spPr>
      </p:sp>
      <p:sp>
        <p:nvSpPr>
          <p:cNvPr id="5" name="Text 3"/>
          <p:cNvSpPr/>
          <p:nvPr/>
        </p:nvSpPr>
        <p:spPr>
          <a:xfrm>
            <a:off x="914400" y="2103120"/>
            <a:ext cx="4773168" cy="54864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第1条第2款节录</a:t>
            </a:r>
            <a:endParaRPr lang="zh-CN" sz="2400" dirty="0"/>
          </a:p>
        </p:txBody>
      </p:sp>
      <p:sp>
        <p:nvSpPr>
          <p:cNvPr id="6" name="Text 4"/>
          <p:cNvSpPr/>
          <p:nvPr/>
        </p:nvSpPr>
        <p:spPr>
          <a:xfrm>
            <a:off x="914400" y="2798064"/>
            <a:ext cx="4773168" cy="2606040"/>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中国共产党领导是中国特色社会</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主义最本质的特征。</a:t>
            </a:r>
            <a:endParaRPr lang="zh-CN" sz="2400" dirty="0"/>
          </a:p>
        </p:txBody>
      </p:sp>
      <p:sp>
        <p:nvSpPr>
          <p:cNvPr id="7" name="Shape 5"/>
          <p:cNvSpPr/>
          <p:nvPr/>
        </p:nvSpPr>
        <p:spPr>
          <a:xfrm>
            <a:off x="6327648" y="1901952"/>
            <a:ext cx="5175504" cy="3657600"/>
          </a:xfrm>
          <a:prstGeom prst="rect">
            <a:avLst/>
          </a:prstGeom>
          <a:solidFill>
            <a:srgbClr val="E8ECE6"/>
          </a:solidFill>
          <a:ln w="12700">
            <a:solidFill>
              <a:srgbClr val="E8ECE6">
                <a:alpha val="0"/>
              </a:srgbClr>
            </a:solidFill>
            <a:prstDash val="solid"/>
          </a:ln>
        </p:spPr>
      </p:sp>
      <p:sp>
        <p:nvSpPr>
          <p:cNvPr id="8" name="Text 6"/>
          <p:cNvSpPr/>
          <p:nvPr/>
        </p:nvSpPr>
        <p:spPr>
          <a:xfrm>
            <a:off x="6528816" y="2103120"/>
            <a:ext cx="4773168" cy="54864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第5条第4款节录</a:t>
            </a:r>
            <a:endParaRPr lang="zh-CN" sz="2400" dirty="0"/>
          </a:p>
        </p:txBody>
      </p:sp>
      <p:sp>
        <p:nvSpPr>
          <p:cNvPr id="9" name="Text 7"/>
          <p:cNvSpPr/>
          <p:nvPr/>
        </p:nvSpPr>
        <p:spPr>
          <a:xfrm>
            <a:off x="6528816" y="2798064"/>
            <a:ext cx="4773168" cy="2606040"/>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一切国家机关和武装力量、各政</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党和各社会团体、各企业事业组</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织都必须遵守宪法和法律。</a:t>
            </a:r>
            <a:endParaRPr lang="zh-CN" sz="2400" dirty="0"/>
          </a:p>
        </p:txBody>
      </p:sp>
      <p:sp>
        <p:nvSpPr>
          <p:cNvPr id="10" name="Text 8"/>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领导地位与依法活动，在同一宪法中共同理解。</a:t>
            </a:r>
            <a:endParaRPr lang="zh-CN" sz="2400" dirty="0"/>
          </a:p>
        </p:txBody>
      </p:sp>
      <p:sp>
        <p:nvSpPr>
          <p:cNvPr id="11" name="Text 9"/>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宪法第1条第2款、第5条第4款；教材印刷94页</a:t>
            </a:r>
            <a:endParaRPr lang="zh-CN" sz="1200" dirty="0"/>
          </a:p>
        </p:txBody>
      </p:sp>
      <p:sp>
        <p:nvSpPr>
          <p:cNvPr id="12" name="Text 10"/>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9 / 38</a:t>
            </a:r>
            <a:endParaRPr lang="zh-CN"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上节｜一 国家生活的根本规则</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权力怎样行使，必须看见人的权利</a:t>
            </a:r>
            <a:endParaRPr lang="zh-CN" sz="3600" dirty="0"/>
          </a:p>
        </p:txBody>
      </p:sp>
      <p:sp>
        <p:nvSpPr>
          <p:cNvPr id="4" name="Text 2"/>
          <p:cNvSpPr/>
          <p:nvPr/>
        </p:nvSpPr>
        <p:spPr>
          <a:xfrm>
            <a:off x="758952" y="1965960"/>
            <a:ext cx="2194560" cy="1467612"/>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第33条第3款</a:t>
            </a:r>
            <a:endParaRPr lang="zh-CN" sz="2400" dirty="0"/>
          </a:p>
        </p:txBody>
      </p:sp>
      <p:sp>
        <p:nvSpPr>
          <p:cNvPr id="5" name="Text 3"/>
          <p:cNvSpPr/>
          <p:nvPr/>
        </p:nvSpPr>
        <p:spPr>
          <a:xfrm>
            <a:off x="3410712" y="1965960"/>
            <a:ext cx="8019288" cy="1467612"/>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国家尊重和保障人权。</a:t>
            </a:r>
            <a:endParaRPr lang="zh-CN" sz="2400" dirty="0"/>
          </a:p>
        </p:txBody>
      </p:sp>
      <p:sp>
        <p:nvSpPr>
          <p:cNvPr id="6" name="Text 4"/>
          <p:cNvSpPr/>
          <p:nvPr/>
        </p:nvSpPr>
        <p:spPr>
          <a:xfrm>
            <a:off x="758952" y="3726180"/>
            <a:ext cx="2194560" cy="1833372"/>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两个相互</a:t>
            </a:r>
            <a:endParaRPr lang="zh-CN" sz="2400" dirty="0"/>
          </a:p>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联系的要求</a:t>
            </a:r>
            <a:endParaRPr lang="zh-CN" sz="2400" dirty="0"/>
          </a:p>
        </p:txBody>
      </p:sp>
      <p:sp>
        <p:nvSpPr>
          <p:cNvPr id="7" name="Text 5"/>
          <p:cNvSpPr/>
          <p:nvPr/>
        </p:nvSpPr>
        <p:spPr>
          <a:xfrm>
            <a:off x="3410712" y="3726180"/>
            <a:ext cx="8019288" cy="1833372"/>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尊重：约束国家行为　　保障：通过制度与履职保护权利</a:t>
            </a:r>
            <a:endParaRPr lang="zh-CN" sz="2400" dirty="0"/>
          </a:p>
        </p:txBody>
      </p:sp>
      <p:sp>
        <p:nvSpPr>
          <p:cNvPr id="8" name="Text 6"/>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组织国家权力，同时要回答它怎样对待人的权利。</a:t>
            </a:r>
            <a:endParaRPr lang="zh-CN" sz="2400" dirty="0"/>
          </a:p>
        </p:txBody>
      </p:sp>
      <p:sp>
        <p:nvSpPr>
          <p:cNvPr id="9" name="Text 7"/>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宪法第33条第3款；教材印刷100页</a:t>
            </a:r>
            <a:endParaRPr lang="zh-CN" sz="1200" dirty="0"/>
          </a:p>
        </p:txBody>
      </p:sp>
      <p:sp>
        <p:nvSpPr>
          <p:cNvPr id="10" name="Text 8"/>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10 / 38</a:t>
            </a:r>
            <a:endParaRPr lang="zh-CN"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上节｜一 国家生活的根本规则</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五项原则，共同说明国家权力怎样运行</a:t>
            </a:r>
            <a:endParaRPr lang="zh-CN" sz="3600" dirty="0"/>
          </a:p>
        </p:txBody>
      </p:sp>
      <p:sp>
        <p:nvSpPr>
          <p:cNvPr id="4" name="Text 2"/>
          <p:cNvSpPr/>
          <p:nvPr/>
        </p:nvSpPr>
        <p:spPr>
          <a:xfrm>
            <a:off x="758952" y="1965960"/>
            <a:ext cx="2706624" cy="843077"/>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坚持</a:t>
            </a:r>
            <a:endParaRPr lang="zh-CN" sz="2400" dirty="0"/>
          </a:p>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中国共产党的领导</a:t>
            </a:r>
            <a:endParaRPr lang="zh-CN" sz="2400" dirty="0"/>
          </a:p>
        </p:txBody>
      </p:sp>
      <p:sp>
        <p:nvSpPr>
          <p:cNvPr id="5" name="Text 3"/>
          <p:cNvSpPr/>
          <p:nvPr/>
        </p:nvSpPr>
        <p:spPr>
          <a:xfrm>
            <a:off x="3922776" y="1965960"/>
            <a:ext cx="7507224" cy="843077"/>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国家根本制度与领导地位</a:t>
            </a:r>
            <a:endParaRPr lang="zh-CN" sz="2400" dirty="0"/>
          </a:p>
        </p:txBody>
      </p:sp>
      <p:sp>
        <p:nvSpPr>
          <p:cNvPr id="6" name="Shape 4"/>
          <p:cNvSpPr/>
          <p:nvPr/>
        </p:nvSpPr>
        <p:spPr>
          <a:xfrm>
            <a:off x="758952" y="2891333"/>
            <a:ext cx="10671048" cy="0"/>
          </a:xfrm>
          <a:prstGeom prst="line">
            <a:avLst/>
          </a:prstGeom>
          <a:noFill/>
          <a:ln w="16510">
            <a:solidFill>
              <a:srgbClr val="CBCDC5"/>
            </a:solidFill>
            <a:prstDash val="solid"/>
          </a:ln>
        </p:spPr>
      </p:sp>
      <p:sp>
        <p:nvSpPr>
          <p:cNvPr id="7" name="Text 5"/>
          <p:cNvSpPr/>
          <p:nvPr/>
        </p:nvSpPr>
        <p:spPr>
          <a:xfrm>
            <a:off x="758952" y="3019349"/>
            <a:ext cx="2706624" cy="477317"/>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人民主权</a:t>
            </a:r>
            <a:endParaRPr lang="zh-CN" sz="2400" dirty="0"/>
          </a:p>
        </p:txBody>
      </p:sp>
      <p:sp>
        <p:nvSpPr>
          <p:cNvPr id="8" name="Text 6"/>
          <p:cNvSpPr/>
          <p:nvPr/>
        </p:nvSpPr>
        <p:spPr>
          <a:xfrm>
            <a:off x="3922776" y="3019349"/>
            <a:ext cx="7507224" cy="477317"/>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权力归属与人民参与</a:t>
            </a:r>
            <a:endParaRPr lang="zh-CN" sz="2400" dirty="0"/>
          </a:p>
        </p:txBody>
      </p:sp>
      <p:sp>
        <p:nvSpPr>
          <p:cNvPr id="9" name="Shape 7"/>
          <p:cNvSpPr/>
          <p:nvPr/>
        </p:nvSpPr>
        <p:spPr>
          <a:xfrm>
            <a:off x="758952" y="3578962"/>
            <a:ext cx="10671048" cy="0"/>
          </a:xfrm>
          <a:prstGeom prst="line">
            <a:avLst/>
          </a:prstGeom>
          <a:noFill/>
          <a:ln w="16510">
            <a:solidFill>
              <a:srgbClr val="CBCDC5"/>
            </a:solidFill>
            <a:prstDash val="solid"/>
          </a:ln>
        </p:spPr>
      </p:sp>
      <p:sp>
        <p:nvSpPr>
          <p:cNvPr id="10" name="Text 8"/>
          <p:cNvSpPr/>
          <p:nvPr/>
        </p:nvSpPr>
        <p:spPr>
          <a:xfrm>
            <a:off x="758952" y="3706978"/>
            <a:ext cx="2706624" cy="477317"/>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社会主义法治</a:t>
            </a:r>
            <a:endParaRPr lang="zh-CN" sz="2400" dirty="0"/>
          </a:p>
        </p:txBody>
      </p:sp>
      <p:sp>
        <p:nvSpPr>
          <p:cNvPr id="11" name="Text 9"/>
          <p:cNvSpPr/>
          <p:nvPr/>
        </p:nvSpPr>
        <p:spPr>
          <a:xfrm>
            <a:off x="3922776" y="3706978"/>
            <a:ext cx="7507224" cy="477317"/>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依据宪法法律组织和运行</a:t>
            </a:r>
            <a:endParaRPr lang="zh-CN" sz="2400" dirty="0"/>
          </a:p>
        </p:txBody>
      </p:sp>
      <p:sp>
        <p:nvSpPr>
          <p:cNvPr id="12" name="Shape 10"/>
          <p:cNvSpPr/>
          <p:nvPr/>
        </p:nvSpPr>
        <p:spPr>
          <a:xfrm>
            <a:off x="758952" y="4266590"/>
            <a:ext cx="10671048" cy="0"/>
          </a:xfrm>
          <a:prstGeom prst="line">
            <a:avLst/>
          </a:prstGeom>
          <a:noFill/>
          <a:ln w="16510">
            <a:solidFill>
              <a:srgbClr val="CBCDC5"/>
            </a:solidFill>
            <a:prstDash val="solid"/>
          </a:ln>
        </p:spPr>
      </p:sp>
      <p:sp>
        <p:nvSpPr>
          <p:cNvPr id="13" name="Text 11"/>
          <p:cNvSpPr/>
          <p:nvPr/>
        </p:nvSpPr>
        <p:spPr>
          <a:xfrm>
            <a:off x="758952" y="4394606"/>
            <a:ext cx="2706624" cy="477317"/>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尊重和保障人权</a:t>
            </a:r>
            <a:endParaRPr lang="zh-CN" sz="2400" dirty="0"/>
          </a:p>
        </p:txBody>
      </p:sp>
      <p:sp>
        <p:nvSpPr>
          <p:cNvPr id="14" name="Text 12"/>
          <p:cNvSpPr/>
          <p:nvPr/>
        </p:nvSpPr>
        <p:spPr>
          <a:xfrm>
            <a:off x="3922776" y="4394606"/>
            <a:ext cx="7507224" cy="477317"/>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国家活动的权利要求</a:t>
            </a:r>
            <a:endParaRPr lang="zh-CN" sz="2400" dirty="0"/>
          </a:p>
        </p:txBody>
      </p:sp>
      <p:sp>
        <p:nvSpPr>
          <p:cNvPr id="15" name="Shape 13"/>
          <p:cNvSpPr/>
          <p:nvPr/>
        </p:nvSpPr>
        <p:spPr>
          <a:xfrm>
            <a:off x="758952" y="4954219"/>
            <a:ext cx="10671048" cy="0"/>
          </a:xfrm>
          <a:prstGeom prst="line">
            <a:avLst/>
          </a:prstGeom>
          <a:noFill/>
          <a:ln w="16510">
            <a:solidFill>
              <a:srgbClr val="CBCDC5"/>
            </a:solidFill>
            <a:prstDash val="solid"/>
          </a:ln>
        </p:spPr>
      </p:sp>
      <p:sp>
        <p:nvSpPr>
          <p:cNvPr id="16" name="Text 14"/>
          <p:cNvSpPr/>
          <p:nvPr/>
        </p:nvSpPr>
        <p:spPr>
          <a:xfrm>
            <a:off x="758952" y="5082235"/>
            <a:ext cx="2706624" cy="477317"/>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权力监督与制约</a:t>
            </a:r>
            <a:endParaRPr lang="zh-CN" sz="2400" dirty="0"/>
          </a:p>
        </p:txBody>
      </p:sp>
      <p:sp>
        <p:nvSpPr>
          <p:cNvPr id="17" name="Text 15"/>
          <p:cNvSpPr/>
          <p:nvPr/>
        </p:nvSpPr>
        <p:spPr>
          <a:xfrm>
            <a:off x="3922776" y="5082235"/>
            <a:ext cx="7507224" cy="477317"/>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负责、监督和纠正</a:t>
            </a:r>
            <a:endParaRPr lang="zh-CN" sz="2400" dirty="0"/>
          </a:p>
        </p:txBody>
      </p:sp>
      <p:sp>
        <p:nvSpPr>
          <p:cNvPr id="18" name="Text 16"/>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同一国家活动，同时面对这些原则的要求。</a:t>
            </a:r>
            <a:endParaRPr lang="zh-CN" sz="2400" dirty="0"/>
          </a:p>
        </p:txBody>
      </p:sp>
      <p:sp>
        <p:nvSpPr>
          <p:cNvPr id="19" name="Text 17"/>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教材第三章第二节；宪法第1、2、3、5、33条</a:t>
            </a:r>
            <a:endParaRPr lang="zh-CN" sz="1200" dirty="0"/>
          </a:p>
        </p:txBody>
      </p:sp>
      <p:sp>
        <p:nvSpPr>
          <p:cNvPr id="20" name="Text 18"/>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11 / 38</a:t>
            </a:r>
            <a:endParaRPr lang="zh-CN"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上节｜一 国家生活的根本规则</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任务1：把两处条文连成一个解释</a:t>
            </a:r>
            <a:endParaRPr lang="zh-CN" sz="3600" dirty="0"/>
          </a:p>
        </p:txBody>
      </p:sp>
      <p:sp>
        <p:nvSpPr>
          <p:cNvPr id="4" name="Text 2"/>
          <p:cNvSpPr/>
          <p:nvPr/>
        </p:nvSpPr>
        <p:spPr>
          <a:xfrm>
            <a:off x="795528" y="1920240"/>
            <a:ext cx="10533888" cy="45720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使用材料B</a:t>
            </a:r>
            <a:endParaRPr lang="zh-CN" sz="2400" dirty="0"/>
          </a:p>
        </p:txBody>
      </p:sp>
      <p:sp>
        <p:nvSpPr>
          <p:cNvPr id="5" name="Text 3"/>
          <p:cNvSpPr/>
          <p:nvPr/>
        </p:nvSpPr>
        <p:spPr>
          <a:xfrm>
            <a:off x="795528" y="2450592"/>
            <a:ext cx="10533888" cy="1165860"/>
          </a:xfrm>
          <a:prstGeom prst="rect">
            <a:avLst/>
          </a:prstGeom>
          <a:noFill/>
          <a:ln/>
        </p:spPr>
        <p:txBody>
          <a:bodyPr wrap="none" lIns="0" tIns="0" rIns="0" bIns="0" rtlCol="0" anchor="t"/>
          <a:lstStyle/>
          <a:p>
            <a:pPr algn="l" indent="0" marL="0">
              <a:lnSpc>
                <a:spcPct val="105000"/>
              </a:lnSpc>
              <a:buNone/>
            </a:pPr>
            <a:r>
              <a:rPr lang="zh-CN" altLang="en-US" sz="2600" dirty="0">
                <a:solidFill>
                  <a:srgbClr val="2B302F"/>
                </a:solidFill>
                <a:latin typeface="Microsoft YaHei" pitchFamily="34" charset="0"/>
                <a:ea typeface="Microsoft YaHei" pitchFamily="34" charset="-122"/>
                <a:cs typeface="Microsoft YaHei" pitchFamily="34" charset="-120"/>
              </a:rPr>
              <a:t>第2条、第3条、第33条第3款</a:t>
            </a:r>
            <a:endParaRPr lang="zh-CN" sz="2600" dirty="0"/>
          </a:p>
        </p:txBody>
      </p:sp>
      <p:sp>
        <p:nvSpPr>
          <p:cNvPr id="6" name="Text 4"/>
          <p:cNvSpPr/>
          <p:nvPr/>
        </p:nvSpPr>
        <p:spPr>
          <a:xfrm>
            <a:off x="795528" y="3854196"/>
            <a:ext cx="10533888" cy="45720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请用自己的话回答</a:t>
            </a:r>
            <a:endParaRPr lang="zh-CN" sz="2400" dirty="0"/>
          </a:p>
        </p:txBody>
      </p:sp>
      <p:sp>
        <p:nvSpPr>
          <p:cNvPr id="7" name="Text 5"/>
          <p:cNvSpPr/>
          <p:nvPr/>
        </p:nvSpPr>
        <p:spPr>
          <a:xfrm>
            <a:off x="795528" y="4384548"/>
            <a:ext cx="10533888" cy="1165860"/>
          </a:xfrm>
          <a:prstGeom prst="rect">
            <a:avLst/>
          </a:prstGeom>
          <a:noFill/>
          <a:ln/>
        </p:spPr>
        <p:txBody>
          <a:bodyPr wrap="none" lIns="0" tIns="0" rIns="0" bIns="0" rtlCol="0" anchor="t"/>
          <a:lstStyle/>
          <a:p>
            <a:pPr algn="l" indent="0" marL="0">
              <a:lnSpc>
                <a:spcPct val="105000"/>
              </a:lnSpc>
              <a:buNone/>
            </a:pPr>
            <a:r>
              <a:rPr lang="zh-CN" altLang="en-US" sz="2600" dirty="0">
                <a:solidFill>
                  <a:srgbClr val="2B302F"/>
                </a:solidFill>
                <a:latin typeface="Microsoft YaHei" pitchFamily="34" charset="0"/>
                <a:ea typeface="Microsoft YaHei" pitchFamily="34" charset="-122"/>
                <a:cs typeface="Microsoft YaHei" pitchFamily="34" charset="-120"/>
              </a:rPr>
              <a:t>人民通过国家机关行使权力，为什么还要规定负责、监督和人权保</a:t>
            </a:r>
            <a:endParaRPr lang="zh-CN" sz="2600" dirty="0"/>
          </a:p>
          <a:p>
            <a:pPr algn="l" indent="0" marL="0">
              <a:lnSpc>
                <a:spcPct val="105000"/>
              </a:lnSpc>
              <a:buNone/>
            </a:pPr>
            <a:r>
              <a:rPr lang="zh-CN" altLang="en-US" sz="2600" dirty="0">
                <a:solidFill>
                  <a:srgbClr val="2B302F"/>
                </a:solidFill>
                <a:latin typeface="Microsoft YaHei" pitchFamily="34" charset="0"/>
                <a:ea typeface="Microsoft YaHei" pitchFamily="34" charset="-122"/>
                <a:cs typeface="Microsoft YaHei" pitchFamily="34" charset="-120"/>
              </a:rPr>
              <a:t>障？任选两处条文连成一段，不只列原则名称。</a:t>
            </a:r>
            <a:endParaRPr lang="zh-CN" sz="2600" dirty="0"/>
          </a:p>
        </p:txBody>
      </p:sp>
      <p:sp>
        <p:nvSpPr>
          <p:cNvPr id="8" name="Text 6"/>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先说明关系，再核对你所用的条文。</a:t>
            </a:r>
            <a:endParaRPr lang="zh-CN" sz="2400" dirty="0"/>
          </a:p>
        </p:txBody>
      </p:sp>
      <p:sp>
        <p:nvSpPr>
          <p:cNvPr id="9" name="Text 7"/>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任务1｜学生材料B</a:t>
            </a:r>
            <a:endParaRPr lang="zh-CN" sz="1200" dirty="0"/>
          </a:p>
        </p:txBody>
      </p:sp>
      <p:sp>
        <p:nvSpPr>
          <p:cNvPr id="10" name="Text 8"/>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12 / 38</a:t>
            </a:r>
            <a:endParaRPr lang="zh-CN"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上节｜一 国家生活的根本规则</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任务1讲评：归属、组织与责任需要一起说明</a:t>
            </a:r>
            <a:endParaRPr lang="zh-CN" sz="3600" dirty="0"/>
          </a:p>
        </p:txBody>
      </p:sp>
      <p:sp>
        <p:nvSpPr>
          <p:cNvPr id="4" name="Shape 2"/>
          <p:cNvSpPr/>
          <p:nvPr/>
        </p:nvSpPr>
        <p:spPr>
          <a:xfrm>
            <a:off x="713232" y="1920240"/>
            <a:ext cx="73152" cy="1879092"/>
          </a:xfrm>
          <a:prstGeom prst="rect">
            <a:avLst/>
          </a:prstGeom>
          <a:solidFill>
            <a:srgbClr val="9B3D32"/>
          </a:solidFill>
          <a:ln w="12700">
            <a:solidFill>
              <a:srgbClr val="9B3D32">
                <a:alpha val="0"/>
              </a:srgbClr>
            </a:solidFill>
            <a:prstDash val="solid"/>
          </a:ln>
        </p:spPr>
      </p:sp>
      <p:sp>
        <p:nvSpPr>
          <p:cNvPr id="5" name="Text 3"/>
          <p:cNvSpPr/>
          <p:nvPr/>
        </p:nvSpPr>
        <p:spPr>
          <a:xfrm>
            <a:off x="923544" y="1965960"/>
            <a:ext cx="2194560" cy="1833372"/>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一种可行解释</a:t>
            </a:r>
            <a:endParaRPr lang="zh-CN" sz="2400" dirty="0"/>
          </a:p>
        </p:txBody>
      </p:sp>
      <p:sp>
        <p:nvSpPr>
          <p:cNvPr id="6" name="Text 4"/>
          <p:cNvSpPr/>
          <p:nvPr/>
        </p:nvSpPr>
        <p:spPr>
          <a:xfrm>
            <a:off x="3410712" y="1965960"/>
            <a:ext cx="8019288" cy="1833372"/>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权力属于人民，通过宪法规定的机关行使；机关有产生</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关系，也有负责和监督关系。</a:t>
            </a:r>
            <a:endParaRPr lang="zh-CN" sz="2400" dirty="0"/>
          </a:p>
        </p:txBody>
      </p:sp>
      <p:sp>
        <p:nvSpPr>
          <p:cNvPr id="7" name="Shape 5"/>
          <p:cNvSpPr/>
          <p:nvPr/>
        </p:nvSpPr>
        <p:spPr>
          <a:xfrm>
            <a:off x="713232" y="4046220"/>
            <a:ext cx="73152" cy="1513332"/>
          </a:xfrm>
          <a:prstGeom prst="rect">
            <a:avLst/>
          </a:prstGeom>
          <a:solidFill>
            <a:srgbClr val="9B3D32"/>
          </a:solidFill>
          <a:ln w="12700">
            <a:solidFill>
              <a:srgbClr val="9B3D32">
                <a:alpha val="0"/>
              </a:srgbClr>
            </a:solidFill>
            <a:prstDash val="solid"/>
          </a:ln>
        </p:spPr>
      </p:sp>
      <p:sp>
        <p:nvSpPr>
          <p:cNvPr id="8" name="Text 6"/>
          <p:cNvSpPr/>
          <p:nvPr/>
        </p:nvSpPr>
        <p:spPr>
          <a:xfrm>
            <a:off x="923544" y="4091940"/>
            <a:ext cx="2194560" cy="1467612"/>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再接人权要求</a:t>
            </a:r>
            <a:endParaRPr lang="zh-CN" sz="2400" dirty="0"/>
          </a:p>
        </p:txBody>
      </p:sp>
      <p:sp>
        <p:nvSpPr>
          <p:cNvPr id="9" name="Text 7"/>
          <p:cNvSpPr/>
          <p:nvPr/>
        </p:nvSpPr>
        <p:spPr>
          <a:xfrm>
            <a:off x="3410712" y="4091940"/>
            <a:ext cx="8019288" cy="1467612"/>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依法产生的机关，行使职权仍须尊重和保障人权。</a:t>
            </a:r>
            <a:endParaRPr lang="zh-CN" sz="2400" dirty="0"/>
          </a:p>
        </p:txBody>
      </p:sp>
      <p:sp>
        <p:nvSpPr>
          <p:cNvPr id="10" name="Text 8"/>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产生关系不替代履职要求，权力归属需要责任关系。</a:t>
            </a:r>
            <a:endParaRPr lang="zh-CN" sz="2400" dirty="0"/>
          </a:p>
        </p:txBody>
      </p:sp>
      <p:sp>
        <p:nvSpPr>
          <p:cNvPr id="11" name="Text 9"/>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任务1参考说明｜宪法第2、3、33条</a:t>
            </a:r>
            <a:endParaRPr lang="zh-CN" sz="1200" dirty="0"/>
          </a:p>
        </p:txBody>
      </p:sp>
      <p:sp>
        <p:nvSpPr>
          <p:cNvPr id="12" name="Text 10"/>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13 / 38</a:t>
            </a:r>
            <a:endParaRPr lang="zh-CN"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上节｜一 国家生活的根本规则</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根本规则可以改变，但修改有特别要求</a:t>
            </a:r>
            <a:endParaRPr lang="zh-CN" sz="3600" dirty="0"/>
          </a:p>
        </p:txBody>
      </p:sp>
      <p:sp>
        <p:nvSpPr>
          <p:cNvPr id="4" name="Shape 2"/>
          <p:cNvSpPr/>
          <p:nvPr/>
        </p:nvSpPr>
        <p:spPr>
          <a:xfrm>
            <a:off x="713232" y="1901952"/>
            <a:ext cx="5175504" cy="2304288"/>
          </a:xfrm>
          <a:prstGeom prst="rect">
            <a:avLst/>
          </a:prstGeom>
          <a:solidFill>
            <a:srgbClr val="FFFFFF"/>
          </a:solidFill>
          <a:ln w="12700">
            <a:solidFill>
              <a:srgbClr val="FFFFFF">
                <a:alpha val="0"/>
              </a:srgbClr>
            </a:solidFill>
            <a:prstDash val="solid"/>
          </a:ln>
        </p:spPr>
      </p:sp>
      <p:sp>
        <p:nvSpPr>
          <p:cNvPr id="5" name="Text 3"/>
          <p:cNvSpPr/>
          <p:nvPr/>
        </p:nvSpPr>
        <p:spPr>
          <a:xfrm>
            <a:off x="914400" y="2103120"/>
            <a:ext cx="4773168" cy="54864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宪法修改｜第64条第1款</a:t>
            </a:r>
            <a:endParaRPr lang="zh-CN" sz="2400" dirty="0"/>
          </a:p>
        </p:txBody>
      </p:sp>
      <p:sp>
        <p:nvSpPr>
          <p:cNvPr id="6" name="Text 4"/>
          <p:cNvSpPr/>
          <p:nvPr/>
        </p:nvSpPr>
        <p:spPr>
          <a:xfrm>
            <a:off x="914400" y="2798064"/>
            <a:ext cx="4773168" cy="1252728"/>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由全国人大以全体代表的</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三分之二以上的多数通过。</a:t>
            </a:r>
            <a:endParaRPr lang="zh-CN" sz="2400" dirty="0"/>
          </a:p>
        </p:txBody>
      </p:sp>
      <p:sp>
        <p:nvSpPr>
          <p:cNvPr id="7" name="Shape 5"/>
          <p:cNvSpPr/>
          <p:nvPr/>
        </p:nvSpPr>
        <p:spPr>
          <a:xfrm>
            <a:off x="6327648" y="1901952"/>
            <a:ext cx="5175504" cy="2304288"/>
          </a:xfrm>
          <a:prstGeom prst="rect">
            <a:avLst/>
          </a:prstGeom>
          <a:solidFill>
            <a:srgbClr val="E8ECE6"/>
          </a:solidFill>
          <a:ln w="12700">
            <a:solidFill>
              <a:srgbClr val="E8ECE6">
                <a:alpha val="0"/>
              </a:srgbClr>
            </a:solidFill>
            <a:prstDash val="solid"/>
          </a:ln>
        </p:spPr>
      </p:sp>
      <p:sp>
        <p:nvSpPr>
          <p:cNvPr id="8" name="Text 6"/>
          <p:cNvSpPr/>
          <p:nvPr/>
        </p:nvSpPr>
        <p:spPr>
          <a:xfrm>
            <a:off x="6528816" y="2103120"/>
            <a:ext cx="4773168" cy="54864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法律和其他议案｜第64条第2款</a:t>
            </a:r>
            <a:endParaRPr lang="zh-CN" sz="2400" dirty="0"/>
          </a:p>
        </p:txBody>
      </p:sp>
      <p:sp>
        <p:nvSpPr>
          <p:cNvPr id="9" name="Text 7"/>
          <p:cNvSpPr/>
          <p:nvPr/>
        </p:nvSpPr>
        <p:spPr>
          <a:xfrm>
            <a:off x="6528816" y="2798064"/>
            <a:ext cx="4773168" cy="1252728"/>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由全国人大以全体代表的</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过半数通过。</a:t>
            </a:r>
            <a:endParaRPr lang="zh-CN" sz="2400" dirty="0"/>
          </a:p>
        </p:txBody>
      </p:sp>
      <p:sp>
        <p:nvSpPr>
          <p:cNvPr id="10" name="Text 8"/>
          <p:cNvSpPr/>
          <p:nvPr/>
        </p:nvSpPr>
        <p:spPr>
          <a:xfrm>
            <a:off x="768096" y="4480560"/>
            <a:ext cx="1920240" cy="77724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理由比较</a:t>
            </a:r>
            <a:endParaRPr lang="zh-CN" sz="2400" dirty="0"/>
          </a:p>
        </p:txBody>
      </p:sp>
      <p:sp>
        <p:nvSpPr>
          <p:cNvPr id="11" name="Text 9"/>
          <p:cNvSpPr/>
          <p:nvPr/>
        </p:nvSpPr>
        <p:spPr>
          <a:xfrm>
            <a:off x="2743200" y="4480560"/>
            <a:ext cx="8622792" cy="1051560"/>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更广泛同意保护稳定；提高门槛</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也可能增加依法调整的困难。</a:t>
            </a:r>
            <a:endParaRPr lang="zh-CN" sz="2400" dirty="0"/>
          </a:p>
        </p:txBody>
      </p:sp>
      <p:sp>
        <p:nvSpPr>
          <p:cNvPr id="12" name="Text 10"/>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现行门槛有确定答案；门槛越高是否越好，需要另给理由。</a:t>
            </a:r>
            <a:endParaRPr lang="zh-CN" sz="2400" dirty="0"/>
          </a:p>
        </p:txBody>
      </p:sp>
      <p:sp>
        <p:nvSpPr>
          <p:cNvPr id="13" name="Text 11"/>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宪法第64条两款（屏幕为通过要求节录）</a:t>
            </a:r>
            <a:endParaRPr lang="zh-CN" sz="1200" dirty="0"/>
          </a:p>
        </p:txBody>
      </p:sp>
      <p:sp>
        <p:nvSpPr>
          <p:cNvPr id="14" name="Text 12"/>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14 / 38</a:t>
            </a:r>
            <a:endParaRPr lang="zh-CN"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上节｜一 国家生活的根本规则</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任务2：同样60%赞成，结果一样吗？</a:t>
            </a:r>
            <a:endParaRPr lang="zh-CN" sz="3600" dirty="0"/>
          </a:p>
        </p:txBody>
      </p:sp>
      <p:sp>
        <p:nvSpPr>
          <p:cNvPr id="4" name="Text 2"/>
          <p:cNvSpPr/>
          <p:nvPr/>
        </p:nvSpPr>
        <p:spPr>
          <a:xfrm>
            <a:off x="758952" y="1965960"/>
            <a:ext cx="2194560" cy="1246632"/>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给定条件</a:t>
            </a:r>
            <a:endParaRPr lang="zh-CN" sz="2400" dirty="0"/>
          </a:p>
        </p:txBody>
      </p:sp>
      <p:sp>
        <p:nvSpPr>
          <p:cNvPr id="5" name="Text 3"/>
          <p:cNvSpPr/>
          <p:nvPr/>
        </p:nvSpPr>
        <p:spPr>
          <a:xfrm>
            <a:off x="3410712" y="1965960"/>
            <a:ext cx="8019288" cy="1246632"/>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均由全国人大表决；其他程序</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条件符合；全体代表60%赞成。</a:t>
            </a:r>
            <a:endParaRPr lang="zh-CN" sz="2400" dirty="0"/>
          </a:p>
        </p:txBody>
      </p:sp>
      <p:sp>
        <p:nvSpPr>
          <p:cNvPr id="6" name="Shape 4"/>
          <p:cNvSpPr/>
          <p:nvPr/>
        </p:nvSpPr>
        <p:spPr>
          <a:xfrm>
            <a:off x="758952" y="3336036"/>
            <a:ext cx="10671048" cy="0"/>
          </a:xfrm>
          <a:prstGeom prst="line">
            <a:avLst/>
          </a:prstGeom>
          <a:noFill/>
          <a:ln w="16510">
            <a:solidFill>
              <a:srgbClr val="CBCDC5"/>
            </a:solidFill>
            <a:prstDash val="solid"/>
          </a:ln>
        </p:spPr>
      </p:sp>
      <p:sp>
        <p:nvSpPr>
          <p:cNvPr id="7" name="Text 5"/>
          <p:cNvSpPr/>
          <p:nvPr/>
        </p:nvSpPr>
        <p:spPr>
          <a:xfrm>
            <a:off x="758952" y="3505200"/>
            <a:ext cx="2194560" cy="880872"/>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分别判断</a:t>
            </a:r>
            <a:endParaRPr lang="zh-CN" sz="2400" dirty="0"/>
          </a:p>
        </p:txBody>
      </p:sp>
      <p:sp>
        <p:nvSpPr>
          <p:cNvPr id="8" name="Text 6"/>
          <p:cNvSpPr/>
          <p:nvPr/>
        </p:nvSpPr>
        <p:spPr>
          <a:xfrm>
            <a:off x="3410712" y="3505200"/>
            <a:ext cx="8019288" cy="880872"/>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①宪法修改　②法律和其他议案</a:t>
            </a:r>
            <a:endParaRPr lang="zh-CN" sz="2400" dirty="0"/>
          </a:p>
        </p:txBody>
      </p:sp>
      <p:sp>
        <p:nvSpPr>
          <p:cNvPr id="9" name="Shape 7"/>
          <p:cNvSpPr/>
          <p:nvPr/>
        </p:nvSpPr>
        <p:spPr>
          <a:xfrm>
            <a:off x="758952" y="4509516"/>
            <a:ext cx="10671048" cy="0"/>
          </a:xfrm>
          <a:prstGeom prst="line">
            <a:avLst/>
          </a:prstGeom>
          <a:noFill/>
          <a:ln w="16510">
            <a:solidFill>
              <a:srgbClr val="CBCDC5"/>
            </a:solidFill>
            <a:prstDash val="solid"/>
          </a:ln>
        </p:spPr>
      </p:sp>
      <p:sp>
        <p:nvSpPr>
          <p:cNvPr id="10" name="Text 8"/>
          <p:cNvSpPr/>
          <p:nvPr/>
        </p:nvSpPr>
        <p:spPr>
          <a:xfrm>
            <a:off x="758952" y="4678680"/>
            <a:ext cx="2194560" cy="880872"/>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进一步判断</a:t>
            </a:r>
            <a:endParaRPr lang="zh-CN" sz="2400" dirty="0"/>
          </a:p>
        </p:txBody>
      </p:sp>
      <p:sp>
        <p:nvSpPr>
          <p:cNvPr id="11" name="Text 9"/>
          <p:cNvSpPr/>
          <p:nvPr/>
        </p:nvSpPr>
        <p:spPr>
          <a:xfrm>
            <a:off x="3410712" y="4678680"/>
            <a:ext cx="8019288" cy="880872"/>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提高修改门槛，还需要考虑什么代价？</a:t>
            </a:r>
            <a:endParaRPr lang="zh-CN" sz="2400" dirty="0"/>
          </a:p>
        </p:txBody>
      </p:sp>
      <p:sp>
        <p:nvSpPr>
          <p:cNvPr id="12" name="Text 10"/>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比较法定门槛，不把多数都当成同一种多数。</a:t>
            </a:r>
            <a:endParaRPr lang="zh-CN" sz="2400" dirty="0"/>
          </a:p>
        </p:txBody>
      </p:sp>
      <p:sp>
        <p:nvSpPr>
          <p:cNvPr id="13" name="Text 11"/>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任务2｜宪法第64条</a:t>
            </a:r>
            <a:endParaRPr lang="zh-CN" sz="1200" dirty="0"/>
          </a:p>
        </p:txBody>
      </p:sp>
      <p:sp>
        <p:nvSpPr>
          <p:cNvPr id="14" name="Text 12"/>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15 / 38</a:t>
            </a:r>
            <a:endParaRPr lang="zh-CN"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上节｜一 国家生活的根本规则</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回看第一学时：“根本”已经有了哪些内容？</a:t>
            </a:r>
            <a:endParaRPr lang="zh-CN" sz="3600" dirty="0"/>
          </a:p>
        </p:txBody>
      </p:sp>
      <p:sp>
        <p:nvSpPr>
          <p:cNvPr id="4" name="Shape 2"/>
          <p:cNvSpPr/>
          <p:nvPr/>
        </p:nvSpPr>
        <p:spPr>
          <a:xfrm>
            <a:off x="713232" y="1920240"/>
            <a:ext cx="73152" cy="1696212"/>
          </a:xfrm>
          <a:prstGeom prst="rect">
            <a:avLst/>
          </a:prstGeom>
          <a:solidFill>
            <a:srgbClr val="9B3D32"/>
          </a:solidFill>
          <a:ln w="12700">
            <a:solidFill>
              <a:srgbClr val="9B3D32">
                <a:alpha val="0"/>
              </a:srgbClr>
            </a:solidFill>
            <a:prstDash val="solid"/>
          </a:ln>
        </p:spPr>
      </p:sp>
      <p:sp>
        <p:nvSpPr>
          <p:cNvPr id="5" name="Text 3"/>
          <p:cNvSpPr/>
          <p:nvPr/>
        </p:nvSpPr>
        <p:spPr>
          <a:xfrm>
            <a:off x="923544" y="1965960"/>
            <a:ext cx="2194560" cy="1650492"/>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任务2讲评</a:t>
            </a:r>
            <a:endParaRPr lang="zh-CN" sz="2400" dirty="0"/>
          </a:p>
        </p:txBody>
      </p:sp>
      <p:sp>
        <p:nvSpPr>
          <p:cNvPr id="6" name="Text 4"/>
          <p:cNvSpPr/>
          <p:nvPr/>
        </p:nvSpPr>
        <p:spPr>
          <a:xfrm>
            <a:off x="3410712" y="1965960"/>
            <a:ext cx="8019288" cy="1650492"/>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60%未达三分之二以上；已超过全体代表的一半。</a:t>
            </a:r>
            <a:endParaRPr lang="zh-CN" sz="2400" dirty="0"/>
          </a:p>
        </p:txBody>
      </p:sp>
      <p:sp>
        <p:nvSpPr>
          <p:cNvPr id="7" name="Shape 5"/>
          <p:cNvSpPr/>
          <p:nvPr/>
        </p:nvSpPr>
        <p:spPr>
          <a:xfrm>
            <a:off x="713232" y="3863340"/>
            <a:ext cx="73152" cy="1696212"/>
          </a:xfrm>
          <a:prstGeom prst="rect">
            <a:avLst/>
          </a:prstGeom>
          <a:solidFill>
            <a:srgbClr val="9B3D32"/>
          </a:solidFill>
          <a:ln w="12700">
            <a:solidFill>
              <a:srgbClr val="9B3D32">
                <a:alpha val="0"/>
              </a:srgbClr>
            </a:solidFill>
            <a:prstDash val="solid"/>
          </a:ln>
        </p:spPr>
      </p:sp>
      <p:sp>
        <p:nvSpPr>
          <p:cNvPr id="8" name="Text 6"/>
          <p:cNvSpPr/>
          <p:nvPr/>
        </p:nvSpPr>
        <p:spPr>
          <a:xfrm>
            <a:off x="923544" y="3909060"/>
            <a:ext cx="2194560" cy="1650492"/>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三个位置</a:t>
            </a:r>
            <a:endParaRPr lang="zh-CN" sz="2400" dirty="0"/>
          </a:p>
        </p:txBody>
      </p:sp>
      <p:sp>
        <p:nvSpPr>
          <p:cNvPr id="9" name="Text 7"/>
          <p:cNvSpPr/>
          <p:nvPr/>
        </p:nvSpPr>
        <p:spPr>
          <a:xfrm>
            <a:off x="3410712" y="3909060"/>
            <a:ext cx="8019288" cy="1650492"/>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国家根本安排　｜　最高法律效力　｜　特别修改程序</a:t>
            </a:r>
            <a:endParaRPr lang="zh-CN" sz="2400" dirty="0"/>
          </a:p>
        </p:txBody>
      </p:sp>
      <p:sp>
        <p:nvSpPr>
          <p:cNvPr id="10" name="Text 8"/>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下半堂：宪法已有约束，具体法律还要做什么？</a:t>
            </a:r>
            <a:endParaRPr lang="zh-CN" sz="2400" dirty="0"/>
          </a:p>
        </p:txBody>
      </p:sp>
      <p:sp>
        <p:nvSpPr>
          <p:cNvPr id="11" name="Text 9"/>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任务2讲评；第一学时收束</a:t>
            </a:r>
            <a:endParaRPr lang="zh-CN" sz="1200" dirty="0"/>
          </a:p>
        </p:txBody>
      </p:sp>
      <p:sp>
        <p:nvSpPr>
          <p:cNvPr id="12" name="Text 10"/>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16 / 38</a:t>
            </a:r>
            <a:endParaRPr lang="zh-CN"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下节｜二 根本要求怎样进入具体制度</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一个赔偿请求，为什么要读两部法律？</a:t>
            </a:r>
            <a:endParaRPr lang="zh-CN" sz="3600" dirty="0"/>
          </a:p>
        </p:txBody>
      </p:sp>
      <p:sp>
        <p:nvSpPr>
          <p:cNvPr id="4" name="Text 2"/>
          <p:cNvSpPr/>
          <p:nvPr/>
        </p:nvSpPr>
        <p:spPr>
          <a:xfrm>
            <a:off x="786384" y="1993392"/>
            <a:ext cx="10607040" cy="512064"/>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宪法第41条第3款</a:t>
            </a:r>
            <a:endParaRPr lang="zh-CN" sz="2400" dirty="0"/>
          </a:p>
        </p:txBody>
      </p:sp>
      <p:sp>
        <p:nvSpPr>
          <p:cNvPr id="5" name="Text 3"/>
          <p:cNvSpPr/>
          <p:nvPr/>
        </p:nvSpPr>
        <p:spPr>
          <a:xfrm>
            <a:off x="786384" y="2724912"/>
            <a:ext cx="10607040" cy="2770632"/>
          </a:xfrm>
          <a:prstGeom prst="rect">
            <a:avLst/>
          </a:prstGeom>
          <a:noFill/>
          <a:ln/>
        </p:spPr>
        <p:txBody>
          <a:bodyPr wrap="none" lIns="0" tIns="0" rIns="0" bIns="0" rtlCol="0" anchor="t"/>
          <a:lstStyle/>
          <a:p>
            <a:pPr algn="l" indent="0" marL="0">
              <a:lnSpc>
                <a:spcPct val="105000"/>
              </a:lnSpc>
              <a:buNone/>
            </a:pPr>
            <a:r>
              <a:rPr lang="zh-CN" altLang="en-US" sz="2800" dirty="0">
                <a:solidFill>
                  <a:srgbClr val="2B302F"/>
                </a:solidFill>
                <a:latin typeface="Microsoft YaHei" pitchFamily="34" charset="0"/>
                <a:ea typeface="Microsoft YaHei" pitchFamily="34" charset="-122"/>
                <a:cs typeface="Microsoft YaHei" pitchFamily="34" charset="-120"/>
              </a:rPr>
              <a:t>由于国家机关和国家工作人员侵犯公民权利而受到损失的人，有</a:t>
            </a:r>
            <a:endParaRPr lang="zh-CN" sz="2800" dirty="0"/>
          </a:p>
          <a:p>
            <a:pPr algn="l" indent="0" marL="0">
              <a:lnSpc>
                <a:spcPct val="105000"/>
              </a:lnSpc>
              <a:buNone/>
            </a:pPr>
            <a:r>
              <a:rPr lang="zh-CN" altLang="en-US" sz="2800" dirty="0">
                <a:solidFill>
                  <a:srgbClr val="2B302F"/>
                </a:solidFill>
                <a:latin typeface="Microsoft YaHei" pitchFamily="34" charset="0"/>
                <a:ea typeface="Microsoft YaHei" pitchFamily="34" charset="-122"/>
                <a:cs typeface="Microsoft YaHei" pitchFamily="34" charset="-120"/>
              </a:rPr>
              <a:t>依照法律规定取得赔偿的权利。</a:t>
            </a:r>
            <a:endParaRPr lang="zh-CN" sz="2800" dirty="0"/>
          </a:p>
        </p:txBody>
      </p:sp>
      <p:sp>
        <p:nvSpPr>
          <p:cNvPr id="6" name="Text 4"/>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宪法已经确认权利；具体办理还有哪些问题？</a:t>
            </a:r>
            <a:endParaRPr lang="zh-CN" sz="2400" dirty="0"/>
          </a:p>
        </p:txBody>
      </p:sp>
      <p:sp>
        <p:nvSpPr>
          <p:cNvPr id="7" name="Text 5"/>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现行宪法第41条第3款</a:t>
            </a:r>
            <a:endParaRPr lang="zh-CN" sz="1200" dirty="0"/>
          </a:p>
        </p:txBody>
      </p:sp>
      <p:sp>
        <p:nvSpPr>
          <p:cNvPr id="8" name="Text 6"/>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17 / 38</a:t>
            </a:r>
            <a:endParaRPr lang="zh-CN"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下节｜二 根本要求怎样进入具体制度</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“根据宪法”，先告诉我们什么？</a:t>
            </a:r>
            <a:endParaRPr lang="zh-CN" sz="3600" dirty="0"/>
          </a:p>
        </p:txBody>
      </p:sp>
      <p:sp>
        <p:nvSpPr>
          <p:cNvPr id="4" name="Shape 2"/>
          <p:cNvSpPr/>
          <p:nvPr/>
        </p:nvSpPr>
        <p:spPr>
          <a:xfrm>
            <a:off x="713232" y="1901952"/>
            <a:ext cx="5175504" cy="3657600"/>
          </a:xfrm>
          <a:prstGeom prst="rect">
            <a:avLst/>
          </a:prstGeom>
          <a:solidFill>
            <a:srgbClr val="FFFFFF"/>
          </a:solidFill>
          <a:ln w="12700">
            <a:solidFill>
              <a:srgbClr val="FFFFFF">
                <a:alpha val="0"/>
              </a:srgbClr>
            </a:solidFill>
            <a:prstDash val="solid"/>
          </a:ln>
        </p:spPr>
      </p:sp>
      <p:sp>
        <p:nvSpPr>
          <p:cNvPr id="5" name="Text 3"/>
          <p:cNvSpPr/>
          <p:nvPr/>
        </p:nvSpPr>
        <p:spPr>
          <a:xfrm>
            <a:off x="914400" y="2103120"/>
            <a:ext cx="4773168" cy="54864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宪法第41条第3款</a:t>
            </a:r>
            <a:endParaRPr lang="zh-CN" sz="2400" dirty="0"/>
          </a:p>
        </p:txBody>
      </p:sp>
      <p:sp>
        <p:nvSpPr>
          <p:cNvPr id="6" name="Text 4"/>
          <p:cNvSpPr/>
          <p:nvPr/>
        </p:nvSpPr>
        <p:spPr>
          <a:xfrm>
            <a:off x="914400" y="2798064"/>
            <a:ext cx="4773168" cy="2606040"/>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由于国家机关和国家工作人员侵</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犯公民权利而受到损失的人，有</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依照法律规定取得赔偿的权利。</a:t>
            </a:r>
            <a:endParaRPr lang="zh-CN" sz="2400" dirty="0"/>
          </a:p>
        </p:txBody>
      </p:sp>
      <p:sp>
        <p:nvSpPr>
          <p:cNvPr id="7" name="Shape 5"/>
          <p:cNvSpPr/>
          <p:nvPr/>
        </p:nvSpPr>
        <p:spPr>
          <a:xfrm>
            <a:off x="6327648" y="1901952"/>
            <a:ext cx="5175504" cy="3657600"/>
          </a:xfrm>
          <a:prstGeom prst="rect">
            <a:avLst/>
          </a:prstGeom>
          <a:solidFill>
            <a:srgbClr val="E8ECE6"/>
          </a:solidFill>
          <a:ln w="12700">
            <a:solidFill>
              <a:srgbClr val="E8ECE6">
                <a:alpha val="0"/>
              </a:srgbClr>
            </a:solidFill>
            <a:prstDash val="solid"/>
          </a:ln>
        </p:spPr>
      </p:sp>
      <p:sp>
        <p:nvSpPr>
          <p:cNvPr id="8" name="Text 6"/>
          <p:cNvSpPr/>
          <p:nvPr/>
        </p:nvSpPr>
        <p:spPr>
          <a:xfrm>
            <a:off x="6528816" y="2103120"/>
            <a:ext cx="4773168" cy="54864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国家赔偿法第1条</a:t>
            </a:r>
            <a:endParaRPr lang="zh-CN" sz="2400" dirty="0"/>
          </a:p>
        </p:txBody>
      </p:sp>
      <p:sp>
        <p:nvSpPr>
          <p:cNvPr id="9" name="Text 7"/>
          <p:cNvSpPr/>
          <p:nvPr/>
        </p:nvSpPr>
        <p:spPr>
          <a:xfrm>
            <a:off x="6528816" y="2798064"/>
            <a:ext cx="4773168" cy="2606040"/>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为保障公民、法人和其他组织享</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有依法取得国家赔偿的权利，促</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进国家机关依法行使职权，根据</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宪法，制定本法。</a:t>
            </a:r>
            <a:endParaRPr lang="zh-CN" sz="2400" dirty="0"/>
          </a:p>
        </p:txBody>
      </p:sp>
      <p:sp>
        <p:nvSpPr>
          <p:cNvPr id="10" name="Text 8"/>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依据和目的已经显明；办理条件仍须继续往下读。</a:t>
            </a:r>
            <a:endParaRPr lang="zh-CN" sz="2400" dirty="0"/>
          </a:p>
        </p:txBody>
      </p:sp>
      <p:sp>
        <p:nvSpPr>
          <p:cNvPr id="11" name="Text 9"/>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宪法第41条第3款；国家赔偿法第1条（2012年第二次修正）</a:t>
            </a:r>
            <a:endParaRPr lang="zh-CN" sz="1200" dirty="0"/>
          </a:p>
        </p:txBody>
      </p:sp>
      <p:sp>
        <p:nvSpPr>
          <p:cNvPr id="12" name="Text 10"/>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18 / 38</a:t>
            </a:r>
            <a:endParaRPr lang="zh-CN"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下节｜二 根本要求怎样进入具体制度</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法律先回答：哪些情形进入这项赔偿？</a:t>
            </a:r>
            <a:endParaRPr lang="zh-CN" sz="3600" dirty="0"/>
          </a:p>
        </p:txBody>
      </p:sp>
      <p:sp>
        <p:nvSpPr>
          <p:cNvPr id="4" name="Text 2"/>
          <p:cNvSpPr/>
          <p:nvPr/>
        </p:nvSpPr>
        <p:spPr>
          <a:xfrm>
            <a:off x="777240" y="1938528"/>
            <a:ext cx="10588752" cy="54864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国家赔偿法第3条起句及第1项｜节录</a:t>
            </a:r>
            <a:endParaRPr lang="zh-CN" sz="2400" dirty="0"/>
          </a:p>
        </p:txBody>
      </p:sp>
      <p:sp>
        <p:nvSpPr>
          <p:cNvPr id="5" name="Text 3"/>
          <p:cNvSpPr/>
          <p:nvPr/>
        </p:nvSpPr>
        <p:spPr>
          <a:xfrm>
            <a:off x="777240" y="2633472"/>
            <a:ext cx="10588752" cy="1700784"/>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行政机关及其工作人员在行使行政职权时有下列侵犯人身权情形之一的，</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受害人有取得赔偿的权利：</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（一）违法拘留或者违法采取限制公民人身自由的行政强制措施的；</a:t>
            </a:r>
            <a:endParaRPr lang="zh-CN" sz="2400" dirty="0"/>
          </a:p>
        </p:txBody>
      </p:sp>
      <p:sp>
        <p:nvSpPr>
          <p:cNvPr id="6" name="Text 4"/>
          <p:cNvSpPr/>
          <p:nvPr/>
        </p:nvSpPr>
        <p:spPr>
          <a:xfrm>
            <a:off x="777240" y="4645152"/>
            <a:ext cx="2377440" cy="77724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先看条件</a:t>
            </a:r>
            <a:endParaRPr lang="zh-CN" sz="2400" dirty="0"/>
          </a:p>
        </p:txBody>
      </p:sp>
      <p:sp>
        <p:nvSpPr>
          <p:cNvPr id="7" name="Text 5"/>
          <p:cNvSpPr/>
          <p:nvPr/>
        </p:nvSpPr>
        <p:spPr>
          <a:xfrm>
            <a:off x="3474720" y="4645152"/>
            <a:ext cx="7863840" cy="822960"/>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行政职权　｜　侵犯人身权　｜　违法拘留等法定情形</a:t>
            </a:r>
            <a:endParaRPr lang="zh-CN" sz="2400" dirty="0"/>
          </a:p>
        </p:txBody>
      </p:sp>
      <p:sp>
        <p:nvSpPr>
          <p:cNvPr id="8" name="Text 6"/>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权利要求继续展开为可以核对事实的适用条件。</a:t>
            </a:r>
            <a:endParaRPr lang="zh-CN" sz="2400" dirty="0"/>
          </a:p>
        </p:txBody>
      </p:sp>
      <p:sp>
        <p:nvSpPr>
          <p:cNvPr id="9" name="Text 7"/>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国家赔偿法第2条第1款、第3条起句及第1项；其他项略</a:t>
            </a:r>
            <a:endParaRPr lang="zh-CN" sz="1200" dirty="0"/>
          </a:p>
        </p:txBody>
      </p:sp>
      <p:sp>
        <p:nvSpPr>
          <p:cNvPr id="10" name="Text 8"/>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19 / 38</a:t>
            </a:r>
            <a:endParaRPr lang="zh-CN"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下节｜二 根本要求怎样进入具体制度</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法律还回答：谁依法承担赔偿义务？</a:t>
            </a:r>
            <a:endParaRPr lang="zh-CN" sz="3600" dirty="0"/>
          </a:p>
        </p:txBody>
      </p:sp>
      <p:sp>
        <p:nvSpPr>
          <p:cNvPr id="4" name="Text 2"/>
          <p:cNvSpPr/>
          <p:nvPr/>
        </p:nvSpPr>
        <p:spPr>
          <a:xfrm>
            <a:off x="786384" y="1993392"/>
            <a:ext cx="10607040" cy="512064"/>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国家赔偿法第7条第1款</a:t>
            </a:r>
            <a:endParaRPr lang="zh-CN" sz="2400" dirty="0"/>
          </a:p>
        </p:txBody>
      </p:sp>
      <p:sp>
        <p:nvSpPr>
          <p:cNvPr id="5" name="Text 3"/>
          <p:cNvSpPr/>
          <p:nvPr/>
        </p:nvSpPr>
        <p:spPr>
          <a:xfrm>
            <a:off x="786384" y="2724912"/>
            <a:ext cx="10607040" cy="2770632"/>
          </a:xfrm>
          <a:prstGeom prst="rect">
            <a:avLst/>
          </a:prstGeom>
          <a:noFill/>
          <a:ln/>
        </p:spPr>
        <p:txBody>
          <a:bodyPr wrap="none" lIns="0" tIns="0" rIns="0" bIns="0" rtlCol="0" anchor="t"/>
          <a:lstStyle/>
          <a:p>
            <a:pPr algn="l" indent="0" marL="0">
              <a:lnSpc>
                <a:spcPct val="105000"/>
              </a:lnSpc>
              <a:buNone/>
            </a:pPr>
            <a:r>
              <a:rPr lang="zh-CN" altLang="en-US" sz="2800" dirty="0">
                <a:solidFill>
                  <a:srgbClr val="2B302F"/>
                </a:solidFill>
                <a:latin typeface="Microsoft YaHei" pitchFamily="34" charset="0"/>
                <a:ea typeface="Microsoft YaHei" pitchFamily="34" charset="-122"/>
                <a:cs typeface="Microsoft YaHei" pitchFamily="34" charset="-120"/>
              </a:rPr>
              <a:t>行政机关及其工作人员行使行政职权侵犯公民、法人和其他组织</a:t>
            </a:r>
            <a:endParaRPr lang="zh-CN" sz="2800" dirty="0"/>
          </a:p>
          <a:p>
            <a:pPr algn="l" indent="0" marL="0">
              <a:lnSpc>
                <a:spcPct val="105000"/>
              </a:lnSpc>
              <a:buNone/>
            </a:pPr>
            <a:r>
              <a:rPr lang="zh-CN" altLang="en-US" sz="2800" dirty="0">
                <a:solidFill>
                  <a:srgbClr val="2B302F"/>
                </a:solidFill>
                <a:latin typeface="Microsoft YaHei" pitchFamily="34" charset="0"/>
                <a:ea typeface="Microsoft YaHei" pitchFamily="34" charset="-122"/>
                <a:cs typeface="Microsoft YaHei" pitchFamily="34" charset="-120"/>
              </a:rPr>
              <a:t>的合法权益造成损害的，该行政机关为赔偿义务机关。</a:t>
            </a:r>
            <a:endParaRPr lang="zh-CN" sz="2800" dirty="0"/>
          </a:p>
        </p:txBody>
      </p:sp>
      <p:sp>
        <p:nvSpPr>
          <p:cNvPr id="6" name="Text 4"/>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请求有法定依据，义务也有制度上的承担者。</a:t>
            </a:r>
            <a:endParaRPr lang="zh-CN" sz="2400" dirty="0"/>
          </a:p>
        </p:txBody>
      </p:sp>
      <p:sp>
        <p:nvSpPr>
          <p:cNvPr id="7" name="Text 5"/>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国家赔偿法第7条第1款、第16条第1款；机关义务与个人责任分开说明</a:t>
            </a:r>
            <a:endParaRPr lang="zh-CN" sz="1200" dirty="0"/>
          </a:p>
        </p:txBody>
      </p:sp>
      <p:sp>
        <p:nvSpPr>
          <p:cNvPr id="8" name="Text 6"/>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20 / 38</a:t>
            </a:r>
            <a:endParaRPr lang="zh-CN"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下节｜二 根本要求怎样进入具体制度</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把已经确认的权利，安排成可以办理的请求</a:t>
            </a:r>
            <a:endParaRPr lang="zh-CN" sz="3600" dirty="0"/>
          </a:p>
        </p:txBody>
      </p:sp>
      <p:sp>
        <p:nvSpPr>
          <p:cNvPr id="4" name="Shape 2"/>
          <p:cNvSpPr/>
          <p:nvPr/>
        </p:nvSpPr>
        <p:spPr>
          <a:xfrm>
            <a:off x="713232" y="1901952"/>
            <a:ext cx="5175504" cy="3657600"/>
          </a:xfrm>
          <a:prstGeom prst="rect">
            <a:avLst/>
          </a:prstGeom>
          <a:solidFill>
            <a:srgbClr val="FFFFFF"/>
          </a:solidFill>
          <a:ln w="12700">
            <a:solidFill>
              <a:srgbClr val="FFFFFF">
                <a:alpha val="0"/>
              </a:srgbClr>
            </a:solidFill>
            <a:prstDash val="solid"/>
          </a:ln>
        </p:spPr>
      </p:sp>
      <p:sp>
        <p:nvSpPr>
          <p:cNvPr id="5" name="Text 3"/>
          <p:cNvSpPr/>
          <p:nvPr/>
        </p:nvSpPr>
        <p:spPr>
          <a:xfrm>
            <a:off x="914400" y="2103120"/>
            <a:ext cx="4773168" cy="54864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宪法已经确认</a:t>
            </a:r>
            <a:endParaRPr lang="zh-CN" sz="2400" dirty="0"/>
          </a:p>
        </p:txBody>
      </p:sp>
      <p:sp>
        <p:nvSpPr>
          <p:cNvPr id="6" name="Text 4"/>
          <p:cNvSpPr/>
          <p:nvPr/>
        </p:nvSpPr>
        <p:spPr>
          <a:xfrm>
            <a:off x="914400" y="2798064"/>
            <a:ext cx="4773168" cy="2606040"/>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相应侵权损失者有依照法律规定</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取得赔偿的权利。</a:t>
            </a:r>
            <a:endParaRPr lang="zh-CN" sz="2400" dirty="0"/>
          </a:p>
        </p:txBody>
      </p:sp>
      <p:sp>
        <p:nvSpPr>
          <p:cNvPr id="7" name="Shape 5"/>
          <p:cNvSpPr/>
          <p:nvPr/>
        </p:nvSpPr>
        <p:spPr>
          <a:xfrm>
            <a:off x="6327648" y="1901952"/>
            <a:ext cx="5175504" cy="3657600"/>
          </a:xfrm>
          <a:prstGeom prst="rect">
            <a:avLst/>
          </a:prstGeom>
          <a:solidFill>
            <a:srgbClr val="E8ECE6"/>
          </a:solidFill>
          <a:ln w="12700">
            <a:solidFill>
              <a:srgbClr val="E8ECE6">
                <a:alpha val="0"/>
              </a:srgbClr>
            </a:solidFill>
            <a:prstDash val="solid"/>
          </a:ln>
        </p:spPr>
      </p:sp>
      <p:sp>
        <p:nvSpPr>
          <p:cNvPr id="8" name="Text 6"/>
          <p:cNvSpPr/>
          <p:nvPr/>
        </p:nvSpPr>
        <p:spPr>
          <a:xfrm>
            <a:off x="6528816" y="2103120"/>
            <a:ext cx="4773168" cy="54864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普通法律继续安排</a:t>
            </a:r>
            <a:endParaRPr lang="zh-CN" sz="2400" dirty="0"/>
          </a:p>
        </p:txBody>
      </p:sp>
      <p:sp>
        <p:nvSpPr>
          <p:cNvPr id="9" name="Text 7"/>
          <p:cNvSpPr/>
          <p:nvPr/>
        </p:nvSpPr>
        <p:spPr>
          <a:xfrm>
            <a:off x="6528816" y="2798064"/>
            <a:ext cx="4773168" cy="2606040"/>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何种情形、谁负义务，以及请求</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怎样提出。</a:t>
            </a:r>
            <a:endParaRPr lang="zh-CN" sz="2400" dirty="0"/>
          </a:p>
        </p:txBody>
      </p:sp>
      <p:sp>
        <p:nvSpPr>
          <p:cNvPr id="10" name="Text 8"/>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增加的是办理制度，受到约束的仍是国家权力。</a:t>
            </a:r>
            <a:endParaRPr lang="zh-CN" sz="2400" dirty="0"/>
          </a:p>
        </p:txBody>
      </p:sp>
      <p:sp>
        <p:nvSpPr>
          <p:cNvPr id="11" name="Text 9"/>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宪法第5、41条；国家赔偿法第3、7、9条</a:t>
            </a:r>
            <a:endParaRPr lang="zh-CN" sz="1200" dirty="0"/>
          </a:p>
        </p:txBody>
      </p:sp>
      <p:sp>
        <p:nvSpPr>
          <p:cNvPr id="12" name="Text 10"/>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21 / 38</a:t>
            </a:r>
            <a:endParaRPr lang="zh-CN"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下节｜二 根本要求怎样进入具体制度</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任务3：给定事实，能作哪些判断？</a:t>
            </a:r>
            <a:endParaRPr lang="zh-CN" sz="3600" dirty="0"/>
          </a:p>
        </p:txBody>
      </p:sp>
      <p:sp>
        <p:nvSpPr>
          <p:cNvPr id="4" name="Text 2"/>
          <p:cNvSpPr/>
          <p:nvPr/>
        </p:nvSpPr>
        <p:spPr>
          <a:xfrm>
            <a:off x="795528" y="1920240"/>
            <a:ext cx="10533888" cy="45720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教学设例｜以下事实已查明</a:t>
            </a:r>
            <a:endParaRPr lang="zh-CN" sz="2400" dirty="0"/>
          </a:p>
        </p:txBody>
      </p:sp>
      <p:sp>
        <p:nvSpPr>
          <p:cNvPr id="5" name="Text 3"/>
          <p:cNvSpPr/>
          <p:nvPr/>
        </p:nvSpPr>
        <p:spPr>
          <a:xfrm>
            <a:off x="795528" y="2450592"/>
            <a:ext cx="10533888" cy="1165860"/>
          </a:xfrm>
          <a:prstGeom prst="rect">
            <a:avLst/>
          </a:prstGeom>
          <a:noFill/>
          <a:ln/>
        </p:spPr>
        <p:txBody>
          <a:bodyPr wrap="none" lIns="0" tIns="0" rIns="0" bIns="0" rtlCol="0" anchor="t"/>
          <a:lstStyle/>
          <a:p>
            <a:pPr algn="l" indent="0" marL="0">
              <a:lnSpc>
                <a:spcPct val="105000"/>
              </a:lnSpc>
              <a:buNone/>
            </a:pPr>
            <a:r>
              <a:rPr lang="zh-CN" altLang="en-US" sz="2600" dirty="0">
                <a:solidFill>
                  <a:srgbClr val="2B302F"/>
                </a:solidFill>
                <a:latin typeface="Microsoft YaHei" pitchFamily="34" charset="0"/>
                <a:ea typeface="Microsoft YaHei" pitchFamily="34" charset="-122"/>
                <a:cs typeface="Microsoft YaHei" pitchFamily="34" charset="-120"/>
              </a:rPr>
              <a:t>某县公安局工作人员以本机关名义，在行使行政职权时违法拘留</a:t>
            </a:r>
            <a:endParaRPr lang="zh-CN" sz="2600" dirty="0"/>
          </a:p>
          <a:p>
            <a:pPr algn="l" indent="0" marL="0">
              <a:lnSpc>
                <a:spcPct val="105000"/>
              </a:lnSpc>
              <a:buNone/>
            </a:pPr>
            <a:r>
              <a:rPr lang="zh-CN" altLang="en-US" sz="2600" dirty="0">
                <a:solidFill>
                  <a:srgbClr val="2B302F"/>
                </a:solidFill>
                <a:latin typeface="Microsoft YaHei" pitchFamily="34" charset="0"/>
                <a:ea typeface="Microsoft YaHei" pitchFamily="34" charset="-122"/>
                <a:cs typeface="Microsoft YaHei" pitchFamily="34" charset="-120"/>
              </a:rPr>
              <a:t>甲，造成甲的人身自由受到侵害。</a:t>
            </a:r>
            <a:endParaRPr lang="zh-CN" sz="2600" dirty="0"/>
          </a:p>
        </p:txBody>
      </p:sp>
      <p:sp>
        <p:nvSpPr>
          <p:cNvPr id="6" name="Text 4"/>
          <p:cNvSpPr/>
          <p:nvPr/>
        </p:nvSpPr>
        <p:spPr>
          <a:xfrm>
            <a:off x="795528" y="3854196"/>
            <a:ext cx="10533888" cy="45720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请依第3、7条回答</a:t>
            </a:r>
            <a:endParaRPr lang="zh-CN" sz="2400" dirty="0"/>
          </a:p>
        </p:txBody>
      </p:sp>
      <p:sp>
        <p:nvSpPr>
          <p:cNvPr id="7" name="Text 5"/>
          <p:cNvSpPr/>
          <p:nvPr/>
        </p:nvSpPr>
        <p:spPr>
          <a:xfrm>
            <a:off x="795528" y="4384548"/>
            <a:ext cx="10533888" cy="1165860"/>
          </a:xfrm>
          <a:prstGeom prst="rect">
            <a:avLst/>
          </a:prstGeom>
          <a:noFill/>
          <a:ln/>
        </p:spPr>
        <p:txBody>
          <a:bodyPr wrap="none" lIns="0" tIns="0" rIns="0" bIns="0" rtlCol="0" anchor="t"/>
          <a:lstStyle/>
          <a:p>
            <a:pPr algn="l" indent="0" marL="0">
              <a:lnSpc>
                <a:spcPct val="105000"/>
              </a:lnSpc>
              <a:buNone/>
            </a:pPr>
            <a:r>
              <a:rPr lang="zh-CN" altLang="en-US" sz="2600" dirty="0">
                <a:solidFill>
                  <a:srgbClr val="2B302F"/>
                </a:solidFill>
                <a:latin typeface="Microsoft YaHei" pitchFamily="34" charset="0"/>
                <a:ea typeface="Microsoft YaHei" pitchFamily="34" charset="-122"/>
                <a:cs typeface="Microsoft YaHei" pitchFamily="34" charset="-120"/>
              </a:rPr>
              <a:t>甲有无依法取得赔偿的权利？</a:t>
            </a:r>
            <a:endParaRPr lang="zh-CN" sz="2600" dirty="0"/>
          </a:p>
          <a:p>
            <a:pPr algn="l" indent="0" marL="0">
              <a:lnSpc>
                <a:spcPct val="105000"/>
              </a:lnSpc>
              <a:buNone/>
            </a:pPr>
            <a:r>
              <a:rPr lang="zh-CN" altLang="en-US" sz="2600" dirty="0">
                <a:solidFill>
                  <a:srgbClr val="2B302F"/>
                </a:solidFill>
                <a:latin typeface="Microsoft YaHei" pitchFamily="34" charset="0"/>
                <a:ea typeface="Microsoft YaHei" pitchFamily="34" charset="-122"/>
                <a:cs typeface="Microsoft YaHei" pitchFamily="34" charset="-120"/>
              </a:rPr>
              <a:t>本例赔偿义务机关是谁？分别指出依据。</a:t>
            </a:r>
            <a:endParaRPr lang="zh-CN" sz="2600" dirty="0"/>
          </a:p>
        </p:txBody>
      </p:sp>
      <p:sp>
        <p:nvSpPr>
          <p:cNvPr id="8" name="Text 6"/>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先核事实条件，再给结论；本题不计算金额。</a:t>
            </a:r>
            <a:endParaRPr lang="zh-CN" sz="2400" dirty="0"/>
          </a:p>
        </p:txBody>
      </p:sp>
      <p:sp>
        <p:nvSpPr>
          <p:cNvPr id="9" name="Text 7"/>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任务3｜教学设例，依据国家赔偿法第3、7条</a:t>
            </a:r>
            <a:endParaRPr lang="zh-CN" sz="1200" dirty="0"/>
          </a:p>
        </p:txBody>
      </p:sp>
      <p:sp>
        <p:nvSpPr>
          <p:cNvPr id="10" name="Text 8"/>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22 / 38</a:t>
            </a:r>
            <a:endParaRPr lang="zh-CN"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下节｜二 根本要求怎样进入具体制度</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任务3讲评：每一步判断都能回到依据</a:t>
            </a:r>
            <a:endParaRPr lang="zh-CN" sz="3600" dirty="0"/>
          </a:p>
        </p:txBody>
      </p:sp>
      <p:sp>
        <p:nvSpPr>
          <p:cNvPr id="4" name="Shape 2"/>
          <p:cNvSpPr/>
          <p:nvPr/>
        </p:nvSpPr>
        <p:spPr>
          <a:xfrm>
            <a:off x="713232" y="1920240"/>
            <a:ext cx="73152" cy="1696212"/>
          </a:xfrm>
          <a:prstGeom prst="rect">
            <a:avLst/>
          </a:prstGeom>
          <a:solidFill>
            <a:srgbClr val="9B3D32"/>
          </a:solidFill>
          <a:ln w="12700">
            <a:solidFill>
              <a:srgbClr val="9B3D32">
                <a:alpha val="0"/>
              </a:srgbClr>
            </a:solidFill>
            <a:prstDash val="solid"/>
          </a:ln>
        </p:spPr>
      </p:sp>
      <p:sp>
        <p:nvSpPr>
          <p:cNvPr id="5" name="Text 3"/>
          <p:cNvSpPr/>
          <p:nvPr/>
        </p:nvSpPr>
        <p:spPr>
          <a:xfrm>
            <a:off x="923544" y="1965960"/>
            <a:ext cx="2194560" cy="1650492"/>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第3条第1项</a:t>
            </a:r>
            <a:endParaRPr lang="zh-CN" sz="2400" dirty="0"/>
          </a:p>
        </p:txBody>
      </p:sp>
      <p:sp>
        <p:nvSpPr>
          <p:cNvPr id="6" name="Text 4"/>
          <p:cNvSpPr/>
          <p:nvPr/>
        </p:nvSpPr>
        <p:spPr>
          <a:xfrm>
            <a:off x="3410712" y="1965960"/>
            <a:ext cx="8019288" cy="1650492"/>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行政职权中的违法拘留：甲有依法取得赔偿的权利。</a:t>
            </a:r>
            <a:endParaRPr lang="zh-CN" sz="2400" dirty="0"/>
          </a:p>
        </p:txBody>
      </p:sp>
      <p:sp>
        <p:nvSpPr>
          <p:cNvPr id="7" name="Shape 5"/>
          <p:cNvSpPr/>
          <p:nvPr/>
        </p:nvSpPr>
        <p:spPr>
          <a:xfrm>
            <a:off x="713232" y="3863340"/>
            <a:ext cx="73152" cy="1696212"/>
          </a:xfrm>
          <a:prstGeom prst="rect">
            <a:avLst/>
          </a:prstGeom>
          <a:solidFill>
            <a:srgbClr val="9B3D32"/>
          </a:solidFill>
          <a:ln w="12700">
            <a:solidFill>
              <a:srgbClr val="9B3D32">
                <a:alpha val="0"/>
              </a:srgbClr>
            </a:solidFill>
            <a:prstDash val="solid"/>
          </a:ln>
        </p:spPr>
      </p:sp>
      <p:sp>
        <p:nvSpPr>
          <p:cNvPr id="8" name="Text 6"/>
          <p:cNvSpPr/>
          <p:nvPr/>
        </p:nvSpPr>
        <p:spPr>
          <a:xfrm>
            <a:off x="923544" y="3909060"/>
            <a:ext cx="2194560" cy="1650492"/>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第7条第1款</a:t>
            </a:r>
            <a:endParaRPr lang="zh-CN" sz="2400" dirty="0"/>
          </a:p>
        </p:txBody>
      </p:sp>
      <p:sp>
        <p:nvSpPr>
          <p:cNvPr id="9" name="Text 7"/>
          <p:cNvSpPr/>
          <p:nvPr/>
        </p:nvSpPr>
        <p:spPr>
          <a:xfrm>
            <a:off x="3410712" y="3909060"/>
            <a:ext cx="8019288" cy="1650492"/>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题设中相应的县公安局：赔偿义务机关。</a:t>
            </a:r>
            <a:endParaRPr lang="zh-CN" sz="2400" dirty="0"/>
          </a:p>
        </p:txBody>
      </p:sp>
      <p:sp>
        <p:nvSpPr>
          <p:cNvPr id="10" name="Text 8"/>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本题练习规则定位；下一题解释规范关系。</a:t>
            </a:r>
            <a:endParaRPr lang="zh-CN" sz="2400" dirty="0"/>
          </a:p>
        </p:txBody>
      </p:sp>
      <p:sp>
        <p:nvSpPr>
          <p:cNvPr id="11" name="Text 9"/>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任务3参考说明｜国家赔偿法第3条第1项、第7条第1款</a:t>
            </a:r>
            <a:endParaRPr lang="zh-CN" sz="1200" dirty="0"/>
          </a:p>
        </p:txBody>
      </p:sp>
      <p:sp>
        <p:nvSpPr>
          <p:cNvPr id="12" name="Text 10"/>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23 / 38</a:t>
            </a:r>
            <a:endParaRPr lang="zh-CN"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下节｜二 根本要求怎样进入具体制度</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刚才一直在读普通法律，宪法还在哪里？</a:t>
            </a:r>
            <a:endParaRPr lang="zh-CN" sz="3600" dirty="0"/>
          </a:p>
        </p:txBody>
      </p:sp>
      <p:sp>
        <p:nvSpPr>
          <p:cNvPr id="4" name="Shape 2"/>
          <p:cNvSpPr/>
          <p:nvPr/>
        </p:nvSpPr>
        <p:spPr>
          <a:xfrm>
            <a:off x="713232" y="1901952"/>
            <a:ext cx="5175504" cy="3657600"/>
          </a:xfrm>
          <a:prstGeom prst="rect">
            <a:avLst/>
          </a:prstGeom>
          <a:solidFill>
            <a:srgbClr val="FFFFFF"/>
          </a:solidFill>
          <a:ln w="12700">
            <a:solidFill>
              <a:srgbClr val="FFFFFF">
                <a:alpha val="0"/>
              </a:srgbClr>
            </a:solidFill>
            <a:prstDash val="solid"/>
          </a:ln>
        </p:spPr>
      </p:sp>
      <p:sp>
        <p:nvSpPr>
          <p:cNvPr id="5" name="Text 3"/>
          <p:cNvSpPr/>
          <p:nvPr/>
        </p:nvSpPr>
        <p:spPr>
          <a:xfrm>
            <a:off x="914400" y="2103120"/>
            <a:ext cx="4773168" cy="54864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回看材料B、D</a:t>
            </a:r>
            <a:endParaRPr lang="zh-CN" sz="2400" dirty="0"/>
          </a:p>
        </p:txBody>
      </p:sp>
      <p:sp>
        <p:nvSpPr>
          <p:cNvPr id="6" name="Text 4"/>
          <p:cNvSpPr/>
          <p:nvPr/>
        </p:nvSpPr>
        <p:spPr>
          <a:xfrm>
            <a:off x="914400" y="2798064"/>
            <a:ext cx="4773168" cy="2606040"/>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宪法第5条第3款</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宪法第41条第3款</a:t>
            </a:r>
            <a:endParaRPr lang="zh-CN" sz="2400" dirty="0"/>
          </a:p>
        </p:txBody>
      </p:sp>
      <p:sp>
        <p:nvSpPr>
          <p:cNvPr id="7" name="Shape 5"/>
          <p:cNvSpPr/>
          <p:nvPr/>
        </p:nvSpPr>
        <p:spPr>
          <a:xfrm>
            <a:off x="6327648" y="1901952"/>
            <a:ext cx="5175504" cy="3657600"/>
          </a:xfrm>
          <a:prstGeom prst="rect">
            <a:avLst/>
          </a:prstGeom>
          <a:solidFill>
            <a:srgbClr val="E8ECE6"/>
          </a:solidFill>
          <a:ln w="12700">
            <a:solidFill>
              <a:srgbClr val="E8ECE6">
                <a:alpha val="0"/>
              </a:srgbClr>
            </a:solidFill>
            <a:prstDash val="solid"/>
          </a:ln>
        </p:spPr>
      </p:sp>
      <p:sp>
        <p:nvSpPr>
          <p:cNvPr id="8" name="Text 6"/>
          <p:cNvSpPr/>
          <p:nvPr/>
        </p:nvSpPr>
        <p:spPr>
          <a:xfrm>
            <a:off x="6528816" y="2103120"/>
            <a:ext cx="4773168" cy="54864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回看刚用过的规则</a:t>
            </a:r>
            <a:endParaRPr lang="zh-CN" sz="2400" dirty="0"/>
          </a:p>
        </p:txBody>
      </p:sp>
      <p:sp>
        <p:nvSpPr>
          <p:cNvPr id="9" name="Text 7"/>
          <p:cNvSpPr/>
          <p:nvPr/>
        </p:nvSpPr>
        <p:spPr>
          <a:xfrm>
            <a:off x="6528816" y="2798064"/>
            <a:ext cx="4773168" cy="2606040"/>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国家赔偿法第3条、第7条：我们</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据此作了哪些判断？</a:t>
            </a:r>
            <a:endParaRPr lang="zh-CN" sz="2400" dirty="0"/>
          </a:p>
        </p:txBody>
      </p:sp>
      <p:sp>
        <p:nvSpPr>
          <p:cNvPr id="10" name="Text 8"/>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先回到手中的条文，再解释它们为什么都需要。</a:t>
            </a:r>
            <a:endParaRPr lang="zh-CN" sz="2400" dirty="0"/>
          </a:p>
        </p:txBody>
      </p:sp>
      <p:sp>
        <p:nvSpPr>
          <p:cNvPr id="11" name="Text 9"/>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任务4准备｜宪法第5、41条；国家赔偿法第3、7条</a:t>
            </a:r>
            <a:endParaRPr lang="zh-CN" sz="1200" dirty="0"/>
          </a:p>
        </p:txBody>
      </p:sp>
      <p:sp>
        <p:nvSpPr>
          <p:cNvPr id="12" name="Text 10"/>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24 / 38</a:t>
            </a:r>
            <a:endParaRPr lang="zh-CN"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下节｜二 根本要求怎样进入具体制度</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任务4：宪法在这里究竟还约束什么？</a:t>
            </a:r>
            <a:endParaRPr lang="zh-CN" sz="3600" dirty="0"/>
          </a:p>
        </p:txBody>
      </p:sp>
      <p:sp>
        <p:nvSpPr>
          <p:cNvPr id="4" name="Text 2"/>
          <p:cNvSpPr/>
          <p:nvPr/>
        </p:nvSpPr>
        <p:spPr>
          <a:xfrm>
            <a:off x="758952" y="1965960"/>
            <a:ext cx="2926080" cy="1002792"/>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继续刚才的疑问｜</a:t>
            </a:r>
            <a:endParaRPr lang="zh-CN" sz="2400" dirty="0"/>
          </a:p>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教学设定</a:t>
            </a:r>
            <a:endParaRPr lang="zh-CN" sz="2400" dirty="0"/>
          </a:p>
        </p:txBody>
      </p:sp>
      <p:sp>
        <p:nvSpPr>
          <p:cNvPr id="5" name="Text 3"/>
          <p:cNvSpPr/>
          <p:nvPr/>
        </p:nvSpPr>
        <p:spPr>
          <a:xfrm>
            <a:off x="4142232" y="1965960"/>
            <a:ext cx="7287768" cy="1002792"/>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赔偿情形和义务机关都由普通法律规定，</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宪法在这里究竟还约束什么？</a:t>
            </a:r>
            <a:endParaRPr lang="zh-CN" sz="2400" dirty="0"/>
          </a:p>
        </p:txBody>
      </p:sp>
      <p:sp>
        <p:nvSpPr>
          <p:cNvPr id="6" name="Shape 4"/>
          <p:cNvSpPr/>
          <p:nvPr/>
        </p:nvSpPr>
        <p:spPr>
          <a:xfrm>
            <a:off x="758952" y="3092196"/>
            <a:ext cx="10671048" cy="0"/>
          </a:xfrm>
          <a:prstGeom prst="line">
            <a:avLst/>
          </a:prstGeom>
          <a:noFill/>
          <a:ln w="16510">
            <a:solidFill>
              <a:srgbClr val="CBCDC5"/>
            </a:solidFill>
            <a:prstDash val="solid"/>
          </a:ln>
        </p:spPr>
      </p:sp>
      <p:sp>
        <p:nvSpPr>
          <p:cNvPr id="7" name="Text 5"/>
          <p:cNvSpPr/>
          <p:nvPr/>
        </p:nvSpPr>
        <p:spPr>
          <a:xfrm>
            <a:off x="758952" y="3261360"/>
            <a:ext cx="2926080" cy="1002792"/>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请完成一段解释</a:t>
            </a:r>
            <a:endParaRPr lang="zh-CN" sz="2400" dirty="0"/>
          </a:p>
        </p:txBody>
      </p:sp>
      <p:sp>
        <p:nvSpPr>
          <p:cNvPr id="8" name="Text 6"/>
          <p:cNvSpPr/>
          <p:nvPr/>
        </p:nvSpPr>
        <p:spPr>
          <a:xfrm>
            <a:off x="4142232" y="3261360"/>
            <a:ext cx="7287768" cy="1002792"/>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用第5条与第41条回应；再举国家赔偿法的一项具</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体安排，说明为何仍需普通法律。</a:t>
            </a:r>
            <a:endParaRPr lang="zh-CN" sz="2400" dirty="0"/>
          </a:p>
        </p:txBody>
      </p:sp>
      <p:sp>
        <p:nvSpPr>
          <p:cNvPr id="9" name="Shape 7"/>
          <p:cNvSpPr/>
          <p:nvPr/>
        </p:nvSpPr>
        <p:spPr>
          <a:xfrm>
            <a:off x="758952" y="4387596"/>
            <a:ext cx="10671048" cy="0"/>
          </a:xfrm>
          <a:prstGeom prst="line">
            <a:avLst/>
          </a:prstGeom>
          <a:noFill/>
          <a:ln w="16510">
            <a:solidFill>
              <a:srgbClr val="CBCDC5"/>
            </a:solidFill>
            <a:prstDash val="solid"/>
          </a:ln>
        </p:spPr>
      </p:sp>
      <p:sp>
        <p:nvSpPr>
          <p:cNvPr id="10" name="Text 8"/>
          <p:cNvSpPr/>
          <p:nvPr/>
        </p:nvSpPr>
        <p:spPr>
          <a:xfrm>
            <a:off x="758952" y="4556760"/>
            <a:ext cx="2926080" cy="1002792"/>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再比较一项主张</a:t>
            </a:r>
            <a:endParaRPr lang="zh-CN" sz="2400" dirty="0"/>
          </a:p>
        </p:txBody>
      </p:sp>
      <p:sp>
        <p:nvSpPr>
          <p:cNvPr id="11" name="Text 9"/>
          <p:cNvSpPr/>
          <p:nvPr/>
        </p:nvSpPr>
        <p:spPr>
          <a:xfrm>
            <a:off x="4142232" y="4556760"/>
            <a:ext cx="7287768" cy="1002792"/>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“为保障权利，申请条件越少越好。”第12条提供</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了什么支持或反例？</a:t>
            </a:r>
            <a:endParaRPr lang="zh-CN" sz="2400" dirty="0"/>
          </a:p>
        </p:txBody>
      </p:sp>
      <p:sp>
        <p:nvSpPr>
          <p:cNvPr id="12" name="Text 10"/>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要求解释关系；可以用自己的措辞组织理由。</a:t>
            </a:r>
            <a:endParaRPr lang="zh-CN" sz="2400" dirty="0"/>
          </a:p>
        </p:txBody>
      </p:sp>
      <p:sp>
        <p:nvSpPr>
          <p:cNvPr id="13" name="Text 11"/>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任务4｜材料B、D；宪法第5、41条</a:t>
            </a:r>
            <a:endParaRPr lang="zh-CN" sz="1200" dirty="0"/>
          </a:p>
        </p:txBody>
      </p:sp>
      <p:sp>
        <p:nvSpPr>
          <p:cNvPr id="14" name="Text 12"/>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25 / 38</a:t>
            </a:r>
            <a:endParaRPr lang="zh-CN"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下节｜二 根本要求怎样进入具体制度</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任务4讲评：把已有约束与新增安排同时说清</a:t>
            </a:r>
            <a:endParaRPr lang="zh-CN" sz="3600" dirty="0"/>
          </a:p>
        </p:txBody>
      </p:sp>
      <p:sp>
        <p:nvSpPr>
          <p:cNvPr id="4" name="Shape 2"/>
          <p:cNvSpPr/>
          <p:nvPr/>
        </p:nvSpPr>
        <p:spPr>
          <a:xfrm>
            <a:off x="713232" y="1920240"/>
            <a:ext cx="73152" cy="1048512"/>
          </a:xfrm>
          <a:prstGeom prst="rect">
            <a:avLst/>
          </a:prstGeom>
          <a:solidFill>
            <a:srgbClr val="9B3D32"/>
          </a:solidFill>
          <a:ln w="12700">
            <a:solidFill>
              <a:srgbClr val="9B3D32">
                <a:alpha val="0"/>
              </a:srgbClr>
            </a:solidFill>
            <a:prstDash val="solid"/>
          </a:ln>
        </p:spPr>
      </p:sp>
      <p:sp>
        <p:nvSpPr>
          <p:cNvPr id="5" name="Text 3"/>
          <p:cNvSpPr/>
          <p:nvPr/>
        </p:nvSpPr>
        <p:spPr>
          <a:xfrm>
            <a:off x="923544" y="1965960"/>
            <a:ext cx="2926080" cy="1002792"/>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宪法已有要求</a:t>
            </a:r>
            <a:endParaRPr lang="zh-CN" sz="2400" dirty="0"/>
          </a:p>
        </p:txBody>
      </p:sp>
      <p:sp>
        <p:nvSpPr>
          <p:cNvPr id="6" name="Text 4"/>
          <p:cNvSpPr/>
          <p:nvPr/>
        </p:nvSpPr>
        <p:spPr>
          <a:xfrm>
            <a:off x="4142232" y="1965960"/>
            <a:ext cx="7287768" cy="1002792"/>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第41条确认相应赔偿权；第5条要求普通法律不得</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抵触宪法。</a:t>
            </a:r>
            <a:endParaRPr lang="zh-CN" sz="2400" dirty="0"/>
          </a:p>
        </p:txBody>
      </p:sp>
      <p:sp>
        <p:nvSpPr>
          <p:cNvPr id="7" name="Shape 5"/>
          <p:cNvSpPr/>
          <p:nvPr/>
        </p:nvSpPr>
        <p:spPr>
          <a:xfrm>
            <a:off x="713232" y="3215640"/>
            <a:ext cx="73152" cy="1048512"/>
          </a:xfrm>
          <a:prstGeom prst="rect">
            <a:avLst/>
          </a:prstGeom>
          <a:solidFill>
            <a:srgbClr val="9B3D32"/>
          </a:solidFill>
          <a:ln w="12700">
            <a:solidFill>
              <a:srgbClr val="9B3D32">
                <a:alpha val="0"/>
              </a:srgbClr>
            </a:solidFill>
            <a:prstDash val="solid"/>
          </a:ln>
        </p:spPr>
      </p:sp>
      <p:sp>
        <p:nvSpPr>
          <p:cNvPr id="8" name="Shape 6"/>
          <p:cNvSpPr/>
          <p:nvPr/>
        </p:nvSpPr>
        <p:spPr>
          <a:xfrm>
            <a:off x="758952" y="3092196"/>
            <a:ext cx="10671048" cy="0"/>
          </a:xfrm>
          <a:prstGeom prst="line">
            <a:avLst/>
          </a:prstGeom>
          <a:noFill/>
          <a:ln w="16510">
            <a:solidFill>
              <a:srgbClr val="CBCDC5"/>
            </a:solidFill>
            <a:prstDash val="solid"/>
          </a:ln>
        </p:spPr>
      </p:sp>
      <p:sp>
        <p:nvSpPr>
          <p:cNvPr id="9" name="Text 7"/>
          <p:cNvSpPr/>
          <p:nvPr/>
        </p:nvSpPr>
        <p:spPr>
          <a:xfrm>
            <a:off x="923544" y="3261360"/>
            <a:ext cx="2926080" cy="1002792"/>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具体化须作选择</a:t>
            </a:r>
            <a:endParaRPr lang="zh-CN" sz="2400" dirty="0"/>
          </a:p>
        </p:txBody>
      </p:sp>
      <p:sp>
        <p:nvSpPr>
          <p:cNvPr id="10" name="Text 8"/>
          <p:cNvSpPr/>
          <p:nvPr/>
        </p:nvSpPr>
        <p:spPr>
          <a:xfrm>
            <a:off x="4142232" y="3261360"/>
            <a:ext cx="7287768" cy="1002792"/>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核实请求所需事实，同时回应</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请求人书写确有困难的情形。</a:t>
            </a:r>
            <a:endParaRPr lang="zh-CN" sz="2400" dirty="0"/>
          </a:p>
        </p:txBody>
      </p:sp>
      <p:sp>
        <p:nvSpPr>
          <p:cNvPr id="11" name="Shape 9"/>
          <p:cNvSpPr/>
          <p:nvPr/>
        </p:nvSpPr>
        <p:spPr>
          <a:xfrm>
            <a:off x="713232" y="4511040"/>
            <a:ext cx="73152" cy="1048512"/>
          </a:xfrm>
          <a:prstGeom prst="rect">
            <a:avLst/>
          </a:prstGeom>
          <a:solidFill>
            <a:srgbClr val="9B3D32"/>
          </a:solidFill>
          <a:ln w="12700">
            <a:solidFill>
              <a:srgbClr val="9B3D32">
                <a:alpha val="0"/>
              </a:srgbClr>
            </a:solidFill>
            <a:prstDash val="solid"/>
          </a:ln>
        </p:spPr>
      </p:sp>
      <p:sp>
        <p:nvSpPr>
          <p:cNvPr id="12" name="Shape 10"/>
          <p:cNvSpPr/>
          <p:nvPr/>
        </p:nvSpPr>
        <p:spPr>
          <a:xfrm>
            <a:off x="758952" y="4387596"/>
            <a:ext cx="10671048" cy="0"/>
          </a:xfrm>
          <a:prstGeom prst="line">
            <a:avLst/>
          </a:prstGeom>
          <a:noFill/>
          <a:ln w="16510">
            <a:solidFill>
              <a:srgbClr val="CBCDC5"/>
            </a:solidFill>
            <a:prstDash val="solid"/>
          </a:ln>
        </p:spPr>
      </p:sp>
      <p:sp>
        <p:nvSpPr>
          <p:cNvPr id="13" name="Text 11"/>
          <p:cNvSpPr/>
          <p:nvPr/>
        </p:nvSpPr>
        <p:spPr>
          <a:xfrm>
            <a:off x="923544" y="4556760"/>
            <a:ext cx="2926080" cy="1002792"/>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国家赔偿法第12条</a:t>
            </a:r>
            <a:endParaRPr lang="zh-CN" sz="2400" dirty="0"/>
          </a:p>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（教学提要）</a:t>
            </a:r>
            <a:endParaRPr lang="zh-CN" sz="2400" dirty="0"/>
          </a:p>
        </p:txBody>
      </p:sp>
      <p:sp>
        <p:nvSpPr>
          <p:cNvPr id="14" name="Text 12"/>
          <p:cNvSpPr/>
          <p:nvPr/>
        </p:nvSpPr>
        <p:spPr>
          <a:xfrm>
            <a:off x="4142232" y="4556760"/>
            <a:ext cx="7287768" cy="1002792"/>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要求事实根据和理由；书写确有困难时允许代书或</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口头申请、记入笔录。</a:t>
            </a:r>
            <a:endParaRPr lang="zh-CN" sz="2400" dirty="0"/>
          </a:p>
        </p:txBody>
      </p:sp>
      <p:sp>
        <p:nvSpPr>
          <p:cNvPr id="15" name="Text 13"/>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程序需要理由；办理方式也应回应保障要求。</a:t>
            </a:r>
            <a:endParaRPr lang="zh-CN" sz="2400" dirty="0"/>
          </a:p>
        </p:txBody>
      </p:sp>
      <p:sp>
        <p:nvSpPr>
          <p:cNvPr id="16" name="Text 14"/>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宪法第5、41条；国家赔偿法第3、7、9条及第12条节录</a:t>
            </a:r>
            <a:endParaRPr lang="zh-CN" sz="1200" dirty="0"/>
          </a:p>
        </p:txBody>
      </p:sp>
      <p:sp>
        <p:nvSpPr>
          <p:cNvPr id="17" name="Text 15"/>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26 / 38</a:t>
            </a:r>
            <a:endParaRPr lang="zh-CN"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下节｜二 根本要求怎样进入具体制度</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任务5：一部法律的开头，能决定多少？</a:t>
            </a:r>
            <a:endParaRPr lang="zh-CN" sz="3600" dirty="0"/>
          </a:p>
        </p:txBody>
      </p:sp>
      <p:sp>
        <p:nvSpPr>
          <p:cNvPr id="4" name="Text 2"/>
          <p:cNvSpPr/>
          <p:nvPr/>
        </p:nvSpPr>
        <p:spPr>
          <a:xfrm>
            <a:off x="795528" y="1920240"/>
            <a:ext cx="10533888" cy="45720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情况一</a:t>
            </a:r>
            <a:endParaRPr lang="zh-CN" sz="2400" dirty="0"/>
          </a:p>
        </p:txBody>
      </p:sp>
      <p:sp>
        <p:nvSpPr>
          <p:cNvPr id="5" name="Text 3"/>
          <p:cNvSpPr/>
          <p:nvPr/>
        </p:nvSpPr>
        <p:spPr>
          <a:xfrm>
            <a:off x="795528" y="2450592"/>
            <a:ext cx="10533888" cy="1165860"/>
          </a:xfrm>
          <a:prstGeom prst="rect">
            <a:avLst/>
          </a:prstGeom>
          <a:noFill/>
          <a:ln/>
        </p:spPr>
        <p:txBody>
          <a:bodyPr wrap="none" lIns="0" tIns="0" rIns="0" bIns="0" rtlCol="0" anchor="t"/>
          <a:lstStyle/>
          <a:p>
            <a:pPr algn="l" indent="0" marL="0">
              <a:lnSpc>
                <a:spcPct val="105000"/>
              </a:lnSpc>
              <a:buNone/>
            </a:pPr>
            <a:r>
              <a:rPr lang="zh-CN" altLang="en-US" sz="2600" dirty="0">
                <a:solidFill>
                  <a:srgbClr val="2B302F"/>
                </a:solidFill>
                <a:latin typeface="Microsoft YaHei" pitchFamily="34" charset="0"/>
                <a:ea typeface="Microsoft YaHei" pitchFamily="34" charset="-122"/>
                <a:cs typeface="Microsoft YaHei" pitchFamily="34" charset="-120"/>
              </a:rPr>
              <a:t>普通法律没有写“根据宪法”，能否因此不受宪法约束？</a:t>
            </a:r>
            <a:endParaRPr lang="zh-CN" sz="2600" dirty="0"/>
          </a:p>
        </p:txBody>
      </p:sp>
      <p:sp>
        <p:nvSpPr>
          <p:cNvPr id="6" name="Text 4"/>
          <p:cNvSpPr/>
          <p:nvPr/>
        </p:nvSpPr>
        <p:spPr>
          <a:xfrm>
            <a:off x="795528" y="3854196"/>
            <a:ext cx="10533888" cy="45720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情况二</a:t>
            </a:r>
            <a:endParaRPr lang="zh-CN" sz="2400" dirty="0"/>
          </a:p>
        </p:txBody>
      </p:sp>
      <p:sp>
        <p:nvSpPr>
          <p:cNvPr id="7" name="Text 5"/>
          <p:cNvSpPr/>
          <p:nvPr/>
        </p:nvSpPr>
        <p:spPr>
          <a:xfrm>
            <a:off x="795528" y="4384548"/>
            <a:ext cx="10533888" cy="1165860"/>
          </a:xfrm>
          <a:prstGeom prst="rect">
            <a:avLst/>
          </a:prstGeom>
          <a:noFill/>
          <a:ln/>
        </p:spPr>
        <p:txBody>
          <a:bodyPr wrap="none" lIns="0" tIns="0" rIns="0" bIns="0" rtlCol="0" anchor="t"/>
          <a:lstStyle/>
          <a:p>
            <a:pPr algn="l" indent="0" marL="0">
              <a:lnSpc>
                <a:spcPct val="105000"/>
              </a:lnSpc>
              <a:buNone/>
            </a:pPr>
            <a:r>
              <a:rPr lang="zh-CN" altLang="en-US" sz="2600" dirty="0">
                <a:solidFill>
                  <a:srgbClr val="2B302F"/>
                </a:solidFill>
                <a:latin typeface="Microsoft YaHei" pitchFamily="34" charset="0"/>
                <a:ea typeface="Microsoft YaHei" pitchFamily="34" charset="-122"/>
                <a:cs typeface="Microsoft YaHei" pitchFamily="34" charset="-120"/>
              </a:rPr>
              <a:t>写了“根据宪法”，是否已经证明每个条款都符合宪法？</a:t>
            </a:r>
            <a:endParaRPr lang="zh-CN" sz="2600" dirty="0"/>
          </a:p>
        </p:txBody>
      </p:sp>
      <p:sp>
        <p:nvSpPr>
          <p:cNvPr id="8" name="Text 6"/>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分别给出理由，不只报“是”或“否”。</a:t>
            </a:r>
            <a:endParaRPr lang="zh-CN" sz="2400" dirty="0"/>
          </a:p>
        </p:txBody>
      </p:sp>
      <p:sp>
        <p:nvSpPr>
          <p:cNvPr id="9" name="Text 7"/>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任务5｜宪法第5条；国家赔偿法第1条用于对照</a:t>
            </a:r>
            <a:endParaRPr lang="zh-CN" sz="1200" dirty="0"/>
          </a:p>
        </p:txBody>
      </p:sp>
      <p:sp>
        <p:nvSpPr>
          <p:cNvPr id="10" name="Text 8"/>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27 / 38</a:t>
            </a:r>
            <a:endParaRPr lang="zh-CN"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下节｜二 根本要求怎样进入具体制度</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任务6：目标正当，具体措施就有依据吗？</a:t>
            </a:r>
            <a:endParaRPr lang="zh-CN" sz="3600" dirty="0"/>
          </a:p>
        </p:txBody>
      </p:sp>
      <p:sp>
        <p:nvSpPr>
          <p:cNvPr id="4" name="Text 2"/>
          <p:cNvSpPr/>
          <p:nvPr/>
        </p:nvSpPr>
        <p:spPr>
          <a:xfrm>
            <a:off x="795528" y="1920240"/>
            <a:ext cx="10533888" cy="45720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教学设例｜现有信息仅此</a:t>
            </a:r>
            <a:endParaRPr lang="zh-CN" sz="2400" dirty="0"/>
          </a:p>
        </p:txBody>
      </p:sp>
      <p:sp>
        <p:nvSpPr>
          <p:cNvPr id="5" name="Text 3"/>
          <p:cNvSpPr/>
          <p:nvPr/>
        </p:nvSpPr>
        <p:spPr>
          <a:xfrm>
            <a:off x="795528" y="2450592"/>
            <a:ext cx="10533888" cy="1165860"/>
          </a:xfrm>
          <a:prstGeom prst="rect">
            <a:avLst/>
          </a:prstGeom>
          <a:noFill/>
          <a:ln/>
        </p:spPr>
        <p:txBody>
          <a:bodyPr wrap="none" lIns="0" tIns="0" rIns="0" bIns="0" rtlCol="0" anchor="t"/>
          <a:lstStyle/>
          <a:p>
            <a:pPr algn="l" indent="0" marL="0">
              <a:lnSpc>
                <a:spcPct val="105000"/>
              </a:lnSpc>
              <a:buNone/>
            </a:pPr>
            <a:r>
              <a:rPr lang="zh-CN" altLang="en-US" sz="2600" dirty="0">
                <a:solidFill>
                  <a:srgbClr val="2B302F"/>
                </a:solidFill>
                <a:latin typeface="Microsoft YaHei" pitchFamily="34" charset="0"/>
                <a:ea typeface="Microsoft YaHei" pitchFamily="34" charset="-122"/>
                <a:cs typeface="Microsoft YaHei" pitchFamily="34" charset="-120"/>
              </a:rPr>
              <a:t>某机关声称“为了公共利益”，限制了乙的行动。</a:t>
            </a:r>
            <a:endParaRPr lang="zh-CN" sz="2600" dirty="0"/>
          </a:p>
        </p:txBody>
      </p:sp>
      <p:sp>
        <p:nvSpPr>
          <p:cNvPr id="6" name="Text 4"/>
          <p:cNvSpPr/>
          <p:nvPr/>
        </p:nvSpPr>
        <p:spPr>
          <a:xfrm>
            <a:off x="795528" y="3854196"/>
            <a:ext cx="10533888" cy="45720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请分两层回答</a:t>
            </a:r>
            <a:endParaRPr lang="zh-CN" sz="2400" dirty="0"/>
          </a:p>
        </p:txBody>
      </p:sp>
      <p:sp>
        <p:nvSpPr>
          <p:cNvPr id="7" name="Text 5"/>
          <p:cNvSpPr/>
          <p:nvPr/>
        </p:nvSpPr>
        <p:spPr>
          <a:xfrm>
            <a:off x="795528" y="4384548"/>
            <a:ext cx="10533888" cy="1165860"/>
          </a:xfrm>
          <a:prstGeom prst="rect">
            <a:avLst/>
          </a:prstGeom>
          <a:noFill/>
          <a:ln/>
        </p:spPr>
        <p:txBody>
          <a:bodyPr wrap="none" lIns="0" tIns="0" rIns="0" bIns="0" rtlCol="0" anchor="t"/>
          <a:lstStyle/>
          <a:p>
            <a:pPr algn="l" indent="0" marL="0">
              <a:lnSpc>
                <a:spcPct val="105000"/>
              </a:lnSpc>
              <a:buNone/>
            </a:pPr>
            <a:r>
              <a:rPr lang="zh-CN" altLang="en-US" sz="2600" dirty="0">
                <a:solidFill>
                  <a:srgbClr val="2B302F"/>
                </a:solidFill>
                <a:latin typeface="Microsoft YaHei" pitchFamily="34" charset="0"/>
                <a:ea typeface="Microsoft YaHei" pitchFamily="34" charset="-122"/>
                <a:cs typeface="Microsoft YaHei" pitchFamily="34" charset="-120"/>
              </a:rPr>
              <a:t>这些信息能否证明措施已获合法授权？</a:t>
            </a:r>
            <a:endParaRPr lang="zh-CN" sz="2600" dirty="0"/>
          </a:p>
          <a:p>
            <a:pPr algn="l" indent="0" marL="0">
              <a:lnSpc>
                <a:spcPct val="105000"/>
              </a:lnSpc>
              <a:buNone/>
            </a:pPr>
            <a:r>
              <a:rPr lang="zh-CN" altLang="en-US" sz="2600" dirty="0">
                <a:solidFill>
                  <a:srgbClr val="2B302F"/>
                </a:solidFill>
                <a:latin typeface="Microsoft YaHei" pitchFamily="34" charset="0"/>
                <a:ea typeface="Microsoft YaHei" pitchFamily="34" charset="-122"/>
                <a:cs typeface="Microsoft YaHei" pitchFamily="34" charset="-120"/>
              </a:rPr>
              <a:t>要继续判断，具体还缺什么信息？</a:t>
            </a:r>
            <a:endParaRPr lang="zh-CN" sz="2600" dirty="0"/>
          </a:p>
        </p:txBody>
      </p:sp>
      <p:sp>
        <p:nvSpPr>
          <p:cNvPr id="8" name="Text 6"/>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指出具体缺口，才能把判断继续做下去。</a:t>
            </a:r>
            <a:endParaRPr lang="zh-CN" sz="2400" dirty="0"/>
          </a:p>
        </p:txBody>
      </p:sp>
      <p:sp>
        <p:nvSpPr>
          <p:cNvPr id="9" name="Text 7"/>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任务6｜教学设例；宪法第5、33条等作规范背景</a:t>
            </a:r>
            <a:endParaRPr lang="zh-CN" sz="1200" dirty="0"/>
          </a:p>
        </p:txBody>
      </p:sp>
      <p:sp>
        <p:nvSpPr>
          <p:cNvPr id="10" name="Text 8"/>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28 / 38</a:t>
            </a:r>
            <a:endParaRPr lang="zh-CN"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下节｜二 根本要求怎样进入具体制度</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任务6讲评：把目标、权限、条件和程序分开</a:t>
            </a:r>
            <a:endParaRPr lang="zh-CN" sz="3600" dirty="0"/>
          </a:p>
        </p:txBody>
      </p:sp>
      <p:sp>
        <p:nvSpPr>
          <p:cNvPr id="4" name="Shape 2"/>
          <p:cNvSpPr/>
          <p:nvPr/>
        </p:nvSpPr>
        <p:spPr>
          <a:xfrm>
            <a:off x="713232" y="1920240"/>
            <a:ext cx="73152" cy="1696212"/>
          </a:xfrm>
          <a:prstGeom prst="rect">
            <a:avLst/>
          </a:prstGeom>
          <a:solidFill>
            <a:srgbClr val="9B3D32"/>
          </a:solidFill>
          <a:ln w="12700">
            <a:solidFill>
              <a:srgbClr val="9B3D32">
                <a:alpha val="0"/>
              </a:srgbClr>
            </a:solidFill>
            <a:prstDash val="solid"/>
          </a:ln>
        </p:spPr>
      </p:sp>
      <p:sp>
        <p:nvSpPr>
          <p:cNvPr id="5" name="Text 3"/>
          <p:cNvSpPr/>
          <p:nvPr/>
        </p:nvSpPr>
        <p:spPr>
          <a:xfrm>
            <a:off x="923544" y="1965960"/>
            <a:ext cx="2194560" cy="1650492"/>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现有材料</a:t>
            </a:r>
            <a:endParaRPr lang="zh-CN" sz="2400" dirty="0"/>
          </a:p>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足以说明</a:t>
            </a:r>
            <a:endParaRPr lang="zh-CN" sz="2400" dirty="0"/>
          </a:p>
        </p:txBody>
      </p:sp>
      <p:sp>
        <p:nvSpPr>
          <p:cNvPr id="6" name="Text 4"/>
          <p:cNvSpPr/>
          <p:nvPr/>
        </p:nvSpPr>
        <p:spPr>
          <a:xfrm>
            <a:off x="3410712" y="1965960"/>
            <a:ext cx="8019288" cy="1650492"/>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抽象目标本身，不足以证明具体措施已获合法授权。</a:t>
            </a:r>
            <a:endParaRPr lang="zh-CN" sz="2400" dirty="0"/>
          </a:p>
        </p:txBody>
      </p:sp>
      <p:sp>
        <p:nvSpPr>
          <p:cNvPr id="7" name="Shape 5"/>
          <p:cNvSpPr/>
          <p:nvPr/>
        </p:nvSpPr>
        <p:spPr>
          <a:xfrm>
            <a:off x="713232" y="3863340"/>
            <a:ext cx="73152" cy="1696212"/>
          </a:xfrm>
          <a:prstGeom prst="rect">
            <a:avLst/>
          </a:prstGeom>
          <a:solidFill>
            <a:srgbClr val="9B3D32"/>
          </a:solidFill>
          <a:ln w="12700">
            <a:solidFill>
              <a:srgbClr val="9B3D32">
                <a:alpha val="0"/>
              </a:srgbClr>
            </a:solidFill>
            <a:prstDash val="solid"/>
          </a:ln>
        </p:spPr>
      </p:sp>
      <p:sp>
        <p:nvSpPr>
          <p:cNvPr id="8" name="Text 6"/>
          <p:cNvSpPr/>
          <p:nvPr/>
        </p:nvSpPr>
        <p:spPr>
          <a:xfrm>
            <a:off x="923544" y="3909060"/>
            <a:ext cx="2194560" cy="1650492"/>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还须查明</a:t>
            </a:r>
            <a:endParaRPr lang="zh-CN" sz="2400" dirty="0"/>
          </a:p>
        </p:txBody>
      </p:sp>
      <p:sp>
        <p:nvSpPr>
          <p:cNvPr id="9" name="Text 7"/>
          <p:cNvSpPr/>
          <p:nvPr/>
        </p:nvSpPr>
        <p:spPr>
          <a:xfrm>
            <a:off x="3410712" y="3909060"/>
            <a:ext cx="8019288" cy="1650492"/>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什么机关与职权？什么措施？</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依据和事实条件？采用什么程序？</a:t>
            </a:r>
            <a:endParaRPr lang="zh-CN" sz="2400" dirty="0"/>
          </a:p>
        </p:txBody>
      </p:sp>
      <p:sp>
        <p:nvSpPr>
          <p:cNvPr id="10" name="Text 8"/>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有依据时作有限判断；缺材料时指出真正缺的是什么。</a:t>
            </a:r>
            <a:endParaRPr lang="zh-CN" sz="2400" dirty="0"/>
          </a:p>
        </p:txBody>
      </p:sp>
      <p:sp>
        <p:nvSpPr>
          <p:cNvPr id="11" name="Text 9"/>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任务6参考说明；与任务3对照</a:t>
            </a:r>
            <a:endParaRPr lang="zh-CN" sz="1200" dirty="0"/>
          </a:p>
        </p:txBody>
      </p:sp>
      <p:sp>
        <p:nvSpPr>
          <p:cNvPr id="12" name="Text 10"/>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29 / 38</a:t>
            </a:r>
            <a:endParaRPr lang="zh-CN"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下节｜二 根本要求怎样进入具体制度</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从根本要求，到依法办理和权利救济</a:t>
            </a:r>
            <a:endParaRPr lang="zh-CN" sz="3600" dirty="0"/>
          </a:p>
        </p:txBody>
      </p:sp>
      <p:sp>
        <p:nvSpPr>
          <p:cNvPr id="4" name="Shape 2"/>
          <p:cNvSpPr/>
          <p:nvPr/>
        </p:nvSpPr>
        <p:spPr>
          <a:xfrm>
            <a:off x="804672" y="1956816"/>
            <a:ext cx="3438144" cy="770382"/>
          </a:xfrm>
          <a:prstGeom prst="rect">
            <a:avLst/>
          </a:prstGeom>
          <a:solidFill>
            <a:srgbClr val="343E3B"/>
          </a:solidFill>
          <a:ln w="12700">
            <a:solidFill>
              <a:srgbClr val="343E3B">
                <a:alpha val="0"/>
              </a:srgbClr>
            </a:solidFill>
            <a:prstDash val="solid"/>
          </a:ln>
        </p:spPr>
      </p:sp>
      <p:sp>
        <p:nvSpPr>
          <p:cNvPr id="5" name="Text 3"/>
          <p:cNvSpPr/>
          <p:nvPr/>
        </p:nvSpPr>
        <p:spPr>
          <a:xfrm>
            <a:off x="969264" y="2075688"/>
            <a:ext cx="3108960" cy="587502"/>
          </a:xfrm>
          <a:prstGeom prst="rect">
            <a:avLst/>
          </a:prstGeom>
          <a:noFill/>
          <a:ln/>
        </p:spPr>
        <p:txBody>
          <a:bodyPr wrap="none" lIns="0" tIns="0" rIns="0" bIns="0" rtlCol="0" anchor="t"/>
          <a:lstStyle/>
          <a:p>
            <a:pPr algn="l" indent="0" marL="0">
              <a:lnSpc>
                <a:spcPct val="105000"/>
              </a:lnSpc>
              <a:buNone/>
            </a:pPr>
            <a:r>
              <a:rPr lang="zh-CN" altLang="en-US" sz="2400" b="1" dirty="0">
                <a:solidFill>
                  <a:srgbClr val="F7F4ED"/>
                </a:solidFill>
                <a:latin typeface="Microsoft YaHei" pitchFamily="34" charset="0"/>
                <a:ea typeface="Microsoft YaHei" pitchFamily="34" charset="-122"/>
                <a:cs typeface="Microsoft YaHei" pitchFamily="34" charset="-120"/>
              </a:rPr>
              <a:t>宪法要求</a:t>
            </a:r>
            <a:endParaRPr lang="zh-CN" sz="2400" dirty="0"/>
          </a:p>
        </p:txBody>
      </p:sp>
      <p:sp>
        <p:nvSpPr>
          <p:cNvPr id="6" name="Text 4"/>
          <p:cNvSpPr/>
          <p:nvPr/>
        </p:nvSpPr>
        <p:spPr>
          <a:xfrm>
            <a:off x="4617720" y="2048256"/>
            <a:ext cx="6675120" cy="651510"/>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确认权利并约束立法和履职</a:t>
            </a:r>
            <a:endParaRPr lang="zh-CN" sz="2400" dirty="0"/>
          </a:p>
        </p:txBody>
      </p:sp>
      <p:sp>
        <p:nvSpPr>
          <p:cNvPr id="7" name="Shape 5"/>
          <p:cNvSpPr/>
          <p:nvPr/>
        </p:nvSpPr>
        <p:spPr>
          <a:xfrm>
            <a:off x="2523744" y="2745486"/>
            <a:ext cx="0" cy="137160"/>
          </a:xfrm>
          <a:prstGeom prst="line">
            <a:avLst/>
          </a:prstGeom>
          <a:noFill/>
          <a:ln w="16510">
            <a:solidFill>
              <a:srgbClr val="9B3D32"/>
            </a:solidFill>
            <a:prstDash val="solid"/>
            <a:tailEnd type="triangle"/>
          </a:ln>
        </p:spPr>
      </p:sp>
      <p:sp>
        <p:nvSpPr>
          <p:cNvPr id="8" name="Shape 6"/>
          <p:cNvSpPr/>
          <p:nvPr/>
        </p:nvSpPr>
        <p:spPr>
          <a:xfrm>
            <a:off x="804672" y="2900934"/>
            <a:ext cx="3438144" cy="770382"/>
          </a:xfrm>
          <a:prstGeom prst="rect">
            <a:avLst/>
          </a:prstGeom>
          <a:solidFill>
            <a:srgbClr val="E8ECE6"/>
          </a:solidFill>
          <a:ln w="12700">
            <a:solidFill>
              <a:srgbClr val="E8ECE6">
                <a:alpha val="0"/>
              </a:srgbClr>
            </a:solidFill>
            <a:prstDash val="solid"/>
          </a:ln>
        </p:spPr>
      </p:sp>
      <p:sp>
        <p:nvSpPr>
          <p:cNvPr id="9" name="Text 7"/>
          <p:cNvSpPr/>
          <p:nvPr/>
        </p:nvSpPr>
        <p:spPr>
          <a:xfrm>
            <a:off x="969264" y="3019806"/>
            <a:ext cx="3108960" cy="587502"/>
          </a:xfrm>
          <a:prstGeom prst="rect">
            <a:avLst/>
          </a:prstGeom>
          <a:noFill/>
          <a:ln/>
        </p:spPr>
        <p:txBody>
          <a:bodyPr wrap="none" lIns="0" tIns="0" rIns="0" bIns="0" rtlCol="0" anchor="t"/>
          <a:lstStyle/>
          <a:p>
            <a:pPr algn="l" indent="0" marL="0">
              <a:lnSpc>
                <a:spcPct val="105000"/>
              </a:lnSpc>
              <a:buNone/>
            </a:pPr>
            <a:r>
              <a:rPr lang="zh-CN" altLang="en-US" sz="2400" b="1" dirty="0">
                <a:solidFill>
                  <a:srgbClr val="343E3B"/>
                </a:solidFill>
                <a:latin typeface="Microsoft YaHei" pitchFamily="34" charset="0"/>
                <a:ea typeface="Microsoft YaHei" pitchFamily="34" charset="-122"/>
                <a:cs typeface="Microsoft YaHei" pitchFamily="34" charset="-120"/>
              </a:rPr>
              <a:t>普通法律的具体规定</a:t>
            </a:r>
            <a:endParaRPr lang="zh-CN" sz="2400" dirty="0"/>
          </a:p>
        </p:txBody>
      </p:sp>
      <p:sp>
        <p:nvSpPr>
          <p:cNvPr id="10" name="Text 8"/>
          <p:cNvSpPr/>
          <p:nvPr/>
        </p:nvSpPr>
        <p:spPr>
          <a:xfrm>
            <a:off x="4617720" y="2992374"/>
            <a:ext cx="6675120" cy="651510"/>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形成情形、义务主体和提出途径</a:t>
            </a:r>
            <a:endParaRPr lang="zh-CN" sz="2400" dirty="0"/>
          </a:p>
        </p:txBody>
      </p:sp>
      <p:sp>
        <p:nvSpPr>
          <p:cNvPr id="11" name="Shape 9"/>
          <p:cNvSpPr/>
          <p:nvPr/>
        </p:nvSpPr>
        <p:spPr>
          <a:xfrm>
            <a:off x="2523744" y="3689604"/>
            <a:ext cx="0" cy="137160"/>
          </a:xfrm>
          <a:prstGeom prst="line">
            <a:avLst/>
          </a:prstGeom>
          <a:noFill/>
          <a:ln w="16510">
            <a:solidFill>
              <a:srgbClr val="9B3D32"/>
            </a:solidFill>
            <a:prstDash val="solid"/>
            <a:tailEnd type="triangle"/>
          </a:ln>
        </p:spPr>
      </p:sp>
      <p:sp>
        <p:nvSpPr>
          <p:cNvPr id="12" name="Shape 10"/>
          <p:cNvSpPr/>
          <p:nvPr/>
        </p:nvSpPr>
        <p:spPr>
          <a:xfrm>
            <a:off x="804672" y="3845052"/>
            <a:ext cx="3438144" cy="770382"/>
          </a:xfrm>
          <a:prstGeom prst="rect">
            <a:avLst/>
          </a:prstGeom>
          <a:solidFill>
            <a:srgbClr val="E8ECE6"/>
          </a:solidFill>
          <a:ln w="12700">
            <a:solidFill>
              <a:srgbClr val="E8ECE6">
                <a:alpha val="0"/>
              </a:srgbClr>
            </a:solidFill>
            <a:prstDash val="solid"/>
          </a:ln>
        </p:spPr>
      </p:sp>
      <p:sp>
        <p:nvSpPr>
          <p:cNvPr id="13" name="Text 11"/>
          <p:cNvSpPr/>
          <p:nvPr/>
        </p:nvSpPr>
        <p:spPr>
          <a:xfrm>
            <a:off x="969264" y="3963924"/>
            <a:ext cx="3108960" cy="587502"/>
          </a:xfrm>
          <a:prstGeom prst="rect">
            <a:avLst/>
          </a:prstGeom>
          <a:noFill/>
          <a:ln/>
        </p:spPr>
        <p:txBody>
          <a:bodyPr wrap="none" lIns="0" tIns="0" rIns="0" bIns="0" rtlCol="0" anchor="t"/>
          <a:lstStyle/>
          <a:p>
            <a:pPr algn="l" indent="0" marL="0">
              <a:lnSpc>
                <a:spcPct val="105000"/>
              </a:lnSpc>
              <a:buNone/>
            </a:pPr>
            <a:r>
              <a:rPr lang="zh-CN" altLang="en-US" sz="2400" b="1" dirty="0">
                <a:solidFill>
                  <a:srgbClr val="343E3B"/>
                </a:solidFill>
                <a:latin typeface="Microsoft YaHei" pitchFamily="34" charset="0"/>
                <a:ea typeface="Microsoft YaHei" pitchFamily="34" charset="-122"/>
                <a:cs typeface="Microsoft YaHei" pitchFamily="34" charset="-120"/>
              </a:rPr>
              <a:t>机关依法办理赔偿</a:t>
            </a:r>
            <a:endParaRPr lang="zh-CN" sz="2400" dirty="0"/>
          </a:p>
        </p:txBody>
      </p:sp>
      <p:sp>
        <p:nvSpPr>
          <p:cNvPr id="14" name="Text 12"/>
          <p:cNvSpPr/>
          <p:nvPr/>
        </p:nvSpPr>
        <p:spPr>
          <a:xfrm>
            <a:off x="4617720" y="3936492"/>
            <a:ext cx="6675120" cy="651510"/>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核对事实、适用规则并履行义务</a:t>
            </a:r>
            <a:endParaRPr lang="zh-CN" sz="2400" dirty="0"/>
          </a:p>
        </p:txBody>
      </p:sp>
      <p:sp>
        <p:nvSpPr>
          <p:cNvPr id="15" name="Shape 13"/>
          <p:cNvSpPr/>
          <p:nvPr/>
        </p:nvSpPr>
        <p:spPr>
          <a:xfrm>
            <a:off x="2523744" y="4633722"/>
            <a:ext cx="0" cy="137160"/>
          </a:xfrm>
          <a:prstGeom prst="line">
            <a:avLst/>
          </a:prstGeom>
          <a:noFill/>
          <a:ln w="16510">
            <a:solidFill>
              <a:srgbClr val="9B3D32"/>
            </a:solidFill>
            <a:prstDash val="solid"/>
            <a:tailEnd type="triangle"/>
          </a:ln>
        </p:spPr>
      </p:sp>
      <p:sp>
        <p:nvSpPr>
          <p:cNvPr id="16" name="Shape 14"/>
          <p:cNvSpPr/>
          <p:nvPr/>
        </p:nvSpPr>
        <p:spPr>
          <a:xfrm>
            <a:off x="804672" y="4789170"/>
            <a:ext cx="3438144" cy="770382"/>
          </a:xfrm>
          <a:prstGeom prst="rect">
            <a:avLst/>
          </a:prstGeom>
          <a:solidFill>
            <a:srgbClr val="E8ECE6"/>
          </a:solidFill>
          <a:ln w="12700">
            <a:solidFill>
              <a:srgbClr val="E8ECE6">
                <a:alpha val="0"/>
              </a:srgbClr>
            </a:solidFill>
            <a:prstDash val="solid"/>
          </a:ln>
        </p:spPr>
      </p:sp>
      <p:sp>
        <p:nvSpPr>
          <p:cNvPr id="17" name="Text 15"/>
          <p:cNvSpPr/>
          <p:nvPr/>
        </p:nvSpPr>
        <p:spPr>
          <a:xfrm>
            <a:off x="969264" y="4908042"/>
            <a:ext cx="3108960" cy="587502"/>
          </a:xfrm>
          <a:prstGeom prst="rect">
            <a:avLst/>
          </a:prstGeom>
          <a:noFill/>
          <a:ln/>
        </p:spPr>
        <p:txBody>
          <a:bodyPr wrap="none" lIns="0" tIns="0" rIns="0" bIns="0" rtlCol="0" anchor="t"/>
          <a:lstStyle/>
          <a:p>
            <a:pPr algn="l" indent="0" marL="0">
              <a:lnSpc>
                <a:spcPct val="105000"/>
              </a:lnSpc>
              <a:buNone/>
            </a:pPr>
            <a:r>
              <a:rPr lang="zh-CN" altLang="en-US" sz="2400" b="1" dirty="0">
                <a:solidFill>
                  <a:srgbClr val="343E3B"/>
                </a:solidFill>
                <a:latin typeface="Microsoft YaHei" pitchFamily="34" charset="0"/>
                <a:ea typeface="Microsoft YaHei" pitchFamily="34" charset="-122"/>
                <a:cs typeface="Microsoft YaHei" pitchFamily="34" charset="-120"/>
              </a:rPr>
              <a:t>法定权利救济</a:t>
            </a:r>
            <a:endParaRPr lang="zh-CN" sz="2400" dirty="0"/>
          </a:p>
        </p:txBody>
      </p:sp>
      <p:sp>
        <p:nvSpPr>
          <p:cNvPr id="18" name="Text 16"/>
          <p:cNvSpPr/>
          <p:nvPr/>
        </p:nvSpPr>
        <p:spPr>
          <a:xfrm>
            <a:off x="4617720" y="4880610"/>
            <a:ext cx="6675120" cy="651510"/>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请求通过相应制度获得依法处理</a:t>
            </a:r>
            <a:endParaRPr lang="zh-CN" sz="2400" dirty="0"/>
          </a:p>
        </p:txBody>
      </p:sp>
      <p:sp>
        <p:nvSpPr>
          <p:cNvPr id="19" name="Text 17"/>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本例为赔偿救济；连线表示制度联系，不表示自动兑现。</a:t>
            </a:r>
            <a:endParaRPr lang="zh-CN" sz="2400" dirty="0"/>
          </a:p>
        </p:txBody>
      </p:sp>
      <p:sp>
        <p:nvSpPr>
          <p:cNvPr id="20" name="Text 18"/>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宪法第5、41条；国办发〔1994〕106号（历史实施背景）</a:t>
            </a:r>
            <a:endParaRPr lang="zh-CN" sz="1200" dirty="0"/>
          </a:p>
        </p:txBody>
      </p:sp>
      <p:sp>
        <p:nvSpPr>
          <p:cNvPr id="21" name="Text 19"/>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30 / 38</a:t>
            </a:r>
            <a:endParaRPr lang="zh-CN"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下节｜二 根本要求怎样进入具体制度</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任务7：把国家的制度与个人的权利接起来</a:t>
            </a:r>
            <a:endParaRPr lang="zh-CN" sz="3600" dirty="0"/>
          </a:p>
        </p:txBody>
      </p:sp>
      <p:sp>
        <p:nvSpPr>
          <p:cNvPr id="4" name="Text 2"/>
          <p:cNvSpPr/>
          <p:nvPr/>
        </p:nvSpPr>
        <p:spPr>
          <a:xfrm>
            <a:off x="758952" y="1965960"/>
            <a:ext cx="2194560" cy="1650492"/>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用两三句话</a:t>
            </a:r>
            <a:endParaRPr lang="zh-CN" sz="2400" dirty="0"/>
          </a:p>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回答</a:t>
            </a:r>
            <a:endParaRPr lang="zh-CN" sz="2400" dirty="0"/>
          </a:p>
        </p:txBody>
      </p:sp>
      <p:sp>
        <p:nvSpPr>
          <p:cNvPr id="5" name="Text 3"/>
          <p:cNvSpPr/>
          <p:nvPr/>
        </p:nvSpPr>
        <p:spPr>
          <a:xfrm>
            <a:off x="3410712" y="1965960"/>
            <a:ext cx="8019288" cy="1650492"/>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宪法、普通法律、机关履职</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和个人权利之间是什么关系？</a:t>
            </a:r>
            <a:endParaRPr lang="zh-CN" sz="2400" dirty="0"/>
          </a:p>
        </p:txBody>
      </p:sp>
      <p:sp>
        <p:nvSpPr>
          <p:cNvPr id="6" name="Text 4"/>
          <p:cNvSpPr/>
          <p:nvPr/>
        </p:nvSpPr>
        <p:spPr>
          <a:xfrm>
            <a:off x="758952" y="3909060"/>
            <a:ext cx="2194560" cy="1650492"/>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给一个</a:t>
            </a:r>
            <a:endParaRPr lang="zh-CN" sz="2400" dirty="0"/>
          </a:p>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具体支撑</a:t>
            </a:r>
            <a:endParaRPr lang="zh-CN" sz="2400" dirty="0"/>
          </a:p>
        </p:txBody>
      </p:sp>
      <p:sp>
        <p:nvSpPr>
          <p:cNvPr id="7" name="Text 5"/>
          <p:cNvSpPr/>
          <p:nvPr/>
        </p:nvSpPr>
        <p:spPr>
          <a:xfrm>
            <a:off x="3410712" y="3909060"/>
            <a:ext cx="8019288" cy="1650492"/>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可以选本课的机关负责监督关系，</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或国家赔偿的一项安排。</a:t>
            </a:r>
            <a:endParaRPr lang="zh-CN" sz="2400" dirty="0"/>
          </a:p>
        </p:txBody>
      </p:sp>
      <p:sp>
        <p:nvSpPr>
          <p:cNvPr id="8" name="Text 6"/>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宪法总论：国家怎样组织，权力怎样受约束，权利怎样获保障。</a:t>
            </a:r>
            <a:endParaRPr lang="zh-CN" sz="2400" dirty="0"/>
          </a:p>
        </p:txBody>
      </p:sp>
      <p:sp>
        <p:nvSpPr>
          <p:cNvPr id="9" name="Text 7"/>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任务7及第一讲收束；下一讲：宪法的发展</a:t>
            </a:r>
            <a:endParaRPr lang="zh-CN" sz="1200" dirty="0"/>
          </a:p>
        </p:txBody>
      </p:sp>
      <p:sp>
        <p:nvSpPr>
          <p:cNvPr id="10" name="Text 8"/>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31 / 38</a:t>
            </a:r>
            <a:endParaRPr lang="zh-CN"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name="Slide 32">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节内备查｜上节按需调用</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延伸讨论一：宪法只有抽象原则吗？</a:t>
            </a:r>
            <a:endParaRPr lang="zh-CN" sz="3600" dirty="0"/>
          </a:p>
        </p:txBody>
      </p:sp>
      <p:sp>
        <p:nvSpPr>
          <p:cNvPr id="4" name="Text 2"/>
          <p:cNvSpPr/>
          <p:nvPr/>
        </p:nvSpPr>
        <p:spPr>
          <a:xfrm>
            <a:off x="795528" y="1920240"/>
            <a:ext cx="10533888" cy="45720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待辨析的说法｜教学设定</a:t>
            </a:r>
            <a:endParaRPr lang="zh-CN" sz="2400" dirty="0"/>
          </a:p>
        </p:txBody>
      </p:sp>
      <p:sp>
        <p:nvSpPr>
          <p:cNvPr id="5" name="Text 3"/>
          <p:cNvSpPr/>
          <p:nvPr/>
        </p:nvSpPr>
        <p:spPr>
          <a:xfrm>
            <a:off x="795528" y="2450592"/>
            <a:ext cx="10533888" cy="1165860"/>
          </a:xfrm>
          <a:prstGeom prst="rect">
            <a:avLst/>
          </a:prstGeom>
          <a:noFill/>
          <a:ln/>
        </p:spPr>
        <p:txBody>
          <a:bodyPr wrap="none" lIns="0" tIns="0" rIns="0" bIns="0" rtlCol="0" anchor="t"/>
          <a:lstStyle/>
          <a:p>
            <a:pPr algn="l" indent="0" marL="0">
              <a:lnSpc>
                <a:spcPct val="105000"/>
              </a:lnSpc>
              <a:buNone/>
            </a:pPr>
            <a:r>
              <a:rPr lang="zh-CN" altLang="en-US" sz="2600" dirty="0">
                <a:solidFill>
                  <a:srgbClr val="2B302F"/>
                </a:solidFill>
                <a:latin typeface="Microsoft YaHei" pitchFamily="34" charset="0"/>
                <a:ea typeface="Microsoft YaHei" pitchFamily="34" charset="-122"/>
                <a:cs typeface="Microsoft YaHei" pitchFamily="34" charset="-120"/>
              </a:rPr>
              <a:t>“宪法只有抽象原则，普通法律才有具体规则。”</a:t>
            </a:r>
            <a:endParaRPr lang="zh-CN" sz="2600" dirty="0"/>
          </a:p>
        </p:txBody>
      </p:sp>
      <p:sp>
        <p:nvSpPr>
          <p:cNvPr id="6" name="Text 4"/>
          <p:cNvSpPr/>
          <p:nvPr/>
        </p:nvSpPr>
        <p:spPr>
          <a:xfrm>
            <a:off x="795528" y="3854196"/>
            <a:ext cx="10533888" cy="45720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请用材料C回应</a:t>
            </a:r>
            <a:endParaRPr lang="zh-CN" sz="2400" dirty="0"/>
          </a:p>
        </p:txBody>
      </p:sp>
      <p:sp>
        <p:nvSpPr>
          <p:cNvPr id="7" name="Text 5"/>
          <p:cNvSpPr/>
          <p:nvPr/>
        </p:nvSpPr>
        <p:spPr>
          <a:xfrm>
            <a:off x="795528" y="4384548"/>
            <a:ext cx="10533888" cy="1165860"/>
          </a:xfrm>
          <a:prstGeom prst="rect">
            <a:avLst/>
          </a:prstGeom>
          <a:noFill/>
          <a:ln/>
        </p:spPr>
        <p:txBody>
          <a:bodyPr wrap="none" lIns="0" tIns="0" rIns="0" bIns="0" rtlCol="0" anchor="t"/>
          <a:lstStyle/>
          <a:p>
            <a:pPr algn="l" indent="0" marL="0">
              <a:lnSpc>
                <a:spcPct val="105000"/>
              </a:lnSpc>
              <a:buNone/>
            </a:pPr>
            <a:r>
              <a:rPr lang="zh-CN" altLang="en-US" sz="2600" dirty="0">
                <a:solidFill>
                  <a:srgbClr val="2B302F"/>
                </a:solidFill>
                <a:latin typeface="Microsoft YaHei" pitchFamily="34" charset="0"/>
                <a:ea typeface="Microsoft YaHei" pitchFamily="34" charset="-122"/>
                <a:cs typeface="Microsoft YaHei" pitchFamily="34" charset="-120"/>
              </a:rPr>
              <a:t>第64条能否提供反例？据此又能否说宪法与普通法律地位相同？</a:t>
            </a:r>
            <a:endParaRPr lang="zh-CN" sz="2600" dirty="0"/>
          </a:p>
        </p:txBody>
      </p:sp>
      <p:sp>
        <p:nvSpPr>
          <p:cNvPr id="8" name="Text 6"/>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用反例修正过宽概括，不走向另一个过宽概括。</a:t>
            </a:r>
            <a:endParaRPr lang="zh-CN" sz="2400" dirty="0"/>
          </a:p>
        </p:txBody>
      </p:sp>
      <p:sp>
        <p:nvSpPr>
          <p:cNvPr id="9" name="Text 7"/>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扩展E1｜宪法第64条</a:t>
            </a:r>
            <a:endParaRPr lang="zh-CN" sz="1200" dirty="0"/>
          </a:p>
        </p:txBody>
      </p:sp>
      <p:sp>
        <p:nvSpPr>
          <p:cNvPr id="10" name="Text 8"/>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32 / 38</a:t>
            </a:r>
            <a:endParaRPr lang="zh-CN"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name="Slide 33">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节内备查｜上节按需调用</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延伸讨论一讲评：具体程度不决定效力地位</a:t>
            </a:r>
            <a:endParaRPr lang="zh-CN" sz="3600" dirty="0"/>
          </a:p>
        </p:txBody>
      </p:sp>
      <p:sp>
        <p:nvSpPr>
          <p:cNvPr id="4" name="Shape 2"/>
          <p:cNvSpPr/>
          <p:nvPr/>
        </p:nvSpPr>
        <p:spPr>
          <a:xfrm>
            <a:off x="713232" y="1920240"/>
            <a:ext cx="73152" cy="1956816"/>
          </a:xfrm>
          <a:prstGeom prst="rect">
            <a:avLst/>
          </a:prstGeom>
          <a:solidFill>
            <a:srgbClr val="9B3D32"/>
          </a:solidFill>
          <a:ln w="12700">
            <a:solidFill>
              <a:srgbClr val="9B3D32">
                <a:alpha val="0"/>
              </a:srgbClr>
            </a:solidFill>
            <a:prstDash val="solid"/>
          </a:ln>
        </p:spPr>
      </p:sp>
      <p:sp>
        <p:nvSpPr>
          <p:cNvPr id="5" name="Text 3"/>
          <p:cNvSpPr/>
          <p:nvPr/>
        </p:nvSpPr>
        <p:spPr>
          <a:xfrm>
            <a:off x="923544" y="1965960"/>
            <a:ext cx="2194560" cy="1911096"/>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第64条</a:t>
            </a:r>
            <a:endParaRPr lang="zh-CN" sz="2400" dirty="0"/>
          </a:p>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提供的反例</a:t>
            </a:r>
            <a:endParaRPr lang="zh-CN" sz="2400" dirty="0"/>
          </a:p>
        </p:txBody>
      </p:sp>
      <p:sp>
        <p:nvSpPr>
          <p:cNvPr id="6" name="Text 4"/>
          <p:cNvSpPr/>
          <p:nvPr/>
        </p:nvSpPr>
        <p:spPr>
          <a:xfrm>
            <a:off x="3410712" y="1965960"/>
            <a:ext cx="8019288" cy="1911096"/>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宪法也规定明确的提议主体和通过门槛。</a:t>
            </a:r>
            <a:endParaRPr lang="zh-CN" sz="2400" dirty="0"/>
          </a:p>
        </p:txBody>
      </p:sp>
      <p:sp>
        <p:nvSpPr>
          <p:cNvPr id="7" name="Shape 5"/>
          <p:cNvSpPr/>
          <p:nvPr/>
        </p:nvSpPr>
        <p:spPr>
          <a:xfrm>
            <a:off x="713232" y="4123944"/>
            <a:ext cx="73152" cy="1956816"/>
          </a:xfrm>
          <a:prstGeom prst="rect">
            <a:avLst/>
          </a:prstGeom>
          <a:solidFill>
            <a:srgbClr val="9B3D32"/>
          </a:solidFill>
          <a:ln w="12700">
            <a:solidFill>
              <a:srgbClr val="9B3D32">
                <a:alpha val="0"/>
              </a:srgbClr>
            </a:solidFill>
            <a:prstDash val="solid"/>
          </a:ln>
        </p:spPr>
      </p:sp>
      <p:sp>
        <p:nvSpPr>
          <p:cNvPr id="8" name="Text 6"/>
          <p:cNvSpPr/>
          <p:nvPr/>
        </p:nvSpPr>
        <p:spPr>
          <a:xfrm>
            <a:off x="923544" y="4169664"/>
            <a:ext cx="2194560" cy="1911096"/>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应当保留的</a:t>
            </a:r>
            <a:endParaRPr lang="zh-CN" sz="2400" dirty="0"/>
          </a:p>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区别</a:t>
            </a:r>
            <a:endParaRPr lang="zh-CN" sz="2400" dirty="0"/>
          </a:p>
        </p:txBody>
      </p:sp>
      <p:sp>
        <p:nvSpPr>
          <p:cNvPr id="9" name="Text 7"/>
          <p:cNvSpPr/>
          <p:nvPr/>
        </p:nvSpPr>
        <p:spPr>
          <a:xfrm>
            <a:off x="3410712" y="4169664"/>
            <a:ext cx="8019288" cy="1911096"/>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抽象或具体，不等于效力高或</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低；普通法律也可能规定原则。</a:t>
            </a:r>
            <a:endParaRPr lang="zh-CN" sz="2400" dirty="0"/>
          </a:p>
        </p:txBody>
      </p:sp>
      <p:sp>
        <p:nvSpPr>
          <p:cNvPr id="10" name="Text 8"/>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扩展E1参考说明｜宪法序言、第5、64条</a:t>
            </a:r>
            <a:endParaRPr lang="zh-CN" sz="1200" dirty="0"/>
          </a:p>
        </p:txBody>
      </p:sp>
      <p:sp>
        <p:nvSpPr>
          <p:cNvPr id="11" name="Text 9"/>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33 / 38</a:t>
            </a:r>
            <a:endParaRPr lang="zh-CN"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name="Slide 34">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节内备查｜下节按需调用</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延伸讨论二：有条文，为什么仍要追问实施？</a:t>
            </a:r>
            <a:endParaRPr lang="zh-CN" sz="3600" dirty="0"/>
          </a:p>
        </p:txBody>
      </p:sp>
      <p:sp>
        <p:nvSpPr>
          <p:cNvPr id="4" name="Text 2"/>
          <p:cNvSpPr/>
          <p:nvPr/>
        </p:nvSpPr>
        <p:spPr>
          <a:xfrm>
            <a:off x="795528" y="1920240"/>
            <a:ext cx="10533888" cy="45720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教学假设</a:t>
            </a:r>
            <a:endParaRPr lang="zh-CN" sz="2400" dirty="0"/>
          </a:p>
        </p:txBody>
      </p:sp>
      <p:sp>
        <p:nvSpPr>
          <p:cNvPr id="5" name="Text 3"/>
          <p:cNvSpPr/>
          <p:nvPr/>
        </p:nvSpPr>
        <p:spPr>
          <a:xfrm>
            <a:off x="795528" y="2450592"/>
            <a:ext cx="10533888" cy="1165860"/>
          </a:xfrm>
          <a:prstGeom prst="rect">
            <a:avLst/>
          </a:prstGeom>
          <a:noFill/>
          <a:ln/>
        </p:spPr>
        <p:txBody>
          <a:bodyPr wrap="none" lIns="0" tIns="0" rIns="0" bIns="0" rtlCol="0" anchor="t"/>
          <a:lstStyle/>
          <a:p>
            <a:pPr algn="l" indent="0" marL="0">
              <a:lnSpc>
                <a:spcPct val="105000"/>
              </a:lnSpc>
              <a:buNone/>
            </a:pPr>
            <a:r>
              <a:rPr lang="zh-CN" altLang="en-US" sz="2600" dirty="0">
                <a:solidFill>
                  <a:srgbClr val="2B302F"/>
                </a:solidFill>
                <a:latin typeface="Microsoft YaHei" pitchFamily="34" charset="0"/>
                <a:ea typeface="Microsoft YaHei" pitchFamily="34" charset="-122"/>
                <a:cs typeface="Microsoft YaHei" pitchFamily="34" charset="-120"/>
              </a:rPr>
              <a:t>有关权利及办理规则已经明确，但一项请求迟迟未获依法处理。</a:t>
            </a:r>
            <a:endParaRPr lang="zh-CN" sz="2600" dirty="0"/>
          </a:p>
        </p:txBody>
      </p:sp>
      <p:sp>
        <p:nvSpPr>
          <p:cNvPr id="6" name="Text 4"/>
          <p:cNvSpPr/>
          <p:nvPr/>
        </p:nvSpPr>
        <p:spPr>
          <a:xfrm>
            <a:off x="795528" y="3854196"/>
            <a:ext cx="10533888" cy="45720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请说明</a:t>
            </a:r>
            <a:endParaRPr lang="zh-CN" sz="2400" dirty="0"/>
          </a:p>
        </p:txBody>
      </p:sp>
      <p:sp>
        <p:nvSpPr>
          <p:cNvPr id="7" name="Text 5"/>
          <p:cNvSpPr/>
          <p:nvPr/>
        </p:nvSpPr>
        <p:spPr>
          <a:xfrm>
            <a:off x="795528" y="4384548"/>
            <a:ext cx="10533888" cy="1165860"/>
          </a:xfrm>
          <a:prstGeom prst="rect">
            <a:avLst/>
          </a:prstGeom>
          <a:noFill/>
          <a:ln/>
        </p:spPr>
        <p:txBody>
          <a:bodyPr wrap="none" lIns="0" tIns="0" rIns="0" bIns="0" rtlCol="0" anchor="t"/>
          <a:lstStyle/>
          <a:p>
            <a:pPr algn="l" indent="0" marL="0">
              <a:lnSpc>
                <a:spcPct val="105000"/>
              </a:lnSpc>
              <a:buNone/>
            </a:pPr>
            <a:r>
              <a:rPr lang="zh-CN" altLang="en-US" sz="2600" dirty="0">
                <a:solidFill>
                  <a:srgbClr val="2B302F"/>
                </a:solidFill>
                <a:latin typeface="Microsoft YaHei" pitchFamily="34" charset="0"/>
                <a:ea typeface="Microsoft YaHei" pitchFamily="34" charset="-122"/>
                <a:cs typeface="Microsoft YaHei" pitchFamily="34" charset="-120"/>
              </a:rPr>
              <a:t>反复宣读同一权利条款是否已经解决问题？指出还要查明的一项办</a:t>
            </a:r>
            <a:endParaRPr lang="zh-CN" sz="2600" dirty="0"/>
          </a:p>
          <a:p>
            <a:pPr algn="l" indent="0" marL="0">
              <a:lnSpc>
                <a:spcPct val="105000"/>
              </a:lnSpc>
              <a:buNone/>
            </a:pPr>
            <a:r>
              <a:rPr lang="zh-CN" altLang="en-US" sz="2600" dirty="0">
                <a:solidFill>
                  <a:srgbClr val="2B302F"/>
                </a:solidFill>
                <a:latin typeface="Microsoft YaHei" pitchFamily="34" charset="0"/>
                <a:ea typeface="Microsoft YaHei" pitchFamily="34" charset="-122"/>
                <a:cs typeface="Microsoft YaHei" pitchFamily="34" charset="-120"/>
              </a:rPr>
              <a:t>理环节，并解释这为何不等于宪法无效。</a:t>
            </a:r>
            <a:endParaRPr lang="zh-CN" sz="2600" dirty="0"/>
          </a:p>
        </p:txBody>
      </p:sp>
      <p:sp>
        <p:nvSpPr>
          <p:cNvPr id="8" name="Text 6"/>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区分规范要求与履行过程，指出下一步要查什么。</a:t>
            </a:r>
            <a:endParaRPr lang="zh-CN" sz="2400" dirty="0"/>
          </a:p>
        </p:txBody>
      </p:sp>
      <p:sp>
        <p:nvSpPr>
          <p:cNvPr id="9" name="Text 7"/>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扩展E2｜教学假设</a:t>
            </a:r>
            <a:endParaRPr lang="zh-CN" sz="1200" dirty="0"/>
          </a:p>
        </p:txBody>
      </p:sp>
      <p:sp>
        <p:nvSpPr>
          <p:cNvPr id="10" name="Text 8"/>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34 / 38</a:t>
            </a:r>
            <a:endParaRPr lang="zh-CN"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name="Slide 35">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节内备查｜下节按需调用</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延伸讨论二讲评：规范提供要求，履职需要落实</a:t>
            </a:r>
            <a:endParaRPr lang="zh-CN" sz="3600" dirty="0"/>
          </a:p>
        </p:txBody>
      </p:sp>
      <p:sp>
        <p:nvSpPr>
          <p:cNvPr id="4" name="Shape 2"/>
          <p:cNvSpPr/>
          <p:nvPr/>
        </p:nvSpPr>
        <p:spPr>
          <a:xfrm>
            <a:off x="713232" y="1920240"/>
            <a:ext cx="73152" cy="1956816"/>
          </a:xfrm>
          <a:prstGeom prst="rect">
            <a:avLst/>
          </a:prstGeom>
          <a:solidFill>
            <a:srgbClr val="9B3D32"/>
          </a:solidFill>
          <a:ln w="12700">
            <a:solidFill>
              <a:srgbClr val="9B3D32">
                <a:alpha val="0"/>
              </a:srgbClr>
            </a:solidFill>
            <a:prstDash val="solid"/>
          </a:ln>
        </p:spPr>
      </p:sp>
      <p:sp>
        <p:nvSpPr>
          <p:cNvPr id="5" name="Text 3"/>
          <p:cNvSpPr/>
          <p:nvPr/>
        </p:nvSpPr>
        <p:spPr>
          <a:xfrm>
            <a:off x="923544" y="1965960"/>
            <a:ext cx="2194560" cy="1911096"/>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可以继续查明</a:t>
            </a:r>
            <a:endParaRPr lang="zh-CN" sz="2400" dirty="0"/>
          </a:p>
        </p:txBody>
      </p:sp>
      <p:sp>
        <p:nvSpPr>
          <p:cNvPr id="6" name="Text 4"/>
          <p:cNvSpPr/>
          <p:nvPr/>
        </p:nvSpPr>
        <p:spPr>
          <a:xfrm>
            <a:off x="3410712" y="1965960"/>
            <a:ext cx="8019288" cy="1911096"/>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请求是否依法受理、事实是否核实、义务是否履行，以</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及有关纠正途径。</a:t>
            </a:r>
            <a:endParaRPr lang="zh-CN" sz="2400" dirty="0"/>
          </a:p>
        </p:txBody>
      </p:sp>
      <p:sp>
        <p:nvSpPr>
          <p:cNvPr id="7" name="Shape 5"/>
          <p:cNvSpPr/>
          <p:nvPr/>
        </p:nvSpPr>
        <p:spPr>
          <a:xfrm>
            <a:off x="713232" y="4123944"/>
            <a:ext cx="73152" cy="1956816"/>
          </a:xfrm>
          <a:prstGeom prst="rect">
            <a:avLst/>
          </a:prstGeom>
          <a:solidFill>
            <a:srgbClr val="9B3D32"/>
          </a:solidFill>
          <a:ln w="12700">
            <a:solidFill>
              <a:srgbClr val="9B3D32">
                <a:alpha val="0"/>
              </a:srgbClr>
            </a:solidFill>
            <a:prstDash val="solid"/>
          </a:ln>
        </p:spPr>
      </p:sp>
      <p:sp>
        <p:nvSpPr>
          <p:cNvPr id="8" name="Text 6"/>
          <p:cNvSpPr/>
          <p:nvPr/>
        </p:nvSpPr>
        <p:spPr>
          <a:xfrm>
            <a:off x="923544" y="4169664"/>
            <a:ext cx="2194560" cy="1911096"/>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分别判断</a:t>
            </a:r>
            <a:endParaRPr lang="zh-CN" sz="2400" dirty="0"/>
          </a:p>
        </p:txBody>
      </p:sp>
      <p:sp>
        <p:nvSpPr>
          <p:cNvPr id="9" name="Text 7"/>
          <p:cNvSpPr/>
          <p:nvPr/>
        </p:nvSpPr>
        <p:spPr>
          <a:xfrm>
            <a:off x="3410712" y="4169664"/>
            <a:ext cx="8019288" cy="1911096"/>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未依法落实可能揭示实施问题；</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不由此推成规范从未有约束力。</a:t>
            </a:r>
            <a:endParaRPr lang="zh-CN" sz="2400" dirty="0"/>
          </a:p>
        </p:txBody>
      </p:sp>
      <p:sp>
        <p:nvSpPr>
          <p:cNvPr id="10" name="Text 8"/>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扩展E2参考说明；国办发〔1994〕106号为历史背景</a:t>
            </a:r>
            <a:endParaRPr lang="zh-CN" sz="1200" dirty="0"/>
          </a:p>
        </p:txBody>
      </p:sp>
      <p:sp>
        <p:nvSpPr>
          <p:cNvPr id="11" name="Text 9"/>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35 / 38</a:t>
            </a:r>
            <a:endParaRPr lang="zh-CN"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name="Slide 36">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节内备查｜上节</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节内追问：最高国家权力机关也受约束吗？</a:t>
            </a:r>
            <a:endParaRPr lang="zh-CN" sz="3600" dirty="0"/>
          </a:p>
        </p:txBody>
      </p:sp>
      <p:sp>
        <p:nvSpPr>
          <p:cNvPr id="4" name="Text 2"/>
          <p:cNvSpPr/>
          <p:nvPr/>
        </p:nvSpPr>
        <p:spPr>
          <a:xfrm>
            <a:off x="795528" y="1920240"/>
            <a:ext cx="10533888" cy="45720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现行宪法第57条第一句</a:t>
            </a:r>
            <a:endParaRPr lang="zh-CN" sz="2400" dirty="0"/>
          </a:p>
        </p:txBody>
      </p:sp>
      <p:sp>
        <p:nvSpPr>
          <p:cNvPr id="5" name="Text 3"/>
          <p:cNvSpPr/>
          <p:nvPr/>
        </p:nvSpPr>
        <p:spPr>
          <a:xfrm>
            <a:off x="795528" y="2450592"/>
            <a:ext cx="10533888" cy="1165860"/>
          </a:xfrm>
          <a:prstGeom prst="rect">
            <a:avLst/>
          </a:prstGeom>
          <a:noFill/>
          <a:ln/>
        </p:spPr>
        <p:txBody>
          <a:bodyPr wrap="none" lIns="0" tIns="0" rIns="0" bIns="0" rtlCol="0" anchor="t"/>
          <a:lstStyle/>
          <a:p>
            <a:pPr algn="l" indent="0" marL="0">
              <a:lnSpc>
                <a:spcPct val="105000"/>
              </a:lnSpc>
              <a:buNone/>
            </a:pPr>
            <a:r>
              <a:rPr lang="zh-CN" altLang="en-US" sz="2600" dirty="0">
                <a:solidFill>
                  <a:srgbClr val="2B302F"/>
                </a:solidFill>
                <a:latin typeface="Microsoft YaHei" pitchFamily="34" charset="0"/>
                <a:ea typeface="Microsoft YaHei" pitchFamily="34" charset="-122"/>
                <a:cs typeface="Microsoft YaHei" pitchFamily="34" charset="-120"/>
              </a:rPr>
              <a:t>中华人民共和国全国人民代表大会是最高国家权力机关。</a:t>
            </a:r>
            <a:endParaRPr lang="zh-CN" sz="2600" dirty="0"/>
          </a:p>
        </p:txBody>
      </p:sp>
      <p:sp>
        <p:nvSpPr>
          <p:cNvPr id="6" name="Text 4"/>
          <p:cNvSpPr/>
          <p:nvPr/>
        </p:nvSpPr>
        <p:spPr>
          <a:xfrm>
            <a:off x="795528" y="3854196"/>
            <a:ext cx="10533888" cy="45720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与第5条合读</a:t>
            </a:r>
            <a:endParaRPr lang="zh-CN" sz="2400" dirty="0"/>
          </a:p>
        </p:txBody>
      </p:sp>
      <p:sp>
        <p:nvSpPr>
          <p:cNvPr id="7" name="Text 5"/>
          <p:cNvSpPr/>
          <p:nvPr/>
        </p:nvSpPr>
        <p:spPr>
          <a:xfrm>
            <a:off x="795528" y="4384548"/>
            <a:ext cx="10533888" cy="1165860"/>
          </a:xfrm>
          <a:prstGeom prst="rect">
            <a:avLst/>
          </a:prstGeom>
          <a:noFill/>
          <a:ln/>
        </p:spPr>
        <p:txBody>
          <a:bodyPr wrap="none" lIns="0" tIns="0" rIns="0" bIns="0" rtlCol="0" anchor="t"/>
          <a:lstStyle/>
          <a:p>
            <a:pPr algn="l" indent="0" marL="0">
              <a:lnSpc>
                <a:spcPct val="105000"/>
              </a:lnSpc>
              <a:buNone/>
            </a:pPr>
            <a:r>
              <a:rPr lang="zh-CN" altLang="en-US" sz="2600" dirty="0">
                <a:solidFill>
                  <a:srgbClr val="2B302F"/>
                </a:solidFill>
                <a:latin typeface="Microsoft YaHei" pitchFamily="34" charset="0"/>
                <a:ea typeface="Microsoft YaHei" pitchFamily="34" charset="-122"/>
                <a:cs typeface="Microsoft YaHei" pitchFamily="34" charset="-120"/>
              </a:rPr>
              <a:t>最高国家权力机关，为什么仍受宪法约束？“最高”在比较什么？</a:t>
            </a:r>
            <a:endParaRPr lang="zh-CN" sz="2600" dirty="0"/>
          </a:p>
        </p:txBody>
      </p:sp>
      <p:sp>
        <p:nvSpPr>
          <p:cNvPr id="8" name="Text 6"/>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按本节进度调用，仍在45分钟内收束。</a:t>
            </a:r>
            <a:endParaRPr lang="zh-CN" sz="2400" dirty="0"/>
          </a:p>
        </p:txBody>
      </p:sp>
      <p:sp>
        <p:nvSpPr>
          <p:cNvPr id="9" name="Text 7"/>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现行宪法第5、57、64条；机关地位与规范约束分别说明</a:t>
            </a:r>
            <a:endParaRPr lang="zh-CN" sz="1200" dirty="0"/>
          </a:p>
        </p:txBody>
      </p:sp>
      <p:sp>
        <p:nvSpPr>
          <p:cNvPr id="10" name="Text 8"/>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36 / 38</a:t>
            </a:r>
            <a:endParaRPr lang="zh-CN"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name="Slide 37">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节内备查｜下节</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节内追问：履行赔偿以后，哪些问题仍然存在？</a:t>
            </a:r>
            <a:endParaRPr lang="zh-CN" sz="3600" dirty="0"/>
          </a:p>
        </p:txBody>
      </p:sp>
      <p:sp>
        <p:nvSpPr>
          <p:cNvPr id="4" name="Text 2"/>
          <p:cNvSpPr/>
          <p:nvPr/>
        </p:nvSpPr>
        <p:spPr>
          <a:xfrm>
            <a:off x="795528" y="1920240"/>
            <a:ext cx="10533888" cy="45720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教学假设</a:t>
            </a:r>
            <a:endParaRPr lang="zh-CN" sz="2400" dirty="0"/>
          </a:p>
        </p:txBody>
      </p:sp>
      <p:sp>
        <p:nvSpPr>
          <p:cNvPr id="5" name="Text 3"/>
          <p:cNvSpPr/>
          <p:nvPr/>
        </p:nvSpPr>
        <p:spPr>
          <a:xfrm>
            <a:off x="795528" y="2450592"/>
            <a:ext cx="10533888" cy="1165860"/>
          </a:xfrm>
          <a:prstGeom prst="rect">
            <a:avLst/>
          </a:prstGeom>
          <a:noFill/>
          <a:ln/>
        </p:spPr>
        <p:txBody>
          <a:bodyPr wrap="none" lIns="0" tIns="0" rIns="0" bIns="0" rtlCol="0" anchor="t"/>
          <a:lstStyle/>
          <a:p>
            <a:pPr algn="l" indent="0" marL="0">
              <a:lnSpc>
                <a:spcPct val="105000"/>
              </a:lnSpc>
              <a:buNone/>
            </a:pPr>
            <a:r>
              <a:rPr lang="zh-CN" altLang="en-US" sz="2600" dirty="0">
                <a:solidFill>
                  <a:srgbClr val="2B302F"/>
                </a:solidFill>
                <a:latin typeface="Microsoft YaHei" pitchFamily="34" charset="0"/>
                <a:ea typeface="Microsoft YaHei" pitchFamily="34" charset="-122"/>
                <a:cs typeface="Microsoft YaHei" pitchFamily="34" charset="-120"/>
              </a:rPr>
              <a:t>本课违法行政拘留事实成立，法定赔偿义务已经履行。</a:t>
            </a:r>
            <a:endParaRPr lang="zh-CN" sz="2600" dirty="0"/>
          </a:p>
        </p:txBody>
      </p:sp>
      <p:sp>
        <p:nvSpPr>
          <p:cNvPr id="6" name="Text 4"/>
          <p:cNvSpPr/>
          <p:nvPr/>
        </p:nvSpPr>
        <p:spPr>
          <a:xfrm>
            <a:off x="795528" y="3854196"/>
            <a:ext cx="10533888" cy="457200"/>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分别判断</a:t>
            </a:r>
            <a:endParaRPr lang="zh-CN" sz="2400" dirty="0"/>
          </a:p>
        </p:txBody>
      </p:sp>
      <p:sp>
        <p:nvSpPr>
          <p:cNvPr id="7" name="Text 5"/>
          <p:cNvSpPr/>
          <p:nvPr/>
        </p:nvSpPr>
        <p:spPr>
          <a:xfrm>
            <a:off x="795528" y="4384548"/>
            <a:ext cx="10533888" cy="1165860"/>
          </a:xfrm>
          <a:prstGeom prst="rect">
            <a:avLst/>
          </a:prstGeom>
          <a:noFill/>
          <a:ln/>
        </p:spPr>
        <p:txBody>
          <a:bodyPr wrap="none" lIns="0" tIns="0" rIns="0" bIns="0" rtlCol="0" anchor="t"/>
          <a:lstStyle/>
          <a:p>
            <a:pPr algn="l" indent="0" marL="0">
              <a:lnSpc>
                <a:spcPct val="105000"/>
              </a:lnSpc>
              <a:buNone/>
            </a:pPr>
            <a:r>
              <a:rPr lang="zh-CN" altLang="en-US" sz="2600" dirty="0">
                <a:solidFill>
                  <a:srgbClr val="2B302F"/>
                </a:solidFill>
                <a:latin typeface="Microsoft YaHei" pitchFamily="34" charset="0"/>
                <a:ea typeface="Microsoft YaHei" pitchFamily="34" charset="-122"/>
                <a:cs typeface="Microsoft YaHei" pitchFamily="34" charset="-120"/>
              </a:rPr>
              <a:t>能否因此说过去的拘留合法？能否</a:t>
            </a:r>
            <a:endParaRPr lang="zh-CN" sz="2600" dirty="0"/>
          </a:p>
          <a:p>
            <a:pPr algn="l" indent="0" marL="0">
              <a:lnSpc>
                <a:spcPct val="105000"/>
              </a:lnSpc>
              <a:buNone/>
            </a:pPr>
            <a:r>
              <a:rPr lang="zh-CN" altLang="en-US" sz="2600" dirty="0">
                <a:solidFill>
                  <a:srgbClr val="2B302F"/>
                </a:solidFill>
                <a:latin typeface="Microsoft YaHei" pitchFamily="34" charset="0"/>
                <a:ea typeface="Microsoft YaHei" pitchFamily="34" charset="-122"/>
                <a:cs typeface="Microsoft YaHei" pitchFamily="34" charset="-120"/>
              </a:rPr>
              <a:t>说权利保障已经不再有任何问题？</a:t>
            </a:r>
            <a:endParaRPr lang="zh-CN" sz="2600" dirty="0"/>
          </a:p>
        </p:txBody>
      </p:sp>
      <p:sp>
        <p:nvSpPr>
          <p:cNvPr id="8" name="Text 6"/>
          <p:cNvSpPr/>
          <p:nvPr/>
        </p:nvSpPr>
        <p:spPr>
          <a:xfrm>
            <a:off x="722376" y="5815584"/>
            <a:ext cx="10753344" cy="42976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按本节进度调用，仍在45分钟内收束。</a:t>
            </a:r>
            <a:endParaRPr lang="zh-CN" sz="2400" dirty="0"/>
          </a:p>
        </p:txBody>
      </p:sp>
      <p:sp>
        <p:nvSpPr>
          <p:cNvPr id="9" name="Text 7"/>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宪法第5、33、41条；国家赔偿法第1、7、16条；教学假设</a:t>
            </a:r>
            <a:endParaRPr lang="zh-CN" sz="1200" dirty="0"/>
          </a:p>
        </p:txBody>
      </p:sp>
      <p:sp>
        <p:nvSpPr>
          <p:cNvPr id="10" name="Text 8"/>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37 / 38</a:t>
            </a:r>
            <a:endParaRPr lang="zh-CN"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4ED"/>
        </a:solidFill>
      </p:bgPr>
    </p:bg>
    <p:spTree>
      <p:nvGrpSpPr>
        <p:cNvPr id="1" name=""/>
        <p:cNvGrpSpPr/>
        <p:nvPr/>
      </p:nvGrpSpPr>
      <p:grpSpPr>
        <a:xfrm>
          <a:off x="0" y="0"/>
          <a:ext cx="0" cy="0"/>
          <a:chOff x="0" y="0"/>
          <a:chExt cx="0" cy="0"/>
        </a:xfrm>
      </p:grpSpPr>
      <p:sp>
        <p:nvSpPr>
          <p:cNvPr id="2" name="Text 0"/>
          <p:cNvSpPr/>
          <p:nvPr/>
        </p:nvSpPr>
        <p:spPr>
          <a:xfrm>
            <a:off x="713232" y="320040"/>
            <a:ext cx="10789920" cy="329184"/>
          </a:xfrm>
          <a:prstGeom prst="rect">
            <a:avLst/>
          </a:prstGeom>
          <a:noFill/>
          <a:ln/>
        </p:spPr>
        <p:txBody>
          <a:bodyPr wrap="none" lIns="0" tIns="0" rIns="0" bIns="0" rtlCol="0" anchor="t"/>
          <a:lstStyle/>
          <a:p>
            <a:pPr algn="l" indent="0" marL="0">
              <a:lnSpc>
                <a:spcPct val="105000"/>
              </a:lnSpc>
              <a:buNone/>
            </a:pPr>
            <a:r>
              <a:rPr lang="zh-CN" altLang="en-US" sz="1700" b="1" dirty="0">
                <a:solidFill>
                  <a:srgbClr val="9B3D32"/>
                </a:solidFill>
                <a:latin typeface="Microsoft YaHei" pitchFamily="34" charset="0"/>
                <a:ea typeface="Microsoft YaHei" pitchFamily="34" charset="-122"/>
                <a:cs typeface="Microsoft YaHei" pitchFamily="34" charset="-120"/>
              </a:rPr>
              <a:t>课后查读</a:t>
            </a:r>
            <a:endParaRPr lang="zh-CN" sz="1700" dirty="0"/>
          </a:p>
        </p:txBody>
      </p:sp>
      <p:sp>
        <p:nvSpPr>
          <p:cNvPr id="3" name="Text 1"/>
          <p:cNvSpPr/>
          <p:nvPr/>
        </p:nvSpPr>
        <p:spPr>
          <a:xfrm>
            <a:off x="694944" y="859536"/>
            <a:ext cx="10808208" cy="987552"/>
          </a:xfrm>
          <a:prstGeom prst="rect">
            <a:avLst/>
          </a:prstGeom>
          <a:noFill/>
          <a:ln/>
        </p:spPr>
        <p:txBody>
          <a:bodyPr wrap="none" lIns="0" tIns="0" rIns="0" bIns="0" rtlCol="0" anchor="t"/>
          <a:lstStyle/>
          <a:p>
            <a:pPr algn="l" indent="0" marL="0">
              <a:lnSpc>
                <a:spcPct val="105000"/>
              </a:lnSpc>
              <a:buNone/>
            </a:pPr>
            <a:r>
              <a:rPr lang="zh-CN" altLang="en-US" sz="3600" b="1" dirty="0">
                <a:solidFill>
                  <a:srgbClr val="343E3B"/>
                </a:solidFill>
                <a:latin typeface="Microsoft YaHei" pitchFamily="34" charset="0"/>
                <a:ea typeface="Microsoft YaHei" pitchFamily="34" charset="-122"/>
                <a:cs typeface="Microsoft YaHei" pitchFamily="34" charset="-120"/>
              </a:rPr>
              <a:t>本讲主要依据与阅读入口</a:t>
            </a:r>
            <a:endParaRPr lang="zh-CN" sz="3600" dirty="0"/>
          </a:p>
        </p:txBody>
      </p:sp>
      <p:sp>
        <p:nvSpPr>
          <p:cNvPr id="4" name="Text 2"/>
          <p:cNvSpPr/>
          <p:nvPr/>
        </p:nvSpPr>
        <p:spPr>
          <a:xfrm>
            <a:off x="758952" y="1965960"/>
            <a:ext cx="2194560" cy="129844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规范与教材</a:t>
            </a:r>
            <a:endParaRPr lang="zh-CN" sz="2400" dirty="0"/>
          </a:p>
        </p:txBody>
      </p:sp>
      <p:sp>
        <p:nvSpPr>
          <p:cNvPr id="5" name="Text 3"/>
          <p:cNvSpPr/>
          <p:nvPr/>
        </p:nvSpPr>
        <p:spPr>
          <a:xfrm>
            <a:off x="3410712" y="1965960"/>
            <a:ext cx="8019288" cy="1298448"/>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宪法（2018年修正）；</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国家赔偿法（2012年第二次修正）；</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马工程《宪法学》第二版。</a:t>
            </a:r>
            <a:endParaRPr lang="zh-CN" sz="2400" dirty="0"/>
          </a:p>
        </p:txBody>
      </p:sp>
      <p:sp>
        <p:nvSpPr>
          <p:cNvPr id="6" name="Shape 4"/>
          <p:cNvSpPr/>
          <p:nvPr/>
        </p:nvSpPr>
        <p:spPr>
          <a:xfrm>
            <a:off x="758952" y="3387852"/>
            <a:ext cx="10671048" cy="0"/>
          </a:xfrm>
          <a:prstGeom prst="line">
            <a:avLst/>
          </a:prstGeom>
          <a:noFill/>
          <a:ln w="16510">
            <a:solidFill>
              <a:srgbClr val="CBCDC5"/>
            </a:solidFill>
            <a:prstDash val="solid"/>
          </a:ln>
        </p:spPr>
      </p:sp>
      <p:sp>
        <p:nvSpPr>
          <p:cNvPr id="7" name="Text 5"/>
          <p:cNvSpPr/>
          <p:nvPr/>
        </p:nvSpPr>
        <p:spPr>
          <a:xfrm>
            <a:off x="758952" y="3557016"/>
            <a:ext cx="2194560" cy="129844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历史与学理</a:t>
            </a:r>
            <a:endParaRPr lang="zh-CN" sz="2400" dirty="0"/>
          </a:p>
        </p:txBody>
      </p:sp>
      <p:sp>
        <p:nvSpPr>
          <p:cNvPr id="8" name="Text 6"/>
          <p:cNvSpPr/>
          <p:nvPr/>
        </p:nvSpPr>
        <p:spPr>
          <a:xfrm>
            <a:off x="3410712" y="3557016"/>
            <a:ext cx="8019288" cy="1298448"/>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共同纲领、1954年宪法及新华社资料照片；</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张翔《中国法律评论》2019年第1期；</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王锴《法学论坛》2024年第1期。</a:t>
            </a:r>
            <a:endParaRPr lang="zh-CN" sz="2400" dirty="0"/>
          </a:p>
        </p:txBody>
      </p:sp>
      <p:sp>
        <p:nvSpPr>
          <p:cNvPr id="9" name="Shape 7"/>
          <p:cNvSpPr/>
          <p:nvPr/>
        </p:nvSpPr>
        <p:spPr>
          <a:xfrm>
            <a:off x="758952" y="4978908"/>
            <a:ext cx="10671048" cy="0"/>
          </a:xfrm>
          <a:prstGeom prst="line">
            <a:avLst/>
          </a:prstGeom>
          <a:noFill/>
          <a:ln w="16510">
            <a:solidFill>
              <a:srgbClr val="CBCDC5"/>
            </a:solidFill>
            <a:prstDash val="solid"/>
          </a:ln>
        </p:spPr>
      </p:sp>
      <p:sp>
        <p:nvSpPr>
          <p:cNvPr id="10" name="Text 8"/>
          <p:cNvSpPr/>
          <p:nvPr/>
        </p:nvSpPr>
        <p:spPr>
          <a:xfrm>
            <a:off x="758952" y="5148072"/>
            <a:ext cx="2194560" cy="932688"/>
          </a:xfrm>
          <a:prstGeom prst="rect">
            <a:avLst/>
          </a:prstGeom>
          <a:noFill/>
          <a:ln/>
        </p:spPr>
        <p:txBody>
          <a:bodyPr wrap="none" lIns="0" tIns="0" rIns="0" bIns="0" rtlCol="0" anchor="t"/>
          <a:lstStyle/>
          <a:p>
            <a:pPr algn="l" indent="0" marL="0">
              <a:lnSpc>
                <a:spcPct val="105000"/>
              </a:lnSpc>
              <a:buNone/>
            </a:pPr>
            <a:r>
              <a:rPr lang="zh-CN" altLang="en-US" sz="2400" b="1" dirty="0">
                <a:solidFill>
                  <a:srgbClr val="9B3D32"/>
                </a:solidFill>
                <a:latin typeface="Microsoft YaHei" pitchFamily="34" charset="0"/>
                <a:ea typeface="Microsoft YaHei" pitchFamily="34" charset="-122"/>
                <a:cs typeface="Microsoft YaHei" pitchFamily="34" charset="-120"/>
              </a:rPr>
              <a:t>配套阅读</a:t>
            </a:r>
            <a:endParaRPr lang="zh-CN" sz="2400" dirty="0"/>
          </a:p>
        </p:txBody>
      </p:sp>
      <p:sp>
        <p:nvSpPr>
          <p:cNvPr id="11" name="Text 9"/>
          <p:cNvSpPr/>
          <p:nvPr/>
        </p:nvSpPr>
        <p:spPr>
          <a:xfrm>
            <a:off x="3410712" y="5148072"/>
            <a:ext cx="8019288" cy="932688"/>
          </a:xfrm>
          <a:prstGeom prst="rect">
            <a:avLst/>
          </a:prstGeom>
          <a:noFill/>
          <a:ln/>
        </p:spPr>
        <p:txBody>
          <a:bodyPr wrap="none" lIns="0" tIns="0" rIns="0" bIns="0" rtlCol="0" anchor="t"/>
          <a:lstStyle/>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学生材料与逐题讲评分册；</a:t>
            </a:r>
            <a:endParaRPr lang="zh-CN" sz="2400" dirty="0"/>
          </a:p>
          <a:p>
            <a:pPr algn="l" indent="0" marL="0">
              <a:lnSpc>
                <a:spcPct val="105000"/>
              </a:lnSpc>
              <a:buNone/>
            </a:pPr>
            <a:r>
              <a:rPr lang="zh-CN" altLang="en-US" sz="2400" dirty="0">
                <a:solidFill>
                  <a:srgbClr val="2B302F"/>
                </a:solidFill>
                <a:latin typeface="Microsoft YaHei" pitchFamily="34" charset="0"/>
                <a:ea typeface="Microsoft YaHei" pitchFamily="34" charset="-122"/>
                <a:cs typeface="Microsoft YaHei" pitchFamily="34" charset="-120"/>
              </a:rPr>
              <a:t>完整来源、原作细读和修订记录见本轮仓库入口。</a:t>
            </a:r>
            <a:endParaRPr lang="zh-CN" sz="2400" dirty="0"/>
          </a:p>
        </p:txBody>
      </p:sp>
      <p:sp>
        <p:nvSpPr>
          <p:cNvPr id="12" name="Text 10"/>
          <p:cNvSpPr/>
          <p:nvPr/>
        </p:nvSpPr>
        <p:spPr>
          <a:xfrm>
            <a:off x="713232" y="6419088"/>
            <a:ext cx="9646920" cy="283464"/>
          </a:xfrm>
          <a:prstGeom prst="rect">
            <a:avLst/>
          </a:prstGeom>
          <a:noFill/>
          <a:ln/>
        </p:spPr>
        <p:txBody>
          <a:bodyPr wrap="none" lIns="0" tIns="0" rIns="0" bIns="0" rtlCol="0" anchor="t"/>
          <a:lstStyle/>
          <a:p>
            <a:pPr algn="l"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具体网页、印刷页及PDF物理页见研究与来源记录</a:t>
            </a:r>
            <a:endParaRPr lang="zh-CN" sz="1200" dirty="0"/>
          </a:p>
        </p:txBody>
      </p:sp>
      <p:sp>
        <p:nvSpPr>
          <p:cNvPr id="13" name="Text 11"/>
          <p:cNvSpPr/>
          <p:nvPr/>
        </p:nvSpPr>
        <p:spPr>
          <a:xfrm>
            <a:off x="10588752" y="6419088"/>
            <a:ext cx="896112" cy="283464"/>
          </a:xfrm>
          <a:prstGeom prst="rect">
            <a:avLst/>
          </a:prstGeom>
          <a:noFill/>
          <a:ln/>
        </p:spPr>
        <p:txBody>
          <a:bodyPr wrap="none" lIns="0" tIns="0" rIns="0" bIns="0" rtlCol="0" anchor="t"/>
          <a:lstStyle/>
          <a:p>
            <a:pPr algn="r" indent="0" marL="0">
              <a:lnSpc>
                <a:spcPct val="105000"/>
              </a:lnSpc>
              <a:buNone/>
            </a:pPr>
            <a:r>
              <a:rPr lang="zh-CN" altLang="en-US" sz="1200" dirty="0">
                <a:solidFill>
                  <a:srgbClr val="616966"/>
                </a:solidFill>
                <a:latin typeface="Microsoft YaHei" pitchFamily="34" charset="0"/>
                <a:ea typeface="Microsoft YaHei" pitchFamily="34" charset="-122"/>
                <a:cs typeface="Microsoft YaHei" pitchFamily="34" charset="-120"/>
              </a:rPr>
              <a:t>38 / 38</a:t>
            </a:r>
            <a:endParaRPr lang="zh-CN"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38</Slides>
  <Notes>38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38</vt:i4>
      </vt:variant>
    </vt:vector>
  </HeadingPairs>
  <TitlesOfParts>
    <vt:vector size="4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第一讲 宪法总论</dc:title>
  <dc:subject>第一讲整合试讲主版本</dc:subject>
  <dc:creator>宪法学课程备课组</dc:creator>
  <cp:lastModifiedBy>宪法学课程备课组</cp:lastModifiedBy>
  <cp:revision>1</cp:revision>
  <dcterms:created xsi:type="dcterms:W3CDTF">2026-10-06T12:59:26Z</dcterms:created>
  <dcterms:modified xsi:type="dcterms:W3CDTF">2026-10-06T12:59:26Z</dcterms:modified>
</cp:coreProperties>
</file>