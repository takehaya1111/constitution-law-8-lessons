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P01｜宪法总论
上节（本节0—45分钟）｜本节约0—1.5分钟
默认按页顺讲。页定位为备课估算；最终口读校正与独立活动见同版容量报告，不是教师实测。
【翻至P01｜宪法总论】（不朗读）
1. 逐字讲述
先看这张照片。1954年9月15日，第一届全国人民代表大会第一次会议的代表走进中南海怀仁堂。五天以后，这次大会通过了新中国第一部宪法。照片记录的是入场，宪法的通过发生在9月20日。
2. 逐字讲述
到1954年，新中国已经成立，国家机关已经在工作，也已经有了规范国家生活的共同纲领。为什么还要制定一部宪法？如果把答案只说成“因为宪法最重要”，我们只是换了一个词，还没有解释这部法律要做什么。
3. 逐字讲述
今天我们从这个问题出发，先看国家生活中有哪些事情需要共同的根本安排，再看这些安排怎样组织和约束权力。下节把目光移到一位请求国家赔偿的公民身上，看看一项宪法权利如何通过具体法律和机关履职获得回应。到课末，我们要把这两个尺度接起来：国家的制度，怎样关系到一个人的处境。
教师备查，不朗读
照片不证明现行最高效力。原图署名保留；不编造人物心理或会场对话。
本页出处
新华社刘东鳌摄：1954年9月15日代表入场
来源及定位
新华社资料照片
https://www.xinhuanet.com/politics/2019-09/15/c_1124998159.htm
代表进入怀仁堂；既有原图与来源保留
宪法制定和发展完善历程
https://www.npc.gov.cn/npc/c12434/dzlfxzgcl70nlflc/202108/t20210824_313204.html
1954年9月20日通过宪法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P02｜从过渡安排，到持续的共同规则
上节（本节0—45分钟）｜本节约1.5—5.7分钟
默认按页顺讲。页定位为备课估算；最终口读校正与独立活动见同版容量报告，不是教师实测。
【翻至P02｜从过渡安排，到持续的共同规则】（不朗读）
1. 逐字讲述
先把两份历史文本放在一起。新中国成立时，需要说明国家性质、政权机关怎样组织、人民享有什么权利。共同纲领已经对这些问题作出规定，发挥了临时宪法的作用。因此，照片中的代表走进怀仁堂时，面对的不是一个没有国家规则的空白。真正需要追问的是：已有安排解决到了哪一步，接下来又要怎样发展。
2. 逐字讲述
看共同纲领第十三条的短节录：“在普选的全国人民代表大会召开以前”，由政协全体会议执行全国人大的职权。这里的“以前”非常关键。它既给当时国家权力的运行提供安排，又预设了全国人大召开后的制度变化。过渡不是没有效力，也不是任职者可以随意决定；过渡本身已有共同遵循的规则。
3. 逐字讲述
沿着这条线来到一九五四年，全国人民代表大会召开。九月二十日，第一届全国人大第一次会议通过宪法。起草委员会承担草案准备、讨论和修改工作，最终审议通过的是全国人大，两个机关的工作不能合在一个名称里。第一讲不展开全部起草日程，只把我们正在比较的制度变化看清。
4. 逐字讲述
当年的宪法第二十一条确认，全国人大是最高国家权力机关。其序言也明确说，这部宪法以共同纲领为基础，又是共同纲领的发展。因此，不是新文件出现就把过去一笔抹掉，而是过渡性安排继续展开为更完整的国家制度。我们看到了先有规则、规则指向下一步、下一步由国家机构和宪法继续确认的过程。
5. 逐字讲述
这件事为什么值得放在总论开头？因为它让我们看见，宪法不是给国家生活加一个响亮的名称。人民怎样行使国家权力，机关怎样组成、做什么、公民处在怎样的地位，都需要根本安排。一次会议可以作出这一次的决定，宪法还要给后来持续进行的国家活动确立共同前提。换了任职者，有关机关仍须在法定地位、权限和责任中工作。
6. 逐字讲述
但也要保留一个区别：为什么一九五四年制定这部宪法，是具体历史问题；宪法为什么是国家根本法，是对国家制度和法律关系的一般解释。前一个故事打开后一个问题，却不能替我们证明所有答案。现在明确转回二〇一八年修正的现行宪法，看看今天的根本安排具体规定什么。完整的发展过程，下一讲再展开。
教师备查，不朗读
屏幕第一段为历史条文提要，有简称，不冒充逐字引文；所用原句见学生材料。起草委员会与全国人大审议通过不同，若被问及据旧来源说明，不展开起草年代线。
本页出处
共同纲领第13条节录；1954年宪法序言、第21条；1954最小历史线与起草/通过机关核查
来源及定位
共同纲领
http://www.cppcc.gov.cn/2011/12/16/ARTI1513309181327976.shtml
第13条；既有原文
1954年宪法
http://www.cppcc.gov.cn/2011/09/06/ARTI1315304517625183.shtml
第21条；既有原文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P03｜先读国家要做什么，再读怎样组织国家
上节（本节0—45分钟）｜本节约5.7—8.1分钟
默认按页顺讲。页定位为备课估算；最终口读校正与独立活动见同版容量报告，不是教师实测。
【翻至P03｜先读国家要做什么，再读怎样组织国家】（不朗读）
1. 逐字讲述
请翻到材料A现行宪法部分。序言明确说，国家的根本任务是沿着中国特色社会主义道路，集中力量进行社会主义现代化建设。这里回答国家发展的根本方向。序言末段又说明，宪法规定国家的根本制度和根本任务，具有最高法律效力。先把这两处各自回答的问题分开。
2. 逐字讲述
国家要实现共同任务，就要组织资源、形成决定、付诸行动。这些活动由谁来进行，用什么权力来进行，对人的权利承担什么义务，不能留给每个机关临时回答。因此，根本任务与国家机构、基本权利并不是两组不相干的内容：有共同目标，也需要实现目标的制度和规则。
3. 逐字讲述
请看目录的安排。序言提出国家发展的根本任务；总纲展开国家制度的共同前提；公民基本权利和义务说明人的基本地位；国家机构一章组织国家权力；国旗、国歌、国徽、首都又确认国家的重要象征。这不是把所有日常规定都收进同一本书，而是把不同领域共同需要回答的根本事项组织起来。目录帮助我们建立全貌，不能代替每一项内容的解释。
4. 逐字讲述
材料A列有宪法目录。请留意，国家的根本方向、权力组织和公民地位被放进同一个法律文本。对未来从事公安工作的同学而言，维护秩序也要回答：机关从何获得职权，履职须遵守什么？下面看总纲的两个起点。
本页出处
现行宪法序言（节录）与目录
来源及定位
中华人民共和国宪法（2018年修正）
https://www.mofcom.gov.cn/xxgcxjpxsdzgtsshzysx/zywj/art/2018/art_45c1e16fe351469090d53e63178268c8.html
序言根本任务所在段及末段；目录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P04｜国家的根本安排，先回答哪些问题？
上节（本节0—45分钟）｜本节约8.1—11.4分钟
默认按页顺讲。页定位为备课估算；最终口读校正与独立活动见同版容量报告，不是教师实测。
【翻至P04｜国家的根本安排，先回答哪些问题？】（不朗读）
1. 逐字讲述
第一条规定我国是工人阶级领导的、以工农联盟为基础的人民民主专政的社会主义国家；社会主义制度是根本制度，中国共产党领导是中国特色社会主义最本质的特征。第二条随即明确，一切权力属于人民。这里既有国家性质和根本制度，也有国家权力归属。
2. 逐字讲述
为什么这些内容具有根本性？因为无论以后讨论经济制度、教育事务、公安履职还是赔偿请求，都已经置身于一定的国家制度和权力秩序之中。具体法律不能每进入一个领域，就重新决定国家性质、权力属于谁、公民是否有基本权利。宪法先确立这些共同前提，其他法律和国家活动在其中展开。
3. 逐字讲述
这里的“根本”，也不是说普通法律都不重要。对一个受到侵害的人，具体法律可能直接决定他的请求怎样提出、由谁办理，当然重要。宪法的特别之处在于，它规定许多具体制度共同依赖的前提。不能把重要性当作唯一标准，更不能用篇幅长短判断根本性。否则，一份技术细则写得很长，就会被误认成比宪法更根本。
4. 逐字讲述
还可以换一个角度看：国家制度并不是先在宪法外完全建好，再让宪法给它加一个称号。宪法本身参与确立国家性质、权力归属和机关关系。这些规定一方面确认制度，另一方面使国家活动受到规范要求。所谓根本内容，因此不只是描述国家已经是什么，也在规定国家活动应当怎样进行。至于国体、政体与国家结构的系统区别，第三讲再展开，今天先建立这层关系。
5. 逐字讲述
普通法律处理具体事务，同样关系到人的切身利益。这里区分的是规范承担的工作：宪法确立共同的基本安排，普通法律展开具体领域的规则。宪法没有把每项合同条款、犯罪构成和赔偿标准全部写进来。现在把已经看到的内容连成概念。
教师备查，不朗读
屏幕第1条为明确的教学提要，不加原文引号；完整条文在材料B。第3、4讲分别深化国体政体和基本制度。
本页出处
现行宪法第1、2条；教材印刷18—20页
来源及定位
中华人民共和国宪法（2018年修正）
https://www.mofcom.gov.cn/xxgcxjpxsdzgtsshzysx/zywj/art/2018/art_45c1e16fe351469090d53e63178268c8.html
第1、2条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P05｜现在，把“宪法”说完整
上节（本节0—45分钟）｜本节约11.4—13.4分钟
默认按页顺讲。页定位为备课估算；最终口读校正与独立活动见同版容量报告，不是教师实测。
【翻至P05｜现在，把“宪法”说完整】（不朗读）
1. 逐字讲述
我们可以作这样的概括：宪法是规定国家根本制度和根本任务、公民基本权利和义务、国家权力组织运行等根本问题，具有最高法律效力的国家根本法。这是本课根据教材和条文作的概括，便于把刚才看到的内容连起来。
2. 逐字讲述
概念不只帮助我们认出一本书，还帮助我们判断正在讨论哪一层问题。问权力属于谁，是在问根本安排；问普通法律能否背离宪法，是在问效力关系；问怎样修改宪法，是在问根本规则的程序保障。三个方面相互联系，但不能互相替代。
3. 逐字讲述
一个能使用的概念，至少要容得下刚才实际读到的材料。序言的根本任务、第一个章节的制度、公民一章的权利义务、机关一章的权力组织，都在这个概括里。我们随后还要用第六十四条说明修改的特别要求。这样理解宪法，遇到具体问题时就能知道该从内容、效力还是程序寻找根据，不必每次只重复一句“这是根本法”。
4. 逐字讲述
下面就把第二个方面展开：宪法为什么能够约束制定法律的活动？请直接看第5条。
教师备查，不朗读
这里不是某一条宪法的逐字定义。完整解释与修宪对照分别在后页，不恢复词源、分类与渊源目录。
本页出处
教材印刷18—20页；宪法序言末段
来源及定位
中华人民共和国宪法（2018年修正）
https://www.mofcom.gov.cn/xxgcxjpxsdzgtsshzysx/zywj/art/2018/art_45c1e16fe351469090d53e63178268c8.html
序言末段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P06｜制定法律的人和机关，也处在宪法之内
上节（本节0—45分钟）｜本节约13.4—17.7分钟
默认按页顺讲。页定位为备课估算；最终口读校正与独立活动见同版容量报告，不是教师实测。
【翻至P06｜制定法律的人和机关，也处在宪法之内】（不朗读）
1. 逐字讲述
我们刚才说，宪法规定国家权力归属和机关安排。现在把立法放进这个框架：制定法律本身也是行使国家权力。立法机关的地位和权限并不在宪法之外，因此它形成的具体规则也不能取得排除宪法约束的权力。
2. 逐字讲述
直接看第五条第三款：一切法律、行政法规和地方性法规都不得同宪法相抵触。最高效力因此不只是一句高低排名，它要求其他规范符合宪法。规则写得更详细，并不会使它的位置反而高于宪法；它离具体办理更近，也不意味着可以改变根本规则的地位。
3. 逐字讲述
为什么立法也需要这个共同约束？作一个明确的课堂设想：假如每个领域的法律都能自行宣布“在我这里，宪法要求可以不算”，基本权利和国家制度就可能被逐项排除。共同规范的名称还在，但每进入一个具体领域，它的要求就被放到一旁。第五条排除的正是这种把普通规则置于宪法约束之外的关系。
4. 逐字讲述
有人可能担心，立法机关需要回应现实问题，如果始终受一部宪法约束，是否就只能照抄？这项关切抓住了立法的实际工作。社会中哪些情况要区别对待，义务由谁承担，什么办法可靠而可行，都需要调查和判断；宪法没有预先写完每个领域的全部答案。
5. 逐字讲述
受约束和没有选择，是不同的判断。约束规定不能越过哪些根本要求，具体选择继续回答怎样在这些要求之内组织制度。比如，下节的国家赔偿法需要规定情形、义务主体和办理方式；这些信息不是在第六十四条那样的表决数字中找出来，也不是把第四十一条多抄几遍就会自动出现。承认具体安排需要工作，并不取消宪法已有的要求。
6. 逐字讲述
所以，判断一种新规定，先问它是否符合宪法的权限、程序和权利要求，再问具体安排依据什么事实、完成什么任务。有新的细节，不能因此直接说它违宪；要解决现实问题，也不能因此免除宪法上的追问。这里建立的是关系，具体办法为什么需要这样安排，我们留到下节用真实条文细读。
7. 逐字讲述
还须分清规范要求与纠正职权。普通法律不得抵触宪法，不等于任何人都可以自行宣布某条法律失效。违反什么要求、由谁按什么制度纠正，是相联系但不同的问题。第八讲会系统解释实施与监督。今天先把共同约束说明白，接着看处在这种约束中的国家权力怎样组织。
教师备查，不朗读
不由本页推出任何个人可自行宣布法律普遍失效，纠正机制留第8讲；规范结构说明不冒充完整的宪法权威历史解释。
本页出处
宪法第5条第3款；教材印刷19—20页
来源及定位
中华人民共和国宪法（2018年修正）
https://www.mofcom.gov.cn/xxgcxjpxsdzgtsshzysx/zywj/art/2018/art_45c1e16fe351469090d53e63178268c8.html
第5条第3款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P07｜“属于人民”，怎样进入国家机构？
上节（本节0—45分钟）｜本节约17.7—21.5分钟
默认按页顺讲。页定位为备课估算；最终口读校正与独立活动见同版容量报告，不是教师实测。
【翻至P07｜“属于人民”，怎样进入国家机构？】（不朗读）
1. 逐字讲述
请把第2条与第3条连续读。第2条先说明权力属于人民，再说明人民行使国家权力的机关是全国人大和地方各级人大。第3条则写出民主选举、负责和监督，并说明行政、监察、审判、检察机关同人大的关系。
2. 逐字讲述
图中的向下箭头只表示产生或组织关系：人大由民主选举产生，相应国家机关由人大产生。它没有展开直接选举与间接选举的层级，不能读成各级人大都由全体人民直接选举。负责和监督请看右侧文字：人大对人民负责、受人民监督；这些机关对产生它的人大负责、受该人大监督。产生说明制度位置，负责和监督说明持续的责任，不能用同一根向下箭头代替。
3. 逐字讲述
第2条也没有把人民管理国家和社会事务的方式缩成参加一次选举。它还规定人民依照法律，通过各种途径和形式，管理国家事务、经济和文化事业以及社会事务。本课先认识整体关系，具体制度以后逐一展开。
4. 逐字讲述
把这几条按问题分开，关系就更清楚。第二条的“一切权力属于人民”，回答归属；第二条所列行使国家权力的机关，回答通过什么制度行使；第三条的产生、负责、监督，继续回答组织怎样形成、怎样保持责任联系。我们不能用归属一句话替代全部机关安排，也不能只看一张机构图就说人民主权已经解释完了。
5. 逐字讲述
图中的行政、监察、审判、检察机关是依第三条作的归纳，今天只看共同关系，并不说它们执行同一种任务。由人大产生，是产生关系；对产生它的人大负责、受监督，是责任关系。哪一个机关具体能作什么，谁领导谁，谁有何种监督职权，不能从一个没有标注的箭头里猜出来，第七讲会继续展开。现在图上能够确定的关系，我们就按照条文说明，不把全部权力活动简化成逐层转交。
6. 逐字讲述
民主集中制在这里有实际内容：既有民主选举和监督，也有由相应国家机关依法形成并执行决定的组织安排。不能只记住“集中”，也不能把每个人的个人决定都当作国家决定。权力属于人民，与权力通过制度得到组织，是需要同时说明的两件事。
教师备查，不朗读
人大由人民选举产生的直接/间接层级不在本页铺开；图不表示所有人大都由全民直接选举。民主集中制完整内容包括中央地方关系等，留后续。
单元缩讲S1｜缩讲S1 权力组织与原则的等义短讲
仅在本单元开始前采用，替换该单元完整口述，保留原2分钟解释机会；其余单元不变，长短不重复。
请把第二条与第三条接起来读。第二条先说国家的一切权力属于人民，又规定人民行使国家权力的机关是全国人大和地方各级人大。第三条继续说明民主选举、负责和监督。这几层分别回答权力属于谁、通过什么机关行使、机关怎样形成及保持责任联系，不能用其中一句代替全部解释。
图中向下箭头只表示产生或组织关系：人大由民主选举产生，相应行政、监察、审判、检察机关由人大产生。负责和监督看右侧文字：人大对人民负责、受人民监督，这些机关对产生它的人大负责、受该人大监督。箭头没有展开直接和间接选举，不能读成所有人大都由全体人民直接选举。
民主集中制因此不只是记住集中两个字，还包括民主产生、负责监督和依法形成并执行国家决定的组织安排。第二条也保留人民依法通过各种途径和形式管理公共事务，不把人民参与缩成参加一次选举。具体制度以后展开。
产生与监督也不能只合成一句都同人大有关。前者使机关获得履职的制度位置，后者确立履职中的持续负责监督关系。图上分别写出这些关系，是为了保住不同的主客体和动作，不暗示机关产生后已完成全部责任。
机关依法产生，为什么仍要依法履职？产生确认制度地位，每次行为则要说明职权、条件和依据。只回答机关是依法产生的，尚未证明某项决定正确。第三条在产生之后仍规定负责和监督，正使责任成为持续的制度关系。
另一项关切必须认真对待：机关需要专业判断和及时行动。让没有相应职责的人重做所有决定，可能妨碍履职。但行动空间不等于免除责任，监督也不等于任何人都能取代机关。监督者同样须依法辨认自己的职权和方式，不能因监督目的正当便免去自身的权限要求。判断、责任与监督各有制度位置，才不至于在信任和任意替代之间二选一。应分别追问：谁依法判断，依据什么，向谁负责，由谁按什么权限监督。专业性说明为何由相应机关办事，不能单独证明每次行为都符合规范。
负责也不是等某个人被怀疑品质不好才临时加上。机关持续承担任务，就持续处在宪法法律规定的责任关系中；换了任职者，法定责任不会随私人关系消失。具体说明和纠正程序仍由相关制度展开，不能从第三条推出一套适用所有机关的办法。
教材用民主制度化、法律化解释宪法本质的一个重要方面：把人民当家作主组织为机关、产生方式和责任关系，再用法律确认这些安排。这样，权力属于人民不仅回答来源，还能继续追问通过什么制度、对谁负责。这是本质的必要入口，教材还有其他论述。
接着把党的领导与社会主义法治放在一起。第一条确认中国共产党领导的宪法地位，第五条又规定各政党、国家机关等必须遵守宪法和法律。两条在同一宪法中共同成立，理解其中一项不能删去另一项。
教材把党的领导同领导立法、保证执法、支持司法、带头守法以及在宪法法律范围内活动联系起来，是为了说明领导怎样进入制度运行。社会主义法治也不是事后为已做的事找一句解释，而是使规则进入职权行使和责任承担。这一层建立共同要求，具体措施是否合法仍须具体依据。
第三十三条第三款规定，国家尊重和保障人权。尊重提示国家不能任意侵害，保障又要求国家通过制度和依法履职保护权利。它适用于组织权力、制定规则和具体办事，不因句子短就只是一种态度。
这里分清权力与权利：权力涉及公共事务的组织和职权行使，权利涉及依法应当保障的利益和请求资格。机关有职权，不等于手段无限；人有权利，也不意味着每项主张无须条件。保障可能需要国家积极做事，但具体职权仍应有根据。下节赔偿只是其中一种救济，第五讲再系统展开权利原理。
人的实际处境因此不是条文以外的闲话。能否依法提出请求、机关怎样取得必要事实、侵害发生后怎样回应，都是理解保障的入口。国家积极工作与受权利要求约束，并不是只能保留一个。
现在可以归纳教材的五项原则：党的领导、人民主权、社会主义法治、尊重和保障人权、权力监督与制约。它们针对同一国家活动的不同方面：在怎样的根本制度下进行，权力怎样形成，遵循什么规范，对人的权利承担什么义务，由谁依法监督。
例如，一个机关由人大产生，提供了制度位置；负责和监督使它不能把位置变成不受过问的理由；人权要求又使我们不只看它办成多少事，还看怎样影响人的权利。这些要求不是依次自动发生的流水线，各有根据，也彼此相连。只讲产生会漏责任，只讲目标会漏权限；原则帮助我们补齐解释，不能替没有依据的结论增添气势。
现在用第二、三、三十三条中至少两处，写一两句说明：机关依法产生，为什么仍须负责、受监督并尊重保障权利？关键是说联系，不只列原则名称。
一种有根据的解释是：权力属于人民，通过宪法规定的机关行使；机关由相应制度产生，同时持续承担负责、监督和人权要求。产生说明地位，不能独自证明每项行为正确。也可以从第三条与第三十三条讲起，只要根据和关系完整，不要求同一句式。
本页出处
宪法第2、3条；选举层级未展开，非各级均全民直选
来源及定位
中华人民共和国宪法（2018年修正）
https://www.mofcom.gov.cn/xxgcxjpxsdzgtsshzysx/zywj/art/2018/art_45c1e16fe351469090d53e63178268c8.html
第2条全部；第3条前三款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P08｜机关依法产生，为什么还要依法履职？
上节（本节0—45分钟）｜本节约21.5—27.4分钟
默认按页顺讲。页定位为备课估算；最终口读校正与独立活动见同版容量报告，不是教师实测。
【翻至P08｜机关依法产生，为什么还要依法履职？】（不朗读）
1. 逐字讲述
机关依法产生，为什么还要依法履职？这两个问题相连，却不能互相替代。产生确认机关的制度地位，履职则要说明某项国家活动怎样进行。具有法定地位，不能独自证明每次行为都正确。第三条并没有在“由人大产生”处结束，它紧接着规定负责和监督。
2. 逐字讲述
认真对待另一项关切：国家机关必须有完成公共任务的能力。专业人员需要作判断，有些事项需要及时处理。假如任何决定都由没有相应职责的人从头重做，机关就很难承担任务。因此，不能把依法履职的行动空间简单说成拒绝监督；但也不能把行动空间理解成不必说明依据和承担责任。
3. 逐字讲述
问题的关键是把几种工作放在自己的制度位置上。依法作出决定的机关，要在法定职权和条件内判断；承担责任，是依法对履职接受说明、检查或纠正要求；监督者也必须依据自己的职权进行监督。第三条提供负责和监督的根本关系，具体怎样说明、怎样纠正，还须由相关制度规定，不能由我们临时编出一套通行程序。
4. 逐字讲述
可以作一个很有限的设想。一个依法产生的机关作出某项决定，有人质疑其依据。若只回答“这个机关是依法产生的”，他证明的是机关具有制度地位，没有回应这个决定为什么符合相应要求。若反过来只因有人质疑，就说任何人都可以取代机关重作决定，又跳过了决定和监督各自的职权。两种回答都把需要分别说明的关系合成了一句话。
5. 逐字讲述
更可靠的追问是：谁依法作判断，判断依据什么，向谁负责，由谁按什么职权监督。专业性和及时性在这里仍有价值，它们帮助解释为什么应由具有相应职责的机关办事；监督和负责则使履职不能只凭主观信任获得证明。宪法不是要求每次工作都停止等待所有人赞同，也不是允许机关凭自己的地位免于规则。
6. 逐字讲述
负责还有持续的意义。它不是只在出现严重错误时才临时建立的关系。一个机关持续承担任务，就持续处在宪法和法律规定的责任关系中。规范要求其依法运行和接受监督，并不以某个人已经被证明品格不好为前提。这也是为什么换了一位任职者，责任关系并没有随他原来的私人关系一起消失。
7. 逐字讲述
教材用“民主制度化、法律化”说明宪法本质的一个重要方面。制度化，是把人民当家作主组织为机关、产生方式和责任关系；法律化，是把这些安排确认为应当遵循的要求。由此，人民主权不只是在开头宣布权力属于谁，还进入后续可以持续追问的制度：通过什么机关，依什么规则，对谁负责。
8. 逐字讲述
这个入口也回应了开场的历史材料。共同纲领已经有过渡安排，后来全国人大召开，宪法进一步确认国家制度。它们不是靠一位好心任职者把人民当家作主暂时维持下来，而是用根本规则安排权力的形成和运行。当然，教材对宪法本质还有其他论述；我们这里用制度化、法律化打开理解，不宣称这就是全部本质理论。
9. 逐字讲述
现在已经能说明：国家权力要组织成能够履职的机关，同时要保持负责和监督的联系。但产生关系还没有回答国家活动的所有要求。接下来把领导、法治和人的权利放回同一活动，看看它们怎样同刚才的组织关系共同发挥作用。
教师备查，不朗读
第3条规定产生、负责和监督关系；具体说明、纠正和监督的程序由相关制度展开。主稿对此作学理及教学分析，不冒充本条逐字内容。
本质不穷尽教材其他理论，保持民主制度化、法律化入口。
本页出处
宪法第2、3条；教材印刷20—21页
来源及定位
中华人民共和国宪法（2018年修正）
https://www.mofcom.gov.cn/xxgcxjpxsdzgtsshzysx/zywj/art/2018/art_45c1e16fe351469090d53e63178268c8.html
第2、3条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P09｜党的领导与依法活动，怎样连起来理解？
上节（本节0—45分钟）｜本节约27.4—30分钟
默认按页顺讲。页定位为备课估算；最终口读校正与独立活动见同版容量报告，不是教师实测。
【翻至P09｜党的领导与依法活动，怎样连起来理解？】（不朗读）
1. 逐字讲述
现在看基本原则。先把党的领导与社会主义法治放在一起。第1条确认中国共产党领导的宪法地位；第5条同时规定各政党和国家机关都必须遵守宪法和法律。这两处不是互相取消的命题，而是同一宪法中需要共同理解的要求。
2. 逐字讲述
教材解释党的领导时，谈到领导立法、保证执法、支持司法、带头守法，以及在宪法和法律范围内活动。这里的联系是：领导推动国家制度和法律的运行，也通过制度和法律的方式得到体现。不能只看领导地位而漏掉依法活动，也不能把法治理解为与我国根本制度无关的一套技术。
3. 逐字讲述
对国家机关而言，具有某项工作任务，还须说明它依据什么权限、按照什么规则履行。法律不是做完工作后再附上的说明，而是组织和开展工作的依据。有关主体共同遵守宪法法律，才使刚才所说的最高效力在权力运行中有具体方向。
4. 逐字讲述
社会主义法治也不能压缩成机关已经办完事后有没有找一条规定作解释。依法组织和运行，要求规则进入任务形成、职权行使及责任承担之中。我们在上节先建立这种一般联系，没有据此宣布某项具体措施合法。对具体措施，仍要读其法律依据和事实条件。这个区别以后会不断使用，今天不先把各部门程序铺开。
5. 逐字讲述
还有一个问题没有回答：权力依法组织起来，是为了怎样对待生活在其中的人？这就把我们带到第33条。
教师备查，不朗读
两段均明确节录；材料B给完整有关款。教材原图印刷94/PDF109。避免把教材解释冒充宪法逐字原文。
本页出处
宪法第1条第2款、第5条第4款；教材印刷94页
来源及定位
中华人民共和国宪法（2018年修正）
https://www.mofcom.gov.cn/xxgcxjpxsdzgtsshzysx/zywj/art/2018/art_45c1e16fe351469090d53e63178268c8.html
第1条第2款；第5条第4款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P10｜权力怎样行使，必须看见人的权利
上节（本节0—45分钟）｜本节约30—32.7分钟
默认按页顺讲。页定位为备课估算；最终口读校正与独立活动见同版容量报告，不是教师实测。
【翻至P10｜权力怎样行使，必须看见人的权利】（不朗读）
1. 逐字讲述
第33条第3款写着很短一句：国家尊重和保障人权。它并不因为短，就只是装饰性的态度。它直接对国家活动提出要求：组织权力、制定规则和具体履职，都需要认真对待人的权利。
2. 逐字讲述
尊重，提示国家不能任意侵害人的权利；保障，又提示国家要通过制度建设和依法履职保护权利。一个人处于怎样的实际情境，能否主张权利，遇到侵害怎样得到救济，都不只是条文以外的闲话，而是理解权利保障的具体入口。
3. 逐字讲述
这里也分清两个读音相同的词。国家“权力”涉及公共事务的组织与职权行使；公民“权利”涉及依法应当受到保障的利益和请求资格。机关有职权，不意味着可以任意处置人的权利；人有权利，也并非每项具体请求都无须条件。我们要看相应规范如何安排二者。
4. 逐字讲述
国家积极保障权利，也可能需要调查事实、作出决定并实际履行义务。所以，“尊重”不能被误读为国家从所有事务中退出，“保障”也不能被误读为国家可以不限条件地采取任何手段。它们为国家活动提出要求，具体职权仍要有依据。下节会看到，办理一项赔偿请求需要机关做事，但怎样做事又应回应请求人的实际处境。
5. 逐字讲述
后半堂的赔偿例子就是其中一种联系：国家工作人员行使职权造成法定侵害时，法律怎样回应受害人的请求。它能说明救济的一面，人权保障还有许多内容，第五讲再作系统展开。现在把它与刚才的权力归属、法治和监督放在一起。
教师备查，不朗读
尊重与保障为入门说明，不将义务类型作完备二分；基本权利主体、效力与限制留第5讲。
本页出处
宪法第33条第3款；教材印刷100页
来源及定位
中华人民共和国宪法（2018年修正）
https://www.mofcom.gov.cn/xxgcxjpxsdzgtsshzysx/zywj/art/2018/art_45c1e16fe351469090d53e63178268c8.html
第33条第3款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P11｜五项原则，共同说明国家权力怎样运行
上节（本节0—45分钟）｜本节约32.7—35.6分钟
默认按页顺讲。页定位为备课估算；最终口读校正与独立活动见同版容量报告，不是教师实测。
【翻至P11｜五项原则，共同说明国家权力怎样运行】（不朗读）
1. 逐字讲述
现在可以把教材的五项基本原则连起来理解：坚持中国共产党的领导、人民主权、社会主义法治、尊重和保障人权、权力监督与制约。这些名称是对宪法内容的学理归纳，读懂它们还要回到条文和制度。
2. 逐字讲述
它们不是五句依次喊过的口号，也不是完成第一步便自动发生第二步的流水线。我们面对同一项国家活动，可以同时问：它在怎样的根本制度下进行，权力来自什么制度安排，行使中遵循什么规范，对人的权利有什么义务，由谁监督并依法纠正偏离。
3. 逐字讲述
例如，观察一个机关处理公民请求，不必在五项原则中只选一个。它处在我国宪法规定的根本制度和领导安排下；它的权力经国家机构制度组织起来；它的具体行动须遵守宪法法律；面对公民应当尊重和保障权利；它又处在负责、监督关系中。几项要求针对同一活动，但各自问的是不同方面，没有哪一项能够代替其他全部要求。
4. 逐字讲述
如果只讲产生，容易漏掉履职中的责任；只讲效率，容易漏掉依据与权利；只讲保障目标，又可能不知道哪一机关负有相应义务。把关系补齐，不是让每个事件都作一轮五原则分类，而是使我们知道一项判断目前证明到了哪里，还有哪一层需要根据。原则名称用于概括已经读到的内容，不是给没有依据的结论增加气势。
5. 逐字讲述
民主集中制是国家机构组织活动的重要原则，本课通过第3条作了说明。接下来请大家自己试着把两处条文连起来，看看能否从列名词走到说明制度关系。
教师备查，不朗读
版式用共同作用的关系组织，不给五原则标单向因果箭头。不得声称该简图展示全部原则理论。
本页出处
教材第三章第二节；宪法第1、2、3、5、33条
来源及定位
中华人民共和国宪法（2018年修正）
https://www.mofcom.gov.cn/xxgcxjpxsdzgtsshzysx/zywj/art/2018/art_45c1e16fe351469090d53e63178268c8.html
第1、2、3、5、33条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P12｜理解检查：机关地位与履职责任怎样相连？
上节（本节0—45分钟）｜本节约35.6—39.7分钟
默认按页顺讲。页定位为备课估算；最终口读校正与独立活动见同版容量报告，不是教师实测。
【翻至P12｜理解检查：机关地位与履职责任怎样相连？】（不朗读）
1. 逐字讲述
现在把已经读过的条文连一次。机关依法产生，能否只据此说明它每项行为都正确？请用第二、三、三十三条中至少两处，写一两句解释。不是把原则名称列出来，而是说清各处增加了什么要求。我们保留这一次独立说明，用它检查刚才几个关系有没有真正接起来。
2. 活动，不朗读（2分钟）
独立回看条文并写一两句80秒；请一名学生说明所选关系最多40秒。教师随后按下列已写讲述回收，不预设学生必然答错或长答。快情景90秒，常规120秒，慢情景150秒；这些是安排假设，非实测。
3. 逐字讲述
一种可行的回答是：权力属于人民，通过宪法规定的机关行使；机关由相应制度产生，同时应当负责、接受监督。再加上第33条，就能说明机关在履职中仍须尊重和保障人的权利。
4. 逐字讲述
如果你用的是第3条与第33条，也可以从机关的产生走到履职的约束。不同顺序都可以，关键是说出联系，而不只是把“人民主权、人权保障”两个词放在一起。
5. 逐字讲述
为什么不能只说“机关代表人民，所以行为当然正确”？第三条本身还规定负责与监督，第三十三条又提出国家活动应当遵守的权利要求。机关的法定地位和某项具体行为是否符合要求，仍须分别说明。可以从权力归属讲到责任，也可以从产生讲到权利；只要依据和联系完整，不要求同一种句式。这个回答能够说明本次关系解释，不据此宣布大家在陌生问题中都已独立掌握。
教师备查，不朗读
这是上节唯一独立学习检查，其余短条文随讲带读。解释和教师反馈已写入speech，不再另计重复讲评。
本页出处
宪法第2、3、33条；原任务1及讲评合并
来源及定位
中华人民共和国宪法（2018年修正）
https://www.mofcom.gov.cn/xxgcxjpxsdzgtsshzysx/zywj/art/2018/art_45c1e16fe351469090d53e63178268c8.html
第2、3、33条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P13｜根本规则可以改变，但修改有特别要求
上节（本节0—45分钟）｜本节约39.7—42.8分钟
默认按页顺讲。页定位为备课估算；最终口读校正与独立活动见同版容量报告，不是教师实测。
【翻至P13｜根本规则可以改变，但修改有特别要求】（不朗读）
1. 逐字讲述
还有一项需要完整说明的特征：宪法的修改程序具有特殊性。根本法并不是永远不能修改。国家生活会发展，根本规则也保留依法调整的可能；我国宪法第六十四条设置了比法律和其他议案更严格的通过门槛。现在直接把两款对照，不另开算票任务。
2. 逐字讲述
宪法修改，由全国人大以全体代表三分之二以上的多数通过；法律和其他议案，由全国人大以全体代表过半数通过。两款比较的是同一个机关，分母都为全体代表。不是当日到会人数，也不是已经投票者。“三分之二以上”包括恰好三分之二；“过半数”不包括恰好一半。
3. 逐字讲述
为什么特别门槛同根本地位有关？修改的可能不只是一个领域的操作办法，还会改变后来许多活动共同遵循的制度前提。要求更广泛支持，有保护根本规则稳定、促使重大调整审慎进行的理由。教材也把较严格的制定和修改程序同保持稳定联系起来。这里说明制度理由，不证明某个比例在所有制度中唯一最优。
4. 逐字讲述
同时，稳定不等于永远维持原文。根本安排有依法调整的需要，修改更难也不能直接证明新旧内容何者更正确。我们只把这一条件保留下来：现行制度同时要求特别多数，并保留修改通道。判断新内容的理由，仍要读实际材料；不能拿赞成比例代替全部实质判断。
5. 逐字讲述
第六十四条也有明确提议主体，学生材料保留完整相关款，下一讲结合真实过程展开。今天的必要比较已经说明：我国宪法不是只有抽象原则，它也规定精确的程序条件；更详细或更抽象，不决定一条规范的效力高低。今天先认识通过门槛，下一讲再结合真实过程说明如何依法形成修改。
教师备查，不朗读
完整提议、审议和实际修改过程留第二讲。原全体一致模型及60%演算只留末尾备查。
本页出处
宪法第64条两款（屏幕为通过要求节录）
来源及定位
中华人民共和国宪法（2018年修正）
https://www.mofcom.gov.cn/xxgcxjpxsdzgtsshzysx/zywj/art/2018/art_45c1e16fe351469090d53e63178268c8.html
第64条两款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P14｜回看第一学时：“根本”已经有了哪些内容？
上节（本节0—45分钟）｜本节约42.8—44.2分钟
默认按页顺讲。页定位为备课估算；最终口读校正与独立活动见同版容量报告，不是教师实测。
【翻至P14｜回看第一学时：“根本”已经有了哪些内容？】（不朗读）
1. 逐字讲述
回到开场，“根本法”现在不只是最重要三个字。我们已看到宪法规定国家根本制度和任务、公民的基本权利义务、国家权力组织运行；立法本身也在这个框架内，其他规范不得抵触；根本规则的修改又有特别程序。这些方面各有条文和教材依据，不能只靠重要性一词推出。
2. 逐字讲述
一九五四年的历史入口帮助我们看见，国家已有规则之后，根本制度仍要继续展开。现行宪法的组织和原则又使我们看见，机关需要能够履职，也需要依法承担责任并尊重保障权利。下节就从这一共同要求进入一个人的请求：宪法已经有最高效力，为什么实际处理仍需要普通法律和国家机关继续工作？课间后，我们沿同一项赔偿请求把这层关系讲清。
教师备查，不朗读
上节收束，课间另计；不再另设页边写作。
本页出处
第64条必要对照；第一学时收束
来源及定位
中华人民共和国宪法（2018年修正）
https://www.mofcom.gov.cn/xxgcxjpxsdzgtsshzysx/zywj/art/2018/art_45c1e16fe351469090d53e63178268c8.html
序言末段；第5、64条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P15｜一个赔偿请求，为什么要读两部法律？
下节（本节0—45分钟）｜本节约0—2.5分钟
默认按页顺讲。页定位为备课估算；最终口读校正与独立活动见同版容量报告，不是教师实测。
【翻至P15｜一个赔偿请求，为什么要读两部法律？】（不朗读）
1. 逐字讲述
上节从国家的根本安排走到权力的组织和约束。现在把问题放到一位公民身上。沿用一项明确的教学设例：县公安局工作人员以本机关名义，在行使行政职权时违法拘留甲，造成其人身自由受到侵害。这些条件在题设中已查明。它不是一件声称真实的案件，也不要求大家在今天先学会认定所有拘留违法的标准。
2. 逐字讲述
先读宪法第四十一条第三款：由于国家机关和国家工作人员侵犯公民权利而受到损失的人，有依照法律规定取得赔偿的权利。这里已经确认相应赔偿权，并不是等碰到某个愿意照顾他的工作人员，才临时允许受害人开口。
3. 逐字讲述
把它放回上节的人权原则，联系就清楚了。国家既应依法履职、尊重保障权利，发生法定侵害时，又需要有规则回应受损者的请求。赔偿是保障的一种方式，不是全部保障，更不会把此前的侵害变成合法。我们选它，是因为它能使根本要求、具体制度和机关履职放在一个可读的例子里。
4. 逐字讲述
不过，真要处理这项请求，仍有问题等待回答：什么具体情形纳入国家赔偿，由哪个机关承担义务，怎样提出可以核查的请求？第四十一条没有逐项写完。已有权利和仍需制度，并不矛盾。接下来先看普通法律实际增加了什么，再把这些信息接回宪法，不能只从最高两个字一步跳到所有个案结论。
教师备查，不朗读
不把全部国家赔偿规则归为本例行政违法标准；未讨论法院直接援引宪法的完整争论。
本页出处
宪法第41条第3款；同一违法行政拘留教学设例
来源及定位
中华人民共和国宪法（2018年修正）
https://www.mofcom.gov.cn/xxgcxjpxsdzgtsshzysx/zywj/art/2018/art_45c1e16fe351469090d53e63178268c8.html
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P16｜“根据宪法”，先告诉我们什么？
下节（本节0—45分钟）｜本节约2.5—4.7分钟
默认按页顺讲。页定位为备课估算；最终口读校正与独立活动见同版容量报告，不是教师实测。
【翻至P16｜“根据宪法”，先告诉我们什么？】（不朗读）
1. 逐字讲述
把宪法第41条与国家赔偿法第1条并在一起。第1条写出两个目的：保障依法取得国家赔偿的权利，促进国家机关依法行使职权。最后写明根据宪法制定。赔偿不是脱离国家权力运行的另一件事，对侵害依法承担赔偿义务，也是规范权力运行的一部分。
2. 逐字讲述
起首句有明确的信息价值。它告诉我们这部法律的制定依据和所要完成的任务。但是，如果一位工作人员现在就要处理赔偿请求，只把“根据宪法”读三遍，还不能知道该请求属于哪种情形、哪个机关负义务。
3. 逐字讲述
国家赔偿法是普通法律，正因如此，这个例子还能检验上节所说的立法约束。宪法确认要求，国家赔偿法在这个要求下作进一步安排。这不是让后一部法律取得了决定宪法是否有效的权力，也不是它只要写明依据，就不必再说明具体制度。我们读制定目的，是为了知道安排要回应什么；读具体规定，才知道它怎样组织回应。
4. 逐字讲述
所以，理解两部法律的关系，不能停在国家赔偿法第1条的依据声明。还需要看普通法律用哪些具体规则承接宪法要求。接下来我们只抓住两条主要材料：第3条说明本例的赔偿情形，第7条说明承担义务的机关。
本页出处
宪法第41条第3款；国家赔偿法第1条（2012年第二次修正）
来源及定位
中华人民共和国宪法（2018年修正）
https://www.mofcom.gov.cn/xxgcxjpxsdzgtsshzysx/zywj/art/2018/art_45c1e16fe351469090d53e63178268c8.html
第41条第3款
国家赔偿法
https://fgk.chinatax.gov.cn/zcfgk/c100009/c5211800/content.html
第1条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P17｜法律先回答：哪些情形进入这项赔偿？
下节（本节0—45分钟）｜本节约4.7—7.4分钟
默认按页顺讲。页定位为备课估算；最终口读校正与独立活动见同版容量报告，不是教师实测。
【翻至P17｜法律先回答：哪些情形进入这项赔偿？】（不朗读）
1. 逐字讲述
国家赔偿法第2条先把本法赔偿权与行使职权、法定侵权情形、合法权益及损害联系起来。材料D保留了这段范围说明。我们现在聚焦行政赔偿中的一项情形，请读第3条起句和第一项。
2. 逐字讲述
对照两段可以看到，第一个层次给本法适用的共同范围，第二个层次才进入行政赔偿的一项具体情形。今天不把行政赔偿的违法拘留标准扩成全部国家赔偿的统一公式。工作人员属于公安机关，也不能代替对职权性质的判断；同一职业的人在私人交往中的行为，与以机关名义行使行政职权，不是同一项法律问题。
3. 逐字讲述
它不是只要出现公安机关几个字，就直接得出赔偿结论。我们必须看机关当时是在行使什么职权，发生什么行为，是否属于条文规定的侵害。本课只取行政职权中的违法拘留。刑事侦查中的拘留和其他赔偿类型，不能直接套用这一项。
4. 逐字讲述
这时可以看出普通法律新增的第一层信息：它在宪法的权利要求下，区分并规定具体适用情形。宪法第41条使我们知道存在这样的根本权利依据；第3条则使我们能够对一项给定事实继续判断。
5. 逐字讲述
把条件看清不是在回避保障权利。刚才设例已经给出行政职权、违法拘留和人身自由侵害，可以沿这项规定继续判断。真实请求若尚未查明这些信息，就要依法核实，不是见到机关名称便下结论，也不是对已有充分依据仍一律说资料不足。接着还有第二层：由谁依法承担赔偿义务？
教师备查，不朗读
本页正文较长，允许22磅引文；不得截去行政职权条件。2010年已修改第2条表述，不能把全法一律说成违法归责。
本页出处
国家赔偿法第2条第1款、第3条起句及第1项；其他项略
来源及定位
国家赔偿法
https://fgk.chinatax.gov.cn/zcfgk/c100009/c5211800/content.html
第2条第1款、第3条起句及第1项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P18｜法律还回答：谁依法承担赔偿义务？
下节（本节0—45分钟）｜本节约7.4—10.7分钟
默认按页顺讲。页定位为备课估算；最终口读校正与独立活动见同版容量报告，不是教师实测。
【翻至P18｜法律还回答：谁依法承担赔偿义务？】（不朗读）
1. 逐字讲述
再看第七条第一款。行政机关及其工作人员行使行政职权侵犯公民、法人和其他组织的合法权益造成损害的，该行政机关为赔偿义务机关。本设例是单一机关以自己的名义行使行政职权，相应县公安局因而是赔偿义务机关。法律不只给我们多一个名称，它给请求确定了制度上的承担者。
2. 逐字讲述
为什么不只找造成侵害的具体工作人员？追究责任当然重要，但在这个设例中，受害人面对的是机关名义下国家职权的行使。让相应机关依法承担对外义务，正同这一职权性质相连。它不把这种责任完全推回受害人同某个个人的私人交往；也不因有机关身份，就把这个人的任何私人行为都归为国家赔偿。
3. 逐字讲述
如果一位承办人态度友善，愿意耐心接待，当然有价值。但法定条件已经成立时，受害人请求的根据不只在于碰上一位好心人。换了承办人，机关的义务不会因此取消。友善可以使办理更体贴，法律则使相应办理成为应当承担的事。对人的善意和对机关义务的确认，可以同时存在，不能拿其中一种替代另一种。
4. 逐字讲述
这里的义务也不是只说话客气。国家赔偿法第二条第二款要求赔偿义务机关及时履行赔偿义务；第七条确定主体，意味着对符合条件的请求应依法承担赔偿。听取请求、核对事实、作出依法判断和履行相应义务，属于实际制度工作。只安排一个接待窗口而不履行法定义务，并没有完成这一规范要求。
5. 逐字讲述
机关赔偿不意味着具体人员当然免责，法律另有追偿或责任规定。但是否追偿有条件，不是每次赔偿一律让个人全额承担；相关原文留备查。今天主线看对外的机关义务，不展开追偿。现在把情形和义务主体接起来，看它们使我们能够形成怎样的有限判断。
教师备查，不朗读
第16条不在主线独立读文。只有需要展开时连同赔偿后、故意或者重大过失、部分或者全部费用等条件说明。
本页出处
国家赔偿法第2条第2款、第7条第1款；第16条仅教师备查
来源及定位
国家赔偿法
https://fgk.chinatax.gov.cn/zcfgk/c100009/c5211800/content.html
第7条第1款
国家赔偿法
https://fgk.chinatax.gov.cn/zcfgk/c100009/c5211800/content.html
第7条第1款、第16条第1款；2026-10-06核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P19｜把已经确认的权利，安排成可以办理的请求
下节（本节0—45分钟）｜本节约10.7—12.2分钟
默认按页顺讲。页定位为备课估算；最终口读校正与独立活动见同版容量报告，不是教师实测。
【翻至P19｜把已经确认的权利，安排成可以办理的请求】（不朗读）
1. 逐字讲述
提出请求的途径也是制度工作。国家赔偿法第九条第二款规定，应当先向赔偿义务机关提出，也可以在申请行政复议或者提起行政诉讼时一并提出。完整相关款在资料册，不能只截前半句让大家误以为任何情形都必须走唯一独立路线。今天只用它说明制度还安排入口，不记路线、期限与管辖。
2. 逐字讲述
把已经取得的信息接回第四十一条：普通法律没有把“有赔偿权”重复几遍，而是增加具体情形、义务主体和提出途径。真正处理请求，需要这些规则提供判断依据。可办理不表示每个人提出的全部主张都会成立，而是让事实可以被依法核实、责任可以被依法确定。下面用原来的甲作一次教师带领的有限判断，再继续看怎样取得判断所需的信息。
教师备查，不朗读
第9条准确短用，不另开独立路线任务；不是本讲考核安排。
本页出处
宪法第5、41条；国家赔偿法第3、7、9条
来源及定位
中华人民共和国宪法（2018年修正）
https://www.mofcom.gov.cn/xxgcxjpxsdzgtsshzysx/zywj/art/2018/art_45c1e16fe351469090d53e63178268c8.html
第5、41条
国家赔偿法
https://fgk.chinatax.gov.cn/zcfgk/c100009/c5211800/content.html
第3、7、9条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P20｜同一请求：已有依据支持怎样的判断？
下节（本节0—45分钟）｜本节约12.2—14.8分钟
默认按页顺讲。页定位为备课估算；最终口读校正与独立活动见同版容量报告，不是教师实测。
【翻至P20｜同一请求：已有依据支持怎样的判断？】（不朗读）
1. 逐字讲述
现在由我们一起把事实和规则接起来。甲的人身自由因行政职权中的违法拘留受到侵害，落在第三条第一项所列情形；题设又明确县公安局工作人员以本机关名义行使职权，第七条第一款使该县公安局成为本例义务机关。因此，甲有依照国家赔偿法取得赔偿的权利，相应义务由这个机关承担。
2. 逐字讲述
这两项判断为什么可以确定？不是因为我们先觉得甲可怜，也不是因为抽象地说宪法最高，而是事实与适用规则已经给到。本例未给赔偿金额，不妨碍情形和机关两项有限结论；也不能因此自行补出金额、全部办理步骤或工作人员的个人责任。结论要同根据所能支持的范围相称。
3. 逐字讲述
反过来，现实中若只有“某个人限制了甲的自由”一句话，谁以什么身份行事，何种职权，行为是否合法，是否符合法定情形，都还需要核查。未知事实不能被一个正当目的或一个机关名称填掉。这里的事实已给定，让我们可以看清具体法律增加的信息；并不是说现实请求人一概须先取得另一份确认违法决定，本讲没有作这种程序要求。
4. 逐字讲述
这也解释了一种常见跳步：只有第四十一条，便想一下跳到某一机关、具体数额和全部程序。宪法已经提供权利根据，却不表示个案的所有信息齐备。普通法律进一步形成安排，办理时还要依法取得事实。三者承担不同工作，下面的第十二条正使其中一种工作看得更细。
教师备查，不朗读
默认教师带领有限判断，不单设独立写作及重复讲评。保持给定事实和单一机关范围。
本页出处
宪法第41条第3款；国家赔偿法第3条第1项、第7条第1款；原任务3与讲评合并
来源及定位
国家赔偿法
https://fgk.chinatax.gov.cn/zcfgk/c100009/c5211800/content.html
第3条第1项、第7条第1款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P21｜宪法已有要求，具体办法仍要形成
下节（本节0—45分钟）｜本节约14.8—19.1分钟
默认按页顺讲。页定位为备课估算；最终口读校正与独立活动见同版容量报告，不是教师实测。
【翻至P21｜宪法已有要求，具体办法仍要形成】（不朗读）
1. 逐字讲述
刚才一直在读普通法律，宪法还在哪里？它仍然在根据和约束的位置。第四十一条已经确认相应赔偿权，第五条要求普通法律不得抵触宪法。第三、七、九条进一步增加情形、义务机关与提出途径。规范已经有约束力，和办理细节全部写完，是两个不同判断，不能把后一件事尚需工作理解成前一件事从来没有效力。
2. 逐字讲述
“依照法律规定”也不表示立法者可以随意决定承不承认第四十一条的要求。法律要形成具体制度，就需要作区分和选择；但这种选择仍在宪法之内。若一种安排实际排除了应当保障的请求，我们仍应核查它怎样回应宪法要求，不能说只要写进普通法律就无需再问。具体条文是否抵触，仍须看完整内容和适用情形，不能只凭课堂感受宣布法律失效。
3. 逐字讲述
现在把注意力放到一个真实制度困难：机关怎样知道请求人究竟要求什么，事实根据是什么，理由是什么？刚才甲的事实是题目给的，实际办理不能从教师的设例中拿到。有人提出请求，需要有可以记录、核对和判断的内容。依法核实因此有保障意义：既帮助确认应当回应的请求，也使不同情况能够依规则作区分。
4. 逐字讲述
也可以检验两种看似顺口的解释。一种说，既然宪法有效，就根本不该再规定申请条件；它把根本效力同全部办理办法混同了。另一种说，既然要依法律规定，宪法就先不约束具体安排；它把制度工作同根本约束分开了。甲的情形已经表明两项工作同时需要：有权利根据，还要按法定情形判断；有具体制度，制度仍须回应根本要求。
5. 逐字讲述
如果只说“为保障权利，任何条件都不要”，就没有回答怎样把请求说清、怎样依法判断。相反，只说“办理要统一，人人必须完全用同一种方式”，又可能忽略请求人取得这种形式的真实困难。这里值得认真处理的，不是条件越多还是越少的口号，而是某项要求到底服务什么工作，该工作能否用另一种可行方式完成。
6. 逐字讲述
直接看第十二条节录。要求赔偿应当递交申请书，申请书应当载明“具体的要求、事实根据和理由”。这是我们今天取的第一层：办理需要信息。信息要求使机关知道要判断什么，不让请求只停在一个无法核查的结论。同一条随后又处理书写确有困难的情形，这就是下一层制度选择。
教师备查，不朗读
本页建立已有约束与仍需制度的关系，并进入信息问题。不另设回看圈画活动，条文随讲指读。
第12条第1款节录含起句和第2项，非申请书全部栏目。完整全文回查官方页；本讲不教授栏目、期限或管辖。
单元缩讲S2｜缩讲S2 信息要求与办理方式的等义短讲
仅在本单元开始前采用，替换该单元完整口述，保留原2分钟解释机会；其余单元不变，长短不重复。
刚才一直在读普通法律，宪法还在哪里？第四十一条已确认相应赔偿权，第五条要求普通法律不得抵触宪法。国家赔偿法进一步增加情形、义务机关和提出途径。需要这些安排，不表示宪法此前无效；已有最高效力，也不表示个案细节都已写完。
依照法律规定，给具体制度留下工作，不能让立法者任意排除宪法要求。安排是否抵触，仍须看完整内容和适用条件，不能只凭课堂感受宣布法律失效。
现在看办理所需的信息。甲的行政职权、违法拘留和自由侵害是原题给定的；实际办理必须依法核实，不能从设例取得事实。第十二条规定，要求赔偿应当递交申请书，申请书应当载明有关事项，其中包括具体的要求、事实根据和理由。它使机关知道请求什么、根据什么，不靠猜测作判断。
信息要求有助于区分应当保障的请求，却不能仅凭这一用途就证明每种取得信息的办法都不可改变。需要信息与需要唯一形式，是下一步要分开的判断。
同一条第二款继续规定：赔偿请求人书写申请书确有困难的，可以委托他人代书；也可以口头申请，由赔偿义务机关记入笔录。书写确有困难是条件，口头申请之后还有记入笔录，不是取消全部信息要求。
书面形式便于固定请求和事实理由，但这种用途不能直接证明必须由本人亲笔完成。一个人写不出申请书，不等于没有事实，更不等于没有法定请求。把书写能力代替内容判断，便混淆了表达障碍与请求是否成立。
现在明确增加一个教学条件：甲书写申请书确有困难，原题其他条件不变。它不是原题已经给出的事实，也不指称某机关真的拒绝甲。若坚持写不出就只能拒绝，没有回应法定替代；若说有困难便不要事实和理由，也没有完成核实任务。
代书改变文字由谁写，口头申请加笔录改变信息取得和记录的方式，仍保留依法判断所需内容。比较制度时可以问：要求与核实任务有什么关联；是否有仍完成任务的可行替代；对提出请求的机会有什么影响。这里的信息有必要，亲笔唯一却不能从该必要性直接推出；法律给出的替代减少形式障碍，未替代实体判断。
这是对实际材料的课堂分析，不是正式合宪性审查模型。也不能把本条扩大为所有领域都可无条件口头办理，更不能编造当年存在两派争论。
现在请用第十二条说明：甲书写确有困难，是只能拒绝，还是可以不要事实和理由？写出另一种安排，说明保留什么、改变什么，再加一句限度。
可以这样解释：仍须有具体的要求、事实根据和理由；书写确有困难时可以代书，也可口头申请，由机关记入笔录。改变取得信息的方式，保留记录与核实所需要求，使请求有机会依法办理，却没有证明所有事实已经核实、全部主张必然成立。原题给定事实可支持原来的有限结论，教学新增的书写困难则支持本次方式比较，二者根据不能互相冒充。
只说兼顾双方，尚未指向代书或口头加笔录的实际动作；只说口头就行，漏了困难条件和记录；只说仍需事实，又没回答障碍怎样处理。表达顺序可以不同，关键是依据和两层关系完整。
一项方式回应了具体困难，不能独自证明全法合宪、金额确定或所有请求已获救济。普通法律是在宪法要求下形成制度，机关还须依法取得信息并履行义务。这使我们继续追问：法律已经规定，实际实施仍需要哪些工作？
本页出处
宪法第5条第3款、第41条第3款；国家赔偿法第12条第1款起句及第2项
来源及定位
中华人民共和国宪法（2018年修正）
https://www.mofcom.gov.cn/xxgcxjpxsdzgtsshzysx/zywj/art/2018/art_45c1e16fe351469090d53e63178268c8.html
第5、41条
国家赔偿法
https://fgk.chinatax.gov.cn/zcfgk/c100009/c5211800/content.html
第3、7条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P22｜必要信息与取得信息的方式，可以分开
下节（本节0—45分钟）｜本节约19.1—25.8分钟
默认按页顺讲。页定位为备课估算；最终口读校正与独立活动见同版容量报告，不是教师实测。
【翻至P22｜必要信息与取得信息的方式，可以分开】（不朗读）
1. 逐字讲述
再读第十二条第二款：赔偿请求人书写申请书确有困难的，可以委托他人代书；也可以口头申请，由赔偿义务机关记入笔录。请留意完整条件“书写申请书确有困难”，还要留意口头申请之后的动作“记入笔录”。法律不是把所有申请书一概取消，也不是口头说一句就可以放弃记录。
2. 逐字讲述
书面形式有现实用途。它把具体请求和事实理由固定下来，使请求人与办理者知道正在处理什么，也便于后续核对。若请求内容只有一个模糊的不满，机关无法据此判断全部条件，其他人的合法权益和公共责任也不能靠猜测处理。因此，不能为强调权利就把核查要求说成没有意义。
3. 逐字讲述
但书面形式的用途，不等于只能由请求人亲自写出全部文字。一个人书写确有困难，不必因此没有事实，也不必因此没有法定请求。把能否亲自写出申请书直接当成是否值得办理的判断，就把表达方式的障碍，变成对请求内容的先行结论。两件事本来不同，不能拿前一种能力替代后一项依法判断。
4. 逐字讲述
第十二条提供了实际替代。代书改变文字由谁写，口头申请并记入笔录改变信息怎样取得、怎样被记录；这两种安排仍然围绕核实所需内容进行。必要信息可以继续取得，原来的书写困难也不再只能由请求人独自承担。所谓具体化，至此就不只是多写几个条件，它还需要安排机关怎样让依法判断成为可能。
5. 逐字讲述
为什么不直接把所有要求取消？假如请求没有明确内容，事实和理由也没有记录，办理者甚至不知道双方正在讨论是否发生过同一行为。这样造成的不确定，可能反而妨碍应有的保障。第十二条没有让便利取代依法判断，它选择的是保留能核实的内容，同时改变某一形式怎样完成。这让我们看到，解决障碍可以落在一个具体动作上。
6. 逐字讲述
用甲的请求作一个清楚标明的教学延伸：现在只再假定甲书写申请书确有困难，其他给定事实不变。若要求“必须亲自写，写不出就不让提出”，没有回应法律规定的替代方式；若说“既有困难，就不用具体要求、事实和理由”，也误解了同一条。已有信息要求继续有用途，取得信息的办法可以调整。
7. 逐字讲述
又为什么不认为同样要求本人书写，便对每个人都一样公平？同一句形式要求落在不同处境中，实际完成的难度可能不同。这不使机关可以按喜好对待人，而是说明形式统一尚不能独自证明机会充分。现行法明确给出书写确有困难这一条件，并安排可行方式。依法使用这种方式，是遵循规则的一部分，不是工作人员凭私人关系额外放宽。
8. 逐字讲述
这是条件明确的教学延伸，并非真实案件或已经发生的办理结果。它把第二款的适用条件放进已讲对象，让我们比较信息要求与取得信息的方式。
9. 逐字讲述
现在可以把比较说得更精确。第一，要求同依法核实的任务有什么关联？具体请求、事实和理由有清楚关联；个人必须亲笔完成是否也不可替代，需要继续说明。第二，是否存在仍能完成任务的可行替代？条文给出的代书和口头申请加笔录，在法律规定范围内回应了这个问题。第三，这种安排对提出请求的机会有什么影响？它减少了书写困难造成的形式障碍，但没有代替实体条件判断。
10. 逐字讲述
这几个标准来自对材料的课堂分析，不是一套正式合宪性审查模型。我们也没有说任何便利措施都必须无条件采用。法律已经给出的替代可以据以理解；换一个领域、另一项请求或一种不同程序，还要查自己的规范和实际条件，不能把第十二条当成所有法律程序可以口头办理的通行许可。
教师备查，不朗读
本页第二块保留第12条第2款完整文字。现实困难是法律实际处理的条件，甲的增加条件明确为教学延伸，不编史实或当年两派争论。
不把课堂三项追问称为正式审查模型或通用程序权利。
本页出处
国家赔偿法第12条第1款起句、第2项及第2款；甲书写困难为明确教学延伸
来源及定位
中华人民共和国宪法（2018年修正）
https://www.mofcom.gov.cn/xxgcxjpxsdzgtsshzysx/zywj/art/2018/art_45c1e16fe351469090d53e63178268c8.html
第5条第3款、第41条第3款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P23｜理解检查：改变方式，是否放弃了要求？
下节（本节0—45分钟）｜本节约25.8—32.6分钟
默认按页顺讲。页定位为备课估算；最终口读校正与独立活动见同版容量报告，不是教师实测。
【翻至P23｜理解检查：改变方式，是否放弃了要求？】（不朗读）
1. 逐字讲述
我们在这里保留下节一次独立解释。甲书写确有困难，是只能拒绝，还是可以不要事实和理由？请用刚才的条文指出另一种可行安排，并说明它保留了什么要求、改变了什么方式。再加一句限度：这种方式是否已证明甲的全部主张、具体金额及实际履行结果？不是只答两个主张都不好，要把理由接起来。
2. 活动，不朗读（2分钟）
独立对读第12条并写两三句80秒；请一名学生解释最多40秒。教师的下列回收是已写口述，不再另计。快情景90秒，常规120秒，慢情景150秒；不预设讨论热烈。
3. 逐字讲述
一种有根据的解释是：办理仍需要具体的要求、事实根据和理由，书写确有困难时可以代书，也可以口头申请，由赔偿义务机关记入笔录。改变取得信息的方式，没有放弃记录和核实所需的信息；让请求有机会进入依法办理，也不等于所有主张已经成立。用自己的顺序讲，只要这两层和依据完整，都可以接受。
4. 逐字讲述
如果只答“法律要兼顾双方”，还可以再问：兼顾究竟体现在哪个动作？答案在代书和口头申请加笔录，而不在一句态度。若只答“口头申请就行”，则漏掉书写确有困难的条件和机关记入笔录的安排。若只说“仍需事实”，又未说明实际困难怎样被回应。我们要形成的是能指向材料的判断。
5. 逐字讲述
在本设例中，原给定的违法行政拘留与相应机关义务判断继续成立，采用口头方式不会把它们改回未知。甲提出的其他主张、具体数额和实际办理结果，则不能仅从这种方式推出。现实办理仍须依法核实具体请求和相应事实，不能把本课题设当成现实证据。若另一道题未给书写确有困难，也不能单凭不愿书写就认定第二款条件已成立。方式、事实和其他请求内容，需要各自的根据。
6. 逐字讲述
再看它没有证明什么。它不证明每位请求人的全部事实都已核实，不证明赔偿金额和所有程序已经确定，也不能凭一条较周全的方式，宣布整部法律所有规定都已合宪、现实中的所有请求都得到救济。具体方式合理到哪一步，要同所解决的任务相称；未解决全部问题，也不使这项实际安排失去价值。
7. 逐字讲述
从甲的延伸回到一般关系，普通法律具体化宪法不是机械抄写，也不是任意摆布。它在根本要求下安排情形、主体和可操作办法；这些办法继续需要理由和核查。尊重制度选择，不能免除宪法约束；承认宪法约束，也不能假定每一项办理细节早已逐字藏在第四十一条里。
8. 逐字讲述
这里还应看见国家机关的积极义务。口头申请并记入笔录，包含机关实际要完成的工作。若只有纸面上的允许，机关却不依法取得和记录信息，请求人仍可能难以进入办理。反过来，机关实际帮助记录，也不能跳过事实与责任判断。这使我们从制度办法自然进入下一个问题：法律已经规定，实施还需要哪些工作？
教师备查，不朗读
这是下节唯一独立解释检查。正面判断、可接受不同顺序和关键漏项同步逐题讲评。不能把示范后即时回答视为独立迁移已经证明。
本页出处
国家赔偿法第12条；宪法第5、41条；解释机会及教师回收
来源及定位
中华人民共和国宪法（2018年修正）
https://www.mofcom.gov.cn/xxgcxjpxsdzgtsshzysx/zywj/art/2018/art_45c1e16fe351469090d53e63178268c8.html
第5、41条
国家赔偿法
https://fgk.chinatax.gov.cn/zcfgk/c100009/c5211800/content.html
第3、7、9条
国家赔偿法
https://fgk.chinatax.gov.cn/zcfgk/c100009/c5211800/content.html
第12条第1款起句、第2项与第2款；不教授期限和管辖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P24｜把关系迁移到普通法律的起首句
下节（本节0—45分钟）｜本节约32.6—35.1分钟
默认按页顺讲。页定位为备课估算；最终口读校正与独立活动见同版容量报告，不是教师实测。
【翻至P24｜把关系迁移到普通法律的起首句】（不朗读）
1. 逐字讲述
这层认识可以用一个很短的比较检验。普通法律没有写“根据宪法”，是否因此不受约束？仍然受约束，因为第五条的要求不由普通法律自行选择接受。写了这句话，是否已经证明每个条款都符合宪法？也没有，起首句说明制定依据，具体内容、权限和程序仍要判断。
2. 逐字讲述
我们读国家赔偿法第一条时，能够确定它明示宪法依据并表达保障赔偿权、促进依法行使职权的目的；读第三、七、十二条，才进一步看见具体安排。依据声明不能代替全部制度内容，制度内容又不能离开根本约束。这不是挑剔一句起首语，而是在区分不同材料分别能证明什么。
3. 逐字讲述
同样，国家机关说自己为公共利益办事，也不能单凭目标证明任何具体措施已经获得权限。目标有意义，权限、条件和事实仍需要依据。若材料没给具体授权，能够说明尚未完成证明，不能直接断言法律客观上没有授权、行为必然违法或必然产生赔偿。我们今天不另开这个设例，只留下准确界限；第五讲以后再深入具体权利与限制。
4. 逐字讲述
于是，普通法律没有写根据宪法，约束仍存在；有制定目的，具体判断仍须继续。这两句把我们带回实施：既不能等现实全部做好才承认规范有效，也不能因规范已经写明，就宣称具体工作已完成。接下来看一份真正发生在施行之前的材料。
教师备查，不朗读
迁移短比较不另设写作、交换或第二次检查；目的/权限完整旧题留备查。
本页出处
任务5｜宪法第5条；国家赔偿法第1条用于对照
来源及定位
中华人民共和国宪法（2018年修正）
https://www.mofcom.gov.cn/xxgcxjpxsdzgtsshzysx/zywj/art/2018/art_45c1e16fe351469090d53e63178268c8.html
第5条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P25｜法律将要施行，为什么还要布置具体工作？
下节（本节0—45分钟）｜本节约35.1—41.9分钟
默认按页顺讲。页定位为备课估算；最终口读校正与独立活动见同版容量报告，不是教师实测。
【翻至P25｜法律将要施行，为什么还要布置具体工作？】（不朗读）
1. 逐字讲述
一九九四年，国家赔偿法已经通过并公布，将于一九九五年一月一日起施行。临近施行，国务院办公厅在十二月二十二日发出实施通知。这份通知保存了当时实际要处理的问题：法律已经有了，为什么仍要专门布置工作？
2. 逐字讲述
先看通知怎样说明来历。它明确援引宪法的赔偿规定，并说国家赔偿法在行政诉讼法有关行政赔偿规定的基础上，对行政赔偿范围、程序、标准作了具体规定，增加刑事赔偿内容，形成比较完备的国家赔偿制度。因此，一九九四年不是此前毫无依据、一部专法突然创造了全部赔偿要求。已有宪法权利和行政赔偿基础，随后作更系统的专门法律安排。
3. 逐字讲述
这个过程同我们刚才的解释相呼应。宪法已有要求，普通法律继续组织具体制度；先前已有部分制度，也不表示后续所有安排已经写完。法律发展的问题，不总是从无到有，还可能是把已有保障进一步具体化、系统化。我们今天不展开整部国家赔偿沿革，只取通知自己明确说明的这一层。
4. 逐字讲述
再看原公报下一页的标题：“确定受理赔偿请求的具体工作机构和人员”。通知继续提出，可能承担赔偿义务的行政机关，需要有具体处理赔偿事务的机构，并抓紧配套制度建设。它没有只要求把法律名称挂在墙上；实际受理、审查和依法回应请求，需要有人承担具体工作，也需要相应安排。
5. 逐字讲述
为什么法律确定了义务机关，还需要这些组织工作？第七条使我们知道哪一个机关承担义务，但一位请求人来提出请求，机关仍须组织谁受理、怎样记录、如何核实并依法判断。权利依据、法定责任和具体工作衔接起来，制度才有实施的条件。刚才第十二条允许口头申请并记入笔录，也在提醒我们：一个明确办法往往同时包含机关要做的事。
6. 逐字讲述
注意，这里说的是实施条件，不是说只要机构成立就保证每项赔偿都及时完成。通知布置任务，不是任务已经充分完成的成绩单。它能证明当时提出了什么工作要求，不能证明每个地方怎样履行，更不能替今天的实际请求证明结果。原通知对当时法律的说明，也不代替我们刚才所读的现行条文。
7. 逐字讲述
这种实施准备也使机关责任更具体。法律规定机关负义务，内部就应有人依制度处理，不能因为请求在几个岗位间流转便说没有人负责。我们这里只解释组织工作的必要性，没有把当年的机构分工当作今天的通行规定。通知能够证明提出过任务；今天哪一机关怎样履行，还要依据当下制度和事实核查。
8. 逐字讲述
把三层分开，故事的意义才完整。第一层是已有权利与法律基础；第二层是专法的系统安排；第三层是施行中的组织和履行。法律将要施行，并不使此前宪法第一次获得效力；施行还需准备，也不允许机关任意拒绝本来应遵循的规范。恰恰因为有明确义务，我们才能追问工作有没有依法完成。
9. 逐字讲述
再回到甲。同一件事里有两个不同国家行为：违法拘留造成侵害，依法办理赔偿回应侵害。后者不会把前者变成合法，却完成应当提供的救济工作。若请求未依法处理，需要查清哪个环节违反要求；若赔偿依法履行，也不能因此宣布过去合法或以后不必继续依法履职。具体追责和全面监督不在今天展开。
10. 逐字讲述
所以，这张图的连线表示制度联系，不表示条文自动兑现。宪法确认和约束，普通法律形成具体安排，国家机关据事实与规则履行义务，权利通过相应制度得到依法保障。效力、制度可操作和实际效果有关联，却各需自己的根据。看见现实不足，是继续依法追问的起点，不是抹掉规范；看见明确条文，是工作应有根据，也不是效果已经证明。
教师备查，不朗读
本轮回看PDF56、57、58原图，短引标题与组织任务均依原页。通知不是今日个案程序依据，不由其安排推出实施效果。
本页出处
国办发〔1994〕106号；原公报印刷1208—1210/PDF56—58；现行宪法第5、41条与国家赔偿法第7、12条
来源及定位
中华人民共和国宪法（2018年修正）
https://www.mofcom.gov.cn/xxgcxjpxsdzgtsshzysx/zywj/art/2018/art_45c1e16fe351469090d53e63178268c8.html
第5、41条
1994年国务院公报
https://www.gov.cn/gongbao/shuju/1994/gwyb199431.pdf
印刷1209—1210/PDF57—58；历史背景，非今日程序依据
实施通知原公报
https://www.gov.cn/gongbao/shuju/1994/gwyb199431.pdf
印刷1209/PDF57既有基础；印刷1210/PDF58机构人员与配套；历史背景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P26｜从国家根本安排，回到一个人的请求
下节（本节0—45分钟）｜本节约41.9—44.2分钟
默认按页顺讲。页定位为备课估算；最终口读校正与独立活动见同版容量报告，不是教师实测。
【翻至P26｜从国家根本安排，回到一个人的请求】（不朗读）
1. 逐字讲述
现在把整讲回收。宪法确立国家的根本制度和任务、权力组织与公民基本地位，具有最高法律效力，并有特别修改程序。它不是在具体法律之外单独供我们赞美的文本：制定法律、组织机关、实际履职，都处在这些共同要求之中。
2. 逐字讲述
普通法律没有把宪法第一次变有效。它在宪法约束下形成具体制度，国家机关又要依法把这些制度付诸工作。甲的请求使我们读到情形、义务主体和取得信息的方式；第十二条使我们看见，制度选择可以改变方式而保留依法核实的要求；一九九四年的实施通知，又让我们看见专法有了之后仍需要组织工作。
3. 逐字讲述
回到一九五四年的照片，代表走进会场不是整个问题的终点。国家已有过渡规则，根本制度继续展开；回到甲的请求，找到一个条号也不是终点，已有保障还要通过具体法律和履职回应。两个尺度在这里相接：国家怎样组织权力，关系到个人能依据什么提出请求、由谁依法承担义务。
4. 逐字讲述
第一讲到这里。下一讲转向宪法的发展，继续看这些根本安排怎样形成和调整。今天形成的是一条关系：国家权力依法组织起来，也要持续处在规范和权利要求之中。后续每一讲都会在这条关系上增加新的制度内容。
教师备查，不朗读
教师连续回收，不另设课末写作；没有真人试读或学生学习效果数据。
本页出处
任务7及第一讲收束；下一讲：宪法的发展
来源及定位
中华人民共和国宪法（2018年修正）
https://www.mofcom.gov.cn/xxgcxjpxsdzgtsshzysx/zywj/art/2018/art_45c1e16fe351469090d53e63178268c8.html
序言及第2、3、5、33、41条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P27｜备查：特别门槛与全体一致模型
教师备查：默认放映隐藏，不属于默认课堂主线。
原演算、权限设例或扩展论证保留查读。若另行纳入课堂，须按实际替换内容重新核本节容量，不能沿用旧E/C课堂路线。
1. 逐字讲述
在明确课堂假设下，其他程序条件都符合，全体代表百分之六十赞成：宪法修改未达三分之二以上，不能通过；法律和其他议案已过半数，可以通过。只说多数赞成不够，须辨认同一全体代表基数下要求哪种多数。
2. 逐字讲述
另一项条件分析是，其他条件不变，将三分之二提高为全体一致。更广泛同意可能减少强烈反对下的改变；少数反对也将更容易阻止已经被许多人认为必要的调整。改变更难，不独自证明维持原文更正确。这不是我国实际会议故事，也没有证明何种比例在所有制度中最优。
3. 逐字讲述
我国实际门槛仍按第六十四条适用。完整法定过程留第二讲，此处假设不能改变现行规定。主线已作必要比较，因此这段只供教师需要进一步解释时阅读，不自动加入默认课堂。
教师备查，不朗读
长模型和演算退出默认，本页为备查，不让教师在默认主线逐页选择。
本页出处
任务2｜宪法第64条
来源及定位
中华人民共和国宪法（2018年修正）
https://www.mofcom.gov.cn/xxgcxjpxsdzgtsshzysx/zywj/art/2018/art_45c1e16fe351469090d53e63178268c8.html
第64条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P28｜备查：目标与具体权限的资料缺口
教师备查：默认放映隐藏，不属于默认课堂主线。
原演算、权限设例或扩展论证保留查读。若另行纳入课堂，须按实际替换内容重新核本节容量，不能沿用旧E/C课堂路线。
1. 逐字讲述
明确教学设例：某机关声称为了公共利益，限制乙的行动；现有信息仅此。单凭抽象目标，不能证明具体措施已经获得合法授权。还需要查什么机关、什么职权、采取何种措施、哪项法律依据、何种事实条件和程序。
2. 逐字讲述
这里资料不足是有具体对象的不足。未提供授权，不等于已经证明法律客观上无授权；更不能直接推出行为必然违法或乙当然取得赔偿。甲的设例已经给足违法行政拘留等条件，因此能作有限判断；乙的材料没有给出关键事实，结论须留在所掌握根据的范围内。
3. 逐字讲述
及时履职和公共目的可能有意义，但它们不能代替具体权限依据。法律若已设相应职权，也不能因为有限制就一概说机关不能行动。原则约束权力，却不自动授予任何具体措施的权限。主线只作一句迁移，这份完整材料供后续基本权利课或本节按需查读。
教师备查，不朗读
原任务6及讲评合并备查；不作默认第二次独立作答。
本页出处
任务6｜教学设例；宪法第5、33条等作规范背景
来源及定位
中华人民共和国宪法（2018年修正）
https://www.mofcom.gov.cn/xxgcxjpxsdzgtsshzysx/zywj/art/2018/art_45c1e16fe351469090d53e63178268c8.html
第5、33条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P29｜备查：机关地位与规范效力
教师备查：默认放映隐藏，不属于默认课堂主线。
原演算、权限设例或扩展论证保留查读。若另行纳入课堂，须按实际替换内容重新核本节容量，不能沿用旧E/C课堂路线。
1. 逐字讲述
再对读两处容易使人迟疑的文字。第五十七条说全国人大是最高国家权力机关，第五条又要求一切国家机关遵守宪法。最高国家权力机关怎么也受到约束，这是不是自相矛盾？请先把两处的比较对象写清。
2. 逐字讲述
一种疑问是，如果最高机关也受约束，似乎就还需要找一个更高的机关。这种想法把机关在国家机构中的地位，与规范对于机关的约束合成了一张机关排名表。第五十七条回答的是国家机构的地位，第五条回答的是国家活动须遵守什么规范。遵守宪法并不要求我们在最高机关之上凭空另造一个机关。
3. 逐字讲述
这个区别为什么有用？因为如果仅凭机关地位最高，就推成每次决定都可以不遵守宪法，宪法规定的权限和修改程序便会被机关地位自行排除。刚才第六十四条已经提供一个具体检验：全国人大修改宪法，仍须依规定的特别多数通过。机关地位没有让程序条件消失。
4. 逐字讲述
另一面也不能漏掉。承认规范约束，不等于让任何个人自行撤销全国人大的决定，也不能跳过法定制度讨论谁有何种纠正职权。规范要求是否成立，与谁依什么权限实现监督，是相联系的两个问题；后者会在国家机构、宪法实施课程继续展开。
5. 逐字讲述
因此，我们不需要用取消其中一条来消除表面的矛盾。国家机构中的最高地位和整个法律秩序中的最高效力，比较对象不同。将二者分开，反而能同时说明权力的组织与权力的规范依据。回到本节收束时，可以用这个例子说明为什么“根本法”不是一个脱离机关运行的称号。
教师备查，不朗读
可在旧6的共同约束解释后就近深化。只选这一内容，不运行整套旧E/C路径；若无时间不影响主线知识。
本页出处
现行宪法第5、57、64条；机关地位与规范约束分别说明
来源及定位
中华人民共和国宪法（2018年修正）
https://www.mofcom.gov.cn/xxgcxjpxsdzgtsshzysx/zywj/art/2018/art_45c1e16fe351469090d53e63178268c8.html
第5、57、64条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P30｜备查：赔偿履行与此前侵害
教师备查：默认放映隐藏，不属于默认课堂主线。
原演算、权限设例或扩展论证保留查读。若另行纳入课堂，须按实际替换内容重新核本节容量，不能沿用旧E/C课堂路线。
1. 逐字讲述
再改变本课的一个条件：赔偿义务已经依法履行。有人可能认为，国家已经作出补偿，这件事对权利保障的要求是否就全部结束了？请把“这项赔偿义务已完成”和“以前的行为合法、以后不用再改进”分开判断。
2. 逐字讲述
先承认履行赔偿的真实意义。应承担的义务已经履行，与请求无人处理并不一样。不能为了强调权利仍需保障，就把已经依法提供的救济说成毫无价值。对受害人而言，法定请求得到回应本身就是需要完成的工作。
3. 逐字讲述
但赔偿针对的是此前发生的法定侵害。后来履行义务，没有改变过去行为在发生时是否符合法律的条件。如果把赔偿看成事后买到的许可，便会混淆“违反后须承担责任”与“原来就允许违反”。国家赔偿法第一条把保障赔偿权与促进依法行使职权并列，也提醒我们不能只在侵害已经发生以后理解整部法律。
4. 逐字讲述
有必要继续查的，还包括是否依法追究相应责任，履职中有哪些条件和程序需要落实，以防止同类侵害。这里不是仅凭一个假设就认定某位人员必须承担何种处分或追偿，而是辨认还存在不同的法律问题。第十六条的故意或者重大过失等条件仍要核实，不能用“已经赔了”或“造成了损害”替代全部判断。
5. 逐字讲述
再把目光放回第三十三条。尊重和保障人权，既涉及侵害发生后的救济，也涉及国家如何行使职权，怎样依法防止任意侵害。完成一种救济，不能独自证明此前没有侵害，也不能保证今后永远不再发生问题；但今后的问题需要哪些改进，同样须有事实和具体制度依据。
6. 逐字讲述
所以，评价制度时可以同时承认已经完成的义务与仍需查明的任务。这样的判断比“赔了就全部解决”更准确，也比“赔偿改变不了过去所以毫无意义”更有依据。我们没有比较赔偿金额是否足够，只是用同一件事的不同阶段，检验宪法上的要求如何持续约束国家活动。
教师备查，不朗读
可在历史实施与整讲回收之间就近深化；赔偿后、过错条件不得省略。不运行旧E/C路径。
本页出处
宪法第5、33、41条；国家赔偿法第1、7、16条；教学假设
来源及定位
中华人民共和国宪法（2018年修正）
https://www.mofcom.gov.cn/xxgcxjpxsdzgtsshzysx/zywj/art/2018/art_45c1e16fe351469090d53e63178268c8.html
第5、33、41条
国家赔偿法
https://fgk.chinatax.gov.cn/zcfgk/c100009/c5211800/content.html
第1、7、16条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P31｜本讲主要依据与阅读入口
课后来源页，不计主线口述。
教师备查，不朗读
来源页不计主线口述。中文原作为表达研究，不作法律论据。
本页出处
具体网页、印刷页及PDF物理页见研究与来源记录
来源及定位
中华人民共和国宪法（2018年修正）
https://www.mofcom.gov.cn/xxgcxjpxsdzgtsshzysx/zywj/art/2018/art_45c1e16fe351469090d53e63178268c8.html
本讲所用条款
国家赔偿法
https://fgk.chinatax.gov.cn/zcfgk/c100009/c5211800/content.html
第1、2、3、7、9条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43E3B"/>
        </a:solidFill>
      </p:bgPr>
    </p:bg>
    <p:spTree>
      <p:nvGrpSpPr>
        <p:cNvPr id="1" name=""/>
        <p:cNvGrpSpPr/>
        <p:nvPr/>
      </p:nvGrpSpPr>
      <p:grpSpPr>
        <a:xfrm>
          <a:off x="0" y="0"/>
          <a:ext cx="0" cy="0"/>
          <a:chOff x="0" y="0"/>
          <a:chExt cx="0" cy="0"/>
        </a:xfrm>
      </p:grpSpPr>
      <p:sp>
        <p:nvSpPr>
          <p:cNvPr id="2" name="Text 0"/>
          <p:cNvSpPr/>
          <p:nvPr/>
        </p:nvSpPr>
        <p:spPr>
          <a:xfrm>
            <a:off x="795528" y="594360"/>
            <a:ext cx="10607040" cy="411480"/>
          </a:xfrm>
          <a:prstGeom prst="rect">
            <a:avLst/>
          </a:prstGeom>
          <a:noFill/>
          <a:ln/>
        </p:spPr>
        <p:txBody>
          <a:bodyPr wrap="none" lIns="0" tIns="0" rIns="0" bIns="0" rtlCol="0" anchor="t"/>
          <a:lstStyle/>
          <a:p>
            <a:pPr algn="l" indent="0" marL="0">
              <a:lnSpc>
                <a:spcPct val="105000"/>
              </a:lnSpc>
              <a:buNone/>
            </a:pPr>
            <a:r>
              <a:rPr lang="zh-CN" altLang="en-US" sz="2000" dirty="0">
                <a:solidFill>
                  <a:srgbClr val="E8E4D9"/>
                </a:solidFill>
                <a:latin typeface="Microsoft YaHei" pitchFamily="34" charset="0"/>
                <a:ea typeface="Microsoft YaHei" pitchFamily="34" charset="-122"/>
                <a:cs typeface="Microsoft YaHei" pitchFamily="34" charset="-120"/>
              </a:rPr>
              <a:t>上节｜第一讲 宪法总论</a:t>
            </a:r>
            <a:endParaRPr lang="zh-CN" sz="2000" dirty="0"/>
          </a:p>
        </p:txBody>
      </p:sp>
      <p:sp>
        <p:nvSpPr>
          <p:cNvPr id="3" name="Text 1"/>
          <p:cNvSpPr/>
          <p:nvPr/>
        </p:nvSpPr>
        <p:spPr>
          <a:xfrm>
            <a:off x="777240" y="1536192"/>
            <a:ext cx="5486400" cy="1234440"/>
          </a:xfrm>
          <a:prstGeom prst="rect">
            <a:avLst/>
          </a:prstGeom>
          <a:noFill/>
          <a:ln/>
        </p:spPr>
        <p:txBody>
          <a:bodyPr wrap="none" lIns="0" tIns="0" rIns="0" bIns="0" rtlCol="0" anchor="t"/>
          <a:lstStyle/>
          <a:p>
            <a:pPr algn="l" indent="0" marL="0">
              <a:lnSpc>
                <a:spcPct val="105000"/>
              </a:lnSpc>
              <a:buNone/>
            </a:pPr>
            <a:r>
              <a:rPr lang="zh-CN" altLang="en-US" sz="4400" b="1" dirty="0">
                <a:solidFill>
                  <a:srgbClr val="F7F4ED"/>
                </a:solidFill>
                <a:latin typeface="Microsoft YaHei" pitchFamily="34" charset="0"/>
                <a:ea typeface="Microsoft YaHei" pitchFamily="34" charset="-122"/>
                <a:cs typeface="Microsoft YaHei" pitchFamily="34" charset="-120"/>
              </a:rPr>
              <a:t>宪法总论</a:t>
            </a:r>
            <a:endParaRPr lang="zh-CN" sz="4400" dirty="0"/>
          </a:p>
        </p:txBody>
      </p:sp>
      <p:sp>
        <p:nvSpPr>
          <p:cNvPr id="4" name="Text 2"/>
          <p:cNvSpPr/>
          <p:nvPr/>
        </p:nvSpPr>
        <p:spPr>
          <a:xfrm>
            <a:off x="832104" y="3090672"/>
            <a:ext cx="5212080"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国家已有规则</a:t>
            </a:r>
            <a:endParaRPr lang="zh-CN" sz="2400" dirty="0"/>
          </a:p>
        </p:txBody>
      </p:sp>
      <p:sp>
        <p:nvSpPr>
          <p:cNvPr id="5" name="Text 3"/>
          <p:cNvSpPr/>
          <p:nvPr/>
        </p:nvSpPr>
        <p:spPr>
          <a:xfrm>
            <a:off x="832104" y="3730752"/>
            <a:ext cx="5212080" cy="1097280"/>
          </a:xfrm>
          <a:prstGeom prst="rect">
            <a:avLst/>
          </a:prstGeom>
          <a:noFill/>
          <a:ln/>
        </p:spPr>
        <p:txBody>
          <a:bodyPr wrap="none" lIns="0" tIns="0" rIns="0" bIns="0" rtlCol="0" anchor="t"/>
          <a:lstStyle/>
          <a:p>
            <a:pPr algn="l" indent="0" marL="0">
              <a:lnSpc>
                <a:spcPct val="105000"/>
              </a:lnSpc>
              <a:buNone/>
            </a:pPr>
            <a:r>
              <a:rPr lang="zh-CN" altLang="en-US" sz="2600" dirty="0">
                <a:solidFill>
                  <a:srgbClr val="F7F4ED"/>
                </a:solidFill>
                <a:latin typeface="Microsoft YaHei" pitchFamily="34" charset="0"/>
                <a:ea typeface="Microsoft YaHei" pitchFamily="34" charset="-122"/>
                <a:cs typeface="Microsoft YaHei" pitchFamily="34" charset="-120"/>
              </a:rPr>
              <a:t>为什么还需要制定宪法？</a:t>
            </a:r>
            <a:endParaRPr lang="zh-CN" sz="2600" dirty="0"/>
          </a:p>
        </p:txBody>
      </p:sp>
      <p:pic>
        <p:nvPicPr>
          <p:cNvPr id="6" name="Image 0" descr="C:\Users\tsunami\Documents\ChatGPT\教学工作\constitution-law-8-lessons\materials\第1讲叙事授课试做\来源\1954\1954-09-15_代表进入怀仁堂_刘东鳌_新华社.jpg">    </p:cNvPr>
          <p:cNvPicPr>
            <a:picLocks noChangeAspect="1"/>
          </p:cNvPicPr>
          <p:nvPr/>
        </p:nvPicPr>
        <p:blipFill>
          <a:blip r:embed="rId1"/>
          <a:stretch>
            <a:fillRect/>
          </a:stretch>
        </p:blipFill>
        <p:spPr>
          <a:xfrm>
            <a:off x="6446520" y="1857502"/>
            <a:ext cx="5029200" cy="3481324"/>
          </a:xfrm>
          <a:prstGeom prst="rect">
            <a:avLst/>
          </a:prstGeom>
        </p:spPr>
      </p:pic>
      <p:sp>
        <p:nvSpPr>
          <p:cNvPr id="7" name="Text 4"/>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E8E4D9"/>
                </a:solidFill>
                <a:latin typeface="Microsoft YaHei" pitchFamily="34" charset="0"/>
                <a:ea typeface="Microsoft YaHei" pitchFamily="34" charset="-122"/>
                <a:cs typeface="Microsoft YaHei" pitchFamily="34" charset="-120"/>
              </a:rPr>
              <a:t>从国家的制度，到个人的权利</a:t>
            </a:r>
            <a:endParaRPr lang="zh-CN" sz="2400" dirty="0"/>
          </a:p>
        </p:txBody>
      </p:sp>
      <p:sp>
        <p:nvSpPr>
          <p:cNvPr id="8" name="Text 5"/>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新华社刘东鳌摄：1954年9月15日代表入场</a:t>
            </a:r>
            <a:endParaRPr lang="zh-CN" sz="1200" dirty="0"/>
          </a:p>
        </p:txBody>
      </p:sp>
      <p:sp>
        <p:nvSpPr>
          <p:cNvPr id="9" name="Text 6"/>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E8E4D9"/>
                </a:solidFill>
                <a:latin typeface="Microsoft YaHei" pitchFamily="34" charset="0"/>
                <a:ea typeface="Microsoft YaHei" pitchFamily="34" charset="-122"/>
                <a:cs typeface="Microsoft YaHei" pitchFamily="34" charset="-120"/>
              </a:rPr>
              <a:t>1 / 31</a:t>
            </a:r>
            <a:endParaRPr lang="zh-CN"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从过渡安排，到持续的共同规则</a:t>
            </a:r>
            <a:endParaRPr lang="zh-CN" sz="3600" dirty="0"/>
          </a:p>
        </p:txBody>
      </p:sp>
      <p:sp>
        <p:nvSpPr>
          <p:cNvPr id="4" name="Text 2"/>
          <p:cNvSpPr/>
          <p:nvPr/>
        </p:nvSpPr>
        <p:spPr>
          <a:xfrm>
            <a:off x="768096" y="1938528"/>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1949</a:t>
            </a:r>
            <a:endParaRPr lang="zh-CN" sz="3200" dirty="0"/>
          </a:p>
        </p:txBody>
      </p:sp>
      <p:sp>
        <p:nvSpPr>
          <p:cNvPr id="5" name="Text 3"/>
          <p:cNvSpPr/>
          <p:nvPr/>
        </p:nvSpPr>
        <p:spPr>
          <a:xfrm>
            <a:off x="786384" y="2633472"/>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共同纲领第13条</a:t>
            </a:r>
            <a:endParaRPr lang="zh-CN" sz="2400" dirty="0"/>
          </a:p>
        </p:txBody>
      </p:sp>
      <p:sp>
        <p:nvSpPr>
          <p:cNvPr id="6" name="Text 4"/>
          <p:cNvSpPr/>
          <p:nvPr/>
        </p:nvSpPr>
        <p:spPr>
          <a:xfrm>
            <a:off x="4224528" y="2057400"/>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在普选的全国人民代表大会召开以前，由中国人</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民政治协商会议的全体会议执行全国人民代表大</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会的职权。</a:t>
            </a:r>
            <a:endParaRPr lang="zh-CN" sz="2500" dirty="0"/>
          </a:p>
        </p:txBody>
      </p:sp>
      <p:sp>
        <p:nvSpPr>
          <p:cNvPr id="7" name="Text 5"/>
          <p:cNvSpPr/>
          <p:nvPr/>
        </p:nvSpPr>
        <p:spPr>
          <a:xfrm>
            <a:off x="768096" y="3703320"/>
            <a:ext cx="2880360" cy="603504"/>
          </a:xfrm>
          <a:prstGeom prst="rect">
            <a:avLst/>
          </a:prstGeom>
          <a:noFill/>
          <a:ln/>
        </p:spPr>
        <p:txBody>
          <a:bodyPr wrap="none" lIns="0" tIns="0" rIns="0" bIns="0" rtlCol="0" anchor="t"/>
          <a:lstStyle/>
          <a:p>
            <a:pPr algn="l" indent="0" marL="0">
              <a:lnSpc>
                <a:spcPct val="105000"/>
              </a:lnSpc>
              <a:buNone/>
            </a:pPr>
            <a:r>
              <a:rPr lang="zh-CN" altLang="en-US" sz="3200" b="1" dirty="0">
                <a:solidFill>
                  <a:srgbClr val="9B3D32"/>
                </a:solidFill>
                <a:latin typeface="Microsoft YaHei" pitchFamily="34" charset="0"/>
                <a:ea typeface="Microsoft YaHei" pitchFamily="34" charset="-122"/>
                <a:cs typeface="Microsoft YaHei" pitchFamily="34" charset="-120"/>
              </a:rPr>
              <a:t>1954</a:t>
            </a:r>
            <a:endParaRPr lang="zh-CN" sz="3200" dirty="0"/>
          </a:p>
        </p:txBody>
      </p:sp>
      <p:sp>
        <p:nvSpPr>
          <p:cNvPr id="8" name="Text 6"/>
          <p:cNvSpPr/>
          <p:nvPr/>
        </p:nvSpPr>
        <p:spPr>
          <a:xfrm>
            <a:off x="786384" y="4398264"/>
            <a:ext cx="297180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宪法第21条</a:t>
            </a:r>
            <a:endParaRPr lang="zh-CN" sz="2400" dirty="0"/>
          </a:p>
        </p:txBody>
      </p:sp>
      <p:sp>
        <p:nvSpPr>
          <p:cNvPr id="9" name="Text 7"/>
          <p:cNvSpPr/>
          <p:nvPr/>
        </p:nvSpPr>
        <p:spPr>
          <a:xfrm>
            <a:off x="4224528" y="3822192"/>
            <a:ext cx="7187184" cy="1444752"/>
          </a:xfrm>
          <a:prstGeom prst="rect">
            <a:avLst/>
          </a:prstGeom>
          <a:noFill/>
          <a:ln/>
        </p:spPr>
        <p:txBody>
          <a:bodyPr wrap="none" lIns="0" tIns="0" rIns="0" bIns="0" rtlCol="0" anchor="t"/>
          <a:lstStyle/>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中华人民共和国全国人民代表大会</a:t>
            </a:r>
            <a:endParaRPr lang="zh-CN" sz="2500" dirty="0"/>
          </a:p>
          <a:p>
            <a:pPr algn="l" indent="0" marL="0">
              <a:lnSpc>
                <a:spcPct val="105000"/>
              </a:lnSpc>
              <a:buNone/>
            </a:pPr>
            <a:r>
              <a:rPr lang="zh-CN" altLang="en-US" sz="2500" dirty="0">
                <a:solidFill>
                  <a:srgbClr val="2B302F"/>
                </a:solidFill>
                <a:latin typeface="Microsoft YaHei" pitchFamily="34" charset="0"/>
                <a:ea typeface="Microsoft YaHei" pitchFamily="34" charset="-122"/>
                <a:cs typeface="Microsoft YaHei" pitchFamily="34" charset="-120"/>
              </a:rPr>
              <a:t>是最高国家权力机关。</a:t>
            </a:r>
            <a:endParaRPr lang="zh-CN" sz="25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观察制度怎样展开，不把历史简化成“以前没有规则”。</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共同纲领第13条节录；1954年宪法序言、第21条；1954最小历史线与起草/通过机关核查</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 / 31</a:t>
            </a:r>
            <a:endParaRPr lang="zh-CN"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先读国家要做什么，再读怎样组织国家</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序言：国家</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的根本任务</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国家的根本任务是，沿着中国特色社会主义道路，集中</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力量进行社会主义现代化建设。</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序言末段：</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根本法地位</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规定了国家的根本制度和根本任务，是国家的根本法，</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具有最高的法律效力。</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共同任务，需要制度承载，也需要规范约束。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现行宪法序言（节录）与目录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 / 31</a:t>
            </a:r>
            <a:endParaRPr lang="zh-CN"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国家的根本安排，先回答哪些问题？</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国家性质与根本制度｜第1条</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人民民主专政的社会主义国家；</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社会主义制度；中国共产党领导</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的宪法地位。</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国家权力归属｜第2条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中华人民共和国的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一切权力属于人民。</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根本内容是共同前提，不是全部细则的总和。</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现行宪法第1、2条；教材印刷18—20页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4 / 31</a:t>
            </a:r>
            <a:endParaRPr lang="zh-CN"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现在，把“宪法”说完整</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本课概括</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宪法规定国家根本制度和任务、公民基本权利义务、国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家权力组织运行等根本问题，具有最高法律效力。</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三个彼此</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联系的观察面</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规定什么　｜　怎样约束其他规范　｜　根本规则怎样修改</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概念用于理解关系，不是把“最重要”换一种说法。</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教材印刷18—20页；宪法序言末段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5 / 31</a:t>
            </a:r>
            <a:endParaRPr lang="zh-CN"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制定法律的人和机关，也处在宪法之内</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现行宪法第</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5条第3款</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一切法律、行政法规和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地方性法规都不得同宪法相抵触。</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共同约束</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内的制度工作</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具体法律仍须根据事实安排情形、主体与办理方式。</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有选择空间，仍须说明选择的依据。</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宪法第5条第3款；教材印刷19—20页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6 / 31</a:t>
            </a:r>
            <a:endParaRPr lang="zh-CN"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“属于人民”，怎样进入国家机构？</a:t>
            </a:r>
            <a:endParaRPr lang="zh-CN" sz="3600" dirty="0"/>
          </a:p>
        </p:txBody>
      </p:sp>
      <p:sp>
        <p:nvSpPr>
          <p:cNvPr id="4" name="Shape 2"/>
          <p:cNvSpPr/>
          <p:nvPr/>
        </p:nvSpPr>
        <p:spPr>
          <a:xfrm>
            <a:off x="804672" y="1938528"/>
            <a:ext cx="3730752" cy="914400"/>
          </a:xfrm>
          <a:prstGeom prst="rect">
            <a:avLst/>
          </a:prstGeom>
          <a:solidFill>
            <a:srgbClr val="343E3B"/>
          </a:solidFill>
          <a:ln w="12700">
            <a:solidFill>
              <a:srgbClr val="343E3B">
                <a:alpha val="0"/>
              </a:srgbClr>
            </a:solidFill>
            <a:prstDash val="solid"/>
          </a:ln>
        </p:spPr>
      </p:sp>
      <p:sp>
        <p:nvSpPr>
          <p:cNvPr id="5" name="Text 3"/>
          <p:cNvSpPr/>
          <p:nvPr/>
        </p:nvSpPr>
        <p:spPr>
          <a:xfrm>
            <a:off x="969264" y="2029968"/>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人民</a:t>
            </a:r>
            <a:endParaRPr lang="zh-CN" sz="2400" dirty="0"/>
          </a:p>
        </p:txBody>
      </p:sp>
      <p:sp>
        <p:nvSpPr>
          <p:cNvPr id="6" name="Text 4"/>
          <p:cNvSpPr/>
          <p:nvPr/>
        </p:nvSpPr>
        <p:spPr>
          <a:xfrm>
            <a:off x="4919472" y="2029968"/>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国家的一切权力属于人民。</a:t>
            </a:r>
            <a:endParaRPr lang="zh-CN" sz="2400" dirty="0"/>
          </a:p>
        </p:txBody>
      </p:sp>
      <p:sp>
        <p:nvSpPr>
          <p:cNvPr id="7" name="Shape 5"/>
          <p:cNvSpPr/>
          <p:nvPr/>
        </p:nvSpPr>
        <p:spPr>
          <a:xfrm>
            <a:off x="2286000" y="2880360"/>
            <a:ext cx="0" cy="338328"/>
          </a:xfrm>
          <a:prstGeom prst="line">
            <a:avLst/>
          </a:prstGeom>
          <a:noFill/>
          <a:ln w="16510">
            <a:solidFill>
              <a:srgbClr val="9B3D32"/>
            </a:solidFill>
            <a:prstDash val="solid"/>
            <a:tailEnd type="triangle"/>
          </a:ln>
        </p:spPr>
      </p:sp>
      <p:sp>
        <p:nvSpPr>
          <p:cNvPr id="8" name="Text 6"/>
          <p:cNvSpPr/>
          <p:nvPr/>
        </p:nvSpPr>
        <p:spPr>
          <a:xfrm>
            <a:off x="2560320" y="2912364"/>
            <a:ext cx="2029968" cy="320040"/>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民主选举产生</a:t>
            </a:r>
            <a:endParaRPr lang="zh-CN" sz="1800" dirty="0"/>
          </a:p>
        </p:txBody>
      </p:sp>
      <p:sp>
        <p:nvSpPr>
          <p:cNvPr id="9" name="Shape 7"/>
          <p:cNvSpPr/>
          <p:nvPr/>
        </p:nvSpPr>
        <p:spPr>
          <a:xfrm>
            <a:off x="804672" y="3246120"/>
            <a:ext cx="3730752" cy="914400"/>
          </a:xfrm>
          <a:prstGeom prst="rect">
            <a:avLst/>
          </a:prstGeom>
          <a:solidFill>
            <a:srgbClr val="E8ECE6"/>
          </a:solidFill>
          <a:ln w="12700">
            <a:solidFill>
              <a:srgbClr val="E8ECE6">
                <a:alpha val="0"/>
              </a:srgbClr>
            </a:solidFill>
            <a:prstDash val="solid"/>
          </a:ln>
        </p:spPr>
      </p:sp>
      <p:sp>
        <p:nvSpPr>
          <p:cNvPr id="10" name="Text 8"/>
          <p:cNvSpPr/>
          <p:nvPr/>
        </p:nvSpPr>
        <p:spPr>
          <a:xfrm>
            <a:off x="969264" y="3337560"/>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人民代表大会</a:t>
            </a:r>
            <a:endParaRPr lang="zh-CN" sz="2400" dirty="0"/>
          </a:p>
        </p:txBody>
      </p:sp>
      <p:sp>
        <p:nvSpPr>
          <p:cNvPr id="11" name="Text 9"/>
          <p:cNvSpPr/>
          <p:nvPr/>
        </p:nvSpPr>
        <p:spPr>
          <a:xfrm>
            <a:off x="4919472" y="3337560"/>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人民代表大会对人民负责，受人民监督。</a:t>
            </a:r>
            <a:endParaRPr lang="zh-CN" sz="2400" dirty="0"/>
          </a:p>
        </p:txBody>
      </p:sp>
      <p:sp>
        <p:nvSpPr>
          <p:cNvPr id="12" name="Shape 10"/>
          <p:cNvSpPr/>
          <p:nvPr/>
        </p:nvSpPr>
        <p:spPr>
          <a:xfrm>
            <a:off x="2286000" y="4187952"/>
            <a:ext cx="0" cy="338328"/>
          </a:xfrm>
          <a:prstGeom prst="line">
            <a:avLst/>
          </a:prstGeom>
          <a:noFill/>
          <a:ln w="16510">
            <a:solidFill>
              <a:srgbClr val="9B3D32"/>
            </a:solidFill>
            <a:prstDash val="solid"/>
            <a:tailEnd type="triangle"/>
          </a:ln>
        </p:spPr>
      </p:sp>
      <p:sp>
        <p:nvSpPr>
          <p:cNvPr id="13" name="Text 11"/>
          <p:cNvSpPr/>
          <p:nvPr/>
        </p:nvSpPr>
        <p:spPr>
          <a:xfrm>
            <a:off x="2560320" y="4219956"/>
            <a:ext cx="2029968" cy="320040"/>
          </a:xfrm>
          <a:prstGeom prst="rect">
            <a:avLst/>
          </a:prstGeom>
          <a:noFill/>
          <a:ln/>
        </p:spPr>
        <p:txBody>
          <a:bodyPr wrap="none" lIns="0" tIns="0" rIns="0" bIns="0" rtlCol="0" anchor="t"/>
          <a:lstStyle/>
          <a:p>
            <a:pPr algn="l" indent="0" marL="0">
              <a:lnSpc>
                <a:spcPct val="105000"/>
              </a:lnSpc>
              <a:buNone/>
            </a:pPr>
            <a:r>
              <a:rPr lang="zh-CN" altLang="en-US" sz="1800" dirty="0">
                <a:solidFill>
                  <a:srgbClr val="9B3D32"/>
                </a:solidFill>
                <a:latin typeface="Microsoft YaHei" pitchFamily="34" charset="0"/>
                <a:ea typeface="Microsoft YaHei" pitchFamily="34" charset="-122"/>
                <a:cs typeface="Microsoft YaHei" pitchFamily="34" charset="-120"/>
              </a:rPr>
              <a:t>由人大产生</a:t>
            </a:r>
            <a:endParaRPr lang="zh-CN" sz="1800" dirty="0"/>
          </a:p>
        </p:txBody>
      </p:sp>
      <p:sp>
        <p:nvSpPr>
          <p:cNvPr id="14" name="Shape 12"/>
          <p:cNvSpPr/>
          <p:nvPr/>
        </p:nvSpPr>
        <p:spPr>
          <a:xfrm>
            <a:off x="804672" y="4553712"/>
            <a:ext cx="3730752" cy="914400"/>
          </a:xfrm>
          <a:prstGeom prst="rect">
            <a:avLst/>
          </a:prstGeom>
          <a:solidFill>
            <a:srgbClr val="E8ECE6"/>
          </a:solidFill>
          <a:ln w="12700">
            <a:solidFill>
              <a:srgbClr val="E8ECE6">
                <a:alpha val="0"/>
              </a:srgbClr>
            </a:solidFill>
            <a:prstDash val="solid"/>
          </a:ln>
        </p:spPr>
      </p:sp>
      <p:sp>
        <p:nvSpPr>
          <p:cNvPr id="15" name="Text 13"/>
          <p:cNvSpPr/>
          <p:nvPr/>
        </p:nvSpPr>
        <p:spPr>
          <a:xfrm>
            <a:off x="969264" y="4645152"/>
            <a:ext cx="3401568" cy="768096"/>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行政、监察机关</a:t>
            </a:r>
            <a:endParaRPr lang="zh-CN" sz="2400" dirty="0"/>
          </a:p>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审判、检察机关</a:t>
            </a:r>
            <a:endParaRPr lang="zh-CN" sz="2400" dirty="0"/>
          </a:p>
        </p:txBody>
      </p:sp>
      <p:sp>
        <p:nvSpPr>
          <p:cNvPr id="16" name="Text 14"/>
          <p:cNvSpPr/>
          <p:nvPr/>
        </p:nvSpPr>
        <p:spPr>
          <a:xfrm>
            <a:off x="4919472" y="4645152"/>
            <a:ext cx="6364224" cy="7772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这些机关对产生它的人大</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负责，受该人大监督。</a:t>
            </a:r>
            <a:endParaRPr lang="zh-CN" sz="2400" dirty="0"/>
          </a:p>
        </p:txBody>
      </p:sp>
      <p:sp>
        <p:nvSpPr>
          <p:cNvPr id="17" name="Text 15"/>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箭头只表产生；负责与监督看右侧明确的主客体。</a:t>
            </a:r>
            <a:endParaRPr lang="zh-CN" sz="2400" dirty="0"/>
          </a:p>
        </p:txBody>
      </p:sp>
      <p:sp>
        <p:nvSpPr>
          <p:cNvPr id="18" name="Text 16"/>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宪法第2、3条；选举层级未展开，非各级均全民直选</a:t>
            </a:r>
            <a:endParaRPr lang="zh-CN" sz="1200" dirty="0"/>
          </a:p>
        </p:txBody>
      </p:sp>
      <p:sp>
        <p:nvSpPr>
          <p:cNvPr id="19" name="Text 17"/>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7 / 31</a:t>
            </a:r>
            <a:endParaRPr lang="zh-CN"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机关依法产生，为什么还要依法履职？</a:t>
            </a:r>
            <a:endParaRPr lang="zh-CN" sz="3600" dirty="0"/>
          </a:p>
        </p:txBody>
      </p:sp>
      <p:sp>
        <p:nvSpPr>
          <p:cNvPr id="4" name="Shape 2"/>
          <p:cNvSpPr/>
          <p:nvPr/>
        </p:nvSpPr>
        <p:spPr>
          <a:xfrm>
            <a:off x="713232" y="1901952"/>
            <a:ext cx="5175504" cy="2304288"/>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法定地位与具体行为</a:t>
            </a:r>
            <a:endParaRPr lang="zh-CN" sz="2400" dirty="0"/>
          </a:p>
        </p:txBody>
      </p:sp>
      <p:sp>
        <p:nvSpPr>
          <p:cNvPr id="6" name="Text 4"/>
          <p:cNvSpPr/>
          <p:nvPr/>
        </p:nvSpPr>
        <p:spPr>
          <a:xfrm>
            <a:off x="914400" y="2798064"/>
            <a:ext cx="4773168" cy="125272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依法产生确认机关位置；具体行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为仍须说明职权、条件与依据。</a:t>
            </a:r>
            <a:endParaRPr lang="zh-CN" sz="2400" dirty="0"/>
          </a:p>
        </p:txBody>
      </p:sp>
      <p:sp>
        <p:nvSpPr>
          <p:cNvPr id="7" name="Shape 5"/>
          <p:cNvSpPr/>
          <p:nvPr/>
        </p:nvSpPr>
        <p:spPr>
          <a:xfrm>
            <a:off x="6327648" y="1901952"/>
            <a:ext cx="5175504" cy="2304288"/>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履职与监督各有职责</a:t>
            </a:r>
            <a:endParaRPr lang="zh-CN" sz="2400" dirty="0"/>
          </a:p>
        </p:txBody>
      </p:sp>
      <p:sp>
        <p:nvSpPr>
          <p:cNvPr id="9" name="Text 7"/>
          <p:cNvSpPr/>
          <p:nvPr/>
        </p:nvSpPr>
        <p:spPr>
          <a:xfrm>
            <a:off x="6528816" y="2798064"/>
            <a:ext cx="4773168" cy="125272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依法判断、承担责任、依法监</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督；监督也须有自身权限。</a:t>
            </a:r>
            <a:endParaRPr lang="zh-CN" sz="2400" dirty="0"/>
          </a:p>
        </p:txBody>
      </p:sp>
      <p:sp>
        <p:nvSpPr>
          <p:cNvPr id="10" name="Text 8"/>
          <p:cNvSpPr/>
          <p:nvPr/>
        </p:nvSpPr>
        <p:spPr>
          <a:xfrm>
            <a:off x="768096" y="4480560"/>
            <a:ext cx="192024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本质的必要</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入口</a:t>
            </a:r>
            <a:endParaRPr lang="zh-CN" sz="2400" dirty="0"/>
          </a:p>
        </p:txBody>
      </p:sp>
      <p:sp>
        <p:nvSpPr>
          <p:cNvPr id="11" name="Text 9"/>
          <p:cNvSpPr/>
          <p:nvPr/>
        </p:nvSpPr>
        <p:spPr>
          <a:xfrm>
            <a:off x="2743200" y="4480560"/>
            <a:ext cx="8622792" cy="105156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把人民当家作主形成制度，并确认为共同遵循的法律要求。</a:t>
            </a:r>
            <a:endParaRPr lang="zh-CN" sz="2400" dirty="0"/>
          </a:p>
        </p:txBody>
      </p:sp>
      <p:sp>
        <p:nvSpPr>
          <p:cNvPr id="12" name="Text 10"/>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把权力的归属写清楚，还要把行使权力的责任写清楚。</a:t>
            </a:r>
            <a:endParaRPr lang="zh-CN" sz="2400" dirty="0"/>
          </a:p>
        </p:txBody>
      </p:sp>
      <p:sp>
        <p:nvSpPr>
          <p:cNvPr id="13" name="Text 11"/>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宪法第2、3条；教材印刷20—21页</a:t>
            </a:r>
            <a:endParaRPr lang="zh-CN" sz="1200" dirty="0"/>
          </a:p>
        </p:txBody>
      </p:sp>
      <p:sp>
        <p:nvSpPr>
          <p:cNvPr id="14" name="Text 12"/>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8 / 31</a:t>
            </a:r>
            <a:endParaRPr lang="zh-CN"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党的领导与依法活动，怎样连起来理解？</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第1条第2款节录</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中国共产党领导是中国特色社会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主义最本质的特征。</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第5条第4款节录</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一切国家机关和武装力量、各政</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党和各社会团体、各企业事业组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织都必须遵守宪法和法律。</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领导地位与依法活动，在同一宪法中共同理解。</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宪法第1条第2款、第5条第4款；教材印刷94页</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9 / 31</a:t>
            </a:r>
            <a:endParaRPr lang="zh-CN"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权力怎样行使，必须看见人的权利</a:t>
            </a:r>
            <a:endParaRPr lang="zh-CN" sz="3600" dirty="0"/>
          </a:p>
        </p:txBody>
      </p:sp>
      <p:sp>
        <p:nvSpPr>
          <p:cNvPr id="4" name="Text 2"/>
          <p:cNvSpPr/>
          <p:nvPr/>
        </p:nvSpPr>
        <p:spPr>
          <a:xfrm>
            <a:off x="758952" y="196596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第33条第3款</a:t>
            </a:r>
            <a:endParaRPr lang="zh-CN" sz="2400" dirty="0"/>
          </a:p>
        </p:txBody>
      </p:sp>
      <p:sp>
        <p:nvSpPr>
          <p:cNvPr id="5" name="Text 3"/>
          <p:cNvSpPr/>
          <p:nvPr/>
        </p:nvSpPr>
        <p:spPr>
          <a:xfrm>
            <a:off x="3410712" y="196596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国家尊重和保障人权。</a:t>
            </a:r>
            <a:endParaRPr lang="zh-CN" sz="2400" dirty="0"/>
          </a:p>
        </p:txBody>
      </p:sp>
      <p:sp>
        <p:nvSpPr>
          <p:cNvPr id="6" name="Text 4"/>
          <p:cNvSpPr/>
          <p:nvPr/>
        </p:nvSpPr>
        <p:spPr>
          <a:xfrm>
            <a:off x="758952" y="372618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两个相互</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联系的要求</a:t>
            </a:r>
            <a:endParaRPr lang="zh-CN" sz="2400" dirty="0"/>
          </a:p>
        </p:txBody>
      </p:sp>
      <p:sp>
        <p:nvSpPr>
          <p:cNvPr id="7" name="Text 5"/>
          <p:cNvSpPr/>
          <p:nvPr/>
        </p:nvSpPr>
        <p:spPr>
          <a:xfrm>
            <a:off x="3410712" y="372618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尊重：约束国家行为　　保障：通过制度与履职保护权利</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组织国家权力，同时要回答它怎样对待人的权利。</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宪法第33条第3款；教材印刷100页</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10 / 31</a:t>
            </a:r>
            <a:endParaRPr lang="zh-CN"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五项原则，共同说明国家权力怎样运行</a:t>
            </a:r>
            <a:endParaRPr lang="zh-CN" sz="3600" dirty="0"/>
          </a:p>
        </p:txBody>
      </p:sp>
      <p:sp>
        <p:nvSpPr>
          <p:cNvPr id="4" name="Text 2"/>
          <p:cNvSpPr/>
          <p:nvPr/>
        </p:nvSpPr>
        <p:spPr>
          <a:xfrm>
            <a:off x="758952" y="1965960"/>
            <a:ext cx="2706624" cy="84307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坚持</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中国共产党的领导</a:t>
            </a:r>
            <a:endParaRPr lang="zh-CN" sz="2400" dirty="0"/>
          </a:p>
        </p:txBody>
      </p:sp>
      <p:sp>
        <p:nvSpPr>
          <p:cNvPr id="5" name="Text 3"/>
          <p:cNvSpPr/>
          <p:nvPr/>
        </p:nvSpPr>
        <p:spPr>
          <a:xfrm>
            <a:off x="3922776" y="1965960"/>
            <a:ext cx="7507224" cy="84307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国家根本制度与领导地位</a:t>
            </a:r>
            <a:endParaRPr lang="zh-CN" sz="2400" dirty="0"/>
          </a:p>
        </p:txBody>
      </p:sp>
      <p:sp>
        <p:nvSpPr>
          <p:cNvPr id="6" name="Shape 4"/>
          <p:cNvSpPr/>
          <p:nvPr/>
        </p:nvSpPr>
        <p:spPr>
          <a:xfrm>
            <a:off x="758952" y="2891333"/>
            <a:ext cx="10671048" cy="0"/>
          </a:xfrm>
          <a:prstGeom prst="line">
            <a:avLst/>
          </a:prstGeom>
          <a:noFill/>
          <a:ln w="16510">
            <a:solidFill>
              <a:srgbClr val="CBCDC5"/>
            </a:solidFill>
            <a:prstDash val="solid"/>
          </a:ln>
        </p:spPr>
      </p:sp>
      <p:sp>
        <p:nvSpPr>
          <p:cNvPr id="7" name="Text 5"/>
          <p:cNvSpPr/>
          <p:nvPr/>
        </p:nvSpPr>
        <p:spPr>
          <a:xfrm>
            <a:off x="758952" y="3019349"/>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人民主权</a:t>
            </a:r>
            <a:endParaRPr lang="zh-CN" sz="2400" dirty="0"/>
          </a:p>
        </p:txBody>
      </p:sp>
      <p:sp>
        <p:nvSpPr>
          <p:cNvPr id="8" name="Text 6"/>
          <p:cNvSpPr/>
          <p:nvPr/>
        </p:nvSpPr>
        <p:spPr>
          <a:xfrm>
            <a:off x="3922776" y="3019349"/>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权力归属与人民参与</a:t>
            </a:r>
            <a:endParaRPr lang="zh-CN" sz="2400" dirty="0"/>
          </a:p>
        </p:txBody>
      </p:sp>
      <p:sp>
        <p:nvSpPr>
          <p:cNvPr id="9" name="Shape 7"/>
          <p:cNvSpPr/>
          <p:nvPr/>
        </p:nvSpPr>
        <p:spPr>
          <a:xfrm>
            <a:off x="758952" y="3578962"/>
            <a:ext cx="10671048" cy="0"/>
          </a:xfrm>
          <a:prstGeom prst="line">
            <a:avLst/>
          </a:prstGeom>
          <a:noFill/>
          <a:ln w="16510">
            <a:solidFill>
              <a:srgbClr val="CBCDC5"/>
            </a:solidFill>
            <a:prstDash val="solid"/>
          </a:ln>
        </p:spPr>
      </p:sp>
      <p:sp>
        <p:nvSpPr>
          <p:cNvPr id="10" name="Text 8"/>
          <p:cNvSpPr/>
          <p:nvPr/>
        </p:nvSpPr>
        <p:spPr>
          <a:xfrm>
            <a:off x="758952" y="3706978"/>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社会主义法治</a:t>
            </a:r>
            <a:endParaRPr lang="zh-CN" sz="2400" dirty="0"/>
          </a:p>
        </p:txBody>
      </p:sp>
      <p:sp>
        <p:nvSpPr>
          <p:cNvPr id="11" name="Text 9"/>
          <p:cNvSpPr/>
          <p:nvPr/>
        </p:nvSpPr>
        <p:spPr>
          <a:xfrm>
            <a:off x="3922776" y="3706978"/>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依据宪法法律组织和运行</a:t>
            </a:r>
            <a:endParaRPr lang="zh-CN" sz="2400" dirty="0"/>
          </a:p>
        </p:txBody>
      </p:sp>
      <p:sp>
        <p:nvSpPr>
          <p:cNvPr id="12" name="Shape 10"/>
          <p:cNvSpPr/>
          <p:nvPr/>
        </p:nvSpPr>
        <p:spPr>
          <a:xfrm>
            <a:off x="758952" y="4266590"/>
            <a:ext cx="10671048" cy="0"/>
          </a:xfrm>
          <a:prstGeom prst="line">
            <a:avLst/>
          </a:prstGeom>
          <a:noFill/>
          <a:ln w="16510">
            <a:solidFill>
              <a:srgbClr val="CBCDC5"/>
            </a:solidFill>
            <a:prstDash val="solid"/>
          </a:ln>
        </p:spPr>
      </p:sp>
      <p:sp>
        <p:nvSpPr>
          <p:cNvPr id="13" name="Text 11"/>
          <p:cNvSpPr/>
          <p:nvPr/>
        </p:nvSpPr>
        <p:spPr>
          <a:xfrm>
            <a:off x="758952" y="4394606"/>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尊重和保障人权</a:t>
            </a:r>
            <a:endParaRPr lang="zh-CN" sz="2400" dirty="0"/>
          </a:p>
        </p:txBody>
      </p:sp>
      <p:sp>
        <p:nvSpPr>
          <p:cNvPr id="14" name="Text 12"/>
          <p:cNvSpPr/>
          <p:nvPr/>
        </p:nvSpPr>
        <p:spPr>
          <a:xfrm>
            <a:off x="3922776" y="4394606"/>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国家活动的权利要求</a:t>
            </a:r>
            <a:endParaRPr lang="zh-CN" sz="2400" dirty="0"/>
          </a:p>
        </p:txBody>
      </p:sp>
      <p:sp>
        <p:nvSpPr>
          <p:cNvPr id="15" name="Shape 13"/>
          <p:cNvSpPr/>
          <p:nvPr/>
        </p:nvSpPr>
        <p:spPr>
          <a:xfrm>
            <a:off x="758952" y="4954219"/>
            <a:ext cx="10671048" cy="0"/>
          </a:xfrm>
          <a:prstGeom prst="line">
            <a:avLst/>
          </a:prstGeom>
          <a:noFill/>
          <a:ln w="16510">
            <a:solidFill>
              <a:srgbClr val="CBCDC5"/>
            </a:solidFill>
            <a:prstDash val="solid"/>
          </a:ln>
        </p:spPr>
      </p:sp>
      <p:sp>
        <p:nvSpPr>
          <p:cNvPr id="16" name="Text 14"/>
          <p:cNvSpPr/>
          <p:nvPr/>
        </p:nvSpPr>
        <p:spPr>
          <a:xfrm>
            <a:off x="758952" y="5082235"/>
            <a:ext cx="2706624" cy="477317"/>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权力监督与制约</a:t>
            </a:r>
            <a:endParaRPr lang="zh-CN" sz="2400" dirty="0"/>
          </a:p>
        </p:txBody>
      </p:sp>
      <p:sp>
        <p:nvSpPr>
          <p:cNvPr id="17" name="Text 15"/>
          <p:cNvSpPr/>
          <p:nvPr/>
        </p:nvSpPr>
        <p:spPr>
          <a:xfrm>
            <a:off x="3922776" y="5082235"/>
            <a:ext cx="7507224" cy="477317"/>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负责、监督和纠正</a:t>
            </a:r>
            <a:endParaRPr lang="zh-CN" sz="2400" dirty="0"/>
          </a:p>
        </p:txBody>
      </p:sp>
      <p:sp>
        <p:nvSpPr>
          <p:cNvPr id="18" name="Text 1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同一国家活动，同时面对这些原则的要求。</a:t>
            </a:r>
            <a:endParaRPr lang="zh-CN" sz="2400" dirty="0"/>
          </a:p>
        </p:txBody>
      </p:sp>
      <p:sp>
        <p:nvSpPr>
          <p:cNvPr id="19" name="Text 1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教材第三章第二节；宪法第1、2、3、5、33条</a:t>
            </a:r>
            <a:endParaRPr lang="zh-CN" sz="1200" dirty="0"/>
          </a:p>
        </p:txBody>
      </p:sp>
      <p:sp>
        <p:nvSpPr>
          <p:cNvPr id="20" name="Text 1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11 / 31</a:t>
            </a:r>
            <a:endParaRPr lang="zh-CN"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400" b="1" dirty="0">
                <a:solidFill>
                  <a:srgbClr val="343E3B"/>
                </a:solidFill>
                <a:latin typeface="Microsoft YaHei" pitchFamily="34" charset="0"/>
                <a:ea typeface="Microsoft YaHei" pitchFamily="34" charset="-122"/>
                <a:cs typeface="Microsoft YaHei" pitchFamily="34" charset="-120"/>
              </a:rPr>
              <a:t>理解检查：机关地位与履职责任怎样相连？</a:t>
            </a:r>
            <a:endParaRPr lang="zh-CN" sz="34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材料足够的关系说明</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合读宪法第2、3、33条：依法产生是否已能证明每项行为正确？</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请补完整</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说明产生、负责监督和人权要求各增加什么；任选两处条文支撑。</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先说明关系，再核对你所用的条文。</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宪法第2、3、33条；原任务1及讲评合并</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12 / 31</a:t>
            </a:r>
            <a:endParaRPr lang="zh-CN"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根本规则可以改变，但修改有特别要求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第64条｜通过门槛</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宪法修改：全体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代表三分之二以上</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法律和其他议案：</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全体代表过半数</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同一分母，不同要求</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“全体代表”不是到会或投票人</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数；严格程序兼顾</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稳定与依法调整。</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精确门槛依法适用；程序特殊性不等于永远不得修改。</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宪法第64条两款（屏幕为通过要求节录）</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13 / 31</a:t>
            </a:r>
            <a:endParaRPr lang="zh-CN"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上节｜第一讲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回看第一学时：“根本”已经有了哪些内容？</a:t>
            </a:r>
            <a:endParaRPr lang="zh-CN" sz="3600" dirty="0"/>
          </a:p>
        </p:txBody>
      </p:sp>
      <p:sp>
        <p:nvSpPr>
          <p:cNvPr id="4" name="Shape 2"/>
          <p:cNvSpPr/>
          <p:nvPr/>
        </p:nvSpPr>
        <p:spPr>
          <a:xfrm>
            <a:off x="713232" y="1920240"/>
            <a:ext cx="73152" cy="1696212"/>
          </a:xfrm>
          <a:prstGeom prst="rect">
            <a:avLst/>
          </a:prstGeom>
          <a:solidFill>
            <a:srgbClr val="9B3D32"/>
          </a:solidFill>
          <a:ln w="12700">
            <a:solidFill>
              <a:srgbClr val="9B3D32">
                <a:alpha val="0"/>
              </a:srgbClr>
            </a:solidFill>
            <a:prstDash val="solid"/>
          </a:ln>
        </p:spPr>
      </p:sp>
      <p:sp>
        <p:nvSpPr>
          <p:cNvPr id="5" name="Text 3"/>
          <p:cNvSpPr/>
          <p:nvPr/>
        </p:nvSpPr>
        <p:spPr>
          <a:xfrm>
            <a:off x="923544"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上节建立的关</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系</a:t>
            </a:r>
            <a:endParaRPr lang="zh-CN" sz="2400" dirty="0"/>
          </a:p>
        </p:txBody>
      </p:sp>
      <p:sp>
        <p:nvSpPr>
          <p:cNvPr id="6" name="Text 4"/>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根本内容｜最高效力｜特别修改程序</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权力归属、机关组织与持续责任</a:t>
            </a:r>
            <a:endParaRPr lang="zh-CN" sz="2400" dirty="0"/>
          </a:p>
        </p:txBody>
      </p:sp>
      <p:sp>
        <p:nvSpPr>
          <p:cNvPr id="7" name="Shape 5"/>
          <p:cNvSpPr/>
          <p:nvPr/>
        </p:nvSpPr>
        <p:spPr>
          <a:xfrm>
            <a:off x="713232" y="3863340"/>
            <a:ext cx="73152" cy="1696212"/>
          </a:xfrm>
          <a:prstGeom prst="rect">
            <a:avLst/>
          </a:prstGeom>
          <a:solidFill>
            <a:srgbClr val="9B3D32"/>
          </a:solidFill>
          <a:ln w="12700">
            <a:solidFill>
              <a:srgbClr val="9B3D32">
                <a:alpha val="0"/>
              </a:srgbClr>
            </a:solidFill>
            <a:prstDash val="solid"/>
          </a:ln>
        </p:spPr>
      </p:sp>
      <p:sp>
        <p:nvSpPr>
          <p:cNvPr id="8" name="Text 6"/>
          <p:cNvSpPr/>
          <p:nvPr/>
        </p:nvSpPr>
        <p:spPr>
          <a:xfrm>
            <a:off x="923544"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下节继续的问</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题</a:t>
            </a:r>
            <a:endParaRPr lang="zh-CN" sz="2400" dirty="0"/>
          </a:p>
        </p:txBody>
      </p:sp>
      <p:sp>
        <p:nvSpPr>
          <p:cNvPr id="9" name="Text 7"/>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宪法已经确认权利，具体法律</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与依法履职还要增加什么？</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下半堂：宪法已有约束，具体法律还要做什么？</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第64条必要对照；第一学时收束</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14 / 31</a:t>
            </a:r>
            <a:endParaRPr lang="zh-C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一个赔偿请求，为什么要读两部法律？</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同一教学设例</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县公安局工作人员以本机关名义，在行使行政职权时违</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法拘留甲，侵害其人身自由。事实与违法性已给定。</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条第3款</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由于国家机关和国家工作人员侵犯公民权利而受到损失</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的人，有依照法律规定取得赔偿的权利。</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宪法已经确认权利；具体办理还有哪些问题？</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宪法第41条第3款；同一违法行政拘留教学设例</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15 / 31</a:t>
            </a:r>
            <a:endParaRPr lang="zh-CN"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“根据宪法”，先告诉我们什么？</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宪法第41条第3款</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由于国家机关和国家工作人员侵</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犯公民权利而受到损失的人，有</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依照法律规定取得赔偿的权利。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国家赔偿法第1条</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为保障公民、法人和其他组织享</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有依法取得国家赔偿的权利，促</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进国家机关依法行使职权，根据</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宪法，制定本法。</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依据和目的已经显明；办理条件仍须继续往下读。</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宪法第41条第3款；国家赔偿法第1条（2012年第二次修正）</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16 / 31</a:t>
            </a:r>
            <a:endParaRPr lang="zh-CN"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法律先回答：哪些情形进入这项赔偿？</a:t>
            </a:r>
            <a:endParaRPr lang="zh-CN" sz="3600" dirty="0"/>
          </a:p>
        </p:txBody>
      </p:sp>
      <p:sp>
        <p:nvSpPr>
          <p:cNvPr id="4" name="Text 2"/>
          <p:cNvSpPr/>
          <p:nvPr/>
        </p:nvSpPr>
        <p:spPr>
          <a:xfrm>
            <a:off x="777240" y="1938528"/>
            <a:ext cx="10588752"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国家赔偿法第3条起句及第1项｜节录</a:t>
            </a:r>
            <a:endParaRPr lang="zh-CN" sz="2400" dirty="0"/>
          </a:p>
        </p:txBody>
      </p:sp>
      <p:sp>
        <p:nvSpPr>
          <p:cNvPr id="5" name="Text 3"/>
          <p:cNvSpPr/>
          <p:nvPr/>
        </p:nvSpPr>
        <p:spPr>
          <a:xfrm>
            <a:off x="777240" y="2633472"/>
            <a:ext cx="10588752" cy="1700784"/>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行政机关及其工作人员在行使行政职权时有下列侵犯人身权情形之一的，</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受害人有取得赔偿的权利：</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（一）违法拘留或者违法采取限制公民人身自由的行政强制措施的；</a:t>
            </a:r>
            <a:endParaRPr lang="zh-CN" sz="2400" dirty="0"/>
          </a:p>
        </p:txBody>
      </p:sp>
      <p:sp>
        <p:nvSpPr>
          <p:cNvPr id="6" name="Text 4"/>
          <p:cNvSpPr/>
          <p:nvPr/>
        </p:nvSpPr>
        <p:spPr>
          <a:xfrm>
            <a:off x="777240" y="4645152"/>
            <a:ext cx="2377440" cy="7772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先看条件</a:t>
            </a:r>
            <a:endParaRPr lang="zh-CN" sz="2400" dirty="0"/>
          </a:p>
        </p:txBody>
      </p:sp>
      <p:sp>
        <p:nvSpPr>
          <p:cNvPr id="7" name="Text 5"/>
          <p:cNvSpPr/>
          <p:nvPr/>
        </p:nvSpPr>
        <p:spPr>
          <a:xfrm>
            <a:off x="3474720" y="4645152"/>
            <a:ext cx="7863840" cy="82296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行政职权　｜　侵犯人身权　｜　违法拘留等法定情形</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权利要求继续展开为可以核对事实的适用条件。</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国家赔偿法第2条第1款、第3条起句及第1项；其他项略</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17 / 31</a:t>
            </a:r>
            <a:endParaRPr lang="zh-CN"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法律还回答：谁依法承担赔偿义务？</a:t>
            </a:r>
            <a:endParaRPr lang="zh-CN" sz="3600" dirty="0"/>
          </a:p>
        </p:txBody>
      </p:sp>
      <p:sp>
        <p:nvSpPr>
          <p:cNvPr id="4" name="Text 2"/>
          <p:cNvSpPr/>
          <p:nvPr/>
        </p:nvSpPr>
        <p:spPr>
          <a:xfrm>
            <a:off x="758952" y="1965960"/>
            <a:ext cx="2194560" cy="183337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第7条第1款</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｜义务主体</a:t>
            </a:r>
            <a:endParaRPr lang="zh-CN" sz="2400" dirty="0"/>
          </a:p>
        </p:txBody>
      </p:sp>
      <p:sp>
        <p:nvSpPr>
          <p:cNvPr id="5" name="Text 3"/>
          <p:cNvSpPr/>
          <p:nvPr/>
        </p:nvSpPr>
        <p:spPr>
          <a:xfrm>
            <a:off x="3410712" y="1965960"/>
            <a:ext cx="8019288" cy="183337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行政机关及其工作人员行使行政职权侵犯公民、法人和</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其他组织的合法权益造成损害</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的，该行政机关为赔偿义务机关。</a:t>
            </a:r>
            <a:endParaRPr lang="zh-CN" sz="2400" dirty="0"/>
          </a:p>
        </p:txBody>
      </p:sp>
      <p:sp>
        <p:nvSpPr>
          <p:cNvPr id="6" name="Text 4"/>
          <p:cNvSpPr/>
          <p:nvPr/>
        </p:nvSpPr>
        <p:spPr>
          <a:xfrm>
            <a:off x="758952" y="4091940"/>
            <a:ext cx="2194560" cy="146761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机关义务的意</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义</a:t>
            </a:r>
            <a:endParaRPr lang="zh-CN" sz="2400" dirty="0"/>
          </a:p>
        </p:txBody>
      </p:sp>
      <p:sp>
        <p:nvSpPr>
          <p:cNvPr id="7" name="Text 5"/>
          <p:cNvSpPr/>
          <p:nvPr/>
        </p:nvSpPr>
        <p:spPr>
          <a:xfrm>
            <a:off x="3410712" y="4091940"/>
            <a:ext cx="8019288" cy="146761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符合条件的请求有法定承担者；</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依法承担赔偿，超出礼貌接待。</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请求有法定依据，义务也有制度上的承担者。</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国家赔偿法第2条第2款、第7条第1款；第16条仅教师备查</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18 / 31</a:t>
            </a:r>
            <a:endParaRPr lang="zh-CN"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把已经确认的权利，安排成可以办理的请求</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宪法已经确认</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相应侵权损失者有依照法律规定</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取得赔偿的权利。</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普通法律继续安排</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何种情形、谁负义务，以及请求</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怎样提出。</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增加的是办理制度，受到约束的仍是国家权力。</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宪法第5、41条；国家赔偿法第3、7、9条</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19 / 31</a:t>
            </a:r>
            <a:endParaRPr lang="zh-CN"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同一请求：已有依据支持怎样的判断？</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已给定的事实</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行政职权、违法拘留、人身自由</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侵害；本机关名义下的单一机关情形。</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两项有限判断</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第3条第1项说明赔偿情形；第7条第1款确定本例义务机关。</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先核事实条件，再给结论；本题不计算金额。</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宪法第41条第3款；国家赔偿法第3条第1项、第7条第1款；原任务3与讲评合并</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20 / 31</a:t>
            </a:r>
            <a:endParaRPr lang="zh-CN"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宪法已有要求，具体办法仍要形成</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已有的根本要求</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宪法第41条确认相应赔偿权；第5</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条要求普通法律不得抵触宪法。</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仍须完成的制度工作</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依法区分情形、确定义务主体，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并取得核查请求所需的信息。</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先回到手中的条文，再解释它们为什么都需要。</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宪法第5条第3款、第41条第3款；国家赔偿法第12条第1款起句及第2项</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21 / 31</a:t>
            </a:r>
            <a:endParaRPr lang="zh-CN"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必要信息与取得信息的方式，可以分开</a:t>
            </a:r>
            <a:endParaRPr lang="zh-CN" sz="3600" dirty="0"/>
          </a:p>
        </p:txBody>
      </p:sp>
      <p:sp>
        <p:nvSpPr>
          <p:cNvPr id="4" name="Shape 2"/>
          <p:cNvSpPr/>
          <p:nvPr/>
        </p:nvSpPr>
        <p:spPr>
          <a:xfrm>
            <a:off x="713232" y="1901952"/>
            <a:ext cx="5175504" cy="3657600"/>
          </a:xfrm>
          <a:prstGeom prst="rect">
            <a:avLst/>
          </a:prstGeom>
          <a:solidFill>
            <a:srgbClr val="FFFFFF"/>
          </a:solidFill>
          <a:ln w="12700">
            <a:solidFill>
              <a:srgbClr val="FFFFFF">
                <a:alpha val="0"/>
              </a:srgbClr>
            </a:solidFill>
            <a:prstDash val="solid"/>
          </a:ln>
        </p:spPr>
      </p:sp>
      <p:sp>
        <p:nvSpPr>
          <p:cNvPr id="5" name="Text 3"/>
          <p:cNvSpPr/>
          <p:nvPr/>
        </p:nvSpPr>
        <p:spPr>
          <a:xfrm>
            <a:off x="914400"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第12条第1款节录</a:t>
            </a:r>
            <a:endParaRPr lang="zh-CN" sz="2400" dirty="0"/>
          </a:p>
        </p:txBody>
      </p:sp>
      <p:sp>
        <p:nvSpPr>
          <p:cNvPr id="6" name="Text 4"/>
          <p:cNvSpPr/>
          <p:nvPr/>
        </p:nvSpPr>
        <p:spPr>
          <a:xfrm>
            <a:off x="914400"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要求赔偿应当递交申请书，申请</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书应当载明下列事项：</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（二）具体的要求、</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事实根据和理由；</a:t>
            </a:r>
            <a:endParaRPr lang="zh-CN" sz="2400" dirty="0"/>
          </a:p>
        </p:txBody>
      </p:sp>
      <p:sp>
        <p:nvSpPr>
          <p:cNvPr id="7" name="Shape 5"/>
          <p:cNvSpPr/>
          <p:nvPr/>
        </p:nvSpPr>
        <p:spPr>
          <a:xfrm>
            <a:off x="6327648" y="1901952"/>
            <a:ext cx="5175504" cy="3657600"/>
          </a:xfrm>
          <a:prstGeom prst="rect">
            <a:avLst/>
          </a:prstGeom>
          <a:solidFill>
            <a:srgbClr val="E8ECE6"/>
          </a:solidFill>
          <a:ln w="12700">
            <a:solidFill>
              <a:srgbClr val="E8ECE6">
                <a:alpha val="0"/>
              </a:srgbClr>
            </a:solidFill>
            <a:prstDash val="solid"/>
          </a:ln>
        </p:spPr>
      </p:sp>
      <p:sp>
        <p:nvSpPr>
          <p:cNvPr id="8" name="Text 6"/>
          <p:cNvSpPr/>
          <p:nvPr/>
        </p:nvSpPr>
        <p:spPr>
          <a:xfrm>
            <a:off x="6528816" y="2103120"/>
            <a:ext cx="4773168" cy="54864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第12条第2款</a:t>
            </a:r>
            <a:endParaRPr lang="zh-CN" sz="2400" dirty="0"/>
          </a:p>
        </p:txBody>
      </p:sp>
      <p:sp>
        <p:nvSpPr>
          <p:cNvPr id="9" name="Text 7"/>
          <p:cNvSpPr/>
          <p:nvPr/>
        </p:nvSpPr>
        <p:spPr>
          <a:xfrm>
            <a:off x="6528816" y="2798064"/>
            <a:ext cx="4773168" cy="2606040"/>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赔偿请求人书写申请书确有困难</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的，可以委托他人代书；也可以</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口头申请，由</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赔偿义务机关记入笔录。</a:t>
            </a:r>
            <a:endParaRPr lang="zh-CN" sz="2400" dirty="0"/>
          </a:p>
        </p:txBody>
      </p:sp>
      <p:sp>
        <p:nvSpPr>
          <p:cNvPr id="10" name="Text 8"/>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要求解释关系；可以用自己的措辞组织理由。</a:t>
            </a:r>
            <a:endParaRPr lang="zh-CN" sz="2400" dirty="0"/>
          </a:p>
        </p:txBody>
      </p:sp>
      <p:sp>
        <p:nvSpPr>
          <p:cNvPr id="11" name="Text 9"/>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国家赔偿法第12条第1款起句、第2项及第2款；甲书写困难为明确教学延伸</a:t>
            </a:r>
            <a:endParaRPr lang="zh-CN" sz="1200" dirty="0"/>
          </a:p>
        </p:txBody>
      </p:sp>
      <p:sp>
        <p:nvSpPr>
          <p:cNvPr id="12" name="Text 10"/>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22 / 31</a:t>
            </a:r>
            <a:endParaRPr lang="zh-CN"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理解检查：改变方式，是否放弃了要求？</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沿用同一请求｜教学延伸</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甲书写申请书确有困难。有人主张：只能拒绝；另有人主张：不必</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提供事实和理由。</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用实际条文说明</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第12条怎样提供另一种安排？解决</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了什么，又没有替我们证明什么？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改变取得信息的方式，保留依法判断所需要求。</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国家赔偿法第12条；宪法第5、41条；解释机会及教师回收</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23 / 31</a:t>
            </a:r>
            <a:endParaRPr lang="zh-CN"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把关系迁移到普通法律的起首句</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没有写“根据宪法”</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仍受宪法约束：第5条不由普通法律选择接受。</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写了“根据宪法”</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明示制定依据；尚不能独自证明每</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条内容合宪、实际履职已经完成。</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分别给出理由，不只报“是”或“否”。</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任务5｜宪法第5条；国家赔偿法第1条用于对照</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24 / 31</a:t>
            </a:r>
            <a:endParaRPr lang="zh-CN"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法律将要施行，为什么还要布置具体工作？</a:t>
            </a:r>
            <a:endParaRPr lang="zh-CN" sz="3600" dirty="0"/>
          </a:p>
        </p:txBody>
      </p:sp>
      <p:sp>
        <p:nvSpPr>
          <p:cNvPr id="4" name="Shape 2"/>
          <p:cNvSpPr/>
          <p:nvPr/>
        </p:nvSpPr>
        <p:spPr>
          <a:xfrm>
            <a:off x="804672" y="1956816"/>
            <a:ext cx="3438144" cy="1085088"/>
          </a:xfrm>
          <a:prstGeom prst="rect">
            <a:avLst/>
          </a:prstGeom>
          <a:solidFill>
            <a:srgbClr val="343E3B"/>
          </a:solidFill>
          <a:ln w="12700">
            <a:solidFill>
              <a:srgbClr val="343E3B">
                <a:alpha val="0"/>
              </a:srgbClr>
            </a:solidFill>
            <a:prstDash val="solid"/>
          </a:ln>
        </p:spPr>
      </p:sp>
      <p:sp>
        <p:nvSpPr>
          <p:cNvPr id="5" name="Text 3"/>
          <p:cNvSpPr/>
          <p:nvPr/>
        </p:nvSpPr>
        <p:spPr>
          <a:xfrm>
            <a:off x="969264" y="2075688"/>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F7F4ED"/>
                </a:solidFill>
                <a:latin typeface="Microsoft YaHei" pitchFamily="34" charset="0"/>
                <a:ea typeface="Microsoft YaHei" pitchFamily="34" charset="-122"/>
                <a:cs typeface="Microsoft YaHei" pitchFamily="34" charset="-120"/>
              </a:rPr>
              <a:t>已有依据与基础</a:t>
            </a:r>
            <a:endParaRPr lang="zh-CN" sz="2400" dirty="0"/>
          </a:p>
        </p:txBody>
      </p:sp>
      <p:sp>
        <p:nvSpPr>
          <p:cNvPr id="6" name="Text 4"/>
          <p:cNvSpPr/>
          <p:nvPr/>
        </p:nvSpPr>
        <p:spPr>
          <a:xfrm>
            <a:off x="4617720" y="2048256"/>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宪法赔偿要求；此前行政诉讼</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法中的行政赔偿安排。</a:t>
            </a:r>
            <a:endParaRPr lang="zh-CN" sz="2400" dirty="0"/>
          </a:p>
        </p:txBody>
      </p:sp>
      <p:sp>
        <p:nvSpPr>
          <p:cNvPr id="7" name="Shape 5"/>
          <p:cNvSpPr/>
          <p:nvPr/>
        </p:nvSpPr>
        <p:spPr>
          <a:xfrm>
            <a:off x="2523744" y="3060192"/>
            <a:ext cx="0" cy="137160"/>
          </a:xfrm>
          <a:prstGeom prst="line">
            <a:avLst/>
          </a:prstGeom>
          <a:noFill/>
          <a:ln w="16510">
            <a:solidFill>
              <a:srgbClr val="9B3D32"/>
            </a:solidFill>
            <a:prstDash val="solid"/>
            <a:tailEnd type="triangle"/>
          </a:ln>
        </p:spPr>
      </p:sp>
      <p:sp>
        <p:nvSpPr>
          <p:cNvPr id="8" name="Shape 6"/>
          <p:cNvSpPr/>
          <p:nvPr/>
        </p:nvSpPr>
        <p:spPr>
          <a:xfrm>
            <a:off x="804672" y="3215640"/>
            <a:ext cx="3438144" cy="1085088"/>
          </a:xfrm>
          <a:prstGeom prst="rect">
            <a:avLst/>
          </a:prstGeom>
          <a:solidFill>
            <a:srgbClr val="E8ECE6"/>
          </a:solidFill>
          <a:ln w="12700">
            <a:solidFill>
              <a:srgbClr val="E8ECE6">
                <a:alpha val="0"/>
              </a:srgbClr>
            </a:solidFill>
            <a:prstDash val="solid"/>
          </a:ln>
        </p:spPr>
      </p:sp>
      <p:sp>
        <p:nvSpPr>
          <p:cNvPr id="9" name="Text 7"/>
          <p:cNvSpPr/>
          <p:nvPr/>
        </p:nvSpPr>
        <p:spPr>
          <a:xfrm>
            <a:off x="969264" y="3334512"/>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专法已经</a:t>
            </a:r>
            <a:endParaRPr lang="zh-CN" sz="2400" dirty="0"/>
          </a:p>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公布，即将施行</a:t>
            </a:r>
            <a:endParaRPr lang="zh-CN" sz="2400" dirty="0"/>
          </a:p>
        </p:txBody>
      </p:sp>
      <p:sp>
        <p:nvSpPr>
          <p:cNvPr id="10" name="Text 8"/>
          <p:cNvSpPr/>
          <p:nvPr/>
        </p:nvSpPr>
        <p:spPr>
          <a:xfrm>
            <a:off x="4617720" y="3307080"/>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国家赔偿法1994年通过；</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1995年1月1日起施行。</a:t>
            </a:r>
            <a:endParaRPr lang="zh-CN" sz="2400" dirty="0"/>
          </a:p>
        </p:txBody>
      </p:sp>
      <p:sp>
        <p:nvSpPr>
          <p:cNvPr id="11" name="Shape 9"/>
          <p:cNvSpPr/>
          <p:nvPr/>
        </p:nvSpPr>
        <p:spPr>
          <a:xfrm>
            <a:off x="2523744" y="4319016"/>
            <a:ext cx="0" cy="137160"/>
          </a:xfrm>
          <a:prstGeom prst="line">
            <a:avLst/>
          </a:prstGeom>
          <a:noFill/>
          <a:ln w="16510">
            <a:solidFill>
              <a:srgbClr val="9B3D32"/>
            </a:solidFill>
            <a:prstDash val="solid"/>
            <a:tailEnd type="triangle"/>
          </a:ln>
        </p:spPr>
      </p:sp>
      <p:sp>
        <p:nvSpPr>
          <p:cNvPr id="12" name="Shape 10"/>
          <p:cNvSpPr/>
          <p:nvPr/>
        </p:nvSpPr>
        <p:spPr>
          <a:xfrm>
            <a:off x="804672" y="4474464"/>
            <a:ext cx="3438144" cy="1085088"/>
          </a:xfrm>
          <a:prstGeom prst="rect">
            <a:avLst/>
          </a:prstGeom>
          <a:solidFill>
            <a:srgbClr val="E8ECE6"/>
          </a:solidFill>
          <a:ln w="12700">
            <a:solidFill>
              <a:srgbClr val="E8ECE6">
                <a:alpha val="0"/>
              </a:srgbClr>
            </a:solidFill>
            <a:prstDash val="solid"/>
          </a:ln>
        </p:spPr>
      </p:sp>
      <p:sp>
        <p:nvSpPr>
          <p:cNvPr id="13" name="Text 11"/>
          <p:cNvSpPr/>
          <p:nvPr/>
        </p:nvSpPr>
        <p:spPr>
          <a:xfrm>
            <a:off x="969264" y="4593336"/>
            <a:ext cx="3108960" cy="9022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343E3B"/>
                </a:solidFill>
                <a:latin typeface="Microsoft YaHei" pitchFamily="34" charset="0"/>
                <a:ea typeface="Microsoft YaHei" pitchFamily="34" charset="-122"/>
                <a:cs typeface="Microsoft YaHei" pitchFamily="34" charset="-120"/>
              </a:rPr>
              <a:t>施行前的实际工作</a:t>
            </a:r>
            <a:endParaRPr lang="zh-CN" sz="2400" dirty="0"/>
          </a:p>
        </p:txBody>
      </p:sp>
      <p:sp>
        <p:nvSpPr>
          <p:cNvPr id="14" name="Text 12"/>
          <p:cNvSpPr/>
          <p:nvPr/>
        </p:nvSpPr>
        <p:spPr>
          <a:xfrm>
            <a:off x="4617720" y="4565904"/>
            <a:ext cx="6675120" cy="966216"/>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确定受理赔偿请求的具体工作机构和人员；抓</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紧配套制度建设。</a:t>
            </a:r>
            <a:endParaRPr lang="zh-CN" sz="2400" dirty="0"/>
          </a:p>
        </p:txBody>
      </p:sp>
      <p:sp>
        <p:nvSpPr>
          <p:cNvPr id="15" name="Text 13"/>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本例为赔偿救济；连线表示制度联系，不表示自动兑现。</a:t>
            </a:r>
            <a:endParaRPr lang="zh-CN" sz="2400" dirty="0"/>
          </a:p>
        </p:txBody>
      </p:sp>
      <p:sp>
        <p:nvSpPr>
          <p:cNvPr id="16" name="Text 14"/>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国办发〔1994〕106号；原公报印刷1208—1210/PDF56—58；现行宪法第5、41条与国家赔偿法第7、12条</a:t>
            </a:r>
            <a:endParaRPr lang="zh-CN" sz="1200" dirty="0"/>
          </a:p>
        </p:txBody>
      </p:sp>
      <p:sp>
        <p:nvSpPr>
          <p:cNvPr id="17" name="Text 15"/>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25 / 31</a:t>
            </a:r>
            <a:endParaRPr lang="zh-CN"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下节｜第一讲 宪法总论</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从国家根本安排，回到一个人的请求</a:t>
            </a:r>
            <a:endParaRPr lang="zh-CN" sz="3600" dirty="0"/>
          </a:p>
        </p:txBody>
      </p:sp>
      <p:sp>
        <p:nvSpPr>
          <p:cNvPr id="4" name="Text 2"/>
          <p:cNvSpPr/>
          <p:nvPr/>
        </p:nvSpPr>
        <p:spPr>
          <a:xfrm>
            <a:off x="758952" y="19659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国家的根本安</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排</a:t>
            </a:r>
            <a:endParaRPr lang="zh-CN" sz="2400" dirty="0"/>
          </a:p>
        </p:txBody>
      </p:sp>
      <p:sp>
        <p:nvSpPr>
          <p:cNvPr id="5" name="Text 3"/>
          <p:cNvSpPr/>
          <p:nvPr/>
        </p:nvSpPr>
        <p:spPr>
          <a:xfrm>
            <a:off x="3410712" y="19659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根本内容、最高效力、特别修改</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程序；权力组织与持续责任。</a:t>
            </a:r>
            <a:endParaRPr lang="zh-CN" sz="2400" dirty="0"/>
          </a:p>
        </p:txBody>
      </p:sp>
      <p:sp>
        <p:nvSpPr>
          <p:cNvPr id="6" name="Text 4"/>
          <p:cNvSpPr/>
          <p:nvPr/>
        </p:nvSpPr>
        <p:spPr>
          <a:xfrm>
            <a:off x="758952" y="3909060"/>
            <a:ext cx="2194560" cy="1650492"/>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同一要求</a:t>
            </a:r>
            <a:endParaRPr lang="zh-CN" sz="2400" dirty="0"/>
          </a:p>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进入个人请求</a:t>
            </a:r>
            <a:endParaRPr lang="zh-CN" sz="2400" dirty="0"/>
          </a:p>
        </p:txBody>
      </p:sp>
      <p:sp>
        <p:nvSpPr>
          <p:cNvPr id="7" name="Text 5"/>
          <p:cNvSpPr/>
          <p:nvPr/>
        </p:nvSpPr>
        <p:spPr>
          <a:xfrm>
            <a:off x="3410712" y="3909060"/>
            <a:ext cx="8019288" cy="1650492"/>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宪法权利→具体法律安排→</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机关依法履职→相应权利保障。</a:t>
            </a:r>
            <a:endParaRPr lang="zh-CN" sz="24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宪法总论：国家怎样组织，权力怎样受约束，权利怎样获保障。</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任务7及第一讲收束；下一讲：宪法的发展</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26 / 31</a:t>
            </a:r>
            <a:endParaRPr lang="zh-CN"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备查：特别门槛与全体一致模型</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明确课堂假设</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其他程序条件符合，全体代表60%赞成；修宪与其他议案分别判断。</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另一条件分析</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从三分之二改为全体一致，稳定与必要调整的困难怎样同时变化？</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比较法定门槛，不把多数都当成同一种多数。</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任务2｜宪法第64条</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27 / 31</a:t>
            </a:r>
            <a:endParaRPr lang="zh-CN"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备查：目标与具体权限的资料缺口</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现有材料足以说明</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抽象目标本身，不足以证明具体措施已获合法授权。</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还须查明</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什么机关与职权？什么措施？依据和事实条件？采用什么程序？</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指出具体缺口，才能把判断继续做下去。</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任务6｜教学设例；宪法第5、33条等作规范背景</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28 / 31</a:t>
            </a:r>
            <a:endParaRPr lang="zh-CN"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备查：机关地位与规范效力</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现行宪法第57条第一句</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中华人民共和国全国人民代表大会是最高国家权力机关。</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与第5条合读</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最高国家权力机关，为什么仍受宪法约束？“最高”在比较什么？</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按本节进度调用，仍在45分钟内收束。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现行宪法第5、57、64条；机关地位与规范约束分别说明</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29 / 31</a:t>
            </a:r>
            <a:endParaRPr lang="zh-CN"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教师备查</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备查：赔偿履行与此前侵害</a:t>
            </a:r>
            <a:endParaRPr lang="zh-CN" sz="3600" dirty="0"/>
          </a:p>
        </p:txBody>
      </p:sp>
      <p:sp>
        <p:nvSpPr>
          <p:cNvPr id="4" name="Text 2"/>
          <p:cNvSpPr/>
          <p:nvPr/>
        </p:nvSpPr>
        <p:spPr>
          <a:xfrm>
            <a:off x="795528" y="1920240"/>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教学假设</a:t>
            </a:r>
            <a:endParaRPr lang="zh-CN" sz="2400" dirty="0"/>
          </a:p>
        </p:txBody>
      </p:sp>
      <p:sp>
        <p:nvSpPr>
          <p:cNvPr id="5" name="Text 3"/>
          <p:cNvSpPr/>
          <p:nvPr/>
        </p:nvSpPr>
        <p:spPr>
          <a:xfrm>
            <a:off x="795528" y="2450592"/>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本课违法行政拘留事实成立，法定赔偿义务已经履行。</a:t>
            </a:r>
            <a:endParaRPr lang="zh-CN" sz="2600" dirty="0"/>
          </a:p>
        </p:txBody>
      </p:sp>
      <p:sp>
        <p:nvSpPr>
          <p:cNvPr id="6" name="Text 4"/>
          <p:cNvSpPr/>
          <p:nvPr/>
        </p:nvSpPr>
        <p:spPr>
          <a:xfrm>
            <a:off x="795528" y="3854196"/>
            <a:ext cx="10533888" cy="457200"/>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分别判断</a:t>
            </a:r>
            <a:endParaRPr lang="zh-CN" sz="2400" dirty="0"/>
          </a:p>
        </p:txBody>
      </p:sp>
      <p:sp>
        <p:nvSpPr>
          <p:cNvPr id="7" name="Text 5"/>
          <p:cNvSpPr/>
          <p:nvPr/>
        </p:nvSpPr>
        <p:spPr>
          <a:xfrm>
            <a:off x="795528" y="4384548"/>
            <a:ext cx="10533888" cy="1165860"/>
          </a:xfrm>
          <a:prstGeom prst="rect">
            <a:avLst/>
          </a:prstGeom>
          <a:noFill/>
          <a:ln/>
        </p:spPr>
        <p:txBody>
          <a:bodyPr wrap="none" lIns="0" tIns="0" rIns="0" bIns="0" rtlCol="0" anchor="t"/>
          <a:lstStyle/>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能否因此说过去的拘留合法？能否</a:t>
            </a:r>
            <a:endParaRPr lang="zh-CN" sz="2600" dirty="0"/>
          </a:p>
          <a:p>
            <a:pPr algn="l" indent="0" marL="0">
              <a:lnSpc>
                <a:spcPct val="105000"/>
              </a:lnSpc>
              <a:buNone/>
            </a:pPr>
            <a:r>
              <a:rPr lang="zh-CN" altLang="en-US" sz="2600" dirty="0">
                <a:solidFill>
                  <a:srgbClr val="2B302F"/>
                </a:solidFill>
                <a:latin typeface="Microsoft YaHei" pitchFamily="34" charset="0"/>
                <a:ea typeface="Microsoft YaHei" pitchFamily="34" charset="-122"/>
                <a:cs typeface="Microsoft YaHei" pitchFamily="34" charset="-120"/>
              </a:rPr>
              <a:t>说权利保障已经不再有任何问题？</a:t>
            </a:r>
            <a:endParaRPr lang="zh-CN" sz="2600" dirty="0"/>
          </a:p>
        </p:txBody>
      </p:sp>
      <p:sp>
        <p:nvSpPr>
          <p:cNvPr id="8" name="Text 6"/>
          <p:cNvSpPr/>
          <p:nvPr/>
        </p:nvSpPr>
        <p:spPr>
          <a:xfrm>
            <a:off x="722376" y="5815584"/>
            <a:ext cx="10753344" cy="4297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按本节进度调用，仍在45分钟内收束。</a:t>
            </a:r>
            <a:endParaRPr lang="zh-CN" sz="2400" dirty="0"/>
          </a:p>
        </p:txBody>
      </p:sp>
      <p:sp>
        <p:nvSpPr>
          <p:cNvPr id="9" name="Text 7"/>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宪法第5、33、41条；国家赔偿法第1、7、16条；教学假设</a:t>
            </a:r>
            <a:endParaRPr lang="zh-CN" sz="1200" dirty="0"/>
          </a:p>
        </p:txBody>
      </p:sp>
      <p:sp>
        <p:nvSpPr>
          <p:cNvPr id="10" name="Text 8"/>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30 / 31</a:t>
            </a:r>
            <a:endParaRPr lang="zh-CN"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713232" y="320040"/>
            <a:ext cx="10789920" cy="329184"/>
          </a:xfrm>
          <a:prstGeom prst="rect">
            <a:avLst/>
          </a:prstGeom>
          <a:noFill/>
          <a:ln/>
        </p:spPr>
        <p:txBody>
          <a:bodyPr wrap="none" lIns="0" tIns="0" rIns="0" bIns="0" rtlCol="0" anchor="t"/>
          <a:lstStyle/>
          <a:p>
            <a:pPr algn="l" indent="0" marL="0">
              <a:lnSpc>
                <a:spcPct val="105000"/>
              </a:lnSpc>
              <a:buNone/>
            </a:pPr>
            <a:r>
              <a:rPr lang="zh-CN" altLang="en-US" sz="1700" b="1" dirty="0">
                <a:solidFill>
                  <a:srgbClr val="9B3D32"/>
                </a:solidFill>
                <a:latin typeface="Microsoft YaHei" pitchFamily="34" charset="0"/>
                <a:ea typeface="Microsoft YaHei" pitchFamily="34" charset="-122"/>
                <a:cs typeface="Microsoft YaHei" pitchFamily="34" charset="-120"/>
              </a:rPr>
              <a:t>来源查读</a:t>
            </a:r>
            <a:endParaRPr lang="zh-CN" sz="1700" dirty="0"/>
          </a:p>
        </p:txBody>
      </p:sp>
      <p:sp>
        <p:nvSpPr>
          <p:cNvPr id="3" name="Text 1"/>
          <p:cNvSpPr/>
          <p:nvPr/>
        </p:nvSpPr>
        <p:spPr>
          <a:xfrm>
            <a:off x="694944" y="859536"/>
            <a:ext cx="10808208" cy="987552"/>
          </a:xfrm>
          <a:prstGeom prst="rect">
            <a:avLst/>
          </a:prstGeom>
          <a:noFill/>
          <a:ln/>
        </p:spPr>
        <p:txBody>
          <a:bodyPr wrap="none" lIns="0" tIns="0" rIns="0" bIns="0" rtlCol="0" anchor="t"/>
          <a:lstStyle/>
          <a:p>
            <a:pPr algn="l" indent="0" marL="0">
              <a:lnSpc>
                <a:spcPct val="105000"/>
              </a:lnSpc>
              <a:buNone/>
            </a:pPr>
            <a:r>
              <a:rPr lang="zh-CN" altLang="en-US" sz="3600" b="1" dirty="0">
                <a:solidFill>
                  <a:srgbClr val="343E3B"/>
                </a:solidFill>
                <a:latin typeface="Microsoft YaHei" pitchFamily="34" charset="0"/>
                <a:ea typeface="Microsoft YaHei" pitchFamily="34" charset="-122"/>
                <a:cs typeface="Microsoft YaHei" pitchFamily="34" charset="-120"/>
              </a:rPr>
              <a:t>本讲主要依据与阅读入口</a:t>
            </a:r>
            <a:endParaRPr lang="zh-CN" sz="3600" dirty="0"/>
          </a:p>
        </p:txBody>
      </p:sp>
      <p:sp>
        <p:nvSpPr>
          <p:cNvPr id="4" name="Text 2"/>
          <p:cNvSpPr/>
          <p:nvPr/>
        </p:nvSpPr>
        <p:spPr>
          <a:xfrm>
            <a:off x="758952" y="1965960"/>
            <a:ext cx="2194560" cy="10546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规范与教材</a:t>
            </a:r>
            <a:endParaRPr lang="zh-CN" sz="2400" dirty="0"/>
          </a:p>
        </p:txBody>
      </p:sp>
      <p:sp>
        <p:nvSpPr>
          <p:cNvPr id="5" name="Text 3"/>
          <p:cNvSpPr/>
          <p:nvPr/>
        </p:nvSpPr>
        <p:spPr>
          <a:xfrm>
            <a:off x="3410712" y="1965960"/>
            <a:ext cx="8019288" cy="105460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宪法（2018年修正）；国家赔偿法（2012年第二次修</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正）；马工程《宪法学》第二版。</a:t>
            </a:r>
            <a:endParaRPr lang="zh-CN" sz="2400" dirty="0"/>
          </a:p>
        </p:txBody>
      </p:sp>
      <p:sp>
        <p:nvSpPr>
          <p:cNvPr id="6" name="Shape 4"/>
          <p:cNvSpPr/>
          <p:nvPr/>
        </p:nvSpPr>
        <p:spPr>
          <a:xfrm>
            <a:off x="758952" y="3144012"/>
            <a:ext cx="10671048" cy="0"/>
          </a:xfrm>
          <a:prstGeom prst="line">
            <a:avLst/>
          </a:prstGeom>
          <a:noFill/>
          <a:ln w="16510">
            <a:solidFill>
              <a:srgbClr val="CBCDC5"/>
            </a:solidFill>
            <a:prstDash val="solid"/>
          </a:ln>
        </p:spPr>
      </p:sp>
      <p:sp>
        <p:nvSpPr>
          <p:cNvPr id="7" name="Text 5"/>
          <p:cNvSpPr/>
          <p:nvPr/>
        </p:nvSpPr>
        <p:spPr>
          <a:xfrm>
            <a:off x="758952" y="3313176"/>
            <a:ext cx="2194560" cy="142036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历史与学理</a:t>
            </a:r>
            <a:endParaRPr lang="zh-CN" sz="2400" dirty="0"/>
          </a:p>
        </p:txBody>
      </p:sp>
      <p:sp>
        <p:nvSpPr>
          <p:cNvPr id="8" name="Text 6"/>
          <p:cNvSpPr/>
          <p:nvPr/>
        </p:nvSpPr>
        <p:spPr>
          <a:xfrm>
            <a:off x="3410712" y="3313176"/>
            <a:ext cx="8019288" cy="142036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共同纲领、1954年宪法及新华社资料照片；张翔《中国</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法律评论》2019年第1期；王锴</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《法学论坛》2024年第1期。</a:t>
            </a:r>
            <a:endParaRPr lang="zh-CN" sz="2400" dirty="0"/>
          </a:p>
        </p:txBody>
      </p:sp>
      <p:sp>
        <p:nvSpPr>
          <p:cNvPr id="9" name="Shape 7"/>
          <p:cNvSpPr/>
          <p:nvPr/>
        </p:nvSpPr>
        <p:spPr>
          <a:xfrm>
            <a:off x="758952" y="4856988"/>
            <a:ext cx="10671048" cy="0"/>
          </a:xfrm>
          <a:prstGeom prst="line">
            <a:avLst/>
          </a:prstGeom>
          <a:noFill/>
          <a:ln w="16510">
            <a:solidFill>
              <a:srgbClr val="CBCDC5"/>
            </a:solidFill>
            <a:prstDash val="solid"/>
          </a:ln>
        </p:spPr>
      </p:sp>
      <p:sp>
        <p:nvSpPr>
          <p:cNvPr id="10" name="Text 8"/>
          <p:cNvSpPr/>
          <p:nvPr/>
        </p:nvSpPr>
        <p:spPr>
          <a:xfrm>
            <a:off x="758952" y="5026152"/>
            <a:ext cx="2194560" cy="1054608"/>
          </a:xfrm>
          <a:prstGeom prst="rect">
            <a:avLst/>
          </a:prstGeom>
          <a:noFill/>
          <a:ln/>
        </p:spPr>
        <p:txBody>
          <a:bodyPr wrap="none" lIns="0" tIns="0" rIns="0" bIns="0" rtlCol="0" anchor="t"/>
          <a:lstStyle/>
          <a:p>
            <a:pPr algn="l" indent="0" marL="0">
              <a:lnSpc>
                <a:spcPct val="105000"/>
              </a:lnSpc>
              <a:buNone/>
            </a:pPr>
            <a:r>
              <a:rPr lang="zh-CN" altLang="en-US" sz="2400" b="1" dirty="0">
                <a:solidFill>
                  <a:srgbClr val="9B3D32"/>
                </a:solidFill>
                <a:latin typeface="Microsoft YaHei" pitchFamily="34" charset="0"/>
                <a:ea typeface="Microsoft YaHei" pitchFamily="34" charset="-122"/>
                <a:cs typeface="Microsoft YaHei" pitchFamily="34" charset="-120"/>
              </a:rPr>
              <a:t>配套阅读</a:t>
            </a:r>
            <a:endParaRPr lang="zh-CN" sz="2400" dirty="0"/>
          </a:p>
        </p:txBody>
      </p:sp>
      <p:sp>
        <p:nvSpPr>
          <p:cNvPr id="11" name="Text 9"/>
          <p:cNvSpPr/>
          <p:nvPr/>
        </p:nvSpPr>
        <p:spPr>
          <a:xfrm>
            <a:off x="3410712" y="5026152"/>
            <a:ext cx="8019288" cy="1054608"/>
          </a:xfrm>
          <a:prstGeom prst="rect">
            <a:avLst/>
          </a:prstGeom>
          <a:noFill/>
          <a:ln/>
        </p:spPr>
        <p:txBody>
          <a:bodyPr wrap="none" lIns="0" tIns="0" rIns="0" bIns="0" rtlCol="0" anchor="t"/>
          <a:lstStyle/>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学生材料与逐题讲评分册；完整来源、原作细读和修订</a:t>
            </a:r>
            <a:endParaRPr lang="zh-CN" sz="2400" dirty="0"/>
          </a:p>
          <a:p>
            <a:pPr algn="l" indent="0" marL="0">
              <a:lnSpc>
                <a:spcPct val="105000"/>
              </a:lnSpc>
              <a:buNone/>
            </a:pPr>
            <a:r>
              <a:rPr lang="zh-CN" altLang="en-US" sz="2400" dirty="0">
                <a:solidFill>
                  <a:srgbClr val="2B302F"/>
                </a:solidFill>
                <a:latin typeface="Microsoft YaHei" pitchFamily="34" charset="0"/>
                <a:ea typeface="Microsoft YaHei" pitchFamily="34" charset="-122"/>
                <a:cs typeface="Microsoft YaHei" pitchFamily="34" charset="-120"/>
              </a:rPr>
              <a:t>记录见本轮仓库入口。</a:t>
            </a:r>
            <a:endParaRPr lang="zh-CN" sz="2400" dirty="0"/>
          </a:p>
        </p:txBody>
      </p:sp>
      <p:sp>
        <p:nvSpPr>
          <p:cNvPr id="12" name="Text 10"/>
          <p:cNvSpPr/>
          <p:nvPr/>
        </p:nvSpPr>
        <p:spPr>
          <a:xfrm>
            <a:off x="713232" y="6419088"/>
            <a:ext cx="9646920" cy="283464"/>
          </a:xfrm>
          <a:prstGeom prst="rect">
            <a:avLst/>
          </a:prstGeom>
          <a:noFill/>
          <a:ln/>
        </p:spPr>
        <p:txBody>
          <a:bodyPr wrap="none" lIns="0" tIns="0" rIns="0" bIns="0" rtlCol="0" anchor="t"/>
          <a:lstStyle/>
          <a:p>
            <a:pPr algn="l"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具体网页、印刷页及PDF物理页见研究与来源记录</a:t>
            </a:r>
            <a:endParaRPr lang="zh-CN" sz="1200" dirty="0"/>
          </a:p>
        </p:txBody>
      </p:sp>
      <p:sp>
        <p:nvSpPr>
          <p:cNvPr id="13" name="Text 11"/>
          <p:cNvSpPr/>
          <p:nvPr/>
        </p:nvSpPr>
        <p:spPr>
          <a:xfrm>
            <a:off x="10588752" y="6419088"/>
            <a:ext cx="896112" cy="283464"/>
          </a:xfrm>
          <a:prstGeom prst="rect">
            <a:avLst/>
          </a:prstGeom>
          <a:noFill/>
          <a:ln/>
        </p:spPr>
        <p:txBody>
          <a:bodyPr wrap="none" lIns="0" tIns="0" rIns="0" bIns="0" rtlCol="0" anchor="t"/>
          <a:lstStyle/>
          <a:p>
            <a:pPr algn="r" indent="0" marL="0">
              <a:lnSpc>
                <a:spcPct val="105000"/>
              </a:lnSpc>
              <a:buNone/>
            </a:pPr>
            <a:r>
              <a:rPr lang="zh-CN" altLang="en-US" sz="1200" dirty="0">
                <a:solidFill>
                  <a:srgbClr val="616966"/>
                </a:solidFill>
                <a:latin typeface="Microsoft YaHei" pitchFamily="34" charset="0"/>
                <a:ea typeface="Microsoft YaHei" pitchFamily="34" charset="-122"/>
                <a:cs typeface="Microsoft YaHei" pitchFamily="34" charset="-120"/>
              </a:rPr>
              <a:t>31 / 31</a:t>
            </a:r>
            <a:endParaRPr lang="zh-CN"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第一讲 宪法总论</dc:title>
  <dc:subject>第一讲整合试讲主版本</dc:subject>
  <dc:creator>宪法学课程备课组</dc:creator>
  <cp:lastModifiedBy>宪法学课程备课组</cp:lastModifiedBy>
  <cp:revision>1</cp:revision>
  <dcterms:created xsi:type="dcterms:W3CDTF">2026-10-07T14:01:49Z</dcterms:created>
  <dcterms:modified xsi:type="dcterms:W3CDTF">2026-10-07T14:01:49Z</dcterms:modified>
</cp:coreProperties>
</file>