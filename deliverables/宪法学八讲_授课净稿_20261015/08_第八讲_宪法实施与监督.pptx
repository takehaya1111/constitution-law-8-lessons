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5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  <Relationship Id="rId5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第八讲　宪法实施与监督</a:t>
            </a:r>
          </a:p>
          <a:p>
            <a:pPr/>
            <a:endParaRPr lang="zh-CN" dirty="0"/>
          </a:p>
          <a:p>
            <a:pPr/>
            <a:r>
              <a:rPr lang="zh-CN" dirty="0"/>
              <a:t>&gt; 公安专业一年级；上下两节各45分钟，课间另计。小标题供定位；方括号为简短课堂提示。</a:t>
            </a:r>
          </a:p>
          <a:p>
            <a:pPr/>
            <a:endParaRPr lang="zh-CN" dirty="0"/>
          </a:p>
          <a:p>
            <a:pPr/>
            <a:r>
              <a:rPr lang="zh-CN" dirty="0"/>
              <a:t>上节｜宪法规范怎样进入持续工作</a:t>
            </a:r>
          </a:p>
          <a:p>
            <a:pPr/>
            <a:endParaRPr lang="zh-CN" dirty="0"/>
          </a:p>
          <a:p>
            <a:pPr/>
            <a:r>
              <a:rPr lang="zh-CN" dirty="0"/>
              <a:t>一、宪法实施的内容、主体和方式</a:t>
            </a:r>
          </a:p>
          <a:p>
            <a:pPr/>
            <a:endParaRPr lang="zh-CN" dirty="0"/>
          </a:p>
          <a:p>
            <a:pPr/>
            <a:r>
              <a:rPr lang="zh-CN" dirty="0"/>
              <a:t>前面七讲从宪法的根本法地位，讲到国家制度、个人权利和国家机关。最后这一讲要回答：这些要求怎样持续起作用；某一处规范出了问题，又怎样提出、研究和纠正？</a:t>
            </a:r>
          </a:p>
          <a:p>
            <a:pPr/>
            <a:endParaRPr lang="zh-CN" dirty="0"/>
          </a:p>
          <a:p>
            <a:pPr/>
            <a:r>
              <a:rPr lang="zh-CN" dirty="0"/>
              <a:t>上节先看宪法怎样通过立法与持续履职得到落实，再分清解释、修改和监督的任务与主体；下节沿一项真实地方性法规问题，走过提出、研究、沟通和纠正的过程。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从正面讲。教材开篇把制定、完善宪法的根本目的称为“行宪”，就是把宪法确认的理念、原则、制度和规范付诸实践。宪法实施的定义是：宪法规范在社会实际生活中的贯彻落实。从书面走向现实，关键在于规范有没有进入实际行动。</a:t>
            </a:r>
          </a:p>
          <a:p>
            <a:pPr/>
            <a:endParaRPr lang="zh-CN" dirty="0"/>
          </a:p>
          <a:p>
            <a:pPr/>
            <a:r>
              <a:rPr lang="zh-CN" dirty="0"/>
              <a:t>定义只有一句话，但教材紧接着提醒：宪法制定得再好，如果得不到实施，也是一纸空文。这里说的是实际作用：权利没有得到保障，权力没有受到约束，写进文本的目标就没有充分实现。这不是说实施不足会让宪法自动丧失法律效力，而是说，有效的规范还需要落实的工作。</a:t>
            </a:r>
          </a:p>
          <a:p>
            <a:pPr/>
            <a:endParaRPr lang="zh-CN" dirty="0"/>
          </a:p>
          <a:p>
            <a:pPr/>
            <a:r>
              <a:rPr lang="zh-CN" dirty="0"/>
              <a:t>先看我国宪法怎样规定这种责任。最高法律效力为实施提供依据，却不会自动把学校建好、把机关职责履行好，也不会自动纠正每一项不当规定。要从规范走到这些实际结果，还得知道由谁做什么、怎样持续检查。</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国宪法有多处这样的规定。序言末段列出了承担这项职责的主体：全国各族人民，一切国家机关和武装力量，各政党和各社会团体，各企业事业组织——都要以宪法为根本的活动准则，同时负有维护宪法尊严、保证宪法实施的职责。第五条划的是效力的界限：一切法律、行政法规和地方性法规，都不得同宪法相抵触；一切违反宪法和法律的行为必须予以追究；任何组织或者个人，都不得有超越宪法和法律的特权。第五十三条要求公民遵守宪法和法律。第九十九条说的是地方国家权力机关的这一项职责：在本行政区域内，保证宪法、法律、行政法规的遵守和执行。</a:t>
            </a:r>
          </a:p>
          <a:p>
            <a:pPr/>
            <a:endParaRPr lang="zh-CN" dirty="0"/>
          </a:p>
          <a:p>
            <a:pPr/>
            <a:r>
              <a:rPr lang="zh-CN" dirty="0"/>
              <a:t>这四处分别交代责任主体、效力界限、公民义务与地方人大的保障职责。共同承担实施责任，仍须分清各自依法做什么。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那么，宪法实施和我们熟悉的一般法律实施有什么不同？教材讲了三点，这三点的顺序本身就在说明问题。</a:t>
            </a:r>
          </a:p>
          <a:p>
            <a:pPr/>
            <a:endParaRPr lang="zh-CN" dirty="0"/>
          </a:p>
          <a:p>
            <a:pPr/>
            <a:r>
              <a:rPr lang="zh-CN" dirty="0"/>
              <a:t>第一点是内容上的广泛性。 一般法律主要调整某个领域，宪法则涉及国家性质、权力组织、国家结构、基本经济制度、权利义务及实施保障，覆盖政治、经济、文化和社会等方面。范围广，落实时就需要许多主体、许多环节共同工作，不能只找一项执法活动来代表全部实施。</a:t>
            </a:r>
          </a:p>
          <a:p>
            <a:pPr/>
            <a:endParaRPr lang="zh-CN" dirty="0"/>
          </a:p>
          <a:p>
            <a:pPr/>
            <a:r>
              <a:rPr lang="zh-CN" dirty="0"/>
              <a:t>第二点是主体的普遍性。 国家机关、政党、社会组织和公民，都要以宪法为根本活动准则。国家权力机关依法立法，行政机关行使行政权，监察机关行使监察权，审判、检察机关履行各自职责；其他社会主体和公民依法行使权利、履行义务，都有相应位置。</a:t>
            </a:r>
          </a:p>
          <a:p>
            <a:pPr/>
            <a:endParaRPr lang="zh-CN" dirty="0"/>
          </a:p>
          <a:p>
            <a:pPr/>
            <a:r>
              <a:rPr lang="zh-CN" dirty="0"/>
              <a:t>这里要读准一个分寸：主体广泛，不等于所有主体有同一种法定职权。 公民遵守宪法是一种实施，常委会解释宪法也是一种实施，但两者完全不是一回事。“都参与”说的是责任面，“有什么权”说的是权限面。公民可以提出意见，不会因此取得修改法规的权力；工作机构参与审查，也不会因此取代依法作决定的机关。</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第三点是方式的多样性。 宪法规范有直接的法律效力，但它还通过国家机关的立法、执法、司法等活动，以及其他组织和公民的遵守来实现。教材把方式分成三类：宪法执行，指国家机关直接依据宪法行使公共管理职能；宪法适用，指宪法规定的特定国家机关，通过适用宪法解决争议；宪法遵守，指一切国家机关、政党、社会组织和公民个人，在国家生活和社会生活中严格遵守宪法。</a:t>
            </a:r>
          </a:p>
          <a:p>
            <a:pPr/>
            <a:endParaRPr lang="zh-CN" dirty="0"/>
          </a:p>
          <a:p>
            <a:pPr/>
            <a:r>
              <a:rPr lang="zh-CN" dirty="0"/>
              <a:t>这三类里，“执行”和“遵守”最容易混，我们分开。执行的主体是国家机关，它做的事是行使权力、履行职责——制定法律、作出决定决议、行使行政权、审判权、检察权。遵守的主体是一切主体，包括国家机关自己。 也就是说，国家机关不只执行宪法，它本身也有遵守宪法的职责。 换句话说，执行者同时是被约束者。</a:t>
            </a:r>
          </a:p>
          <a:p>
            <a:pPr/>
            <a:endParaRPr lang="zh-CN" dirty="0"/>
          </a:p>
          <a:p>
            <a:pPr/>
            <a:r>
              <a:rPr lang="zh-CN" dirty="0"/>
              <a:t>“适用”这一类更特殊：它指的是特定国家机关通过适用宪法解决争议。请注意“特定”两个字——不是所有国家机关都能直接适用宪法去处理争议。 这一点第四节讲宪法监督时还会回来。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还有一条要补上。教材指出，宪法还可以通过法律的实施而获得实施，这叫间接实施。有立法权的国家机关依据宪法制定法律、法规，把宪法的规定具体化之后，宪法的基本原则、基本精神及规范内涵已经融合在具体立法之中，法律的实施也就属于宪法实施的范畴。 请记住这句话，它是下一节的入口。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教材也讲了实施需要条件，分为政治保证、思想基础和宪法自身的完善程度。先从我们比较熟悉的宣传教育和宣誓说起，再看制度与规范怎样提供支持。</a:t>
            </a:r>
          </a:p>
          <a:p>
            <a:pPr/>
            <a:endParaRPr lang="zh-CN" dirty="0"/>
          </a:p>
          <a:p>
            <a:pPr/>
            <a:r>
              <a:rPr lang="zh-CN" dirty="0"/>
              <a:t>思想基础这一项，可以从国家宪法日和宪法宣誓来看。2014年，全国人大常委会通过决定，把每年12月4日确定为国家宪法日，要求开展宪法宣传教育。后来，2018年有关部门部署了首个全国宪法宣传周。宣传周是后来开展的活动，不能把它也说成2014年那份决定设立的制度。 宪法宣誓则有另一条制度线索：2015年常委会专门作出决定，规定宣誓范围、要求和程序；2018年修订这一决定，并通过宪法修正案把宣誓制度载入宪法。</a:t>
            </a:r>
          </a:p>
          <a:p>
            <a:pPr/>
            <a:endParaRPr lang="zh-CN" dirty="0"/>
          </a:p>
          <a:p>
            <a:pPr/>
            <a:r>
              <a:rPr lang="zh-CN" dirty="0"/>
              <a:t>这些安排有助于让尊崇宪法成为行动中的自觉。属于法定范围的国家工作人员，在就职时依法公开进行宪法宣誓，承诺维护宪法权威、履行法定职责、接受人民监督。但宣誓不是履职成效的证明：是否真正履行了承诺，还要看日常工作的依据、程序和结果，接受实际监督。</a:t>
            </a:r>
          </a:p>
          <a:p>
            <a:pPr/>
            <a:endParaRPr lang="zh-CN" dirty="0"/>
          </a:p>
          <a:p>
            <a:pPr/>
            <a:r>
              <a:rPr lang="zh-CN" dirty="0"/>
              <a:t>再看另外两个条件。政治保证方面，教材强调党的领导、人民当家作主、依法治国有机统一，党的领导为宪法实施提供根本政治保证。这涉及怎样统筹推进实施，不能只理解为个人有没有宪法知识。宪法自身的完善程度方面，既要保持稳定，也要回应社会变化。1982年宪法公布施行以来，五次修正案在保持连续性的基础上作出调整。如何在稳定与发展之间处理好关系，下一节之后我们还要用解释、修改这两种不同工作来说明。</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【课堂提示：可先问一句——“宪法实施”和“法律的实施”，你觉得最大的不同在哪一点？让学生先说，教师再收。之后再给两点：参与的人更多、能做的事不等。】</a:t>
            </a:r>
          </a:p>
          <a:p>
            <a:pPr/>
            <a:endParaRPr lang="zh-CN" dirty="0"/>
          </a:p>
          <a:p>
            <a:pPr/>
            <a:r>
              <a:rPr lang="zh-CN" dirty="0"/>
              <a:t>这一节，先把一句话立住：宪法的法律效力，和宪法的实际落实，不是同一件事。 这个区别第一讲已经建立；这一讲要新增的是——落实这件事由谁承担、用什么方式做，以及出了问题谁来判断。</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二、受教育权的立法落实与机关履职</a:t>
            </a:r>
          </a:p>
          <a:p>
            <a:pPr/>
            <a:endParaRPr lang="zh-CN" dirty="0"/>
          </a:p>
          <a:p>
            <a:pPr/>
            <a:r>
              <a:rPr lang="zh-CN" dirty="0"/>
              <a:t>上一节说到，宪法可以通过立法具体化，再通过法律的实施间接实施。这个说法有点抽象，我们找一个具体的、没有争议的例子来看。</a:t>
            </a:r>
          </a:p>
          <a:p>
            <a:pPr/>
            <a:endParaRPr lang="zh-CN" dirty="0"/>
          </a:p>
          <a:p>
            <a:pPr/>
            <a:r>
              <a:rPr lang="zh-CN" dirty="0"/>
              <a:t>这个例子是受教育权。先看宪法第四十六条第一款：“中华人民共和国公民有受教育的权利和义务。”同条第二款还规定国家培养青年、少年、儿童在品德、智力、体质等方面全面发展。这里先抓住第一款：它确认了一项权利和义务，但没有把学校设置、经费、教学和入学安排全部写在这一条里。宪法作根本规定，具体制度还要依法展开；不能要求这一条独自承担整个教育制度的细节。</a:t>
            </a:r>
          </a:p>
          <a:p>
            <a:pPr/>
            <a:endParaRPr lang="zh-CN" dirty="0"/>
          </a:p>
          <a:p>
            <a:pPr/>
            <a:r>
              <a:rPr lang="zh-CN" dirty="0"/>
              <a:t>那么立法做了什么？看教育法。教育法第一条交代制定依据，写的是“根据宪法，制定本法”。这句话不是套话。在规范体系里，它做的是一个位置声明：这部法律不是凭空来的，它在宪法下面；宪法是它的依据，也是它的界限。</a:t>
            </a:r>
          </a:p>
          <a:p>
            <a:pPr/>
            <a:endParaRPr lang="zh-CN" dirty="0"/>
          </a:p>
          <a:p>
            <a:pPr/>
            <a:r>
              <a:rPr lang="zh-CN" dirty="0"/>
              <a:t>教育法第九条写了两款：第一款重申公民有受教育的权利和义务；第二款规定，公民不分民族、种族、性别、职业、财产状况、宗教信仰等，依法享有平等的受教育机会。它把平等机会明确落到教育领域，给教育管理、办学和个人主张提供了共同的规范标准。</a:t>
            </a:r>
          </a:p>
          <a:p>
            <a:pPr/>
            <a:endParaRPr lang="zh-CN" dirty="0"/>
          </a:p>
          <a:p>
            <a:pPr/>
            <a:r>
              <a:rPr lang="zh-CN" dirty="0"/>
              <a:t>把三段文字并排放在一起，层次就出来了。</a:t>
            </a:r>
          </a:p>
          <a:p>
            <a:pPr/>
            <a:endParaRPr lang="zh-CN" dirty="0"/>
          </a:p>
          <a:p>
            <a:pPr/>
            <a:r>
              <a:rPr lang="zh-CN" dirty="0"/>
              <a:t>第一处文字确认基本权利；第二处交代这部法律的制定依据；第三处把教育领域的平等机会要求写得更明确。三处不是把同一句话重复三遍，而是在回答不同问题。 不过，第九条还没有规定完整的招生程序和经费安排；不能把整部教育法完成的具体化，都记在这两款名下。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普通法律实际增加的是什么？不只是把宪法改写得更长，而是进一步安排负责机关、办学活动、资源和权利保障。教育法第十五条规定教育行政部门的主管职责，第二十六条规定国家制定教育发展规划并举办学校；第二十九条规定学校组织教学、管理学籍等权利，第三十条同时要求学校执行教学标准、保证质量、维护受教育者权益。第四十三条又规定学生参加教学活动、使用资源、获得公正评价等权利。</a:t>
            </a:r>
          </a:p>
          <a:p>
            <a:pPr/>
            <a:endParaRPr lang="zh-CN" dirty="0"/>
          </a:p>
          <a:p>
            <a:pPr/>
            <a:r>
              <a:rPr lang="zh-CN" dirty="0"/>
              <a:t>把这些规定连起来，工作过程就看见了：行政部门依法管理，学校组织课程、提供教学条件、保障学生权益，学生才能实际参加学习、使用资源、获得公正评价。学生对学校处分不服，还可以依法向有关部门申诉。制定法律是一项实施工作，依法持续办这些事也是；学校有办学权限，也有保护学生权利的义务。</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还要读准“平等机会”。它不意味着取消依法设置的入学条件，也不意味着所有人获得相同安排。教育法规定，对符合入学条件、家庭经济困难的学生提供资助。额外帮助有时正是使平等机会接近现实的办法。判断区别是否允许，要看依据和理由，不只看大家拿到的是不是一样多。</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【课堂提示：约一至两分钟。对照刚读过的宪法第四十六条、教育法第一条、第九条，各用一句话写出它做的是哪一层工作，不要求全文抄写。】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但这里必须停一下，说清一件事：法律写出了要求，和现实中所有机会已经平等，不是同一个事实。 教育法第九条第二款写的是“依法享有平等的受教育机会”，这是一个规范上的要求；它有没有在每一所学校、每一次录取、每一个地区都完全实现，是另一个问题，需要另外的材料来回答。</a:t>
            </a:r>
          </a:p>
          <a:p>
            <a:pPr/>
            <a:endParaRPr lang="zh-CN" dirty="0"/>
          </a:p>
          <a:p>
            <a:pPr/>
            <a:r>
              <a:rPr lang="zh-CN" dirty="0"/>
              <a:t>这两件事要分清，两头都不能走偏。一头是：不能因为看到一条写得很好的规定，就推断实际效果也已经到位。 条文的存在，只证明制度上确立了要求。另一头是：现实里有差距，不等于这条规定没有意义。 它的意义正在于给了我们一个标准——有了这个标准，我们才能说哪里没做到，也才能依法要求、检查和纠正。</a:t>
            </a:r>
          </a:p>
          <a:p>
            <a:pPr/>
            <a:endParaRPr lang="zh-CN" dirty="0"/>
          </a:p>
          <a:p>
            <a:pPr/>
            <a:r>
              <a:rPr lang="zh-CN" dirty="0"/>
              <a:t>这一节还有一个认识要建立起来：并不是任何宪法实施，都要先等一部新法律出台。 回想第七讲，全国人大依据宪法行使选举、决定任命等职权，这些组织活动本身就在落实宪法安排。它们当然仍须遵守相关法律和程序，但不能把“有没有新制定一部法律”当作实施是否发生的唯一标志。法律的制定依据，也不能用来反推它出台之前现实中已经实现了什么。</a:t>
            </a:r>
          </a:p>
          <a:p>
            <a:pPr/>
            <a:endParaRPr lang="zh-CN" dirty="0"/>
          </a:p>
          <a:p>
            <a:pPr/>
            <a:r>
              <a:rPr lang="zh-CN" dirty="0"/>
              <a:t>这一节把第四讲和第五、六讲接了起来。第四讲讲的是国家对教育等事业承担的任务，第五、六讲讲的是公民个人的受教育权利；到了这里，两边通过一部具体的法律连上了——国家任务有了机关去办，个人权利有了规范去请求。</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三、宪法解释、修改和监督的任务</a:t>
            </a:r>
          </a:p>
          <a:p>
            <a:pPr/>
            <a:endParaRPr lang="zh-CN" dirty="0"/>
          </a:p>
          <a:p>
            <a:pPr/>
            <a:r>
              <a:rPr lang="zh-CN" dirty="0"/>
              <a:t>上一节看的是“宪法怎样被落实”。接下来要分清三种看起来相近、实际各有各任务的工作：解释、修改和监督。</a:t>
            </a:r>
          </a:p>
          <a:p>
            <a:pPr/>
            <a:endParaRPr lang="zh-CN" dirty="0"/>
          </a:p>
          <a:p>
            <a:pPr/>
            <a:r>
              <a:rPr lang="zh-CN" dirty="0"/>
              <a:t>第一种是宪法解释。 教材在正式解释的意义上，把它界定为宪法解释机关依据宪法的理念、基本精神和基本原则，对规范的含义、界限及相互关系作出的有法律效力的说明。宪法文字可以不改，理解和适用却得到澄清、发展。不改文字，不等于含义永远只能停在字面；但也不能借解释任意突破宪法规定，代替依法修宪。</a:t>
            </a:r>
          </a:p>
          <a:p>
            <a:pPr/>
            <a:endParaRPr lang="zh-CN" dirty="0"/>
          </a:p>
          <a:p>
            <a:pPr/>
            <a:r>
              <a:rPr lang="zh-CN" dirty="0"/>
              <a:t>为什么需要它？教材给了两个理由。一个是：宪法规范只有与社会实际相适应，才能发挥应有的功能；另一个是：当宪法规范的含义出现歧义时，对它应有的含义作出必要说明，有利于宪法规范的实施。 所以解释既是使宪法适应社会实际的一种方法，也是保障宪法实施的一种手段、一种措施。</a:t>
            </a:r>
          </a:p>
          <a:p>
            <a:pPr/>
            <a:endParaRPr lang="zh-CN" dirty="0"/>
          </a:p>
          <a:p>
            <a:pPr/>
            <a:r>
              <a:rPr lang="zh-CN" dirty="0"/>
              <a:t>第二种是宪法修改。 教材的定义是：宪法修改机关认为宪法的部分内容不适应社会实际，依照宪法规定的特定修改程序，对宪法进行删除、增加、变更的活动。用白话说：这次动的是字，宪法的内容本身变了。</a:t>
            </a:r>
          </a:p>
          <a:p>
            <a:pPr/>
            <a:endParaRPr lang="zh-CN" dirty="0"/>
          </a:p>
          <a:p>
            <a:pPr/>
            <a:r>
              <a:rPr lang="zh-CN" dirty="0"/>
              <a:t>第三种是宪法监督。 它关注的是贯彻和抵触问题怎样得到纠正——某项实施宪法的行为、某个规范性文件，是否符合宪法。它针对的对象、用的程序，和前两种都不一样。</a:t>
            </a:r>
          </a:p>
          <a:p>
            <a:pPr/>
            <a:endParaRPr lang="zh-CN" dirty="0"/>
          </a:p>
          <a:p>
            <a:pPr/>
            <a:r>
              <a:rPr lang="zh-CN" dirty="0"/>
              <a:t>三种工作彼此相关，但不能互换。它们回答的是三个不同的问题：解释回答“这句话是什么意思”，修改回答“这句话该不该改”，监督回答“这件事、这个文件合不合宪法”。</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专门讨论解释和修改的界限：面对不同理解或歧义，应尽可能通过解释，使规范准确、全面地调整社会关系；解释仍不能解决的，再考虑修改。它强调的是维护稳定又回应现实的方法：能在宪法规定范围内说明清楚，就充分说明；确实需要改变现行安排，则依法修改。</a:t>
            </a:r>
          </a:p>
          <a:p>
            <a:pPr/>
            <a:endParaRPr lang="zh-CN" dirty="0"/>
          </a:p>
          <a:p>
            <a:pPr/>
            <a:r>
              <a:rPr lang="zh-CN" dirty="0"/>
              <a:t>这里不能多推出一道法定手续：宪法没有规定，必须先作出一次正式解释、证明解释失败，才准提出修宪。宪法第六十四条规定的提议主体，是全国人大常委会或者五分之一以上全国人大代表；通过须有全体代表三分之二以上多数。第二讲讲的高门槛与教材强调的稳定性相关，但“充分考虑解释”不是在这些法定条件之外新添的修宪前置程序。</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接下来是一个特别容易混的地方，教材专门作了区分：有权解释和学理解释。 这个区分是按效力划分的。</a:t>
            </a:r>
          </a:p>
          <a:p>
            <a:pPr/>
            <a:endParaRPr lang="zh-CN" dirty="0"/>
          </a:p>
          <a:p>
            <a:pPr/>
            <a:r>
              <a:rPr lang="zh-CN" dirty="0"/>
              <a:t>有权解释，又叫法定解释、正式解释——主体是宪法规定的解释机关，它作出的解释具有宪法效力，与宪法有同等的法律效力。</a:t>
            </a:r>
          </a:p>
          <a:p>
            <a:pPr/>
            <a:endParaRPr lang="zh-CN" dirty="0"/>
          </a:p>
          <a:p>
            <a:pPr/>
            <a:r>
              <a:rPr lang="zh-CN" dirty="0"/>
              <a:t>学理解释，又叫非正式解释——主体是宪法规定的解释机关以外的组织和个人，说明的对象也是宪法；但它不具有法律效力。 但教材并没有小看它——它说，学理解释反映了一国的宪法意识，对宪法的实施具有重要意义。</a:t>
            </a:r>
          </a:p>
          <a:p>
            <a:pPr/>
            <a:endParaRPr lang="zh-CN" dirty="0"/>
          </a:p>
          <a:p>
            <a:pPr/>
            <a:r>
              <a:rPr lang="zh-CN" dirty="0"/>
              <a:t>学理解释可以帮助发现歧义、提出方案、检验理由，并非没有意义。但研究者、教师或人大代表以个人身份发表看法，不会因此取得法定机关正式解释的效力。意见能否成立，要看论证；是否有正式效力，还要看主体和程序。</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那在我国，这项权力归属于谁？宪法明确规定，解释宪法的职权由全国人大常委会行使。 教材还进一步说明：从全国人大具有宪法监督权这一点出发，教材认为全国人大也应当具有宪法解释权。</a:t>
            </a:r>
          </a:p>
          <a:p>
            <a:pPr/>
            <a:endParaRPr lang="zh-CN" dirty="0"/>
          </a:p>
          <a:p>
            <a:pPr/>
            <a:r>
              <a:rPr lang="zh-CN" dirty="0"/>
              <a:t>请大家留意教材这句话的写法。 它说的是“从……规定出发……也应当具有”——这是教材的推论，不是宪法里的一句明文。 教材对解释主体作理论说明，和宪法条文直接规定，是两件事，读的时候要分清。</a:t>
            </a:r>
          </a:p>
          <a:p>
            <a:pPr/>
            <a:endParaRPr lang="zh-CN" dirty="0"/>
          </a:p>
          <a:p>
            <a:pPr/>
            <a:r>
              <a:rPr lang="zh-CN" dirty="0"/>
              <a:t>至于第七讲讲过的机关关系，这里只调用一句：全国人大修改宪法并监督宪法的实施，常委会解释宪法并监督宪法的实施。</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材还指出，宪法解释程序机制需要完善。今天不能只停在这句话：2018年的职责决定和2021年全国人大组织法，已明确宪法和法律委员会开展宪法解释等工作；2023年关于完善和加强备案审查制度的决定，要求在审查中落实健全宪法解释工作程序，阐明有关宪法规定和精神。有关工作计划和公开工作综述也记载了提出解释性研究意见的安排与实践。这些是职责、程序要求和具体工作的推进，不等于每一份解释性研究意见都成为常委会正式的宪法解释。</a:t>
            </a:r>
          </a:p>
          <a:p>
            <a:pPr/>
            <a:endParaRPr lang="zh-CN" dirty="0"/>
          </a:p>
          <a:p>
            <a:pPr/>
            <a:r>
              <a:rPr lang="zh-CN" dirty="0"/>
              <a:t>最后落一个认识，它正好接住前面“学理解释”那一层：对一个问题开展研究、提出意见，和依法作出最终决定，是三个不同的动作。 有了研究意见，不等于文本已经改了；做了大量解释工作，也不等于每一个参与者都拥有正式解释权。谁在研究、谁在提意见、谁有权拍板，要分清。 这句话看着简单，下一节和下节的主案都要用到。</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四、宪法监督制度及我国相关主体</a:t>
            </a:r>
          </a:p>
          <a:p>
            <a:pPr/>
            <a:endParaRPr lang="zh-CN" dirty="0"/>
          </a:p>
          <a:p>
            <a:pPr/>
            <a:r>
              <a:rPr lang="zh-CN" dirty="0"/>
              <a:t>宪法实施讲了正面，这一节要说的是：如果某一处没落实、或者落实得不对，谁来判断、按什么判断。</a:t>
            </a:r>
          </a:p>
          <a:p>
            <a:pPr/>
            <a:endParaRPr lang="zh-CN" dirty="0"/>
          </a:p>
          <a:p>
            <a:pPr/>
            <a:r>
              <a:rPr lang="zh-CN" dirty="0"/>
              <a:t>教材给宪法监督下的定义是：由特定国家机关按照法律程序，监督其他国家机关实施宪法的行为是否符合宪法的制度。定义里有三个词要抓住：特定——不是谁都能做；按照法律程序——不是随口判断；是否符合宪法——判断的对象是实施行为。</a:t>
            </a:r>
          </a:p>
          <a:p>
            <a:pPr/>
            <a:endParaRPr lang="zh-CN" dirty="0"/>
          </a:p>
          <a:p>
            <a:pPr/>
            <a:r>
              <a:rPr lang="zh-CN" dirty="0"/>
              <a:t>这套制度在不同国家有不同称谓：违宪审查、司法审查、宪法诉讼、宪法审查。有的强调宪法判断，有的强调由司法机关处理，有的强调诉讼形式，并不是一套彼此排斥的分类。教材还提醒，宪法监督机关通常由宪法明确规定，括注是“美国除外”。下面看美国法院怎样在案件中论证这项权力，不能把这个例外理解为它们不受宪法约束。</a:t>
            </a:r>
          </a:p>
          <a:p>
            <a:pPr/>
            <a:endParaRPr lang="zh-CN" dirty="0"/>
          </a:p>
          <a:p>
            <a:pPr/>
            <a:r>
              <a:rPr lang="zh-CN" dirty="0"/>
              <a:t>教材把世界上的做法归成三类，我们各看一眼。</a:t>
            </a:r>
          </a:p>
          <a:p>
            <a:pPr/>
            <a:endParaRPr lang="zh-CN" dirty="0"/>
          </a:p>
          <a:p>
            <a:pPr/>
            <a:r>
              <a:rPr lang="zh-CN" dirty="0"/>
              <a:t>一类是普通法院审查制。 各级普通法院在具体案件中，对本案要适用的法律进行合宪性审查，因此也称分散型体制。美国是代表。教材用1803年的马伯里诉麦迪逊案，说明这项权力怎样在判决中得到确立。先看人和事情，再看法院的理由。</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1800年大选后，亚当斯即将卸任，杰弗逊即将接任。1801年3月，马伯里获任首都所在特区的治安法官，委任状已经总统签署、国务卿盖章，却没有送到他手中。负责办理文书的马歇尔，当时已经担任最高法院首席大法官，仍代理国务卿工作。换届后，新政府拒绝交付，马伯里便直接请求最高法院命令国务卿麦迪逊交付。到了1803年，写出判决的正是马歇尔。</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判决分开问了三件事：马伯里有没有取得委任状的权利？权利受到侵害，法律有没有救济？这项救济，能不能由最高法院发出命令来提供？前两问，法院答“有”：任命已经完成；对这类法定职责，官员不能仅凭职位高就免于法律约束。第三问却没有跟着答“可以”，因为还要审查法院自己的权限。</a:t>
            </a:r>
          </a:p>
          <a:p>
            <a:pPr/>
            <a:endParaRPr lang="zh-CN" dirty="0"/>
          </a:p>
          <a:p>
            <a:pPr/>
            <a:r>
              <a:rPr lang="zh-CN" dirty="0"/>
              <a:t>这里要分清初审和上诉。马伯里不是不服下级法院判决来上诉，而是直接到最高法院提出请求，属于由它从头受理的原始管辖。宪法第三条列明了最高法院原始管辖的案件类别，本案不在其中。法院把1789年司法法第十三条理解为扩大了这项权限，因而要回答：普通法律与宪法冲突时，还能依这部法律办吗？</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它的理由是：宪法高于普通法律；法院审案要确定适用的规范；两者冲突，不能只看法律而无视宪法。因此，扩大权限的这部分规定不能适用，最高法院最终没有发出交付命令。马伯里没有通过这次诉讼取得委任状，这项判决却成为最高法院首次判定国会法律违宪的案件。 此前已有相关审查实践，不能把“首次判违宪”说成“此前从未审过”。在个案中拒绝适用，也不同于立法机关自行废除条文。</a:t>
            </a:r>
          </a:p>
          <a:p>
            <a:pPr/>
            <a:endParaRPr lang="zh-CN" dirty="0"/>
          </a:p>
          <a:p>
            <a:pPr/>
            <a:r>
              <a:rPr lang="zh-CN" dirty="0"/>
              <a:t>这份判决也留下了异议。二十年后，杰弗逊在信中批评：既然法院没有管辖权，为什么还要先判断马伯里有没有取得委任状的权利？这是对判决论证次序的批评，不是原判决自己的理由。看见一项制度的历史作用，仍然可以检验它的每一步论证；也不能从法官需要解释法律，直接推出法院对一切宪法问题都有最高决定权。</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二类是专门机关审查制。 宪法法院这一支，又叫凯尔森模式或奥地利模式。凯尔森是一位奥地利法学家，承担了1920年宪法的重要起草工作，是相关制度的主要设计者之一。奥地利1919年已有宪法法院，1920年宪法扩大其职权，形成了影响深远的集中审查安排；不能把整段过程压成某一年由一个人从零创立。</a:t>
            </a:r>
          </a:p>
          <a:p>
            <a:pPr/>
            <a:endParaRPr lang="zh-CN" dirty="0"/>
          </a:p>
          <a:p>
            <a:pPr/>
            <a:r>
              <a:rPr lang="zh-CN" dirty="0"/>
              <a:t>“集中”不是另换一块法院招牌，而是把有关法律的违宪审查和撤销职权交给专门机关。早期奥地利制度允许联邦政府请求审查州法律、州政府请求审查联邦法律，宪法法院自己审案需要适用该法律时，也可依职权审查。在联邦与州各有立法权的情况下，这为处理规范冲突提供了共同裁判者。它与普通法院在个案中分散审查的制度选择不同，不能只用“都叫法院”就把两者混在一起。</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法国的宪法委员会。1958年设立时，它特别重视约束议会活动、协调国家机关的权限。后来，基本权利保障作用明显发展。1971年7月16日的结社自由决定，是一个重要转折：委员会审查一部修改结社法的法律，否定了其中限制结社自由的部分规定。</a:t>
            </a:r>
          </a:p>
          <a:p>
            <a:pPr/>
            <a:endParaRPr lang="zh-CN" dirty="0"/>
          </a:p>
          <a:p>
            <a:pPr/>
            <a:r>
              <a:rPr lang="zh-CN" dirty="0"/>
              <a:t>这次判断的依据，不只在宪法正文里。1958年宪法序言指向1946年序言，而后者确认共和国法律承认的基本原则；委员会据此确认，源于1901年结社法的结社自由也是应当保障的宪法原则。这才把“功能发展”讲成了一件具体的事：审查不只看机关怎么分权，也检验法律怎样影响个人自由。 这不是说从那一天起，原来的职能都消失了。</a:t>
            </a:r>
          </a:p>
          <a:p>
            <a:pPr/>
            <a:endParaRPr lang="zh-CN" dirty="0"/>
          </a:p>
          <a:p>
            <a:pPr/>
            <a:r>
              <a:rPr lang="zh-CN" dirty="0"/>
              <a:t>还要保留一个区别：德国也有不依附具体诉讼的抽象规范审查，法国也有在诉讼中提出、经法定移送进入宪法委员会的事后审查。机关类型与审查时点，是两条不同的分类线。</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三类是代议机关监督制。 由作为民意代表机关的国家权力机关或者立法机关来审查。我国就归在这一类里。</a:t>
            </a:r>
          </a:p>
          <a:p>
            <a:pPr/>
            <a:endParaRPr lang="zh-CN" dirty="0"/>
          </a:p>
          <a:p>
            <a:pPr/>
            <a:r>
              <a:rPr lang="zh-CN" dirty="0"/>
              <a:t>讲这三类，是要建立一个分寸：不能把某个外国法院的模式当成宪法监督的唯一形式。 比较时要看权力配置和程序怎样配合——谁能提出问题，由谁研究，谁有权作什么决定；只知道机关叫法院、委员会或议会，还不足以判断一个具体问题该怎样处理。教材还介绍，宪法监督制度在发展中越来越重视基本权利保障，主案正是提醒我们：监督不只关系机关之间怎么分权，也关系一条规范怎样影响普通人的生活。</a:t>
            </a:r>
          </a:p>
          <a:p>
            <a:pPr/>
            <a:endParaRPr lang="zh-CN" dirty="0"/>
          </a:p>
          <a:p>
            <a:pPr/>
            <a:r>
              <a:rPr lang="zh-CN" dirty="0"/>
              <a:t>回到我国，也要按宪法和法律规定的权限来回答，不能照着外国机关名称找一个替代者。</a:t>
            </a:r>
          </a:p>
          <a:p>
            <a:pPr/>
            <a:endParaRPr lang="zh-CN" dirty="0"/>
          </a:p>
          <a:p>
            <a:pPr/>
            <a:r>
              <a:rPr lang="zh-CN" dirty="0"/>
              <a:t>那我国由谁承担这项职权？宪法规定，全国人大和全国人大常委会都有监督宪法实施的职权。教材联系人民代表大会制度解释：全国人大是最高国家权力机关，常委会是全国人大的常设机关；国务院、国家监察委员会、最高人民法院、最高人民检察院由全国人大产生，对全国人大负责并受其监督。全国人大及其常委会承担宪法监督，与这一整体权力配置相衔接。</a:t>
            </a:r>
          </a:p>
          <a:p>
            <a:pPr/>
            <a:endParaRPr lang="zh-CN" dirty="0"/>
          </a:p>
          <a:p>
            <a:pPr/>
            <a:r>
              <a:rPr lang="zh-CN" dirty="0"/>
              <a:t>教材从民主集中制和最高国家权力机关的地位解释这项制度安排。这是对我国整体权力配置的说明，不是“机关地位高，就自动取得任何监督权”的通则。 宪法第六十二条、第六十七条直接规定全国人大及其常委会监督宪法实施，相关法律再安排具体工作。人民法院依法审理案件，并不因此取得宣布全国人大法律违宪失效的权力；同样，不能据此否认法院依法审查具体行政行为等法定职责。</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具体的工作由谁做？两个机构要分清。</a:t>
            </a:r>
          </a:p>
          <a:p>
            <a:pPr/>
            <a:endParaRPr lang="zh-CN" dirty="0"/>
          </a:p>
          <a:p>
            <a:pPr/>
            <a:r>
              <a:rPr lang="zh-CN" dirty="0"/>
              <a:t>一个是全国人大宪法和法律委员会。宪法第七十条规定全国人大设立有关专门委员会，它就是其中之一。2018年宪法修改，将“法律委员会”更名为“宪法和法律委员会”。同年的职责决定，以及后来修订的全国人大组织法，明确它在统一审议法律草案等工作的基础上，承担推动宪法实施、开展宪法解释、推进合宪性审查、加强宪法监督、配合宪法宣传等职责。</a:t>
            </a:r>
          </a:p>
          <a:p>
            <a:pPr/>
            <a:endParaRPr lang="zh-CN" dirty="0"/>
          </a:p>
          <a:p>
            <a:pPr/>
            <a:r>
              <a:rPr lang="zh-CN" dirty="0"/>
              <a:t>另一个是全国人大常委会法制工作委员会，它是常委会的工作机构，在审查工作中承担接收登记、审查研究、提出意见、沟通反馈这些具体工作。</a:t>
            </a:r>
          </a:p>
          <a:p>
            <a:pPr/>
            <a:endParaRPr lang="zh-CN" dirty="0"/>
          </a:p>
          <a:p>
            <a:pPr/>
            <a:r>
              <a:rPr lang="zh-CN" dirty="0"/>
              <a:t>这里要分清：承担审查职责，不等于代行常委会的最终决定职权。 法工委依法研究、提出意见、沟通、督促纠正，这些意见和动作有相应的制度作用，不只是普通学术讨论；但不能把工作机构的审查意见直接写成全国人大常委会作出的撤销决定。哪项行为由谁作出、发生什么效力，要分别认定。</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还有两处容易混的，用第七讲已经建立的区分收一下。</a:t>
            </a:r>
          </a:p>
          <a:p>
            <a:pPr/>
            <a:endParaRPr lang="zh-CN" dirty="0"/>
          </a:p>
          <a:p>
            <a:pPr/>
            <a:r>
              <a:rPr lang="zh-CN" dirty="0"/>
              <a:t>第一，宪法监督不等于国家监察，也不等于检察机关的法律监督。 三者主体、对象、依据都不同：国家监察针对的是行使公权力的公职人员；法律监督是检察机关通过检察活动进行的监督；宪法监督则是最高国家权力机关对宪法实施和规范性文件的监督。第七讲我们把这三者的界线划清了，这一讲要记住的是：不能因为都带“监督”两个字，就把它们当成一回事。</a:t>
            </a:r>
          </a:p>
          <a:p>
            <a:pPr/>
            <a:endParaRPr lang="zh-CN" dirty="0"/>
          </a:p>
          <a:p>
            <a:pPr/>
            <a:r>
              <a:rPr lang="zh-CN" dirty="0"/>
              <a:t>第二，“违宪”和“违法”不是同一个判断。 前者直接以宪法为标准，后者在这里以宪法以外的法律为标准。教材强调，违宪主体主要是作为国家权力行使者的国家机关；违法则也可能发生在企业、团体和个人身上。判断主体和处理后果，也须依制度区分。尤其不要把“合法性审查”理解为法院独有的工作：本讲涉及的人大备案审查就同时审查是否抵触上位法、是否越权、程序是否合法。国外制度可能采用的拒绝适用、弹劾等后果，也不能整套套进我国。</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合宪性审查，就是审查法律等规范性文件是否符合宪法的机制。党的十九大报告明确提出推进合宪性审查工作，这是我国相关工作的重要部署，不能扩大说成这个学术概念到那时才被创造出来。它是宪法监督中保障宪法实施的重要机制。</a:t>
            </a:r>
          </a:p>
          <a:p>
            <a:pPr/>
            <a:endParaRPr lang="zh-CN" dirty="0"/>
          </a:p>
          <a:p>
            <a:pPr/>
            <a:r>
              <a:rPr lang="zh-CN" dirty="0"/>
              <a:t>用一个设例分开看：某地方性法规的罚款幅度超过上位法律允许的范围，首先能明确指出的是它抵触了哪部法律；某份规范直接与宪法的规定、原则或精神冲突，则提出合宪性问题。两类问题可能交叉。教材提出先穷尽合法性审查、再启动合宪性审查的论述，有助于理解两者如何衔接；但不能把它讲成现行制度中无例外的法定前置条件。 2023年有关决定同时要求审查宪法问题、上位法问题等，并要求审查研究涉及宪法的有关问题，不是先证明其他法律全都解决不了，才允许考虑宪法。</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上节收束。 上节讲了两件事。一件是正面的：宪法实施不只是发生争议以后才出现的纠错动作，它有内容、有主体、有方式；立法具体化是其中一种主要方式，但不是全部。 另一件是主体的：解释、修改、监督三种任务，各有各的机关和程序；研究意见与法定决定不能互换。 下节我们进一项真实的地方性法规问题，看一处具体规定怎样经历提出、研究、沟通和修改。</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下节｜终身禁业主案与规范纠正</a:t>
            </a:r>
          </a:p>
          <a:p>
            <a:pPr/>
            <a:endParaRPr lang="zh-CN" dirty="0"/>
          </a:p>
          <a:p>
            <a:pPr/>
            <a:r>
              <a:rPr lang="zh-CN" dirty="0"/>
              <a:t>五、终身禁业事例：限制目的与具体安排</a:t>
            </a:r>
          </a:p>
          <a:p>
            <a:pPr/>
            <a:endParaRPr lang="zh-CN" dirty="0"/>
          </a:p>
          <a:p>
            <a:pPr/>
            <a:r>
              <a:rPr lang="zh-CN" dirty="0"/>
              <a:t>下节从一个真实的事例开始。这个事例来自 2021年的备案审查工作情况报告，报告原文载在《全国人大常委会公报》2022年第1号上。</a:t>
            </a:r>
          </a:p>
          <a:p>
            <a:pPr/>
            <a:endParaRPr lang="zh-CN" dirty="0"/>
          </a:p>
          <a:p>
            <a:pPr/>
            <a:r>
              <a:rPr lang="zh-CN" dirty="0"/>
              <a:t>报告的写法很克制。它开头用的是“有的地方性法规”——没有说是哪个地方，也没有说是哪一部法规。</a:t>
            </a:r>
          </a:p>
          <a:p>
            <a:pPr/>
            <a:endParaRPr lang="zh-CN" dirty="0"/>
          </a:p>
          <a:p>
            <a:pPr/>
            <a:r>
              <a:rPr lang="zh-CN" dirty="0"/>
              <a:t>“地方性法规”这个身份，第四讲和第七讲都出现过。它是有地方立法权的人大及其常委会依法制定、在相应区域适用的规范，不能同宪法、法律、行政法规相抵触。后面还要追问地方可以作哪些安排，不能只凭“它在下位”就把结论直接作出来。报告记载的规定是：开锁、公章刻制、信托寄卖、金银首饰加工、废旧金属收购等特种行业从业人员，利用该行业便利进行违法活动、受过行政或者刑事处罚的，终身不得从事该行业。有公民对此提出审查建议。</a:t>
            </a:r>
          </a:p>
          <a:p>
            <a:pPr/>
            <a:endParaRPr lang="zh-CN" dirty="0"/>
          </a:p>
          <a:p>
            <a:pPr/>
            <a:r>
              <a:rPr lang="zh-CN" dirty="0"/>
              <a:t>这里要交代一下“审查建议”是什么。它不是打官司，也不是举报。 按照教材讲到的制度，公民、组织如果认为某一部法规或者司法解释与宪法、法律相抵触，可以书面向全国人大常委会提出审查建议；接收的机构要登记，由法制工作委员会依法作审查研究，必要时送有关的专门委员会审查、提出意见。换句话说：公民不必是这条规定的当事人也可以提；提了以后，制度上有人接着办。</a:t>
            </a:r>
          </a:p>
          <a:p>
            <a:pPr/>
            <a:endParaRPr lang="zh-CN" dirty="0"/>
          </a:p>
          <a:p>
            <a:pPr/>
            <a:r>
              <a:rPr lang="zh-CN" dirty="0"/>
              <a:t>【课堂提示：先只念到“有公民对此规定提出审查建议”就停，追问一句——“这条规定已经存在，是不是就意味着它的合法性已经全部确认了？”让学生先说说自己的判断，不要公布处理结果。】</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在往下读报告怎么处理之前，我们先把这条规定本身的道理讲清楚。它想解决什么问题？</a:t>
            </a:r>
          </a:p>
          <a:p>
            <a:pPr/>
            <a:endParaRPr lang="zh-CN" dirty="0"/>
          </a:p>
          <a:p>
            <a:pPr/>
            <a:r>
              <a:rPr lang="zh-CN" dirty="0"/>
              <a:t>这些行业为什么会受到公共安全管理？可以从活动的特点理解：开锁者掌握进入住宅、开启门锁的技术；公章刻制关系印章真实和交易信任；首饰加工、废旧金属收购涉及财物来源与流转；信托寄卖涉及受委托处置物品。利用这些便利违法，可能危害他人人身、财产或正常管理秩序。这是理解管理目的的说明，不是关于这些行业违法频率的统计结论。</a:t>
            </a:r>
          </a:p>
          <a:p>
            <a:pPr/>
            <a:endParaRPr lang="zh-CN" dirty="0"/>
          </a:p>
          <a:p>
            <a:pPr/>
            <a:r>
              <a:rPr lang="zh-CN" dirty="0"/>
              <a:t>而这条规定针对的，也不是任何从业者，而是“利用该行业便利进行违法活动、受过行政或者刑事处罚”的人。请注意两个限定：一是利用该行业便利——用的是行业给的机会；二是已经受过行政或者刑事处罚——是已经有过实际违法行为的人，不是仅仅有某种身份的人。</a:t>
            </a:r>
          </a:p>
          <a:p>
            <a:pPr/>
            <a:endParaRPr lang="zh-CN" dirty="0"/>
          </a:p>
          <a:p>
            <a:pPr/>
            <a:r>
              <a:rPr lang="zh-CN" dirty="0"/>
              <a:t>所以这条规定的思路是清楚的：在一个能够便利接触公共安全的行业里，对已经用这种便利做过违法事情的人，把从业的门关上。 这是一种对资格的严格限定，它要保护的对象，是我们每一个人——每一个可能叫上门服务的人、每一份需要盖上真章的文书、每一次财物的流通。</a:t>
            </a:r>
          </a:p>
          <a:p>
            <a:pPr/>
            <a:endParaRPr lang="zh-CN" dirty="0"/>
          </a:p>
          <a:p>
            <a:pPr/>
            <a:r>
              <a:rPr lang="zh-CN" dirty="0"/>
              <a:t>这个理由必须被认真对待，不能被讲成“反方”。 报告的表述也是承认这一点的——它说，地方性法规对某些特种行业，设定了较为严格的从业资格条件，这对维护公共安全有积极作用。这句话是报告自己写的，不能省略，也不能含糊过去。</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为什么要把这句话读完整？ 因为在理解这类问题时，有两种同样常见的偏。一种是只看目的：既然是为了公共安全，那自然是管得越严越好——这样就把具体安排的合理性问题完全放过去了。另一种是只看个别情形：听说有人被终身禁业，就认为这条规定整体没有道理——这样又把公共安全这个真实需要忽略了。报告的处理方式是第三种：把目的和安排分开评价。 承认目的，同时指出安排需要调整。这也是我们读任何一份报告时要学的姿势：先看它在哪里认可，再看它在哪里提出问题。</a:t>
            </a:r>
          </a:p>
          <a:p>
            <a:pPr/>
            <a:endParaRPr lang="zh-CN" dirty="0"/>
          </a:p>
          <a:p>
            <a:pPr/>
            <a:r>
              <a:rPr lang="zh-CN" dirty="0"/>
              <a:t>那么在承认这个理由之后，报告指出了什么问题？报告的意见，可以拆成一个条件、一个落点、一个结论。</a:t>
            </a:r>
          </a:p>
          <a:p>
            <a:pPr/>
            <a:endParaRPr lang="zh-CN" dirty="0"/>
          </a:p>
          <a:p>
            <a:pPr/>
            <a:r>
              <a:rPr lang="zh-CN" dirty="0"/>
              <a:t>先说条件，是关于领域的。 报告说的是“在法律、行政法规没有规定从业限制的领域”。这不等于地方绝对无权管理：立法法允许地方在法定权限内，就实施法律、行政法规的需要、地方事务，以及法定范围内尚无国家立法的事项制定法规。但有管理权限，不等于任何强度、任何期限的限制都有充分根据。既要问地方能管什么，也要问在这个领域内，为什么需要永久排除一类人的从业机会。</a:t>
            </a:r>
          </a:p>
          <a:p>
            <a:pPr/>
            <a:endParaRPr lang="zh-CN" dirty="0"/>
          </a:p>
          <a:p>
            <a:pPr/>
            <a:r>
              <a:rPr lang="zh-CN" dirty="0"/>
              <a:t>再说落点，是限制期限——“终身”。 报告认可较严格的资格条件有维护公共安全的积极作用，却认为在上述领域不宜规定终身禁止。下面我们沿着它的问题作课堂分析：受过与行业有关的处罚，能说明过去发生过违法；但要据此永久排除今后从业，还须说明过去行为与未来危险的关联、不同违法情节的差别，以及为什么限制需要持续一生。过去受过处罚，与今后一生都存在同样危险，不是同一个事实。</a:t>
            </a:r>
          </a:p>
          <a:p>
            <a:pPr/>
            <a:endParaRPr lang="zh-CN" dirty="0"/>
          </a:p>
          <a:p>
            <a:pPr/>
            <a:r>
              <a:rPr lang="zh-CN" dirty="0"/>
              <a:t>第五、六讲分析权利限制时，我们已经问过目的、手段和限度。在这里再问一遍：公共安全目的正当，是讨论的起点；终身禁业还影响劳动与就业机会，不能只用目的正当就把期限、范围的理由全部省去。这是课堂的权利保护分析，不是宣称2021年报告已经逐项展开了同样的论证。</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并不是只靠课堂联想才能提出的问题。后来的2024年备案审查工作情况报告，进一步公开了涉罪人员从业限制的判断因素：限制应确有必要，限于特定范围，综合考虑罪刑轻重、罪名种类、社会危害性，以及限制与犯罪的关联性，并慎重设定终身禁业。这份后续报告帮助我们理解为什么要细分情节、范围和期限；它不是2021年主案当时已经披露的详细理由。</a:t>
            </a:r>
          </a:p>
          <a:p>
            <a:pPr/>
            <a:endParaRPr lang="zh-CN" dirty="0"/>
          </a:p>
          <a:p>
            <a:pPr/>
            <a:r>
              <a:rPr lang="zh-CN" dirty="0"/>
              <a:t>还可以继续检验替代安排：较短期限、限定岗位、设置重新评价条件，能否有效控制相同危险？如果有可靠材料证明较轻措施足以实现目的，永久禁止的必要性就需要更强说明。但目前这段主案材料没有比较这些措施的实际效果，我们不能先假定它们同样有效，再据此宣布必要性审查已经做完；也不能擅自补写受处罚者已经执行完处罚、已经改过等事实。</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【课堂提示：约一至两分钟。让学生把报告这一段拆成三栏——报告认可了什么／报告在什么条件下提出意见／报告提出了什么处理方式。每栏各写一句。】</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这里还有一个身份问题，必须说清。劳动权是我们第六讲学过的宪法权利。把这件事联系到劳动权上，是很自然的联想——从业机会，本来就是劳动权里很实在的一部分。但是要标明：这是课堂的关联分析。</a:t>
            </a:r>
          </a:p>
          <a:p>
            <a:pPr/>
            <a:endParaRPr lang="zh-CN" dirty="0"/>
          </a:p>
          <a:p>
            <a:pPr/>
            <a:r>
              <a:rPr lang="zh-CN" dirty="0"/>
              <a:t>2021年报告在这一段里没有援引宪法第四十二条，也没有披露全国人大常委会正式作出违宪认定或撤销决定。报告所在部分整体讨论了合宪性、合法性和适当性问题，因此也不能反过来说这件事与宪法判断毫无关系。准确的转述是：报告提出了有条件的审查意见，记载了修改结果；我们不能把未披露的条文援引和正式决定补上去。</a:t>
            </a:r>
          </a:p>
          <a:p>
            <a:pPr/>
            <a:endParaRPr lang="zh-CN" dirty="0"/>
          </a:p>
          <a:p>
            <a:pPr/>
            <a:r>
              <a:rPr lang="zh-CN" dirty="0"/>
              <a:t>所以这一节要留下一个分寸：目的被认可，和具体安排需要调整，可以同时成立。 这个分寸的另一面同样重要：不能因为报告提了调整意见，就把这条规定概括成“地方上想怎么设门槛就怎么设都不行”，更不能删掉“法律、行政法规没有规定从业限制”这个前提，直接说成“一切行业限制都不允许”。 那就把报告的条件读没了。报告的意见是有条件的；有条件的意见比一句口号有用得多，也精确得多。</a:t>
            </a:r>
          </a:p>
          <a:p>
            <a:pPr/>
            <a:endParaRPr lang="zh-CN" dirty="0"/>
          </a:p>
          <a:p>
            <a:pPr/>
            <a:r>
              <a:rPr lang="zh-CN" dirty="0"/>
              <a:t>至于具体应改成几年、哪些岗位、能否申请解除，报告没有公布修改后的条文。可以把这些作为待比较的设计方向，但判断还得回到危险和措施的关联、效果及权利影响。提出可供研究的方案，不等于证明方案已经合适，更不等于知道制定机关最后怎么改。</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六、建议、研究沟通与修改调整</a:t>
            </a:r>
          </a:p>
          <a:p>
            <a:pPr/>
            <a:endParaRPr lang="zh-CN" dirty="0"/>
          </a:p>
          <a:p>
            <a:pPr/>
            <a:r>
              <a:rPr lang="zh-CN" dirty="0"/>
              <a:t>上一节读的是报告认为哪里需要调整。这一节读报告实际做了什么。这一节的意义在于：规范纠正在现实里到底长什么样。</a:t>
            </a:r>
          </a:p>
          <a:p>
            <a:pPr/>
            <a:endParaRPr lang="zh-CN" dirty="0"/>
          </a:p>
          <a:p>
            <a:pPr/>
            <a:r>
              <a:rPr lang="zh-CN" dirty="0"/>
              <a:t>报告在这一段的最后一句写的是：经沟通，制定机关已对相关规定作出修改调整。</a:t>
            </a:r>
          </a:p>
          <a:p>
            <a:pPr/>
            <a:endParaRPr lang="zh-CN" dirty="0"/>
          </a:p>
          <a:p>
            <a:pPr/>
            <a:r>
              <a:rPr lang="zh-CN" dirty="0"/>
              <a:t>短短一句话，里面有一串动作。我们把它拆开，一步一步看。</a:t>
            </a:r>
          </a:p>
          <a:p>
            <a:pPr/>
            <a:endParaRPr lang="zh-CN" dirty="0"/>
          </a:p>
          <a:p>
            <a:pPr/>
            <a:r>
              <a:rPr lang="zh-CN" dirty="0"/>
              <a:t>第一步是提出。 有公民针对这条地方性法规的规定提出审查建议。报告没有公布建议人的身份和人数。这一渠道不要求公民先证明自己就是受限制的人；从业者可以提，关心规范问题的其他公民也可以提。这里在说明制度上的可能性，不是在补写本案建议人的经历。</a:t>
            </a:r>
          </a:p>
          <a:p>
            <a:pPr/>
            <a:endParaRPr lang="zh-CN" dirty="0"/>
          </a:p>
          <a:p>
            <a:pPr/>
            <a:r>
              <a:rPr lang="zh-CN" dirty="0"/>
              <a:t>第二步是审查研究。 报告写的是“我们审查认为”。法工委审查研究后形成了意见，既肯定较严格资格条件的公共安全作用，也指出前述领域的终身禁止需要调整。我们读到的是已经公开的理由和结论，不能据此复原它内部调查、讨论的全部过程。</a:t>
            </a:r>
          </a:p>
          <a:p>
            <a:pPr/>
            <a:endParaRPr lang="zh-CN" dirty="0"/>
          </a:p>
          <a:p>
            <a:pPr/>
            <a:r>
              <a:rPr lang="zh-CN" dirty="0"/>
              <a:t>这里的“讲理由”，不是声音大小的问题。意见要把管理目的、适用领域和终身限制区分开，制定机关也需要说明规定的根据与实际需要。要求说明理由，与依法作出决定并不对立：理由支持判断，法定权限和程序决定怎样处理。 不能把有权机关的正式决定讲成不讲理由的命令。</a:t>
            </a:r>
          </a:p>
          <a:p>
            <a:pPr/>
            <a:endParaRPr lang="zh-CN" dirty="0"/>
          </a:p>
          <a:p>
            <a:pPr/>
            <a:r>
              <a:rPr lang="zh-CN" dirty="0"/>
              <a:t>第三步是沟通。 报告用“经沟通”作了概括，说明处理过程中有审查机构与制定机关的联系。一般制度中，沟通可以让制定机关说明情况、回应意见，并提出纠正安排；但本案没有公开双方具体谈了几次、如何争论，不能把一般工作方式编成本案现场。</a:t>
            </a:r>
          </a:p>
          <a:p>
            <a:pPr/>
            <a:endParaRPr lang="zh-CN" dirty="0"/>
          </a:p>
          <a:p>
            <a:pPr/>
            <a:r>
              <a:rPr lang="zh-CN" dirty="0"/>
              <a:t>第四步是修改调整。 制定机关已对相关规定作出修改调整。这里要留意报告用词的准确：是“修改调整”，不是“撤销”，也不是“宣告无效”。</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把这四个动作连起来，本案公开披露的过程就清楚了：公民提出建议，法工委审查研究，经沟通，制定机关修改调整。这是本案已经记载的过程，不是每一次审查都必须从公民建议开始、逐格走完的统一流程。</a:t>
            </a:r>
          </a:p>
          <a:p>
            <a:pPr/>
            <a:endParaRPr lang="zh-CN" dirty="0"/>
          </a:p>
          <a:p>
            <a:pPr/>
            <a:r>
              <a:rPr lang="zh-CN" dirty="0"/>
              <a:t>公民建议不是唯一入口。按现行制度看，法规、司法解释报送备案后，相关机构应当主动审查；法定国家机关还可以提出审查要求，公民、组织可以提出审查建议。除此之外，围绕某一领域或共性问题，可以组织专项审查；需要其他机关处理的，通过移送、衔接等机制办理。这里，主动审查与要求、建议回答问题怎样进入工作；专项审查强调集中审什么，分类角度并不相同。 这些都属于备案审查制度中的工作方式，不要把“备案审查”只理解为等文件报来以后的一种主动审查。</a:t>
            </a:r>
          </a:p>
          <a:p>
            <a:pPr/>
            <a:endParaRPr lang="zh-CN" dirty="0"/>
          </a:p>
          <a:p>
            <a:pPr/>
            <a:r>
              <a:rPr lang="zh-CN" dirty="0"/>
              <a:t>为什么可以先推动制定机关自行纠正？它有权依法修改自己制定的规范，也有责任对有关问题作出回应。沟通和审查意见把问题及理由交给它，推动针对性修改，使规范继续发挥合理部分的作用。这是处理方式的意义，不是说自行修改天然比外部处理更准确，也不是说撤销必然牵连整部法规。</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那如果沟通后仍然不改，怎么办？ 不能只剩下劝说。按2023年有关决定，经沟通，制定机关不同意修改、废止，或者没有书面提出明确处理计划和时限的，应当依法提出书面审查意见。对本讲这种法规，审查认为存在合宪性、合法性问题需要修改、废止，而制定机关仍不修改、废止的，依立法法应当向委员长会议提出撤销的议案或建议，由委员长会议决定提请常委会审议决定。沟通接着法定纠正权，才不是把是否纠正完全交给制定机关自愿选择。 这是现行的一般程序，不是说2021年主案实际上已经走过这些后续环节。</a:t>
            </a:r>
          </a:p>
          <a:p>
            <a:pPr/>
            <a:endParaRPr lang="zh-CN" dirty="0"/>
          </a:p>
          <a:p>
            <a:pPr/>
            <a:r>
              <a:rPr lang="zh-CN" dirty="0"/>
              <a:t>【课堂提示：可用“谁提出—谁研究—怎样处理—谁改规范”四格口头回收，不另增独立计时。】</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接下来要说清三件不能从这一段推出来的事。它们很容易被想当然，所以必须专门点出来。</a:t>
            </a:r>
          </a:p>
          <a:p>
            <a:pPr/>
            <a:endParaRPr lang="zh-CN" dirty="0"/>
          </a:p>
          <a:p>
            <a:pPr/>
            <a:r>
              <a:rPr lang="zh-CN" dirty="0"/>
              <a:t>第一，规范调整和个案改变，不是同一个结果。 报告证明相关规定发生了修改，但新规定何时适用、是否有过渡安排，此前作出的具体行政决定如何处理，仍要看实际修改文本和相应程序。不能从“修改调整”四个字直接推出只影响未来，或者推出所有过去决定都会自动改变。</a:t>
            </a:r>
          </a:p>
          <a:p>
            <a:pPr/>
            <a:endParaRPr lang="zh-CN" dirty="0"/>
          </a:p>
          <a:p>
            <a:pPr/>
            <a:r>
              <a:rPr lang="zh-CN" dirty="0"/>
              <a:t>第二，报告没有公布法规的地区、名称、建议人身份，也没有公布修改后的完整条文。 报告和教材都没有给，我们就不补。 不用别的相似条例、不用新闻里的相近事件去拼凑这一处空白——那样做，看起来内容更完整，实际上是把来源不明的推测当成了事实。 这一点上，“不知道”本身就是一个准确的表述。</a:t>
            </a:r>
          </a:p>
          <a:p>
            <a:pPr/>
            <a:endParaRPr lang="zh-CN" dirty="0"/>
          </a:p>
          <a:p>
            <a:pPr/>
            <a:r>
              <a:rPr lang="zh-CN" dirty="0"/>
              <a:t>第三，这件事的历史身份是“一次有效的审查处理”，不是“一次正式的违宪宣告”。 报告记载的是审查意见和修改结果，没有说全国人大常委会宣告某部法规违宪，也没有说撤销整部法规。 用词一旦放大，性质就变了——一个说“改好了”，一个说“违宪了”，这两句话在法律上的分量完全不同。</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除了本案已披露的结果，还应了解一般制度里的反馈与公开。现行备案审查决定要求健全反馈机制，国家机关的审查要求、公民和组织的审查建议，有相应的反馈安排；备案审查工作也通过公开工作情况、向常委会报告等方式接受监督。这是一般制度的要求，不等于本案报告已逐项记载建议人在何时收到什么反馈。</a:t>
            </a:r>
          </a:p>
          <a:p>
            <a:pPr/>
            <a:endParaRPr lang="zh-CN" dirty="0"/>
          </a:p>
          <a:p>
            <a:pPr/>
            <a:r>
              <a:rPr lang="zh-CN" dirty="0"/>
              <a:t>不需要虚构从业者的家庭遭遇，也能看出这一过程的意义：一条普遍限制可能影响一类人的工作机会，公民可以把规范问题提出来，审查机构依法研究、推动有权制定机关作出调整。制度不是保证每份建议都被采纳，而是把问题接到能够依法研究、处理的职责上。</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七、合宪性审查与备案审查</a:t>
            </a:r>
          </a:p>
          <a:p>
            <a:pPr/>
            <a:endParaRPr lang="zh-CN" dirty="0"/>
          </a:p>
          <a:p>
            <a:pPr/>
            <a:r>
              <a:rPr lang="zh-CN" dirty="0"/>
              <a:t>第五节和第六节讲完了一个具体的过程。第七节要退一步，看清这个过程落在哪两套制度上——合宪性审查和备案审查。这两个词经常一起出现，但含义不同。</a:t>
            </a:r>
          </a:p>
          <a:p>
            <a:pPr/>
            <a:endParaRPr lang="zh-CN" dirty="0"/>
          </a:p>
          <a:p>
            <a:pPr/>
            <a:r>
              <a:rPr lang="zh-CN" dirty="0"/>
              <a:t>先从“按什么标准判断”上分。 合宪性审查，着眼的是某个规范性文件是否符合宪法的规定、宪法的原则和宪法的精神。备案审查，则是依法围绕特定对象、特定权限和特定程序进行的一项制度工作；它审查的标准不只有合宪性，还可以涉及是不是与上位法相抵触、制定权限有没有问题、程序是否适当等等。</a:t>
            </a:r>
          </a:p>
          <a:p>
            <a:pPr/>
            <a:endParaRPr lang="zh-CN" dirty="0"/>
          </a:p>
          <a:p>
            <a:pPr/>
            <a:r>
              <a:rPr lang="zh-CN" dirty="0"/>
              <a:t>教材的说法是：备案审查包括合宪性审查、合法性审查及适当性审查。 换句话说：合宪性审查问的是“合不合宪法”，备案审查问的是一组问题，合宪性只是其中一项。</a:t>
            </a:r>
          </a:p>
          <a:p>
            <a:pPr/>
            <a:endParaRPr lang="zh-CN" dirty="0"/>
          </a:p>
          <a:p>
            <a:pPr/>
            <a:r>
              <a:rPr lang="zh-CN" dirty="0"/>
              <a:t>这里就有一个容易犯的错：不能把所有备案审查的结果都称为违宪结论。 主案里报告提出的意见，落在“上位法没有规定从业限制的领域不宜规定终身禁止”上——这是一项审查意见。 报告没有把它写成“该规定违宪”，我们也不这样转述。</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再从“哪些文件、什么时点进入制度工作”上分。 本讲涉及的法规、司法解释，依法应当自公布之日起三十日内报送备案；公布与施行可能不是同一天。接收备案后的主动审查，与国家机关提出审查要求、公民和组织提出审查建议等，都是制度中的不同工作入口。教材还介绍了按文件性质和机关权限配置的多套备案审查机制，涉及人大、国务院、党内法规、军事法规等；特别行政区法律报全国人大常委会备案又有基本法规定的机制。不是所有文件都向同一机关报，也不是每种机制的处理权限都相同。</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而合宪性问题，不只在公布后报备时才处理。 现行立法法要求法律草案说明包括涉及的合宪性问题等情况，宪法和法律委员会统一审议时也应说明有关问题。因此，一项规范在制定过程中，就要对照宪法考虑。合宪性是判断标准，备案审查是有特定对象和程序的制度工作；标准可以在不同阶段发挥作用，两者不能画等号。</a:t>
            </a:r>
          </a:p>
          <a:p>
            <a:pPr/>
            <a:endParaRPr lang="zh-CN" dirty="0"/>
          </a:p>
          <a:p>
            <a:pPr/>
            <a:r>
              <a:rPr lang="zh-CN" dirty="0"/>
              <a:t>第五讲提出，法律对权利的限制也须接受宪法检验。全国人大及其常委会制定的法律同样受宪法约束：法律草案在审议中开展合宪性审查，施行后的法律也可依法修改、清理。但对法律提出意见，不等于直接适用这里针对法规、司法解释的备案审查建议程序。规范应当受审查，与某一种申请渠道适用于哪些对象，仍要分开。</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这里有三句话要分别记住，它们各自都容易被想反。</a:t>
            </a:r>
          </a:p>
          <a:p>
            <a:pPr/>
            <a:endParaRPr lang="zh-CN" dirty="0"/>
          </a:p>
          <a:p>
            <a:pPr/>
            <a:r>
              <a:rPr lang="zh-CN" dirty="0"/>
              <a:t>第一句：报送备案，不等于全部内容已经获得事前认可。 报送备案的意义，是把它放到审查的视野里。它是“接受审查”的开始，不是“已经通过”的证明。</a:t>
            </a:r>
          </a:p>
          <a:p>
            <a:pPr/>
            <a:endParaRPr lang="zh-CN" dirty="0"/>
          </a:p>
          <a:p>
            <a:pPr/>
            <a:r>
              <a:rPr lang="zh-CN" dirty="0"/>
              <a:t>第二句：提出审查建议，不等于自动撤销。 公民提出建议是一个启动渠道，接下来的审查、沟通、处理各有环节。“有人写信，法规立即自动取消”，不是制度的实际样子。</a:t>
            </a:r>
          </a:p>
          <a:p>
            <a:pPr/>
            <a:endParaRPr lang="zh-CN" dirty="0"/>
          </a:p>
          <a:p>
            <a:pPr/>
            <a:r>
              <a:rPr lang="zh-CN" dirty="0"/>
              <a:t>第三句：处理的方式不止一种。 可能是研究后认为没有问题，可能是与制定机关沟通、督促其修改，也可能是依法采取其他措施。主案里走的是“沟通——制定机关自行修改调整”这一条路，但这不是所有文件唯一适用的一条路。</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再补一层，把“标准”这条线说完整。备案审查要看的不只是合不合宪法。 教材把它归成合宪性、合法性和适当性三类；按现行规范，具体标准涉及的面更宽——是不是与上位法相抵触、制定权限有没有问题、程序是否合法、内容是否适当；2023年全国人大常委会通过的那份关于完善和加强备案审查制度的决定，还提出了措施与目的是否符合比例原则这样的审查内容。所以备案审查是一组标准的组合；合宪性审查是其中最重的一项，但不是唯一的一项。</a:t>
            </a:r>
          </a:p>
          <a:p>
            <a:pPr/>
            <a:endParaRPr lang="zh-CN" dirty="0"/>
          </a:p>
          <a:p>
            <a:pPr/>
            <a:r>
              <a:rPr lang="zh-CN" dirty="0"/>
              <a:t>处理措施还必须和有权主体配套。 对本讲主案所涉地方性法规，可以推动制定机关依法修改、废止，符合法定情形时也可以提请全国人大常委会依法撤销。全国人大改变、撤销常委会不适当法律或决定，报批法规因不符合条件而不获批准，则是别的对象和程序，不能混作同一个动作。司法解释有专门的纠正安排，也不能只照抄教材中的一串名称，就说所有文件都可由同一工作机构一律撤销。知道有哪些措施，还要知道对谁、由谁、依什么程序采取。</a:t>
            </a:r>
          </a:p>
          <a:p>
            <a:pPr/>
            <a:endParaRPr lang="zh-CN" dirty="0"/>
          </a:p>
          <a:p>
            <a:pPr/>
            <a:r>
              <a:rPr lang="zh-CN" dirty="0"/>
              <a:t>【课堂提示：可让学生各写一句——“合宪性审查问的是__”“备案审查问的是__”，再补一句“两者在哪里会有交叉”。】</a:t>
            </a:r>
          </a:p>
          <a:p>
            <a:pPr/>
            <a:endParaRPr lang="zh-CN" dirty="0"/>
          </a:p>
          <a:p>
            <a:pPr/>
            <a:r>
              <a:rPr lang="zh-CN" dirty="0"/>
              <a:t>最后交代这一处的时点。教材对备案审查制度的叙述，是教材出版时的状况。 此后有两件重要的事情：2023年12月，全国人大常委会通过了关于完善和加强备案审查制度的决定；2024年，监督法作了修正，其中关于法规、地方机关规范性文件和司法解释的审查安排分别作了衔接。</a:t>
            </a:r>
          </a:p>
          <a:p>
            <a:pPr/>
            <a:endParaRPr lang="zh-CN" dirty="0"/>
          </a:p>
          <a:p>
            <a:pPr/>
            <a:r>
              <a:rPr lang="zh-CN" dirty="0"/>
              <a:t>今天讲这套制度，可以用教材把握框架，再用现行规范确定权限与程序。 本讲已经把报备起点、法规不纠正时的处理路径等接到现行文本上；没有展开的管辖和期限，不应凭印象补写。教材的论述、现行制度和课堂分析，彼此可以支持，但不能互相冒名。</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八、规范问题与具体处理问题</a:t>
            </a:r>
          </a:p>
          <a:p>
            <a:pPr/>
            <a:endParaRPr lang="zh-CN" dirty="0"/>
          </a:p>
          <a:p>
            <a:pPr/>
            <a:r>
              <a:rPr lang="zh-CN" dirty="0"/>
              <a:t>最后一节，把前面留下的那个问题说清楚：规范被改了，个案怎么办。</a:t>
            </a:r>
          </a:p>
          <a:p>
            <a:pPr/>
            <a:endParaRPr lang="zh-CN" dirty="0"/>
          </a:p>
          <a:p>
            <a:pPr/>
            <a:r>
              <a:rPr lang="zh-CN" dirty="0"/>
              <a:t>我们用一组明示的课堂设例来讲。请注意，这是教学设例，不是报告已经披露的个案。 报告只说了“有的地方性法规”，没有说地区、名称、条号和当事人；我们这里是为了把两类问题放在一起看清楚，才作的设定。</a:t>
            </a:r>
          </a:p>
          <a:p>
            <a:pPr/>
            <a:endParaRPr lang="zh-CN" dirty="0"/>
          </a:p>
          <a:p>
            <a:pPr/>
            <a:r>
              <a:rPr lang="zh-CN" dirty="0"/>
              <a:t>情形甲：某地方性法规里有一条普遍适用的条款，规定某类从业人员在受过某种处罚后不得从事该行业。这是规范——它面向不特定的人，可以反复适用，说的是“凡是这样的人、这样的事，就这样处理”。</a:t>
            </a:r>
          </a:p>
          <a:p>
            <a:pPr/>
            <a:endParaRPr lang="zh-CN" dirty="0"/>
          </a:p>
          <a:p>
            <a:pPr/>
            <a:r>
              <a:rPr lang="zh-CN" dirty="0"/>
              <a:t>情形乙：有一位具体的从业者，行政机关依据这同一条款，对他作出了一个具体的行政决定，比如不予许可，或者要求停业。这是个案——它有具体的对象、具体的事实、具体的处理结果。</a:t>
            </a:r>
          </a:p>
          <a:p>
            <a:pPr/>
            <a:endParaRPr lang="zh-CN" dirty="0"/>
          </a:p>
          <a:p>
            <a:pPr/>
            <a:r>
              <a:rPr lang="zh-CN" dirty="0"/>
              <a:t>两者有关系：乙以甲为依据。但甲是可以反复适用的规则，乙是针对特定事实作出的决定，审查对象不同，处理权限与结果也须分别判断。这不是说两者互不影响，而是不能用一个对象的处理结果自动代替另一个对象的处理。</a:t>
            </a:r>
          </a:p>
          <a:p>
            <a:pPr/>
            <a:endParaRPr lang="zh-CN" dirty="0"/>
          </a:p>
          <a:p>
            <a:pPr/>
            <a:r>
              <a:rPr lang="zh-CN" dirty="0"/>
              <a:t>举个更贴近将来工作的对比。甲的层面，问题像是“这条规定本身写得对不对”；乙的层面，问题像是“这一次处理得对不对”。 一个是对规则的检验，一个是对行为的检验。规则是所有人的，行为是一个人的。</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当事人可能同时遇到两类问题：既怀疑规范本身，也不服对自己的决定。不是只有规范没有问题，才可以申请个案救济。 即使规范有疑问，具体决定的事实认定、权限、程序和法律适用，也仍然需要依法审查。先分清对象，是为了选择和衔接程序，不是要求当事人只能二选一。</a:t>
            </a:r>
          </a:p>
          <a:p>
            <a:pPr/>
            <a:endParaRPr lang="zh-CN" dirty="0"/>
          </a:p>
          <a:p>
            <a:pPr/>
            <a:r>
              <a:rPr lang="zh-CN" dirty="0"/>
              <a:t>具体来说，对行政决定不服，应依法向有管辖权的行政复议机关申请复议，或者依法向人民法院提起行政诉讼；不能笼统说复议、诉讼都找原机关或它的上级。对地方性法规本身的疑问，则可以依法向有权机关提出审查建议。提出建议不能代替及时申请个案救济，也不自动使原决定停止执行或被撤销；个案处理结果也不自动废止整条法规。</a:t>
            </a:r>
          </a:p>
          <a:p>
            <a:pPr/>
            <a:endParaRPr lang="zh-CN" dirty="0"/>
          </a:p>
          <a:p>
            <a:pPr/>
            <a:r>
              <a:rPr lang="zh-CN" dirty="0"/>
              <a:t>对甲，问题在规范层面。 公民、组织认为有关法规、司法解释抵触宪法法律，可以依法向全国人大常委会提出审查建议。本案报告所记载的公民建议，针对的就是这类普遍规定。处理的目标是规范本身，而不是代替另一个法定机关撤销某个具体决定。</a:t>
            </a:r>
          </a:p>
          <a:p>
            <a:pPr/>
            <a:endParaRPr lang="zh-CN" dirty="0"/>
          </a:p>
          <a:p>
            <a:pPr/>
            <a:r>
              <a:rPr lang="zh-CN" dirty="0"/>
              <a:t>对乙，问题在具体行为层面。 要看事实认定、机关权限、决定程序和法律适用，依法判断当事人请求的救济。针对甲提建议，并不是撤销乙的法律行为；反过来，个别决定有错，也不当然说明整个甲都应撤销。</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还有一道边界。复议法第十三条、行政诉讼法第五十三条，允许当事人在法定范围内，对具体行政行为所依据的有关规范性文件一并请求审查；所列文件有明确的制定主体和范围，且不含规章。地方性法规并不在这两条所列的依申请附带审查范围内，不能把它当作行政机关制定的普通文件随案申请审查。 但这不等于行政决定不能被复议、诉讼，也不等于所有规范问题与个案程序毫无联系。有关机关发现依据有问题时，法律还有相应的处理、转送等衔接安排。这里记住对象和权限的区别，具体管辖、期限留给行政法课程展开。</a:t>
            </a:r>
          </a:p>
          <a:p>
            <a:pPr/>
            <a:endParaRPr lang="zh-CN" dirty="0"/>
          </a:p>
          <a:p>
            <a:pPr/>
            <a:r>
              <a:rPr lang="zh-CN" dirty="0"/>
              <a:t>对你们以后的工作，这个区别也很实际。法律、行政法规、地方性法规、规章和其他文件，不能只用一个“文件”称呼带过。提出合宪性疑问时，也要认清规范身份、制定主体和相应程序。 这不是把宪法放到最后，而是要找准有权处理的机关，不能把不同文件都送进同一种审查渠道，也不能把个案中的审查权限说成可以废除所有规范。</a:t>
            </a:r>
          </a:p>
          <a:p>
            <a:pPr/>
            <a:endParaRPr lang="zh-CN" dirty="0"/>
          </a:p>
          <a:p>
            <a:pPr/>
            <a:r>
              <a:rPr lang="zh-CN" dirty="0"/>
              <a:t>这一节要做的事情，其实就是把这一讲前面的东西接到一起：第一讲讲宪法效力和救济的关系，第五、六讲讲具体权利，第七讲讲机关职权——到了这里，它们合成一个问题：面对一件真事，先判断要处理的是哪一类问题，再去找对应的依据和权限。</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全课收束</a:t>
            </a:r>
          </a:p>
          <a:p>
            <a:pPr/>
            <a:endParaRPr lang="zh-CN" dirty="0"/>
          </a:p>
          <a:p>
            <a:pPr/>
            <a:r>
              <a:rPr lang="zh-CN" dirty="0"/>
              <a:t>这一讲是全课最后一讲。我们从第八节往前回收一条路径——</a:t>
            </a:r>
          </a:p>
          <a:p>
            <a:pPr/>
            <a:endParaRPr lang="zh-CN" dirty="0"/>
          </a:p>
          <a:p>
            <a:pPr/>
            <a:r>
              <a:rPr lang="zh-CN" dirty="0"/>
              <a:t>第一层，宪法确定了国家和人的基本地位。 国家的一切权力属于人民，公民的基本权利受宪法保障。第二层，制度和机关承担落实的工作。 国家的基本制度把国家生活组织起来，国家机关依照宪法设立的职权去办各自的事情。第三层，具体安排要有依据、有理由、有条件。 立法是实施宪法的一种方式，教育法是在宪法下面把受教育权展开的一部法律；一条地方性法规上的限制条款，目的可以正当，具体安排仍然要经得起目的、手段和限度的检验。第四层，出了问题，有相应的纠正方式。 公民可以提出审查建议，审查机构研究理由、与制定机关沟通，制定机关作出修改调整；而规范问题和具体行为问题，各有各的入口。</a:t>
            </a:r>
          </a:p>
          <a:p>
            <a:pPr/>
            <a:endParaRPr lang="zh-CN" dirty="0"/>
          </a:p>
          <a:p>
            <a:pPr/>
            <a:r>
              <a:rPr lang="zh-CN" dirty="0"/>
              <a:t>这四层要连起来理解：基本地位和权利提出要求，制度和机关承担工作，依据、理由和条件约束具体安排，纠正机制处理实施中发现的问题。它们相互支持，但不能把有制度、有机关直接当成工作效果已经到位，也不能把有纠正渠道当成每个问题都会自动解决。</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回到具体的事上看：受教育权由宪法确认，教育法进一步安排保障要求，教育行政部门、学校等持续依法履职，才把要求接到学生学习生活中。终身禁业主案则呈现另一侧：有公民提出规范疑问，法工委研究、沟通，制定机关修改调整。一个帮助看落实，一个帮助看纠正；两者都不能停在只背条文。</a:t>
            </a:r>
          </a:p>
          <a:p>
            <a:pPr/>
            <a:endParaRPr lang="zh-CN" dirty="0"/>
          </a:p>
          <a:p>
            <a:pPr/>
            <a:r>
              <a:rPr lang="zh-CN" dirty="0"/>
              <a:t>回看八讲，最初问的是宪法凭什么约束国家；随后从国家性质、制度安排走到个人权利与国家机关；今天把两端接到持续履职和纠正工作上。我们不是再增加一组名词，而是学习把国家、权利、机关和程序放进同一件事情里判断。</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这一整套东西落到我们公安专业的学生身上，意思其实很具体。依法履职，不只是意味着“能找到一条规定”。 你要能说清三件事：你依据的职权是从哪里来的；你要保护的对象是谁的权利；你采取的措施还带着哪些条件。 这三样缺一样，手里的根据就是不完整的。同样，纠正错误也需要相应的权限和程序——发现问题是一回事，按谁的权限、走什么程序去改，是另一回事。发现问题的能力，和纠正问题的权限，是两种不同的东西，这一点在你们以后的工作里会反复遇到。</a:t>
            </a:r>
          </a:p>
          <a:p>
            <a:pPr/>
            <a:endParaRPr lang="zh-CN" dirty="0"/>
          </a:p>
          <a:p>
            <a:pPr/>
            <a:r>
              <a:rPr lang="zh-CN" dirty="0"/>
              <a:t>还有一层分寸，也留给以后。 个人发现规范可能有问题，不能自行宣布法规失效，应依法提出、处理疑问；但这绝不等于“只要有文件或命令，就必须先执行再反映”。人民警察法对超越法定职责范围的指令，规定了拒绝执行并同时报告的权利；公务员法也明确，执行明显违法命令不能一概免责。尊重规范纠正权限，与依法判断眼前行为能不能做，必须同时坚持。</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宪法实施不只表现为某一天的宣誓，也不只表现为出了问题以后的纠错。它是一项持续工作：国家机关履行法定职责，相关主体遵守规范，个人依法主张权利，发现问题后由有权机关按相应程序处理。我们要学会的，就是在具体事情里认清这些要求与分工。</a:t>
            </a:r>
          </a:p>
          <a:p>
            <a:pPr/>
            <a:endParaRPr lang="zh-CN" dirty="0"/>
          </a:p>
          <a:p>
            <a:pPr/>
            <a:r>
              <a:rPr lang="zh-CN" dirty="0"/>
              <a:t>如果这一门课只留下一句话，我希望是这一句：宪法不是一本放在抽屉里的书，它是一套每天都在被使用的规则；而你们将来做的每一次依法履职，都是它其中的一次使用。</a:t>
            </a:r>
          </a:p>
          <a:p>
            <a:pPr/>
            <a:endParaRPr lang="zh-CN" dirty="0"/>
          </a:p>
          <a:p>
            <a:pPr/>
            <a:r>
              <a:rPr lang="zh-CN" dirty="0"/>
              <a:t>本课程八讲到此结束。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8-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8-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9pPr>
    </p:bodyStyle>
    <p:otherStyle>
      <a:defPPr>
        <a:defRPr lang="zh-CN"/>
      </a:defPPr>
      <a:lvl1pPr marL="0" algn="l" defTabSz="457200" rtl="0" eaLnBrk="1" latinLnBrk="0" hangingPunct="1">
        <a:defRPr sz="1950" kern="1200" lang="zh-CN">
          <a:solidFill>
            <a:schemeClr val="tx1"/>
          </a:solidFill>
          <a:latin typeface="+mn-lt"/>
          <a:ea typeface="+mn-ea"/>
          <a:cs typeface="+mn-cs"/>
        </a:defRPr>
      </a:lvl1pPr>
      <a:lvl2pPr marL="457200" algn="l" defTabSz="457200" rtl="0" eaLnBrk="1" latinLnBrk="0" hangingPunct="1">
        <a:defRPr sz="1850" kern="1200" lang="zh-CN">
          <a:solidFill>
            <a:schemeClr val="tx1"/>
          </a:solidFill>
          <a:latin typeface="+mn-lt"/>
          <a:ea typeface="+mn-ea"/>
          <a:cs typeface="+mn-cs"/>
        </a:defRPr>
      </a:lvl2pPr>
      <a:lvl3pPr marL="914400" algn="l" defTabSz="457200" rtl="0" eaLnBrk="1" latinLnBrk="0" hangingPunct="1">
        <a:defRPr sz="1700" kern="1200" lang="zh-CN">
          <a:solidFill>
            <a:schemeClr val="tx1"/>
          </a:solidFill>
          <a:latin typeface="+mn-lt"/>
          <a:ea typeface="+mn-ea"/>
          <a:cs typeface="+mn-cs"/>
        </a:defRPr>
      </a:lvl3pPr>
      <a:lvl4pPr marL="1371600" algn="l" defTabSz="457200" rtl="0" eaLnBrk="1" latinLnBrk="0" hangingPunct="1">
        <a:defRPr sz="1600" kern="1200" lang="zh-CN">
          <a:solidFill>
            <a:schemeClr val="tx1"/>
          </a:solidFill>
          <a:latin typeface="+mn-lt"/>
          <a:ea typeface="+mn-ea"/>
          <a:cs typeface="+mn-cs"/>
        </a:defRPr>
      </a:lvl4pPr>
      <a:lvl5pPr marL="1828800" algn="l" defTabSz="457200" rtl="0" eaLnBrk="1" latinLnBrk="0" hangingPunct="1">
        <a:defRPr sz="1450" kern="1200" lang="zh-CN">
          <a:solidFill>
            <a:schemeClr val="tx1"/>
          </a:solidFill>
          <a:latin typeface="+mn-lt"/>
          <a:ea typeface="+mn-ea"/>
          <a:cs typeface="+mn-cs"/>
        </a:defRPr>
      </a:lvl5pPr>
      <a:lvl6pPr marL="2286000" algn="l" defTabSz="457200" rtl="0" eaLnBrk="1" latinLnBrk="0" hangingPunct="1">
        <a:defRPr sz="1350" kern="1200" lang="zh-CN">
          <a:solidFill>
            <a:schemeClr val="tx1"/>
          </a:solidFill>
          <a:latin typeface="+mn-lt"/>
          <a:ea typeface="+mn-ea"/>
          <a:cs typeface="+mn-cs"/>
        </a:defRPr>
      </a:lvl6pPr>
      <a:lvl7pPr marL="2743200" algn="l" defTabSz="457200" rtl="0" eaLnBrk="1" latinLnBrk="0" hangingPunct="1">
        <a:defRPr sz="1200" kern="1200" lang="zh-CN">
          <a:solidFill>
            <a:schemeClr val="tx1"/>
          </a:solidFill>
          <a:latin typeface="+mn-lt"/>
          <a:ea typeface="+mn-ea"/>
          <a:cs typeface="+mn-cs"/>
        </a:defRPr>
      </a:lvl7pPr>
      <a:lvl8pPr marL="3200400" algn="l" defTabSz="457200" rtl="0" eaLnBrk="1" latinLnBrk="0" hangingPunct="1">
        <a:defRPr sz="1100" kern="1200" lang="zh-CN">
          <a:solidFill>
            <a:schemeClr val="tx1"/>
          </a:solidFill>
          <a:latin typeface="+mn-lt"/>
          <a:ea typeface="+mn-ea"/>
          <a:cs typeface="+mn-cs"/>
        </a:defRPr>
      </a:lvl8pPr>
      <a:lvl9pPr marL="3657600" algn="l" defTabSz="457200" rtl="0" eaLnBrk="1" latinLnBrk="0" hangingPunct="1">
        <a:defRPr sz="10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cd9b1b3a1665f84.jp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3e6acc44ae68ea8.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e4227a6b2253754.png"/>
  <Relationship Id="rId3"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539750"/>
            <a:ext cx="3319272" cy="1045464"/>
            <a:chOff x="592836" y="539750"/>
            <a:chExt cx="3319272" cy="1045464"/>
          </a:xfrm>
        </p:grpSpPr>
        <p:sp>
          <p:nvSpPr>
            <p:cNvPr id="2" name="TextBox 2"/>
            <p:cNvSpPr txBox="1"/>
            <p:nvPr/>
          </p:nvSpPr>
          <p:spPr>
            <a:xfrm>
              <a:off x="602742" y="539750"/>
              <a:ext cx="1313136"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宪法学 · 第八讲</a:t>
              </a:r>
            </a:p>
          </p:txBody>
        </p:sp>
        <p:sp>
          <p:nvSpPr>
            <p:cNvPr id="3" name="TextBox 3"/>
            <p:cNvSpPr txBox="1"/>
            <p:nvPr/>
          </p:nvSpPr>
          <p:spPr>
            <a:xfrm>
              <a:off x="592836" y="939800"/>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宪法实施与监督</a:t>
              </a:r>
            </a:p>
          </p:txBody>
        </p:sp>
      </p:grpSp>
      <p:grpSp>
        <p:nvGrpSpPr>
          <p:cNvPr id="9" name="cover-claim"/>
          <p:cNvGrpSpPr/>
          <p:nvPr/>
        </p:nvGrpSpPr>
        <p:grpSpPr>
          <a:xfrm>
            <a:off x="590550" y="2127250"/>
            <a:ext cx="6182868" cy="2927731"/>
            <a:chOff x="590550" y="2127250"/>
            <a:chExt cx="6182868" cy="2927731"/>
          </a:xfrm>
        </p:grpSpPr>
        <p:sp>
          <p:nvSpPr>
            <p:cNvPr id="5" name="TextBox 5"/>
            <p:cNvSpPr txBox="1"/>
            <p:nvPr/>
          </p:nvSpPr>
          <p:spPr>
            <a:xfrm>
              <a:off x="590550" y="2127250"/>
              <a:ext cx="3110484"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让宪法，</a:t>
              </a:r>
            </a:p>
          </p:txBody>
        </p:sp>
        <p:sp>
          <p:nvSpPr>
            <p:cNvPr id="6" name="TextBox 6"/>
            <p:cNvSpPr txBox="1"/>
            <p:nvPr/>
          </p:nvSpPr>
          <p:spPr>
            <a:xfrm>
              <a:off x="590550" y="3041650"/>
              <a:ext cx="6182868"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进入每天的工作。</a:t>
              </a:r>
            </a:p>
          </p:txBody>
        </p:sp>
        <p:sp>
          <p:nvSpPr>
            <p:cNvPr id="7" name="Line 7"/>
            <p:cNvSpPr/>
            <p:nvPr/>
          </p:nvSpPr>
          <p:spPr>
            <a:xfrm>
              <a:off x="647700" y="4267200"/>
              <a:ext cx="1466850" cy="9525"/>
            </a:xfrm>
            <a:custGeom>
              <a:avLst/>
              <a:gdLst/>
              <a:ahLst/>
              <a:cxnLst/>
              <a:rect l="l" t="t" r="r" b="b"/>
              <a:pathLst>
                <a:path w="1466850" h="9525">
                  <a:moveTo>
                    <a:pt x="0" y="0"/>
                  </a:moveTo>
                  <a:lnTo>
                    <a:pt x="1466850" y="0"/>
                  </a:lnTo>
                </a:path>
              </a:pathLst>
            </a:custGeom>
            <a:noFill/>
            <a:ln w="28575">
              <a:solidFill>
                <a:schemeClr val="accent2"/>
              </a:solidFill>
            </a:ln>
          </p:spPr>
        </p:sp>
        <p:sp>
          <p:nvSpPr>
            <p:cNvPr id="8" name="TextBox 8"/>
            <p:cNvSpPr txBox="1"/>
            <p:nvPr/>
          </p:nvSpPr>
          <p:spPr>
            <a:xfrm>
              <a:off x="599694" y="46736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怎样持续落实？问题又怎样依法纠正？</a:t>
              </a:r>
            </a:p>
          </p:txBody>
        </p:sp>
      </p:grpSp>
      <p:grpSp>
        <p:nvGrpSpPr>
          <p:cNvPr id="16" name="two-jobs"/>
          <p:cNvGrpSpPr/>
          <p:nvPr/>
        </p:nvGrpSpPr>
        <p:grpSpPr>
          <a:xfrm>
            <a:off x="8692896" y="2298700"/>
            <a:ext cx="2641854" cy="2813431"/>
            <a:chOff x="8692896" y="2298700"/>
            <a:chExt cx="2641854" cy="2813431"/>
          </a:xfrm>
        </p:grpSpPr>
        <p:sp>
          <p:nvSpPr>
            <p:cNvPr id="10" name="TextBox 10"/>
            <p:cNvSpPr txBox="1"/>
            <p:nvPr/>
          </p:nvSpPr>
          <p:spPr>
            <a:xfrm>
              <a:off x="8692896" y="229870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落实</a:t>
              </a:r>
            </a:p>
          </p:txBody>
        </p:sp>
        <p:sp>
          <p:nvSpPr>
            <p:cNvPr id="11" name="TextBox 11"/>
            <p:cNvSpPr txBox="1"/>
            <p:nvPr/>
          </p:nvSpPr>
          <p:spPr>
            <a:xfrm>
              <a:off x="8695944" y="28448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规则进入行动</a:t>
              </a:r>
            </a:p>
          </p:txBody>
        </p:sp>
        <p:sp>
          <p:nvSpPr>
            <p:cNvPr id="12" name="Line 12"/>
            <p:cNvSpPr/>
            <p:nvPr/>
          </p:nvSpPr>
          <p:spPr>
            <a:xfrm>
              <a:off x="8705850" y="3505200"/>
              <a:ext cx="2628900" cy="9525"/>
            </a:xfrm>
            <a:custGeom>
              <a:avLst/>
              <a:gdLst/>
              <a:ahLst/>
              <a:cxnLst/>
              <a:rect l="l" t="t" r="r" b="b"/>
              <a:pathLst>
                <a:path w="2628900" h="9525">
                  <a:moveTo>
                    <a:pt x="0" y="0"/>
                  </a:moveTo>
                  <a:lnTo>
                    <a:pt x="2628900" y="0"/>
                  </a:lnTo>
                </a:path>
              </a:pathLst>
            </a:custGeom>
            <a:noFill/>
            <a:ln w="9525">
              <a:solidFill>
                <a:srgbClr val="C7BFB1"/>
              </a:solidFill>
            </a:ln>
          </p:spPr>
        </p:sp>
        <p:sp>
          <p:nvSpPr>
            <p:cNvPr id="13" name="TextBox 13"/>
            <p:cNvSpPr txBox="1"/>
            <p:nvPr/>
          </p:nvSpPr>
          <p:spPr>
            <a:xfrm>
              <a:off x="8692896" y="378460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纠正</a:t>
              </a:r>
            </a:p>
          </p:txBody>
        </p:sp>
        <p:sp>
          <p:nvSpPr>
            <p:cNvPr id="14" name="TextBox 14"/>
            <p:cNvSpPr txBox="1"/>
            <p:nvPr/>
          </p:nvSpPr>
          <p:spPr>
            <a:xfrm>
              <a:off x="8695944" y="43307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问题接到职责</a:t>
              </a:r>
            </a:p>
          </p:txBody>
        </p:sp>
        <p:sp>
          <p:nvSpPr>
            <p:cNvPr id="15" name="TextBox 15"/>
            <p:cNvSpPr txBox="1"/>
            <p:nvPr/>
          </p:nvSpPr>
          <p:spPr>
            <a:xfrm>
              <a:off x="8695944" y="47307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处理依照程序</a:t>
              </a:r>
            </a:p>
          </p:txBody>
        </p:sp>
      </p:grpSp>
      <p:sp>
        <p:nvSpPr>
          <p:cNvPr id="17" name="TextBox 17"/>
          <p:cNvSpPr txBox="1"/>
          <p:nvPr/>
        </p:nvSpPr>
        <p:spPr>
          <a:xfrm>
            <a:off x="599694" y="5797550"/>
            <a:ext cx="377369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正面实施 · 真实主案 · 全课收束</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01 / 52</a:t>
            </a:r>
          </a:p>
        </p:txBody>
      </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从书面走向现实</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有效的规范，还需要落实的行动</a:t>
              </a:r>
            </a:p>
          </p:txBody>
        </p:sp>
      </p:grpSp>
      <p:grpSp>
        <p:nvGrpSpPr>
          <p:cNvPr id="14" name="effect-action"/>
          <p:cNvGrpSpPr/>
          <p:nvPr/>
        </p:nvGrpSpPr>
        <p:grpSpPr>
          <a:xfrm>
            <a:off x="762000" y="1924050"/>
            <a:ext cx="8684514" cy="2133600"/>
            <a:chOff x="762000" y="1924050"/>
            <a:chExt cx="8684514" cy="2133600"/>
          </a:xfrm>
        </p:grpSpPr>
        <p:sp>
          <p:nvSpPr>
            <p:cNvPr id="5" name="Rectangle 5"/>
            <p:cNvSpPr/>
            <p:nvPr/>
          </p:nvSpPr>
          <p:spPr>
            <a:xfrm>
              <a:off x="762000" y="1924050"/>
              <a:ext cx="2628900" cy="2133600"/>
            </a:xfrm>
            <a:prstGeom prst="rect">
              <a:avLst/>
            </a:prstGeom>
            <a:solidFill>
              <a:schemeClr val="accent5"/>
            </a:solidFill>
            <a:ln>
              <a:noFill/>
            </a:ln>
          </p:spPr>
        </p:sp>
        <p:sp>
          <p:nvSpPr>
            <p:cNvPr id="6" name="TextBox 6"/>
            <p:cNvSpPr txBox="1"/>
            <p:nvPr/>
          </p:nvSpPr>
          <p:spPr>
            <a:xfrm>
              <a:off x="1168146" y="22225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宪法规范</a:t>
              </a:r>
            </a:p>
          </p:txBody>
        </p:sp>
        <p:sp>
          <p:nvSpPr>
            <p:cNvPr id="7" name="TextBox 7"/>
            <p:cNvSpPr txBox="1"/>
            <p:nvPr/>
          </p:nvSpPr>
          <p:spPr>
            <a:xfrm>
              <a:off x="1171194" y="28638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具有法律效力</a:t>
              </a:r>
            </a:p>
          </p:txBody>
        </p:sp>
        <p:sp>
          <p:nvSpPr>
            <p:cNvPr id="8" name="TextBox 8"/>
            <p:cNvSpPr txBox="1"/>
            <p:nvPr/>
          </p:nvSpPr>
          <p:spPr>
            <a:xfrm>
              <a:off x="1174242" y="3435350"/>
              <a:ext cx="110413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书面规范示意</a:t>
              </a:r>
            </a:p>
          </p:txBody>
        </p:sp>
        <p:sp>
          <p:nvSpPr>
            <p:cNvPr id="9" name="Freeform 9"/>
            <p:cNvSpPr/>
            <p:nvPr/>
          </p:nvSpPr>
          <p:spPr>
            <a:xfrm>
              <a:off x="3867150" y="2876550"/>
              <a:ext cx="1657350" cy="152400"/>
            </a:xfrm>
            <a:custGeom>
              <a:avLst/>
              <a:gdLst/>
              <a:ahLst/>
              <a:cxnLst/>
              <a:rect l="l" t="t" r="r" b="b"/>
              <a:pathLst>
                <a:path w="1657350" h="152400">
                  <a:moveTo>
                    <a:pt x="0" y="76200"/>
                  </a:moveTo>
                  <a:lnTo>
                    <a:pt x="1638300" y="76200"/>
                  </a:lnTo>
                  <a:moveTo>
                    <a:pt x="1543050" y="0"/>
                  </a:moveTo>
                  <a:lnTo>
                    <a:pt x="1657350" y="76200"/>
                  </a:lnTo>
                  <a:lnTo>
                    <a:pt x="1543050" y="152400"/>
                  </a:lnTo>
                </a:path>
              </a:pathLst>
            </a:custGeom>
            <a:noFill/>
            <a:ln w="19050">
              <a:solidFill>
                <a:schemeClr val="accent3"/>
              </a:solidFill>
            </a:ln>
          </p:spPr>
        </p:sp>
        <p:sp>
          <p:nvSpPr>
            <p:cNvPr id="10" name="TextBox 10"/>
            <p:cNvSpPr txBox="1"/>
            <p:nvPr/>
          </p:nvSpPr>
          <p:spPr>
            <a:xfrm>
              <a:off x="4126992" y="254000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贯彻落实</a:t>
              </a:r>
            </a:p>
          </p:txBody>
        </p:sp>
        <p:sp>
          <p:nvSpPr>
            <p:cNvPr id="11" name="TextBox 11"/>
            <p:cNvSpPr txBox="1"/>
            <p:nvPr/>
          </p:nvSpPr>
          <p:spPr>
            <a:xfrm>
              <a:off x="6273546" y="21844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实际行动</a:t>
              </a:r>
            </a:p>
          </p:txBody>
        </p:sp>
        <p:sp>
          <p:nvSpPr>
            <p:cNvPr id="12" name="TextBox 12"/>
            <p:cNvSpPr txBox="1"/>
            <p:nvPr/>
          </p:nvSpPr>
          <p:spPr>
            <a:xfrm>
              <a:off x="6276594" y="28448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保障权利、约束权力</a:t>
              </a:r>
            </a:p>
          </p:txBody>
        </p:sp>
        <p:sp>
          <p:nvSpPr>
            <p:cNvPr id="13" name="TextBox 13"/>
            <p:cNvSpPr txBox="1"/>
            <p:nvPr/>
          </p:nvSpPr>
          <p:spPr>
            <a:xfrm>
              <a:off x="6276594" y="33591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建学校、履职责、依法纠错</a:t>
              </a:r>
            </a:p>
          </p:txBody>
        </p:sp>
      </p:grpSp>
      <p:grpSp>
        <p:nvGrpSpPr>
          <p:cNvPr id="17" name="p02-reveal-1"/>
          <p:cNvGrpSpPr/>
          <p:nvPr/>
        </p:nvGrpSpPr>
        <p:grpSpPr>
          <a:xfrm>
            <a:off x="752094" y="5054600"/>
            <a:ext cx="7632573" cy="895731"/>
            <a:chOff x="752094" y="5054600"/>
            <a:chExt cx="7632573" cy="895731"/>
          </a:xfrm>
        </p:grpSpPr>
        <p:sp>
          <p:nvSpPr>
            <p:cNvPr id="15" name="TextBox 15"/>
            <p:cNvSpPr txBox="1"/>
            <p:nvPr/>
          </p:nvSpPr>
          <p:spPr>
            <a:xfrm>
              <a:off x="752094" y="5054600"/>
              <a:ext cx="553250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尚未充分落实，不等于宪法自动丧失法律效力。</a:t>
              </a:r>
            </a:p>
          </p:txBody>
        </p:sp>
        <p:sp>
          <p:nvSpPr>
            <p:cNvPr id="16" name="TextBox 16"/>
            <p:cNvSpPr txBox="1"/>
            <p:nvPr/>
          </p:nvSpPr>
          <p:spPr>
            <a:xfrm>
              <a:off x="752094" y="556895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最高法律效力提供依据；具体工作不会因为条文存在就自动完成。</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25119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教材第九章实施概念；图示不表示规范效力必须等现实结果才发生。</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四处条文各有位置</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共同责任，要落到不同的工作</a:t>
              </a:r>
            </a:p>
          </p:txBody>
        </p:sp>
      </p:grpSp>
      <p:grpSp>
        <p:nvGrpSpPr>
          <p:cNvPr id="14" name="responsibility-text"/>
          <p:cNvGrpSpPr/>
          <p:nvPr/>
        </p:nvGrpSpPr>
        <p:grpSpPr>
          <a:xfrm>
            <a:off x="749808" y="1892300"/>
            <a:ext cx="9586341" cy="2787142"/>
            <a:chOff x="749808" y="1892300"/>
            <a:chExt cx="9586341" cy="2787142"/>
          </a:xfrm>
        </p:grpSpPr>
        <p:sp>
          <p:nvSpPr>
            <p:cNvPr id="5" name="TextBox 5"/>
            <p:cNvSpPr txBox="1"/>
            <p:nvPr/>
          </p:nvSpPr>
          <p:spPr>
            <a:xfrm>
              <a:off x="749808" y="189230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序言末段</a:t>
              </a:r>
            </a:p>
          </p:txBody>
        </p:sp>
        <p:sp>
          <p:nvSpPr>
            <p:cNvPr id="6" name="TextBox 6"/>
            <p:cNvSpPr txBox="1"/>
            <p:nvPr/>
          </p:nvSpPr>
          <p:spPr>
            <a:xfrm>
              <a:off x="3228594" y="196850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列明多类主体：以宪法为根本活动准则，维护尊严、保证实施</a:t>
              </a:r>
            </a:p>
          </p:txBody>
        </p:sp>
        <p:sp>
          <p:nvSpPr>
            <p:cNvPr id="7" name="TextBox 7"/>
            <p:cNvSpPr txBox="1"/>
            <p:nvPr/>
          </p:nvSpPr>
          <p:spPr>
            <a:xfrm>
              <a:off x="3231642" y="2463800"/>
              <a:ext cx="601103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全国各族人民，国家机关、武装力量，各政党、社会团体、企业事业组织。</a:t>
              </a:r>
            </a:p>
          </p:txBody>
        </p:sp>
        <p:sp>
          <p:nvSpPr>
            <p:cNvPr id="8" name="TextBox 8"/>
            <p:cNvSpPr txBox="1"/>
            <p:nvPr/>
          </p:nvSpPr>
          <p:spPr>
            <a:xfrm>
              <a:off x="749808" y="2952750"/>
              <a:ext cx="89489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第5条</a:t>
              </a:r>
            </a:p>
          </p:txBody>
        </p:sp>
        <p:sp>
          <p:nvSpPr>
            <p:cNvPr id="9" name="TextBox 9"/>
            <p:cNvSpPr txBox="1"/>
            <p:nvPr/>
          </p:nvSpPr>
          <p:spPr>
            <a:xfrm>
              <a:off x="3228594" y="30162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法律、行政法规、地方性法规不得同宪法相抵触</a:t>
              </a:r>
            </a:p>
          </p:txBody>
        </p:sp>
        <p:sp>
          <p:nvSpPr>
            <p:cNvPr id="10" name="TextBox 10"/>
            <p:cNvSpPr txBox="1"/>
            <p:nvPr/>
          </p:nvSpPr>
          <p:spPr>
            <a:xfrm>
              <a:off x="749808" y="3581400"/>
              <a:ext cx="108265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第53条</a:t>
              </a:r>
            </a:p>
          </p:txBody>
        </p:sp>
        <p:sp>
          <p:nvSpPr>
            <p:cNvPr id="11" name="TextBox 11"/>
            <p:cNvSpPr txBox="1"/>
            <p:nvPr/>
          </p:nvSpPr>
          <p:spPr>
            <a:xfrm>
              <a:off x="3228594" y="36449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公民遵守宪法和法律</a:t>
              </a:r>
            </a:p>
          </p:txBody>
        </p:sp>
        <p:sp>
          <p:nvSpPr>
            <p:cNvPr id="12" name="TextBox 12"/>
            <p:cNvSpPr txBox="1"/>
            <p:nvPr/>
          </p:nvSpPr>
          <p:spPr>
            <a:xfrm>
              <a:off x="749808" y="4210050"/>
              <a:ext cx="108265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第99条</a:t>
              </a:r>
            </a:p>
          </p:txBody>
        </p:sp>
        <p:sp>
          <p:nvSpPr>
            <p:cNvPr id="13" name="TextBox 13"/>
            <p:cNvSpPr txBox="1"/>
            <p:nvPr/>
          </p:nvSpPr>
          <p:spPr>
            <a:xfrm>
              <a:off x="3228594" y="427355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地方人大：在本区域保证宪法、法律、行政法规遵守执行</a:t>
              </a:r>
            </a:p>
          </p:txBody>
        </p:sp>
      </p:grpSp>
      <p:grpSp>
        <p:nvGrpSpPr>
          <p:cNvPr id="17" name="p03-reveal-1"/>
          <p:cNvGrpSpPr/>
          <p:nvPr/>
        </p:nvGrpSpPr>
        <p:grpSpPr>
          <a:xfrm>
            <a:off x="752094" y="5226050"/>
            <a:ext cx="6840988" cy="816483"/>
            <a:chOff x="752094" y="5226050"/>
            <a:chExt cx="6840988" cy="816483"/>
          </a:xfrm>
        </p:grpSpPr>
        <p:sp>
          <p:nvSpPr>
            <p:cNvPr id="15" name="TextBox 15"/>
            <p:cNvSpPr txBox="1"/>
            <p:nvPr/>
          </p:nvSpPr>
          <p:spPr>
            <a:xfrm>
              <a:off x="752094" y="5226050"/>
              <a:ext cx="579501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共同承担实施责任，不等于拥有同一种法定职权。</a:t>
              </a:r>
            </a:p>
          </p:txBody>
        </p:sp>
        <p:sp>
          <p:nvSpPr>
            <p:cNvPr id="16" name="TextBox 16"/>
            <p:cNvSpPr txBox="1"/>
            <p:nvPr/>
          </p:nvSpPr>
          <p:spPr>
            <a:xfrm>
              <a:off x="755142" y="5778500"/>
              <a:ext cx="683794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第5条还要求追究违反宪法法律的行为；任何组织或个人不得有超越宪法法律的特权。</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379180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现行宪法序言末段、第5、53、99条；本页为条文要义转述。</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内容广泛、主体普遍</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参与的人更多，能做的事不相同</a:t>
              </a:r>
            </a:p>
          </p:txBody>
        </p:sp>
      </p:grpSp>
      <p:grpSp>
        <p:nvGrpSpPr>
          <p:cNvPr id="16" name="shared-responsibility"/>
          <p:cNvGrpSpPr/>
          <p:nvPr/>
        </p:nvGrpSpPr>
        <p:grpSpPr>
          <a:xfrm>
            <a:off x="749808" y="2044700"/>
            <a:ext cx="10108692" cy="2048129"/>
            <a:chOff x="749808" y="2044700"/>
            <a:chExt cx="10108692" cy="2048129"/>
          </a:xfrm>
        </p:grpSpPr>
        <p:sp>
          <p:nvSpPr>
            <p:cNvPr id="5" name="TextBox 5"/>
            <p:cNvSpPr txBox="1"/>
            <p:nvPr/>
          </p:nvSpPr>
          <p:spPr>
            <a:xfrm>
              <a:off x="752094" y="2044700"/>
              <a:ext cx="72256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国家制度 · 权力组织 · 基本权利义务 · 政治经济文化社会生活</a:t>
              </a:r>
            </a:p>
          </p:txBody>
        </p:sp>
        <p:sp>
          <p:nvSpPr>
            <p:cNvPr id="6" name="Freeform 6"/>
            <p:cNvSpPr/>
            <p:nvPr/>
          </p:nvSpPr>
          <p:spPr>
            <a:xfrm>
              <a:off x="1143000" y="3238500"/>
              <a:ext cx="9715500" cy="9525"/>
            </a:xfrm>
            <a:custGeom>
              <a:avLst/>
              <a:gdLst/>
              <a:ahLst/>
              <a:cxnLst/>
              <a:rect l="l" t="t" r="r" b="b"/>
              <a:pathLst>
                <a:path w="9715500" h="9525">
                  <a:moveTo>
                    <a:pt x="0" y="0"/>
                  </a:moveTo>
                  <a:lnTo>
                    <a:pt x="9715500" y="0"/>
                  </a:lnTo>
                </a:path>
              </a:pathLst>
            </a:custGeom>
            <a:noFill/>
            <a:ln w="19050">
              <a:solidFill>
                <a:schemeClr val="accent3"/>
              </a:solidFill>
            </a:ln>
          </p:spPr>
        </p:sp>
        <p:sp>
          <p:nvSpPr>
            <p:cNvPr id="7" name="Ellipse 7"/>
            <p:cNvSpPr/>
            <p:nvPr/>
          </p:nvSpPr>
          <p:spPr>
            <a:xfrm>
              <a:off x="1266825" y="3171825"/>
              <a:ext cx="133350" cy="133350"/>
            </a:xfrm>
            <a:prstGeom prst="ellipse">
              <a:avLst/>
            </a:prstGeom>
            <a:solidFill>
              <a:schemeClr val="accent3"/>
            </a:solidFill>
            <a:ln>
              <a:noFill/>
            </a:ln>
          </p:spPr>
        </p:sp>
        <p:sp>
          <p:nvSpPr>
            <p:cNvPr id="8" name="Ellipse 8"/>
            <p:cNvSpPr/>
            <p:nvPr/>
          </p:nvSpPr>
          <p:spPr>
            <a:xfrm>
              <a:off x="4410075" y="3171825"/>
              <a:ext cx="133350" cy="133350"/>
            </a:xfrm>
            <a:prstGeom prst="ellipse">
              <a:avLst/>
            </a:prstGeom>
            <a:solidFill>
              <a:schemeClr val="accent3"/>
            </a:solidFill>
            <a:ln>
              <a:noFill/>
            </a:ln>
          </p:spPr>
        </p:sp>
        <p:sp>
          <p:nvSpPr>
            <p:cNvPr id="9" name="Ellipse 9"/>
            <p:cNvSpPr/>
            <p:nvPr/>
          </p:nvSpPr>
          <p:spPr>
            <a:xfrm>
              <a:off x="7553325" y="3171825"/>
              <a:ext cx="133350" cy="133350"/>
            </a:xfrm>
            <a:prstGeom prst="ellipse">
              <a:avLst/>
            </a:prstGeom>
            <a:solidFill>
              <a:schemeClr val="accent3"/>
            </a:solidFill>
            <a:ln>
              <a:noFill/>
            </a:ln>
          </p:spPr>
        </p:sp>
        <p:sp>
          <p:nvSpPr>
            <p:cNvPr id="10" name="Ellipse 10"/>
            <p:cNvSpPr/>
            <p:nvPr/>
          </p:nvSpPr>
          <p:spPr>
            <a:xfrm>
              <a:off x="10601325" y="3171825"/>
              <a:ext cx="133350" cy="133350"/>
            </a:xfrm>
            <a:prstGeom prst="ellipse">
              <a:avLst/>
            </a:prstGeom>
            <a:solidFill>
              <a:schemeClr val="accent3"/>
            </a:solidFill>
            <a:ln>
              <a:noFill/>
            </a:ln>
          </p:spPr>
        </p:sp>
        <p:sp>
          <p:nvSpPr>
            <p:cNvPr id="11" name="TextBox 11"/>
            <p:cNvSpPr txBox="1"/>
            <p:nvPr/>
          </p:nvSpPr>
          <p:spPr>
            <a:xfrm>
              <a:off x="749808" y="25844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国家机关</a:t>
              </a:r>
            </a:p>
          </p:txBody>
        </p:sp>
        <p:sp>
          <p:nvSpPr>
            <p:cNvPr id="12" name="TextBox 12"/>
            <p:cNvSpPr txBox="1"/>
            <p:nvPr/>
          </p:nvSpPr>
          <p:spPr>
            <a:xfrm>
              <a:off x="4026408" y="25844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政党</a:t>
              </a:r>
            </a:p>
          </p:txBody>
        </p:sp>
        <p:sp>
          <p:nvSpPr>
            <p:cNvPr id="13" name="TextBox 13"/>
            <p:cNvSpPr txBox="1"/>
            <p:nvPr/>
          </p:nvSpPr>
          <p:spPr>
            <a:xfrm>
              <a:off x="6845808" y="25844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社会组织</a:t>
              </a:r>
            </a:p>
          </p:txBody>
        </p:sp>
        <p:sp>
          <p:nvSpPr>
            <p:cNvPr id="14" name="TextBox 14"/>
            <p:cNvSpPr txBox="1"/>
            <p:nvPr/>
          </p:nvSpPr>
          <p:spPr>
            <a:xfrm>
              <a:off x="10084308" y="25844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公民</a:t>
              </a:r>
            </a:p>
          </p:txBody>
        </p:sp>
        <p:sp>
          <p:nvSpPr>
            <p:cNvPr id="15" name="TextBox 15"/>
            <p:cNvSpPr txBox="1"/>
            <p:nvPr/>
          </p:nvSpPr>
          <p:spPr>
            <a:xfrm>
              <a:off x="3416046" y="3594100"/>
              <a:ext cx="437845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共同以宪法为根本活动准则</a:t>
              </a:r>
            </a:p>
          </p:txBody>
        </p:sp>
      </p:grpSp>
      <p:grpSp>
        <p:nvGrpSpPr>
          <p:cNvPr id="20" name="p04-reveal-1"/>
          <p:cNvGrpSpPr/>
          <p:nvPr/>
        </p:nvGrpSpPr>
        <p:grpSpPr>
          <a:xfrm>
            <a:off x="752094" y="5035550"/>
            <a:ext cx="6320028" cy="1178433"/>
            <a:chOff x="752094" y="5035550"/>
            <a:chExt cx="6320028" cy="1178433"/>
          </a:xfrm>
        </p:grpSpPr>
        <p:sp>
          <p:nvSpPr>
            <p:cNvPr id="17" name="TextBox 17"/>
            <p:cNvSpPr txBox="1"/>
            <p:nvPr/>
          </p:nvSpPr>
          <p:spPr>
            <a:xfrm>
              <a:off x="752094" y="50355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公民可以提意见，不因此取得修改法规的权力。</a:t>
              </a:r>
            </a:p>
          </p:txBody>
        </p:sp>
        <p:sp>
          <p:nvSpPr>
            <p:cNvPr id="18" name="TextBox 18"/>
            <p:cNvSpPr txBox="1"/>
            <p:nvPr/>
          </p:nvSpPr>
          <p:spPr>
            <a:xfrm>
              <a:off x="752094" y="543560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工作机构参与研究，也不因此代替依法作决定的机关。</a:t>
              </a:r>
            </a:p>
          </p:txBody>
        </p:sp>
        <p:sp>
          <p:nvSpPr>
            <p:cNvPr id="19" name="TextBox 19"/>
            <p:cNvSpPr txBox="1"/>
            <p:nvPr/>
          </p:nvSpPr>
          <p:spPr>
            <a:xfrm>
              <a:off x="755142" y="5949950"/>
              <a:ext cx="4411751"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“都参与”是责任面；“有什么权”仍须分别看具体规范。</a:t>
              </a:r>
            </a:p>
          </p:txBody>
        </p:sp>
      </p:grpSp>
      <p:grpSp>
        <p:nvGrpSpPr>
          <p:cNvPr id="23" name="footer"/>
          <p:cNvGrpSpPr/>
          <p:nvPr/>
        </p:nvGrpSpPr>
        <p:grpSpPr>
          <a:xfrm>
            <a:off x="604266" y="6464300"/>
            <a:ext cx="10828344" cy="205359"/>
            <a:chOff x="604266" y="6464300"/>
            <a:chExt cx="10828344" cy="205359"/>
          </a:xfrm>
        </p:grpSpPr>
        <p:sp>
          <p:nvSpPr>
            <p:cNvPr id="21" name="TextBox 21"/>
            <p:cNvSpPr txBox="1"/>
            <p:nvPr/>
          </p:nvSpPr>
          <p:spPr>
            <a:xfrm>
              <a:off x="604266" y="6464300"/>
              <a:ext cx="509930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教材第九章实施的内容与主体；共同基线表示准则，不表示同等职权或机构隶属。</a:t>
              </a:r>
            </a:p>
          </p:txBody>
        </p:sp>
        <p:sp>
          <p:nvSpPr>
            <p:cNvPr id="22" name="TextBox 22"/>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教材对实施方式的区分</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执行者，同时也是被约束者</a:t>
              </a:r>
            </a:p>
          </p:txBody>
        </p:sp>
      </p:grpSp>
      <p:grpSp>
        <p:nvGrpSpPr>
          <p:cNvPr id="14" name="three-ways"/>
          <p:cNvGrpSpPr/>
          <p:nvPr/>
        </p:nvGrpSpPr>
        <p:grpSpPr>
          <a:xfrm>
            <a:off x="745236" y="1968500"/>
            <a:ext cx="10008870" cy="2000631"/>
            <a:chOff x="745236" y="1968500"/>
            <a:chExt cx="10008870" cy="2000631"/>
          </a:xfrm>
        </p:grpSpPr>
        <p:sp>
          <p:nvSpPr>
            <p:cNvPr id="5" name="TextBox 5"/>
            <p:cNvSpPr txBox="1"/>
            <p:nvPr/>
          </p:nvSpPr>
          <p:spPr>
            <a:xfrm>
              <a:off x="745236" y="19685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执行</a:t>
              </a:r>
            </a:p>
          </p:txBody>
        </p:sp>
        <p:sp>
          <p:nvSpPr>
            <p:cNvPr id="6" name="TextBox 6"/>
            <p:cNvSpPr txBox="1"/>
            <p:nvPr/>
          </p:nvSpPr>
          <p:spPr>
            <a:xfrm>
              <a:off x="752094" y="27876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国家机关</a:t>
              </a:r>
            </a:p>
          </p:txBody>
        </p:sp>
        <p:sp>
          <p:nvSpPr>
            <p:cNvPr id="7" name="TextBox 7"/>
            <p:cNvSpPr txBox="1"/>
            <p:nvPr/>
          </p:nvSpPr>
          <p:spPr>
            <a:xfrm>
              <a:off x="752094" y="322580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直接依据宪法</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行使公共管理职能</a:t>
              </a:r>
            </a:p>
          </p:txBody>
        </p:sp>
        <p:sp>
          <p:nvSpPr>
            <p:cNvPr id="8" name="TextBox 8"/>
            <p:cNvSpPr txBox="1"/>
            <p:nvPr/>
          </p:nvSpPr>
          <p:spPr>
            <a:xfrm>
              <a:off x="4745736" y="19685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适用</a:t>
              </a:r>
            </a:p>
          </p:txBody>
        </p:sp>
        <p:sp>
          <p:nvSpPr>
            <p:cNvPr id="9" name="TextBox 9"/>
            <p:cNvSpPr txBox="1"/>
            <p:nvPr/>
          </p:nvSpPr>
          <p:spPr>
            <a:xfrm>
              <a:off x="4752594" y="27876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宪法规定的特定机关</a:t>
              </a:r>
            </a:p>
          </p:txBody>
        </p:sp>
        <p:sp>
          <p:nvSpPr>
            <p:cNvPr id="10" name="TextBox 10"/>
            <p:cNvSpPr txBox="1"/>
            <p:nvPr/>
          </p:nvSpPr>
          <p:spPr>
            <a:xfrm>
              <a:off x="4752594" y="322580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在相应权限内</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适用宪法解决争议</a:t>
              </a:r>
            </a:p>
          </p:txBody>
        </p:sp>
        <p:sp>
          <p:nvSpPr>
            <p:cNvPr id="11" name="TextBox 11"/>
            <p:cNvSpPr txBox="1"/>
            <p:nvPr/>
          </p:nvSpPr>
          <p:spPr>
            <a:xfrm>
              <a:off x="8746236" y="19685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遵守</a:t>
              </a:r>
            </a:p>
          </p:txBody>
        </p:sp>
        <p:sp>
          <p:nvSpPr>
            <p:cNvPr id="12" name="TextBox 12"/>
            <p:cNvSpPr txBox="1"/>
            <p:nvPr/>
          </p:nvSpPr>
          <p:spPr>
            <a:xfrm>
              <a:off x="8753094" y="27876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一切相关主体</a:t>
              </a:r>
            </a:p>
          </p:txBody>
        </p:sp>
        <p:sp>
          <p:nvSpPr>
            <p:cNvPr id="13" name="TextBox 13"/>
            <p:cNvSpPr txBox="1"/>
            <p:nvPr/>
          </p:nvSpPr>
          <p:spPr>
            <a:xfrm>
              <a:off x="8753094" y="322580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国家机关也在其中</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严格遵守宪法</a:t>
              </a:r>
            </a:p>
          </p:txBody>
        </p:sp>
      </p:grpSp>
      <p:grpSp>
        <p:nvGrpSpPr>
          <p:cNvPr id="17" name="p05-reveal-1"/>
          <p:cNvGrpSpPr/>
          <p:nvPr/>
        </p:nvGrpSpPr>
        <p:grpSpPr>
          <a:xfrm>
            <a:off x="749808" y="5118100"/>
            <a:ext cx="9498673" cy="965581"/>
            <a:chOff x="749808" y="5118100"/>
            <a:chExt cx="9498673" cy="965581"/>
          </a:xfrm>
        </p:grpSpPr>
        <p:sp>
          <p:nvSpPr>
            <p:cNvPr id="15" name="TextBox 15"/>
            <p:cNvSpPr txBox="1"/>
            <p:nvPr/>
          </p:nvSpPr>
          <p:spPr>
            <a:xfrm>
              <a:off x="749808" y="5118100"/>
              <a:ext cx="6809232"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国家机关行使职权时，也承担遵守宪法的职责。</a:t>
              </a:r>
            </a:p>
          </p:txBody>
        </p:sp>
        <p:sp>
          <p:nvSpPr>
            <p:cNvPr id="16" name="TextBox 16"/>
            <p:cNvSpPr txBox="1"/>
            <p:nvPr/>
          </p:nvSpPr>
          <p:spPr>
            <a:xfrm>
              <a:off x="752094" y="5702300"/>
              <a:ext cx="949638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三种方式不是互斥的三类人；“适用”尤其不能扩张为任何机关都可直接处理争议。</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24065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教材第九章概念；方式含义与我国具体法定权限分别理解，不从定义推无限适用权。</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间接实施的连接</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法律的实施，也能承接宪法要求</a:t>
              </a:r>
            </a:p>
          </p:txBody>
        </p:sp>
      </p:grpSp>
      <p:grpSp>
        <p:nvGrpSpPr>
          <p:cNvPr id="14" name="indirect-route"/>
          <p:cNvGrpSpPr/>
          <p:nvPr/>
        </p:nvGrpSpPr>
        <p:grpSpPr>
          <a:xfrm>
            <a:off x="749046" y="2101850"/>
            <a:ext cx="9287256" cy="2324481"/>
            <a:chOff x="749046" y="2101850"/>
            <a:chExt cx="9287256" cy="2324481"/>
          </a:xfrm>
        </p:grpSpPr>
        <p:sp>
          <p:nvSpPr>
            <p:cNvPr id="5" name="TextBox 5"/>
            <p:cNvSpPr txBox="1"/>
            <p:nvPr/>
          </p:nvSpPr>
          <p:spPr>
            <a:xfrm>
              <a:off x="749046" y="23177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宪法规范</a:t>
              </a:r>
            </a:p>
          </p:txBody>
        </p:sp>
        <p:sp>
          <p:nvSpPr>
            <p:cNvPr id="6" name="Freeform 6"/>
            <p:cNvSpPr/>
            <p:nvPr/>
          </p:nvSpPr>
          <p:spPr>
            <a:xfrm>
              <a:off x="2514600" y="2438400"/>
              <a:ext cx="1581150" cy="152400"/>
            </a:xfrm>
            <a:custGeom>
              <a:avLst/>
              <a:gdLst/>
              <a:ahLst/>
              <a:cxnLst/>
              <a:rect l="l" t="t" r="r" b="b"/>
              <a:pathLst>
                <a:path w="1581150" h="152400">
                  <a:moveTo>
                    <a:pt x="0" y="76200"/>
                  </a:moveTo>
                  <a:lnTo>
                    <a:pt x="1562100" y="76200"/>
                  </a:lnTo>
                  <a:moveTo>
                    <a:pt x="1466850" y="0"/>
                  </a:moveTo>
                  <a:lnTo>
                    <a:pt x="1581150" y="76200"/>
                  </a:lnTo>
                  <a:lnTo>
                    <a:pt x="1466850" y="152400"/>
                  </a:lnTo>
                </a:path>
              </a:pathLst>
            </a:custGeom>
            <a:noFill/>
            <a:ln w="19050">
              <a:solidFill>
                <a:schemeClr val="accent3"/>
              </a:solidFill>
            </a:ln>
          </p:spPr>
        </p:sp>
        <p:sp>
          <p:nvSpPr>
            <p:cNvPr id="7" name="TextBox 7"/>
            <p:cNvSpPr txBox="1"/>
            <p:nvPr/>
          </p:nvSpPr>
          <p:spPr>
            <a:xfrm>
              <a:off x="2717292" y="2101850"/>
              <a:ext cx="92240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依法具体化</a:t>
              </a:r>
            </a:p>
          </p:txBody>
        </p:sp>
        <p:sp>
          <p:nvSpPr>
            <p:cNvPr id="8" name="TextBox 8"/>
            <p:cNvSpPr txBox="1"/>
            <p:nvPr/>
          </p:nvSpPr>
          <p:spPr>
            <a:xfrm>
              <a:off x="4635246" y="23177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具体立法</a:t>
              </a:r>
            </a:p>
          </p:txBody>
        </p:sp>
        <p:sp>
          <p:nvSpPr>
            <p:cNvPr id="9" name="Freeform 9"/>
            <p:cNvSpPr/>
            <p:nvPr/>
          </p:nvSpPr>
          <p:spPr>
            <a:xfrm>
              <a:off x="6477000" y="2438400"/>
              <a:ext cx="1581150" cy="152400"/>
            </a:xfrm>
            <a:custGeom>
              <a:avLst/>
              <a:gdLst/>
              <a:ahLst/>
              <a:cxnLst/>
              <a:rect l="l" t="t" r="r" b="b"/>
              <a:pathLst>
                <a:path w="1581150" h="152400">
                  <a:moveTo>
                    <a:pt x="0" y="76200"/>
                  </a:moveTo>
                  <a:lnTo>
                    <a:pt x="1562100" y="76200"/>
                  </a:lnTo>
                  <a:moveTo>
                    <a:pt x="1466850" y="0"/>
                  </a:moveTo>
                  <a:lnTo>
                    <a:pt x="1581150" y="76200"/>
                  </a:lnTo>
                  <a:lnTo>
                    <a:pt x="1466850" y="152400"/>
                  </a:lnTo>
                </a:path>
              </a:pathLst>
            </a:custGeom>
            <a:noFill/>
            <a:ln w="19050">
              <a:solidFill>
                <a:schemeClr val="accent3"/>
              </a:solidFill>
            </a:ln>
          </p:spPr>
        </p:sp>
        <p:sp>
          <p:nvSpPr>
            <p:cNvPr id="10" name="TextBox 10"/>
            <p:cNvSpPr txBox="1"/>
            <p:nvPr/>
          </p:nvSpPr>
          <p:spPr>
            <a:xfrm>
              <a:off x="6717792" y="2101850"/>
              <a:ext cx="11041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依法持续实施</a:t>
              </a:r>
            </a:p>
          </p:txBody>
        </p:sp>
        <p:sp>
          <p:nvSpPr>
            <p:cNvPr id="11" name="TextBox 11"/>
            <p:cNvSpPr txBox="1"/>
            <p:nvPr/>
          </p:nvSpPr>
          <p:spPr>
            <a:xfrm>
              <a:off x="8559546" y="23177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实际工作</a:t>
              </a:r>
            </a:p>
          </p:txBody>
        </p:sp>
        <p:sp>
          <p:nvSpPr>
            <p:cNvPr id="12" name="TextBox 12"/>
            <p:cNvSpPr txBox="1"/>
            <p:nvPr/>
          </p:nvSpPr>
          <p:spPr>
            <a:xfrm>
              <a:off x="4638294" y="305435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融合宪法的原则、</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精神和规范内涵</a:t>
              </a:r>
            </a:p>
          </p:txBody>
        </p:sp>
        <p:sp>
          <p:nvSpPr>
            <p:cNvPr id="13" name="TextBox 13"/>
            <p:cNvSpPr txBox="1"/>
            <p:nvPr/>
          </p:nvSpPr>
          <p:spPr>
            <a:xfrm>
              <a:off x="752094" y="4044950"/>
              <a:ext cx="526999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由有立法权的机关，依据宪法安排具体制度。</a:t>
              </a:r>
            </a:p>
          </p:txBody>
        </p:sp>
      </p:grpSp>
      <p:grpSp>
        <p:nvGrpSpPr>
          <p:cNvPr id="17" name="p06-reveal-1"/>
          <p:cNvGrpSpPr/>
          <p:nvPr/>
        </p:nvGrpSpPr>
        <p:grpSpPr>
          <a:xfrm>
            <a:off x="752094" y="5130800"/>
            <a:ext cx="7895082" cy="876681"/>
            <a:chOff x="752094" y="5130800"/>
            <a:chExt cx="7895082" cy="876681"/>
          </a:xfrm>
        </p:grpSpPr>
        <p:sp>
          <p:nvSpPr>
            <p:cNvPr id="15" name="TextBox 15"/>
            <p:cNvSpPr txBox="1"/>
            <p:nvPr/>
          </p:nvSpPr>
          <p:spPr>
            <a:xfrm>
              <a:off x="752094" y="513080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具体法律的实施，可以使宪法要求进入社会生活。</a:t>
              </a:r>
            </a:p>
          </p:txBody>
        </p:sp>
        <p:sp>
          <p:nvSpPr>
            <p:cNvPr id="16" name="TextBox 16"/>
            <p:cNvSpPr txBox="1"/>
            <p:nvPr/>
          </p:nvSpPr>
          <p:spPr>
            <a:xfrm>
              <a:off x="752094" y="5626100"/>
              <a:ext cx="789508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这不否定宪法直接效力，也不表示所有实施都必须等待一部新法律。</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97208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教材第九章“间接实施”；示意说明规范与工作联系，不是每项事务的审批步骤。</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06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实施需要支持条件</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宣誓是承诺，履职还要持续检验</a:t>
              </a:r>
            </a:p>
          </p:txBody>
        </p:sp>
      </p:grpSp>
      <p:grpSp>
        <p:nvGrpSpPr>
          <p:cNvPr id="15" name="oath-history"/>
          <p:cNvGrpSpPr/>
          <p:nvPr/>
        </p:nvGrpSpPr>
        <p:grpSpPr>
          <a:xfrm>
            <a:off x="749808" y="2012950"/>
            <a:ext cx="10055733" cy="2318131"/>
            <a:chOff x="749808" y="2012950"/>
            <a:chExt cx="10055733" cy="2318131"/>
          </a:xfrm>
        </p:grpSpPr>
        <p:sp>
          <p:nvSpPr>
            <p:cNvPr id="5" name="TextBox 5"/>
            <p:cNvSpPr txBox="1"/>
            <p:nvPr/>
          </p:nvSpPr>
          <p:spPr>
            <a:xfrm>
              <a:off x="749808" y="20129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国家宪法日</a:t>
              </a:r>
            </a:p>
          </p:txBody>
        </p:sp>
        <p:sp>
          <p:nvSpPr>
            <p:cNvPr id="6" name="TextBox 6"/>
            <p:cNvSpPr txBox="1"/>
            <p:nvPr/>
          </p:nvSpPr>
          <p:spPr>
            <a:xfrm>
              <a:off x="752094" y="2616200"/>
              <a:ext cx="313054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2014年决定：每年12月4日</a:t>
              </a:r>
            </a:p>
          </p:txBody>
        </p:sp>
        <p:sp>
          <p:nvSpPr>
            <p:cNvPr id="7" name="TextBox 7"/>
            <p:cNvSpPr txBox="1"/>
            <p:nvPr/>
          </p:nvSpPr>
          <p:spPr>
            <a:xfrm>
              <a:off x="752094" y="3092450"/>
              <a:ext cx="295991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2018年：首个宪法宣传周</a:t>
              </a:r>
            </a:p>
          </p:txBody>
        </p:sp>
        <p:sp>
          <p:nvSpPr>
            <p:cNvPr id="8" name="TextBox 8"/>
            <p:cNvSpPr txBox="1"/>
            <p:nvPr/>
          </p:nvSpPr>
          <p:spPr>
            <a:xfrm>
              <a:off x="755142" y="3587750"/>
              <a:ext cx="332132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宣传周不是2014年那份决定设立的制度。</a:t>
              </a:r>
            </a:p>
          </p:txBody>
        </p:sp>
        <p:sp>
          <p:nvSpPr>
            <p:cNvPr id="9" name="Line 9"/>
            <p:cNvSpPr/>
            <p:nvPr/>
          </p:nvSpPr>
          <p:spPr>
            <a:xfrm>
              <a:off x="5943600" y="2019300"/>
              <a:ext cx="9525" cy="2228850"/>
            </a:xfrm>
            <a:custGeom>
              <a:avLst/>
              <a:gdLst/>
              <a:ahLst/>
              <a:cxnLst/>
              <a:rect l="l" t="t" r="r" b="b"/>
              <a:pathLst>
                <a:path w="9525" h="2228850">
                  <a:moveTo>
                    <a:pt x="0" y="0"/>
                  </a:moveTo>
                  <a:lnTo>
                    <a:pt x="0" y="2228850"/>
                  </a:lnTo>
                </a:path>
              </a:pathLst>
            </a:custGeom>
            <a:noFill/>
            <a:ln w="9525">
              <a:solidFill>
                <a:srgbClr val="C7BFB1"/>
              </a:solidFill>
            </a:ln>
          </p:spPr>
        </p:sp>
        <p:sp>
          <p:nvSpPr>
            <p:cNvPr id="10" name="TextBox 10"/>
            <p:cNvSpPr txBox="1"/>
            <p:nvPr/>
          </p:nvSpPr>
          <p:spPr>
            <a:xfrm>
              <a:off x="6845808" y="2012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宪法宣誓</a:t>
              </a:r>
            </a:p>
          </p:txBody>
        </p:sp>
        <p:sp>
          <p:nvSpPr>
            <p:cNvPr id="11" name="TextBox 11"/>
            <p:cNvSpPr txBox="1"/>
            <p:nvPr/>
          </p:nvSpPr>
          <p:spPr>
            <a:xfrm>
              <a:off x="6848094" y="2616200"/>
              <a:ext cx="353743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2015年专门决定，2018年修订</a:t>
              </a:r>
            </a:p>
          </p:txBody>
        </p:sp>
        <p:sp>
          <p:nvSpPr>
            <p:cNvPr id="12" name="TextBox 12"/>
            <p:cNvSpPr txBox="1"/>
            <p:nvPr/>
          </p:nvSpPr>
          <p:spPr>
            <a:xfrm>
              <a:off x="6848094" y="3016250"/>
              <a:ext cx="322242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宣誓制度于2018年载入宪法</a:t>
              </a:r>
            </a:p>
          </p:txBody>
        </p:sp>
        <p:sp>
          <p:nvSpPr>
            <p:cNvPr id="13" name="TextBox 13"/>
            <p:cNvSpPr txBox="1"/>
            <p:nvPr/>
          </p:nvSpPr>
          <p:spPr>
            <a:xfrm>
              <a:off x="6848094" y="34163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法定范围工作人员就职时公开宣誓</a:t>
              </a:r>
            </a:p>
          </p:txBody>
        </p:sp>
        <p:sp>
          <p:nvSpPr>
            <p:cNvPr id="14" name="TextBox 14"/>
            <p:cNvSpPr txBox="1"/>
            <p:nvPr/>
          </p:nvSpPr>
          <p:spPr>
            <a:xfrm>
              <a:off x="6848094" y="394970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承诺，不是履职成效的证明。</a:t>
              </a:r>
            </a:p>
          </p:txBody>
        </p:sp>
      </p:grpSp>
      <p:grpSp>
        <p:nvGrpSpPr>
          <p:cNvPr id="18" name="p07-reveal-1"/>
          <p:cNvGrpSpPr/>
          <p:nvPr/>
        </p:nvGrpSpPr>
        <p:grpSpPr>
          <a:xfrm>
            <a:off x="752094" y="5111750"/>
            <a:ext cx="9103614" cy="816483"/>
            <a:chOff x="752094" y="5111750"/>
            <a:chExt cx="9103614" cy="816483"/>
          </a:xfrm>
        </p:grpSpPr>
        <p:sp>
          <p:nvSpPr>
            <p:cNvPr id="16" name="TextBox 16"/>
            <p:cNvSpPr txBox="1"/>
            <p:nvPr/>
          </p:nvSpPr>
          <p:spPr>
            <a:xfrm>
              <a:off x="752094" y="511175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日常工作，还要看依据、程序与结果，接受实际监督。</a:t>
              </a:r>
            </a:p>
          </p:txBody>
        </p:sp>
        <p:sp>
          <p:nvSpPr>
            <p:cNvPr id="17" name="TextBox 17"/>
            <p:cNvSpPr txBox="1"/>
            <p:nvPr/>
          </p:nvSpPr>
          <p:spPr>
            <a:xfrm>
              <a:off x="755142" y="5664200"/>
              <a:ext cx="910056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教材三条件：政治保证、思想基础、宪法自身的完善。党的领导提供根本政治保证；规范也要稳定而能回应发展。</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53961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宪法第27条第三款；国家宪法日及宪法宣誓有关决定；五次修正是稳定与发展的背景。</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07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4727448" cy="918464"/>
            <a:chOff x="592836" y="438150"/>
            <a:chExt cx="4727448"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先说出你的判断</a:t>
              </a:r>
            </a:p>
          </p:txBody>
        </p:sp>
        <p:sp>
          <p:nvSpPr>
            <p:cNvPr id="3" name="TextBox 3"/>
            <p:cNvSpPr txBox="1"/>
            <p:nvPr/>
          </p:nvSpPr>
          <p:spPr>
            <a:xfrm>
              <a:off x="592836" y="71120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先想一想，再说说理由</a:t>
              </a:r>
            </a:p>
          </p:txBody>
        </p:sp>
      </p:grpSp>
      <p:grpSp>
        <p:nvGrpSpPr>
          <p:cNvPr id="7" name="question"/>
          <p:cNvGrpSpPr/>
          <p:nvPr/>
        </p:nvGrpSpPr>
        <p:grpSpPr>
          <a:xfrm>
            <a:off x="973836" y="2355850"/>
            <a:ext cx="6182563" cy="1286764"/>
            <a:chOff x="973836" y="2355850"/>
            <a:chExt cx="6182563" cy="1286764"/>
          </a:xfrm>
        </p:grpSpPr>
        <p:sp>
          <p:nvSpPr>
            <p:cNvPr id="5" name="TextBox 5"/>
            <p:cNvSpPr txBox="1"/>
            <p:nvPr/>
          </p:nvSpPr>
          <p:spPr>
            <a:xfrm>
              <a:off x="973836" y="2355850"/>
              <a:ext cx="6182563"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“宪法实施”与一般法律实施，</a:t>
              </a:r>
            </a:p>
          </p:txBody>
        </p:sp>
        <p:sp>
          <p:nvSpPr>
            <p:cNvPr id="6" name="TextBox 6"/>
            <p:cNvSpPr txBox="1"/>
            <p:nvPr/>
          </p:nvSpPr>
          <p:spPr>
            <a:xfrm>
              <a:off x="973836" y="2997200"/>
              <a:ext cx="425805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最大的不同在哪里？</a:t>
              </a:r>
            </a:p>
          </p:txBody>
        </p:sp>
      </p:grpSp>
      <p:grpSp>
        <p:nvGrpSpPr>
          <p:cNvPr id="11" name="p08-reveal-1"/>
          <p:cNvGrpSpPr/>
          <p:nvPr/>
        </p:nvGrpSpPr>
        <p:grpSpPr>
          <a:xfrm>
            <a:off x="978408" y="4641850"/>
            <a:ext cx="7372350" cy="1518031"/>
            <a:chOff x="978408" y="4641850"/>
            <a:chExt cx="7372350" cy="1518031"/>
          </a:xfrm>
        </p:grpSpPr>
        <p:sp>
          <p:nvSpPr>
            <p:cNvPr id="8" name="TextBox 8"/>
            <p:cNvSpPr txBox="1"/>
            <p:nvPr/>
          </p:nvSpPr>
          <p:spPr>
            <a:xfrm>
              <a:off x="978408" y="4641850"/>
              <a:ext cx="4596079"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参与的人更多 · 能做的事不相同</a:t>
              </a:r>
            </a:p>
          </p:txBody>
        </p:sp>
        <p:sp>
          <p:nvSpPr>
            <p:cNvPr id="9" name="TextBox 9"/>
            <p:cNvSpPr txBox="1"/>
            <p:nvPr/>
          </p:nvSpPr>
          <p:spPr>
            <a:xfrm>
              <a:off x="980694" y="5302250"/>
              <a:ext cx="474497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法律效力，与实际落实，不是同一件事。</a:t>
              </a:r>
            </a:p>
          </p:txBody>
        </p:sp>
        <p:sp>
          <p:nvSpPr>
            <p:cNvPr id="10" name="TextBox 10"/>
            <p:cNvSpPr txBox="1"/>
            <p:nvPr/>
          </p:nvSpPr>
          <p:spPr>
            <a:xfrm>
              <a:off x="980694" y="57785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本讲继续回答：由谁承担、用什么方式做，出了问题谁来判断。</a:t>
              </a:r>
            </a:p>
          </p:txBody>
        </p:sp>
      </p:grpSp>
      <p:sp>
        <p:nvSpPr>
          <p:cNvPr id="12" name="TextBox 12"/>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08 / 52</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196840" cy="918464"/>
            <a:chOff x="592836" y="438150"/>
            <a:chExt cx="5196840"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受教育权的三文本对读</a:t>
              </a:r>
            </a:p>
          </p:txBody>
        </p:sp>
        <p:sp>
          <p:nvSpPr>
            <p:cNvPr id="3" name="TextBox 3"/>
            <p:cNvSpPr txBox="1"/>
            <p:nvPr/>
          </p:nvSpPr>
          <p:spPr>
            <a:xfrm>
              <a:off x="592836" y="71120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三处文字，承担三层工作</a:t>
              </a:r>
            </a:p>
          </p:txBody>
        </p:sp>
      </p:grpSp>
      <p:grpSp>
        <p:nvGrpSpPr>
          <p:cNvPr id="14" name="legal-texts"/>
          <p:cNvGrpSpPr/>
          <p:nvPr/>
        </p:nvGrpSpPr>
        <p:grpSpPr>
          <a:xfrm>
            <a:off x="752094" y="1892300"/>
            <a:ext cx="7344156" cy="3864483"/>
            <a:chOff x="752094" y="1892300"/>
            <a:chExt cx="7344156" cy="3864483"/>
          </a:xfrm>
        </p:grpSpPr>
        <p:sp>
          <p:nvSpPr>
            <p:cNvPr id="5" name="TextBox 5"/>
            <p:cNvSpPr txBox="1"/>
            <p:nvPr/>
          </p:nvSpPr>
          <p:spPr>
            <a:xfrm>
              <a:off x="755142" y="1892300"/>
              <a:ext cx="197647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宪法第46条第1款 · 原文</a:t>
              </a:r>
            </a:p>
          </p:txBody>
        </p:sp>
        <p:sp>
          <p:nvSpPr>
            <p:cNvPr id="6" name="TextBox 6"/>
            <p:cNvSpPr txBox="1"/>
            <p:nvPr/>
          </p:nvSpPr>
          <p:spPr>
            <a:xfrm>
              <a:off x="752094" y="225425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中华人民共和国公民有受教育的权利和义务。</a:t>
              </a:r>
            </a:p>
          </p:txBody>
        </p:sp>
        <p:sp>
          <p:nvSpPr>
            <p:cNvPr id="7" name="Line 7"/>
            <p:cNvSpPr/>
            <p:nvPr/>
          </p:nvSpPr>
          <p:spPr>
            <a:xfrm>
              <a:off x="762000" y="2819400"/>
              <a:ext cx="7334250" cy="9525"/>
            </a:xfrm>
            <a:custGeom>
              <a:avLst/>
              <a:gdLst/>
              <a:ahLst/>
              <a:cxnLst/>
              <a:rect l="l" t="t" r="r" b="b"/>
              <a:pathLst>
                <a:path w="7334250" h="9525">
                  <a:moveTo>
                    <a:pt x="0" y="0"/>
                  </a:moveTo>
                  <a:lnTo>
                    <a:pt x="7334250" y="0"/>
                  </a:lnTo>
                </a:path>
              </a:pathLst>
            </a:custGeom>
            <a:noFill/>
            <a:ln w="9525">
              <a:solidFill>
                <a:srgbClr val="C7BFB1"/>
              </a:solidFill>
            </a:ln>
          </p:spPr>
        </p:sp>
        <p:sp>
          <p:nvSpPr>
            <p:cNvPr id="8" name="TextBox 8"/>
            <p:cNvSpPr txBox="1"/>
            <p:nvPr/>
          </p:nvSpPr>
          <p:spPr>
            <a:xfrm>
              <a:off x="755142" y="3092450"/>
              <a:ext cx="232177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教育法第1条 · 制定依据节选</a:t>
              </a:r>
            </a:p>
          </p:txBody>
        </p:sp>
        <p:sp>
          <p:nvSpPr>
            <p:cNvPr id="9" name="TextBox 9"/>
            <p:cNvSpPr txBox="1"/>
            <p:nvPr/>
          </p:nvSpPr>
          <p:spPr>
            <a:xfrm>
              <a:off x="752094" y="34544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根据宪法，制定本法。</a:t>
              </a:r>
            </a:p>
          </p:txBody>
        </p:sp>
        <p:sp>
          <p:nvSpPr>
            <p:cNvPr id="10" name="Line 10"/>
            <p:cNvSpPr/>
            <p:nvPr/>
          </p:nvSpPr>
          <p:spPr>
            <a:xfrm>
              <a:off x="762000" y="4019550"/>
              <a:ext cx="7334250" cy="9525"/>
            </a:xfrm>
            <a:custGeom>
              <a:avLst/>
              <a:gdLst/>
              <a:ahLst/>
              <a:cxnLst/>
              <a:rect l="l" t="t" r="r" b="b"/>
              <a:pathLst>
                <a:path w="7334250" h="9525">
                  <a:moveTo>
                    <a:pt x="0" y="0"/>
                  </a:moveTo>
                  <a:lnTo>
                    <a:pt x="7334250" y="0"/>
                  </a:lnTo>
                </a:path>
              </a:pathLst>
            </a:custGeom>
            <a:noFill/>
            <a:ln w="9525">
              <a:solidFill>
                <a:srgbClr val="C7BFB1"/>
              </a:solidFill>
            </a:ln>
          </p:spPr>
        </p:sp>
        <p:sp>
          <p:nvSpPr>
            <p:cNvPr id="11" name="TextBox 11"/>
            <p:cNvSpPr txBox="1"/>
            <p:nvPr/>
          </p:nvSpPr>
          <p:spPr>
            <a:xfrm>
              <a:off x="755142" y="4273550"/>
              <a:ext cx="205825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教育法第9条第2款 · 原文</a:t>
              </a:r>
            </a:p>
          </p:txBody>
        </p:sp>
        <p:sp>
          <p:nvSpPr>
            <p:cNvPr id="12" name="TextBox 12"/>
            <p:cNvSpPr txBox="1"/>
            <p:nvPr/>
          </p:nvSpPr>
          <p:spPr>
            <a:xfrm>
              <a:off x="752094" y="4597400"/>
              <a:ext cx="52204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公民不分民族、种族、性别、职业、财产状况、</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宗教信仰等，依法享有平等的受教育机会。</a:t>
              </a:r>
            </a:p>
          </p:txBody>
        </p:sp>
        <p:sp>
          <p:nvSpPr>
            <p:cNvPr id="13" name="TextBox 13"/>
            <p:cNvSpPr txBox="1"/>
            <p:nvPr/>
          </p:nvSpPr>
          <p:spPr>
            <a:xfrm>
              <a:off x="755142" y="5492750"/>
              <a:ext cx="669255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第9条第1款也重申受教育权利义务；第46条第2款规定培养青年少年儿童全面发展。</a:t>
              </a:r>
            </a:p>
          </p:txBody>
        </p:sp>
      </p:grpSp>
      <p:grpSp>
        <p:nvGrpSpPr>
          <p:cNvPr id="18" name="p09-reveal-1"/>
          <p:cNvGrpSpPr/>
          <p:nvPr/>
        </p:nvGrpSpPr>
        <p:grpSpPr>
          <a:xfrm>
            <a:off x="8753094" y="2254250"/>
            <a:ext cx="1594866" cy="2953131"/>
            <a:chOff x="8753094" y="2254250"/>
            <a:chExt cx="1594866" cy="2953131"/>
          </a:xfrm>
        </p:grpSpPr>
        <p:sp>
          <p:nvSpPr>
            <p:cNvPr id="15" name="TextBox 15"/>
            <p:cNvSpPr txBox="1"/>
            <p:nvPr/>
          </p:nvSpPr>
          <p:spPr>
            <a:xfrm>
              <a:off x="8753094" y="225425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确认基本权利</a:t>
              </a:r>
            </a:p>
          </p:txBody>
        </p:sp>
        <p:sp>
          <p:nvSpPr>
            <p:cNvPr id="16" name="TextBox 16"/>
            <p:cNvSpPr txBox="1"/>
            <p:nvPr/>
          </p:nvSpPr>
          <p:spPr>
            <a:xfrm>
              <a:off x="8753094" y="34544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交代制定依据</a:t>
              </a:r>
            </a:p>
          </p:txBody>
        </p:sp>
        <p:sp>
          <p:nvSpPr>
            <p:cNvPr id="17" name="TextBox 17"/>
            <p:cNvSpPr txBox="1"/>
            <p:nvPr/>
          </p:nvSpPr>
          <p:spPr>
            <a:xfrm>
              <a:off x="8753094" y="48260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明确平等机会</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489434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现行宪法、教育法；第9条不独自包办全法的学校设置、招生程序及经费安排。</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09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普通法律实际增加了什么</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从法律要求，走到学生的学习生活</a:t>
              </a:r>
            </a:p>
          </p:txBody>
        </p:sp>
      </p:grpSp>
      <p:grpSp>
        <p:nvGrpSpPr>
          <p:cNvPr id="14" name="education-jobs"/>
          <p:cNvGrpSpPr/>
          <p:nvPr/>
        </p:nvGrpSpPr>
        <p:grpSpPr>
          <a:xfrm>
            <a:off x="749808" y="1955800"/>
            <a:ext cx="10381869" cy="2203831"/>
            <a:chOff x="749808" y="1955800"/>
            <a:chExt cx="10381869" cy="2203831"/>
          </a:xfrm>
        </p:grpSpPr>
        <p:sp>
          <p:nvSpPr>
            <p:cNvPr id="5" name="TextBox 5"/>
            <p:cNvSpPr txBox="1"/>
            <p:nvPr/>
          </p:nvSpPr>
          <p:spPr>
            <a:xfrm>
              <a:off x="749808" y="19558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a:t>
              </a:r>
            </a:p>
          </p:txBody>
        </p:sp>
        <p:sp>
          <p:nvSpPr>
            <p:cNvPr id="6" name="TextBox 6"/>
            <p:cNvSpPr txBox="1"/>
            <p:nvPr/>
          </p:nvSpPr>
          <p:spPr>
            <a:xfrm>
              <a:off x="752094" y="24638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制定发展规划、举办学校</a:t>
              </a:r>
            </a:p>
          </p:txBody>
        </p:sp>
        <p:sp>
          <p:nvSpPr>
            <p:cNvPr id="7" name="TextBox 7"/>
            <p:cNvSpPr txBox="1"/>
            <p:nvPr/>
          </p:nvSpPr>
          <p:spPr>
            <a:xfrm>
              <a:off x="749808" y="31178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教育行政部门</a:t>
              </a:r>
            </a:p>
          </p:txBody>
        </p:sp>
        <p:sp>
          <p:nvSpPr>
            <p:cNvPr id="8" name="TextBox 8"/>
            <p:cNvSpPr txBox="1"/>
            <p:nvPr/>
          </p:nvSpPr>
          <p:spPr>
            <a:xfrm>
              <a:off x="752094" y="36258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依法主管教育工作</a:t>
              </a:r>
            </a:p>
          </p:txBody>
        </p:sp>
        <p:sp>
          <p:nvSpPr>
            <p:cNvPr id="9" name="Freeform 9"/>
            <p:cNvSpPr/>
            <p:nvPr/>
          </p:nvSpPr>
          <p:spPr>
            <a:xfrm>
              <a:off x="4229100" y="2762250"/>
              <a:ext cx="1257300" cy="152400"/>
            </a:xfrm>
            <a:custGeom>
              <a:avLst/>
              <a:gdLst/>
              <a:ahLst/>
              <a:cxnLst/>
              <a:rect l="l" t="t" r="r" b="b"/>
              <a:pathLst>
                <a:path w="1257300" h="152400">
                  <a:moveTo>
                    <a:pt x="0" y="76200"/>
                  </a:moveTo>
                  <a:lnTo>
                    <a:pt x="1238250" y="76200"/>
                  </a:lnTo>
                  <a:moveTo>
                    <a:pt x="1143000" y="0"/>
                  </a:moveTo>
                  <a:lnTo>
                    <a:pt x="1257300" y="76200"/>
                  </a:lnTo>
                  <a:lnTo>
                    <a:pt x="1143000" y="152400"/>
                  </a:lnTo>
                </a:path>
              </a:pathLst>
            </a:custGeom>
            <a:noFill/>
            <a:ln w="19050">
              <a:solidFill>
                <a:schemeClr val="accent3"/>
              </a:solidFill>
            </a:ln>
          </p:spPr>
        </p:sp>
        <p:sp>
          <p:nvSpPr>
            <p:cNvPr id="10" name="TextBox 10"/>
            <p:cNvSpPr txBox="1"/>
            <p:nvPr/>
          </p:nvSpPr>
          <p:spPr>
            <a:xfrm>
              <a:off x="6121908" y="19558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学校</a:t>
              </a:r>
            </a:p>
          </p:txBody>
        </p:sp>
        <p:sp>
          <p:nvSpPr>
            <p:cNvPr id="11" name="TextBox 11"/>
            <p:cNvSpPr txBox="1"/>
            <p:nvPr/>
          </p:nvSpPr>
          <p:spPr>
            <a:xfrm>
              <a:off x="6124194" y="25209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组织教学、管理学籍等权限</a:t>
              </a:r>
            </a:p>
          </p:txBody>
        </p:sp>
        <p:sp>
          <p:nvSpPr>
            <p:cNvPr id="12" name="TextBox 12"/>
            <p:cNvSpPr txBox="1"/>
            <p:nvPr/>
          </p:nvSpPr>
          <p:spPr>
            <a:xfrm>
              <a:off x="6124194" y="3035300"/>
              <a:ext cx="474497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也须执行标准、保证质量、维护学生权益</a:t>
              </a:r>
            </a:p>
          </p:txBody>
        </p:sp>
        <p:sp>
          <p:nvSpPr>
            <p:cNvPr id="13" name="TextBox 13"/>
            <p:cNvSpPr txBox="1"/>
            <p:nvPr/>
          </p:nvSpPr>
          <p:spPr>
            <a:xfrm>
              <a:off x="6124194" y="3778250"/>
              <a:ext cx="500748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学生：参加教学、使用资源、获得公正评价</a:t>
              </a:r>
            </a:p>
          </p:txBody>
        </p:sp>
      </p:grpSp>
      <p:grpSp>
        <p:nvGrpSpPr>
          <p:cNvPr id="17" name="p10-reveal-1"/>
          <p:cNvGrpSpPr/>
          <p:nvPr/>
        </p:nvGrpSpPr>
        <p:grpSpPr>
          <a:xfrm>
            <a:off x="752094" y="5111750"/>
            <a:ext cx="6320028" cy="876681"/>
            <a:chOff x="752094" y="5111750"/>
            <a:chExt cx="6320028" cy="876681"/>
          </a:xfrm>
        </p:grpSpPr>
        <p:sp>
          <p:nvSpPr>
            <p:cNvPr id="15" name="TextBox 15"/>
            <p:cNvSpPr txBox="1"/>
            <p:nvPr/>
          </p:nvSpPr>
          <p:spPr>
            <a:xfrm>
              <a:off x="752094" y="511175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对学校处分不服，学生可以依法向有关部门申诉。</a:t>
              </a:r>
            </a:p>
          </p:txBody>
        </p:sp>
        <p:sp>
          <p:nvSpPr>
            <p:cNvPr id="16" name="TextBox 16"/>
            <p:cNvSpPr txBox="1"/>
            <p:nvPr/>
          </p:nvSpPr>
          <p:spPr>
            <a:xfrm>
              <a:off x="752094" y="560705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制定法律是一项实施工作；持续依法办这些事，也是。</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59403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教育法第15、26、29、30、43条；主体与工作分别辨认，不是同一个部门包办全部事项。</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10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平等受教育机会</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平等机会，可以需要不同帮助</a:t>
              </a:r>
            </a:p>
          </p:txBody>
        </p:sp>
      </p:grpSp>
      <p:grpSp>
        <p:nvGrpSpPr>
          <p:cNvPr id="10" name="aid-conditions"/>
          <p:cNvGrpSpPr/>
          <p:nvPr/>
        </p:nvGrpSpPr>
        <p:grpSpPr>
          <a:xfrm>
            <a:off x="749808" y="2298700"/>
            <a:ext cx="9036558" cy="1320800"/>
            <a:chOff x="749808" y="2298700"/>
            <a:chExt cx="9036558" cy="1320800"/>
          </a:xfrm>
        </p:grpSpPr>
        <p:sp>
          <p:nvSpPr>
            <p:cNvPr id="5" name="TextBox 5"/>
            <p:cNvSpPr txBox="1"/>
            <p:nvPr/>
          </p:nvSpPr>
          <p:spPr>
            <a:xfrm>
              <a:off x="749808" y="22987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符合入学条件</a:t>
              </a:r>
            </a:p>
          </p:txBody>
        </p:sp>
        <p:sp>
          <p:nvSpPr>
            <p:cNvPr id="6" name="TextBox 6"/>
            <p:cNvSpPr txBox="1"/>
            <p:nvPr/>
          </p:nvSpPr>
          <p:spPr>
            <a:xfrm>
              <a:off x="749808" y="30416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家庭经济困难</a:t>
              </a:r>
            </a:p>
          </p:txBody>
        </p:sp>
        <p:sp>
          <p:nvSpPr>
            <p:cNvPr id="7" name="Freeform 7"/>
            <p:cNvSpPr/>
            <p:nvPr/>
          </p:nvSpPr>
          <p:spPr>
            <a:xfrm>
              <a:off x="3619500" y="2305050"/>
              <a:ext cx="2590800" cy="1314450"/>
            </a:xfrm>
            <a:custGeom>
              <a:avLst/>
              <a:gdLst/>
              <a:ahLst/>
              <a:cxnLst/>
              <a:rect l="l" t="t" r="r" b="b"/>
              <a:pathLst>
                <a:path w="2590800" h="1314450">
                  <a:moveTo>
                    <a:pt x="0" y="0"/>
                  </a:moveTo>
                  <a:lnTo>
                    <a:pt x="0" y="1314450"/>
                  </a:lnTo>
                  <a:moveTo>
                    <a:pt x="0" y="647700"/>
                  </a:moveTo>
                  <a:lnTo>
                    <a:pt x="2571750" y="647700"/>
                  </a:lnTo>
                  <a:moveTo>
                    <a:pt x="2476500" y="571500"/>
                  </a:moveTo>
                  <a:lnTo>
                    <a:pt x="2590800" y="647700"/>
                  </a:lnTo>
                  <a:lnTo>
                    <a:pt x="2476500" y="723900"/>
                  </a:lnTo>
                </a:path>
              </a:pathLst>
            </a:custGeom>
            <a:noFill/>
            <a:ln w="19050">
              <a:solidFill>
                <a:schemeClr val="accent3"/>
              </a:solidFill>
            </a:ln>
          </p:spPr>
        </p:sp>
        <p:sp>
          <p:nvSpPr>
            <p:cNvPr id="8" name="TextBox 8"/>
            <p:cNvSpPr txBox="1"/>
            <p:nvPr/>
          </p:nvSpPr>
          <p:spPr>
            <a:xfrm>
              <a:off x="4012692" y="2559050"/>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两项条件同时保留</a:t>
              </a:r>
            </a:p>
          </p:txBody>
        </p:sp>
        <p:sp>
          <p:nvSpPr>
            <p:cNvPr id="9" name="TextBox 9"/>
            <p:cNvSpPr txBox="1"/>
            <p:nvPr/>
          </p:nvSpPr>
          <p:spPr>
            <a:xfrm>
              <a:off x="6936486" y="2654300"/>
              <a:ext cx="284988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依法提供资助</a:t>
              </a:r>
            </a:p>
          </p:txBody>
        </p:sp>
      </p:grpSp>
      <p:grpSp>
        <p:nvGrpSpPr>
          <p:cNvPr id="13" name="p11-reveal-1"/>
          <p:cNvGrpSpPr/>
          <p:nvPr/>
        </p:nvGrpSpPr>
        <p:grpSpPr>
          <a:xfrm>
            <a:off x="752094" y="5073650"/>
            <a:ext cx="7632573" cy="876681"/>
            <a:chOff x="752094" y="5073650"/>
            <a:chExt cx="7632573" cy="876681"/>
          </a:xfrm>
        </p:grpSpPr>
        <p:sp>
          <p:nvSpPr>
            <p:cNvPr id="11" name="TextBox 11"/>
            <p:cNvSpPr txBox="1"/>
            <p:nvPr/>
          </p:nvSpPr>
          <p:spPr>
            <a:xfrm>
              <a:off x="752094" y="5073650"/>
              <a:ext cx="474497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平等，不要求人人拿到完全相同的安排。</a:t>
              </a:r>
            </a:p>
          </p:txBody>
        </p:sp>
        <p:sp>
          <p:nvSpPr>
            <p:cNvPr id="12" name="TextBox 12"/>
            <p:cNvSpPr txBox="1"/>
            <p:nvPr/>
          </p:nvSpPr>
          <p:spPr>
            <a:xfrm>
              <a:off x="752094" y="556895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也不取消依法设置的入学条件；是否允许区别，须看依据与理由。</a:t>
              </a:r>
            </a:p>
          </p:txBody>
        </p:sp>
      </p:grpSp>
      <p:grpSp>
        <p:nvGrpSpPr>
          <p:cNvPr id="16" name="footer"/>
          <p:cNvGrpSpPr/>
          <p:nvPr/>
        </p:nvGrpSpPr>
        <p:grpSpPr>
          <a:xfrm>
            <a:off x="604266" y="6464300"/>
            <a:ext cx="10828344" cy="205359"/>
            <a:chOff x="604266" y="6464300"/>
            <a:chExt cx="10828344" cy="205359"/>
          </a:xfrm>
        </p:grpSpPr>
        <p:sp>
          <p:nvSpPr>
            <p:cNvPr id="14" name="TextBox 14"/>
            <p:cNvSpPr txBox="1"/>
            <p:nvPr/>
          </p:nvSpPr>
          <p:spPr>
            <a:xfrm>
              <a:off x="604266" y="6464300"/>
              <a:ext cx="580605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教育法关于入学与资助的规定；示意说明条件联系，不表示资助份额、概率或具体申请步骤。</a:t>
              </a:r>
            </a:p>
          </p:txBody>
        </p:sp>
        <p:sp>
          <p:nvSpPr>
            <p:cNvPr id="15" name="TextBox 15"/>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11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独立思考约1—2分钟</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各用一句话，说出三条规定的工作</a:t>
              </a:r>
            </a:p>
          </p:txBody>
        </p:sp>
      </p:grpSp>
      <p:grpSp>
        <p:nvGrpSpPr>
          <p:cNvPr id="12" name="exercise-material"/>
          <p:cNvGrpSpPr/>
          <p:nvPr/>
        </p:nvGrpSpPr>
        <p:grpSpPr>
          <a:xfrm>
            <a:off x="752094" y="1911350"/>
            <a:ext cx="5269992" cy="3788283"/>
            <a:chOff x="752094" y="1911350"/>
            <a:chExt cx="5269992" cy="3788283"/>
          </a:xfrm>
        </p:grpSpPr>
        <p:sp>
          <p:nvSpPr>
            <p:cNvPr id="5" name="TextBox 5"/>
            <p:cNvSpPr txBox="1"/>
            <p:nvPr/>
          </p:nvSpPr>
          <p:spPr>
            <a:xfrm>
              <a:off x="755142" y="1911350"/>
              <a:ext cx="140400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宪法第46条第1款</a:t>
              </a:r>
            </a:p>
          </p:txBody>
        </p:sp>
        <p:sp>
          <p:nvSpPr>
            <p:cNvPr id="6" name="TextBox 6"/>
            <p:cNvSpPr txBox="1"/>
            <p:nvPr/>
          </p:nvSpPr>
          <p:spPr>
            <a:xfrm>
              <a:off x="752094" y="227330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中华人民共和国公民有受教育的权利和义务。</a:t>
              </a:r>
            </a:p>
          </p:txBody>
        </p:sp>
        <p:sp>
          <p:nvSpPr>
            <p:cNvPr id="7" name="TextBox 7"/>
            <p:cNvSpPr txBox="1"/>
            <p:nvPr/>
          </p:nvSpPr>
          <p:spPr>
            <a:xfrm>
              <a:off x="755142" y="3016250"/>
              <a:ext cx="159482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教育法第1条 · 节选</a:t>
              </a:r>
            </a:p>
          </p:txBody>
        </p:sp>
        <p:sp>
          <p:nvSpPr>
            <p:cNvPr id="8" name="TextBox 8"/>
            <p:cNvSpPr txBox="1"/>
            <p:nvPr/>
          </p:nvSpPr>
          <p:spPr>
            <a:xfrm>
              <a:off x="752094" y="33782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根据宪法，制定本法。</a:t>
              </a:r>
            </a:p>
          </p:txBody>
        </p:sp>
        <p:sp>
          <p:nvSpPr>
            <p:cNvPr id="9" name="TextBox 9"/>
            <p:cNvSpPr txBox="1"/>
            <p:nvPr/>
          </p:nvSpPr>
          <p:spPr>
            <a:xfrm>
              <a:off x="755142" y="4121150"/>
              <a:ext cx="14857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教育法第9条第2款</a:t>
              </a:r>
            </a:p>
          </p:txBody>
        </p:sp>
        <p:sp>
          <p:nvSpPr>
            <p:cNvPr id="10" name="TextBox 10"/>
            <p:cNvSpPr txBox="1"/>
            <p:nvPr/>
          </p:nvSpPr>
          <p:spPr>
            <a:xfrm>
              <a:off x="752094" y="4445000"/>
              <a:ext cx="52204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公民不分民族、种族、性别、职业、财产状况、</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宗教信仰等，依法享有平等的受教育机会。</a:t>
              </a:r>
            </a:p>
          </p:txBody>
        </p:sp>
        <p:sp>
          <p:nvSpPr>
            <p:cNvPr id="11" name="TextBox 11"/>
            <p:cNvSpPr txBox="1"/>
            <p:nvPr/>
          </p:nvSpPr>
          <p:spPr>
            <a:xfrm>
              <a:off x="755142" y="543560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不抄全文；每条各写一句它承担的工作。</a:t>
              </a:r>
            </a:p>
          </p:txBody>
        </p:sp>
      </p:grpSp>
      <p:grpSp>
        <p:nvGrpSpPr>
          <p:cNvPr id="16" name="p12-reveal-1"/>
          <p:cNvGrpSpPr/>
          <p:nvPr/>
        </p:nvGrpSpPr>
        <p:grpSpPr>
          <a:xfrm>
            <a:off x="8753094" y="2273300"/>
            <a:ext cx="1594866" cy="2800731"/>
            <a:chOff x="8753094" y="2273300"/>
            <a:chExt cx="1594866" cy="2800731"/>
          </a:xfrm>
        </p:grpSpPr>
        <p:sp>
          <p:nvSpPr>
            <p:cNvPr id="13" name="TextBox 13"/>
            <p:cNvSpPr txBox="1"/>
            <p:nvPr/>
          </p:nvSpPr>
          <p:spPr>
            <a:xfrm>
              <a:off x="8753094" y="22733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确认基本权利</a:t>
              </a:r>
            </a:p>
          </p:txBody>
        </p:sp>
        <p:sp>
          <p:nvSpPr>
            <p:cNvPr id="14" name="TextBox 14"/>
            <p:cNvSpPr txBox="1"/>
            <p:nvPr/>
          </p:nvSpPr>
          <p:spPr>
            <a:xfrm>
              <a:off x="8753094" y="33782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交代制定依据</a:t>
              </a:r>
            </a:p>
          </p:txBody>
        </p:sp>
        <p:sp>
          <p:nvSpPr>
            <p:cNvPr id="15" name="TextBox 15"/>
            <p:cNvSpPr txBox="1"/>
            <p:nvPr/>
          </p:nvSpPr>
          <p:spPr>
            <a:xfrm>
              <a:off x="8753094" y="469265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明确平等机会</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32894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现行宪法、教育法原文对读；第9条不独自规定教育制度的全部程序。</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12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规范要求与现实证据</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写出要求，不等于效果已经到位</a:t>
              </a:r>
            </a:p>
          </p:txBody>
        </p:sp>
      </p:grpSp>
      <p:grpSp>
        <p:nvGrpSpPr>
          <p:cNvPr id="12" name="norm-and-reality"/>
          <p:cNvGrpSpPr/>
          <p:nvPr/>
        </p:nvGrpSpPr>
        <p:grpSpPr>
          <a:xfrm>
            <a:off x="749046" y="2076450"/>
            <a:ext cx="9793986" cy="2000250"/>
            <a:chOff x="749046" y="2076450"/>
            <a:chExt cx="9793986" cy="2000250"/>
          </a:xfrm>
        </p:grpSpPr>
        <p:sp>
          <p:nvSpPr>
            <p:cNvPr id="5" name="TextBox 5"/>
            <p:cNvSpPr txBox="1"/>
            <p:nvPr/>
          </p:nvSpPr>
          <p:spPr>
            <a:xfrm>
              <a:off x="749046" y="22415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规范确立了标准</a:t>
              </a:r>
            </a:p>
          </p:txBody>
        </p:sp>
        <p:sp>
          <p:nvSpPr>
            <p:cNvPr id="6" name="TextBox 6"/>
            <p:cNvSpPr txBox="1"/>
            <p:nvPr/>
          </p:nvSpPr>
          <p:spPr>
            <a:xfrm>
              <a:off x="752094" y="29019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依法享有平等的受教育机会</a:t>
              </a:r>
            </a:p>
          </p:txBody>
        </p:sp>
        <p:sp>
          <p:nvSpPr>
            <p:cNvPr id="7" name="TextBox 7"/>
            <p:cNvSpPr txBox="1"/>
            <p:nvPr/>
          </p:nvSpPr>
          <p:spPr>
            <a:xfrm>
              <a:off x="752094" y="34925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可以据此要求、检查和纠正</a:t>
              </a:r>
            </a:p>
          </p:txBody>
        </p:sp>
        <p:sp>
          <p:nvSpPr>
            <p:cNvPr id="8" name="Line 8"/>
            <p:cNvSpPr/>
            <p:nvPr/>
          </p:nvSpPr>
          <p:spPr>
            <a:xfrm>
              <a:off x="5943600" y="2076450"/>
              <a:ext cx="9525" cy="2000250"/>
            </a:xfrm>
            <a:custGeom>
              <a:avLst/>
              <a:gdLst/>
              <a:ahLst/>
              <a:cxnLst/>
              <a:rect l="l" t="t" r="r" b="b"/>
              <a:pathLst>
                <a:path w="9525" h="2000250">
                  <a:moveTo>
                    <a:pt x="0" y="0"/>
                  </a:moveTo>
                  <a:lnTo>
                    <a:pt x="0" y="2000250"/>
                  </a:lnTo>
                </a:path>
              </a:pathLst>
            </a:custGeom>
            <a:noFill/>
            <a:ln w="9525">
              <a:solidFill>
                <a:srgbClr val="C7BFB1"/>
              </a:solidFill>
            </a:ln>
          </p:spPr>
        </p:sp>
        <p:sp>
          <p:nvSpPr>
            <p:cNvPr id="9" name="TextBox 9"/>
            <p:cNvSpPr txBox="1"/>
            <p:nvPr/>
          </p:nvSpPr>
          <p:spPr>
            <a:xfrm>
              <a:off x="6845046" y="22415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现实效果另需材料</a:t>
              </a:r>
            </a:p>
          </p:txBody>
        </p:sp>
        <p:sp>
          <p:nvSpPr>
            <p:cNvPr id="10" name="TextBox 10"/>
            <p:cNvSpPr txBox="1"/>
            <p:nvPr/>
          </p:nvSpPr>
          <p:spPr>
            <a:xfrm>
              <a:off x="6848094" y="29019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每一地区、学校、录取是否实现</a:t>
              </a:r>
            </a:p>
          </p:txBody>
        </p:sp>
        <p:sp>
          <p:nvSpPr>
            <p:cNvPr id="11" name="TextBox 11"/>
            <p:cNvSpPr txBox="1"/>
            <p:nvPr/>
          </p:nvSpPr>
          <p:spPr>
            <a:xfrm>
              <a:off x="6848094" y="34925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不能由条文存在直接证明</a:t>
              </a:r>
            </a:p>
          </p:txBody>
        </p:sp>
      </p:grpSp>
      <p:grpSp>
        <p:nvGrpSpPr>
          <p:cNvPr id="16" name="p13-reveal-1"/>
          <p:cNvGrpSpPr/>
          <p:nvPr/>
        </p:nvGrpSpPr>
        <p:grpSpPr>
          <a:xfrm>
            <a:off x="752094" y="5054600"/>
            <a:ext cx="8945118" cy="1216533"/>
            <a:chOff x="752094" y="5054600"/>
            <a:chExt cx="8945118" cy="1216533"/>
          </a:xfrm>
        </p:grpSpPr>
        <p:sp>
          <p:nvSpPr>
            <p:cNvPr id="13" name="TextBox 13"/>
            <p:cNvSpPr txBox="1"/>
            <p:nvPr/>
          </p:nvSpPr>
          <p:spPr>
            <a:xfrm>
              <a:off x="752094" y="5054600"/>
              <a:ext cx="763257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有差距，不等于标准没有意义；有条文，也不等于目标已经达到。</a:t>
              </a:r>
            </a:p>
          </p:txBody>
        </p:sp>
        <p:sp>
          <p:nvSpPr>
            <p:cNvPr id="14" name="TextBox 14"/>
            <p:cNvSpPr txBox="1"/>
            <p:nvPr/>
          </p:nvSpPr>
          <p:spPr>
            <a:xfrm>
              <a:off x="752094" y="554990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实施也不全靠新立法：人大依法选举、决定任命等组织活动，同样落实宪法。</a:t>
              </a:r>
            </a:p>
          </p:txBody>
        </p:sp>
        <p:sp>
          <p:nvSpPr>
            <p:cNvPr id="15" name="TextBox 15"/>
            <p:cNvSpPr txBox="1"/>
            <p:nvPr/>
          </p:nvSpPr>
          <p:spPr>
            <a:xfrm>
              <a:off x="755142" y="6007100"/>
              <a:ext cx="473887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国家教育任务与个人权利，由具体制度和持续工作接起来。</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94741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联系第四至七讲：国家任务、个人权利与机关职责相衔接；制定依据不能证明过去的现实效果。</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13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013192" cy="918464"/>
            <a:chOff x="592836" y="438150"/>
            <a:chExt cx="8013192"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三种相关而不同的工作</a:t>
              </a:r>
            </a:p>
          </p:txBody>
        </p:sp>
        <p:sp>
          <p:nvSpPr>
            <p:cNvPr id="3" name="TextBox 3"/>
            <p:cNvSpPr txBox="1"/>
            <p:nvPr/>
          </p:nvSpPr>
          <p:spPr>
            <a:xfrm>
              <a:off x="592836" y="71120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解释、修改、监督，问的不是同一件事</a:t>
              </a:r>
            </a:p>
          </p:txBody>
        </p:sp>
      </p:grpSp>
      <p:grpSp>
        <p:nvGrpSpPr>
          <p:cNvPr id="14" name="three-tasks"/>
          <p:cNvGrpSpPr/>
          <p:nvPr/>
        </p:nvGrpSpPr>
        <p:grpSpPr>
          <a:xfrm>
            <a:off x="745236" y="1987550"/>
            <a:ext cx="9837420" cy="2076831"/>
            <a:chOff x="745236" y="1987550"/>
            <a:chExt cx="9837420" cy="2076831"/>
          </a:xfrm>
        </p:grpSpPr>
        <p:sp>
          <p:nvSpPr>
            <p:cNvPr id="5" name="TextBox 5"/>
            <p:cNvSpPr txBox="1"/>
            <p:nvPr/>
          </p:nvSpPr>
          <p:spPr>
            <a:xfrm>
              <a:off x="745236" y="19875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解释</a:t>
              </a:r>
            </a:p>
          </p:txBody>
        </p:sp>
        <p:sp>
          <p:nvSpPr>
            <p:cNvPr id="6" name="TextBox 6"/>
            <p:cNvSpPr txBox="1"/>
            <p:nvPr/>
          </p:nvSpPr>
          <p:spPr>
            <a:xfrm>
              <a:off x="752094" y="27876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这句话是什么意思？</a:t>
              </a:r>
            </a:p>
          </p:txBody>
        </p:sp>
        <p:sp>
          <p:nvSpPr>
            <p:cNvPr id="7" name="TextBox 7"/>
            <p:cNvSpPr txBox="1"/>
            <p:nvPr/>
          </p:nvSpPr>
          <p:spPr>
            <a:xfrm>
              <a:off x="752094" y="332105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说明现行规范的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含义、界限和联系</a:t>
              </a:r>
            </a:p>
          </p:txBody>
        </p:sp>
        <p:sp>
          <p:nvSpPr>
            <p:cNvPr id="8" name="TextBox 8"/>
            <p:cNvSpPr txBox="1"/>
            <p:nvPr/>
          </p:nvSpPr>
          <p:spPr>
            <a:xfrm>
              <a:off x="4783836" y="19875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修改</a:t>
              </a:r>
            </a:p>
          </p:txBody>
        </p:sp>
        <p:sp>
          <p:nvSpPr>
            <p:cNvPr id="9" name="TextBox 9"/>
            <p:cNvSpPr txBox="1"/>
            <p:nvPr/>
          </p:nvSpPr>
          <p:spPr>
            <a:xfrm>
              <a:off x="4790694" y="27876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这句话该不该改？</a:t>
              </a:r>
            </a:p>
          </p:txBody>
        </p:sp>
        <p:sp>
          <p:nvSpPr>
            <p:cNvPr id="10" name="TextBox 10"/>
            <p:cNvSpPr txBox="1"/>
            <p:nvPr/>
          </p:nvSpPr>
          <p:spPr>
            <a:xfrm>
              <a:off x="4790694" y="332105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依特定程序</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删除、增加、变更</a:t>
              </a:r>
            </a:p>
          </p:txBody>
        </p:sp>
        <p:sp>
          <p:nvSpPr>
            <p:cNvPr id="11" name="TextBox 11"/>
            <p:cNvSpPr txBox="1"/>
            <p:nvPr/>
          </p:nvSpPr>
          <p:spPr>
            <a:xfrm>
              <a:off x="8822436" y="19875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监督</a:t>
              </a:r>
            </a:p>
          </p:txBody>
        </p:sp>
        <p:sp>
          <p:nvSpPr>
            <p:cNvPr id="12" name="TextBox 12"/>
            <p:cNvSpPr txBox="1"/>
            <p:nvPr/>
          </p:nvSpPr>
          <p:spPr>
            <a:xfrm>
              <a:off x="8829294" y="27876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合不合宪法？</a:t>
              </a:r>
            </a:p>
          </p:txBody>
        </p:sp>
        <p:sp>
          <p:nvSpPr>
            <p:cNvPr id="13" name="TextBox 13"/>
            <p:cNvSpPr txBox="1"/>
            <p:nvPr/>
          </p:nvSpPr>
          <p:spPr>
            <a:xfrm>
              <a:off x="8829294" y="3321050"/>
              <a:ext cx="17533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检查实施行为、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规范并依法纠正</a:t>
              </a:r>
            </a:p>
          </p:txBody>
        </p:sp>
      </p:grpSp>
      <p:grpSp>
        <p:nvGrpSpPr>
          <p:cNvPr id="17" name="p14-reveal-1"/>
          <p:cNvGrpSpPr/>
          <p:nvPr/>
        </p:nvGrpSpPr>
        <p:grpSpPr>
          <a:xfrm>
            <a:off x="752094" y="5168900"/>
            <a:ext cx="8682609" cy="895731"/>
            <a:chOff x="752094" y="5168900"/>
            <a:chExt cx="8682609" cy="895731"/>
          </a:xfrm>
        </p:grpSpPr>
        <p:sp>
          <p:nvSpPr>
            <p:cNvPr id="15" name="TextBox 15"/>
            <p:cNvSpPr txBox="1"/>
            <p:nvPr/>
          </p:nvSpPr>
          <p:spPr>
            <a:xfrm>
              <a:off x="752094" y="516890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不改文字，可以澄清含义；需要改变安排，则须依法修改。</a:t>
              </a:r>
            </a:p>
          </p:txBody>
        </p:sp>
        <p:sp>
          <p:nvSpPr>
            <p:cNvPr id="16" name="TextBox 16"/>
            <p:cNvSpPr txBox="1"/>
            <p:nvPr/>
          </p:nvSpPr>
          <p:spPr>
            <a:xfrm>
              <a:off x="752094" y="5683250"/>
              <a:ext cx="868260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解释不能任意突破宪法、代替修宪；监督的对象、主体和程序也另有规定。</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95795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教材第一章解释及第九章监督；三工作不是每个问题必须依次经过的统一程序。</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14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方法取向与法定门槛</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充分考虑解释，不是新增修宪手续</a:t>
              </a:r>
            </a:p>
          </p:txBody>
        </p:sp>
      </p:grpSp>
      <p:grpSp>
        <p:nvGrpSpPr>
          <p:cNvPr id="11" name="two-levels"/>
          <p:cNvGrpSpPr/>
          <p:nvPr/>
        </p:nvGrpSpPr>
        <p:grpSpPr>
          <a:xfrm>
            <a:off x="749808" y="2076450"/>
            <a:ext cx="9793224" cy="2045081"/>
            <a:chOff x="749808" y="2076450"/>
            <a:chExt cx="9793224" cy="2045081"/>
          </a:xfrm>
        </p:grpSpPr>
        <p:sp>
          <p:nvSpPr>
            <p:cNvPr id="5" name="TextBox 5"/>
            <p:cNvSpPr txBox="1"/>
            <p:nvPr/>
          </p:nvSpPr>
          <p:spPr>
            <a:xfrm>
              <a:off x="749808" y="21082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教材的方法建议</a:t>
              </a:r>
            </a:p>
          </p:txBody>
        </p:sp>
        <p:sp>
          <p:nvSpPr>
            <p:cNvPr id="6" name="TextBox 6"/>
            <p:cNvSpPr txBox="1"/>
            <p:nvPr/>
          </p:nvSpPr>
          <p:spPr>
            <a:xfrm>
              <a:off x="752094" y="2749550"/>
              <a:ext cx="37345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在宪法规定范围内充分说明含义，</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维护稳定，又回应现实。</a:t>
              </a:r>
            </a:p>
          </p:txBody>
        </p:sp>
        <p:sp>
          <p:nvSpPr>
            <p:cNvPr id="7" name="Line 7"/>
            <p:cNvSpPr/>
            <p:nvPr/>
          </p:nvSpPr>
          <p:spPr>
            <a:xfrm>
              <a:off x="5943600" y="2076450"/>
              <a:ext cx="9525" cy="2038350"/>
            </a:xfrm>
            <a:custGeom>
              <a:avLst/>
              <a:gdLst/>
              <a:ahLst/>
              <a:cxnLst/>
              <a:rect l="l" t="t" r="r" b="b"/>
              <a:pathLst>
                <a:path w="9525" h="2038350">
                  <a:moveTo>
                    <a:pt x="0" y="0"/>
                  </a:moveTo>
                  <a:lnTo>
                    <a:pt x="0" y="2038350"/>
                  </a:lnTo>
                </a:path>
              </a:pathLst>
            </a:custGeom>
            <a:noFill/>
            <a:ln w="9525">
              <a:solidFill>
                <a:srgbClr val="C7BFB1"/>
              </a:solidFill>
            </a:ln>
          </p:spPr>
        </p:sp>
        <p:sp>
          <p:nvSpPr>
            <p:cNvPr id="8" name="TextBox 8"/>
            <p:cNvSpPr txBox="1"/>
            <p:nvPr/>
          </p:nvSpPr>
          <p:spPr>
            <a:xfrm>
              <a:off x="6845808" y="2108200"/>
              <a:ext cx="264139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宪法第64条的条件</a:t>
              </a:r>
            </a:p>
          </p:txBody>
        </p:sp>
        <p:sp>
          <p:nvSpPr>
            <p:cNvPr id="9" name="TextBox 9"/>
            <p:cNvSpPr txBox="1"/>
            <p:nvPr/>
          </p:nvSpPr>
          <p:spPr>
            <a:xfrm>
              <a:off x="6848094" y="2749550"/>
              <a:ext cx="24963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常委会或五分之一以上</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全国人大代表提议</a:t>
              </a:r>
            </a:p>
          </p:txBody>
        </p:sp>
        <p:sp>
          <p:nvSpPr>
            <p:cNvPr id="10" name="TextBox 10"/>
            <p:cNvSpPr txBox="1"/>
            <p:nvPr/>
          </p:nvSpPr>
          <p:spPr>
            <a:xfrm>
              <a:off x="6848094" y="37401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全体代表三分之二以上多数通过</a:t>
              </a:r>
            </a:p>
          </p:txBody>
        </p:sp>
      </p:grpSp>
      <p:grpSp>
        <p:nvGrpSpPr>
          <p:cNvPr id="14" name="p15-reveal-1"/>
          <p:cNvGrpSpPr/>
          <p:nvPr/>
        </p:nvGrpSpPr>
        <p:grpSpPr>
          <a:xfrm>
            <a:off x="752094" y="5187950"/>
            <a:ext cx="7107555" cy="876681"/>
            <a:chOff x="752094" y="5187950"/>
            <a:chExt cx="7107555" cy="876681"/>
          </a:xfrm>
        </p:grpSpPr>
        <p:sp>
          <p:nvSpPr>
            <p:cNvPr id="12" name="TextBox 12"/>
            <p:cNvSpPr txBox="1"/>
            <p:nvPr/>
          </p:nvSpPr>
          <p:spPr>
            <a:xfrm>
              <a:off x="752094" y="51879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不要求先作一次正式解释、证明解释失败，才准提出修宪。</a:t>
              </a:r>
            </a:p>
          </p:txBody>
        </p:sp>
        <p:sp>
          <p:nvSpPr>
            <p:cNvPr id="13" name="TextBox 13"/>
            <p:cNvSpPr txBox="1"/>
            <p:nvPr/>
          </p:nvSpPr>
          <p:spPr>
            <a:xfrm>
              <a:off x="752094" y="568325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方法论上的充分考虑，不自动变成宪法以外新增的前置程序。</a:t>
              </a:r>
            </a:p>
          </p:txBody>
        </p:sp>
      </p:gr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398263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教材相关论述与宪法第64条分别理解；修宪程序可回看第二讲。</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15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有权解释与学理解释</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意见有意义，正式效力另有依据</a:t>
              </a:r>
            </a:p>
          </p:txBody>
        </p:sp>
      </p:grpSp>
      <p:grpSp>
        <p:nvGrpSpPr>
          <p:cNvPr id="13" name="interpretation-forms"/>
          <p:cNvGrpSpPr/>
          <p:nvPr/>
        </p:nvGrpSpPr>
        <p:grpSpPr>
          <a:xfrm>
            <a:off x="749046" y="2127250"/>
            <a:ext cx="9946386" cy="2032381"/>
            <a:chOff x="749046" y="2127250"/>
            <a:chExt cx="9946386" cy="2032381"/>
          </a:xfrm>
        </p:grpSpPr>
        <p:sp>
          <p:nvSpPr>
            <p:cNvPr id="5" name="TextBox 5"/>
            <p:cNvSpPr txBox="1"/>
            <p:nvPr/>
          </p:nvSpPr>
          <p:spPr>
            <a:xfrm>
              <a:off x="749046" y="21272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有权解释</a:t>
              </a:r>
            </a:p>
          </p:txBody>
        </p:sp>
        <p:sp>
          <p:nvSpPr>
            <p:cNvPr id="6" name="TextBox 6"/>
            <p:cNvSpPr txBox="1"/>
            <p:nvPr/>
          </p:nvSpPr>
          <p:spPr>
            <a:xfrm>
              <a:off x="752094" y="27876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法定、正式解释</a:t>
              </a:r>
            </a:p>
          </p:txBody>
        </p:sp>
        <p:sp>
          <p:nvSpPr>
            <p:cNvPr id="7" name="TextBox 7"/>
            <p:cNvSpPr txBox="1"/>
            <p:nvPr/>
          </p:nvSpPr>
          <p:spPr>
            <a:xfrm>
              <a:off x="752094" y="32829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宪法规定的机关，依程序作出</a:t>
              </a:r>
            </a:p>
          </p:txBody>
        </p:sp>
        <p:sp>
          <p:nvSpPr>
            <p:cNvPr id="8" name="TextBox 8"/>
            <p:cNvSpPr txBox="1"/>
            <p:nvPr/>
          </p:nvSpPr>
          <p:spPr>
            <a:xfrm>
              <a:off x="752094" y="3778250"/>
              <a:ext cx="369493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教材：与宪法具有同等法律效力</a:t>
              </a:r>
            </a:p>
          </p:txBody>
        </p:sp>
        <p:sp>
          <p:nvSpPr>
            <p:cNvPr id="9" name="TextBox 9"/>
            <p:cNvSpPr txBox="1"/>
            <p:nvPr/>
          </p:nvSpPr>
          <p:spPr>
            <a:xfrm>
              <a:off x="6997446" y="21272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学理解释</a:t>
              </a:r>
            </a:p>
          </p:txBody>
        </p:sp>
        <p:sp>
          <p:nvSpPr>
            <p:cNvPr id="10" name="TextBox 10"/>
            <p:cNvSpPr txBox="1"/>
            <p:nvPr/>
          </p:nvSpPr>
          <p:spPr>
            <a:xfrm>
              <a:off x="7000494" y="27876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其他组织、个人的非正式解释</a:t>
              </a:r>
            </a:p>
          </p:txBody>
        </p:sp>
        <p:sp>
          <p:nvSpPr>
            <p:cNvPr id="11" name="TextBox 11"/>
            <p:cNvSpPr txBox="1"/>
            <p:nvPr/>
          </p:nvSpPr>
          <p:spPr>
            <a:xfrm>
              <a:off x="7000494" y="32829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发现歧义、提出方案、检验理由</a:t>
              </a:r>
            </a:p>
          </p:txBody>
        </p:sp>
        <p:sp>
          <p:nvSpPr>
            <p:cNvPr id="12" name="TextBox 12"/>
            <p:cNvSpPr txBox="1"/>
            <p:nvPr/>
          </p:nvSpPr>
          <p:spPr>
            <a:xfrm>
              <a:off x="7000494" y="3778250"/>
              <a:ext cx="290741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不因此取得正式解释效力</a:t>
              </a:r>
            </a:p>
          </p:txBody>
        </p:sp>
      </p:grpSp>
      <p:grpSp>
        <p:nvGrpSpPr>
          <p:cNvPr id="16" name="p16-reveal-1"/>
          <p:cNvGrpSpPr/>
          <p:nvPr/>
        </p:nvGrpSpPr>
        <p:grpSpPr>
          <a:xfrm>
            <a:off x="752094" y="5187950"/>
            <a:ext cx="7895082" cy="876681"/>
            <a:chOff x="752094" y="5187950"/>
            <a:chExt cx="7895082" cy="876681"/>
          </a:xfrm>
        </p:grpSpPr>
        <p:sp>
          <p:nvSpPr>
            <p:cNvPr id="14" name="TextBox 14"/>
            <p:cNvSpPr txBox="1"/>
            <p:nvPr/>
          </p:nvSpPr>
          <p:spPr>
            <a:xfrm>
              <a:off x="752094" y="51879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教师、研究者、人大代表以个人身份发表意见，仍须辨主体与程序。</a:t>
              </a:r>
            </a:p>
          </p:txBody>
        </p:sp>
        <p:sp>
          <p:nvSpPr>
            <p:cNvPr id="15" name="TextBox 15"/>
            <p:cNvSpPr txBox="1"/>
            <p:nvPr/>
          </p:nvSpPr>
          <p:spPr>
            <a:xfrm>
              <a:off x="752094" y="568325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论证是否成立，与是否有正式法律效力，是两个问题。</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52335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按教材依效力区分；教材将正式宪法解释的效力与宪法同读，不把学理解释贬作无意义。</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16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解释主体的两种依据身份</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条文明定，与教材推论，要分开</a:t>
              </a:r>
            </a:p>
          </p:txBody>
        </p:sp>
      </p:grpSp>
      <p:grpSp>
        <p:nvGrpSpPr>
          <p:cNvPr id="12" name="authority-sources"/>
          <p:cNvGrpSpPr/>
          <p:nvPr/>
        </p:nvGrpSpPr>
        <p:grpSpPr>
          <a:xfrm>
            <a:off x="749046" y="2076450"/>
            <a:ext cx="10474452" cy="2057400"/>
            <a:chOff x="749046" y="2076450"/>
            <a:chExt cx="10474452" cy="2057400"/>
          </a:xfrm>
        </p:grpSpPr>
        <p:sp>
          <p:nvSpPr>
            <p:cNvPr id="5" name="TextBox 5"/>
            <p:cNvSpPr txBox="1"/>
            <p:nvPr/>
          </p:nvSpPr>
          <p:spPr>
            <a:xfrm>
              <a:off x="755142" y="2235200"/>
              <a:ext cx="130404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宪法第67条明文</a:t>
              </a:r>
            </a:p>
          </p:txBody>
        </p:sp>
        <p:sp>
          <p:nvSpPr>
            <p:cNvPr id="6" name="TextBox 6"/>
            <p:cNvSpPr txBox="1"/>
            <p:nvPr/>
          </p:nvSpPr>
          <p:spPr>
            <a:xfrm>
              <a:off x="749046" y="27559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7" name="TextBox 7"/>
            <p:cNvSpPr txBox="1"/>
            <p:nvPr/>
          </p:nvSpPr>
          <p:spPr>
            <a:xfrm>
              <a:off x="752094" y="33972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解释宪法，监督宪法实施</a:t>
              </a:r>
            </a:p>
          </p:txBody>
        </p:sp>
        <p:sp>
          <p:nvSpPr>
            <p:cNvPr id="8" name="Line 8"/>
            <p:cNvSpPr/>
            <p:nvPr/>
          </p:nvSpPr>
          <p:spPr>
            <a:xfrm>
              <a:off x="5943600" y="2076450"/>
              <a:ext cx="9525" cy="2057400"/>
            </a:xfrm>
            <a:custGeom>
              <a:avLst/>
              <a:gdLst/>
              <a:ahLst/>
              <a:cxnLst/>
              <a:rect l="l" t="t" r="r" b="b"/>
              <a:pathLst>
                <a:path w="9525" h="2057400">
                  <a:moveTo>
                    <a:pt x="0" y="0"/>
                  </a:moveTo>
                  <a:lnTo>
                    <a:pt x="0" y="2057400"/>
                  </a:lnTo>
                </a:path>
              </a:pathLst>
            </a:custGeom>
            <a:noFill/>
            <a:ln w="9525">
              <a:solidFill>
                <a:srgbClr val="C7BFB1"/>
              </a:solidFill>
            </a:ln>
          </p:spPr>
        </p:sp>
        <p:sp>
          <p:nvSpPr>
            <p:cNvPr id="9" name="TextBox 9"/>
            <p:cNvSpPr txBox="1"/>
            <p:nvPr/>
          </p:nvSpPr>
          <p:spPr>
            <a:xfrm>
              <a:off x="6851142" y="2235200"/>
              <a:ext cx="219456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教材由监督权所作理论推论</a:t>
              </a:r>
            </a:p>
          </p:txBody>
        </p:sp>
        <p:sp>
          <p:nvSpPr>
            <p:cNvPr id="10" name="TextBox 10"/>
            <p:cNvSpPr txBox="1"/>
            <p:nvPr/>
          </p:nvSpPr>
          <p:spPr>
            <a:xfrm>
              <a:off x="6845046" y="2755900"/>
              <a:ext cx="437845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全国人大也应当具有解释权</a:t>
              </a:r>
            </a:p>
          </p:txBody>
        </p:sp>
        <p:sp>
          <p:nvSpPr>
            <p:cNvPr id="11" name="TextBox 11"/>
            <p:cNvSpPr txBox="1"/>
            <p:nvPr/>
          </p:nvSpPr>
          <p:spPr>
            <a:xfrm>
              <a:off x="6848094" y="3397250"/>
              <a:ext cx="264490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不是宪法里的一句明文</a:t>
              </a:r>
            </a:p>
          </p:txBody>
        </p:sp>
      </p:grpSp>
      <p:grpSp>
        <p:nvGrpSpPr>
          <p:cNvPr id="15" name="p17-reveal-1"/>
          <p:cNvGrpSpPr/>
          <p:nvPr/>
        </p:nvGrpSpPr>
        <p:grpSpPr>
          <a:xfrm>
            <a:off x="752094" y="5187950"/>
            <a:ext cx="6845046" cy="819531"/>
            <a:chOff x="752094" y="5187950"/>
            <a:chExt cx="6845046" cy="819531"/>
          </a:xfrm>
        </p:grpSpPr>
        <p:sp>
          <p:nvSpPr>
            <p:cNvPr id="13" name="TextBox 13"/>
            <p:cNvSpPr txBox="1"/>
            <p:nvPr/>
          </p:nvSpPr>
          <p:spPr>
            <a:xfrm>
              <a:off x="752094" y="518795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调用第七讲：全国人大修改宪法并监督实施；</a:t>
              </a:r>
            </a:p>
          </p:txBody>
        </p:sp>
        <p:sp>
          <p:nvSpPr>
            <p:cNvPr id="14" name="TextBox 14"/>
            <p:cNvSpPr txBox="1"/>
            <p:nvPr/>
          </p:nvSpPr>
          <p:spPr>
            <a:xfrm>
              <a:off x="752094" y="56261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常委会解释宪法并监督实施。明确职权不靠地位标签推算。</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442081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宪法第62、67条；教材关于解释主体的学理说明与法定职权分开标明。</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17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013192" cy="918464"/>
            <a:chOff x="592836" y="438150"/>
            <a:chExt cx="8013192" cy="918464"/>
          </a:xfrm>
        </p:grpSpPr>
        <p:sp>
          <p:nvSpPr>
            <p:cNvPr id="2" name="TextBox 2"/>
            <p:cNvSpPr txBox="1"/>
            <p:nvPr/>
          </p:nvSpPr>
          <p:spPr>
            <a:xfrm>
              <a:off x="603504" y="43815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解释工作的职责与程序推进</a:t>
              </a:r>
            </a:p>
          </p:txBody>
        </p:sp>
        <p:sp>
          <p:nvSpPr>
            <p:cNvPr id="3" name="TextBox 3"/>
            <p:cNvSpPr txBox="1"/>
            <p:nvPr/>
          </p:nvSpPr>
          <p:spPr>
            <a:xfrm>
              <a:off x="592836" y="71120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研究、提出意见、依法决定，各有主体</a:t>
              </a:r>
            </a:p>
          </p:txBody>
        </p:sp>
      </p:grpSp>
      <p:grpSp>
        <p:nvGrpSpPr>
          <p:cNvPr id="12" name="research-and-decision"/>
          <p:cNvGrpSpPr/>
          <p:nvPr/>
        </p:nvGrpSpPr>
        <p:grpSpPr>
          <a:xfrm>
            <a:off x="749046" y="2051050"/>
            <a:ext cx="9726168" cy="2238883"/>
            <a:chOff x="749046" y="2051050"/>
            <a:chExt cx="9726168" cy="2238883"/>
          </a:xfrm>
        </p:grpSpPr>
        <p:sp>
          <p:nvSpPr>
            <p:cNvPr id="5" name="TextBox 5"/>
            <p:cNvSpPr txBox="1"/>
            <p:nvPr/>
          </p:nvSpPr>
          <p:spPr>
            <a:xfrm>
              <a:off x="749046" y="205105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宪法和法律委员会等</a:t>
              </a:r>
            </a:p>
          </p:txBody>
        </p:sp>
        <p:sp>
          <p:nvSpPr>
            <p:cNvPr id="6" name="TextBox 6"/>
            <p:cNvSpPr txBox="1"/>
            <p:nvPr/>
          </p:nvSpPr>
          <p:spPr>
            <a:xfrm>
              <a:off x="752094" y="27114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开展解释工作、研究并提出意见</a:t>
              </a:r>
            </a:p>
          </p:txBody>
        </p:sp>
        <p:sp>
          <p:nvSpPr>
            <p:cNvPr id="7" name="TextBox 7"/>
            <p:cNvSpPr txBox="1"/>
            <p:nvPr/>
          </p:nvSpPr>
          <p:spPr>
            <a:xfrm>
              <a:off x="752094" y="3225800"/>
              <a:ext cx="327492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2018职责决定、2021组织法</a:t>
              </a:r>
            </a:p>
          </p:txBody>
        </p:sp>
        <p:sp>
          <p:nvSpPr>
            <p:cNvPr id="8" name="Freeform 8"/>
            <p:cNvSpPr/>
            <p:nvPr/>
          </p:nvSpPr>
          <p:spPr>
            <a:xfrm>
              <a:off x="4762500" y="2800350"/>
              <a:ext cx="1905000" cy="152400"/>
            </a:xfrm>
            <a:custGeom>
              <a:avLst/>
              <a:gdLst/>
              <a:ahLst/>
              <a:cxnLst/>
              <a:rect l="l" t="t" r="r" b="b"/>
              <a:pathLst>
                <a:path w="1905000" h="152400">
                  <a:moveTo>
                    <a:pt x="0" y="76200"/>
                  </a:moveTo>
                  <a:lnTo>
                    <a:pt x="1885950" y="76200"/>
                  </a:lnTo>
                  <a:moveTo>
                    <a:pt x="1790700" y="0"/>
                  </a:moveTo>
                  <a:lnTo>
                    <a:pt x="1905000" y="76200"/>
                  </a:lnTo>
                  <a:lnTo>
                    <a:pt x="1790700" y="152400"/>
                  </a:lnTo>
                </a:path>
              </a:pathLst>
            </a:custGeom>
            <a:noFill/>
            <a:ln w="19050">
              <a:solidFill>
                <a:schemeClr val="accent3"/>
              </a:solidFill>
            </a:ln>
          </p:spPr>
        </p:sp>
        <p:sp>
          <p:nvSpPr>
            <p:cNvPr id="9" name="TextBox 9"/>
            <p:cNvSpPr txBox="1"/>
            <p:nvPr/>
          </p:nvSpPr>
          <p:spPr>
            <a:xfrm>
              <a:off x="7302246" y="20510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10" name="TextBox 10"/>
            <p:cNvSpPr txBox="1"/>
            <p:nvPr/>
          </p:nvSpPr>
          <p:spPr>
            <a:xfrm>
              <a:off x="7305294" y="27114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依职权与程序作出正式解释</a:t>
              </a:r>
            </a:p>
          </p:txBody>
        </p:sp>
        <p:sp>
          <p:nvSpPr>
            <p:cNvPr id="11" name="TextBox 11"/>
            <p:cNvSpPr txBox="1"/>
            <p:nvPr/>
          </p:nvSpPr>
          <p:spPr>
            <a:xfrm>
              <a:off x="755142" y="4025900"/>
              <a:ext cx="568391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2023有关决定要求健全宪法解释工作程序；职责、程序与实践在推进。</a:t>
              </a:r>
            </a:p>
          </p:txBody>
        </p:sp>
      </p:grpSp>
      <p:grpSp>
        <p:nvGrpSpPr>
          <p:cNvPr id="15" name="p18-reveal-1"/>
          <p:cNvGrpSpPr/>
          <p:nvPr/>
        </p:nvGrpSpPr>
        <p:grpSpPr>
          <a:xfrm>
            <a:off x="752094" y="5187950"/>
            <a:ext cx="9207627" cy="857631"/>
            <a:chOff x="752094" y="5187950"/>
            <a:chExt cx="9207627" cy="857631"/>
          </a:xfrm>
        </p:grpSpPr>
        <p:sp>
          <p:nvSpPr>
            <p:cNvPr id="13" name="TextBox 13"/>
            <p:cNvSpPr txBox="1"/>
            <p:nvPr/>
          </p:nvSpPr>
          <p:spPr>
            <a:xfrm>
              <a:off x="752094" y="51879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有解释研究，不等于每份意见已成为常委会正式宪法解释。</a:t>
              </a:r>
            </a:p>
          </p:txBody>
        </p:sp>
        <p:sp>
          <p:nvSpPr>
            <p:cNvPr id="14" name="TextBox 14"/>
            <p:cNvSpPr txBox="1"/>
            <p:nvPr/>
          </p:nvSpPr>
          <p:spPr>
            <a:xfrm>
              <a:off x="752094" y="5664200"/>
              <a:ext cx="920762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文本有没有改变、谁依法作决定，要分别核对；参与工作不等于共享最终职权。</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67389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2018职责决定、2021全国人大组织法及2023备案审查决定；连接表示职责衔接，不承诺每份意见必获采纳。</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18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监督制度怎样安排判断权</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谁来审查，要看权力怎样配置</a:t>
              </a:r>
            </a:p>
          </p:txBody>
        </p:sp>
      </p:grpSp>
      <p:grpSp>
        <p:nvGrpSpPr>
          <p:cNvPr id="12" name="supervision-basis"/>
          <p:cNvGrpSpPr/>
          <p:nvPr/>
        </p:nvGrpSpPr>
        <p:grpSpPr>
          <a:xfrm>
            <a:off x="749046" y="1993900"/>
            <a:ext cx="9023604" cy="2086483"/>
            <a:chOff x="749046" y="1993900"/>
            <a:chExt cx="9023604" cy="2086483"/>
          </a:xfrm>
        </p:grpSpPr>
        <p:sp>
          <p:nvSpPr>
            <p:cNvPr id="5" name="TextBox 5"/>
            <p:cNvSpPr txBox="1"/>
            <p:nvPr/>
          </p:nvSpPr>
          <p:spPr>
            <a:xfrm>
              <a:off x="749046" y="19939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特定国家机关</a:t>
              </a:r>
            </a:p>
          </p:txBody>
        </p:sp>
        <p:sp>
          <p:nvSpPr>
            <p:cNvPr id="6" name="TextBox 6"/>
            <p:cNvSpPr txBox="1"/>
            <p:nvPr/>
          </p:nvSpPr>
          <p:spPr>
            <a:xfrm>
              <a:off x="752094" y="26543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按照法律程序</a:t>
              </a:r>
            </a:p>
          </p:txBody>
        </p:sp>
        <p:sp>
          <p:nvSpPr>
            <p:cNvPr id="7" name="TextBox 7"/>
            <p:cNvSpPr txBox="1"/>
            <p:nvPr/>
          </p:nvSpPr>
          <p:spPr>
            <a:xfrm>
              <a:off x="752094" y="32258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监督有关实施行为是否符合宪法</a:t>
              </a:r>
            </a:p>
          </p:txBody>
        </p:sp>
        <p:sp>
          <p:nvSpPr>
            <p:cNvPr id="8" name="TextBox 8"/>
            <p:cNvSpPr txBox="1"/>
            <p:nvPr/>
          </p:nvSpPr>
          <p:spPr>
            <a:xfrm>
              <a:off x="6845046" y="19939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名称不是完整答案</a:t>
              </a:r>
            </a:p>
          </p:txBody>
        </p:sp>
        <p:sp>
          <p:nvSpPr>
            <p:cNvPr id="9" name="TextBox 9"/>
            <p:cNvSpPr txBox="1"/>
            <p:nvPr/>
          </p:nvSpPr>
          <p:spPr>
            <a:xfrm>
              <a:off x="6848094" y="26543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违宪审查、司法审查</a:t>
              </a:r>
            </a:p>
          </p:txBody>
        </p:sp>
        <p:sp>
          <p:nvSpPr>
            <p:cNvPr id="10" name="TextBox 10"/>
            <p:cNvSpPr txBox="1"/>
            <p:nvPr/>
          </p:nvSpPr>
          <p:spPr>
            <a:xfrm>
              <a:off x="6848094" y="32258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宪法诉讼、宪法审查</a:t>
              </a:r>
            </a:p>
          </p:txBody>
        </p:sp>
        <p:sp>
          <p:nvSpPr>
            <p:cNvPr id="11" name="TextBox 11"/>
            <p:cNvSpPr txBox="1"/>
            <p:nvPr/>
          </p:nvSpPr>
          <p:spPr>
            <a:xfrm>
              <a:off x="6851142" y="3816350"/>
              <a:ext cx="292150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名称强调面向不同，不是互斥分类。</a:t>
              </a:r>
            </a:p>
          </p:txBody>
        </p:sp>
      </p:grpSp>
      <p:grpSp>
        <p:nvGrpSpPr>
          <p:cNvPr id="16" name="p19-reveal-1"/>
          <p:cNvGrpSpPr/>
          <p:nvPr/>
        </p:nvGrpSpPr>
        <p:grpSpPr>
          <a:xfrm>
            <a:off x="752094" y="5035550"/>
            <a:ext cx="7370064" cy="1197483"/>
            <a:chOff x="752094" y="5035550"/>
            <a:chExt cx="7370064" cy="1197483"/>
          </a:xfrm>
        </p:grpSpPr>
        <p:sp>
          <p:nvSpPr>
            <p:cNvPr id="13" name="TextBox 13"/>
            <p:cNvSpPr txBox="1"/>
            <p:nvPr/>
          </p:nvSpPr>
          <p:spPr>
            <a:xfrm>
              <a:off x="752094" y="503555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普通法院审查：在具体案件中，审查本案拟适用法律的合宪性。</a:t>
              </a:r>
            </a:p>
          </p:txBody>
        </p:sp>
        <p:sp>
          <p:nvSpPr>
            <p:cNvPr id="14" name="TextBox 14"/>
            <p:cNvSpPr txBox="1"/>
            <p:nvPr/>
          </p:nvSpPr>
          <p:spPr>
            <a:xfrm>
              <a:off x="752094" y="54927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美国的实践怎样确立这项权力？先看人、事情和判决理由。</a:t>
              </a:r>
            </a:p>
          </p:txBody>
        </p:sp>
        <p:sp>
          <p:nvSpPr>
            <p:cNvPr id="15" name="TextBox 15"/>
            <p:cNvSpPr txBox="1"/>
            <p:nvPr/>
          </p:nvSpPr>
          <p:spPr>
            <a:xfrm>
              <a:off x="755142" y="5969000"/>
              <a:ext cx="657442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教材“美国除外”是监督机关授权确立方式的说明，不是说美国法院不受宪法约束。</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53390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教材第九章宪法监督及普通法院审查制；不把某个外国模式当唯一形式。</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19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马伯里诉麦迪逊案的处境</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同一份委任状，连接了几个人？</a:t>
              </a:r>
            </a:p>
          </p:txBody>
        </p:sp>
      </p:grpSp>
      <p:grpSp>
        <p:nvGrpSpPr>
          <p:cNvPr id="7" name="marshall-photo"/>
          <p:cNvGrpSpPr/>
          <p:nvPr/>
        </p:nvGrpSpPr>
        <p:grpSpPr>
          <a:xfrm>
            <a:off x="602742" y="1733550"/>
            <a:ext cx="4197858" cy="4404233"/>
            <a:chOff x="602742" y="1733550"/>
            <a:chExt cx="4197858" cy="4404233"/>
          </a:xfrm>
        </p:grpSpPr>
        <p:pic>
          <p:nvPicPr>
            <p:cNvPr id="5" name="Image 5"/>
            <p:cNvPicPr>
              <a:picLocks noChangeAspect="1"/>
            </p:cNvPicPr>
            <p:nvPr/>
          </p:nvPicPr>
          <p:blipFill>
            <a:blip r:embed="rId2"/>
            <a:stretch>
              <a:fillRect/>
            </a:stretch>
          </p:blipFill>
          <p:spPr>
            <a:xfrm>
              <a:off x="609600" y="1733550"/>
              <a:ext cx="4191000" cy="3981450"/>
            </a:xfrm>
            <a:prstGeom prst="rect">
              <a:avLst/>
            </a:prstGeom>
          </p:spPr>
        </p:pic>
        <p:sp>
          <p:nvSpPr>
            <p:cNvPr id="6" name="TextBox 6"/>
            <p:cNvSpPr txBox="1"/>
            <p:nvPr/>
          </p:nvSpPr>
          <p:spPr>
            <a:xfrm>
              <a:off x="602742" y="587375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马歇尔纪念像现代照片，拍摄日期未明。</a:t>
              </a:r>
            </a:p>
          </p:txBody>
        </p:sp>
      </p:grpSp>
      <p:grpSp>
        <p:nvGrpSpPr>
          <p:cNvPr id="13" name="commission-story"/>
          <p:cNvGrpSpPr/>
          <p:nvPr/>
        </p:nvGrpSpPr>
        <p:grpSpPr>
          <a:xfrm>
            <a:off x="5417058" y="1968500"/>
            <a:ext cx="4484751" cy="2419731"/>
            <a:chOff x="5417058" y="1968500"/>
            <a:chExt cx="4484751" cy="2419731"/>
          </a:xfrm>
        </p:grpSpPr>
        <p:sp>
          <p:nvSpPr>
            <p:cNvPr id="8" name="TextBox 8"/>
            <p:cNvSpPr txBox="1"/>
            <p:nvPr/>
          </p:nvSpPr>
          <p:spPr>
            <a:xfrm>
              <a:off x="5419344" y="1968500"/>
              <a:ext cx="400994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1801年：马伯里获任特区治安法官</a:t>
              </a:r>
            </a:p>
          </p:txBody>
        </p:sp>
        <p:sp>
          <p:nvSpPr>
            <p:cNvPr id="9" name="TextBox 9"/>
            <p:cNvSpPr txBox="1"/>
            <p:nvPr/>
          </p:nvSpPr>
          <p:spPr>
            <a:xfrm>
              <a:off x="5417058" y="2489200"/>
              <a:ext cx="427299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总统亚当斯签署 · 国务卿盖章</a:t>
              </a:r>
            </a:p>
          </p:txBody>
        </p:sp>
        <p:sp>
          <p:nvSpPr>
            <p:cNvPr id="10" name="TextBox 10"/>
            <p:cNvSpPr txBox="1"/>
            <p:nvPr/>
          </p:nvSpPr>
          <p:spPr>
            <a:xfrm>
              <a:off x="5419344" y="3016250"/>
              <a:ext cx="185737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委任状没有交付</a:t>
              </a:r>
            </a:p>
          </p:txBody>
        </p:sp>
        <p:sp>
          <p:nvSpPr>
            <p:cNvPr id="11" name="TextBox 11"/>
            <p:cNvSpPr txBox="1"/>
            <p:nvPr/>
          </p:nvSpPr>
          <p:spPr>
            <a:xfrm>
              <a:off x="5419344" y="35496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换届后，新政府拒交</a:t>
              </a:r>
            </a:p>
          </p:txBody>
        </p:sp>
        <p:sp>
          <p:nvSpPr>
            <p:cNvPr id="12" name="TextBox 12"/>
            <p:cNvSpPr txBox="1"/>
            <p:nvPr/>
          </p:nvSpPr>
          <p:spPr>
            <a:xfrm>
              <a:off x="5419344" y="40068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马伯里直接请求最高法院命麦迪逊交付</a:t>
              </a:r>
            </a:p>
          </p:txBody>
        </p:sp>
      </p:grpSp>
      <p:grpSp>
        <p:nvGrpSpPr>
          <p:cNvPr id="17" name="p20-reveal-1"/>
          <p:cNvGrpSpPr/>
          <p:nvPr/>
        </p:nvGrpSpPr>
        <p:grpSpPr>
          <a:xfrm>
            <a:off x="5419344" y="4940300"/>
            <a:ext cx="4797476" cy="1216533"/>
            <a:chOff x="5419344" y="4940300"/>
            <a:chExt cx="4797476" cy="1216533"/>
          </a:xfrm>
        </p:grpSpPr>
        <p:sp>
          <p:nvSpPr>
            <p:cNvPr id="14" name="TextBox 14"/>
            <p:cNvSpPr txBox="1"/>
            <p:nvPr/>
          </p:nvSpPr>
          <p:spPr>
            <a:xfrm>
              <a:off x="5419344" y="49403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马歇尔当时已任首席大法官，</a:t>
              </a:r>
            </a:p>
          </p:txBody>
        </p:sp>
        <p:sp>
          <p:nvSpPr>
            <p:cNvPr id="15" name="TextBox 15"/>
            <p:cNvSpPr txBox="1"/>
            <p:nvPr/>
          </p:nvSpPr>
          <p:spPr>
            <a:xfrm>
              <a:off x="5419344" y="5302250"/>
              <a:ext cx="479747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仍代理国务卿工作；1803年又撰写判决。</a:t>
              </a:r>
            </a:p>
          </p:txBody>
        </p:sp>
        <p:sp>
          <p:nvSpPr>
            <p:cNvPr id="16" name="TextBox 16"/>
            <p:cNvSpPr txBox="1"/>
            <p:nvPr/>
          </p:nvSpPr>
          <p:spPr>
            <a:xfrm>
              <a:off x="5422392" y="5892800"/>
              <a:ext cx="437540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文书办理角色与审案角色须辨认，不以照片推测动机。</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97568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图：联邦司法中心专题原图，非1803现场；史实据原判、联邦司法中心及美国国务院任职记录。</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013192" cy="918464"/>
            <a:chOff x="592836" y="438150"/>
            <a:chExt cx="8013192"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判决把三问分开</a:t>
              </a:r>
            </a:p>
          </p:txBody>
        </p:sp>
        <p:sp>
          <p:nvSpPr>
            <p:cNvPr id="3" name="TextBox 3"/>
            <p:cNvSpPr txBox="1"/>
            <p:nvPr/>
          </p:nvSpPr>
          <p:spPr>
            <a:xfrm>
              <a:off x="592836" y="71120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有权利、有救济，等于本院能发令吗？</a:t>
              </a:r>
            </a:p>
          </p:txBody>
        </p:sp>
      </p:grpSp>
      <p:grpSp>
        <p:nvGrpSpPr>
          <p:cNvPr id="11" name="three-questions"/>
          <p:cNvGrpSpPr/>
          <p:nvPr/>
        </p:nvGrpSpPr>
        <p:grpSpPr>
          <a:xfrm>
            <a:off x="749808" y="1974850"/>
            <a:ext cx="10192893" cy="1955292"/>
            <a:chOff x="749808" y="1974850"/>
            <a:chExt cx="10192893" cy="1955292"/>
          </a:xfrm>
        </p:grpSpPr>
        <p:sp>
          <p:nvSpPr>
            <p:cNvPr id="5" name="TextBox 5"/>
            <p:cNvSpPr txBox="1"/>
            <p:nvPr/>
          </p:nvSpPr>
          <p:spPr>
            <a:xfrm>
              <a:off x="749808" y="19748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有没有取得委任状的权利？</a:t>
              </a:r>
            </a:p>
          </p:txBody>
        </p:sp>
        <p:sp>
          <p:nvSpPr>
            <p:cNvPr id="6" name="TextBox 6"/>
            <p:cNvSpPr txBox="1"/>
            <p:nvPr/>
          </p:nvSpPr>
          <p:spPr>
            <a:xfrm>
              <a:off x="9610344" y="20256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法院答：有</a:t>
              </a:r>
            </a:p>
          </p:txBody>
        </p:sp>
        <p:sp>
          <p:nvSpPr>
            <p:cNvPr id="7" name="TextBox 7"/>
            <p:cNvSpPr txBox="1"/>
            <p:nvPr/>
          </p:nvSpPr>
          <p:spPr>
            <a:xfrm>
              <a:off x="749808" y="271780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权利受侵害，有没有法律救济？</a:t>
              </a:r>
            </a:p>
          </p:txBody>
        </p:sp>
        <p:sp>
          <p:nvSpPr>
            <p:cNvPr id="8" name="TextBox 8"/>
            <p:cNvSpPr txBox="1"/>
            <p:nvPr/>
          </p:nvSpPr>
          <p:spPr>
            <a:xfrm>
              <a:off x="9610344" y="27686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法院答：有</a:t>
              </a:r>
            </a:p>
          </p:txBody>
        </p:sp>
        <p:sp>
          <p:nvSpPr>
            <p:cNvPr id="9" name="TextBox 9"/>
            <p:cNvSpPr txBox="1"/>
            <p:nvPr/>
          </p:nvSpPr>
          <p:spPr>
            <a:xfrm>
              <a:off x="749808" y="346075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能否由最高法院签发这项命令？</a:t>
              </a:r>
            </a:p>
          </p:txBody>
        </p:sp>
        <p:sp>
          <p:nvSpPr>
            <p:cNvPr id="10" name="TextBox 10"/>
            <p:cNvSpPr txBox="1"/>
            <p:nvPr/>
          </p:nvSpPr>
          <p:spPr>
            <a:xfrm>
              <a:off x="9610344" y="3511550"/>
              <a:ext cx="133235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还须审权限</a:t>
              </a:r>
            </a:p>
          </p:txBody>
        </p:sp>
      </p:grpSp>
      <p:grpSp>
        <p:nvGrpSpPr>
          <p:cNvPr id="15" name="p21-reveal-1"/>
          <p:cNvGrpSpPr/>
          <p:nvPr/>
        </p:nvGrpSpPr>
        <p:grpSpPr>
          <a:xfrm>
            <a:off x="752094" y="4902200"/>
            <a:ext cx="8420100" cy="1257681"/>
            <a:chOff x="752094" y="4902200"/>
            <a:chExt cx="8420100" cy="1257681"/>
          </a:xfrm>
        </p:grpSpPr>
        <p:sp>
          <p:nvSpPr>
            <p:cNvPr id="12" name="TextBox 12"/>
            <p:cNvSpPr txBox="1"/>
            <p:nvPr/>
          </p:nvSpPr>
          <p:spPr>
            <a:xfrm>
              <a:off x="752094" y="49022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本案直接向最高法院请求，属于原始管辖问题；不是不服下级判决上诉。</a:t>
              </a:r>
            </a:p>
          </p:txBody>
        </p:sp>
        <p:sp>
          <p:nvSpPr>
            <p:cNvPr id="13" name="TextBox 13"/>
            <p:cNvSpPr txBox="1"/>
            <p:nvPr/>
          </p:nvSpPr>
          <p:spPr>
            <a:xfrm>
              <a:off x="752094" y="532130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宪法列明原始管辖的案件类别，本案不在其中。</a:t>
              </a:r>
            </a:p>
          </p:txBody>
        </p:sp>
        <p:sp>
          <p:nvSpPr>
            <p:cNvPr id="14" name="TextBox 14"/>
            <p:cNvSpPr txBox="1"/>
            <p:nvPr/>
          </p:nvSpPr>
          <p:spPr>
            <a:xfrm>
              <a:off x="752094" y="5778500"/>
              <a:ext cx="792133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法院将司法法第13条理解为扩大这项权限：普通法律能这样扩大吗？</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645627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原判第154、173—176页、美国宪法第三条；清单列案件类别，不是“命令形式清单”。中文为课堂转述。</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21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宪法优先与法院自身权限</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法院先面对的，也是自己的权限</a:t>
              </a:r>
            </a:p>
          </p:txBody>
        </p:sp>
      </p:grpSp>
      <p:grpSp>
        <p:nvGrpSpPr>
          <p:cNvPr id="6" name="judgment-page"/>
          <p:cNvGrpSpPr/>
          <p:nvPr/>
        </p:nvGrpSpPr>
        <p:grpSpPr>
          <a:xfrm>
            <a:off x="762000" y="1676400"/>
            <a:ext cx="2952750" cy="4448175"/>
            <a:chOff x="762000" y="1676400"/>
            <a:chExt cx="2952750" cy="4448175"/>
          </a:xfrm>
        </p:grpSpPr>
        <p:pic>
          <p:nvPicPr>
            <p:cNvPr id="5" name="Image 5"/>
            <p:cNvPicPr>
              <a:picLocks noChangeAspect="1"/>
            </p:cNvPicPr>
            <p:nvPr/>
          </p:nvPicPr>
          <p:blipFill>
            <a:blip r:embed="rId2"/>
            <a:stretch>
              <a:fillRect/>
            </a:stretch>
          </p:blipFill>
          <p:spPr>
            <a:xfrm>
              <a:off x="762000" y="1676400"/>
              <a:ext cx="2952750" cy="4448175"/>
            </a:xfrm>
            <a:prstGeom prst="rect">
              <a:avLst/>
            </a:prstGeom>
          </p:spPr>
        </p:pic>
      </p:grpSp>
      <p:grpSp>
        <p:nvGrpSpPr>
          <p:cNvPr id="11" name="court-reasons"/>
          <p:cNvGrpSpPr/>
          <p:nvPr/>
        </p:nvGrpSpPr>
        <p:grpSpPr>
          <a:xfrm>
            <a:off x="4750308" y="1987550"/>
            <a:ext cx="4680604" cy="1848231"/>
            <a:chOff x="4750308" y="1987550"/>
            <a:chExt cx="4680604" cy="1848231"/>
          </a:xfrm>
        </p:grpSpPr>
        <p:sp>
          <p:nvSpPr>
            <p:cNvPr id="7" name="TextBox 7"/>
            <p:cNvSpPr txBox="1"/>
            <p:nvPr/>
          </p:nvSpPr>
          <p:spPr>
            <a:xfrm>
              <a:off x="4755642" y="1987550"/>
              <a:ext cx="467527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原判第174页是管辖讨论；以下中文是结合原判的课堂转述</a:t>
              </a:r>
            </a:p>
          </p:txBody>
        </p:sp>
        <p:sp>
          <p:nvSpPr>
            <p:cNvPr id="8" name="TextBox 8"/>
            <p:cNvSpPr txBox="1"/>
            <p:nvPr/>
          </p:nvSpPr>
          <p:spPr>
            <a:xfrm>
              <a:off x="4750308" y="241300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宪法高于普通法律</a:t>
              </a:r>
            </a:p>
          </p:txBody>
        </p:sp>
        <p:sp>
          <p:nvSpPr>
            <p:cNvPr id="9" name="TextBox 9"/>
            <p:cNvSpPr txBox="1"/>
            <p:nvPr/>
          </p:nvSpPr>
          <p:spPr>
            <a:xfrm>
              <a:off x="4752594" y="29591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法院审案，必须确定适用哪项规范</a:t>
              </a:r>
            </a:p>
          </p:txBody>
        </p:sp>
        <p:sp>
          <p:nvSpPr>
            <p:cNvPr id="10" name="TextBox 10"/>
            <p:cNvSpPr txBox="1"/>
            <p:nvPr/>
          </p:nvSpPr>
          <p:spPr>
            <a:xfrm>
              <a:off x="4752594" y="345440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发生冲突，不能只看法律而无视宪法</a:t>
              </a:r>
            </a:p>
          </p:txBody>
        </p:sp>
      </p:grpSp>
      <p:grpSp>
        <p:nvGrpSpPr>
          <p:cNvPr id="16" name="p22-reveal-1"/>
          <p:cNvGrpSpPr/>
          <p:nvPr/>
        </p:nvGrpSpPr>
        <p:grpSpPr>
          <a:xfrm>
            <a:off x="4752594" y="4445000"/>
            <a:ext cx="6413906" cy="1788033"/>
            <a:chOff x="4752594" y="4445000"/>
            <a:chExt cx="6413906" cy="1788033"/>
          </a:xfrm>
        </p:grpSpPr>
        <p:sp>
          <p:nvSpPr>
            <p:cNvPr id="12" name="TextBox 12"/>
            <p:cNvSpPr txBox="1"/>
            <p:nvPr/>
          </p:nvSpPr>
          <p:spPr>
            <a:xfrm>
              <a:off x="4752594" y="4445000"/>
              <a:ext cx="37345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2"/>
                  </a:solidFill>
                  <a:latin typeface="+mn-lt"/>
                  <a:ea typeface="+mn-ea"/>
                  <a:cs typeface="+mn-cs"/>
                </a:rPr>
                <a:t>扩大权限的这部分规定不能适用，</a:t>
              </a:r>
              <a:br>
                <a:rPr lang="zh-CN" sz="1950" dirty="0">
                  <a:solidFill>
                    <a:schemeClr val="accent2"/>
                  </a:solidFill>
                  <a:latin typeface="+mn-lt"/>
                  <a:ea typeface="+mn-ea"/>
                  <a:cs typeface="+mn-cs"/>
                </a:rPr>
              </a:br>
              <a:r>
                <a:rPr lang="zh-CN" sz="1950" dirty="0">
                  <a:solidFill>
                    <a:schemeClr val="accent2"/>
                  </a:solidFill>
                  <a:latin typeface="+mn-lt"/>
                  <a:ea typeface="+mn-ea"/>
                  <a:cs typeface="+mn-cs"/>
                </a:rPr>
                <a:t>最高法院没有发出交付命令。</a:t>
              </a:r>
            </a:p>
          </p:txBody>
        </p:sp>
        <p:sp>
          <p:nvSpPr>
            <p:cNvPr id="13" name="TextBox 13"/>
            <p:cNvSpPr txBox="1"/>
            <p:nvPr/>
          </p:nvSpPr>
          <p:spPr>
            <a:xfrm>
              <a:off x="4755642" y="5359400"/>
              <a:ext cx="619277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本次未取得委任状；不是认定马伯里从未有权利，或此后一生均不可能取得。</a:t>
              </a:r>
            </a:p>
          </p:txBody>
        </p:sp>
        <p:sp>
          <p:nvSpPr>
            <p:cNvPr id="14" name="TextBox 14"/>
            <p:cNvSpPr txBox="1"/>
            <p:nvPr/>
          </p:nvSpPr>
          <p:spPr>
            <a:xfrm>
              <a:off x="4755642" y="5664200"/>
              <a:ext cx="619277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首次判国会法律违宪，不是此前从未审查；个案拒绝适用，也不同立法废法。</a:t>
              </a:r>
            </a:p>
          </p:txBody>
        </p:sp>
        <p:sp>
          <p:nvSpPr>
            <p:cNvPr id="15" name="TextBox 15"/>
            <p:cNvSpPr txBox="1"/>
            <p:nvPr/>
          </p:nvSpPr>
          <p:spPr>
            <a:xfrm>
              <a:off x="4755642" y="5969000"/>
              <a:ext cx="641085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1823年杰弗逊另质疑：无管辖权，为何先判权利？后来的异议，不是原判理由。</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640586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原判174及177—180页，国会图书馆原PDF；杰弗逊信件为联邦司法中心刊节。原页不是全部理由所在。</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22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121347" cy="943864"/>
            <a:chOff x="592836" y="438150"/>
            <a:chExt cx="7121347" cy="9438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凯尔森模式、奥地利模式</a:t>
              </a:r>
            </a:p>
          </p:txBody>
        </p:sp>
        <p:sp>
          <p:nvSpPr>
            <p:cNvPr id="3" name="TextBox 3"/>
            <p:cNvSpPr txBox="1"/>
            <p:nvPr/>
          </p:nvSpPr>
          <p:spPr>
            <a:xfrm>
              <a:off x="592836" y="736600"/>
              <a:ext cx="7121347"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“集中”，是把判断与撤销权交给谁</a:t>
              </a:r>
            </a:p>
          </p:txBody>
        </p:sp>
      </p:grpSp>
      <p:grpSp>
        <p:nvGrpSpPr>
          <p:cNvPr id="8" name="austria-history"/>
          <p:cNvGrpSpPr/>
          <p:nvPr/>
        </p:nvGrpSpPr>
        <p:grpSpPr>
          <a:xfrm>
            <a:off x="749808" y="1955800"/>
            <a:ext cx="9273845" cy="1060831"/>
            <a:chOff x="749808" y="1955800"/>
            <a:chExt cx="9273845" cy="1060831"/>
          </a:xfrm>
        </p:grpSpPr>
        <p:sp>
          <p:nvSpPr>
            <p:cNvPr id="5" name="TextBox 5"/>
            <p:cNvSpPr txBox="1"/>
            <p:nvPr/>
          </p:nvSpPr>
          <p:spPr>
            <a:xfrm>
              <a:off x="749808" y="1955800"/>
              <a:ext cx="369143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1919 · 宪法法院已经设立</a:t>
              </a:r>
            </a:p>
          </p:txBody>
        </p:sp>
        <p:sp>
          <p:nvSpPr>
            <p:cNvPr id="6" name="TextBox 6"/>
            <p:cNvSpPr txBox="1"/>
            <p:nvPr/>
          </p:nvSpPr>
          <p:spPr>
            <a:xfrm>
              <a:off x="6655308" y="1955800"/>
              <a:ext cx="336834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1920 · 宪法扩大其职权</a:t>
              </a:r>
            </a:p>
          </p:txBody>
        </p:sp>
        <p:sp>
          <p:nvSpPr>
            <p:cNvPr id="7" name="TextBox 7"/>
            <p:cNvSpPr txBox="1"/>
            <p:nvPr/>
          </p:nvSpPr>
          <p:spPr>
            <a:xfrm>
              <a:off x="752094" y="26352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凯尔森承担重要起草工作，是主要设计者之一；不是一人从零创立。</a:t>
              </a:r>
            </a:p>
          </p:txBody>
        </p:sp>
      </p:grpSp>
      <p:grpSp>
        <p:nvGrpSpPr>
          <p:cNvPr id="17" name="p23-reveal-1"/>
          <p:cNvGrpSpPr/>
          <p:nvPr/>
        </p:nvGrpSpPr>
        <p:grpSpPr>
          <a:xfrm>
            <a:off x="749808" y="3492500"/>
            <a:ext cx="8810244" cy="2721483"/>
            <a:chOff x="749808" y="3492500"/>
            <a:chExt cx="8810244" cy="2721483"/>
          </a:xfrm>
        </p:grpSpPr>
        <p:sp>
          <p:nvSpPr>
            <p:cNvPr id="9" name="TextBox 9"/>
            <p:cNvSpPr txBox="1"/>
            <p:nvPr/>
          </p:nvSpPr>
          <p:spPr>
            <a:xfrm>
              <a:off x="749808" y="36893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联邦政府</a:t>
              </a:r>
            </a:p>
          </p:txBody>
        </p:sp>
        <p:sp>
          <p:nvSpPr>
            <p:cNvPr id="10" name="Freeform 10"/>
            <p:cNvSpPr/>
            <p:nvPr/>
          </p:nvSpPr>
          <p:spPr>
            <a:xfrm>
              <a:off x="2609850" y="3867150"/>
              <a:ext cx="5029200" cy="628650"/>
            </a:xfrm>
            <a:custGeom>
              <a:avLst/>
              <a:gdLst/>
              <a:ahLst/>
              <a:cxnLst/>
              <a:rect l="l" t="t" r="r" b="b"/>
              <a:pathLst>
                <a:path w="5029200" h="628650">
                  <a:moveTo>
                    <a:pt x="0" y="0"/>
                  </a:moveTo>
                  <a:lnTo>
                    <a:pt x="3695700" y="0"/>
                  </a:lnTo>
                  <a:lnTo>
                    <a:pt x="5010150" y="609600"/>
                  </a:lnTo>
                  <a:moveTo>
                    <a:pt x="4876800" y="552450"/>
                  </a:moveTo>
                  <a:lnTo>
                    <a:pt x="5029200" y="628650"/>
                  </a:lnTo>
                  <a:lnTo>
                    <a:pt x="5010150" y="476250"/>
                  </a:lnTo>
                </a:path>
              </a:pathLst>
            </a:custGeom>
            <a:noFill/>
            <a:ln w="19050">
              <a:solidFill>
                <a:schemeClr val="accent3"/>
              </a:solidFill>
            </a:ln>
          </p:spPr>
        </p:sp>
        <p:sp>
          <p:nvSpPr>
            <p:cNvPr id="11" name="TextBox 11"/>
            <p:cNvSpPr txBox="1"/>
            <p:nvPr/>
          </p:nvSpPr>
          <p:spPr>
            <a:xfrm>
              <a:off x="3517392" y="349250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请求审查州法律</a:t>
              </a:r>
            </a:p>
          </p:txBody>
        </p:sp>
        <p:sp>
          <p:nvSpPr>
            <p:cNvPr id="12" name="TextBox 12"/>
            <p:cNvSpPr txBox="1"/>
            <p:nvPr/>
          </p:nvSpPr>
          <p:spPr>
            <a:xfrm>
              <a:off x="749808" y="509905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州政府</a:t>
              </a:r>
            </a:p>
          </p:txBody>
        </p:sp>
        <p:sp>
          <p:nvSpPr>
            <p:cNvPr id="13" name="Freeform 13"/>
            <p:cNvSpPr/>
            <p:nvPr/>
          </p:nvSpPr>
          <p:spPr>
            <a:xfrm>
              <a:off x="2609850" y="4648200"/>
              <a:ext cx="5029200" cy="628650"/>
            </a:xfrm>
            <a:custGeom>
              <a:avLst/>
              <a:gdLst/>
              <a:ahLst/>
              <a:cxnLst/>
              <a:rect l="l" t="t" r="r" b="b"/>
              <a:pathLst>
                <a:path w="5029200" h="628650">
                  <a:moveTo>
                    <a:pt x="0" y="628650"/>
                  </a:moveTo>
                  <a:lnTo>
                    <a:pt x="3695700" y="628650"/>
                  </a:lnTo>
                  <a:lnTo>
                    <a:pt x="5010150" y="19050"/>
                  </a:lnTo>
                  <a:moveTo>
                    <a:pt x="4876800" y="76200"/>
                  </a:moveTo>
                  <a:lnTo>
                    <a:pt x="5029200" y="0"/>
                  </a:lnTo>
                  <a:lnTo>
                    <a:pt x="5010150" y="152400"/>
                  </a:lnTo>
                </a:path>
              </a:pathLst>
            </a:custGeom>
            <a:noFill/>
            <a:ln w="19050">
              <a:solidFill>
                <a:schemeClr val="accent3"/>
              </a:solidFill>
            </a:ln>
          </p:spPr>
        </p:sp>
        <p:sp>
          <p:nvSpPr>
            <p:cNvPr id="14" name="TextBox 14"/>
            <p:cNvSpPr txBox="1"/>
            <p:nvPr/>
          </p:nvSpPr>
          <p:spPr>
            <a:xfrm>
              <a:off x="3517392" y="5473700"/>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请求审查联邦法律</a:t>
              </a:r>
            </a:p>
          </p:txBody>
        </p:sp>
        <p:sp>
          <p:nvSpPr>
            <p:cNvPr id="15" name="TextBox 15"/>
            <p:cNvSpPr txBox="1"/>
            <p:nvPr/>
          </p:nvSpPr>
          <p:spPr>
            <a:xfrm>
              <a:off x="8083296" y="43751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宪法法院</a:t>
              </a:r>
            </a:p>
          </p:txBody>
        </p:sp>
        <p:sp>
          <p:nvSpPr>
            <p:cNvPr id="16" name="TextBox 16"/>
            <p:cNvSpPr txBox="1"/>
            <p:nvPr/>
          </p:nvSpPr>
          <p:spPr>
            <a:xfrm>
              <a:off x="755142" y="5949950"/>
              <a:ext cx="764667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早期制度举例；宪法法院自己审案需适用该法律时也可依职权审查，不表示所有入口仅限政府。</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606755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奥地利宪法法院官方史、总理府制宪史、1920年原始第140条；与普通法院个案分散审查相区别。</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23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316230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法国1971年结社自由决定</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从权限安排，走向更充分的权利保障</a:t>
              </a:r>
            </a:p>
          </p:txBody>
        </p:sp>
      </p:grpSp>
      <p:grpSp>
        <p:nvGrpSpPr>
          <p:cNvPr id="13" name="france-basis"/>
          <p:cNvGrpSpPr/>
          <p:nvPr/>
        </p:nvGrpSpPr>
        <p:grpSpPr>
          <a:xfrm>
            <a:off x="749808" y="1911350"/>
            <a:ext cx="9722034" cy="2153031"/>
            <a:chOff x="749808" y="1911350"/>
            <a:chExt cx="9722034" cy="2153031"/>
          </a:xfrm>
        </p:grpSpPr>
        <p:sp>
          <p:nvSpPr>
            <p:cNvPr id="5" name="TextBox 5"/>
            <p:cNvSpPr txBox="1"/>
            <p:nvPr/>
          </p:nvSpPr>
          <p:spPr>
            <a:xfrm>
              <a:off x="752094" y="1911350"/>
              <a:ext cx="79475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1958年设立时，宪法委员会特别重视约束议会活动、协调机关权限。</a:t>
              </a:r>
            </a:p>
          </p:txBody>
        </p:sp>
        <p:sp>
          <p:nvSpPr>
            <p:cNvPr id="6" name="TextBox 6"/>
            <p:cNvSpPr txBox="1"/>
            <p:nvPr/>
          </p:nvSpPr>
          <p:spPr>
            <a:xfrm>
              <a:off x="752094" y="2406650"/>
              <a:ext cx="864323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1971年7月16日：审查修改结社法的法律，否定部分限制结社自由的规定。</a:t>
              </a:r>
            </a:p>
          </p:txBody>
        </p:sp>
        <p:sp>
          <p:nvSpPr>
            <p:cNvPr id="7" name="TextBox 7"/>
            <p:cNvSpPr txBox="1"/>
            <p:nvPr/>
          </p:nvSpPr>
          <p:spPr>
            <a:xfrm>
              <a:off x="749808" y="3117850"/>
              <a:ext cx="138135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1958序言</a:t>
              </a:r>
            </a:p>
          </p:txBody>
        </p:sp>
        <p:sp>
          <p:nvSpPr>
            <p:cNvPr id="8" name="Freeform 8"/>
            <p:cNvSpPr/>
            <p:nvPr/>
          </p:nvSpPr>
          <p:spPr>
            <a:xfrm>
              <a:off x="2514600" y="3200400"/>
              <a:ext cx="1028700" cy="152400"/>
            </a:xfrm>
            <a:custGeom>
              <a:avLst/>
              <a:gdLst/>
              <a:ahLst/>
              <a:cxnLst/>
              <a:rect l="l" t="t" r="r" b="b"/>
              <a:pathLst>
                <a:path w="1028700" h="152400">
                  <a:moveTo>
                    <a:pt x="0" y="76200"/>
                  </a:moveTo>
                  <a:lnTo>
                    <a:pt x="1009650" y="76200"/>
                  </a:lnTo>
                  <a:moveTo>
                    <a:pt x="914400" y="0"/>
                  </a:moveTo>
                  <a:lnTo>
                    <a:pt x="1028700" y="76200"/>
                  </a:lnTo>
                  <a:lnTo>
                    <a:pt x="914400" y="152400"/>
                  </a:lnTo>
                </a:path>
              </a:pathLst>
            </a:custGeom>
            <a:noFill/>
            <a:ln w="19050">
              <a:solidFill>
                <a:schemeClr val="accent3"/>
              </a:solidFill>
            </a:ln>
          </p:spPr>
        </p:sp>
        <p:sp>
          <p:nvSpPr>
            <p:cNvPr id="9" name="TextBox 9"/>
            <p:cNvSpPr txBox="1"/>
            <p:nvPr/>
          </p:nvSpPr>
          <p:spPr>
            <a:xfrm>
              <a:off x="3950208" y="3117850"/>
              <a:ext cx="138135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1946序言</a:t>
              </a:r>
            </a:p>
          </p:txBody>
        </p:sp>
        <p:sp>
          <p:nvSpPr>
            <p:cNvPr id="10" name="Freeform 10"/>
            <p:cNvSpPr/>
            <p:nvPr/>
          </p:nvSpPr>
          <p:spPr>
            <a:xfrm>
              <a:off x="5715000" y="3200400"/>
              <a:ext cx="1066800" cy="152400"/>
            </a:xfrm>
            <a:custGeom>
              <a:avLst/>
              <a:gdLst/>
              <a:ahLst/>
              <a:cxnLst/>
              <a:rect l="l" t="t" r="r" b="b"/>
              <a:pathLst>
                <a:path w="1066800" h="152400">
                  <a:moveTo>
                    <a:pt x="0" y="76200"/>
                  </a:moveTo>
                  <a:lnTo>
                    <a:pt x="1047750" y="76200"/>
                  </a:lnTo>
                  <a:moveTo>
                    <a:pt x="952500" y="0"/>
                  </a:moveTo>
                  <a:lnTo>
                    <a:pt x="1066800" y="76200"/>
                  </a:lnTo>
                  <a:lnTo>
                    <a:pt x="952500" y="152400"/>
                  </a:lnTo>
                </a:path>
              </a:pathLst>
            </a:custGeom>
            <a:noFill/>
            <a:ln w="19050">
              <a:solidFill>
                <a:schemeClr val="accent3"/>
              </a:solidFill>
            </a:ln>
          </p:spPr>
        </p:sp>
        <p:sp>
          <p:nvSpPr>
            <p:cNvPr id="11" name="TextBox 11"/>
            <p:cNvSpPr txBox="1"/>
            <p:nvPr/>
          </p:nvSpPr>
          <p:spPr>
            <a:xfrm>
              <a:off x="7210044" y="31686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共和国法律承认的基本原则</a:t>
              </a:r>
            </a:p>
          </p:txBody>
        </p:sp>
        <p:sp>
          <p:nvSpPr>
            <p:cNvPr id="12" name="TextBox 12"/>
            <p:cNvSpPr txBox="1"/>
            <p:nvPr/>
          </p:nvSpPr>
          <p:spPr>
            <a:xfrm>
              <a:off x="7210044" y="3683000"/>
              <a:ext cx="326179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结社自由 · 源于1901结社法</a:t>
              </a:r>
            </a:p>
          </p:txBody>
        </p:sp>
      </p:grpSp>
      <p:grpSp>
        <p:nvGrpSpPr>
          <p:cNvPr id="16" name="p24-reveal-1"/>
          <p:cNvGrpSpPr/>
          <p:nvPr/>
        </p:nvGrpSpPr>
        <p:grpSpPr>
          <a:xfrm>
            <a:off x="752094" y="5111750"/>
            <a:ext cx="9260129" cy="816483"/>
            <a:chOff x="752094" y="5111750"/>
            <a:chExt cx="9260129" cy="816483"/>
          </a:xfrm>
        </p:grpSpPr>
        <p:sp>
          <p:nvSpPr>
            <p:cNvPr id="14" name="TextBox 14"/>
            <p:cNvSpPr txBox="1"/>
            <p:nvPr/>
          </p:nvSpPr>
          <p:spPr>
            <a:xfrm>
              <a:off x="752094" y="5111750"/>
              <a:ext cx="92601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功能发展，不表示旧有职能从此消失；也不是直接援1789宣言的一条结社自由。</a:t>
              </a:r>
            </a:p>
          </p:txBody>
        </p:sp>
        <p:sp>
          <p:nvSpPr>
            <p:cNvPr id="15" name="TextBox 15"/>
            <p:cNvSpPr txBox="1"/>
            <p:nvPr/>
          </p:nvSpPr>
          <p:spPr>
            <a:xfrm>
              <a:off x="755142" y="5664200"/>
              <a:ext cx="746493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德国有抽象规范审查，法国有经法定移送的事后审查：机关类型与审查时点，是不同分类线。</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13250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法国宪法委员会71-44 DC第2—4段、1946序言及相关制度原文；中文为课堂转述。</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24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回到我国的权限配置</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我国的监督主体，须回到法定职权</a:t>
              </a:r>
            </a:p>
          </p:txBody>
        </p:sp>
      </p:grpSp>
      <p:grpSp>
        <p:nvGrpSpPr>
          <p:cNvPr id="11" name="chinese-authority"/>
          <p:cNvGrpSpPr/>
          <p:nvPr/>
        </p:nvGrpSpPr>
        <p:grpSpPr>
          <a:xfrm>
            <a:off x="749046" y="2108200"/>
            <a:ext cx="9728454" cy="2241931"/>
            <a:chOff x="749046" y="2108200"/>
            <a:chExt cx="9728454" cy="2241931"/>
          </a:xfrm>
        </p:grpSpPr>
        <p:sp>
          <p:nvSpPr>
            <p:cNvPr id="5" name="TextBox 5"/>
            <p:cNvSpPr txBox="1"/>
            <p:nvPr/>
          </p:nvSpPr>
          <p:spPr>
            <a:xfrm>
              <a:off x="749046" y="21082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全国人民代表大会</a:t>
              </a:r>
            </a:p>
          </p:txBody>
        </p:sp>
        <p:sp>
          <p:nvSpPr>
            <p:cNvPr id="6" name="TextBox 6"/>
            <p:cNvSpPr txBox="1"/>
            <p:nvPr/>
          </p:nvSpPr>
          <p:spPr>
            <a:xfrm>
              <a:off x="752094" y="2806700"/>
              <a:ext cx="267115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第62条：监督宪法实施</a:t>
              </a:r>
            </a:p>
          </p:txBody>
        </p:sp>
        <p:sp>
          <p:nvSpPr>
            <p:cNvPr id="7" name="TextBox 7"/>
            <p:cNvSpPr txBox="1"/>
            <p:nvPr/>
          </p:nvSpPr>
          <p:spPr>
            <a:xfrm>
              <a:off x="6845046" y="21082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8" name="TextBox 8"/>
            <p:cNvSpPr txBox="1"/>
            <p:nvPr/>
          </p:nvSpPr>
          <p:spPr>
            <a:xfrm>
              <a:off x="6848094" y="2806700"/>
              <a:ext cx="267115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第67条：监督宪法实施</a:t>
              </a:r>
            </a:p>
          </p:txBody>
        </p:sp>
        <p:sp>
          <p:nvSpPr>
            <p:cNvPr id="9" name="Freeform 9"/>
            <p:cNvSpPr/>
            <p:nvPr/>
          </p:nvSpPr>
          <p:spPr>
            <a:xfrm>
              <a:off x="1143000" y="3429000"/>
              <a:ext cx="9334500" cy="247650"/>
            </a:xfrm>
            <a:custGeom>
              <a:avLst/>
              <a:gdLst/>
              <a:ahLst/>
              <a:cxnLst/>
              <a:rect l="l" t="t" r="r" b="b"/>
              <a:pathLst>
                <a:path w="9334500" h="247650">
                  <a:moveTo>
                    <a:pt x="0" y="247650"/>
                  </a:moveTo>
                  <a:lnTo>
                    <a:pt x="9334500" y="247650"/>
                  </a:lnTo>
                  <a:moveTo>
                    <a:pt x="0" y="247650"/>
                  </a:moveTo>
                  <a:lnTo>
                    <a:pt x="0" y="0"/>
                  </a:lnTo>
                  <a:moveTo>
                    <a:pt x="9334500" y="247650"/>
                  </a:moveTo>
                  <a:lnTo>
                    <a:pt x="9334500" y="0"/>
                  </a:lnTo>
                </a:path>
              </a:pathLst>
            </a:custGeom>
            <a:noFill/>
            <a:ln w="19050">
              <a:solidFill>
                <a:schemeClr val="accent3"/>
              </a:solidFill>
            </a:ln>
          </p:spPr>
        </p:sp>
        <p:sp>
          <p:nvSpPr>
            <p:cNvPr id="10" name="TextBox 10"/>
            <p:cNvSpPr txBox="1"/>
            <p:nvPr/>
          </p:nvSpPr>
          <p:spPr>
            <a:xfrm>
              <a:off x="3266694" y="39687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与人民代表大会制度的整体权力配置衔接</a:t>
              </a:r>
            </a:p>
          </p:txBody>
        </p:sp>
      </p:grpSp>
      <p:grpSp>
        <p:nvGrpSpPr>
          <p:cNvPr id="15" name="p25-reveal-1"/>
          <p:cNvGrpSpPr/>
          <p:nvPr/>
        </p:nvGrpSpPr>
        <p:grpSpPr>
          <a:xfrm>
            <a:off x="752094" y="5092700"/>
            <a:ext cx="7831455" cy="1178433"/>
            <a:chOff x="752094" y="5092700"/>
            <a:chExt cx="7831455" cy="1178433"/>
          </a:xfrm>
        </p:grpSpPr>
        <p:sp>
          <p:nvSpPr>
            <p:cNvPr id="12" name="TextBox 12"/>
            <p:cNvSpPr txBox="1"/>
            <p:nvPr/>
          </p:nvSpPr>
          <p:spPr>
            <a:xfrm>
              <a:off x="752094" y="5092700"/>
              <a:ext cx="739631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整体制度的解释，不是“地位高就自动取得任何监督权”的通则。</a:t>
              </a:r>
            </a:p>
          </p:txBody>
        </p:sp>
        <p:sp>
          <p:nvSpPr>
            <p:cNvPr id="13" name="TextBox 13"/>
            <p:cNvSpPr txBox="1"/>
            <p:nvPr/>
          </p:nvSpPr>
          <p:spPr>
            <a:xfrm>
              <a:off x="752094" y="55499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法院依法审案，不因此取得宣布全国人大法律违宪失效的权力。</a:t>
              </a:r>
            </a:p>
          </p:txBody>
        </p:sp>
        <p:sp>
          <p:nvSpPr>
            <p:cNvPr id="14" name="TextBox 14"/>
            <p:cNvSpPr txBox="1"/>
            <p:nvPr/>
          </p:nvSpPr>
          <p:spPr>
            <a:xfrm>
              <a:off x="755142" y="6007100"/>
              <a:ext cx="782840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同时，法院依法审查具体行政行为等法定职责仍应履行；外国机关名称不能直接移植成我国权限。</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12757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宪法第62、67条；教材归入代议机关监督制，比较类型与本国法定权限分别说明。</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25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两个机构，分别辨认</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做审查工作，不等于代行最终决定</a:t>
              </a:r>
            </a:p>
          </p:txBody>
        </p:sp>
      </p:grpSp>
      <p:grpSp>
        <p:nvGrpSpPr>
          <p:cNvPr id="14" name="two-work-organs"/>
          <p:cNvGrpSpPr/>
          <p:nvPr/>
        </p:nvGrpSpPr>
        <p:grpSpPr>
          <a:xfrm>
            <a:off x="749046" y="1974850"/>
            <a:ext cx="10056495" cy="2429383"/>
            <a:chOff x="749046" y="1974850"/>
            <a:chExt cx="10056495" cy="2429383"/>
          </a:xfrm>
        </p:grpSpPr>
        <p:sp>
          <p:nvSpPr>
            <p:cNvPr id="5" name="TextBox 5"/>
            <p:cNvSpPr txBox="1"/>
            <p:nvPr/>
          </p:nvSpPr>
          <p:spPr>
            <a:xfrm>
              <a:off x="749046" y="19748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宪法和法律委员会</a:t>
              </a:r>
            </a:p>
          </p:txBody>
        </p:sp>
        <p:sp>
          <p:nvSpPr>
            <p:cNvPr id="6" name="TextBox 6"/>
            <p:cNvSpPr txBox="1"/>
            <p:nvPr/>
          </p:nvSpPr>
          <p:spPr>
            <a:xfrm>
              <a:off x="752094" y="2540000"/>
              <a:ext cx="2382393"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全国人大专门委员会</a:t>
              </a:r>
            </a:p>
          </p:txBody>
        </p:sp>
        <p:sp>
          <p:nvSpPr>
            <p:cNvPr id="7" name="TextBox 7"/>
            <p:cNvSpPr txBox="1"/>
            <p:nvPr/>
          </p:nvSpPr>
          <p:spPr>
            <a:xfrm>
              <a:off x="752094" y="31115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统一审议法律草案等</a:t>
              </a:r>
            </a:p>
          </p:txBody>
        </p:sp>
        <p:sp>
          <p:nvSpPr>
            <p:cNvPr id="8" name="TextBox 8"/>
            <p:cNvSpPr txBox="1"/>
            <p:nvPr/>
          </p:nvSpPr>
          <p:spPr>
            <a:xfrm>
              <a:off x="752094" y="35687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推动实施、开展解释、推进合宪性审查</a:t>
              </a:r>
            </a:p>
          </p:txBody>
        </p:sp>
        <p:sp>
          <p:nvSpPr>
            <p:cNvPr id="9" name="TextBox 9"/>
            <p:cNvSpPr txBox="1"/>
            <p:nvPr/>
          </p:nvSpPr>
          <p:spPr>
            <a:xfrm>
              <a:off x="755142" y="4140200"/>
              <a:ext cx="426636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2018年更名及职责决定、2021年组织法等明确职责。</a:t>
              </a:r>
            </a:p>
          </p:txBody>
        </p:sp>
        <p:sp>
          <p:nvSpPr>
            <p:cNvPr id="10" name="TextBox 10"/>
            <p:cNvSpPr txBox="1"/>
            <p:nvPr/>
          </p:nvSpPr>
          <p:spPr>
            <a:xfrm>
              <a:off x="6845046" y="1974850"/>
              <a:ext cx="36530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常委会法制工作委员会</a:t>
              </a:r>
            </a:p>
          </p:txBody>
        </p:sp>
        <p:sp>
          <p:nvSpPr>
            <p:cNvPr id="11" name="TextBox 11"/>
            <p:cNvSpPr txBox="1"/>
            <p:nvPr/>
          </p:nvSpPr>
          <p:spPr>
            <a:xfrm>
              <a:off x="6848094" y="2540000"/>
              <a:ext cx="2907411"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全国人大常委会工作机构</a:t>
              </a:r>
            </a:p>
          </p:txBody>
        </p:sp>
        <p:sp>
          <p:nvSpPr>
            <p:cNvPr id="12" name="TextBox 12"/>
            <p:cNvSpPr txBox="1"/>
            <p:nvPr/>
          </p:nvSpPr>
          <p:spPr>
            <a:xfrm>
              <a:off x="6848094" y="31115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接收登记审查建议、审查研究</a:t>
              </a:r>
            </a:p>
          </p:txBody>
        </p:sp>
        <p:sp>
          <p:nvSpPr>
            <p:cNvPr id="13" name="TextBox 13"/>
            <p:cNvSpPr txBox="1"/>
            <p:nvPr/>
          </p:nvSpPr>
          <p:spPr>
            <a:xfrm>
              <a:off x="6848094" y="35687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提出意见、沟通、督促纠正、反馈</a:t>
              </a:r>
            </a:p>
          </p:txBody>
        </p:sp>
      </p:grpSp>
      <p:grpSp>
        <p:nvGrpSpPr>
          <p:cNvPr id="17" name="p26-reveal-1"/>
          <p:cNvGrpSpPr/>
          <p:nvPr/>
        </p:nvGrpSpPr>
        <p:grpSpPr>
          <a:xfrm>
            <a:off x="752094" y="5207000"/>
            <a:ext cx="6845046" cy="857631"/>
            <a:chOff x="752094" y="5207000"/>
            <a:chExt cx="6845046" cy="857631"/>
          </a:xfrm>
        </p:grpSpPr>
        <p:sp>
          <p:nvSpPr>
            <p:cNvPr id="15" name="TextBox 15"/>
            <p:cNvSpPr txBox="1"/>
            <p:nvPr/>
          </p:nvSpPr>
          <p:spPr>
            <a:xfrm>
              <a:off x="752094" y="520700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工作意见具有制度作用，但不等于常委会作出的撤销决定。</a:t>
              </a:r>
            </a:p>
          </p:txBody>
        </p:sp>
        <p:sp>
          <p:nvSpPr>
            <p:cNvPr id="16" name="TextBox 16"/>
            <p:cNvSpPr txBox="1"/>
            <p:nvPr/>
          </p:nvSpPr>
          <p:spPr>
            <a:xfrm>
              <a:off x="752094" y="56832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哪项行为由谁作出、发生什么效力，分别认定。</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639973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宪法第70条、全国人大组织法第39条、相关职责决定及备案审查制度；专门委员会与工作机构不混名。</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26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调用第七讲的区别</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同叫监督，主体、对象和标准不同</a:t>
              </a:r>
            </a:p>
          </p:txBody>
        </p:sp>
      </p:grpSp>
      <p:grpSp>
        <p:nvGrpSpPr>
          <p:cNvPr id="14" name="different-supervision"/>
          <p:cNvGrpSpPr/>
          <p:nvPr/>
        </p:nvGrpSpPr>
        <p:grpSpPr>
          <a:xfrm>
            <a:off x="749046" y="2108200"/>
            <a:ext cx="10462641" cy="1937131"/>
            <a:chOff x="749046" y="2108200"/>
            <a:chExt cx="10462641" cy="1937131"/>
          </a:xfrm>
        </p:grpSpPr>
        <p:sp>
          <p:nvSpPr>
            <p:cNvPr id="5" name="TextBox 5"/>
            <p:cNvSpPr txBox="1"/>
            <p:nvPr/>
          </p:nvSpPr>
          <p:spPr>
            <a:xfrm>
              <a:off x="749046" y="21082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国家监察</a:t>
              </a:r>
            </a:p>
          </p:txBody>
        </p:sp>
        <p:sp>
          <p:nvSpPr>
            <p:cNvPr id="6" name="TextBox 6"/>
            <p:cNvSpPr txBox="1"/>
            <p:nvPr/>
          </p:nvSpPr>
          <p:spPr>
            <a:xfrm>
              <a:off x="752094" y="27686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监察机关</a:t>
              </a:r>
            </a:p>
          </p:txBody>
        </p:sp>
        <p:sp>
          <p:nvSpPr>
            <p:cNvPr id="7" name="TextBox 7"/>
            <p:cNvSpPr txBox="1"/>
            <p:nvPr/>
          </p:nvSpPr>
          <p:spPr>
            <a:xfrm>
              <a:off x="752094" y="3302000"/>
              <a:ext cx="24963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依法监察行使公权力的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公职人员</a:t>
              </a:r>
            </a:p>
          </p:txBody>
        </p:sp>
        <p:sp>
          <p:nvSpPr>
            <p:cNvPr id="8" name="TextBox 8"/>
            <p:cNvSpPr txBox="1"/>
            <p:nvPr/>
          </p:nvSpPr>
          <p:spPr>
            <a:xfrm>
              <a:off x="4787646" y="21082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检察法律监督</a:t>
              </a:r>
            </a:p>
          </p:txBody>
        </p:sp>
        <p:sp>
          <p:nvSpPr>
            <p:cNvPr id="9" name="TextBox 9"/>
            <p:cNvSpPr txBox="1"/>
            <p:nvPr/>
          </p:nvSpPr>
          <p:spPr>
            <a:xfrm>
              <a:off x="4790694" y="27686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人民检察院</a:t>
              </a:r>
            </a:p>
          </p:txBody>
        </p:sp>
        <p:sp>
          <p:nvSpPr>
            <p:cNvPr id="10" name="TextBox 10"/>
            <p:cNvSpPr txBox="1"/>
            <p:nvPr/>
          </p:nvSpPr>
          <p:spPr>
            <a:xfrm>
              <a:off x="4790694" y="330200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通过法定检察职权</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监督法律实施</a:t>
              </a:r>
            </a:p>
          </p:txBody>
        </p:sp>
        <p:sp>
          <p:nvSpPr>
            <p:cNvPr id="11" name="TextBox 11"/>
            <p:cNvSpPr txBox="1"/>
            <p:nvPr/>
          </p:nvSpPr>
          <p:spPr>
            <a:xfrm>
              <a:off x="8826246" y="21082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宪法监督</a:t>
              </a:r>
            </a:p>
          </p:txBody>
        </p:sp>
        <p:sp>
          <p:nvSpPr>
            <p:cNvPr id="12" name="TextBox 12"/>
            <p:cNvSpPr txBox="1"/>
            <p:nvPr/>
          </p:nvSpPr>
          <p:spPr>
            <a:xfrm>
              <a:off x="8829294" y="27686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全国人大及其常委会</a:t>
              </a:r>
            </a:p>
          </p:txBody>
        </p:sp>
        <p:sp>
          <p:nvSpPr>
            <p:cNvPr id="13" name="TextBox 13"/>
            <p:cNvSpPr txBox="1"/>
            <p:nvPr/>
          </p:nvSpPr>
          <p:spPr>
            <a:xfrm>
              <a:off x="8829294" y="3302000"/>
              <a:ext cx="17533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宪法实施与相关</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规范性文件</a:t>
              </a:r>
            </a:p>
          </p:txBody>
        </p:sp>
      </p:grpSp>
      <p:grpSp>
        <p:nvGrpSpPr>
          <p:cNvPr id="18" name="p27-reveal-1"/>
          <p:cNvGrpSpPr/>
          <p:nvPr/>
        </p:nvGrpSpPr>
        <p:grpSpPr>
          <a:xfrm>
            <a:off x="752094" y="5149850"/>
            <a:ext cx="8945118" cy="1140333"/>
            <a:chOff x="752094" y="5149850"/>
            <a:chExt cx="8945118" cy="1140333"/>
          </a:xfrm>
        </p:grpSpPr>
        <p:sp>
          <p:nvSpPr>
            <p:cNvPr id="15" name="TextBox 15"/>
            <p:cNvSpPr txBox="1"/>
            <p:nvPr/>
          </p:nvSpPr>
          <p:spPr>
            <a:xfrm>
              <a:off x="752094" y="514985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违宪直接以宪法为标准；违法在这里以宪法以外的法律为标准。</a:t>
              </a:r>
            </a:p>
          </p:txBody>
        </p:sp>
        <p:sp>
          <p:nvSpPr>
            <p:cNvPr id="16" name="TextBox 16"/>
            <p:cNvSpPr txBox="1"/>
            <p:nvPr/>
          </p:nvSpPr>
          <p:spPr>
            <a:xfrm>
              <a:off x="752094" y="5588000"/>
              <a:ext cx="894511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合法性审查也不是法院独有的工作；备案审查同样会审上位法、权限与程序。</a:t>
              </a:r>
            </a:p>
          </p:txBody>
        </p:sp>
        <p:sp>
          <p:nvSpPr>
            <p:cNvPr id="17" name="TextBox 17"/>
            <p:cNvSpPr txBox="1"/>
            <p:nvPr/>
          </p:nvSpPr>
          <p:spPr>
            <a:xfrm>
              <a:off x="755142" y="6026150"/>
              <a:ext cx="71014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教材称违宪主体主要为国家权力行使者；违法主体也可为国家机关、企业、团体和个人。</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481660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教材第九章及相关组织规范；国外拒绝适用、弹劾等后果不能整套移入我国。</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27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两类判断可能交叉</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法律问题与宪法问题，可以相互联系</a:t>
              </a:r>
            </a:p>
          </p:txBody>
        </p:sp>
      </p:grpSp>
      <p:grpSp>
        <p:nvGrpSpPr>
          <p:cNvPr id="12" name="two-questions"/>
          <p:cNvGrpSpPr/>
          <p:nvPr/>
        </p:nvGrpSpPr>
        <p:grpSpPr>
          <a:xfrm>
            <a:off x="755142" y="1924050"/>
            <a:ext cx="10427208" cy="2689733"/>
            <a:chOff x="755142" y="1924050"/>
            <a:chExt cx="10427208" cy="2689733"/>
          </a:xfrm>
        </p:grpSpPr>
        <p:sp>
          <p:nvSpPr>
            <p:cNvPr id="5" name="Ellipse 5"/>
            <p:cNvSpPr/>
            <p:nvPr/>
          </p:nvSpPr>
          <p:spPr>
            <a:xfrm>
              <a:off x="1009650" y="1924050"/>
              <a:ext cx="6286500" cy="2209800"/>
            </a:xfrm>
            <a:prstGeom prst="ellipse">
              <a:avLst/>
            </a:prstGeom>
            <a:noFill/>
            <a:ln w="19050">
              <a:solidFill>
                <a:schemeClr val="accent3"/>
              </a:solidFill>
            </a:ln>
          </p:spPr>
        </p:sp>
        <p:sp>
          <p:nvSpPr>
            <p:cNvPr id="6" name="Ellipse 6"/>
            <p:cNvSpPr/>
            <p:nvPr/>
          </p:nvSpPr>
          <p:spPr>
            <a:xfrm>
              <a:off x="4895850" y="1924050"/>
              <a:ext cx="6286500" cy="2209800"/>
            </a:xfrm>
            <a:prstGeom prst="ellipse">
              <a:avLst/>
            </a:prstGeom>
            <a:noFill/>
            <a:ln w="19050">
              <a:solidFill>
                <a:schemeClr val="accent2"/>
              </a:solidFill>
            </a:ln>
          </p:spPr>
        </p:sp>
        <p:sp>
          <p:nvSpPr>
            <p:cNvPr id="7" name="TextBox 7"/>
            <p:cNvSpPr txBox="1"/>
            <p:nvPr/>
          </p:nvSpPr>
          <p:spPr>
            <a:xfrm>
              <a:off x="1702308" y="26035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抵触上位法律</a:t>
              </a:r>
            </a:p>
          </p:txBody>
        </p:sp>
        <p:sp>
          <p:nvSpPr>
            <p:cNvPr id="8" name="TextBox 8"/>
            <p:cNvSpPr txBox="1"/>
            <p:nvPr/>
          </p:nvSpPr>
          <p:spPr>
            <a:xfrm>
              <a:off x="1704594" y="31496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例：罚款幅度超出法律范围</a:t>
              </a:r>
            </a:p>
          </p:txBody>
        </p:sp>
        <p:sp>
          <p:nvSpPr>
            <p:cNvPr id="9" name="TextBox 9"/>
            <p:cNvSpPr txBox="1"/>
            <p:nvPr/>
          </p:nvSpPr>
          <p:spPr>
            <a:xfrm>
              <a:off x="7703058" y="26035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冲突宪法要求</a:t>
              </a:r>
            </a:p>
          </p:txBody>
        </p:sp>
        <p:sp>
          <p:nvSpPr>
            <p:cNvPr id="10" name="TextBox 10"/>
            <p:cNvSpPr txBox="1"/>
            <p:nvPr/>
          </p:nvSpPr>
          <p:spPr>
            <a:xfrm>
              <a:off x="7705344" y="31496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规定、原则和精神</a:t>
              </a:r>
            </a:p>
          </p:txBody>
        </p:sp>
        <p:sp>
          <p:nvSpPr>
            <p:cNvPr id="11" name="TextBox 11"/>
            <p:cNvSpPr txBox="1"/>
            <p:nvPr/>
          </p:nvSpPr>
          <p:spPr>
            <a:xfrm>
              <a:off x="755142" y="4349750"/>
              <a:ext cx="582930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两圈只示意问题可以交叉，不表达精确集合大小或所有问题的固定归类。</a:t>
              </a:r>
            </a:p>
          </p:txBody>
        </p:sp>
      </p:grpSp>
      <p:grpSp>
        <p:nvGrpSpPr>
          <p:cNvPr id="15" name="p28-reveal-1"/>
          <p:cNvGrpSpPr/>
          <p:nvPr/>
        </p:nvGrpSpPr>
        <p:grpSpPr>
          <a:xfrm>
            <a:off x="752094" y="5130800"/>
            <a:ext cx="9470136" cy="838581"/>
            <a:chOff x="752094" y="5130800"/>
            <a:chExt cx="9470136" cy="838581"/>
          </a:xfrm>
        </p:grpSpPr>
        <p:sp>
          <p:nvSpPr>
            <p:cNvPr id="13" name="TextBox 13"/>
            <p:cNvSpPr txBox="1"/>
            <p:nvPr/>
          </p:nvSpPr>
          <p:spPr>
            <a:xfrm>
              <a:off x="752094" y="5130800"/>
              <a:ext cx="713380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不能把“穷尽合法性”讲成现行制度中无例外的法定前置条件。</a:t>
              </a:r>
            </a:p>
          </p:txBody>
        </p:sp>
        <p:sp>
          <p:nvSpPr>
            <p:cNvPr id="14" name="TextBox 14"/>
            <p:cNvSpPr txBox="1"/>
            <p:nvPr/>
          </p:nvSpPr>
          <p:spPr>
            <a:xfrm>
              <a:off x="752094" y="5588000"/>
              <a:ext cx="947013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合宪性问题应依法研究；推进合宪性审查工作，也不表示概念到十九大才被创造。</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69297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教材方法论与2023备案审查决定分别辨认；例子是教学设例，不是报告已披露的具体法规。</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28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199918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上节收束</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正面实施与依法纠正，合在一门课里</a:t>
              </a:r>
            </a:p>
          </p:txBody>
        </p:sp>
      </p:grpSp>
      <p:grpSp>
        <p:nvGrpSpPr>
          <p:cNvPr id="9" name="upper-synthesis"/>
          <p:cNvGrpSpPr/>
          <p:nvPr/>
        </p:nvGrpSpPr>
        <p:grpSpPr>
          <a:xfrm>
            <a:off x="973836" y="2235200"/>
            <a:ext cx="6064377" cy="2295779"/>
            <a:chOff x="973836" y="2235200"/>
            <a:chExt cx="6064377" cy="2295779"/>
          </a:xfrm>
        </p:grpSpPr>
        <p:sp>
          <p:nvSpPr>
            <p:cNvPr id="5" name="TextBox 5"/>
            <p:cNvSpPr txBox="1"/>
            <p:nvPr/>
          </p:nvSpPr>
          <p:spPr>
            <a:xfrm>
              <a:off x="973836" y="223520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规范，不会自己落实。</a:t>
              </a:r>
            </a:p>
          </p:txBody>
        </p:sp>
        <p:sp>
          <p:nvSpPr>
            <p:cNvPr id="6" name="TextBox 6"/>
            <p:cNvSpPr txBox="1"/>
            <p:nvPr/>
          </p:nvSpPr>
          <p:spPr>
            <a:xfrm>
              <a:off x="980694" y="301625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立法具体化、机关履职、相关主体遵守，都有位置。</a:t>
              </a:r>
            </a:p>
          </p:txBody>
        </p:sp>
        <p:sp>
          <p:nvSpPr>
            <p:cNvPr id="7" name="Line 7"/>
            <p:cNvSpPr/>
            <p:nvPr/>
          </p:nvSpPr>
          <p:spPr>
            <a:xfrm>
              <a:off x="1028700" y="3676650"/>
              <a:ext cx="1447800" cy="9525"/>
            </a:xfrm>
            <a:custGeom>
              <a:avLst/>
              <a:gdLst/>
              <a:ahLst/>
              <a:cxnLst/>
              <a:rect l="l" t="t" r="r" b="b"/>
              <a:pathLst>
                <a:path w="1447800" h="9525">
                  <a:moveTo>
                    <a:pt x="0" y="0"/>
                  </a:moveTo>
                  <a:lnTo>
                    <a:pt x="1447800" y="0"/>
                  </a:lnTo>
                </a:path>
              </a:pathLst>
            </a:custGeom>
            <a:noFill/>
            <a:ln w="28575">
              <a:solidFill>
                <a:schemeClr val="accent2"/>
              </a:solidFill>
            </a:ln>
          </p:spPr>
        </p:sp>
        <p:sp>
          <p:nvSpPr>
            <p:cNvPr id="8" name="TextBox 8"/>
            <p:cNvSpPr txBox="1"/>
            <p:nvPr/>
          </p:nvSpPr>
          <p:spPr>
            <a:xfrm>
              <a:off x="977646" y="4032250"/>
              <a:ext cx="510387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研究与决定，也不能互相代替。</a:t>
              </a:r>
            </a:p>
          </p:txBody>
        </p:sp>
      </p:grpSp>
      <p:grpSp>
        <p:nvGrpSpPr>
          <p:cNvPr id="12" name="lower-question"/>
          <p:cNvGrpSpPr/>
          <p:nvPr/>
        </p:nvGrpSpPr>
        <p:grpSpPr>
          <a:xfrm>
            <a:off x="980694" y="5378450"/>
            <a:ext cx="7895082" cy="819531"/>
            <a:chOff x="980694" y="5378450"/>
            <a:chExt cx="7895082" cy="819531"/>
          </a:xfrm>
        </p:grpSpPr>
        <p:sp>
          <p:nvSpPr>
            <p:cNvPr id="10" name="TextBox 10"/>
            <p:cNvSpPr txBox="1"/>
            <p:nvPr/>
          </p:nvSpPr>
          <p:spPr>
            <a:xfrm>
              <a:off x="980694" y="5378450"/>
              <a:ext cx="526999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下节：一项真实地方性法规，怎样接受审查？</a:t>
              </a:r>
            </a:p>
          </p:txBody>
        </p:sp>
        <p:sp>
          <p:nvSpPr>
            <p:cNvPr id="11" name="TextBox 11"/>
            <p:cNvSpPr txBox="1"/>
            <p:nvPr/>
          </p:nvSpPr>
          <p:spPr>
            <a:xfrm>
              <a:off x="980694" y="581660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先看规定的理由，再看审查意见的条件，以及各主体实际做的工作。</a:t>
              </a:r>
            </a:p>
          </p:txBody>
        </p:sp>
      </p:grpSp>
      <p:grpSp>
        <p:nvGrpSpPr>
          <p:cNvPr id="15" name="footer"/>
          <p:cNvGrpSpPr/>
          <p:nvPr/>
        </p:nvGrpSpPr>
        <p:grpSpPr>
          <a:xfrm>
            <a:off x="604266" y="6464300"/>
            <a:ext cx="10828344" cy="205359"/>
            <a:chOff x="604266" y="6464300"/>
            <a:chExt cx="10828344" cy="205359"/>
          </a:xfrm>
        </p:grpSpPr>
        <p:sp>
          <p:nvSpPr>
            <p:cNvPr id="13" name="TextBox 13"/>
            <p:cNvSpPr txBox="1"/>
            <p:nvPr/>
          </p:nvSpPr>
          <p:spPr>
            <a:xfrm>
              <a:off x="604266" y="6464300"/>
              <a:ext cx="425119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上节回收；正面实施不是只为纠错预备术语，立法也不是全部实施。</a:t>
              </a:r>
            </a:p>
          </p:txBody>
        </p:sp>
        <p:sp>
          <p:nvSpPr>
            <p:cNvPr id="14" name="TextBox 14"/>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29 / 52</a:t>
              </a:r>
            </a:p>
          </p:txBody>
        </p:sp>
      </p:grpSp>
    </p:spTree>
  </p:cSld>
  <p:clrMapOvr>
    <a:masterClrMapping/>
  </p:clrMapOvr>
  <p:transition xmlns:p14="http://schemas.microsoft.com/office/powerpoint/2010/main" p14:dur="3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482584" cy="918464"/>
            <a:chOff x="592836" y="438150"/>
            <a:chExt cx="8482584" cy="918464"/>
          </a:xfrm>
        </p:grpSpPr>
        <p:sp>
          <p:nvSpPr>
            <p:cNvPr id="2" name="TextBox 2"/>
            <p:cNvSpPr txBox="1"/>
            <p:nvPr/>
          </p:nvSpPr>
          <p:spPr>
            <a:xfrm>
              <a:off x="603504" y="438150"/>
              <a:ext cx="397002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下节：2021年报告中的真实规范问题</a:t>
              </a:r>
            </a:p>
          </p:txBody>
        </p:sp>
        <p:sp>
          <p:nvSpPr>
            <p:cNvPr id="3" name="TextBox 3"/>
            <p:cNvSpPr txBox="1"/>
            <p:nvPr/>
          </p:nvSpPr>
          <p:spPr>
            <a:xfrm>
              <a:off x="592836" y="711200"/>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规定已经存在，就意味着全部合法的吗？</a:t>
              </a:r>
            </a:p>
          </p:txBody>
        </p:sp>
      </p:grpSp>
      <p:grpSp>
        <p:nvGrpSpPr>
          <p:cNvPr id="10" name="case-given"/>
          <p:cNvGrpSpPr/>
          <p:nvPr/>
        </p:nvGrpSpPr>
        <p:grpSpPr>
          <a:xfrm>
            <a:off x="749808" y="1822450"/>
            <a:ext cx="8266176" cy="2374392"/>
            <a:chOff x="749808" y="1822450"/>
            <a:chExt cx="8266176" cy="2374392"/>
          </a:xfrm>
        </p:grpSpPr>
        <p:sp>
          <p:nvSpPr>
            <p:cNvPr id="5" name="TextBox 5"/>
            <p:cNvSpPr txBox="1"/>
            <p:nvPr/>
          </p:nvSpPr>
          <p:spPr>
            <a:xfrm>
              <a:off x="749808" y="1822450"/>
              <a:ext cx="68900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“有的地方性法规” · 报告未披露地区和法规名称</a:t>
              </a:r>
            </a:p>
          </p:txBody>
        </p:sp>
        <p:sp>
          <p:nvSpPr>
            <p:cNvPr id="6" name="TextBox 6"/>
            <p:cNvSpPr txBox="1"/>
            <p:nvPr/>
          </p:nvSpPr>
          <p:spPr>
            <a:xfrm>
              <a:off x="752094" y="238760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涉及开锁、公章刻制、信托寄卖、金银首饰加工、废旧金属收购等行业</a:t>
              </a:r>
            </a:p>
          </p:txBody>
        </p:sp>
        <p:sp>
          <p:nvSpPr>
            <p:cNvPr id="7" name="TextBox 7"/>
            <p:cNvSpPr txBox="1"/>
            <p:nvPr/>
          </p:nvSpPr>
          <p:spPr>
            <a:xfrm>
              <a:off x="752094" y="301625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从业人员利用该行业便利进行违法活动，受过行政或刑事处罚</a:t>
              </a:r>
            </a:p>
          </p:txBody>
        </p:sp>
        <p:sp>
          <p:nvSpPr>
            <p:cNvPr id="8" name="Freeform 8"/>
            <p:cNvSpPr/>
            <p:nvPr/>
          </p:nvSpPr>
          <p:spPr>
            <a:xfrm>
              <a:off x="1143000" y="3562350"/>
              <a:ext cx="4362450" cy="419100"/>
            </a:xfrm>
            <a:custGeom>
              <a:avLst/>
              <a:gdLst/>
              <a:ahLst/>
              <a:cxnLst/>
              <a:rect l="l" t="t" r="r" b="b"/>
              <a:pathLst>
                <a:path w="4362450" h="419100">
                  <a:moveTo>
                    <a:pt x="0" y="0"/>
                  </a:moveTo>
                  <a:lnTo>
                    <a:pt x="0" y="342900"/>
                  </a:lnTo>
                  <a:lnTo>
                    <a:pt x="4343400" y="342900"/>
                  </a:lnTo>
                  <a:moveTo>
                    <a:pt x="4248150" y="266700"/>
                  </a:moveTo>
                  <a:lnTo>
                    <a:pt x="4362450" y="342900"/>
                  </a:lnTo>
                  <a:lnTo>
                    <a:pt x="4248150" y="419100"/>
                  </a:lnTo>
                </a:path>
              </a:pathLst>
            </a:custGeom>
            <a:noFill/>
            <a:ln w="19050">
              <a:solidFill>
                <a:schemeClr val="accent3"/>
              </a:solidFill>
            </a:ln>
          </p:spPr>
        </p:sp>
        <p:sp>
          <p:nvSpPr>
            <p:cNvPr id="9" name="TextBox 9"/>
            <p:cNvSpPr txBox="1"/>
            <p:nvPr/>
          </p:nvSpPr>
          <p:spPr>
            <a:xfrm>
              <a:off x="6083808" y="372745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终身不得从事该行业</a:t>
              </a:r>
            </a:p>
          </p:txBody>
        </p:sp>
      </p:grpSp>
      <p:grpSp>
        <p:nvGrpSpPr>
          <p:cNvPr id="14" name="p30-reveal-1"/>
          <p:cNvGrpSpPr/>
          <p:nvPr/>
        </p:nvGrpSpPr>
        <p:grpSpPr>
          <a:xfrm>
            <a:off x="752094" y="5073650"/>
            <a:ext cx="9470136" cy="1178433"/>
            <a:chOff x="752094" y="5073650"/>
            <a:chExt cx="9470136" cy="1178433"/>
          </a:xfrm>
        </p:grpSpPr>
        <p:sp>
          <p:nvSpPr>
            <p:cNvPr id="11" name="TextBox 11"/>
            <p:cNvSpPr txBox="1"/>
            <p:nvPr/>
          </p:nvSpPr>
          <p:spPr>
            <a:xfrm>
              <a:off x="752094" y="50736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有公民对此提出审查建议。</a:t>
              </a:r>
            </a:p>
          </p:txBody>
        </p:sp>
        <p:sp>
          <p:nvSpPr>
            <p:cNvPr id="12" name="TextBox 12"/>
            <p:cNvSpPr txBox="1"/>
            <p:nvPr/>
          </p:nvSpPr>
          <p:spPr>
            <a:xfrm>
              <a:off x="752094" y="5511800"/>
              <a:ext cx="947013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一般渠道：依法书面提出规范疑问；不是诉讼或举报，不须先证明自己受该限制。</a:t>
              </a:r>
            </a:p>
          </p:txBody>
        </p:sp>
        <p:sp>
          <p:nvSpPr>
            <p:cNvPr id="13" name="TextBox 13"/>
            <p:cNvSpPr txBox="1"/>
            <p:nvPr/>
          </p:nvSpPr>
          <p:spPr>
            <a:xfrm>
              <a:off x="755142" y="598805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请先作出判断，并说明理由。</a:t>
              </a:r>
            </a:p>
          </p:txBody>
        </p:sp>
      </p:gr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744573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2021年备案审查报告，《全国人大常委会公报》2022年第1号，第246页；原段转述，建议人的具体身份和人数未披露。</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30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认真理解管理目的</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公共安全的理由，要认真对待</a:t>
              </a:r>
            </a:p>
          </p:txBody>
        </p:sp>
      </p:grpSp>
      <p:grpSp>
        <p:nvGrpSpPr>
          <p:cNvPr id="15" name="industry-connections"/>
          <p:cNvGrpSpPr/>
          <p:nvPr/>
        </p:nvGrpSpPr>
        <p:grpSpPr>
          <a:xfrm>
            <a:off x="749808" y="1936750"/>
            <a:ext cx="8887206" cy="2581783"/>
            <a:chOff x="749808" y="1936750"/>
            <a:chExt cx="8887206" cy="2581783"/>
          </a:xfrm>
        </p:grpSpPr>
        <p:sp>
          <p:nvSpPr>
            <p:cNvPr id="5" name="TextBox 5"/>
            <p:cNvSpPr txBox="1"/>
            <p:nvPr/>
          </p:nvSpPr>
          <p:spPr>
            <a:xfrm>
              <a:off x="749808" y="19367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开锁</a:t>
              </a:r>
            </a:p>
          </p:txBody>
        </p:sp>
        <p:sp>
          <p:nvSpPr>
            <p:cNvPr id="6" name="Freeform 6"/>
            <p:cNvSpPr/>
            <p:nvPr/>
          </p:nvSpPr>
          <p:spPr>
            <a:xfrm>
              <a:off x="3238500" y="2038350"/>
              <a:ext cx="2419350" cy="152400"/>
            </a:xfrm>
            <a:custGeom>
              <a:avLst/>
              <a:gdLst/>
              <a:ahLst/>
              <a:cxnLst/>
              <a:rect l="l" t="t" r="r" b="b"/>
              <a:pathLst>
                <a:path w="2419350" h="152400">
                  <a:moveTo>
                    <a:pt x="0" y="76200"/>
                  </a:moveTo>
                  <a:lnTo>
                    <a:pt x="2400300" y="76200"/>
                  </a:lnTo>
                  <a:moveTo>
                    <a:pt x="2305050" y="0"/>
                  </a:moveTo>
                  <a:lnTo>
                    <a:pt x="2419350" y="76200"/>
                  </a:lnTo>
                  <a:lnTo>
                    <a:pt x="2305050" y="152400"/>
                  </a:lnTo>
                </a:path>
              </a:pathLst>
            </a:custGeom>
            <a:noFill/>
            <a:ln w="19050">
              <a:solidFill>
                <a:schemeClr val="accent3"/>
              </a:solidFill>
            </a:ln>
          </p:spPr>
        </p:sp>
        <p:sp>
          <p:nvSpPr>
            <p:cNvPr id="7" name="TextBox 7"/>
            <p:cNvSpPr txBox="1"/>
            <p:nvPr/>
          </p:nvSpPr>
          <p:spPr>
            <a:xfrm>
              <a:off x="6467094" y="19875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住宅进入、开启门锁的技术</a:t>
              </a:r>
            </a:p>
          </p:txBody>
        </p:sp>
        <p:sp>
          <p:nvSpPr>
            <p:cNvPr id="8" name="TextBox 8"/>
            <p:cNvSpPr txBox="1"/>
            <p:nvPr/>
          </p:nvSpPr>
          <p:spPr>
            <a:xfrm>
              <a:off x="749808" y="27749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公章刻制</a:t>
              </a:r>
            </a:p>
          </p:txBody>
        </p:sp>
        <p:sp>
          <p:nvSpPr>
            <p:cNvPr id="9" name="Freeform 9"/>
            <p:cNvSpPr/>
            <p:nvPr/>
          </p:nvSpPr>
          <p:spPr>
            <a:xfrm>
              <a:off x="3238500" y="2876550"/>
              <a:ext cx="2419350" cy="152400"/>
            </a:xfrm>
            <a:custGeom>
              <a:avLst/>
              <a:gdLst/>
              <a:ahLst/>
              <a:cxnLst/>
              <a:rect l="l" t="t" r="r" b="b"/>
              <a:pathLst>
                <a:path w="2419350" h="152400">
                  <a:moveTo>
                    <a:pt x="0" y="76200"/>
                  </a:moveTo>
                  <a:lnTo>
                    <a:pt x="2400300" y="76200"/>
                  </a:lnTo>
                  <a:moveTo>
                    <a:pt x="2305050" y="0"/>
                  </a:moveTo>
                  <a:lnTo>
                    <a:pt x="2419350" y="76200"/>
                  </a:lnTo>
                  <a:lnTo>
                    <a:pt x="2305050" y="152400"/>
                  </a:lnTo>
                </a:path>
              </a:pathLst>
            </a:custGeom>
            <a:noFill/>
            <a:ln w="19050">
              <a:solidFill>
                <a:schemeClr val="accent3"/>
              </a:solidFill>
            </a:ln>
          </p:spPr>
        </p:sp>
        <p:sp>
          <p:nvSpPr>
            <p:cNvPr id="10" name="TextBox 10"/>
            <p:cNvSpPr txBox="1"/>
            <p:nvPr/>
          </p:nvSpPr>
          <p:spPr>
            <a:xfrm>
              <a:off x="6467094" y="28257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印章真实与交易信任</a:t>
              </a:r>
            </a:p>
          </p:txBody>
        </p:sp>
        <p:sp>
          <p:nvSpPr>
            <p:cNvPr id="11" name="TextBox 11"/>
            <p:cNvSpPr txBox="1"/>
            <p:nvPr/>
          </p:nvSpPr>
          <p:spPr>
            <a:xfrm>
              <a:off x="749808" y="36131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加工、收购、寄卖</a:t>
              </a:r>
            </a:p>
          </p:txBody>
        </p:sp>
        <p:sp>
          <p:nvSpPr>
            <p:cNvPr id="12" name="Freeform 12"/>
            <p:cNvSpPr/>
            <p:nvPr/>
          </p:nvSpPr>
          <p:spPr>
            <a:xfrm>
              <a:off x="3905250" y="3714750"/>
              <a:ext cx="1752600" cy="152400"/>
            </a:xfrm>
            <a:custGeom>
              <a:avLst/>
              <a:gdLst/>
              <a:ahLst/>
              <a:cxnLst/>
              <a:rect l="l" t="t" r="r" b="b"/>
              <a:pathLst>
                <a:path w="1752600" h="152400">
                  <a:moveTo>
                    <a:pt x="0" y="76200"/>
                  </a:moveTo>
                  <a:lnTo>
                    <a:pt x="1733550" y="76200"/>
                  </a:lnTo>
                  <a:moveTo>
                    <a:pt x="1638300" y="0"/>
                  </a:moveTo>
                  <a:lnTo>
                    <a:pt x="1752600" y="76200"/>
                  </a:lnTo>
                  <a:lnTo>
                    <a:pt x="1638300" y="152400"/>
                  </a:lnTo>
                </a:path>
              </a:pathLst>
            </a:custGeom>
            <a:noFill/>
            <a:ln w="19050">
              <a:solidFill>
                <a:schemeClr val="accent3"/>
              </a:solidFill>
            </a:ln>
          </p:spPr>
        </p:sp>
        <p:sp>
          <p:nvSpPr>
            <p:cNvPr id="13" name="TextBox 13"/>
            <p:cNvSpPr txBox="1"/>
            <p:nvPr/>
          </p:nvSpPr>
          <p:spPr>
            <a:xfrm>
              <a:off x="6467094" y="36639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财物来源、流转与受托处置</a:t>
              </a:r>
            </a:p>
          </p:txBody>
        </p:sp>
        <p:sp>
          <p:nvSpPr>
            <p:cNvPr id="14" name="TextBox 14"/>
            <p:cNvSpPr txBox="1"/>
            <p:nvPr/>
          </p:nvSpPr>
          <p:spPr>
            <a:xfrm>
              <a:off x="755142" y="4254500"/>
              <a:ext cx="492061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活动特点与保护需要的课堂说明，不是行业违法频率的统计。</a:t>
              </a:r>
            </a:p>
          </p:txBody>
        </p:sp>
      </p:grpSp>
      <p:grpSp>
        <p:nvGrpSpPr>
          <p:cNvPr id="19" name="p31-reveal-1"/>
          <p:cNvGrpSpPr/>
          <p:nvPr/>
        </p:nvGrpSpPr>
        <p:grpSpPr>
          <a:xfrm>
            <a:off x="752094" y="5035550"/>
            <a:ext cx="7632573" cy="1178433"/>
            <a:chOff x="752094" y="5035550"/>
            <a:chExt cx="7632573" cy="1178433"/>
          </a:xfrm>
        </p:grpSpPr>
        <p:sp>
          <p:nvSpPr>
            <p:cNvPr id="16" name="TextBox 16"/>
            <p:cNvSpPr txBox="1"/>
            <p:nvPr/>
          </p:nvSpPr>
          <p:spPr>
            <a:xfrm>
              <a:off x="752094" y="5035550"/>
              <a:ext cx="763257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报告肯定：较严格的从业资格条件，对维护公共安全有积极作用。</a:t>
              </a:r>
            </a:p>
          </p:txBody>
        </p:sp>
        <p:sp>
          <p:nvSpPr>
            <p:cNvPr id="17" name="TextBox 17"/>
            <p:cNvSpPr txBox="1"/>
            <p:nvPr/>
          </p:nvSpPr>
          <p:spPr>
            <a:xfrm>
              <a:off x="752094" y="545465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对象仍有两限定：利用行业便利违法，并已受行政或刑事处罚。</a:t>
              </a:r>
            </a:p>
          </p:txBody>
        </p:sp>
        <p:sp>
          <p:nvSpPr>
            <p:cNvPr id="18" name="TextBox 18"/>
            <p:cNvSpPr txBox="1"/>
            <p:nvPr/>
          </p:nvSpPr>
          <p:spPr>
            <a:xfrm>
              <a:off x="755142" y="5949950"/>
              <a:ext cx="728319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不是全部从业者，也不只是具有某种身份；审查意见同时承认了维护公共安全的积极作用。</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584846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2021报告原段；本页活动特点说明用于理解管理目的，“信托寄卖”按该段受托处置物品理解。</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31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有条件的审查意见</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目的被认可，期限仍须有理由</a:t>
              </a:r>
            </a:p>
          </p:txBody>
        </p:sp>
      </p:grpSp>
      <p:grpSp>
        <p:nvGrpSpPr>
          <p:cNvPr id="11" name="conditional-opinion"/>
          <p:cNvGrpSpPr/>
          <p:nvPr/>
        </p:nvGrpSpPr>
        <p:grpSpPr>
          <a:xfrm>
            <a:off x="745236" y="1790700"/>
            <a:ext cx="10684764" cy="2448814"/>
            <a:chOff x="745236" y="1790700"/>
            <a:chExt cx="10684764" cy="2448814"/>
          </a:xfrm>
        </p:grpSpPr>
        <p:sp>
          <p:nvSpPr>
            <p:cNvPr id="5" name="Rectangle 5"/>
            <p:cNvSpPr/>
            <p:nvPr/>
          </p:nvSpPr>
          <p:spPr>
            <a:xfrm>
              <a:off x="762000" y="1790700"/>
              <a:ext cx="10668000" cy="933450"/>
            </a:xfrm>
            <a:prstGeom prst="rect">
              <a:avLst/>
            </a:prstGeom>
            <a:solidFill>
              <a:schemeClr val="accent5"/>
            </a:solidFill>
            <a:ln>
              <a:noFill/>
            </a:ln>
          </p:spPr>
        </p:sp>
        <p:sp>
          <p:nvSpPr>
            <p:cNvPr id="6" name="TextBox 6"/>
            <p:cNvSpPr txBox="1"/>
            <p:nvPr/>
          </p:nvSpPr>
          <p:spPr>
            <a:xfrm>
              <a:off x="1021842" y="2025650"/>
              <a:ext cx="185834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领域条件 · 原文关键词</a:t>
              </a:r>
            </a:p>
          </p:txBody>
        </p:sp>
        <p:sp>
          <p:nvSpPr>
            <p:cNvPr id="7" name="TextBox 7"/>
            <p:cNvSpPr txBox="1"/>
            <p:nvPr/>
          </p:nvSpPr>
          <p:spPr>
            <a:xfrm>
              <a:off x="1016508" y="2260600"/>
              <a:ext cx="616305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在法律、行政法规没有规定从业限制的领域</a:t>
              </a:r>
            </a:p>
          </p:txBody>
        </p:sp>
        <p:sp>
          <p:nvSpPr>
            <p:cNvPr id="8" name="TextBox 8"/>
            <p:cNvSpPr txBox="1"/>
            <p:nvPr/>
          </p:nvSpPr>
          <p:spPr>
            <a:xfrm>
              <a:off x="752094" y="31305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地方性法规作出相关从业限制规定时</a:t>
              </a:r>
            </a:p>
          </p:txBody>
        </p:sp>
        <p:sp>
          <p:nvSpPr>
            <p:cNvPr id="9" name="TextBox 9"/>
            <p:cNvSpPr txBox="1"/>
            <p:nvPr/>
          </p:nvSpPr>
          <p:spPr>
            <a:xfrm>
              <a:off x="745236" y="3594100"/>
              <a:ext cx="4304995"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j-lt"/>
                  <a:ea typeface="+mj-ea"/>
                  <a:cs typeface="+mj-cs"/>
                </a:rPr>
                <a:t>不宜规定“终身禁止”</a:t>
              </a:r>
            </a:p>
          </p:txBody>
        </p:sp>
        <p:sp>
          <p:nvSpPr>
            <p:cNvPr id="10" name="TextBox 10"/>
            <p:cNvSpPr txBox="1"/>
            <p:nvPr/>
          </p:nvSpPr>
          <p:spPr>
            <a:xfrm>
              <a:off x="7419594" y="37592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建议制定机关调整完善相关规定</a:t>
              </a:r>
            </a:p>
          </p:txBody>
        </p:sp>
      </p:grpSp>
      <p:grpSp>
        <p:nvGrpSpPr>
          <p:cNvPr id="15" name="p32-reveal-1"/>
          <p:cNvGrpSpPr/>
          <p:nvPr/>
        </p:nvGrpSpPr>
        <p:grpSpPr>
          <a:xfrm>
            <a:off x="752094" y="5054600"/>
            <a:ext cx="8420100" cy="1159383"/>
            <a:chOff x="752094" y="5054600"/>
            <a:chExt cx="8420100" cy="1159383"/>
          </a:xfrm>
        </p:grpSpPr>
        <p:sp>
          <p:nvSpPr>
            <p:cNvPr id="12" name="TextBox 12"/>
            <p:cNvSpPr txBox="1"/>
            <p:nvPr/>
          </p:nvSpPr>
          <p:spPr>
            <a:xfrm>
              <a:off x="752094" y="50546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地方不是绝对无权管理；有管理权限，也不证明任何强度和期限都合理。</a:t>
              </a:r>
            </a:p>
          </p:txBody>
        </p:sp>
        <p:sp>
          <p:nvSpPr>
            <p:cNvPr id="13" name="TextBox 13"/>
            <p:cNvSpPr txBox="1"/>
            <p:nvPr/>
          </p:nvSpPr>
          <p:spPr>
            <a:xfrm>
              <a:off x="752094" y="5473700"/>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过去受过处罚，与今后一生都存在同样危险，不是同一个事实。</a:t>
              </a:r>
            </a:p>
          </p:txBody>
        </p:sp>
        <p:sp>
          <p:nvSpPr>
            <p:cNvPr id="14" name="TextBox 14"/>
            <p:cNvSpPr txBox="1"/>
            <p:nvPr/>
          </p:nvSpPr>
          <p:spPr>
            <a:xfrm>
              <a:off x="755142" y="5949950"/>
              <a:ext cx="568391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目的、手段、限度是课堂分析的角度；2021报告未逐项展开这套论证。</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42441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2021报告主案原段；意见限于上述上位法领域条件，“不宜”不等于禁止一切从业限制。</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32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32384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2024后续报告，另一份材料</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后续因素，不能倒写成当年理由</a:t>
              </a:r>
            </a:p>
          </p:txBody>
        </p:sp>
      </p:grpSp>
      <p:grpSp>
        <p:nvGrpSpPr>
          <p:cNvPr id="12" name="later-report"/>
          <p:cNvGrpSpPr/>
          <p:nvPr/>
        </p:nvGrpSpPr>
        <p:grpSpPr>
          <a:xfrm>
            <a:off x="742950" y="2025650"/>
            <a:ext cx="9920859" cy="2018792"/>
            <a:chOff x="742950" y="2025650"/>
            <a:chExt cx="9920859" cy="2018792"/>
          </a:xfrm>
        </p:grpSpPr>
        <p:sp>
          <p:nvSpPr>
            <p:cNvPr id="5" name="TextBox 5"/>
            <p:cNvSpPr txBox="1"/>
            <p:nvPr/>
          </p:nvSpPr>
          <p:spPr>
            <a:xfrm>
              <a:off x="742950" y="2070100"/>
              <a:ext cx="1727911"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2024</a:t>
              </a:r>
            </a:p>
          </p:txBody>
        </p:sp>
        <p:sp>
          <p:nvSpPr>
            <p:cNvPr id="6" name="TextBox 6"/>
            <p:cNvSpPr txBox="1"/>
            <p:nvPr/>
          </p:nvSpPr>
          <p:spPr>
            <a:xfrm>
              <a:off x="752094" y="30543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涉罪人员从业限制</a:t>
              </a:r>
            </a:p>
          </p:txBody>
        </p:sp>
        <p:sp>
          <p:nvSpPr>
            <p:cNvPr id="7" name="TextBox 7"/>
            <p:cNvSpPr txBox="1"/>
            <p:nvPr/>
          </p:nvSpPr>
          <p:spPr>
            <a:xfrm>
              <a:off x="752094" y="3549650"/>
              <a:ext cx="348493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后续认识，不是2021原案细节</a:t>
              </a:r>
            </a:p>
          </p:txBody>
        </p:sp>
        <p:sp>
          <p:nvSpPr>
            <p:cNvPr id="8" name="TextBox 8"/>
            <p:cNvSpPr txBox="1"/>
            <p:nvPr/>
          </p:nvSpPr>
          <p:spPr>
            <a:xfrm>
              <a:off x="6181344" y="20256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限制确有必要，限于特定范围</a:t>
              </a:r>
            </a:p>
          </p:txBody>
        </p:sp>
        <p:sp>
          <p:nvSpPr>
            <p:cNvPr id="9" name="TextBox 9"/>
            <p:cNvSpPr txBox="1"/>
            <p:nvPr/>
          </p:nvSpPr>
          <p:spPr>
            <a:xfrm>
              <a:off x="6181344" y="25400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综合罪刑轻重、罪名种类、社会危害性</a:t>
              </a:r>
            </a:p>
          </p:txBody>
        </p:sp>
        <p:sp>
          <p:nvSpPr>
            <p:cNvPr id="10" name="TextBox 10"/>
            <p:cNvSpPr txBox="1"/>
            <p:nvPr/>
          </p:nvSpPr>
          <p:spPr>
            <a:xfrm>
              <a:off x="6181344" y="30543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限制与犯罪的关联性</a:t>
              </a:r>
            </a:p>
          </p:txBody>
        </p:sp>
        <p:sp>
          <p:nvSpPr>
            <p:cNvPr id="11" name="TextBox 11"/>
            <p:cNvSpPr txBox="1"/>
            <p:nvPr/>
          </p:nvSpPr>
          <p:spPr>
            <a:xfrm>
              <a:off x="6179058" y="3575050"/>
              <a:ext cx="260908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慎重设定终身禁业</a:t>
              </a:r>
            </a:p>
          </p:txBody>
        </p:sp>
      </p:grpSp>
      <p:grpSp>
        <p:nvGrpSpPr>
          <p:cNvPr id="16" name="p33-reveal-1"/>
          <p:cNvGrpSpPr/>
          <p:nvPr/>
        </p:nvGrpSpPr>
        <p:grpSpPr>
          <a:xfrm>
            <a:off x="752094" y="5092700"/>
            <a:ext cx="8945118" cy="1178433"/>
            <a:chOff x="752094" y="5092700"/>
            <a:chExt cx="8945118" cy="1178433"/>
          </a:xfrm>
        </p:grpSpPr>
        <p:sp>
          <p:nvSpPr>
            <p:cNvPr id="13" name="TextBox 13"/>
            <p:cNvSpPr txBox="1"/>
            <p:nvPr/>
          </p:nvSpPr>
          <p:spPr>
            <a:xfrm>
              <a:off x="752094" y="509270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较短期限、限定岗位、重新评价，可以研究；本案并未比较这些措施的效果。</a:t>
              </a:r>
            </a:p>
          </p:txBody>
        </p:sp>
        <p:sp>
          <p:nvSpPr>
            <p:cNvPr id="14" name="TextBox 14"/>
            <p:cNvSpPr txBox="1"/>
            <p:nvPr/>
          </p:nvSpPr>
          <p:spPr>
            <a:xfrm>
              <a:off x="752094" y="553085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不能先假定替代措施同样有效，就宣布必要性审查已经完成。</a:t>
              </a:r>
            </a:p>
          </p:txBody>
        </p:sp>
        <p:sp>
          <p:nvSpPr>
            <p:cNvPr id="15" name="TextBox 15"/>
            <p:cNvSpPr txBox="1"/>
            <p:nvPr/>
          </p:nvSpPr>
          <p:spPr>
            <a:xfrm>
              <a:off x="755142" y="6007100"/>
              <a:ext cx="477522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2021报告没有提供处罚已执行完毕、本人已经改过的事实。</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31133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2024-12-22备案审查工作情况报告第三部分相关段；中文准确转述，明确后续身份。</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33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3788664" cy="918464"/>
            <a:chOff x="592836" y="438150"/>
            <a:chExt cx="3788664" cy="918464"/>
          </a:xfrm>
        </p:grpSpPr>
        <p:sp>
          <p:nvSpPr>
            <p:cNvPr id="2" name="TextBox 2"/>
            <p:cNvSpPr txBox="1"/>
            <p:nvPr/>
          </p:nvSpPr>
          <p:spPr>
            <a:xfrm>
              <a:off x="603504" y="43815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独立思考约1—2分钟</a:t>
              </a:r>
            </a:p>
          </p:txBody>
        </p:sp>
        <p:sp>
          <p:nvSpPr>
            <p:cNvPr id="3" name="TextBox 3"/>
            <p:cNvSpPr txBox="1"/>
            <p:nvPr/>
          </p:nvSpPr>
          <p:spPr>
            <a:xfrm>
              <a:off x="592836" y="711200"/>
              <a:ext cx="378866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把报告读成三句话</a:t>
              </a:r>
            </a:p>
          </p:txBody>
        </p:sp>
      </p:grpSp>
      <p:grpSp>
        <p:nvGrpSpPr>
          <p:cNvPr id="7" name="report-excerpt"/>
          <p:cNvGrpSpPr/>
          <p:nvPr/>
        </p:nvGrpSpPr>
        <p:grpSpPr>
          <a:xfrm>
            <a:off x="752094" y="1892300"/>
            <a:ext cx="8439912" cy="1772031"/>
            <a:chOff x="752094" y="1892300"/>
            <a:chExt cx="8439912" cy="1772031"/>
          </a:xfrm>
        </p:grpSpPr>
        <p:sp>
          <p:nvSpPr>
            <p:cNvPr id="5" name="TextBox 5"/>
            <p:cNvSpPr txBox="1"/>
            <p:nvPr/>
          </p:nvSpPr>
          <p:spPr>
            <a:xfrm>
              <a:off x="755142" y="1892300"/>
              <a:ext cx="276703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报告必要节选 · 截止建议调整完善</a:t>
              </a:r>
            </a:p>
          </p:txBody>
        </p:sp>
        <p:sp>
          <p:nvSpPr>
            <p:cNvPr id="6" name="TextBox 6"/>
            <p:cNvSpPr txBox="1"/>
            <p:nvPr/>
          </p:nvSpPr>
          <p:spPr>
            <a:xfrm>
              <a:off x="752094" y="2197100"/>
              <a:ext cx="8439912" cy="14672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我们审查认为，地方性法规对某些特种行业设定较为严格的从业资格条件，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对维护公共安全有积极作用，但在法律、行政法规没有规定从业限制的领域，</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地方性法规作出相关从业限制规定时，不宜规定“终身禁止”，</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建议制定机关调整完善相关规定。</a:t>
              </a:r>
            </a:p>
          </p:txBody>
        </p:sp>
      </p:grpSp>
      <p:grpSp>
        <p:nvGrpSpPr>
          <p:cNvPr id="11" name="three-prompts"/>
          <p:cNvGrpSpPr/>
          <p:nvPr/>
        </p:nvGrpSpPr>
        <p:grpSpPr>
          <a:xfrm>
            <a:off x="749808" y="4337050"/>
            <a:ext cx="10287000" cy="469392"/>
            <a:chOff x="749808" y="4337050"/>
            <a:chExt cx="10287000" cy="469392"/>
          </a:xfrm>
        </p:grpSpPr>
        <p:sp>
          <p:nvSpPr>
            <p:cNvPr id="8" name="TextBox 8"/>
            <p:cNvSpPr txBox="1"/>
            <p:nvPr/>
          </p:nvSpPr>
          <p:spPr>
            <a:xfrm>
              <a:off x="749808" y="43370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认可什么？</a:t>
              </a:r>
            </a:p>
          </p:txBody>
        </p:sp>
        <p:sp>
          <p:nvSpPr>
            <p:cNvPr id="9" name="TextBox 9"/>
            <p:cNvSpPr txBox="1"/>
            <p:nvPr/>
          </p:nvSpPr>
          <p:spPr>
            <a:xfrm>
              <a:off x="4750308" y="43370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什么条件？</a:t>
              </a:r>
            </a:p>
          </p:txBody>
        </p:sp>
        <p:sp>
          <p:nvSpPr>
            <p:cNvPr id="10" name="TextBox 10"/>
            <p:cNvSpPr txBox="1"/>
            <p:nvPr/>
          </p:nvSpPr>
          <p:spPr>
            <a:xfrm>
              <a:off x="8750808" y="43370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建议怎样处理？</a:t>
              </a:r>
            </a:p>
          </p:txBody>
        </p:sp>
      </p:grpSp>
      <p:grpSp>
        <p:nvGrpSpPr>
          <p:cNvPr id="15" name="p34-reveal-1"/>
          <p:cNvGrpSpPr/>
          <p:nvPr/>
        </p:nvGrpSpPr>
        <p:grpSpPr>
          <a:xfrm>
            <a:off x="752094" y="5207000"/>
            <a:ext cx="9506712" cy="743331"/>
            <a:chOff x="752094" y="5207000"/>
            <a:chExt cx="9506712" cy="743331"/>
          </a:xfrm>
        </p:grpSpPr>
        <p:sp>
          <p:nvSpPr>
            <p:cNvPr id="12" name="TextBox 12"/>
            <p:cNvSpPr txBox="1"/>
            <p:nvPr/>
          </p:nvSpPr>
          <p:spPr>
            <a:xfrm>
              <a:off x="752094" y="520700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较严资格条件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维护安全的积极作用</a:t>
              </a:r>
            </a:p>
          </p:txBody>
        </p:sp>
        <p:sp>
          <p:nvSpPr>
            <p:cNvPr id="13" name="TextBox 13"/>
            <p:cNvSpPr txBox="1"/>
            <p:nvPr/>
          </p:nvSpPr>
          <p:spPr>
            <a:xfrm>
              <a:off x="4752594" y="5207000"/>
              <a:ext cx="24963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法律、行政法规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未规定从业限制的领域</a:t>
              </a:r>
            </a:p>
          </p:txBody>
        </p:sp>
        <p:sp>
          <p:nvSpPr>
            <p:cNvPr id="14" name="TextBox 14"/>
            <p:cNvSpPr txBox="1"/>
            <p:nvPr/>
          </p:nvSpPr>
          <p:spPr>
            <a:xfrm>
              <a:off x="8753094" y="5207000"/>
              <a:ext cx="15057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不宜终身禁止</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建议调整完善</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429360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2021报告原文节选，截止“建议制定机关调整完善相关规定”这一句。</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34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报告、课堂分析、未知</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联系劳动权，也要标明分析的身份</a:t>
              </a:r>
            </a:p>
          </p:txBody>
        </p:sp>
      </p:grpSp>
      <p:grpSp>
        <p:nvGrpSpPr>
          <p:cNvPr id="13" name="case-source-identity"/>
          <p:cNvGrpSpPr/>
          <p:nvPr/>
        </p:nvGrpSpPr>
        <p:grpSpPr>
          <a:xfrm>
            <a:off x="749046" y="2089150"/>
            <a:ext cx="9683877" cy="2070481"/>
            <a:chOff x="749046" y="2089150"/>
            <a:chExt cx="9683877" cy="2070481"/>
          </a:xfrm>
        </p:grpSpPr>
        <p:sp>
          <p:nvSpPr>
            <p:cNvPr id="5" name="TextBox 5"/>
            <p:cNvSpPr txBox="1"/>
            <p:nvPr/>
          </p:nvSpPr>
          <p:spPr>
            <a:xfrm>
              <a:off x="749046" y="2101850"/>
              <a:ext cx="336285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2021报告公开的内容</a:t>
              </a:r>
            </a:p>
          </p:txBody>
        </p:sp>
        <p:sp>
          <p:nvSpPr>
            <p:cNvPr id="6" name="TextBox 6"/>
            <p:cNvSpPr txBox="1"/>
            <p:nvPr/>
          </p:nvSpPr>
          <p:spPr>
            <a:xfrm>
              <a:off x="752094" y="27495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有条件的审查意见、修改结果</a:t>
              </a:r>
            </a:p>
          </p:txBody>
        </p:sp>
        <p:sp>
          <p:nvSpPr>
            <p:cNvPr id="7" name="TextBox 7"/>
            <p:cNvSpPr txBox="1"/>
            <p:nvPr/>
          </p:nvSpPr>
          <p:spPr>
            <a:xfrm>
              <a:off x="752094" y="3282950"/>
              <a:ext cx="293366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该段没有援引宪法第42条</a:t>
              </a:r>
            </a:p>
          </p:txBody>
        </p:sp>
        <p:sp>
          <p:nvSpPr>
            <p:cNvPr id="8" name="TextBox 8"/>
            <p:cNvSpPr txBox="1"/>
            <p:nvPr/>
          </p:nvSpPr>
          <p:spPr>
            <a:xfrm>
              <a:off x="752094" y="37782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未披露正式违宪认定或撤销决定</a:t>
              </a:r>
            </a:p>
          </p:txBody>
        </p:sp>
        <p:sp>
          <p:nvSpPr>
            <p:cNvPr id="9" name="TextBox 9"/>
            <p:cNvSpPr txBox="1"/>
            <p:nvPr/>
          </p:nvSpPr>
          <p:spPr>
            <a:xfrm>
              <a:off x="6997446" y="208915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课堂的权利关联分析</a:t>
              </a:r>
            </a:p>
          </p:txBody>
        </p:sp>
        <p:sp>
          <p:nvSpPr>
            <p:cNvPr id="10" name="TextBox 10"/>
            <p:cNvSpPr txBox="1"/>
            <p:nvPr/>
          </p:nvSpPr>
          <p:spPr>
            <a:xfrm>
              <a:off x="7000494" y="27495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从业机会联系劳动权</a:t>
              </a:r>
            </a:p>
          </p:txBody>
        </p:sp>
        <p:sp>
          <p:nvSpPr>
            <p:cNvPr id="11" name="TextBox 11"/>
            <p:cNvSpPr txBox="1"/>
            <p:nvPr/>
          </p:nvSpPr>
          <p:spPr>
            <a:xfrm>
              <a:off x="7000494" y="32829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检验目的、手段与限度</a:t>
              </a:r>
            </a:p>
          </p:txBody>
        </p:sp>
        <p:sp>
          <p:nvSpPr>
            <p:cNvPr id="12" name="TextBox 12"/>
            <p:cNvSpPr txBox="1"/>
            <p:nvPr/>
          </p:nvSpPr>
          <p:spPr>
            <a:xfrm>
              <a:off x="7000494" y="377825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不倒写成原报告已作同样论证</a:t>
              </a:r>
            </a:p>
          </p:txBody>
        </p:sp>
      </p:grpSp>
      <p:grpSp>
        <p:nvGrpSpPr>
          <p:cNvPr id="16" name="p35-reveal-1"/>
          <p:cNvGrpSpPr/>
          <p:nvPr/>
        </p:nvGrpSpPr>
        <p:grpSpPr>
          <a:xfrm>
            <a:off x="752094" y="5149850"/>
            <a:ext cx="9207627" cy="876681"/>
            <a:chOff x="752094" y="5149850"/>
            <a:chExt cx="9207627" cy="876681"/>
          </a:xfrm>
        </p:grpSpPr>
        <p:sp>
          <p:nvSpPr>
            <p:cNvPr id="14" name="TextBox 14"/>
            <p:cNvSpPr txBox="1"/>
            <p:nvPr/>
          </p:nvSpPr>
          <p:spPr>
            <a:xfrm>
              <a:off x="752094" y="51498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具体改成几年、哪些岗位、能否解除，修后全文没有公布。</a:t>
              </a:r>
            </a:p>
          </p:txBody>
        </p:sp>
        <p:sp>
          <p:nvSpPr>
            <p:cNvPr id="15" name="TextBox 15"/>
            <p:cNvSpPr txBox="1"/>
            <p:nvPr/>
          </p:nvSpPr>
          <p:spPr>
            <a:xfrm>
              <a:off x="752094" y="5645150"/>
              <a:ext cx="920762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可以提出待比较方案；不能把方案已合适，或制定机关最终这样改，当作已知。</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00035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2021报告该段及所在部分身份；不因未援42条就断言本案与宪法判断毫无关联。</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35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168286" cy="943864"/>
            <a:chOff x="592836" y="438150"/>
            <a:chExt cx="7168286" cy="943864"/>
          </a:xfrm>
        </p:grpSpPr>
        <p:sp>
          <p:nvSpPr>
            <p:cNvPr id="2" name="TextBox 2"/>
            <p:cNvSpPr txBox="1"/>
            <p:nvPr/>
          </p:nvSpPr>
          <p:spPr>
            <a:xfrm>
              <a:off x="603504" y="43815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原公报完整段落与动作主体</a:t>
              </a:r>
            </a:p>
          </p:txBody>
        </p:sp>
        <p:sp>
          <p:nvSpPr>
            <p:cNvPr id="3" name="TextBox 3"/>
            <p:cNvSpPr txBox="1"/>
            <p:nvPr/>
          </p:nvSpPr>
          <p:spPr>
            <a:xfrm>
              <a:off x="592836" y="736600"/>
              <a:ext cx="716828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“经沟通”，怎样接到“修改调整”？</a:t>
              </a:r>
            </a:p>
          </p:txBody>
        </p:sp>
      </p:grpSp>
      <p:grpSp>
        <p:nvGrpSpPr>
          <p:cNvPr id="6" name="gazette-original"/>
          <p:cNvGrpSpPr/>
          <p:nvPr/>
        </p:nvGrpSpPr>
        <p:grpSpPr>
          <a:xfrm>
            <a:off x="609600" y="1733550"/>
            <a:ext cx="4476750" cy="4381500"/>
            <a:chOff x="609600" y="1733550"/>
            <a:chExt cx="4476750" cy="4381500"/>
          </a:xfrm>
        </p:grpSpPr>
        <p:pic>
          <p:nvPicPr>
            <p:cNvPr id="5" name="Image 5"/>
            <p:cNvPicPr>
              <a:picLocks noChangeAspect="1"/>
            </p:cNvPicPr>
            <p:nvPr/>
          </p:nvPicPr>
          <p:blipFill>
            <a:blip r:embed="rId2"/>
            <a:stretch>
              <a:fillRect/>
            </a:stretch>
          </p:blipFill>
          <p:spPr>
            <a:xfrm>
              <a:off x="609600" y="1733550"/>
              <a:ext cx="4476750" cy="4381500"/>
            </a:xfrm>
            <a:prstGeom prst="rect">
              <a:avLst/>
            </a:prstGeom>
          </p:spPr>
        </p:pic>
      </p:grpSp>
      <p:grpSp>
        <p:nvGrpSpPr>
          <p:cNvPr id="9" name="reported-result"/>
          <p:cNvGrpSpPr/>
          <p:nvPr/>
        </p:nvGrpSpPr>
        <p:grpSpPr>
          <a:xfrm>
            <a:off x="5781294" y="1930400"/>
            <a:ext cx="5532501" cy="705231"/>
            <a:chOff x="5781294" y="1930400"/>
            <a:chExt cx="5532501" cy="705231"/>
          </a:xfrm>
        </p:grpSpPr>
        <p:sp>
          <p:nvSpPr>
            <p:cNvPr id="7" name="TextBox 7"/>
            <p:cNvSpPr txBox="1"/>
            <p:nvPr/>
          </p:nvSpPr>
          <p:spPr>
            <a:xfrm>
              <a:off x="5784342" y="1930400"/>
              <a:ext cx="204008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报告最后一句 · 原文分行</a:t>
              </a:r>
            </a:p>
          </p:txBody>
        </p:sp>
        <p:sp>
          <p:nvSpPr>
            <p:cNvPr id="8" name="TextBox 8"/>
            <p:cNvSpPr txBox="1"/>
            <p:nvPr/>
          </p:nvSpPr>
          <p:spPr>
            <a:xfrm>
              <a:off x="5781294" y="22542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经沟通，制定机关已对相关规定作出修改调整。</a:t>
              </a:r>
            </a:p>
          </p:txBody>
        </p:sp>
      </p:grpSp>
      <p:grpSp>
        <p:nvGrpSpPr>
          <p:cNvPr id="13" name="p36-reveal-1"/>
          <p:cNvGrpSpPr/>
          <p:nvPr/>
        </p:nvGrpSpPr>
        <p:grpSpPr>
          <a:xfrm>
            <a:off x="5779008" y="3136900"/>
            <a:ext cx="4017264" cy="1248283"/>
            <a:chOff x="5779008" y="3136900"/>
            <a:chExt cx="4017264" cy="1248283"/>
          </a:xfrm>
        </p:grpSpPr>
        <p:sp>
          <p:nvSpPr>
            <p:cNvPr id="10" name="TextBox 10"/>
            <p:cNvSpPr txBox="1"/>
            <p:nvPr/>
          </p:nvSpPr>
          <p:spPr>
            <a:xfrm>
              <a:off x="5779008" y="31369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公民提出建议</a:t>
              </a:r>
            </a:p>
          </p:txBody>
        </p:sp>
        <p:sp>
          <p:nvSpPr>
            <p:cNvPr id="11" name="TextBox 11"/>
            <p:cNvSpPr txBox="1"/>
            <p:nvPr/>
          </p:nvSpPr>
          <p:spPr>
            <a:xfrm>
              <a:off x="5779008" y="36131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法工委审查研究、形成意见</a:t>
              </a:r>
            </a:p>
          </p:txBody>
        </p:sp>
        <p:sp>
          <p:nvSpPr>
            <p:cNvPr id="12" name="TextBox 12"/>
            <p:cNvSpPr txBox="1"/>
            <p:nvPr/>
          </p:nvSpPr>
          <p:spPr>
            <a:xfrm>
              <a:off x="5784342" y="4121150"/>
              <a:ext cx="401193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肯定安全作用，也指出领域条件与终身期限问题。</a:t>
              </a:r>
            </a:p>
          </p:txBody>
        </p:sp>
      </p:grpSp>
      <p:grpSp>
        <p:nvGrpSpPr>
          <p:cNvPr id="17" name="p36-reveal-2"/>
          <p:cNvGrpSpPr/>
          <p:nvPr/>
        </p:nvGrpSpPr>
        <p:grpSpPr>
          <a:xfrm>
            <a:off x="5779008" y="4775200"/>
            <a:ext cx="4925949" cy="1343533"/>
            <a:chOff x="5779008" y="4775200"/>
            <a:chExt cx="4925949" cy="1343533"/>
          </a:xfrm>
        </p:grpSpPr>
        <p:sp>
          <p:nvSpPr>
            <p:cNvPr id="14" name="TextBox 14"/>
            <p:cNvSpPr txBox="1"/>
            <p:nvPr/>
          </p:nvSpPr>
          <p:spPr>
            <a:xfrm>
              <a:off x="5779008" y="477520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审查机构与制定机关沟通</a:t>
              </a:r>
            </a:p>
          </p:txBody>
        </p:sp>
        <p:sp>
          <p:nvSpPr>
            <p:cNvPr id="15" name="TextBox 15"/>
            <p:cNvSpPr txBox="1"/>
            <p:nvPr/>
          </p:nvSpPr>
          <p:spPr>
            <a:xfrm>
              <a:off x="5779008" y="527050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制定机关已修改调整</a:t>
              </a:r>
            </a:p>
          </p:txBody>
        </p:sp>
        <p:sp>
          <p:nvSpPr>
            <p:cNvPr id="16" name="TextBox 16"/>
            <p:cNvSpPr txBox="1"/>
            <p:nvPr/>
          </p:nvSpPr>
          <p:spPr>
            <a:xfrm>
              <a:off x="5784342" y="5854700"/>
              <a:ext cx="492061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报告未披露沟通次数、具体争论，以及建议人的身份和人数。</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71816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《全国人大常委会公报》2022年第1号，印刷第246页右栏；NPC Observer镜像PDF第3页。</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36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本案过程与一般工作方式</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主案是一条路，制度还有多种入口</a:t>
              </a:r>
            </a:p>
          </p:txBody>
        </p:sp>
      </p:grpSp>
      <p:grpSp>
        <p:nvGrpSpPr>
          <p:cNvPr id="13" name="review-entries"/>
          <p:cNvGrpSpPr/>
          <p:nvPr/>
        </p:nvGrpSpPr>
        <p:grpSpPr>
          <a:xfrm>
            <a:off x="749808" y="1974850"/>
            <a:ext cx="9945624" cy="2067433"/>
            <a:chOff x="749808" y="1974850"/>
            <a:chExt cx="9945624" cy="2067433"/>
          </a:xfrm>
        </p:grpSpPr>
        <p:sp>
          <p:nvSpPr>
            <p:cNvPr id="5" name="TextBox 5"/>
            <p:cNvSpPr txBox="1"/>
            <p:nvPr/>
          </p:nvSpPr>
          <p:spPr>
            <a:xfrm>
              <a:off x="749808" y="19748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问题怎样进入工作</a:t>
              </a:r>
            </a:p>
          </p:txBody>
        </p:sp>
        <p:sp>
          <p:nvSpPr>
            <p:cNvPr id="6" name="TextBox 6"/>
            <p:cNvSpPr txBox="1"/>
            <p:nvPr/>
          </p:nvSpPr>
          <p:spPr>
            <a:xfrm>
              <a:off x="752094" y="25781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报送备案后，相关机构主动审查</a:t>
              </a:r>
            </a:p>
          </p:txBody>
        </p:sp>
        <p:sp>
          <p:nvSpPr>
            <p:cNvPr id="7" name="TextBox 7"/>
            <p:cNvSpPr txBox="1"/>
            <p:nvPr/>
          </p:nvSpPr>
          <p:spPr>
            <a:xfrm>
              <a:off x="752094" y="30924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法定国家机关提出审查要求</a:t>
              </a:r>
            </a:p>
          </p:txBody>
        </p:sp>
        <p:sp>
          <p:nvSpPr>
            <p:cNvPr id="8" name="TextBox 8"/>
            <p:cNvSpPr txBox="1"/>
            <p:nvPr/>
          </p:nvSpPr>
          <p:spPr>
            <a:xfrm>
              <a:off x="752094" y="36068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公民、组织提出审查建议</a:t>
              </a:r>
            </a:p>
          </p:txBody>
        </p:sp>
        <p:sp>
          <p:nvSpPr>
            <p:cNvPr id="9" name="TextBox 9"/>
            <p:cNvSpPr txBox="1"/>
            <p:nvPr/>
          </p:nvSpPr>
          <p:spPr>
            <a:xfrm>
              <a:off x="6998208" y="19748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怎样组织审查</a:t>
              </a:r>
            </a:p>
          </p:txBody>
        </p:sp>
        <p:sp>
          <p:nvSpPr>
            <p:cNvPr id="10" name="TextBox 10"/>
            <p:cNvSpPr txBox="1"/>
            <p:nvPr/>
          </p:nvSpPr>
          <p:spPr>
            <a:xfrm>
              <a:off x="7000494" y="25781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某一领域、共性问题：专项审查</a:t>
              </a:r>
            </a:p>
          </p:txBody>
        </p:sp>
        <p:sp>
          <p:nvSpPr>
            <p:cNvPr id="11" name="TextBox 11"/>
            <p:cNvSpPr txBox="1"/>
            <p:nvPr/>
          </p:nvSpPr>
          <p:spPr>
            <a:xfrm>
              <a:off x="7000494" y="30924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需其他机关处理：移送、衔接</a:t>
              </a:r>
            </a:p>
          </p:txBody>
        </p:sp>
        <p:sp>
          <p:nvSpPr>
            <p:cNvPr id="12" name="TextBox 12"/>
            <p:cNvSpPr txBox="1"/>
            <p:nvPr/>
          </p:nvSpPr>
          <p:spPr>
            <a:xfrm>
              <a:off x="7003542" y="3778250"/>
              <a:ext cx="36484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这里的分类角度不同，不是互斥的五类案件。</a:t>
              </a:r>
            </a:p>
          </p:txBody>
        </p:sp>
      </p:grpSp>
      <p:grpSp>
        <p:nvGrpSpPr>
          <p:cNvPr id="16" name="p37-reveal-1"/>
          <p:cNvGrpSpPr/>
          <p:nvPr/>
        </p:nvGrpSpPr>
        <p:grpSpPr>
          <a:xfrm>
            <a:off x="752094" y="5149850"/>
            <a:ext cx="8682609" cy="876681"/>
            <a:chOff x="752094" y="5149850"/>
            <a:chExt cx="8682609" cy="876681"/>
          </a:xfrm>
        </p:grpSpPr>
        <p:sp>
          <p:nvSpPr>
            <p:cNvPr id="14" name="TextBox 14"/>
            <p:cNvSpPr txBox="1"/>
            <p:nvPr/>
          </p:nvSpPr>
          <p:spPr>
            <a:xfrm>
              <a:off x="752094" y="5149850"/>
              <a:ext cx="710755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制定机关有权依法修改自己的规范，也有责任回应有关问题。</a:t>
              </a:r>
            </a:p>
          </p:txBody>
        </p:sp>
        <p:sp>
          <p:nvSpPr>
            <p:cNvPr id="15" name="TextBox 15"/>
            <p:cNvSpPr txBox="1"/>
            <p:nvPr/>
          </p:nvSpPr>
          <p:spPr>
            <a:xfrm>
              <a:off x="752094" y="5645150"/>
              <a:ext cx="868260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推动自行纠正，不是说它天然更准确，也不是所有审查都从公民建议开始。</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57989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2023备案审查决定与2021报告分别说明；这些是不同工作方式，各案不必经过全部环节。</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37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429310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现行一般程序，不是2021案已发生的后续</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沟通之后不改，法定纠正怎样接上</a:t>
              </a:r>
            </a:p>
          </p:txBody>
        </p:sp>
      </p:grpSp>
      <p:grpSp>
        <p:nvGrpSpPr>
          <p:cNvPr id="8" name="correction-conditions"/>
          <p:cNvGrpSpPr/>
          <p:nvPr/>
        </p:nvGrpSpPr>
        <p:grpSpPr>
          <a:xfrm>
            <a:off x="752094" y="1930400"/>
            <a:ext cx="6195822" cy="1162431"/>
            <a:chOff x="752094" y="1930400"/>
            <a:chExt cx="6195822" cy="1162431"/>
          </a:xfrm>
        </p:grpSpPr>
        <p:sp>
          <p:nvSpPr>
            <p:cNvPr id="5" name="TextBox 5"/>
            <p:cNvSpPr txBox="1"/>
            <p:nvPr/>
          </p:nvSpPr>
          <p:spPr>
            <a:xfrm>
              <a:off x="755142" y="1930400"/>
              <a:ext cx="619277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依法承担审查的主体：宪法和法律委员会、有关专门委员会、常委会工作机构</a:t>
              </a:r>
            </a:p>
          </p:txBody>
        </p:sp>
        <p:sp>
          <p:nvSpPr>
            <p:cNvPr id="6" name="TextBox 6"/>
            <p:cNvSpPr txBox="1"/>
            <p:nvPr/>
          </p:nvSpPr>
          <p:spPr>
            <a:xfrm>
              <a:off x="752094" y="23114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经沟通，制定机关不同意修改、废止，</a:t>
              </a:r>
            </a:p>
          </p:txBody>
        </p:sp>
        <p:sp>
          <p:nvSpPr>
            <p:cNvPr id="7" name="TextBox 7"/>
            <p:cNvSpPr txBox="1"/>
            <p:nvPr/>
          </p:nvSpPr>
          <p:spPr>
            <a:xfrm>
              <a:off x="752094" y="27114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或者没有书面提出明确处理计划和时限</a:t>
              </a:r>
            </a:p>
          </p:txBody>
        </p:sp>
      </p:grpSp>
      <p:grpSp>
        <p:nvGrpSpPr>
          <p:cNvPr id="11" name="p38-reveal-1"/>
          <p:cNvGrpSpPr/>
          <p:nvPr/>
        </p:nvGrpSpPr>
        <p:grpSpPr>
          <a:xfrm>
            <a:off x="749808" y="3632200"/>
            <a:ext cx="5516880" cy="889381"/>
            <a:chOff x="749808" y="3632200"/>
            <a:chExt cx="5516880" cy="889381"/>
          </a:xfrm>
        </p:grpSpPr>
        <p:sp>
          <p:nvSpPr>
            <p:cNvPr id="9" name="TextBox 9"/>
            <p:cNvSpPr txBox="1"/>
            <p:nvPr/>
          </p:nvSpPr>
          <p:spPr>
            <a:xfrm>
              <a:off x="749808" y="3632200"/>
              <a:ext cx="551688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应当依法向制定机关提出书面审查意见</a:t>
              </a:r>
            </a:p>
          </p:txBody>
        </p:sp>
        <p:sp>
          <p:nvSpPr>
            <p:cNvPr id="10" name="TextBox 10"/>
            <p:cNvSpPr txBox="1"/>
            <p:nvPr/>
          </p:nvSpPr>
          <p:spPr>
            <a:xfrm>
              <a:off x="752094" y="414020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要求其两个月内提出书面处理意见。</a:t>
              </a:r>
            </a:p>
          </p:txBody>
        </p:sp>
      </p:grpSp>
      <p:grpSp>
        <p:nvGrpSpPr>
          <p:cNvPr id="15" name="p38-reveal-2"/>
          <p:cNvGrpSpPr/>
          <p:nvPr/>
        </p:nvGrpSpPr>
        <p:grpSpPr>
          <a:xfrm>
            <a:off x="752094" y="4940300"/>
            <a:ext cx="8945118" cy="1257681"/>
            <a:chOff x="752094" y="4940300"/>
            <a:chExt cx="8945118" cy="1257681"/>
          </a:xfrm>
        </p:grpSpPr>
        <p:sp>
          <p:nvSpPr>
            <p:cNvPr id="12" name="TextBox 12"/>
            <p:cNvSpPr txBox="1"/>
            <p:nvPr/>
          </p:nvSpPr>
          <p:spPr>
            <a:xfrm>
              <a:off x="752094" y="49403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对本类法规：有合宪性、合法性问题需改废，制定机关仍不予修改、废止</a:t>
              </a:r>
            </a:p>
          </p:txBody>
        </p:sp>
        <p:sp>
          <p:nvSpPr>
            <p:cNvPr id="13" name="TextBox 13"/>
            <p:cNvSpPr txBox="1"/>
            <p:nvPr/>
          </p:nvSpPr>
          <p:spPr>
            <a:xfrm>
              <a:off x="752094" y="5397500"/>
              <a:ext cx="448246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应当向委员长会议提出撤销议案、建议</a:t>
              </a:r>
            </a:p>
          </p:txBody>
        </p:sp>
        <p:sp>
          <p:nvSpPr>
            <p:cNvPr id="14" name="TextBox 14"/>
            <p:cNvSpPr txBox="1"/>
            <p:nvPr/>
          </p:nvSpPr>
          <p:spPr>
            <a:xfrm>
              <a:off x="752094" y="581660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由委员长会议决定是否提请全国人大常委会审议决定；工作机构不直接撤销。</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622304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2023备案审查决定第13项、立法法第112条；各项纠正措施须符合相应条件，由有权主体依法采取。</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38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保住已知，也保留未知</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改了规范，哪些结论仍不能自动推出</a:t>
              </a:r>
            </a:p>
          </p:txBody>
        </p:sp>
      </p:grpSp>
      <p:grpSp>
        <p:nvGrpSpPr>
          <p:cNvPr id="13" name="known-and-unknown"/>
          <p:cNvGrpSpPr/>
          <p:nvPr/>
        </p:nvGrpSpPr>
        <p:grpSpPr>
          <a:xfrm>
            <a:off x="749046" y="2076450"/>
            <a:ext cx="10056495" cy="2152650"/>
            <a:chOff x="749046" y="2076450"/>
            <a:chExt cx="10056495" cy="2152650"/>
          </a:xfrm>
        </p:grpSpPr>
        <p:sp>
          <p:nvSpPr>
            <p:cNvPr id="5" name="TextBox 5"/>
            <p:cNvSpPr txBox="1"/>
            <p:nvPr/>
          </p:nvSpPr>
          <p:spPr>
            <a:xfrm>
              <a:off x="749046" y="212725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已经公开的肯定事实</a:t>
              </a:r>
            </a:p>
          </p:txBody>
        </p:sp>
        <p:sp>
          <p:nvSpPr>
            <p:cNvPr id="6" name="TextBox 6"/>
            <p:cNvSpPr txBox="1"/>
            <p:nvPr/>
          </p:nvSpPr>
          <p:spPr>
            <a:xfrm>
              <a:off x="752094" y="28257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制定机关已修改调整相关规定</a:t>
              </a:r>
            </a:p>
          </p:txBody>
        </p:sp>
        <p:sp>
          <p:nvSpPr>
            <p:cNvPr id="7" name="TextBox 7"/>
            <p:cNvSpPr txBox="1"/>
            <p:nvPr/>
          </p:nvSpPr>
          <p:spPr>
            <a:xfrm>
              <a:off x="752094" y="3435350"/>
              <a:ext cx="238239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一次有效的审查处理</a:t>
              </a:r>
            </a:p>
          </p:txBody>
        </p:sp>
        <p:sp>
          <p:nvSpPr>
            <p:cNvPr id="8" name="Line 8"/>
            <p:cNvSpPr/>
            <p:nvPr/>
          </p:nvSpPr>
          <p:spPr>
            <a:xfrm>
              <a:off x="5943600" y="2076450"/>
              <a:ext cx="9525" cy="2152650"/>
            </a:xfrm>
            <a:custGeom>
              <a:avLst/>
              <a:gdLst/>
              <a:ahLst/>
              <a:cxnLst/>
              <a:rect l="l" t="t" r="r" b="b"/>
              <a:pathLst>
                <a:path w="9525" h="2152650">
                  <a:moveTo>
                    <a:pt x="0" y="0"/>
                  </a:moveTo>
                  <a:lnTo>
                    <a:pt x="0" y="2152650"/>
                  </a:lnTo>
                </a:path>
              </a:pathLst>
            </a:custGeom>
            <a:noFill/>
            <a:ln w="9525">
              <a:solidFill>
                <a:srgbClr val="C7BFB1"/>
              </a:solidFill>
            </a:ln>
          </p:spPr>
        </p:sp>
        <p:sp>
          <p:nvSpPr>
            <p:cNvPr id="9" name="TextBox 9"/>
            <p:cNvSpPr txBox="1"/>
            <p:nvPr/>
          </p:nvSpPr>
          <p:spPr>
            <a:xfrm>
              <a:off x="6845046" y="21272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报告没有公布</a:t>
              </a:r>
            </a:p>
          </p:txBody>
        </p:sp>
        <p:sp>
          <p:nvSpPr>
            <p:cNvPr id="10" name="TextBox 10"/>
            <p:cNvSpPr txBox="1"/>
            <p:nvPr/>
          </p:nvSpPr>
          <p:spPr>
            <a:xfrm>
              <a:off x="6848094" y="28257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地区、法规名、建议人身份</a:t>
              </a:r>
            </a:p>
          </p:txBody>
        </p:sp>
        <p:sp>
          <p:nvSpPr>
            <p:cNvPr id="11" name="TextBox 11"/>
            <p:cNvSpPr txBox="1"/>
            <p:nvPr/>
          </p:nvSpPr>
          <p:spPr>
            <a:xfrm>
              <a:off x="6848094" y="328295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修改后的完整条文及具体适用安排</a:t>
              </a:r>
            </a:p>
          </p:txBody>
        </p:sp>
        <p:sp>
          <p:nvSpPr>
            <p:cNvPr id="12" name="TextBox 12"/>
            <p:cNvSpPr txBox="1"/>
            <p:nvPr/>
          </p:nvSpPr>
          <p:spPr>
            <a:xfrm>
              <a:off x="6848094" y="37401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正式违宪认定或撤销决定</a:t>
              </a:r>
            </a:p>
          </p:txBody>
        </p:sp>
      </p:grpSp>
      <p:grpSp>
        <p:nvGrpSpPr>
          <p:cNvPr id="16" name="p39-reveal-1"/>
          <p:cNvGrpSpPr/>
          <p:nvPr/>
        </p:nvGrpSpPr>
        <p:grpSpPr>
          <a:xfrm>
            <a:off x="752094" y="5187950"/>
            <a:ext cx="8945118" cy="876681"/>
            <a:chOff x="752094" y="5187950"/>
            <a:chExt cx="8945118" cy="876681"/>
          </a:xfrm>
        </p:grpSpPr>
        <p:sp>
          <p:nvSpPr>
            <p:cNvPr id="14" name="TextBox 14"/>
            <p:cNvSpPr txBox="1"/>
            <p:nvPr/>
          </p:nvSpPr>
          <p:spPr>
            <a:xfrm>
              <a:off x="752094" y="518795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新旧规定如何适用、是否过渡、已有个案如何处理，仍须看实际文本与程序。</a:t>
              </a:r>
            </a:p>
          </p:txBody>
        </p:sp>
        <p:sp>
          <p:nvSpPr>
            <p:cNvPr id="15" name="TextBox 15"/>
            <p:cNvSpPr txBox="1"/>
            <p:nvPr/>
          </p:nvSpPr>
          <p:spPr>
            <a:xfrm>
              <a:off x="752094" y="56832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不能推出只影响未来，也不能推出所有过去决定自动改变。</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4102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2021报告实际披露范围；匿名信息仍属未知，相似条例或新闻不能用来认定本案身份。</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39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482584" cy="918464"/>
            <a:chOff x="592836" y="438150"/>
            <a:chExt cx="8482584"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现行制度中的反馈与公开</a:t>
              </a:r>
            </a:p>
          </p:txBody>
        </p:sp>
        <p:sp>
          <p:nvSpPr>
            <p:cNvPr id="3" name="TextBox 3"/>
            <p:cNvSpPr txBox="1"/>
            <p:nvPr/>
          </p:nvSpPr>
          <p:spPr>
            <a:xfrm>
              <a:off x="592836" y="711200"/>
              <a:ext cx="848258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有反馈要求，不等于已知本案的全部经过</a:t>
              </a:r>
            </a:p>
          </p:txBody>
        </p:sp>
      </p:grpSp>
      <p:grpSp>
        <p:nvGrpSpPr>
          <p:cNvPr id="11" name="feedback-relations"/>
          <p:cNvGrpSpPr/>
          <p:nvPr/>
        </p:nvGrpSpPr>
        <p:grpSpPr>
          <a:xfrm>
            <a:off x="749046" y="1949450"/>
            <a:ext cx="9231630" cy="2629281"/>
            <a:chOff x="749046" y="1949450"/>
            <a:chExt cx="9231630" cy="2629281"/>
          </a:xfrm>
        </p:grpSpPr>
        <p:sp>
          <p:nvSpPr>
            <p:cNvPr id="5" name="TextBox 5"/>
            <p:cNvSpPr txBox="1"/>
            <p:nvPr/>
          </p:nvSpPr>
          <p:spPr>
            <a:xfrm>
              <a:off x="749046" y="25273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提出审查建议者</a:t>
              </a:r>
            </a:p>
          </p:txBody>
        </p:sp>
        <p:sp>
          <p:nvSpPr>
            <p:cNvPr id="6" name="TextBox 6"/>
            <p:cNvSpPr txBox="1"/>
            <p:nvPr/>
          </p:nvSpPr>
          <p:spPr>
            <a:xfrm>
              <a:off x="7778496" y="25273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有关审查机构</a:t>
              </a:r>
            </a:p>
          </p:txBody>
        </p:sp>
        <p:sp>
          <p:nvSpPr>
            <p:cNvPr id="7" name="Freeform 7"/>
            <p:cNvSpPr/>
            <p:nvPr/>
          </p:nvSpPr>
          <p:spPr>
            <a:xfrm>
              <a:off x="3524250" y="2324100"/>
              <a:ext cx="5486400" cy="266700"/>
            </a:xfrm>
            <a:custGeom>
              <a:avLst/>
              <a:gdLst/>
              <a:ahLst/>
              <a:cxnLst/>
              <a:rect l="l" t="t" r="r" b="b"/>
              <a:pathLst>
                <a:path w="5486400" h="266700">
                  <a:moveTo>
                    <a:pt x="0" y="0"/>
                  </a:moveTo>
                  <a:lnTo>
                    <a:pt x="5410200" y="0"/>
                  </a:lnTo>
                  <a:lnTo>
                    <a:pt x="5410200" y="247650"/>
                  </a:lnTo>
                  <a:moveTo>
                    <a:pt x="5334000" y="152400"/>
                  </a:moveTo>
                  <a:lnTo>
                    <a:pt x="5410200" y="266700"/>
                  </a:lnTo>
                  <a:lnTo>
                    <a:pt x="5486400" y="152400"/>
                  </a:lnTo>
                </a:path>
              </a:pathLst>
            </a:custGeom>
            <a:noFill/>
            <a:ln w="19050">
              <a:solidFill>
                <a:schemeClr val="accent3"/>
              </a:solidFill>
            </a:ln>
          </p:spPr>
        </p:sp>
        <p:sp>
          <p:nvSpPr>
            <p:cNvPr id="8" name="TextBox 8"/>
            <p:cNvSpPr txBox="1"/>
            <p:nvPr/>
          </p:nvSpPr>
          <p:spPr>
            <a:xfrm>
              <a:off x="4717542" y="1949450"/>
              <a:ext cx="146761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依法提出规范问题</a:t>
              </a:r>
            </a:p>
          </p:txBody>
        </p:sp>
        <p:sp>
          <p:nvSpPr>
            <p:cNvPr id="9" name="Freeform 9"/>
            <p:cNvSpPr/>
            <p:nvPr/>
          </p:nvSpPr>
          <p:spPr>
            <a:xfrm>
              <a:off x="2400300" y="3276600"/>
              <a:ext cx="6534150" cy="723900"/>
            </a:xfrm>
            <a:custGeom>
              <a:avLst/>
              <a:gdLst/>
              <a:ahLst/>
              <a:cxnLst/>
              <a:rect l="l" t="t" r="r" b="b"/>
              <a:pathLst>
                <a:path w="6534150" h="723900">
                  <a:moveTo>
                    <a:pt x="6534150" y="19050"/>
                  </a:moveTo>
                  <a:lnTo>
                    <a:pt x="6534150" y="723900"/>
                  </a:lnTo>
                  <a:lnTo>
                    <a:pt x="76200" y="723900"/>
                  </a:lnTo>
                  <a:lnTo>
                    <a:pt x="76200" y="19050"/>
                  </a:lnTo>
                  <a:moveTo>
                    <a:pt x="0" y="114300"/>
                  </a:moveTo>
                  <a:lnTo>
                    <a:pt x="76200" y="0"/>
                  </a:lnTo>
                  <a:lnTo>
                    <a:pt x="152400" y="114300"/>
                  </a:lnTo>
                </a:path>
              </a:pathLst>
            </a:custGeom>
            <a:noFill/>
            <a:ln w="19050">
              <a:solidFill>
                <a:schemeClr val="accent2"/>
              </a:solidFill>
            </a:ln>
          </p:spPr>
        </p:sp>
        <p:sp>
          <p:nvSpPr>
            <p:cNvPr id="10" name="TextBox 10"/>
            <p:cNvSpPr txBox="1"/>
            <p:nvPr/>
          </p:nvSpPr>
          <p:spPr>
            <a:xfrm>
              <a:off x="4657344" y="419735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依制度安排反馈审查研究情况</a:t>
              </a:r>
            </a:p>
          </p:txBody>
        </p:sp>
      </p:grpSp>
      <p:grpSp>
        <p:nvGrpSpPr>
          <p:cNvPr id="15" name="p40-reveal-1"/>
          <p:cNvGrpSpPr/>
          <p:nvPr/>
        </p:nvGrpSpPr>
        <p:grpSpPr>
          <a:xfrm>
            <a:off x="752094" y="5187950"/>
            <a:ext cx="6320028" cy="1100709"/>
            <a:chOff x="752094" y="5187950"/>
            <a:chExt cx="6320028" cy="1100709"/>
          </a:xfrm>
        </p:grpSpPr>
        <p:sp>
          <p:nvSpPr>
            <p:cNvPr id="12" name="TextBox 12"/>
            <p:cNvSpPr txBox="1"/>
            <p:nvPr/>
          </p:nvSpPr>
          <p:spPr>
            <a:xfrm>
              <a:off x="752094" y="518795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工作还通过公开情况、向常委会报告等方式接受监督。</a:t>
              </a:r>
            </a:p>
          </p:txBody>
        </p:sp>
        <p:sp>
          <p:nvSpPr>
            <p:cNvPr id="13" name="TextBox 13"/>
            <p:cNvSpPr txBox="1"/>
            <p:nvPr/>
          </p:nvSpPr>
          <p:spPr>
            <a:xfrm>
              <a:off x="752094" y="5645150"/>
              <a:ext cx="605751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制度把问题接到职责上，不保证每份建议都被采纳。</a:t>
              </a:r>
            </a:p>
          </p:txBody>
        </p:sp>
        <p:sp>
          <p:nvSpPr>
            <p:cNvPr id="14" name="TextBox 14"/>
            <p:cNvSpPr txBox="1"/>
            <p:nvPr/>
          </p:nvSpPr>
          <p:spPr>
            <a:xfrm>
              <a:off x="756666" y="6083300"/>
              <a:ext cx="467525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制度要求反馈审查研究情况；本案实际反馈的时间与内容，报告未予披露。</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50215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立法法第113条、2023备案审查决定反馈与公开安排；一般制度要求与原报告披露分开。</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40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合宪性审查与备案审查</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一个是判断标准，一个是制度工作</a:t>
              </a:r>
            </a:p>
          </p:txBody>
        </p:sp>
      </p:grpSp>
      <p:grpSp>
        <p:nvGrpSpPr>
          <p:cNvPr id="10" name="standard"/>
          <p:cNvGrpSpPr/>
          <p:nvPr/>
        </p:nvGrpSpPr>
        <p:grpSpPr>
          <a:xfrm>
            <a:off x="609600" y="1847850"/>
            <a:ext cx="4133850" cy="2933700"/>
            <a:chOff x="609600" y="1847850"/>
            <a:chExt cx="4133850" cy="2933700"/>
          </a:xfrm>
        </p:grpSpPr>
        <p:sp>
          <p:nvSpPr>
            <p:cNvPr id="5" name="Freeform 5"/>
            <p:cNvSpPr/>
            <p:nvPr/>
          </p:nvSpPr>
          <p:spPr>
            <a:xfrm>
              <a:off x="609600" y="1847850"/>
              <a:ext cx="4133850" cy="2933700"/>
            </a:xfrm>
            <a:custGeom>
              <a:avLst/>
              <a:gdLst/>
              <a:ahLst/>
              <a:cxnLst/>
              <a:rect l="l" t="t" r="r" b="b"/>
              <a:pathLst>
                <a:path w="4133850" h="2933700">
                  <a:moveTo>
                    <a:pt x="0" y="0"/>
                  </a:moveTo>
                  <a:lnTo>
                    <a:pt x="3829050" y="0"/>
                  </a:lnTo>
                  <a:lnTo>
                    <a:pt x="4133850" y="304800"/>
                  </a:lnTo>
                  <a:lnTo>
                    <a:pt x="4133850" y="2933700"/>
                  </a:lnTo>
                  <a:lnTo>
                    <a:pt x="0" y="2933700"/>
                  </a:lnTo>
                  <a:close/>
                </a:path>
              </a:pathLst>
            </a:custGeom>
            <a:solidFill>
              <a:schemeClr val="accent5"/>
            </a:solidFill>
            <a:ln>
              <a:noFill/>
            </a:ln>
          </p:spPr>
        </p:sp>
        <p:sp>
          <p:nvSpPr>
            <p:cNvPr id="6" name="TextBox 6"/>
            <p:cNvSpPr txBox="1"/>
            <p:nvPr/>
          </p:nvSpPr>
          <p:spPr>
            <a:xfrm>
              <a:off x="863346" y="20320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合宪性审查</a:t>
              </a:r>
            </a:p>
          </p:txBody>
        </p:sp>
        <p:sp>
          <p:nvSpPr>
            <p:cNvPr id="7" name="TextBox 7"/>
            <p:cNvSpPr txBox="1"/>
            <p:nvPr/>
          </p:nvSpPr>
          <p:spPr>
            <a:xfrm>
              <a:off x="866394" y="26924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是否符合宪法的</a:t>
              </a:r>
            </a:p>
          </p:txBody>
        </p:sp>
        <p:sp>
          <p:nvSpPr>
            <p:cNvPr id="8" name="TextBox 8"/>
            <p:cNvSpPr txBox="1"/>
            <p:nvPr/>
          </p:nvSpPr>
          <p:spPr>
            <a:xfrm>
              <a:off x="864108" y="3136900"/>
              <a:ext cx="270601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规定 · 原则 · 精神</a:t>
              </a:r>
            </a:p>
          </p:txBody>
        </p:sp>
        <p:sp>
          <p:nvSpPr>
            <p:cNvPr id="9" name="TextBox 9"/>
            <p:cNvSpPr txBox="1"/>
            <p:nvPr/>
          </p:nvSpPr>
          <p:spPr>
            <a:xfrm>
              <a:off x="869442" y="4216400"/>
              <a:ext cx="310324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判断标准也可在规范制定阶段发挥作用</a:t>
              </a:r>
            </a:p>
          </p:txBody>
        </p:sp>
      </p:grpSp>
      <p:grpSp>
        <p:nvGrpSpPr>
          <p:cNvPr id="18" name="work-system"/>
          <p:cNvGrpSpPr/>
          <p:nvPr/>
        </p:nvGrpSpPr>
        <p:grpSpPr>
          <a:xfrm>
            <a:off x="5340096" y="2032000"/>
            <a:ext cx="6242304" cy="2543683"/>
            <a:chOff x="5340096" y="2032000"/>
            <a:chExt cx="6242304" cy="2543683"/>
          </a:xfrm>
        </p:grpSpPr>
        <p:sp>
          <p:nvSpPr>
            <p:cNvPr id="11" name="TextBox 11"/>
            <p:cNvSpPr txBox="1"/>
            <p:nvPr/>
          </p:nvSpPr>
          <p:spPr>
            <a:xfrm>
              <a:off x="5340096" y="20320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备案审查</a:t>
              </a:r>
            </a:p>
          </p:txBody>
        </p:sp>
        <p:sp>
          <p:nvSpPr>
            <p:cNvPr id="12" name="TextBox 12"/>
            <p:cNvSpPr txBox="1"/>
            <p:nvPr/>
          </p:nvSpPr>
          <p:spPr>
            <a:xfrm>
              <a:off x="5343144" y="26924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围绕特定对象、权限与程序开展</a:t>
              </a:r>
            </a:p>
          </p:txBody>
        </p:sp>
        <p:sp>
          <p:nvSpPr>
            <p:cNvPr id="13" name="Freeform 13"/>
            <p:cNvSpPr/>
            <p:nvPr/>
          </p:nvSpPr>
          <p:spPr>
            <a:xfrm>
              <a:off x="5353050" y="3257550"/>
              <a:ext cx="6229350" cy="781050"/>
            </a:xfrm>
            <a:custGeom>
              <a:avLst/>
              <a:gdLst/>
              <a:ahLst/>
              <a:cxnLst/>
              <a:rect l="l" t="t" r="r" b="b"/>
              <a:pathLst>
                <a:path w="6229350" h="781050">
                  <a:moveTo>
                    <a:pt x="0" y="0"/>
                  </a:moveTo>
                  <a:lnTo>
                    <a:pt x="6229350" y="0"/>
                  </a:lnTo>
                  <a:moveTo>
                    <a:pt x="0" y="781050"/>
                  </a:moveTo>
                  <a:lnTo>
                    <a:pt x="6229350" y="781050"/>
                  </a:lnTo>
                </a:path>
              </a:pathLst>
            </a:custGeom>
            <a:noFill/>
            <a:ln w="9525">
              <a:solidFill>
                <a:srgbClr val="C7BFB1"/>
              </a:solidFill>
            </a:ln>
          </p:spPr>
        </p:sp>
        <p:sp>
          <p:nvSpPr>
            <p:cNvPr id="14" name="TextBox 14"/>
            <p:cNvSpPr txBox="1"/>
            <p:nvPr/>
          </p:nvSpPr>
          <p:spPr>
            <a:xfrm>
              <a:off x="5514594" y="3511550"/>
              <a:ext cx="80733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合宪性</a:t>
              </a:r>
            </a:p>
          </p:txBody>
        </p:sp>
        <p:sp>
          <p:nvSpPr>
            <p:cNvPr id="15" name="TextBox 15"/>
            <p:cNvSpPr txBox="1"/>
            <p:nvPr/>
          </p:nvSpPr>
          <p:spPr>
            <a:xfrm>
              <a:off x="7591044" y="3511550"/>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合法性</a:t>
              </a:r>
            </a:p>
          </p:txBody>
        </p:sp>
        <p:sp>
          <p:nvSpPr>
            <p:cNvPr id="16" name="TextBox 16"/>
            <p:cNvSpPr txBox="1"/>
            <p:nvPr/>
          </p:nvSpPr>
          <p:spPr>
            <a:xfrm>
              <a:off x="9667494" y="3511550"/>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适当性</a:t>
              </a:r>
            </a:p>
          </p:txBody>
        </p:sp>
        <p:sp>
          <p:nvSpPr>
            <p:cNvPr id="17" name="TextBox 17"/>
            <p:cNvSpPr txBox="1"/>
            <p:nvPr/>
          </p:nvSpPr>
          <p:spPr>
            <a:xfrm>
              <a:off x="5346192" y="431165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教材框架；现行规范细化为一组审查标准</a:t>
              </a:r>
            </a:p>
          </p:txBody>
        </p:sp>
      </p:grpSp>
      <p:grpSp>
        <p:nvGrpSpPr>
          <p:cNvPr id="21" name="p41-reveal-1"/>
          <p:cNvGrpSpPr/>
          <p:nvPr/>
        </p:nvGrpSpPr>
        <p:grpSpPr>
          <a:xfrm>
            <a:off x="597408" y="5346700"/>
            <a:ext cx="6584823" cy="870331"/>
            <a:chOff x="597408" y="5346700"/>
            <a:chExt cx="6584823" cy="870331"/>
          </a:xfrm>
        </p:grpSpPr>
        <p:sp>
          <p:nvSpPr>
            <p:cNvPr id="19" name="TextBox 19"/>
            <p:cNvSpPr txBox="1"/>
            <p:nvPr/>
          </p:nvSpPr>
          <p:spPr>
            <a:xfrm>
              <a:off x="597408" y="534670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有交叉，不能画等号。</a:t>
              </a:r>
            </a:p>
          </p:txBody>
        </p:sp>
        <p:sp>
          <p:nvSpPr>
            <p:cNvPr id="20" name="TextBox 20"/>
            <p:cNvSpPr txBox="1"/>
            <p:nvPr/>
          </p:nvSpPr>
          <p:spPr>
            <a:xfrm>
              <a:off x="599694" y="5835650"/>
              <a:ext cx="658253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报告记载了审查意见与修改结果，未记载正式违宪认定。</a:t>
              </a:r>
            </a:p>
          </p:txBody>
        </p:sp>
      </p:grpSp>
      <p:grpSp>
        <p:nvGrpSpPr>
          <p:cNvPr id="24" name="footer"/>
          <p:cNvGrpSpPr/>
          <p:nvPr/>
        </p:nvGrpSpPr>
        <p:grpSpPr>
          <a:xfrm>
            <a:off x="604266" y="6464300"/>
            <a:ext cx="10828344" cy="205359"/>
            <a:chOff x="604266" y="6464300"/>
            <a:chExt cx="10828344" cy="205359"/>
          </a:xfrm>
        </p:grpSpPr>
        <p:sp>
          <p:nvSpPr>
            <p:cNvPr id="22" name="TextBox 22"/>
            <p:cNvSpPr txBox="1"/>
            <p:nvPr/>
          </p:nvSpPr>
          <p:spPr>
            <a:xfrm>
              <a:off x="604266" y="6464300"/>
              <a:ext cx="600395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教材三类标准；2023年备案审查决定；2021年备案审查工作报告。定性关系，不表示工作占比。</a:t>
              </a:r>
            </a:p>
          </p:txBody>
        </p:sp>
        <p:sp>
          <p:nvSpPr>
            <p:cNvPr id="23" name="TextBox 23"/>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41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196840" cy="918464"/>
            <a:chOff x="592836" y="438150"/>
            <a:chExt cx="5196840"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报备对象与起算点</a:t>
              </a:r>
            </a:p>
          </p:txBody>
        </p:sp>
        <p:sp>
          <p:nvSpPr>
            <p:cNvPr id="3" name="TextBox 3"/>
            <p:cNvSpPr txBox="1"/>
            <p:nvPr/>
          </p:nvSpPr>
          <p:spPr>
            <a:xfrm>
              <a:off x="592836" y="71120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什么时候报备，向谁报备</a:t>
              </a:r>
            </a:p>
          </p:txBody>
        </p:sp>
      </p:grpSp>
      <p:grpSp>
        <p:nvGrpSpPr>
          <p:cNvPr id="14" name="promulgation-clock"/>
          <p:cNvGrpSpPr/>
          <p:nvPr/>
        </p:nvGrpSpPr>
        <p:grpSpPr>
          <a:xfrm>
            <a:off x="592836" y="1949450"/>
            <a:ext cx="10513314" cy="2302383"/>
            <a:chOff x="592836" y="1949450"/>
            <a:chExt cx="10513314" cy="2302383"/>
          </a:xfrm>
        </p:grpSpPr>
        <p:sp>
          <p:nvSpPr>
            <p:cNvPr id="5" name="TextBox 5"/>
            <p:cNvSpPr txBox="1"/>
            <p:nvPr/>
          </p:nvSpPr>
          <p:spPr>
            <a:xfrm>
              <a:off x="602742" y="1949450"/>
              <a:ext cx="219456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本讲涉及的法规、司法解释</a:t>
              </a:r>
            </a:p>
          </p:txBody>
        </p:sp>
        <p:sp>
          <p:nvSpPr>
            <p:cNvPr id="6" name="TextBox 6"/>
            <p:cNvSpPr txBox="1"/>
            <p:nvPr/>
          </p:nvSpPr>
          <p:spPr>
            <a:xfrm>
              <a:off x="592836" y="25400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公布</a:t>
              </a:r>
            </a:p>
          </p:txBody>
        </p:sp>
        <p:sp>
          <p:nvSpPr>
            <p:cNvPr id="7" name="Ellipse 7"/>
            <p:cNvSpPr/>
            <p:nvPr/>
          </p:nvSpPr>
          <p:spPr>
            <a:xfrm>
              <a:off x="1000125" y="3324225"/>
              <a:ext cx="133350" cy="133350"/>
            </a:xfrm>
            <a:prstGeom prst="ellipse">
              <a:avLst/>
            </a:prstGeom>
            <a:solidFill>
              <a:schemeClr val="accent1"/>
            </a:solidFill>
            <a:ln>
              <a:noFill/>
            </a:ln>
          </p:spPr>
        </p:sp>
        <p:sp>
          <p:nvSpPr>
            <p:cNvPr id="8" name="Freeform 8"/>
            <p:cNvSpPr/>
            <p:nvPr/>
          </p:nvSpPr>
          <p:spPr>
            <a:xfrm>
              <a:off x="1181100" y="3314700"/>
              <a:ext cx="9925050" cy="152400"/>
            </a:xfrm>
            <a:custGeom>
              <a:avLst/>
              <a:gdLst/>
              <a:ahLst/>
              <a:cxnLst/>
              <a:rect l="l" t="t" r="r" b="b"/>
              <a:pathLst>
                <a:path w="9925050" h="152400">
                  <a:moveTo>
                    <a:pt x="0" y="76200"/>
                  </a:moveTo>
                  <a:lnTo>
                    <a:pt x="9906000" y="76200"/>
                  </a:lnTo>
                  <a:moveTo>
                    <a:pt x="9791700" y="0"/>
                  </a:moveTo>
                  <a:lnTo>
                    <a:pt x="9925050" y="76200"/>
                  </a:lnTo>
                  <a:lnTo>
                    <a:pt x="9791700" y="152400"/>
                  </a:lnTo>
                </a:path>
              </a:pathLst>
            </a:custGeom>
            <a:noFill/>
            <a:ln w="19050">
              <a:solidFill>
                <a:schemeClr val="accent1"/>
              </a:solidFill>
            </a:ln>
          </p:spPr>
        </p:sp>
        <p:sp>
          <p:nvSpPr>
            <p:cNvPr id="9" name="TextBox 9"/>
            <p:cNvSpPr txBox="1"/>
            <p:nvPr/>
          </p:nvSpPr>
          <p:spPr>
            <a:xfrm>
              <a:off x="4191000" y="2279650"/>
              <a:ext cx="883006" cy="1047750"/>
            </a:xfrm>
            <a:prstGeom prst="rect">
              <a:avLst/>
            </a:prstGeom>
            <a:noFill/>
            <a:ln>
              <a:noFill/>
            </a:ln>
          </p:spPr>
          <p:txBody>
            <a:bodyPr wrap="none" lIns="0" tIns="0" rIns="0" bIns="0" anchor="t" anchorCtr="0">
              <a:spAutoFit/>
            </a:bodyPr>
            <a:lstStyle/>
            <a:p>
              <a:pPr algn="l"/>
              <a:r>
                <a:rPr lang="zh-CN" sz="5400" dirty="0">
                  <a:solidFill>
                    <a:schemeClr val="accent2"/>
                  </a:solidFill>
                  <a:latin typeface="+mj-lt"/>
                  <a:ea typeface="+mj-ea"/>
                  <a:cs typeface="+mj-cs"/>
                </a:rPr>
                <a:t>30</a:t>
              </a:r>
            </a:p>
          </p:txBody>
        </p:sp>
        <p:sp>
          <p:nvSpPr>
            <p:cNvPr id="10" name="TextBox 10"/>
            <p:cNvSpPr txBox="1"/>
            <p:nvPr/>
          </p:nvSpPr>
          <p:spPr>
            <a:xfrm>
              <a:off x="5301996" y="2635250"/>
              <a:ext cx="71247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n-lt"/>
                  <a:ea typeface="+mn-ea"/>
                  <a:cs typeface="+mn-cs"/>
                </a:rPr>
                <a:t>日内</a:t>
              </a:r>
            </a:p>
          </p:txBody>
        </p:sp>
        <p:sp>
          <p:nvSpPr>
            <p:cNvPr id="11" name="Freeform 11"/>
            <p:cNvSpPr/>
            <p:nvPr/>
          </p:nvSpPr>
          <p:spPr>
            <a:xfrm>
              <a:off x="1466850" y="3695700"/>
              <a:ext cx="9105900" cy="171450"/>
            </a:xfrm>
            <a:custGeom>
              <a:avLst/>
              <a:gdLst/>
              <a:ahLst/>
              <a:cxnLst/>
              <a:rect l="l" t="t" r="r" b="b"/>
              <a:pathLst>
                <a:path w="9105900" h="171450">
                  <a:moveTo>
                    <a:pt x="0" y="0"/>
                  </a:moveTo>
                  <a:lnTo>
                    <a:pt x="0" y="171450"/>
                  </a:lnTo>
                  <a:lnTo>
                    <a:pt x="9105900" y="171450"/>
                  </a:lnTo>
                  <a:lnTo>
                    <a:pt x="9105900" y="0"/>
                  </a:lnTo>
                </a:path>
              </a:pathLst>
            </a:custGeom>
            <a:noFill/>
            <a:ln w="19050">
              <a:solidFill>
                <a:schemeClr val="accent2"/>
              </a:solidFill>
            </a:ln>
          </p:spPr>
        </p:sp>
        <p:sp>
          <p:nvSpPr>
            <p:cNvPr id="12" name="TextBox 12"/>
            <p:cNvSpPr txBox="1"/>
            <p:nvPr/>
          </p:nvSpPr>
          <p:spPr>
            <a:xfrm>
              <a:off x="7873746" y="26416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依法报送备案</a:t>
              </a:r>
            </a:p>
          </p:txBody>
        </p:sp>
        <p:sp>
          <p:nvSpPr>
            <p:cNvPr id="13" name="TextBox 13"/>
            <p:cNvSpPr txBox="1"/>
            <p:nvPr/>
          </p:nvSpPr>
          <p:spPr>
            <a:xfrm>
              <a:off x="602742" y="3987800"/>
              <a:ext cx="619277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从公布之日起算；公布与施行可能不是同一天。图示不表示两者的实际间隔。</a:t>
              </a:r>
            </a:p>
          </p:txBody>
        </p:sp>
      </p:grpSp>
      <p:grpSp>
        <p:nvGrpSpPr>
          <p:cNvPr id="19" name="p42-reveal-1"/>
          <p:cNvGrpSpPr/>
          <p:nvPr/>
        </p:nvGrpSpPr>
        <p:grpSpPr>
          <a:xfrm>
            <a:off x="597408" y="4762500"/>
            <a:ext cx="10984992" cy="1451483"/>
            <a:chOff x="597408" y="4762500"/>
            <a:chExt cx="10984992" cy="1451483"/>
          </a:xfrm>
        </p:grpSpPr>
        <p:sp>
          <p:nvSpPr>
            <p:cNvPr id="15" name="Freeform 15"/>
            <p:cNvSpPr/>
            <p:nvPr/>
          </p:nvSpPr>
          <p:spPr>
            <a:xfrm>
              <a:off x="609600" y="47625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sp>
          <p:nvSpPr>
            <p:cNvPr id="16" name="TextBox 16"/>
            <p:cNvSpPr txBox="1"/>
            <p:nvPr/>
          </p:nvSpPr>
          <p:spPr>
            <a:xfrm>
              <a:off x="597408" y="4927600"/>
              <a:ext cx="750387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文件身份不同 → 备案机制、接收机关与处理权限不同</a:t>
              </a:r>
            </a:p>
          </p:txBody>
        </p:sp>
        <p:sp>
          <p:nvSpPr>
            <p:cNvPr id="17" name="TextBox 17"/>
            <p:cNvSpPr txBox="1"/>
            <p:nvPr/>
          </p:nvSpPr>
          <p:spPr>
            <a:xfrm>
              <a:off x="599694" y="541655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人大、国务院、党内法规、军事法规等各有制度安排。</a:t>
              </a:r>
            </a:p>
          </p:txBody>
        </p:sp>
        <p:sp>
          <p:nvSpPr>
            <p:cNvPr id="18" name="TextBox 18"/>
            <p:cNvSpPr txBox="1"/>
            <p:nvPr/>
          </p:nvSpPr>
          <p:spPr>
            <a:xfrm>
              <a:off x="602742" y="5949950"/>
              <a:ext cx="691972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特别行政区法律报全国人大常委会备案，另有基本法规定；不能套进同一个处理动作。</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468938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立法法、监督法及相关备案审查制度；这里的30日不泛化到所有种类文件。</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42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法律与宪法约束</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法律受宪法约束，渠道仍须辨对象</a:t>
              </a:r>
            </a:p>
          </p:txBody>
        </p:sp>
      </p:grpSp>
      <p:grpSp>
        <p:nvGrpSpPr>
          <p:cNvPr id="14" name="constitutional-bound"/>
          <p:cNvGrpSpPr/>
          <p:nvPr/>
        </p:nvGrpSpPr>
        <p:grpSpPr>
          <a:xfrm>
            <a:off x="596646" y="1847850"/>
            <a:ext cx="10985754" cy="2464181"/>
            <a:chOff x="596646" y="1847850"/>
            <a:chExt cx="10985754" cy="2464181"/>
          </a:xfrm>
        </p:grpSpPr>
        <p:sp>
          <p:nvSpPr>
            <p:cNvPr id="5" name="Freeform 5"/>
            <p:cNvSpPr/>
            <p:nvPr/>
          </p:nvSpPr>
          <p:spPr>
            <a:xfrm>
              <a:off x="609600" y="1847850"/>
              <a:ext cx="10972800" cy="209550"/>
            </a:xfrm>
            <a:custGeom>
              <a:avLst/>
              <a:gdLst/>
              <a:ahLst/>
              <a:cxnLst/>
              <a:rect l="l" t="t" r="r" b="b"/>
              <a:pathLst>
                <a:path w="10972800" h="209550">
                  <a:moveTo>
                    <a:pt x="0" y="209550"/>
                  </a:moveTo>
                  <a:lnTo>
                    <a:pt x="0" y="0"/>
                  </a:lnTo>
                  <a:lnTo>
                    <a:pt x="10972800" y="0"/>
                  </a:lnTo>
                  <a:lnTo>
                    <a:pt x="10972800" y="209550"/>
                  </a:lnTo>
                </a:path>
              </a:pathLst>
            </a:custGeom>
            <a:noFill/>
            <a:ln w="19050">
              <a:solidFill>
                <a:schemeClr val="accent2"/>
              </a:solidFill>
            </a:ln>
          </p:spPr>
        </p:sp>
        <p:sp>
          <p:nvSpPr>
            <p:cNvPr id="6" name="TextBox 6"/>
            <p:cNvSpPr txBox="1"/>
            <p:nvPr/>
          </p:nvSpPr>
          <p:spPr>
            <a:xfrm>
              <a:off x="4026408" y="2012950"/>
              <a:ext cx="325526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宪法约束贯穿不同阶段</a:t>
              </a:r>
            </a:p>
          </p:txBody>
        </p:sp>
        <p:sp>
          <p:nvSpPr>
            <p:cNvPr id="7" name="TextBox 7"/>
            <p:cNvSpPr txBox="1"/>
            <p:nvPr/>
          </p:nvSpPr>
          <p:spPr>
            <a:xfrm>
              <a:off x="596646" y="269875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法律制定中</a:t>
              </a:r>
            </a:p>
          </p:txBody>
        </p:sp>
        <p:sp>
          <p:nvSpPr>
            <p:cNvPr id="8" name="TextBox 8"/>
            <p:cNvSpPr txBox="1"/>
            <p:nvPr/>
          </p:nvSpPr>
          <p:spPr>
            <a:xfrm>
              <a:off x="7264146" y="269875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法律施行后</a:t>
              </a:r>
            </a:p>
          </p:txBody>
        </p:sp>
        <p:sp>
          <p:nvSpPr>
            <p:cNvPr id="9" name="Freeform 9"/>
            <p:cNvSpPr/>
            <p:nvPr/>
          </p:nvSpPr>
          <p:spPr>
            <a:xfrm>
              <a:off x="609600" y="3181350"/>
              <a:ext cx="10972800" cy="152400"/>
            </a:xfrm>
            <a:custGeom>
              <a:avLst/>
              <a:gdLst/>
              <a:ahLst/>
              <a:cxnLst/>
              <a:rect l="l" t="t" r="r" b="b"/>
              <a:pathLst>
                <a:path w="10972800" h="152400">
                  <a:moveTo>
                    <a:pt x="0" y="76200"/>
                  </a:moveTo>
                  <a:lnTo>
                    <a:pt x="3924300" y="76200"/>
                  </a:lnTo>
                  <a:moveTo>
                    <a:pt x="6667500" y="76200"/>
                  </a:moveTo>
                  <a:lnTo>
                    <a:pt x="10972800" y="76200"/>
                  </a:lnTo>
                  <a:moveTo>
                    <a:pt x="4229100" y="76200"/>
                  </a:moveTo>
                  <a:lnTo>
                    <a:pt x="6210300" y="76200"/>
                  </a:lnTo>
                  <a:moveTo>
                    <a:pt x="6096000" y="0"/>
                  </a:moveTo>
                  <a:lnTo>
                    <a:pt x="6229350" y="76200"/>
                  </a:lnTo>
                  <a:lnTo>
                    <a:pt x="6096000" y="152400"/>
                  </a:lnTo>
                </a:path>
              </a:pathLst>
            </a:custGeom>
            <a:noFill/>
            <a:ln w="19050">
              <a:solidFill>
                <a:schemeClr val="accent3"/>
              </a:solidFill>
            </a:ln>
          </p:spPr>
        </p:sp>
        <p:sp>
          <p:nvSpPr>
            <p:cNvPr id="10" name="TextBox 10"/>
            <p:cNvSpPr txBox="1"/>
            <p:nvPr/>
          </p:nvSpPr>
          <p:spPr>
            <a:xfrm>
              <a:off x="599694" y="34925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草案说明涉及的合宪性问题</a:t>
              </a:r>
            </a:p>
          </p:txBody>
        </p:sp>
        <p:sp>
          <p:nvSpPr>
            <p:cNvPr id="11" name="TextBox 11"/>
            <p:cNvSpPr txBox="1"/>
            <p:nvPr/>
          </p:nvSpPr>
          <p:spPr>
            <a:xfrm>
              <a:off x="599694" y="39306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宪法和法律委员会统一审议</a:t>
              </a:r>
            </a:p>
          </p:txBody>
        </p:sp>
        <p:sp>
          <p:nvSpPr>
            <p:cNvPr id="12" name="TextBox 12"/>
            <p:cNvSpPr txBox="1"/>
            <p:nvPr/>
          </p:nvSpPr>
          <p:spPr>
            <a:xfrm>
              <a:off x="7267194" y="34925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依法修改、清理</a:t>
              </a:r>
            </a:p>
          </p:txBody>
        </p:sp>
        <p:sp>
          <p:nvSpPr>
            <p:cNvPr id="13" name="TextBox 13"/>
            <p:cNvSpPr txBox="1"/>
            <p:nvPr/>
          </p:nvSpPr>
          <p:spPr>
            <a:xfrm>
              <a:off x="7270242" y="4006850"/>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不因已经施行而脱离宪法约束</a:t>
              </a:r>
            </a:p>
          </p:txBody>
        </p:sp>
      </p:grpSp>
      <p:grpSp>
        <p:nvGrpSpPr>
          <p:cNvPr id="18" name="p43-reveal-1"/>
          <p:cNvGrpSpPr/>
          <p:nvPr/>
        </p:nvGrpSpPr>
        <p:grpSpPr>
          <a:xfrm>
            <a:off x="609600" y="5029200"/>
            <a:ext cx="5477256" cy="1283081"/>
            <a:chOff x="609600" y="5029200"/>
            <a:chExt cx="5477256" cy="1283081"/>
          </a:xfrm>
        </p:grpSpPr>
        <p:sp>
          <p:nvSpPr>
            <p:cNvPr id="15" name="Rectangle 15"/>
            <p:cNvSpPr/>
            <p:nvPr/>
          </p:nvSpPr>
          <p:spPr>
            <a:xfrm>
              <a:off x="609600" y="5029200"/>
              <a:ext cx="57150" cy="1104900"/>
            </a:xfrm>
            <a:prstGeom prst="rect">
              <a:avLst/>
            </a:prstGeom>
            <a:solidFill>
              <a:schemeClr val="accent2"/>
            </a:solidFill>
            <a:ln>
              <a:noFill/>
            </a:ln>
          </p:spPr>
        </p:sp>
        <p:sp>
          <p:nvSpPr>
            <p:cNvPr id="16" name="TextBox 16"/>
            <p:cNvSpPr txBox="1"/>
            <p:nvPr/>
          </p:nvSpPr>
          <p:spPr>
            <a:xfrm>
              <a:off x="864108" y="5118100"/>
              <a:ext cx="491916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受宪法检验 ≠ 任一申请渠道都适用</a:t>
              </a:r>
            </a:p>
          </p:txBody>
        </p:sp>
        <p:sp>
          <p:nvSpPr>
            <p:cNvPr id="17" name="TextBox 17"/>
            <p:cNvSpPr txBox="1"/>
            <p:nvPr/>
          </p:nvSpPr>
          <p:spPr>
            <a:xfrm>
              <a:off x="866394" y="5568950"/>
              <a:ext cx="52204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对法律提出意见，不能直接套用本讲针对法规、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司法解释的备案审查建议程序。</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637146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立法法关于法律草案说明、统一审议与法律修改清理的制度；具体渠道的适用范围须依现行规范判断。</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43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把入口和结果分开</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报过、提过，不等于已经通过或撤销</a:t>
              </a:r>
            </a:p>
          </p:txBody>
        </p:sp>
      </p:grpSp>
      <p:grpSp>
        <p:nvGrpSpPr>
          <p:cNvPr id="16" name="three-distinct-acts"/>
          <p:cNvGrpSpPr/>
          <p:nvPr/>
        </p:nvGrpSpPr>
        <p:grpSpPr>
          <a:xfrm>
            <a:off x="596646" y="1879600"/>
            <a:ext cx="10985754" cy="2398014"/>
            <a:chOff x="596646" y="1879600"/>
            <a:chExt cx="10985754" cy="2398014"/>
          </a:xfrm>
        </p:grpSpPr>
        <p:sp>
          <p:nvSpPr>
            <p:cNvPr id="5" name="TextBox 5"/>
            <p:cNvSpPr txBox="1"/>
            <p:nvPr/>
          </p:nvSpPr>
          <p:spPr>
            <a:xfrm>
              <a:off x="596646" y="19558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报送备案</a:t>
              </a:r>
            </a:p>
          </p:txBody>
        </p:sp>
        <p:sp>
          <p:nvSpPr>
            <p:cNvPr id="6" name="TextBox 6"/>
            <p:cNvSpPr txBox="1"/>
            <p:nvPr/>
          </p:nvSpPr>
          <p:spPr>
            <a:xfrm>
              <a:off x="3983736" y="1879600"/>
              <a:ext cx="27786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n-lt"/>
                  <a:ea typeface="+mn-ea"/>
                  <a:cs typeface="+mn-cs"/>
                </a:rPr>
                <a:t>≠</a:t>
              </a:r>
            </a:p>
          </p:txBody>
        </p:sp>
        <p:sp>
          <p:nvSpPr>
            <p:cNvPr id="7" name="TextBox 7"/>
            <p:cNvSpPr txBox="1"/>
            <p:nvPr/>
          </p:nvSpPr>
          <p:spPr>
            <a:xfrm>
              <a:off x="4901946" y="1955800"/>
              <a:ext cx="36530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全部内容获得事前认可</a:t>
              </a:r>
            </a:p>
          </p:txBody>
        </p:sp>
        <p:sp>
          <p:nvSpPr>
            <p:cNvPr id="8" name="Freeform 8"/>
            <p:cNvSpPr/>
            <p:nvPr/>
          </p:nvSpPr>
          <p:spPr>
            <a:xfrm>
              <a:off x="609600" y="26289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sp>
          <p:nvSpPr>
            <p:cNvPr id="9" name="TextBox 9"/>
            <p:cNvSpPr txBox="1"/>
            <p:nvPr/>
          </p:nvSpPr>
          <p:spPr>
            <a:xfrm>
              <a:off x="596646" y="28321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审查建议</a:t>
              </a:r>
            </a:p>
          </p:txBody>
        </p:sp>
        <p:sp>
          <p:nvSpPr>
            <p:cNvPr id="10" name="TextBox 10"/>
            <p:cNvSpPr txBox="1"/>
            <p:nvPr/>
          </p:nvSpPr>
          <p:spPr>
            <a:xfrm>
              <a:off x="3983736" y="2755900"/>
              <a:ext cx="27786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n-lt"/>
                  <a:ea typeface="+mn-ea"/>
                  <a:cs typeface="+mn-cs"/>
                </a:rPr>
                <a:t>≠</a:t>
              </a:r>
            </a:p>
          </p:txBody>
        </p:sp>
        <p:sp>
          <p:nvSpPr>
            <p:cNvPr id="11" name="TextBox 11"/>
            <p:cNvSpPr txBox="1"/>
            <p:nvPr/>
          </p:nvSpPr>
          <p:spPr>
            <a:xfrm>
              <a:off x="4901946" y="28321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原规定自动撤销</a:t>
              </a:r>
            </a:p>
          </p:txBody>
        </p:sp>
        <p:sp>
          <p:nvSpPr>
            <p:cNvPr id="12" name="Freeform 12"/>
            <p:cNvSpPr/>
            <p:nvPr/>
          </p:nvSpPr>
          <p:spPr>
            <a:xfrm>
              <a:off x="609600" y="35052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sp>
          <p:nvSpPr>
            <p:cNvPr id="13" name="TextBox 13"/>
            <p:cNvSpPr txBox="1"/>
            <p:nvPr/>
          </p:nvSpPr>
          <p:spPr>
            <a:xfrm>
              <a:off x="596646" y="37084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沟通修改</a:t>
              </a:r>
            </a:p>
          </p:txBody>
        </p:sp>
        <p:sp>
          <p:nvSpPr>
            <p:cNvPr id="14" name="TextBox 14"/>
            <p:cNvSpPr txBox="1"/>
            <p:nvPr/>
          </p:nvSpPr>
          <p:spPr>
            <a:xfrm>
              <a:off x="3983736" y="3632200"/>
              <a:ext cx="277863" cy="645414"/>
            </a:xfrm>
            <a:prstGeom prst="rect">
              <a:avLst/>
            </a:prstGeom>
            <a:noFill/>
            <a:ln>
              <a:noFill/>
            </a:ln>
          </p:spPr>
          <p:txBody>
            <a:bodyPr wrap="none" lIns="0" tIns="0" rIns="0" bIns="0" anchor="t" anchorCtr="0">
              <a:spAutoFit/>
            </a:bodyPr>
            <a:lstStyle/>
            <a:p>
              <a:pPr algn="l"/>
              <a:r>
                <a:rPr lang="zh-CN" sz="3300" dirty="0">
                  <a:solidFill>
                    <a:schemeClr val="accent2"/>
                  </a:solidFill>
                  <a:latin typeface="+mn-lt"/>
                  <a:ea typeface="+mn-ea"/>
                  <a:cs typeface="+mn-cs"/>
                </a:rPr>
                <a:t>≠</a:t>
              </a:r>
            </a:p>
          </p:txBody>
        </p:sp>
        <p:sp>
          <p:nvSpPr>
            <p:cNvPr id="15" name="TextBox 15"/>
            <p:cNvSpPr txBox="1"/>
            <p:nvPr/>
          </p:nvSpPr>
          <p:spPr>
            <a:xfrm>
              <a:off x="4901946" y="3708400"/>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每个文件唯一的处理方式</a:t>
              </a:r>
            </a:p>
          </p:txBody>
        </p:sp>
      </p:grpSp>
      <p:grpSp>
        <p:nvGrpSpPr>
          <p:cNvPr id="23" name="p44-reveal-1"/>
          <p:cNvGrpSpPr/>
          <p:nvPr/>
        </p:nvGrpSpPr>
        <p:grpSpPr>
          <a:xfrm>
            <a:off x="599694" y="4711700"/>
            <a:ext cx="7003161" cy="1597533"/>
            <a:chOff x="599694" y="4711700"/>
            <a:chExt cx="7003161" cy="1597533"/>
          </a:xfrm>
        </p:grpSpPr>
        <p:sp>
          <p:nvSpPr>
            <p:cNvPr id="17" name="TextBox 17"/>
            <p:cNvSpPr txBox="1"/>
            <p:nvPr/>
          </p:nvSpPr>
          <p:spPr>
            <a:xfrm>
              <a:off x="599694" y="5092700"/>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依法审查研究之后</a:t>
              </a:r>
            </a:p>
          </p:txBody>
        </p:sp>
        <p:sp>
          <p:nvSpPr>
            <p:cNvPr id="18" name="Freeform 18"/>
            <p:cNvSpPr/>
            <p:nvPr/>
          </p:nvSpPr>
          <p:spPr>
            <a:xfrm>
              <a:off x="3124200" y="4857750"/>
              <a:ext cx="1352550" cy="876300"/>
            </a:xfrm>
            <a:custGeom>
              <a:avLst/>
              <a:gdLst/>
              <a:ahLst/>
              <a:cxnLst/>
              <a:rect l="l" t="t" r="r" b="b"/>
              <a:pathLst>
                <a:path w="1352550" h="876300">
                  <a:moveTo>
                    <a:pt x="0" y="381000"/>
                  </a:moveTo>
                  <a:lnTo>
                    <a:pt x="781050" y="381000"/>
                  </a:lnTo>
                  <a:moveTo>
                    <a:pt x="781050" y="381000"/>
                  </a:moveTo>
                  <a:lnTo>
                    <a:pt x="781050" y="0"/>
                  </a:lnTo>
                  <a:lnTo>
                    <a:pt x="1352550" y="0"/>
                  </a:lnTo>
                  <a:moveTo>
                    <a:pt x="781050" y="381000"/>
                  </a:moveTo>
                  <a:lnTo>
                    <a:pt x="1352550" y="381000"/>
                  </a:lnTo>
                  <a:moveTo>
                    <a:pt x="781050" y="381000"/>
                  </a:moveTo>
                  <a:lnTo>
                    <a:pt x="781050" y="876300"/>
                  </a:lnTo>
                  <a:lnTo>
                    <a:pt x="1352550" y="876300"/>
                  </a:lnTo>
                </a:path>
              </a:pathLst>
            </a:custGeom>
            <a:noFill/>
            <a:ln w="19050">
              <a:solidFill>
                <a:schemeClr val="accent3"/>
              </a:solidFill>
            </a:ln>
          </p:spPr>
        </p:sp>
        <p:sp>
          <p:nvSpPr>
            <p:cNvPr id="19" name="TextBox 19"/>
            <p:cNvSpPr txBox="1"/>
            <p:nvPr/>
          </p:nvSpPr>
          <p:spPr>
            <a:xfrm>
              <a:off x="4695444" y="47117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认为没有问题</a:t>
              </a:r>
            </a:p>
          </p:txBody>
        </p:sp>
        <p:sp>
          <p:nvSpPr>
            <p:cNvPr id="20" name="TextBox 20"/>
            <p:cNvSpPr txBox="1"/>
            <p:nvPr/>
          </p:nvSpPr>
          <p:spPr>
            <a:xfrm>
              <a:off x="4695444" y="5149850"/>
              <a:ext cx="290741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沟通、督促制定机关修改</a:t>
              </a:r>
            </a:p>
          </p:txBody>
        </p:sp>
        <p:sp>
          <p:nvSpPr>
            <p:cNvPr id="21" name="TextBox 21"/>
            <p:cNvSpPr txBox="1"/>
            <p:nvPr/>
          </p:nvSpPr>
          <p:spPr>
            <a:xfrm>
              <a:off x="4695444" y="55880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依法采取其他措施</a:t>
              </a:r>
            </a:p>
          </p:txBody>
        </p:sp>
        <p:sp>
          <p:nvSpPr>
            <p:cNvPr id="22" name="TextBox 22"/>
            <p:cNvSpPr txBox="1"/>
            <p:nvPr/>
          </p:nvSpPr>
          <p:spPr>
            <a:xfrm>
              <a:off x="602742" y="6045200"/>
              <a:ext cx="619277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依对象、权限和法定情形分别判断；列举的是可能处理，不是自动串行步骤。</a:t>
              </a:r>
            </a:p>
          </p:txBody>
        </p:sp>
      </p:grpSp>
      <p:grpSp>
        <p:nvGrpSpPr>
          <p:cNvPr id="26" name="footer"/>
          <p:cNvGrpSpPr/>
          <p:nvPr/>
        </p:nvGrpSpPr>
        <p:grpSpPr>
          <a:xfrm>
            <a:off x="604266" y="6464300"/>
            <a:ext cx="10828344" cy="205359"/>
            <a:chOff x="604266" y="6464300"/>
            <a:chExt cx="10828344" cy="205359"/>
          </a:xfrm>
        </p:grpSpPr>
        <p:sp>
          <p:nvSpPr>
            <p:cNvPr id="24" name="TextBox 24"/>
            <p:cNvSpPr txBox="1"/>
            <p:nvPr/>
          </p:nvSpPr>
          <p:spPr>
            <a:xfrm>
              <a:off x="604266" y="6464300"/>
              <a:ext cx="498622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2021年备案审查报告；本主案呈现的是沟通后由制定机关修改调整这一条路径。</a:t>
              </a:r>
            </a:p>
          </p:txBody>
        </p:sp>
        <p:sp>
          <p:nvSpPr>
            <p:cNvPr id="25" name="TextBox 25"/>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44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91190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标准—对象—权限—措施</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标准、措施，都要和权限配套</a:t>
              </a:r>
            </a:p>
          </p:txBody>
        </p:sp>
      </p:grpSp>
      <p:grpSp>
        <p:nvGrpSpPr>
          <p:cNvPr id="8" name="standard-combination"/>
          <p:cNvGrpSpPr/>
          <p:nvPr/>
        </p:nvGrpSpPr>
        <p:grpSpPr>
          <a:xfrm>
            <a:off x="597408" y="1784350"/>
            <a:ext cx="10984992" cy="1025525"/>
            <a:chOff x="597408" y="1784350"/>
            <a:chExt cx="10984992" cy="1025525"/>
          </a:xfrm>
        </p:grpSpPr>
        <p:sp>
          <p:nvSpPr>
            <p:cNvPr id="5" name="TextBox 5"/>
            <p:cNvSpPr txBox="1"/>
            <p:nvPr/>
          </p:nvSpPr>
          <p:spPr>
            <a:xfrm>
              <a:off x="597408" y="1784350"/>
              <a:ext cx="3675278"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合宪性 · 合法性 · 适当性</a:t>
              </a:r>
            </a:p>
          </p:txBody>
        </p:sp>
        <p:sp>
          <p:nvSpPr>
            <p:cNvPr id="6" name="TextBox 6"/>
            <p:cNvSpPr txBox="1"/>
            <p:nvPr/>
          </p:nvSpPr>
          <p:spPr>
            <a:xfrm>
              <a:off x="599694" y="23304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对照宪法、上位法、制定权限、法定程序、内容与目的手段比例等。</a:t>
              </a:r>
            </a:p>
          </p:txBody>
        </p:sp>
        <p:sp>
          <p:nvSpPr>
            <p:cNvPr id="7" name="Freeform 7"/>
            <p:cNvSpPr/>
            <p:nvPr/>
          </p:nvSpPr>
          <p:spPr>
            <a:xfrm>
              <a:off x="609600" y="280035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grpSp>
      <p:grpSp>
        <p:nvGrpSpPr>
          <p:cNvPr id="15" name="p45-reveal-1"/>
          <p:cNvGrpSpPr/>
          <p:nvPr/>
        </p:nvGrpSpPr>
        <p:grpSpPr>
          <a:xfrm>
            <a:off x="597408" y="3130550"/>
            <a:ext cx="8796528" cy="1676781"/>
            <a:chOff x="597408" y="3130550"/>
            <a:chExt cx="8796528" cy="1676781"/>
          </a:xfrm>
        </p:grpSpPr>
        <p:sp>
          <p:nvSpPr>
            <p:cNvPr id="9" name="TextBox 9"/>
            <p:cNvSpPr txBox="1"/>
            <p:nvPr/>
          </p:nvSpPr>
          <p:spPr>
            <a:xfrm>
              <a:off x="597408" y="313055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地方性法规</a:t>
              </a:r>
            </a:p>
          </p:txBody>
        </p:sp>
        <p:sp>
          <p:nvSpPr>
            <p:cNvPr id="10" name="Freeform 10"/>
            <p:cNvSpPr/>
            <p:nvPr/>
          </p:nvSpPr>
          <p:spPr>
            <a:xfrm>
              <a:off x="3143250" y="3257550"/>
              <a:ext cx="704850" cy="152400"/>
            </a:xfrm>
            <a:custGeom>
              <a:avLst/>
              <a:gdLst/>
              <a:ahLst/>
              <a:cxnLst/>
              <a:rect l="l" t="t" r="r" b="b"/>
              <a:pathLst>
                <a:path w="704850" h="152400">
                  <a:moveTo>
                    <a:pt x="0" y="76200"/>
                  </a:moveTo>
                  <a:lnTo>
                    <a:pt x="685800" y="76200"/>
                  </a:lnTo>
                  <a:moveTo>
                    <a:pt x="571500" y="0"/>
                  </a:moveTo>
                  <a:lnTo>
                    <a:pt x="704850" y="76200"/>
                  </a:lnTo>
                  <a:lnTo>
                    <a:pt x="571500" y="152400"/>
                  </a:lnTo>
                </a:path>
              </a:pathLst>
            </a:custGeom>
            <a:noFill/>
            <a:ln w="19050">
              <a:solidFill>
                <a:schemeClr val="accent3"/>
              </a:solidFill>
            </a:ln>
          </p:spPr>
        </p:sp>
        <p:sp>
          <p:nvSpPr>
            <p:cNvPr id="11" name="TextBox 11"/>
            <p:cNvSpPr txBox="1"/>
            <p:nvPr/>
          </p:nvSpPr>
          <p:spPr>
            <a:xfrm>
              <a:off x="4123944" y="31305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制定机关依法修改、废止</a:t>
              </a:r>
            </a:p>
          </p:txBody>
        </p:sp>
        <p:sp>
          <p:nvSpPr>
            <p:cNvPr id="12" name="TextBox 12"/>
            <p:cNvSpPr txBox="1"/>
            <p:nvPr/>
          </p:nvSpPr>
          <p:spPr>
            <a:xfrm>
              <a:off x="4123944" y="349250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符合法定情形，依法提请全国人大常委会撤销</a:t>
              </a:r>
            </a:p>
          </p:txBody>
        </p:sp>
        <p:sp>
          <p:nvSpPr>
            <p:cNvPr id="13" name="TextBox 13"/>
            <p:cNvSpPr txBox="1"/>
            <p:nvPr/>
          </p:nvSpPr>
          <p:spPr>
            <a:xfrm>
              <a:off x="602742" y="4159250"/>
              <a:ext cx="819188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其他对象另辨：全国人大改变、撤销常委会不适当法律或决定；报批法规不获批准；司法解释的纠正。</a:t>
              </a:r>
            </a:p>
          </p:txBody>
        </p:sp>
        <p:sp>
          <p:nvSpPr>
            <p:cNvPr id="14" name="TextBox 14"/>
            <p:cNvSpPr txBox="1"/>
            <p:nvPr/>
          </p:nvSpPr>
          <p:spPr>
            <a:xfrm>
              <a:off x="599694" y="4425950"/>
              <a:ext cx="658253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这些不是同一动作，也不是同一工作机构都能直接作出。</a:t>
              </a:r>
            </a:p>
          </p:txBody>
        </p:sp>
      </p:grpSp>
      <p:grpSp>
        <p:nvGrpSpPr>
          <p:cNvPr id="20" name="p45-reveal-2"/>
          <p:cNvGrpSpPr/>
          <p:nvPr/>
        </p:nvGrpSpPr>
        <p:grpSpPr>
          <a:xfrm>
            <a:off x="597408" y="5124450"/>
            <a:ext cx="10984992" cy="1164209"/>
            <a:chOff x="597408" y="5124450"/>
            <a:chExt cx="10984992" cy="1164209"/>
          </a:xfrm>
        </p:grpSpPr>
        <p:sp>
          <p:nvSpPr>
            <p:cNvPr id="16" name="Freeform 16"/>
            <p:cNvSpPr/>
            <p:nvPr/>
          </p:nvSpPr>
          <p:spPr>
            <a:xfrm>
              <a:off x="609600" y="512445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sp>
          <p:nvSpPr>
            <p:cNvPr id="17" name="TextBox 17"/>
            <p:cNvSpPr txBox="1"/>
            <p:nvPr/>
          </p:nvSpPr>
          <p:spPr>
            <a:xfrm>
              <a:off x="597408" y="5232400"/>
              <a:ext cx="680923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用教材把握框架，用现行规范确定权限与程序。</a:t>
              </a:r>
            </a:p>
          </p:txBody>
        </p:sp>
        <p:sp>
          <p:nvSpPr>
            <p:cNvPr id="18" name="TextBox 18"/>
            <p:cNvSpPr txBox="1"/>
            <p:nvPr/>
          </p:nvSpPr>
          <p:spPr>
            <a:xfrm>
              <a:off x="602742" y="5797550"/>
              <a:ext cx="438449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2023年12月：备案审查决定　/　2024年：监督法修正</a:t>
              </a:r>
            </a:p>
          </p:txBody>
        </p:sp>
        <p:sp>
          <p:nvSpPr>
            <p:cNvPr id="19" name="TextBox 19"/>
            <p:cNvSpPr txBox="1"/>
            <p:nvPr/>
          </p:nvSpPr>
          <p:spPr>
            <a:xfrm>
              <a:off x="604266" y="6083300"/>
              <a:ext cx="425119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随堂复述：合宪性审查问什么？备案审查问什么？两者在哪里交叉？</a:t>
              </a:r>
            </a:p>
          </p:txBody>
        </p:sp>
      </p:grpSp>
      <p:grpSp>
        <p:nvGrpSpPr>
          <p:cNvPr id="23" name="footer"/>
          <p:cNvGrpSpPr/>
          <p:nvPr/>
        </p:nvGrpSpPr>
        <p:grpSpPr>
          <a:xfrm>
            <a:off x="604266" y="6464300"/>
            <a:ext cx="10828344" cy="205359"/>
            <a:chOff x="604266" y="6464300"/>
            <a:chExt cx="10828344" cy="205359"/>
          </a:xfrm>
        </p:grpSpPr>
        <p:sp>
          <p:nvSpPr>
            <p:cNvPr id="21" name="TextBox 21"/>
            <p:cNvSpPr txBox="1"/>
            <p:nvPr/>
          </p:nvSpPr>
          <p:spPr>
            <a:xfrm>
              <a:off x="604266" y="6464300"/>
              <a:ext cx="645627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2023年备案审查决定、2024年修正的监督法、宪法第62和67条及立法法；措施按对象与法定程序辨认。</a:t>
              </a:r>
            </a:p>
          </p:txBody>
        </p:sp>
        <p:sp>
          <p:nvSpPr>
            <p:cNvPr id="22" name="TextBox 22"/>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45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明示课堂设例，非报告披露个案</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同一依据，两个不同的审查对象</a:t>
              </a:r>
            </a:p>
          </p:txBody>
        </p:sp>
      </p:grpSp>
      <p:grpSp>
        <p:nvGrpSpPr>
          <p:cNvPr id="10" name="norm-object"/>
          <p:cNvGrpSpPr/>
          <p:nvPr/>
        </p:nvGrpSpPr>
        <p:grpSpPr>
          <a:xfrm>
            <a:off x="609600" y="1847850"/>
            <a:ext cx="4419600" cy="2609850"/>
            <a:chOff x="609600" y="1847850"/>
            <a:chExt cx="4419600" cy="2609850"/>
          </a:xfrm>
        </p:grpSpPr>
        <p:sp>
          <p:nvSpPr>
            <p:cNvPr id="5" name="Freeform 5"/>
            <p:cNvSpPr/>
            <p:nvPr/>
          </p:nvSpPr>
          <p:spPr>
            <a:xfrm>
              <a:off x="609600" y="1847850"/>
              <a:ext cx="4419600" cy="2609850"/>
            </a:xfrm>
            <a:custGeom>
              <a:avLst/>
              <a:gdLst/>
              <a:ahLst/>
              <a:cxnLst/>
              <a:rect l="l" t="t" r="r" b="b"/>
              <a:pathLst>
                <a:path w="4419600" h="2609850">
                  <a:moveTo>
                    <a:pt x="0" y="0"/>
                  </a:moveTo>
                  <a:lnTo>
                    <a:pt x="4095750" y="0"/>
                  </a:lnTo>
                  <a:lnTo>
                    <a:pt x="4419600" y="323850"/>
                  </a:lnTo>
                  <a:lnTo>
                    <a:pt x="4419600" y="2609850"/>
                  </a:lnTo>
                  <a:lnTo>
                    <a:pt x="0" y="2609850"/>
                  </a:lnTo>
                  <a:close/>
                </a:path>
              </a:pathLst>
            </a:custGeom>
            <a:solidFill>
              <a:schemeClr val="accent5"/>
            </a:solidFill>
            <a:ln>
              <a:noFill/>
            </a:ln>
          </p:spPr>
        </p:sp>
        <p:sp>
          <p:nvSpPr>
            <p:cNvPr id="6" name="TextBox 6"/>
            <p:cNvSpPr txBox="1"/>
            <p:nvPr/>
          </p:nvSpPr>
          <p:spPr>
            <a:xfrm>
              <a:off x="863346" y="2025650"/>
              <a:ext cx="3707435"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甲 · 地方性法规的条款</a:t>
              </a:r>
            </a:p>
          </p:txBody>
        </p:sp>
        <p:sp>
          <p:nvSpPr>
            <p:cNvPr id="7" name="TextBox 7"/>
            <p:cNvSpPr txBox="1"/>
            <p:nvPr/>
          </p:nvSpPr>
          <p:spPr>
            <a:xfrm>
              <a:off x="866394" y="26733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某类从业人员受过某种处罚后，</a:t>
              </a:r>
            </a:p>
          </p:txBody>
        </p:sp>
        <p:sp>
          <p:nvSpPr>
            <p:cNvPr id="8" name="TextBox 8"/>
            <p:cNvSpPr txBox="1"/>
            <p:nvPr/>
          </p:nvSpPr>
          <p:spPr>
            <a:xfrm>
              <a:off x="866394" y="30353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不得从事该行业。</a:t>
              </a:r>
            </a:p>
          </p:txBody>
        </p:sp>
        <p:sp>
          <p:nvSpPr>
            <p:cNvPr id="9" name="TextBox 9"/>
            <p:cNvSpPr txBox="1"/>
            <p:nvPr/>
          </p:nvSpPr>
          <p:spPr>
            <a:xfrm>
              <a:off x="866394" y="377825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面向不特定的人，可反复适用</a:t>
              </a:r>
            </a:p>
          </p:txBody>
        </p:sp>
      </p:grpSp>
      <p:grpSp>
        <p:nvGrpSpPr>
          <p:cNvPr id="16" name="individual-object"/>
          <p:cNvGrpSpPr/>
          <p:nvPr/>
        </p:nvGrpSpPr>
        <p:grpSpPr>
          <a:xfrm>
            <a:off x="7162800" y="1847850"/>
            <a:ext cx="4419600" cy="2609850"/>
            <a:chOff x="7162800" y="1847850"/>
            <a:chExt cx="4419600" cy="2609850"/>
          </a:xfrm>
        </p:grpSpPr>
        <p:sp>
          <p:nvSpPr>
            <p:cNvPr id="11" name="Rectangle 11"/>
            <p:cNvSpPr/>
            <p:nvPr/>
          </p:nvSpPr>
          <p:spPr>
            <a:xfrm>
              <a:off x="7162800" y="1847850"/>
              <a:ext cx="4419600" cy="2609850"/>
            </a:xfrm>
            <a:prstGeom prst="rect">
              <a:avLst/>
            </a:prstGeom>
            <a:noFill/>
            <a:ln w="19050">
              <a:solidFill>
                <a:schemeClr val="accent3"/>
              </a:solidFill>
            </a:ln>
          </p:spPr>
        </p:sp>
        <p:sp>
          <p:nvSpPr>
            <p:cNvPr id="12" name="TextBox 12"/>
            <p:cNvSpPr txBox="1"/>
            <p:nvPr/>
          </p:nvSpPr>
          <p:spPr>
            <a:xfrm>
              <a:off x="7416546" y="2025650"/>
              <a:ext cx="2982011"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乙 · 具体行政决定</a:t>
              </a:r>
            </a:p>
          </p:txBody>
        </p:sp>
        <p:sp>
          <p:nvSpPr>
            <p:cNvPr id="13" name="TextBox 13"/>
            <p:cNvSpPr txBox="1"/>
            <p:nvPr/>
          </p:nvSpPr>
          <p:spPr>
            <a:xfrm>
              <a:off x="7419594" y="26733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行政机关对一位具体从业者：</a:t>
              </a:r>
            </a:p>
          </p:txBody>
        </p:sp>
        <p:sp>
          <p:nvSpPr>
            <p:cNvPr id="14" name="TextBox 14"/>
            <p:cNvSpPr txBox="1"/>
            <p:nvPr/>
          </p:nvSpPr>
          <p:spPr>
            <a:xfrm>
              <a:off x="7419594" y="30353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不予许可，或要求停业。</a:t>
              </a:r>
            </a:p>
          </p:txBody>
        </p:sp>
        <p:sp>
          <p:nvSpPr>
            <p:cNvPr id="15" name="TextBox 15"/>
            <p:cNvSpPr txBox="1"/>
            <p:nvPr/>
          </p:nvSpPr>
          <p:spPr>
            <a:xfrm>
              <a:off x="7419594" y="3778250"/>
              <a:ext cx="316992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具体对象、事实与处理结果</a:t>
              </a:r>
            </a:p>
          </p:txBody>
        </p:sp>
      </p:grpSp>
      <p:grpSp>
        <p:nvGrpSpPr>
          <p:cNvPr id="19" name="same-basis"/>
          <p:cNvGrpSpPr/>
          <p:nvPr/>
        </p:nvGrpSpPr>
        <p:grpSpPr>
          <a:xfrm>
            <a:off x="5276850" y="2952750"/>
            <a:ext cx="1657350" cy="670433"/>
            <a:chOff x="5276850" y="2952750"/>
            <a:chExt cx="1657350" cy="670433"/>
          </a:xfrm>
        </p:grpSpPr>
        <p:sp>
          <p:nvSpPr>
            <p:cNvPr id="17" name="Freeform 17"/>
            <p:cNvSpPr/>
            <p:nvPr/>
          </p:nvSpPr>
          <p:spPr>
            <a:xfrm>
              <a:off x="5276850" y="2952750"/>
              <a:ext cx="1657350" cy="152400"/>
            </a:xfrm>
            <a:custGeom>
              <a:avLst/>
              <a:gdLst/>
              <a:ahLst/>
              <a:cxnLst/>
              <a:rect l="l" t="t" r="r" b="b"/>
              <a:pathLst>
                <a:path w="1657350" h="152400">
                  <a:moveTo>
                    <a:pt x="0" y="76200"/>
                  </a:moveTo>
                  <a:lnTo>
                    <a:pt x="1638300" y="76200"/>
                  </a:lnTo>
                  <a:moveTo>
                    <a:pt x="1524000" y="0"/>
                  </a:moveTo>
                  <a:lnTo>
                    <a:pt x="1657350" y="76200"/>
                  </a:lnTo>
                  <a:lnTo>
                    <a:pt x="1524000" y="152400"/>
                  </a:lnTo>
                </a:path>
              </a:pathLst>
            </a:custGeom>
            <a:noFill/>
            <a:ln w="19050">
              <a:solidFill>
                <a:schemeClr val="accent1"/>
              </a:solidFill>
            </a:ln>
          </p:spPr>
        </p:sp>
        <p:sp>
          <p:nvSpPr>
            <p:cNvPr id="18" name="TextBox 18"/>
            <p:cNvSpPr txBox="1"/>
            <p:nvPr/>
          </p:nvSpPr>
          <p:spPr>
            <a:xfrm>
              <a:off x="5422392" y="3359150"/>
              <a:ext cx="11041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乙以甲为依据</a:t>
              </a:r>
            </a:p>
          </p:txBody>
        </p:sp>
      </p:grpSp>
      <p:grpSp>
        <p:nvGrpSpPr>
          <p:cNvPr id="24" name="p46-reveal-1"/>
          <p:cNvGrpSpPr/>
          <p:nvPr/>
        </p:nvGrpSpPr>
        <p:grpSpPr>
          <a:xfrm>
            <a:off x="597408" y="5137150"/>
            <a:ext cx="10984992" cy="1060831"/>
            <a:chOff x="597408" y="5137150"/>
            <a:chExt cx="10984992" cy="1060831"/>
          </a:xfrm>
        </p:grpSpPr>
        <p:sp>
          <p:nvSpPr>
            <p:cNvPr id="20" name="TextBox 20"/>
            <p:cNvSpPr txBox="1"/>
            <p:nvPr/>
          </p:nvSpPr>
          <p:spPr>
            <a:xfrm>
              <a:off x="597408" y="51371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检验规则本身</a:t>
              </a:r>
            </a:p>
          </p:txBody>
        </p:sp>
        <p:sp>
          <p:nvSpPr>
            <p:cNvPr id="21" name="TextBox 21"/>
            <p:cNvSpPr txBox="1"/>
            <p:nvPr/>
          </p:nvSpPr>
          <p:spPr>
            <a:xfrm>
              <a:off x="7150608" y="51371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检验这一次处理</a:t>
              </a:r>
            </a:p>
          </p:txBody>
        </p:sp>
        <p:sp>
          <p:nvSpPr>
            <p:cNvPr id="22" name="Freeform 22"/>
            <p:cNvSpPr/>
            <p:nvPr/>
          </p:nvSpPr>
          <p:spPr>
            <a:xfrm>
              <a:off x="609600" y="565785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sp>
          <p:nvSpPr>
            <p:cNvPr id="23" name="TextBox 23"/>
            <p:cNvSpPr txBox="1"/>
            <p:nvPr/>
          </p:nvSpPr>
          <p:spPr>
            <a:xfrm>
              <a:off x="599694" y="581660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对象相联系，处理结果仍须分别判断，不能自动互相代替。</a:t>
              </a:r>
            </a:p>
          </p:txBody>
        </p:sp>
      </p:grpSp>
      <p:grpSp>
        <p:nvGrpSpPr>
          <p:cNvPr id="27" name="footer"/>
          <p:cNvGrpSpPr/>
          <p:nvPr/>
        </p:nvGrpSpPr>
        <p:grpSpPr>
          <a:xfrm>
            <a:off x="604266" y="6464300"/>
            <a:ext cx="10828344" cy="205359"/>
            <a:chOff x="604266" y="6464300"/>
            <a:chExt cx="10828344" cy="205359"/>
          </a:xfrm>
        </p:grpSpPr>
        <p:sp>
          <p:nvSpPr>
            <p:cNvPr id="25" name="TextBox 25"/>
            <p:cNvSpPr txBox="1"/>
            <p:nvPr/>
          </p:nvSpPr>
          <p:spPr>
            <a:xfrm>
              <a:off x="604266" y="6464300"/>
              <a:ext cx="583432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本页为区分规范与行为的教学设例；2021报告没有披露具体地区、法规名称、条号或当事人。</a:t>
              </a:r>
            </a:p>
          </p:txBody>
        </p:sp>
        <p:sp>
          <p:nvSpPr>
            <p:cNvPr id="26" name="TextBox 2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46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013192" cy="918464"/>
            <a:chOff x="592836" y="438150"/>
            <a:chExt cx="8013192"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延续甲、乙两种对象</a:t>
              </a:r>
            </a:p>
          </p:txBody>
        </p:sp>
        <p:sp>
          <p:nvSpPr>
            <p:cNvPr id="3" name="TextBox 3"/>
            <p:cNvSpPr txBox="1"/>
            <p:nvPr/>
          </p:nvSpPr>
          <p:spPr>
            <a:xfrm>
              <a:off x="592836" y="71120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怀疑规范，也不耽误依法寻求个案救济</a:t>
              </a:r>
            </a:p>
          </p:txBody>
        </p:sp>
      </p:grpSp>
      <p:grpSp>
        <p:nvGrpSpPr>
          <p:cNvPr id="12" name="route-norm"/>
          <p:cNvGrpSpPr/>
          <p:nvPr/>
        </p:nvGrpSpPr>
        <p:grpSpPr>
          <a:xfrm>
            <a:off x="609600" y="1847850"/>
            <a:ext cx="9135618" cy="1619250"/>
            <a:chOff x="609600" y="1847850"/>
            <a:chExt cx="9135618" cy="1619250"/>
          </a:xfrm>
        </p:grpSpPr>
        <p:sp>
          <p:nvSpPr>
            <p:cNvPr id="5" name="Rectangle 5"/>
            <p:cNvSpPr/>
            <p:nvPr/>
          </p:nvSpPr>
          <p:spPr>
            <a:xfrm>
              <a:off x="609600" y="1847850"/>
              <a:ext cx="2895600" cy="1619250"/>
            </a:xfrm>
            <a:prstGeom prst="rect">
              <a:avLst/>
            </a:prstGeom>
            <a:solidFill>
              <a:schemeClr val="accent5"/>
            </a:solidFill>
            <a:ln>
              <a:noFill/>
            </a:ln>
          </p:spPr>
        </p:sp>
        <p:sp>
          <p:nvSpPr>
            <p:cNvPr id="6" name="TextBox 6"/>
            <p:cNvSpPr txBox="1"/>
            <p:nvPr/>
          </p:nvSpPr>
          <p:spPr>
            <a:xfrm>
              <a:off x="864108" y="2038350"/>
              <a:ext cx="246522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甲 · 地方性法规</a:t>
              </a:r>
            </a:p>
          </p:txBody>
        </p:sp>
        <p:sp>
          <p:nvSpPr>
            <p:cNvPr id="7" name="TextBox 7"/>
            <p:cNvSpPr txBox="1"/>
            <p:nvPr/>
          </p:nvSpPr>
          <p:spPr>
            <a:xfrm>
              <a:off x="869442" y="2711450"/>
              <a:ext cx="219456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这条普遍规定是否有问题？</a:t>
              </a:r>
            </a:p>
          </p:txBody>
        </p:sp>
        <p:sp>
          <p:nvSpPr>
            <p:cNvPr id="8" name="Freeform 8"/>
            <p:cNvSpPr/>
            <p:nvPr/>
          </p:nvSpPr>
          <p:spPr>
            <a:xfrm>
              <a:off x="3771900" y="2552700"/>
              <a:ext cx="895350" cy="152400"/>
            </a:xfrm>
            <a:custGeom>
              <a:avLst/>
              <a:gdLst/>
              <a:ahLst/>
              <a:cxnLst/>
              <a:rect l="l" t="t" r="r" b="b"/>
              <a:pathLst>
                <a:path w="895350" h="152400">
                  <a:moveTo>
                    <a:pt x="0" y="76200"/>
                  </a:moveTo>
                  <a:lnTo>
                    <a:pt x="876300" y="76200"/>
                  </a:lnTo>
                  <a:moveTo>
                    <a:pt x="762000" y="0"/>
                  </a:moveTo>
                  <a:lnTo>
                    <a:pt x="895350" y="76200"/>
                  </a:lnTo>
                  <a:lnTo>
                    <a:pt x="762000" y="152400"/>
                  </a:lnTo>
                </a:path>
              </a:pathLst>
            </a:custGeom>
            <a:noFill/>
            <a:ln w="19050">
              <a:solidFill>
                <a:schemeClr val="accent2"/>
              </a:solidFill>
            </a:ln>
          </p:spPr>
        </p:sp>
        <p:sp>
          <p:nvSpPr>
            <p:cNvPr id="9" name="TextBox 9"/>
            <p:cNvSpPr txBox="1"/>
            <p:nvPr/>
          </p:nvSpPr>
          <p:spPr>
            <a:xfrm>
              <a:off x="4997958" y="21272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依法提出审查建议</a:t>
              </a:r>
            </a:p>
          </p:txBody>
        </p:sp>
        <p:sp>
          <p:nvSpPr>
            <p:cNvPr id="10" name="TextBox 10"/>
            <p:cNvSpPr txBox="1"/>
            <p:nvPr/>
          </p:nvSpPr>
          <p:spPr>
            <a:xfrm>
              <a:off x="5000244" y="26733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有关法规、司法解释抵触宪法法律的疑问</a:t>
              </a:r>
            </a:p>
          </p:txBody>
        </p:sp>
        <p:sp>
          <p:nvSpPr>
            <p:cNvPr id="11" name="TextBox 11"/>
            <p:cNvSpPr txBox="1"/>
            <p:nvPr/>
          </p:nvSpPr>
          <p:spPr>
            <a:xfrm>
              <a:off x="5003292" y="3130550"/>
              <a:ext cx="401193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依法向全国人大常委会提出；处理目标是规范本身</a:t>
              </a:r>
            </a:p>
          </p:txBody>
        </p:sp>
      </p:grpSp>
      <p:grpSp>
        <p:nvGrpSpPr>
          <p:cNvPr id="20" name="route-decision"/>
          <p:cNvGrpSpPr/>
          <p:nvPr/>
        </p:nvGrpSpPr>
        <p:grpSpPr>
          <a:xfrm>
            <a:off x="609600" y="3848100"/>
            <a:ext cx="8950833" cy="1619250"/>
            <a:chOff x="609600" y="3848100"/>
            <a:chExt cx="8950833" cy="1619250"/>
          </a:xfrm>
        </p:grpSpPr>
        <p:sp>
          <p:nvSpPr>
            <p:cNvPr id="13" name="Rectangle 13"/>
            <p:cNvSpPr/>
            <p:nvPr/>
          </p:nvSpPr>
          <p:spPr>
            <a:xfrm>
              <a:off x="609600" y="3848100"/>
              <a:ext cx="2895600" cy="1619250"/>
            </a:xfrm>
            <a:prstGeom prst="rect">
              <a:avLst/>
            </a:prstGeom>
            <a:noFill/>
            <a:ln w="19050">
              <a:solidFill>
                <a:schemeClr val="accent3"/>
              </a:solidFill>
            </a:ln>
          </p:spPr>
        </p:sp>
        <p:sp>
          <p:nvSpPr>
            <p:cNvPr id="14" name="TextBox 14"/>
            <p:cNvSpPr txBox="1"/>
            <p:nvPr/>
          </p:nvSpPr>
          <p:spPr>
            <a:xfrm>
              <a:off x="864108" y="4038600"/>
              <a:ext cx="280659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乙 · 具体行政决定</a:t>
              </a:r>
            </a:p>
          </p:txBody>
        </p:sp>
        <p:sp>
          <p:nvSpPr>
            <p:cNvPr id="15" name="TextBox 15"/>
            <p:cNvSpPr txBox="1"/>
            <p:nvPr/>
          </p:nvSpPr>
          <p:spPr>
            <a:xfrm>
              <a:off x="869442" y="4711700"/>
              <a:ext cx="219456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事实、权限、程序、适法？</a:t>
              </a:r>
            </a:p>
          </p:txBody>
        </p:sp>
        <p:sp>
          <p:nvSpPr>
            <p:cNvPr id="16" name="Freeform 16"/>
            <p:cNvSpPr/>
            <p:nvPr/>
          </p:nvSpPr>
          <p:spPr>
            <a:xfrm>
              <a:off x="3771900" y="4552950"/>
              <a:ext cx="895350" cy="152400"/>
            </a:xfrm>
            <a:custGeom>
              <a:avLst/>
              <a:gdLst/>
              <a:ahLst/>
              <a:cxnLst/>
              <a:rect l="l" t="t" r="r" b="b"/>
              <a:pathLst>
                <a:path w="895350" h="152400">
                  <a:moveTo>
                    <a:pt x="0" y="76200"/>
                  </a:moveTo>
                  <a:lnTo>
                    <a:pt x="876300" y="76200"/>
                  </a:lnTo>
                  <a:moveTo>
                    <a:pt x="762000" y="0"/>
                  </a:moveTo>
                  <a:lnTo>
                    <a:pt x="895350" y="76200"/>
                  </a:lnTo>
                  <a:lnTo>
                    <a:pt x="762000" y="152400"/>
                  </a:lnTo>
                </a:path>
              </a:pathLst>
            </a:custGeom>
            <a:noFill/>
            <a:ln w="19050">
              <a:solidFill>
                <a:schemeClr val="accent3"/>
              </a:solidFill>
            </a:ln>
          </p:spPr>
        </p:sp>
        <p:sp>
          <p:nvSpPr>
            <p:cNvPr id="17" name="TextBox 17"/>
            <p:cNvSpPr txBox="1"/>
            <p:nvPr/>
          </p:nvSpPr>
          <p:spPr>
            <a:xfrm>
              <a:off x="4997958" y="412750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依法申请复议，或提起行政诉讼</a:t>
              </a:r>
            </a:p>
          </p:txBody>
        </p:sp>
        <p:sp>
          <p:nvSpPr>
            <p:cNvPr id="18" name="TextBox 18"/>
            <p:cNvSpPr txBox="1"/>
            <p:nvPr/>
          </p:nvSpPr>
          <p:spPr>
            <a:xfrm>
              <a:off x="5000244" y="4673600"/>
              <a:ext cx="385244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有管辖权的复议机关 ／ 人民法院</a:t>
              </a:r>
            </a:p>
          </p:txBody>
        </p:sp>
        <p:sp>
          <p:nvSpPr>
            <p:cNvPr id="19" name="TextBox 19"/>
            <p:cNvSpPr txBox="1"/>
            <p:nvPr/>
          </p:nvSpPr>
          <p:spPr>
            <a:xfrm>
              <a:off x="5003292" y="5130800"/>
              <a:ext cx="455714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依具体法定条件选择、衔接，不笼统说都找原机关或上级</a:t>
              </a:r>
            </a:p>
          </p:txBody>
        </p:sp>
      </p:grpSp>
      <p:grpSp>
        <p:nvGrpSpPr>
          <p:cNvPr id="22" name="p47-reveal-1"/>
          <p:cNvGrpSpPr/>
          <p:nvPr/>
        </p:nvGrpSpPr>
        <p:grpSpPr>
          <a:xfrm>
            <a:off x="599694" y="5873750"/>
            <a:ext cx="7370064" cy="381381"/>
            <a:chOff x="599694" y="5873750"/>
            <a:chExt cx="7370064" cy="381381"/>
          </a:xfrm>
        </p:grpSpPr>
        <p:sp>
          <p:nvSpPr>
            <p:cNvPr id="21" name="TextBox 21"/>
            <p:cNvSpPr txBox="1"/>
            <p:nvPr/>
          </p:nvSpPr>
          <p:spPr>
            <a:xfrm>
              <a:off x="599694" y="5873750"/>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审查建议不替代及时救济，也不自动停止执行或撤销具体决定。</a:t>
              </a:r>
            </a:p>
          </p:txBody>
        </p:sp>
      </p:grpSp>
      <p:grpSp>
        <p:nvGrpSpPr>
          <p:cNvPr id="25" name="footer"/>
          <p:cNvGrpSpPr/>
          <p:nvPr/>
        </p:nvGrpSpPr>
        <p:grpSpPr>
          <a:xfrm>
            <a:off x="604266" y="6464300"/>
            <a:ext cx="10828344" cy="205359"/>
            <a:chOff x="604266" y="6464300"/>
            <a:chExt cx="10828344" cy="205359"/>
          </a:xfrm>
        </p:grpSpPr>
        <p:sp>
          <p:nvSpPr>
            <p:cNvPr id="23" name="TextBox 23"/>
            <p:cNvSpPr txBox="1"/>
            <p:nvPr/>
          </p:nvSpPr>
          <p:spPr>
            <a:xfrm>
              <a:off x="604266" y="6464300"/>
              <a:ext cx="594741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两类问题可以并存；个案决定有错，也不自动废止整条法规。具体管辖和期限依相应法律判断。</a:t>
              </a:r>
            </a:p>
          </p:txBody>
        </p:sp>
        <p:sp>
          <p:nvSpPr>
            <p:cNvPr id="24" name="TextBox 24"/>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47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121347" cy="943864"/>
            <a:chOff x="592836" y="438150"/>
            <a:chExt cx="7121347" cy="943864"/>
          </a:xfrm>
        </p:grpSpPr>
        <p:sp>
          <p:nvSpPr>
            <p:cNvPr id="2" name="TextBox 2"/>
            <p:cNvSpPr txBox="1"/>
            <p:nvPr/>
          </p:nvSpPr>
          <p:spPr>
            <a:xfrm>
              <a:off x="603504" y="43815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依申请附带审查的对象范围</a:t>
              </a:r>
            </a:p>
          </p:txBody>
        </p:sp>
        <p:sp>
          <p:nvSpPr>
            <p:cNvPr id="3" name="TextBox 3"/>
            <p:cNvSpPr txBox="1"/>
            <p:nvPr/>
          </p:nvSpPr>
          <p:spPr>
            <a:xfrm>
              <a:off x="592836" y="736600"/>
              <a:ext cx="7121347"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“随案审查”，也有明确的对象范围</a:t>
              </a:r>
            </a:p>
          </p:txBody>
        </p:sp>
      </p:grpSp>
      <p:grpSp>
        <p:nvGrpSpPr>
          <p:cNvPr id="12" name="reconsideration-scope"/>
          <p:cNvGrpSpPr/>
          <p:nvPr/>
        </p:nvGrpSpPr>
        <p:grpSpPr>
          <a:xfrm>
            <a:off x="596646" y="1816100"/>
            <a:ext cx="5270754" cy="3162681"/>
            <a:chOff x="596646" y="1816100"/>
            <a:chExt cx="5270754" cy="3162681"/>
          </a:xfrm>
        </p:grpSpPr>
        <p:sp>
          <p:nvSpPr>
            <p:cNvPr id="5" name="TextBox 5"/>
            <p:cNvSpPr txBox="1"/>
            <p:nvPr/>
          </p:nvSpPr>
          <p:spPr>
            <a:xfrm>
              <a:off x="596646" y="1816100"/>
              <a:ext cx="307268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行政复议法 第13条</a:t>
              </a:r>
            </a:p>
          </p:txBody>
        </p:sp>
        <p:sp>
          <p:nvSpPr>
            <p:cNvPr id="6" name="Freeform 6"/>
            <p:cNvSpPr/>
            <p:nvPr/>
          </p:nvSpPr>
          <p:spPr>
            <a:xfrm>
              <a:off x="609600" y="2400300"/>
              <a:ext cx="5257800" cy="9525"/>
            </a:xfrm>
            <a:custGeom>
              <a:avLst/>
              <a:gdLst/>
              <a:ahLst/>
              <a:cxnLst/>
              <a:rect l="l" t="t" r="r" b="b"/>
              <a:pathLst>
                <a:path w="5257800" h="9525">
                  <a:moveTo>
                    <a:pt x="0" y="0"/>
                  </a:moveTo>
                  <a:lnTo>
                    <a:pt x="5257800" y="0"/>
                  </a:lnTo>
                </a:path>
              </a:pathLst>
            </a:custGeom>
            <a:solidFill>
              <a:schemeClr val="accent1"/>
            </a:solidFill>
            <a:ln w="9525">
              <a:solidFill>
                <a:srgbClr val="C7BFB1"/>
              </a:solidFill>
            </a:ln>
          </p:spPr>
        </p:sp>
        <p:sp>
          <p:nvSpPr>
            <p:cNvPr id="7" name="TextBox 7"/>
            <p:cNvSpPr txBox="1"/>
            <p:nvPr/>
          </p:nvSpPr>
          <p:spPr>
            <a:xfrm>
              <a:off x="599694" y="25971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国务院部门的规范性文件</a:t>
              </a:r>
            </a:p>
          </p:txBody>
        </p:sp>
        <p:sp>
          <p:nvSpPr>
            <p:cNvPr id="8" name="TextBox 8"/>
            <p:cNvSpPr txBox="1"/>
            <p:nvPr/>
          </p:nvSpPr>
          <p:spPr>
            <a:xfrm>
              <a:off x="599694" y="30353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县级以上地方政府及其部门的</a:t>
              </a:r>
            </a:p>
          </p:txBody>
        </p:sp>
        <p:sp>
          <p:nvSpPr>
            <p:cNvPr id="9" name="TextBox 9"/>
            <p:cNvSpPr txBox="1"/>
            <p:nvPr/>
          </p:nvSpPr>
          <p:spPr>
            <a:xfrm>
              <a:off x="599694" y="33972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规范性文件</a:t>
              </a:r>
            </a:p>
          </p:txBody>
        </p:sp>
        <p:sp>
          <p:nvSpPr>
            <p:cNvPr id="10" name="TextBox 10"/>
            <p:cNvSpPr txBox="1"/>
            <p:nvPr/>
          </p:nvSpPr>
          <p:spPr>
            <a:xfrm>
              <a:off x="599694" y="38354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乡镇政府的规范性文件</a:t>
              </a:r>
            </a:p>
          </p:txBody>
        </p:sp>
        <p:sp>
          <p:nvSpPr>
            <p:cNvPr id="11" name="TextBox 11"/>
            <p:cNvSpPr txBox="1"/>
            <p:nvPr/>
          </p:nvSpPr>
          <p:spPr>
            <a:xfrm>
              <a:off x="599694" y="4235450"/>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法律、法规、规章授权的组织</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的规范性文件</a:t>
              </a:r>
            </a:p>
          </p:txBody>
        </p:sp>
      </p:grpSp>
      <p:grpSp>
        <p:nvGrpSpPr>
          <p:cNvPr id="19" name="litigation-scope"/>
          <p:cNvGrpSpPr/>
          <p:nvPr/>
        </p:nvGrpSpPr>
        <p:grpSpPr>
          <a:xfrm>
            <a:off x="6311646" y="1816100"/>
            <a:ext cx="5270754" cy="2721483"/>
            <a:chOff x="6311646" y="1816100"/>
            <a:chExt cx="5270754" cy="2721483"/>
          </a:xfrm>
        </p:grpSpPr>
        <p:sp>
          <p:nvSpPr>
            <p:cNvPr id="13" name="TextBox 13"/>
            <p:cNvSpPr txBox="1"/>
            <p:nvPr/>
          </p:nvSpPr>
          <p:spPr>
            <a:xfrm>
              <a:off x="6311646" y="1816100"/>
              <a:ext cx="3072689"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行政诉讼法 第53条</a:t>
              </a:r>
            </a:p>
          </p:txBody>
        </p:sp>
        <p:sp>
          <p:nvSpPr>
            <p:cNvPr id="14" name="Freeform 14"/>
            <p:cNvSpPr/>
            <p:nvPr/>
          </p:nvSpPr>
          <p:spPr>
            <a:xfrm>
              <a:off x="6324600" y="2400300"/>
              <a:ext cx="5257800" cy="9525"/>
            </a:xfrm>
            <a:custGeom>
              <a:avLst/>
              <a:gdLst/>
              <a:ahLst/>
              <a:cxnLst/>
              <a:rect l="l" t="t" r="r" b="b"/>
              <a:pathLst>
                <a:path w="5257800" h="9525">
                  <a:moveTo>
                    <a:pt x="0" y="0"/>
                  </a:moveTo>
                  <a:lnTo>
                    <a:pt x="5257800" y="0"/>
                  </a:lnTo>
                </a:path>
              </a:pathLst>
            </a:custGeom>
            <a:solidFill>
              <a:schemeClr val="accent1"/>
            </a:solidFill>
            <a:ln w="9525">
              <a:solidFill>
                <a:srgbClr val="C7BFB1"/>
              </a:solidFill>
            </a:ln>
          </p:spPr>
        </p:sp>
        <p:sp>
          <p:nvSpPr>
            <p:cNvPr id="15" name="TextBox 15"/>
            <p:cNvSpPr txBox="1"/>
            <p:nvPr/>
          </p:nvSpPr>
          <p:spPr>
            <a:xfrm>
              <a:off x="6314694" y="25971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国务院部门的规范性文件</a:t>
              </a:r>
            </a:p>
          </p:txBody>
        </p:sp>
        <p:sp>
          <p:nvSpPr>
            <p:cNvPr id="16" name="TextBox 16"/>
            <p:cNvSpPr txBox="1"/>
            <p:nvPr/>
          </p:nvSpPr>
          <p:spPr>
            <a:xfrm>
              <a:off x="6314694" y="30353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地方政府及其部门的规范性文件</a:t>
              </a:r>
            </a:p>
          </p:txBody>
        </p:sp>
        <p:sp>
          <p:nvSpPr>
            <p:cNvPr id="17" name="TextBox 17"/>
            <p:cNvSpPr txBox="1"/>
            <p:nvPr/>
          </p:nvSpPr>
          <p:spPr>
            <a:xfrm>
              <a:off x="6317742" y="3911600"/>
              <a:ext cx="310324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分别依本法条件，随具体行为一并请求</a:t>
              </a:r>
            </a:p>
          </p:txBody>
        </p:sp>
        <p:sp>
          <p:nvSpPr>
            <p:cNvPr id="18" name="TextBox 18"/>
            <p:cNvSpPr txBox="1"/>
            <p:nvPr/>
          </p:nvSpPr>
          <p:spPr>
            <a:xfrm>
              <a:off x="6317742" y="4273550"/>
              <a:ext cx="36484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两条规定的制定主体范围不能抄成同一份清单</a:t>
              </a:r>
            </a:p>
          </p:txBody>
        </p:sp>
      </p:grpSp>
      <p:grpSp>
        <p:nvGrpSpPr>
          <p:cNvPr id="24" name="p48-reveal-1"/>
          <p:cNvGrpSpPr/>
          <p:nvPr/>
        </p:nvGrpSpPr>
        <p:grpSpPr>
          <a:xfrm>
            <a:off x="597408" y="5219700"/>
            <a:ext cx="10984992" cy="1127633"/>
            <a:chOff x="597408" y="5219700"/>
            <a:chExt cx="10984992" cy="1127633"/>
          </a:xfrm>
        </p:grpSpPr>
        <p:sp>
          <p:nvSpPr>
            <p:cNvPr id="20" name="Freeform 20"/>
            <p:cNvSpPr/>
            <p:nvPr/>
          </p:nvSpPr>
          <p:spPr>
            <a:xfrm>
              <a:off x="609600" y="5219700"/>
              <a:ext cx="10972800" cy="9525"/>
            </a:xfrm>
            <a:custGeom>
              <a:avLst/>
              <a:gdLst/>
              <a:ahLst/>
              <a:cxnLst/>
              <a:rect l="l" t="t" r="r" b="b"/>
              <a:pathLst>
                <a:path w="10972800" h="9525">
                  <a:moveTo>
                    <a:pt x="0" y="0"/>
                  </a:moveTo>
                  <a:lnTo>
                    <a:pt x="10972800" y="0"/>
                  </a:lnTo>
                </a:path>
              </a:pathLst>
            </a:custGeom>
            <a:solidFill>
              <a:schemeClr val="accent1"/>
            </a:solidFill>
            <a:ln w="19050">
              <a:solidFill>
                <a:schemeClr val="accent2"/>
              </a:solidFill>
            </a:ln>
          </p:spPr>
        </p:sp>
        <p:sp>
          <p:nvSpPr>
            <p:cNvPr id="21" name="TextBox 21"/>
            <p:cNvSpPr txBox="1"/>
            <p:nvPr/>
          </p:nvSpPr>
          <p:spPr>
            <a:xfrm>
              <a:off x="597408" y="5270500"/>
              <a:ext cx="8424672"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两条均不含规章；地方性法规也不在这两条的申请范围内。</a:t>
              </a:r>
            </a:p>
          </p:txBody>
        </p:sp>
        <p:sp>
          <p:nvSpPr>
            <p:cNvPr id="22" name="TextBox 22"/>
            <p:cNvSpPr txBox="1"/>
            <p:nvPr/>
          </p:nvSpPr>
          <p:spPr>
            <a:xfrm>
              <a:off x="599694" y="57213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具体行政决定仍可依法申请救济；依据问题另辨处理、转送等衔接。</a:t>
              </a:r>
            </a:p>
          </p:txBody>
        </p:sp>
        <p:sp>
          <p:nvSpPr>
            <p:cNvPr id="23" name="TextBox 23"/>
            <p:cNvSpPr txBox="1"/>
            <p:nvPr/>
          </p:nvSpPr>
          <p:spPr>
            <a:xfrm>
              <a:off x="602742" y="6083300"/>
              <a:ext cx="679250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认清文件身份 → 制定主体 → 有权机关与程序；不把个案审查说成有权废除所有规范。</a:t>
              </a:r>
            </a:p>
          </p:txBody>
        </p:sp>
      </p:grpSp>
      <p:grpSp>
        <p:nvGrpSpPr>
          <p:cNvPr id="27" name="footer"/>
          <p:cNvGrpSpPr/>
          <p:nvPr/>
        </p:nvGrpSpPr>
        <p:grpSpPr>
          <a:xfrm>
            <a:off x="604266" y="6464300"/>
            <a:ext cx="10828344" cy="205359"/>
            <a:chOff x="604266" y="6464300"/>
            <a:chExt cx="10828344" cy="205359"/>
          </a:xfrm>
        </p:grpSpPr>
        <p:sp>
          <p:nvSpPr>
            <p:cNvPr id="25" name="TextBox 25"/>
            <p:cNvSpPr txBox="1"/>
            <p:nvPr/>
          </p:nvSpPr>
          <p:spPr>
            <a:xfrm>
              <a:off x="604266" y="6464300"/>
              <a:ext cx="625838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行政复议法第13条、行政诉讼法第53条：依申请附带审查范围的转述，非所有规范审查权限的穷尽。</a:t>
              </a:r>
            </a:p>
          </p:txBody>
        </p:sp>
        <p:sp>
          <p:nvSpPr>
            <p:cNvPr id="26" name="TextBox 2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48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199918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全课收束</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四层认识，接到同一件具体事情</a:t>
              </a:r>
            </a:p>
          </p:txBody>
        </p:sp>
      </p:grpSp>
      <p:grpSp>
        <p:nvGrpSpPr>
          <p:cNvPr id="17" name="four-level-framework"/>
          <p:cNvGrpSpPr/>
          <p:nvPr/>
        </p:nvGrpSpPr>
        <p:grpSpPr>
          <a:xfrm>
            <a:off x="762000" y="1949450"/>
            <a:ext cx="10820400" cy="3212592"/>
            <a:chOff x="762000" y="1949450"/>
            <a:chExt cx="10820400" cy="3212592"/>
          </a:xfrm>
        </p:grpSpPr>
        <p:sp>
          <p:nvSpPr>
            <p:cNvPr id="5" name="Freeform 5"/>
            <p:cNvSpPr/>
            <p:nvPr/>
          </p:nvSpPr>
          <p:spPr>
            <a:xfrm>
              <a:off x="762000" y="2152650"/>
              <a:ext cx="342900" cy="2743200"/>
            </a:xfrm>
            <a:custGeom>
              <a:avLst/>
              <a:gdLst/>
              <a:ahLst/>
              <a:cxnLst/>
              <a:rect l="l" t="t" r="r" b="b"/>
              <a:pathLst>
                <a:path w="342900" h="2743200">
                  <a:moveTo>
                    <a:pt x="0" y="0"/>
                  </a:moveTo>
                  <a:lnTo>
                    <a:pt x="0" y="2743200"/>
                  </a:lnTo>
                  <a:moveTo>
                    <a:pt x="0" y="0"/>
                  </a:moveTo>
                  <a:lnTo>
                    <a:pt x="342900" y="0"/>
                  </a:lnTo>
                  <a:moveTo>
                    <a:pt x="0" y="914400"/>
                  </a:moveTo>
                  <a:lnTo>
                    <a:pt x="342900" y="914400"/>
                  </a:lnTo>
                  <a:moveTo>
                    <a:pt x="0" y="1828800"/>
                  </a:moveTo>
                  <a:lnTo>
                    <a:pt x="342900" y="1828800"/>
                  </a:lnTo>
                  <a:moveTo>
                    <a:pt x="0" y="2743200"/>
                  </a:moveTo>
                  <a:lnTo>
                    <a:pt x="342900" y="2743200"/>
                  </a:lnTo>
                </a:path>
              </a:pathLst>
            </a:custGeom>
            <a:noFill/>
            <a:ln w="19050">
              <a:solidFill>
                <a:srgbClr val="C7BFB1"/>
              </a:solidFill>
            </a:ln>
          </p:spPr>
        </p:sp>
        <p:sp>
          <p:nvSpPr>
            <p:cNvPr id="6" name="TextBox 6"/>
            <p:cNvSpPr txBox="1"/>
            <p:nvPr/>
          </p:nvSpPr>
          <p:spPr>
            <a:xfrm>
              <a:off x="1359408" y="194945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基本地位与权利</a:t>
              </a:r>
            </a:p>
          </p:txBody>
        </p:sp>
        <p:sp>
          <p:nvSpPr>
            <p:cNvPr id="7" name="TextBox 7"/>
            <p:cNvSpPr txBox="1"/>
            <p:nvPr/>
          </p:nvSpPr>
          <p:spPr>
            <a:xfrm>
              <a:off x="5095494" y="20256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权力属于人民，公民基本权利受保障</a:t>
              </a:r>
            </a:p>
          </p:txBody>
        </p:sp>
        <p:sp>
          <p:nvSpPr>
            <p:cNvPr id="8" name="Freeform 8"/>
            <p:cNvSpPr/>
            <p:nvPr/>
          </p:nvSpPr>
          <p:spPr>
            <a:xfrm>
              <a:off x="1371600" y="2533650"/>
              <a:ext cx="10210800" cy="9525"/>
            </a:xfrm>
            <a:custGeom>
              <a:avLst/>
              <a:gdLst/>
              <a:ahLst/>
              <a:cxnLst/>
              <a:rect l="l" t="t" r="r" b="b"/>
              <a:pathLst>
                <a:path w="10210800" h="9525">
                  <a:moveTo>
                    <a:pt x="0" y="0"/>
                  </a:moveTo>
                  <a:lnTo>
                    <a:pt x="10210800" y="0"/>
                  </a:lnTo>
                </a:path>
              </a:pathLst>
            </a:custGeom>
            <a:solidFill>
              <a:schemeClr val="accent1"/>
            </a:solidFill>
            <a:ln w="9525">
              <a:solidFill>
                <a:srgbClr val="C7BFB1"/>
              </a:solidFill>
            </a:ln>
          </p:spPr>
        </p:sp>
        <p:sp>
          <p:nvSpPr>
            <p:cNvPr id="9" name="TextBox 9"/>
            <p:cNvSpPr txBox="1"/>
            <p:nvPr/>
          </p:nvSpPr>
          <p:spPr>
            <a:xfrm>
              <a:off x="1359408" y="2863850"/>
              <a:ext cx="1731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制度与机关</a:t>
              </a:r>
            </a:p>
          </p:txBody>
        </p:sp>
        <p:sp>
          <p:nvSpPr>
            <p:cNvPr id="10" name="TextBox 10"/>
            <p:cNvSpPr txBox="1"/>
            <p:nvPr/>
          </p:nvSpPr>
          <p:spPr>
            <a:xfrm>
              <a:off x="5095494" y="29400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组织国家生活，承担法定职责</a:t>
              </a:r>
            </a:p>
          </p:txBody>
        </p:sp>
        <p:sp>
          <p:nvSpPr>
            <p:cNvPr id="11" name="Freeform 11"/>
            <p:cNvSpPr/>
            <p:nvPr/>
          </p:nvSpPr>
          <p:spPr>
            <a:xfrm>
              <a:off x="1371600" y="3448050"/>
              <a:ext cx="10210800" cy="9525"/>
            </a:xfrm>
            <a:custGeom>
              <a:avLst/>
              <a:gdLst/>
              <a:ahLst/>
              <a:cxnLst/>
              <a:rect l="l" t="t" r="r" b="b"/>
              <a:pathLst>
                <a:path w="10210800" h="9525">
                  <a:moveTo>
                    <a:pt x="0" y="0"/>
                  </a:moveTo>
                  <a:lnTo>
                    <a:pt x="10210800" y="0"/>
                  </a:lnTo>
                </a:path>
              </a:pathLst>
            </a:custGeom>
            <a:solidFill>
              <a:schemeClr val="accent1"/>
            </a:solidFill>
            <a:ln w="9525">
              <a:solidFill>
                <a:srgbClr val="C7BFB1"/>
              </a:solidFill>
            </a:ln>
          </p:spPr>
        </p:sp>
        <p:sp>
          <p:nvSpPr>
            <p:cNvPr id="12" name="TextBox 12"/>
            <p:cNvSpPr txBox="1"/>
            <p:nvPr/>
          </p:nvSpPr>
          <p:spPr>
            <a:xfrm>
              <a:off x="1359408" y="377825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具体安排</a:t>
              </a:r>
            </a:p>
          </p:txBody>
        </p:sp>
        <p:sp>
          <p:nvSpPr>
            <p:cNvPr id="13" name="TextBox 13"/>
            <p:cNvSpPr txBox="1"/>
            <p:nvPr/>
          </p:nvSpPr>
          <p:spPr>
            <a:xfrm>
              <a:off x="5095494" y="38544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有依据、有理由、有条件</a:t>
              </a:r>
            </a:p>
          </p:txBody>
        </p:sp>
        <p:sp>
          <p:nvSpPr>
            <p:cNvPr id="14" name="Freeform 14"/>
            <p:cNvSpPr/>
            <p:nvPr/>
          </p:nvSpPr>
          <p:spPr>
            <a:xfrm>
              <a:off x="1371600" y="4362450"/>
              <a:ext cx="10210800" cy="9525"/>
            </a:xfrm>
            <a:custGeom>
              <a:avLst/>
              <a:gdLst/>
              <a:ahLst/>
              <a:cxnLst/>
              <a:rect l="l" t="t" r="r" b="b"/>
              <a:pathLst>
                <a:path w="10210800" h="9525">
                  <a:moveTo>
                    <a:pt x="0" y="0"/>
                  </a:moveTo>
                  <a:lnTo>
                    <a:pt x="10210800" y="0"/>
                  </a:lnTo>
                </a:path>
              </a:pathLst>
            </a:custGeom>
            <a:solidFill>
              <a:schemeClr val="accent1"/>
            </a:solidFill>
            <a:ln w="9525">
              <a:solidFill>
                <a:srgbClr val="C7BFB1"/>
              </a:solidFill>
            </a:ln>
          </p:spPr>
        </p:sp>
        <p:sp>
          <p:nvSpPr>
            <p:cNvPr id="15" name="TextBox 15"/>
            <p:cNvSpPr txBox="1"/>
            <p:nvPr/>
          </p:nvSpPr>
          <p:spPr>
            <a:xfrm>
              <a:off x="1359408" y="4692650"/>
              <a:ext cx="13898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依法纠正</a:t>
              </a:r>
            </a:p>
          </p:txBody>
        </p:sp>
        <p:sp>
          <p:nvSpPr>
            <p:cNvPr id="16" name="TextBox 16"/>
            <p:cNvSpPr txBox="1"/>
            <p:nvPr/>
          </p:nvSpPr>
          <p:spPr>
            <a:xfrm>
              <a:off x="5095494" y="476885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认清问题对象，找到对应权限和程序</a:t>
              </a:r>
            </a:p>
          </p:txBody>
        </p:sp>
      </p:grpSp>
      <p:grpSp>
        <p:nvGrpSpPr>
          <p:cNvPr id="19" name="p49-reveal-1"/>
          <p:cNvGrpSpPr/>
          <p:nvPr/>
        </p:nvGrpSpPr>
        <p:grpSpPr>
          <a:xfrm>
            <a:off x="599694" y="5740400"/>
            <a:ext cx="7370064" cy="381381"/>
            <a:chOff x="599694" y="5740400"/>
            <a:chExt cx="7370064" cy="381381"/>
          </a:xfrm>
        </p:grpSpPr>
        <p:sp>
          <p:nvSpPr>
            <p:cNvPr id="18" name="TextBox 18"/>
            <p:cNvSpPr txBox="1"/>
            <p:nvPr/>
          </p:nvSpPr>
          <p:spPr>
            <a:xfrm>
              <a:off x="599694" y="5740400"/>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有制度、有机关，还须持续履职；有纠正渠道，还须依法处理。</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382714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四层认识共同构成理解框架，连线不表示单一法定办理程序。</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49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196840" cy="918464"/>
            <a:chOff x="592836" y="438150"/>
            <a:chExt cx="5196840"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让八讲回到具体工作</a:t>
              </a:r>
            </a:p>
          </p:txBody>
        </p:sp>
        <p:sp>
          <p:nvSpPr>
            <p:cNvPr id="3" name="TextBox 3"/>
            <p:cNvSpPr txBox="1"/>
            <p:nvPr/>
          </p:nvSpPr>
          <p:spPr>
            <a:xfrm>
              <a:off x="592836" y="71120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一个看落实，一个看纠正</a:t>
              </a:r>
            </a:p>
          </p:txBody>
        </p:sp>
      </p:grpSp>
      <p:grpSp>
        <p:nvGrpSpPr>
          <p:cNvPr id="13" name="education-implementation"/>
          <p:cNvGrpSpPr/>
          <p:nvPr/>
        </p:nvGrpSpPr>
        <p:grpSpPr>
          <a:xfrm>
            <a:off x="596646" y="1879600"/>
            <a:ext cx="10985754" cy="1292225"/>
            <a:chOff x="596646" y="1879600"/>
            <a:chExt cx="10985754" cy="1292225"/>
          </a:xfrm>
        </p:grpSpPr>
        <p:sp>
          <p:nvSpPr>
            <p:cNvPr id="5" name="TextBox 5"/>
            <p:cNvSpPr txBox="1"/>
            <p:nvPr/>
          </p:nvSpPr>
          <p:spPr>
            <a:xfrm>
              <a:off x="596646" y="18796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受教育权</a:t>
              </a:r>
            </a:p>
          </p:txBody>
        </p:sp>
        <p:sp>
          <p:nvSpPr>
            <p:cNvPr id="6" name="TextBox 6"/>
            <p:cNvSpPr txBox="1"/>
            <p:nvPr/>
          </p:nvSpPr>
          <p:spPr>
            <a:xfrm>
              <a:off x="602742" y="248285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正面的持续实施</a:t>
              </a:r>
            </a:p>
          </p:txBody>
        </p:sp>
        <p:sp>
          <p:nvSpPr>
            <p:cNvPr id="7" name="TextBox 7"/>
            <p:cNvSpPr txBox="1"/>
            <p:nvPr/>
          </p:nvSpPr>
          <p:spPr>
            <a:xfrm>
              <a:off x="3076194" y="21780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宪法确认权利</a:t>
              </a:r>
            </a:p>
          </p:txBody>
        </p:sp>
        <p:sp>
          <p:nvSpPr>
            <p:cNvPr id="8" name="TextBox 8"/>
            <p:cNvSpPr txBox="1"/>
            <p:nvPr/>
          </p:nvSpPr>
          <p:spPr>
            <a:xfrm>
              <a:off x="6124194" y="21780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教育法安排保障</a:t>
              </a:r>
            </a:p>
          </p:txBody>
        </p:sp>
        <p:sp>
          <p:nvSpPr>
            <p:cNvPr id="9" name="Freeform 9"/>
            <p:cNvSpPr/>
            <p:nvPr/>
          </p:nvSpPr>
          <p:spPr>
            <a:xfrm>
              <a:off x="4933950" y="2247900"/>
              <a:ext cx="3962400" cy="152400"/>
            </a:xfrm>
            <a:custGeom>
              <a:avLst/>
              <a:gdLst/>
              <a:ahLst/>
              <a:cxnLst/>
              <a:rect l="l" t="t" r="r" b="b"/>
              <a:pathLst>
                <a:path w="3962400" h="152400">
                  <a:moveTo>
                    <a:pt x="0" y="76200"/>
                  </a:moveTo>
                  <a:lnTo>
                    <a:pt x="781050" y="76200"/>
                  </a:lnTo>
                  <a:moveTo>
                    <a:pt x="666750" y="0"/>
                  </a:moveTo>
                  <a:lnTo>
                    <a:pt x="800100" y="76200"/>
                  </a:lnTo>
                  <a:lnTo>
                    <a:pt x="666750" y="152400"/>
                  </a:lnTo>
                  <a:moveTo>
                    <a:pt x="3162300" y="76200"/>
                  </a:moveTo>
                  <a:lnTo>
                    <a:pt x="3943350" y="76200"/>
                  </a:lnTo>
                  <a:moveTo>
                    <a:pt x="3829050" y="0"/>
                  </a:moveTo>
                  <a:lnTo>
                    <a:pt x="3962400" y="76200"/>
                  </a:lnTo>
                  <a:lnTo>
                    <a:pt x="3829050" y="152400"/>
                  </a:lnTo>
                </a:path>
              </a:pathLst>
            </a:custGeom>
            <a:noFill/>
            <a:ln w="19050">
              <a:solidFill>
                <a:schemeClr val="accent3"/>
              </a:solidFill>
            </a:ln>
          </p:spPr>
        </p:sp>
        <p:sp>
          <p:nvSpPr>
            <p:cNvPr id="10" name="TextBox 10"/>
            <p:cNvSpPr txBox="1"/>
            <p:nvPr/>
          </p:nvSpPr>
          <p:spPr>
            <a:xfrm>
              <a:off x="9134094" y="19685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教育部门、学校</a:t>
              </a:r>
            </a:p>
          </p:txBody>
        </p:sp>
        <p:sp>
          <p:nvSpPr>
            <p:cNvPr id="11" name="TextBox 11"/>
            <p:cNvSpPr txBox="1"/>
            <p:nvPr/>
          </p:nvSpPr>
          <p:spPr>
            <a:xfrm>
              <a:off x="9134094" y="23304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持续依法履职</a:t>
              </a:r>
            </a:p>
          </p:txBody>
        </p:sp>
        <p:sp>
          <p:nvSpPr>
            <p:cNvPr id="12" name="Freeform 12"/>
            <p:cNvSpPr/>
            <p:nvPr/>
          </p:nvSpPr>
          <p:spPr>
            <a:xfrm>
              <a:off x="609600" y="31623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grpSp>
      <p:grpSp>
        <p:nvGrpSpPr>
          <p:cNvPr id="23" name="case-correction"/>
          <p:cNvGrpSpPr/>
          <p:nvPr/>
        </p:nvGrpSpPr>
        <p:grpSpPr>
          <a:xfrm>
            <a:off x="596646" y="3727450"/>
            <a:ext cx="10985754" cy="1292225"/>
            <a:chOff x="596646" y="3727450"/>
            <a:chExt cx="10985754" cy="1292225"/>
          </a:xfrm>
        </p:grpSpPr>
        <p:sp>
          <p:nvSpPr>
            <p:cNvPr id="14" name="TextBox 14"/>
            <p:cNvSpPr txBox="1"/>
            <p:nvPr/>
          </p:nvSpPr>
          <p:spPr>
            <a:xfrm>
              <a:off x="596646" y="37274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终身禁业主案</a:t>
              </a:r>
            </a:p>
          </p:txBody>
        </p:sp>
        <p:sp>
          <p:nvSpPr>
            <p:cNvPr id="15" name="TextBox 15"/>
            <p:cNvSpPr txBox="1"/>
            <p:nvPr/>
          </p:nvSpPr>
          <p:spPr>
            <a:xfrm>
              <a:off x="602742" y="4330700"/>
              <a:ext cx="1285875"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问题的依法纠正</a:t>
              </a:r>
            </a:p>
          </p:txBody>
        </p:sp>
        <p:sp>
          <p:nvSpPr>
            <p:cNvPr id="16" name="TextBox 16"/>
            <p:cNvSpPr txBox="1"/>
            <p:nvPr/>
          </p:nvSpPr>
          <p:spPr>
            <a:xfrm>
              <a:off x="3076194" y="40259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公民提出疑问</a:t>
              </a:r>
            </a:p>
          </p:txBody>
        </p:sp>
        <p:sp>
          <p:nvSpPr>
            <p:cNvPr id="17" name="TextBox 17"/>
            <p:cNvSpPr txBox="1"/>
            <p:nvPr/>
          </p:nvSpPr>
          <p:spPr>
            <a:xfrm>
              <a:off x="6124194" y="38163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法工委研究</a:t>
              </a:r>
            </a:p>
          </p:txBody>
        </p:sp>
        <p:sp>
          <p:nvSpPr>
            <p:cNvPr id="18" name="TextBox 18"/>
            <p:cNvSpPr txBox="1"/>
            <p:nvPr/>
          </p:nvSpPr>
          <p:spPr>
            <a:xfrm>
              <a:off x="6124194" y="41783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并与制定机关沟通</a:t>
              </a:r>
            </a:p>
          </p:txBody>
        </p:sp>
        <p:sp>
          <p:nvSpPr>
            <p:cNvPr id="19" name="Freeform 19"/>
            <p:cNvSpPr/>
            <p:nvPr/>
          </p:nvSpPr>
          <p:spPr>
            <a:xfrm>
              <a:off x="4933950" y="4095750"/>
              <a:ext cx="3962400" cy="152400"/>
            </a:xfrm>
            <a:custGeom>
              <a:avLst/>
              <a:gdLst/>
              <a:ahLst/>
              <a:cxnLst/>
              <a:rect l="l" t="t" r="r" b="b"/>
              <a:pathLst>
                <a:path w="3962400" h="152400">
                  <a:moveTo>
                    <a:pt x="0" y="76200"/>
                  </a:moveTo>
                  <a:lnTo>
                    <a:pt x="781050" y="76200"/>
                  </a:lnTo>
                  <a:moveTo>
                    <a:pt x="666750" y="0"/>
                  </a:moveTo>
                  <a:lnTo>
                    <a:pt x="800100" y="76200"/>
                  </a:lnTo>
                  <a:lnTo>
                    <a:pt x="666750" y="152400"/>
                  </a:lnTo>
                  <a:moveTo>
                    <a:pt x="3486150" y="76200"/>
                  </a:moveTo>
                  <a:lnTo>
                    <a:pt x="3943350" y="76200"/>
                  </a:lnTo>
                  <a:moveTo>
                    <a:pt x="3829050" y="0"/>
                  </a:moveTo>
                  <a:lnTo>
                    <a:pt x="3962400" y="76200"/>
                  </a:lnTo>
                  <a:lnTo>
                    <a:pt x="3829050" y="152400"/>
                  </a:lnTo>
                </a:path>
              </a:pathLst>
            </a:custGeom>
            <a:noFill/>
            <a:ln w="19050">
              <a:solidFill>
                <a:schemeClr val="accent2"/>
              </a:solidFill>
            </a:ln>
          </p:spPr>
        </p:sp>
        <p:sp>
          <p:nvSpPr>
            <p:cNvPr id="20" name="TextBox 20"/>
            <p:cNvSpPr txBox="1"/>
            <p:nvPr/>
          </p:nvSpPr>
          <p:spPr>
            <a:xfrm>
              <a:off x="9134094" y="38163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制定机关</a:t>
              </a:r>
            </a:p>
          </p:txBody>
        </p:sp>
        <p:sp>
          <p:nvSpPr>
            <p:cNvPr id="21" name="TextBox 21"/>
            <p:cNvSpPr txBox="1"/>
            <p:nvPr/>
          </p:nvSpPr>
          <p:spPr>
            <a:xfrm>
              <a:off x="9134094" y="41783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修改调整</a:t>
              </a:r>
            </a:p>
          </p:txBody>
        </p:sp>
        <p:sp>
          <p:nvSpPr>
            <p:cNvPr id="22" name="Freeform 22"/>
            <p:cNvSpPr/>
            <p:nvPr/>
          </p:nvSpPr>
          <p:spPr>
            <a:xfrm>
              <a:off x="609600" y="501015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grpSp>
      <p:grpSp>
        <p:nvGrpSpPr>
          <p:cNvPr id="25" name="p50-reveal-1"/>
          <p:cNvGrpSpPr/>
          <p:nvPr/>
        </p:nvGrpSpPr>
        <p:grpSpPr>
          <a:xfrm>
            <a:off x="597408" y="5651500"/>
            <a:ext cx="7923886" cy="469392"/>
            <a:chOff x="597408" y="5651500"/>
            <a:chExt cx="7923886" cy="469392"/>
          </a:xfrm>
        </p:grpSpPr>
        <p:sp>
          <p:nvSpPr>
            <p:cNvPr id="24" name="TextBox 24"/>
            <p:cNvSpPr txBox="1"/>
            <p:nvPr/>
          </p:nvSpPr>
          <p:spPr>
            <a:xfrm>
              <a:off x="597408" y="5651500"/>
              <a:ext cx="792388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国家 · 权利 · 机关 · 程序，要放进同一件事情里判断。</a:t>
              </a:r>
            </a:p>
          </p:txBody>
        </p:sp>
      </p:grpSp>
      <p:grpSp>
        <p:nvGrpSpPr>
          <p:cNvPr id="28" name="footer"/>
          <p:cNvGrpSpPr/>
          <p:nvPr/>
        </p:nvGrpSpPr>
        <p:grpSpPr>
          <a:xfrm>
            <a:off x="604266" y="6464300"/>
            <a:ext cx="10828344" cy="205359"/>
            <a:chOff x="604266" y="6464300"/>
            <a:chExt cx="10828344" cy="205359"/>
          </a:xfrm>
        </p:grpSpPr>
        <p:sp>
          <p:nvSpPr>
            <p:cNvPr id="26" name="TextBox 26"/>
            <p:cNvSpPr txBox="1"/>
            <p:nvPr/>
          </p:nvSpPr>
          <p:spPr>
            <a:xfrm>
              <a:off x="604266" y="6464300"/>
              <a:ext cx="625838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教育线是教材与现行规范的教学提炼；主案线是2021报告披露的实际过程，两者的依据和程序不同。</a:t>
              </a:r>
            </a:p>
          </p:txBody>
        </p:sp>
        <p:sp>
          <p:nvSpPr>
            <p:cNvPr id="27" name="TextBox 2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50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第八讲 / 面向公安专业的履职判断</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依据、权利、条件，缺一项都不完整</a:t>
              </a:r>
            </a:p>
          </p:txBody>
        </p:sp>
      </p:grpSp>
      <p:grpSp>
        <p:nvGrpSpPr>
          <p:cNvPr id="9" name="professional-three-questions"/>
          <p:cNvGrpSpPr/>
          <p:nvPr/>
        </p:nvGrpSpPr>
        <p:grpSpPr>
          <a:xfrm>
            <a:off x="597408" y="1911350"/>
            <a:ext cx="10984992" cy="765175"/>
            <a:chOff x="597408" y="1911350"/>
            <a:chExt cx="10984992" cy="765175"/>
          </a:xfrm>
        </p:grpSpPr>
        <p:sp>
          <p:nvSpPr>
            <p:cNvPr id="5" name="TextBox 5"/>
            <p:cNvSpPr txBox="1"/>
            <p:nvPr/>
          </p:nvSpPr>
          <p:spPr>
            <a:xfrm>
              <a:off x="597408" y="1911350"/>
              <a:ext cx="20726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职权从哪里来</a:t>
              </a:r>
            </a:p>
          </p:txBody>
        </p:sp>
        <p:sp>
          <p:nvSpPr>
            <p:cNvPr id="6" name="TextBox 6"/>
            <p:cNvSpPr txBox="1"/>
            <p:nvPr/>
          </p:nvSpPr>
          <p:spPr>
            <a:xfrm>
              <a:off x="4521708" y="1911350"/>
              <a:ext cx="20726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保护谁的权利</a:t>
              </a:r>
            </a:p>
          </p:txBody>
        </p:sp>
        <p:sp>
          <p:nvSpPr>
            <p:cNvPr id="7" name="TextBox 7"/>
            <p:cNvSpPr txBox="1"/>
            <p:nvPr/>
          </p:nvSpPr>
          <p:spPr>
            <a:xfrm>
              <a:off x="8446008" y="1911350"/>
              <a:ext cx="24140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j-lt"/>
                  <a:ea typeface="+mj-ea"/>
                  <a:cs typeface="+mj-cs"/>
                </a:rPr>
                <a:t>措施有什么条件</a:t>
              </a:r>
            </a:p>
          </p:txBody>
        </p:sp>
        <p:sp>
          <p:nvSpPr>
            <p:cNvPr id="8" name="Freeform 8"/>
            <p:cNvSpPr/>
            <p:nvPr/>
          </p:nvSpPr>
          <p:spPr>
            <a:xfrm>
              <a:off x="609600" y="26670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grpSp>
      <p:grpSp>
        <p:nvGrpSpPr>
          <p:cNvPr id="12" name="p51-reveal-1"/>
          <p:cNvGrpSpPr/>
          <p:nvPr/>
        </p:nvGrpSpPr>
        <p:grpSpPr>
          <a:xfrm>
            <a:off x="597408" y="3175000"/>
            <a:ext cx="6584823" cy="946531"/>
            <a:chOff x="597408" y="3175000"/>
            <a:chExt cx="6584823" cy="946531"/>
          </a:xfrm>
        </p:grpSpPr>
        <p:sp>
          <p:nvSpPr>
            <p:cNvPr id="10" name="TextBox 10"/>
            <p:cNvSpPr txBox="1"/>
            <p:nvPr/>
          </p:nvSpPr>
          <p:spPr>
            <a:xfrm>
              <a:off x="597408" y="3175000"/>
              <a:ext cx="4919167"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发现问题的能力 ≠ 纠正规范的权限</a:t>
              </a:r>
            </a:p>
          </p:txBody>
        </p:sp>
        <p:sp>
          <p:nvSpPr>
            <p:cNvPr id="11" name="TextBox 11"/>
            <p:cNvSpPr txBox="1"/>
            <p:nvPr/>
          </p:nvSpPr>
          <p:spPr>
            <a:xfrm>
              <a:off x="599694" y="374015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个人不能自行宣布法规失效，应当依法提出、处理疑问。</a:t>
              </a:r>
            </a:p>
          </p:txBody>
        </p:sp>
      </p:grpSp>
      <p:grpSp>
        <p:nvGrpSpPr>
          <p:cNvPr id="18" name="p51-reveal-2"/>
          <p:cNvGrpSpPr/>
          <p:nvPr/>
        </p:nvGrpSpPr>
        <p:grpSpPr>
          <a:xfrm>
            <a:off x="609600" y="4476750"/>
            <a:ext cx="8440636" cy="1775333"/>
            <a:chOff x="609600" y="4476750"/>
            <a:chExt cx="8440636" cy="1775333"/>
          </a:xfrm>
        </p:grpSpPr>
        <p:sp>
          <p:nvSpPr>
            <p:cNvPr id="13" name="Rectangle 13"/>
            <p:cNvSpPr/>
            <p:nvPr/>
          </p:nvSpPr>
          <p:spPr>
            <a:xfrm>
              <a:off x="609600" y="4476750"/>
              <a:ext cx="57150" cy="1657350"/>
            </a:xfrm>
            <a:prstGeom prst="rect">
              <a:avLst/>
            </a:prstGeom>
            <a:solidFill>
              <a:schemeClr val="accent2"/>
            </a:solidFill>
            <a:ln>
              <a:noFill/>
            </a:ln>
          </p:spPr>
        </p:sp>
        <p:sp>
          <p:nvSpPr>
            <p:cNvPr id="14" name="TextBox 14"/>
            <p:cNvSpPr txBox="1"/>
            <p:nvPr/>
          </p:nvSpPr>
          <p:spPr>
            <a:xfrm>
              <a:off x="864108" y="4527550"/>
              <a:ext cx="6518453"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同时，不能把“尊重权限”理解成一律先执行。</a:t>
              </a:r>
            </a:p>
          </p:txBody>
        </p:sp>
        <p:sp>
          <p:nvSpPr>
            <p:cNvPr id="15" name="TextBox 15"/>
            <p:cNvSpPr txBox="1"/>
            <p:nvPr/>
          </p:nvSpPr>
          <p:spPr>
            <a:xfrm>
              <a:off x="866394" y="5035550"/>
              <a:ext cx="818384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人民警察法第33条：超越法律、法规规定的人民警察职责范围的指令，</a:t>
              </a:r>
            </a:p>
          </p:txBody>
        </p:sp>
        <p:sp>
          <p:nvSpPr>
            <p:cNvPr id="16" name="TextBox 16"/>
            <p:cNvSpPr txBox="1"/>
            <p:nvPr/>
          </p:nvSpPr>
          <p:spPr>
            <a:xfrm>
              <a:off x="866394" y="53975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有权拒绝执行，并同时向上级机关报告。</a:t>
              </a:r>
            </a:p>
          </p:txBody>
        </p:sp>
        <p:sp>
          <p:nvSpPr>
            <p:cNvPr id="17" name="TextBox 17"/>
            <p:cNvSpPr txBox="1"/>
            <p:nvPr/>
          </p:nvSpPr>
          <p:spPr>
            <a:xfrm>
              <a:off x="869442" y="5988050"/>
              <a:ext cx="621094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公务员法第60条：执行明显违法的决定或者命令，应当依法承担相应的责任。</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569297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人民警察法第33条、公务员法第60条；判断眼前行为能否实施，与规范纠正权限同时坚持。</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51 / 52</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ending-kicker"/>
          <p:cNvGrpSpPr/>
          <p:nvPr/>
        </p:nvGrpSpPr>
        <p:grpSpPr>
          <a:xfrm>
            <a:off x="603504" y="438150"/>
            <a:ext cx="10978896" cy="523875"/>
            <a:chOff x="603504" y="438150"/>
            <a:chExt cx="10978896" cy="523875"/>
          </a:xfrm>
        </p:grpSpPr>
        <p:sp>
          <p:nvSpPr>
            <p:cNvPr id="2" name="TextBox 2"/>
            <p:cNvSpPr txBox="1"/>
            <p:nvPr/>
          </p:nvSpPr>
          <p:spPr>
            <a:xfrm>
              <a:off x="603504" y="438150"/>
              <a:ext cx="132877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全课收束</a:t>
              </a:r>
            </a:p>
          </p:txBody>
        </p:sp>
        <p:sp>
          <p:nvSpPr>
            <p:cNvPr id="3" name="Freeform 3"/>
            <p:cNvSpPr/>
            <p:nvPr/>
          </p:nvSpPr>
          <p:spPr>
            <a:xfrm>
              <a:off x="609600" y="952500"/>
              <a:ext cx="10972800" cy="9525"/>
            </a:xfrm>
            <a:custGeom>
              <a:avLst/>
              <a:gdLst/>
              <a:ahLst/>
              <a:cxnLst/>
              <a:rect l="l" t="t" r="r" b="b"/>
              <a:pathLst>
                <a:path w="10972800" h="9525">
                  <a:moveTo>
                    <a:pt x="0" y="0"/>
                  </a:moveTo>
                  <a:lnTo>
                    <a:pt x="10972800" y="0"/>
                  </a:lnTo>
                </a:path>
              </a:pathLst>
            </a:custGeom>
            <a:solidFill>
              <a:schemeClr val="accent1"/>
            </a:solidFill>
            <a:ln w="9525">
              <a:solidFill>
                <a:srgbClr val="C7BFB1"/>
              </a:solidFill>
            </a:ln>
          </p:spPr>
        </p:sp>
      </p:grpSp>
      <p:grpSp>
        <p:nvGrpSpPr>
          <p:cNvPr id="8" name="course-final-proposition"/>
          <p:cNvGrpSpPr/>
          <p:nvPr/>
        </p:nvGrpSpPr>
        <p:grpSpPr>
          <a:xfrm>
            <a:off x="590550" y="1847850"/>
            <a:ext cx="8103108" cy="2009775"/>
            <a:chOff x="590550" y="1847850"/>
            <a:chExt cx="8103108" cy="2009775"/>
          </a:xfrm>
        </p:grpSpPr>
        <p:sp>
          <p:nvSpPr>
            <p:cNvPr id="5" name="TextBox 5"/>
            <p:cNvSpPr txBox="1"/>
            <p:nvPr/>
          </p:nvSpPr>
          <p:spPr>
            <a:xfrm>
              <a:off x="590550" y="1847850"/>
              <a:ext cx="8103108" cy="790575"/>
            </a:xfrm>
            <a:prstGeom prst="rect">
              <a:avLst/>
            </a:prstGeom>
            <a:noFill/>
            <a:ln>
              <a:noFill/>
            </a:ln>
          </p:spPr>
          <p:txBody>
            <a:bodyPr wrap="none" lIns="0" tIns="0" rIns="0" bIns="0" anchor="t" anchorCtr="0">
              <a:spAutoFit/>
            </a:bodyPr>
            <a:lstStyle/>
            <a:p>
              <a:pPr algn="l"/>
              <a:r>
                <a:rPr lang="zh-CN" sz="4050" dirty="0">
                  <a:solidFill>
                    <a:schemeClr val="accent1"/>
                  </a:solidFill>
                  <a:latin typeface="+mj-lt"/>
                  <a:ea typeface="+mj-ea"/>
                  <a:cs typeface="+mj-cs"/>
                </a:rPr>
                <a:t>宪法，是每天都在使用的规则。</a:t>
              </a:r>
            </a:p>
          </p:txBody>
        </p:sp>
        <p:sp>
          <p:nvSpPr>
            <p:cNvPr id="6" name="TextBox 6"/>
            <p:cNvSpPr txBox="1"/>
            <p:nvPr/>
          </p:nvSpPr>
          <p:spPr>
            <a:xfrm>
              <a:off x="596646" y="3041650"/>
              <a:ext cx="655472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每一次依法履职，都是其中的一次使用。</a:t>
              </a:r>
            </a:p>
          </p:txBody>
        </p:sp>
        <p:sp>
          <p:nvSpPr>
            <p:cNvPr id="7" name="Freeform 7"/>
            <p:cNvSpPr/>
            <p:nvPr/>
          </p:nvSpPr>
          <p:spPr>
            <a:xfrm>
              <a:off x="609600" y="3848100"/>
              <a:ext cx="2000250" cy="9525"/>
            </a:xfrm>
            <a:custGeom>
              <a:avLst/>
              <a:gdLst/>
              <a:ahLst/>
              <a:cxnLst/>
              <a:rect l="l" t="t" r="r" b="b"/>
              <a:pathLst>
                <a:path w="2000250" h="9525">
                  <a:moveTo>
                    <a:pt x="0" y="0"/>
                  </a:moveTo>
                  <a:lnTo>
                    <a:pt x="2000250" y="0"/>
                  </a:lnTo>
                </a:path>
              </a:pathLst>
            </a:custGeom>
            <a:solidFill>
              <a:schemeClr val="accent1"/>
            </a:solidFill>
            <a:ln w="38100">
              <a:solidFill>
                <a:schemeClr val="accent2"/>
              </a:solidFill>
            </a:ln>
          </p:spPr>
        </p:sp>
      </p:grpSp>
      <p:grpSp>
        <p:nvGrpSpPr>
          <p:cNvPr id="14" name="continuous-work"/>
          <p:cNvGrpSpPr/>
          <p:nvPr/>
        </p:nvGrpSpPr>
        <p:grpSpPr>
          <a:xfrm>
            <a:off x="599694" y="4768850"/>
            <a:ext cx="10467975" cy="892683"/>
            <a:chOff x="599694" y="4768850"/>
            <a:chExt cx="10467975" cy="892683"/>
          </a:xfrm>
        </p:grpSpPr>
        <p:sp>
          <p:nvSpPr>
            <p:cNvPr id="9" name="TextBox 9"/>
            <p:cNvSpPr txBox="1"/>
            <p:nvPr/>
          </p:nvSpPr>
          <p:spPr>
            <a:xfrm>
              <a:off x="599694" y="47688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履行法定职责</a:t>
              </a:r>
            </a:p>
          </p:txBody>
        </p:sp>
        <p:sp>
          <p:nvSpPr>
            <p:cNvPr id="10" name="TextBox 10"/>
            <p:cNvSpPr txBox="1"/>
            <p:nvPr/>
          </p:nvSpPr>
          <p:spPr>
            <a:xfrm>
              <a:off x="3609594" y="47688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遵守规范</a:t>
              </a:r>
            </a:p>
          </p:txBody>
        </p:sp>
        <p:sp>
          <p:nvSpPr>
            <p:cNvPr id="11" name="TextBox 11"/>
            <p:cNvSpPr txBox="1"/>
            <p:nvPr/>
          </p:nvSpPr>
          <p:spPr>
            <a:xfrm>
              <a:off x="6200394" y="47688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依法主张权利</a:t>
              </a:r>
            </a:p>
          </p:txBody>
        </p:sp>
        <p:sp>
          <p:nvSpPr>
            <p:cNvPr id="12" name="TextBox 12"/>
            <p:cNvSpPr txBox="1"/>
            <p:nvPr/>
          </p:nvSpPr>
          <p:spPr>
            <a:xfrm>
              <a:off x="9210294" y="47688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按权限程序纠正</a:t>
              </a:r>
            </a:p>
          </p:txBody>
        </p:sp>
        <p:sp>
          <p:nvSpPr>
            <p:cNvPr id="13" name="TextBox 13"/>
            <p:cNvSpPr txBox="1"/>
            <p:nvPr/>
          </p:nvSpPr>
          <p:spPr>
            <a:xfrm>
              <a:off x="602742" y="5397500"/>
              <a:ext cx="455714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在具体事情里认清要求与分工，让宪法成为持续的工作。</a:t>
              </a:r>
            </a:p>
          </p:txBody>
        </p:sp>
      </p:gr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142417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本课程八讲到此结束。</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52 / 52</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lecture-08-20261015-student-ready">
  <a:themeElements>
    <a:clrScheme name="lecture-08-20261015-student-ready">
      <a:dk1>
        <a:srgbClr val="2F2D29"/>
      </a:dk1>
      <a:lt1>
        <a:srgbClr val="F7F3EA"/>
      </a:lt1>
      <a:dk2>
        <a:srgbClr val="1F497D"/>
      </a:dk2>
      <a:lt2>
        <a:srgbClr val="F7F3EA"/>
      </a:lt2>
      <a:accent1>
        <a:srgbClr val="202C35"/>
      </a:accent1>
      <a:accent2>
        <a:srgbClr val="A02B2D"/>
      </a:accent2>
      <a:accent3>
        <a:srgbClr val="526774"/>
      </a:accent3>
      <a:accent4>
        <a:srgbClr val="202C35"/>
      </a:accent4>
      <a:accent5>
        <a:srgbClr val="ECE5D6"/>
      </a:accent5>
      <a:accent6>
        <a:srgbClr val="6A645C"/>
      </a:accent6>
      <a:hlink>
        <a:srgbClr val="A02B2D"/>
      </a:hlink>
      <a:folHlink>
        <a:srgbClr val="526774"/>
      </a:folHlink>
    </a:clrScheme>
    <a:fontScheme name="lecture-08-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8-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8-20261015-student-ready">
  <a:themeElements>
    <a:clrScheme name="lecture-08-20261015-student-ready">
      <a:dk1>
        <a:srgbClr val="2F2D29"/>
      </a:dk1>
      <a:lt1>
        <a:srgbClr val="F7F3EA"/>
      </a:lt1>
      <a:dk2>
        <a:srgbClr val="1F497D"/>
      </a:dk2>
      <a:lt2>
        <a:srgbClr val="F7F3EA"/>
      </a:lt2>
      <a:accent1>
        <a:srgbClr val="202C35"/>
      </a:accent1>
      <a:accent2>
        <a:srgbClr val="A02B2D"/>
      </a:accent2>
      <a:accent3>
        <a:srgbClr val="526774"/>
      </a:accent3>
      <a:accent4>
        <a:srgbClr val="202C35"/>
      </a:accent4>
      <a:accent5>
        <a:srgbClr val="ECE5D6"/>
      </a:accent5>
      <a:accent6>
        <a:srgbClr val="6A645C"/>
      </a:accent6>
      <a:hlink>
        <a:srgbClr val="A02B2D"/>
      </a:hlink>
      <a:folHlink>
        <a:srgbClr val="526774"/>
      </a:folHlink>
    </a:clrScheme>
    <a:fontScheme name="lecture-08-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8-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2026-10-15T13:44:25Z</dcterms:created>
  <dcterms:modified xsi:type="dcterms:W3CDTF">2026-10-15T13:44:25Z</dcterms:modified>
  <cp:category/>
  <cp:contentStatus/>
</cp:coreProperties>
</file>