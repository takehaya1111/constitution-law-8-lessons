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6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  <Relationship Id="rId6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第六讲　具体基本权利与基本义务</a:t>
            </a:r>
          </a:p>
          <a:p>
            <a:pPr/>
            <a:endParaRPr lang="zh-CN" dirty="0"/>
          </a:p>
          <a:p>
            <a:pPr/>
            <a:r>
              <a:rPr lang="zh-CN" dirty="0"/>
              <a:t>&gt; 公安专业一年级；上下两节各45分钟，课间另计。小标题供定位；方括号为简短课堂提示。</a:t>
            </a:r>
          </a:p>
          <a:p>
            <a:pPr/>
            <a:endParaRPr lang="zh-CN" dirty="0"/>
          </a:p>
          <a:p>
            <a:pPr/>
            <a:r>
              <a:rPr lang="zh-CN" dirty="0"/>
              <a:t>上节｜权利的保护对象与重要条件</a:t>
            </a:r>
          </a:p>
          <a:p>
            <a:pPr/>
            <a:endParaRPr lang="zh-CN" dirty="0"/>
          </a:p>
          <a:p>
            <a:pPr/>
            <a:r>
              <a:rPr lang="zh-CN" dirty="0"/>
              <a:t>一、平等权与合理差别</a:t>
            </a:r>
          </a:p>
          <a:p>
            <a:pPr/>
            <a:endParaRPr lang="zh-CN" dirty="0"/>
          </a:p>
          <a:p>
            <a:pPr/>
            <a:r>
              <a:rPr lang="zh-CN" dirty="0"/>
              <a:t>上一讲我们区分了权利所保护的利益、法律确认的资格和规范约束的对象，也讲了限制需要有依据和界限。今天来看具体权利：它们保护人的什么生活利益，又有哪些重要条件？</a:t>
            </a:r>
          </a:p>
          <a:p>
            <a:pPr/>
            <a:endParaRPr lang="zh-CN" dirty="0"/>
          </a:p>
          <a:p>
            <a:pPr/>
            <a:r>
              <a:rPr lang="zh-CN" dirty="0"/>
              <a:t>先从一个最容易被误解的权利开始：平等。</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宪法第三十三条第二款规定：“中华人民共和国公民在法律面前一律平等。”这句话只有十几个字，但它包含的内容不止一层。</a:t>
            </a:r>
          </a:p>
          <a:p>
            <a:pPr/>
            <a:endParaRPr lang="zh-CN" dirty="0"/>
          </a:p>
          <a:p>
            <a:pPr/>
            <a:r>
              <a:rPr lang="zh-CN" dirty="0"/>
              <a:t>教材把它拆开，讲了四层。第一层，享有权利、履行义务，所有公民是平等的。第二层，人人都要守法，谁也不能凭自己的身份、地位，拿到一份别人没有的特权。第三层，到了司法这一步，适用法律同样一律平等。第四层，说的是权利能力上的平等——条件相同的人，有资格取得相同的权利；但这并不等于行为能力也人人绝对相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句有两个法律上的“能力”，不能用体力、成绩或职业技能来解释。权利能力说的是能成为权利和义务的主体；行为能力说的是能否以自己的行为独立产生相应法律后果。一个六岁儿童可以享有自己的财产权，但订立买卖合同须由法定代理人代理。保护他的财产，与不让他独自作出这样的交易决定，可以同时成立。具体能力怎样划分，要按民法典等法律，而不是凭我们觉得谁更能干。</a:t>
            </a:r>
          </a:p>
          <a:p>
            <a:pPr/>
            <a:endParaRPr lang="zh-CN" dirty="0"/>
          </a:p>
          <a:p>
            <a:pPr/>
            <a:r>
              <a:rPr lang="zh-CN" dirty="0"/>
              <a:t>但这句话并不是全部。教材紧接着讲了一步，这一步是本节的重点。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说：平等是一个相对的概念，不是绝对的。人跟人本来就有差别——能力有高低，环境有不同，受教育的程度也不一样，这些差异是客观存在的。所以宪法保护的平等权，并不禁止、也不可能完全取消差别；它承认差别，但只在一定范围里承认合理的那一部分。</a:t>
            </a:r>
          </a:p>
          <a:p>
            <a:pPr/>
            <a:endParaRPr lang="zh-CN" dirty="0"/>
          </a:p>
          <a:p>
            <a:pPr/>
            <a:r>
              <a:rPr lang="zh-CN" dirty="0"/>
              <a:t>什么叫“合理差别”？教材给的定义很短：“合理差别”，指的是具有合理理由的差别。</a:t>
            </a:r>
          </a:p>
          <a:p>
            <a:pPr/>
            <a:endParaRPr lang="zh-CN" dirty="0"/>
          </a:p>
          <a:p>
            <a:pPr/>
            <a:r>
              <a:rPr lang="zh-CN" dirty="0"/>
              <a:t>这个定义里最重要的词是“理由”。它没有说客观存在的差别都合理，而是要求说明：为什么这个差异能够支持眼前的不同处理。事实上的差异与差别待遇的根据，需要接起来检验。</a:t>
            </a:r>
          </a:p>
          <a:p>
            <a:pPr/>
            <a:endParaRPr lang="zh-CN" dirty="0"/>
          </a:p>
          <a:p>
            <a:pPr/>
            <a:r>
              <a:rPr lang="zh-CN" dirty="0"/>
              <a:t>教材给了一个例子，这个例子值得细讲，因为它同时能说明“合理差别”和“合理差别的边界”。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具体说，宪法给全国人大代表的发言免责作了一项特别规定：这项权利只有代表才有，普通公民没有。教材由此说，不同的人在某一项权利上，行使的方式可以不一样，这里就落着一个合理差别；但不能反过来把它说成一种特权。</a:t>
            </a:r>
          </a:p>
          <a:p>
            <a:pPr/>
            <a:endParaRPr lang="zh-CN" dirty="0"/>
          </a:p>
          <a:p>
            <a:pPr/>
            <a:r>
              <a:rPr lang="zh-CN" dirty="0"/>
              <a:t>这里涉及两条宪法条文。第七十五条讲的是：代表在人大的各种会议上发言、表决，不受法律追究。请注意它的落点很窄——是会议上的发言和表决。第七十六条紧接着给代表加了义务：代表要模范地遵守宪法和法律，保守国家秘密，还要在自己的生产、工作和社会活动中协助宪法和法律的实施。</a:t>
            </a:r>
          </a:p>
          <a:p>
            <a:pPr/>
            <a:endParaRPr lang="zh-CN" dirty="0"/>
          </a:p>
          <a:p>
            <a:pPr/>
            <a:r>
              <a:rPr lang="zh-CN" dirty="0"/>
              <a:t>为什么给代表这样一项特殊保障？我按教材的方向解释一下理由：代表在会上要审议法案、提出意见、进行表决，如果每说一句都要先考虑事后会不会被追究，审议就难以真正展开。所以这项保障的制度理由，是使人能够依法履职——它保护的是履职这个场合里的特定行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请注意这个理由的两处边界，这是本节的要害。</a:t>
            </a:r>
          </a:p>
          <a:p>
            <a:pPr/>
            <a:endParaRPr lang="zh-CN" dirty="0"/>
          </a:p>
          <a:p>
            <a:pPr/>
            <a:r>
              <a:rPr lang="zh-CN" dirty="0"/>
              <a:t>第一处边界：这项保障有明确的场合。它说的是全国人民代表大会代表在人大的各种会议上的发言和表决。如果同一个人在会外的私人一般活动中发生了纠纷，第七十五条并不当然适用于那个场合。这不等于说他在会外就一定违法——不适用只是说明，这件事要按一般的法律来处理，不能靠第七十五条挡回去。</a:t>
            </a:r>
          </a:p>
          <a:p>
            <a:pPr/>
            <a:endParaRPr lang="zh-CN" dirty="0"/>
          </a:p>
          <a:p>
            <a:pPr/>
            <a:r>
              <a:rPr lang="zh-CN" dirty="0"/>
              <a:t>第二处要分清，免责保护特定场合的发言和表决，不是整个人的全部行为。它也不以意见后来被证明完全正确为前提；如果只要批评说错了就能追究，代表仍会因担心后果而不敢表达。第七十六条同时规定代表应遵法、保密等职责，说明代表仍须承担相应工作要求，不能据此把第七十五条改成“只有意见被认可才免责”。本例先按全国人大代表及相应会议范围理解，地方代表的保障另有法律规定。</a:t>
            </a:r>
          </a:p>
          <a:p>
            <a:pPr/>
            <a:endParaRPr lang="zh-CN" dirty="0"/>
          </a:p>
          <a:p>
            <a:pPr/>
            <a:r>
              <a:rPr lang="zh-CN" dirty="0"/>
              <a:t>回看这个例子，特殊保障不是因为代表的人格地位更高，而是因为一项公共职责需要相应的表达保障。平等要求我们认真说明这种不同处理的根据；既不能只因待遇不同就否定，也不能只因有某种身份就认定全部差别合理。</a:t>
            </a:r>
          </a:p>
          <a:p>
            <a:pPr/>
            <a:endParaRPr lang="zh-CN" dirty="0"/>
          </a:p>
          <a:p>
            <a:pPr/>
            <a:r>
              <a:rPr lang="zh-CN" dirty="0"/>
              <a:t>所以真正的难题不是“能不能有差别”，而是“这个差别能不能说出理由来”。 教材说它是“正确地区分……界限”，而不是“一律否定差别”，也不是“一律承认差别”。</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那么怎么区分？我把刚才那个例子里的检查步骤提出来，它们不只适用于代表免责权：</a:t>
            </a:r>
          </a:p>
          <a:p>
            <a:pPr/>
            <a:endParaRPr lang="zh-CN" dirty="0"/>
          </a:p>
          <a:p>
            <a:pPr/>
            <a:r>
              <a:rPr lang="zh-CN" dirty="0"/>
              <a:t>第一步，找到比较对象。谁和谁被作了不同处理？这一步看起来简单，却常常被跳过。说“这不平等”，要先说清是和谁比。</a:t>
            </a:r>
          </a:p>
          <a:p>
            <a:pPr/>
            <a:endParaRPr lang="zh-CN" dirty="0"/>
          </a:p>
          <a:p>
            <a:pPr/>
            <a:r>
              <a:rPr lang="zh-CN" dirty="0"/>
              <a:t>第二步，看清差别待遇本身。两个对象被差别对待的具体内容是什么？是获得了不同的条件，还是承担了不同的要求？</a:t>
            </a:r>
          </a:p>
          <a:p>
            <a:pPr/>
            <a:endParaRPr lang="zh-CN" dirty="0"/>
          </a:p>
          <a:p>
            <a:pPr/>
            <a:r>
              <a:rPr lang="zh-CN" dirty="0"/>
              <a:t>第三步，找出差别依据。这个待遇的区分，是依据什么作出的？依据是一件具体的事、一种身份，还是纯粹的习惯？</a:t>
            </a:r>
          </a:p>
          <a:p>
            <a:pPr/>
            <a:endParaRPr lang="zh-CN" dirty="0"/>
          </a:p>
          <a:p>
            <a:pPr/>
            <a:r>
              <a:rPr lang="zh-CN" dirty="0"/>
              <a:t>第四步，问理由与范围。这个依据能不能支持这一步差别？它支持到哪一步为止？范围一变，原来的理由还站不站得住？</a:t>
            </a:r>
          </a:p>
          <a:p>
            <a:pPr/>
            <a:endParaRPr lang="zh-CN" dirty="0"/>
          </a:p>
          <a:p>
            <a:pPr/>
            <a:r>
              <a:rPr lang="zh-CN" dirty="0"/>
              <a:t>我们回头用这四步看本例。比较对象是全国人大代表在相应会议履职时与没有这一职责的其他公民；差别待遇是会议发言和表决的免责保障；依据是代表资格、会议场合及具体行为；理由是保障审议和表达。这个理由不能直接扩到同一人在会外的私人活动。</a:t>
            </a:r>
          </a:p>
          <a:p>
            <a:pPr/>
            <a:endParaRPr lang="zh-CN" dirty="0"/>
          </a:p>
          <a:p>
            <a:pPr/>
            <a:r>
              <a:rPr lang="zh-CN" dirty="0"/>
              <a:t>第四步最关键：理由和范围要一起用。 一个理由常常只能支撑一部分差别。范围一旦被扩大，原来的理由就跟不上，差别就失去了依据。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我们做一次短练习。假设某单位规定：新入职人员一律不得申请单位的某项福利，理由是“鼓励先熟悉工作”。请用刚才四步检查这条规定，重点回答两件事：比较对象是谁；这个理由能支持到哪一步。</a:t>
            </a:r>
          </a:p>
          <a:p>
            <a:pPr/>
            <a:endParaRPr lang="zh-CN" dirty="0"/>
          </a:p>
          <a:p>
            <a:pPr/>
            <a:r>
              <a:rPr lang="zh-CN" dirty="0"/>
              <a:t>【独立思考约一至两分钟：写出比较对象，并写一句“这个理由最多能支持到……”。教师此时暂停讲述。】</a:t>
            </a:r>
          </a:p>
          <a:p>
            <a:pPr/>
            <a:endParaRPr lang="zh-CN" dirty="0"/>
          </a:p>
          <a:p>
            <a:pPr/>
            <a:r>
              <a:rPr lang="zh-CN" dirty="0"/>
              <a:t>比较对象是老员工和新入职人员。差别待遇是能否申请这项福利。“鼓励先熟悉工作”是一个可以理解的考虑，但它是一条概括的理由，还没有说明这项福利与“熟悉工作”之间到底有什么关系。所以，能判断的是：这条理由目前还不足以支持“一律不得申请”这种全范围的排除；要判断它是否合理，还需要知道这项福利的性质，以及熟悉工作与它有什么实质联系。注意，我没有说这条规定一定不成立——我说的是它给出的理由还不够。</a:t>
            </a:r>
          </a:p>
          <a:p>
            <a:pPr/>
            <a:endParaRPr lang="zh-CN" dirty="0"/>
          </a:p>
          <a:p>
            <a:pPr/>
            <a:r>
              <a:rPr lang="zh-CN" dirty="0"/>
              <a:t>这就是这一节要形成的判断方式：不是立刻下“平等”或“不平等”的结论，而是把理由和范围顶到台面上一件件看。 这套办法在下一节讲具体权利时还会反复用到。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补一层，说明平等权在法律上怎么用。教材说，平等权有两个身份：它既是公民行使其他权利的基础，本身又是一项可以要求利益的具体权利。所以一个人觉得自己被不平等对待、被歧视的时候，可以把平等权当作请求权来用，据此主张自己的合法权利。教材举了就业促进法第六十二条：违反该法规定实施就业歧视的，劳动者可以向人民法院提起诉讼。教材还说，在国家生活里，平等还是一项基本原则，指导、规范着各项法律制度；民法典、选举法这些法律，都把平等原则写进了自己的文本。</a:t>
            </a:r>
          </a:p>
          <a:p>
            <a:pPr/>
            <a:endParaRPr lang="zh-CN" dirty="0"/>
          </a:p>
          <a:p>
            <a:pPr/>
            <a:r>
              <a:rPr lang="zh-CN" dirty="0"/>
              <a:t>这让平等有了两个相接的位置：它作为原则约束制度和法律的安排，也作为权利支持个人提出主张。但诉讼条件仍须由具体制度确定。就业促进法第六十二条让违反该法的就业歧视可以进入诉讼，不是宪法一句“平等”就给一切差别都配上相同的起诉途径。原则能够指导具体法律的解释，也不能替代请求的事实、对象和程序。</a:t>
            </a:r>
          </a:p>
          <a:p>
            <a:pPr/>
            <a:endParaRPr lang="zh-CN" dirty="0"/>
          </a:p>
          <a:p>
            <a:pPr/>
            <a:r>
              <a:rPr lang="zh-CN" dirty="0"/>
              <a:t>刚才的单位福利情形，是检验理由的教学设例；我们指出概括理由尚未说明待遇差别的根据，不是仅凭宪法就判定所有单位福利违法。现实中还须按单位性质、福利内容和适用法律判断。第五讲讲过，私人关系、公权力关系与规范层次，需要分别辨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把刚才那四步再用一次，这次换一种情况。假设某地招录公告写明：报考某类岗位须“身体健康，符合岗位要求”。用四步检查这条要求，重点看理由与范围。</a:t>
            </a:r>
          </a:p>
          <a:p>
            <a:pPr/>
            <a:endParaRPr lang="zh-CN" dirty="0"/>
          </a:p>
          <a:p>
            <a:pPr/>
            <a:r>
              <a:rPr lang="zh-CN" dirty="0"/>
              <a:t>比较对象是有意报考的人之间；差别待遇是身体条件不符合“岗位要求”的人不能被录用；依据是岗位的职责需要。这个理由能支持到哪一步？要看某个具体身体条件与这个具体岗位的职责之间有没有实质联系。同样是身体条件，对需要高强度体力处置的岗位和对纯文书岗位，能支持的范围是不一样的。 所以公告只写“符合岗位要求”还不够，还得让人看得出要求与岗位之间是什么关系；把与职责无关的条件也写进去，就超出了理由能支持的范围。</a:t>
            </a:r>
          </a:p>
          <a:p>
            <a:pPr/>
            <a:endParaRPr lang="zh-CN" dirty="0"/>
          </a:p>
          <a:p>
            <a:pPr/>
            <a:r>
              <a:rPr lang="zh-CN" dirty="0"/>
              <a:t>注意这里的分寸：我既没有说身体条件不能作为要求，也没有说任何具体的排除都是合理的。我说的是，理由要落到具体岗位的具体职责上，它支持不到哪里，就不能走那么远。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二、人身自由、人格尊严、住宅与通信</a:t>
            </a:r>
          </a:p>
          <a:p>
            <a:pPr/>
            <a:endParaRPr lang="zh-CN" dirty="0"/>
          </a:p>
          <a:p>
            <a:pPr/>
            <a:r>
              <a:rPr lang="zh-CN" dirty="0"/>
              <a:t>第二组权利，是跟你们的职业最直接打交道的一组。宪法从第三十七条到第四十条规定了四项：人身自由、人格尊严、住宅不受侵犯、通信自由和通信秘密。</a:t>
            </a:r>
          </a:p>
          <a:p>
            <a:pPr/>
            <a:endParaRPr lang="zh-CN" dirty="0"/>
          </a:p>
          <a:p>
            <a:pPr/>
            <a:r>
              <a:rPr lang="zh-CN" dirty="0"/>
              <a:t>它们常被一起提到，但它们保护的对象并不相同，不能当成一个词的四种说法。 我们把它们分开看。</a:t>
            </a:r>
          </a:p>
          <a:p>
            <a:pPr/>
            <a:endParaRPr lang="zh-CN" dirty="0"/>
          </a:p>
          <a:p>
            <a:pPr/>
            <a:r>
              <a:rPr lang="zh-CN" dirty="0"/>
              <a:t>（一）身体自由</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十七条分三层。先确认人身自由不受侵犯；再讲逮捕须经人民检察院批准或者决定，或者人民法院决定，由公安机关执行；最后禁止非法拘禁、其他非法剥夺或限制自由，以及非法搜查身体。这里要留意“非法”：保障自由，并不排除依法采取的措施。</a:t>
            </a:r>
          </a:p>
          <a:p>
            <a:pPr/>
            <a:endParaRPr lang="zh-CN" dirty="0"/>
          </a:p>
          <a:p>
            <a:pPr/>
            <a:r>
              <a:rPr lang="zh-CN" dirty="0"/>
              <a:t>先说这一条保护什么。人身自由，说白了就是身子不受非法侵犯的自由。教材说，它是公民参与国家政治生活、经济生活和社会生活的基础。通俗地说，它保护的是一个人对自己身体和行动的基本支配：不能随意把人关起来、捆起来、拦住不许走，也不能随意搜查身体。</a:t>
            </a:r>
          </a:p>
          <a:p>
            <a:pPr/>
            <a:endParaRPr lang="zh-CN" dirty="0"/>
          </a:p>
          <a:p>
            <a:pPr/>
            <a:r>
              <a:rPr lang="zh-CN" dirty="0"/>
              <a:t>再把这些机关关系接起来看：检察院的批准或者决定、法院的决定，与公安机关的执行，承担不同工作。不是只凭一个办案人员的主张，就可以完成逮捕。</a:t>
            </a:r>
          </a:p>
          <a:p>
            <a:pPr/>
            <a:endParaRPr lang="zh-CN" dirty="0"/>
          </a:p>
          <a:p>
            <a:pPr/>
            <a:r>
              <a:rPr lang="zh-CN" dirty="0"/>
              <a:t>请把这句和我们第二讲看过的内容接上。第二讲讲一九五四年以来的变化时，我们比较过检察和公安的分工。宪法第三十七条正是把这种分工写进了对人身自由的保护：批准、决定是一回事，执行是另一回事，它们由不同的机关承担。 为什么要分开？因为分开之后，作出判断和动手抓人就不再由同一个环节一手完成；一道环节要往前走，得先过另一道。</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不过要注意，第三十七条容易被读窄。它写的是“不受逮捕”，但紧接着还有两句：一是不得非法拘禁，二是不得用其他方法非法剥夺或者限制人身自由，此外还不得非法搜查身体。</a:t>
            </a:r>
          </a:p>
          <a:p>
            <a:pPr/>
            <a:endParaRPr lang="zh-CN" dirty="0"/>
          </a:p>
          <a:p>
            <a:pPr/>
            <a:r>
              <a:rPr lang="zh-CN" dirty="0"/>
              <a:t>逮捕只是限制人身自由的一种形式，不是全部。 一个人没有经过“逮捕”，他的行动自由同样可能被违法限制。非法拘禁是一种；用其他方法非法剥夺或者限制人身自由，也是一种；非法搜查身体，又是一种。所以判断这一类问题时，问的不应该是“这算不算逮捕”，而应该问：这一次对一个人的身体和行动作了什么处理，这种处理有没有法律依据和事实依据。</a:t>
            </a:r>
          </a:p>
          <a:p>
            <a:pPr/>
            <a:endParaRPr lang="zh-CN" dirty="0"/>
          </a:p>
          <a:p>
            <a:pPr/>
            <a:r>
              <a:rPr lang="zh-CN" dirty="0"/>
              <a:t>我们设想两种情形。第一种已按法定条件批准逮捕并依法执行；第二种不叫逮捕，却让人在办案区从上午待到晚上，不许离开，也不说明依据和手续。判断第二种时，不能因没有逮捕这个名称就停止检查；实际控制行动，同样须有根据。</a:t>
            </a:r>
          </a:p>
          <a:p>
            <a:pPr/>
            <a:endParaRPr lang="zh-CN" dirty="0"/>
          </a:p>
          <a:p>
            <a:pPr/>
            <a:r>
              <a:rPr lang="zh-CN" dirty="0"/>
              <a:t>第一种也不是有一张批准文件就能证明全部合法。刑事诉讼法对逮捕还有犯罪证据、可能判处的刑罚及逮捕必要性等条件，批准证件不能代替这些判断。依法逮捕以后，也不允许刑讯逼供或其他非法侵害。我们在这里分别确认措施的条件和后续行为，不把一次批准当作所有行为的通行证。</a:t>
            </a:r>
          </a:p>
          <a:p>
            <a:pPr/>
            <a:endParaRPr lang="zh-CN" dirty="0"/>
          </a:p>
          <a:p>
            <a:pPr/>
            <a:r>
              <a:rPr lang="zh-CN" dirty="0"/>
              <a:t>所以真正的判断起点是事实：他的行动受到了什么样的处理，持续了多久，对哪些具体行为作了限制。 事实清楚了，再去找这种处理有没有相应的法律依据、该由谁批、该走什么程序。第二讲我们比较过机关分工，今天这一条是把那种分工落在了一个具体的人身上。</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公民受到怀疑或调查，不意味着失去全部权利。教材列举的逮捕证、送看守所、依法通知家属等程序，让我们看到限制自由还需要具体工作。现行刑事诉讼法要求执行逮捕出示逮捕证，逮捕后立即送看守所；除无法通知的以外，二十四小时内通知家属。搜查又有自己的证件、在场和记录要求，不能把几种措施的条件合成一句“手续齐全”。</a:t>
            </a:r>
          </a:p>
          <a:p>
            <a:pPr/>
            <a:endParaRPr lang="zh-CN" dirty="0"/>
          </a:p>
          <a:p>
            <a:pPr/>
            <a:r>
              <a:rPr lang="zh-CN" dirty="0"/>
              <a:t>这些程序不是“手续上的客气”。它们的作用，是让一次对人身自由的限制变得可以检查。 有没有出示证件、有没有通知家属、有没有见证人在场，都是事后可以核对的点。程序把“有没有依法办”从一句评价，变成了可以逐项验证的事实。</a:t>
            </a:r>
          </a:p>
          <a:p>
            <a:pPr/>
            <a:endParaRPr lang="zh-CN" dirty="0"/>
          </a:p>
          <a:p>
            <a:pPr/>
            <a:r>
              <a:rPr lang="zh-CN" dirty="0"/>
              <a:t>身体自由还同生命保障相接。教材把生命看作人的尊严与其他权利实现的前提，并从尊重保障人权、人身自由等条文作体系说明。宪法没有单列“生命权”这个名称，不等于生命不受保护。一个人依法受到行动限制，生命和尊严仍须受到保障，不能变成实现办案目的的工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（二）人格尊严与住宅</a:t>
            </a:r>
          </a:p>
          <a:p>
            <a:pPr/>
            <a:endParaRPr lang="zh-CN" dirty="0"/>
          </a:p>
          <a:p>
            <a:pPr/>
            <a:r>
              <a:rPr lang="zh-CN" dirty="0"/>
              <a:t>宪法第三十八条保护人格尊严。原文两句：一句是“公民的人格尊严不受侵犯”，另一句禁止用任何方法对人侮辱、诽谤、诬告陷害。</a:t>
            </a:r>
          </a:p>
          <a:p>
            <a:pPr/>
            <a:endParaRPr lang="zh-CN" dirty="0"/>
          </a:p>
          <a:p>
            <a:pPr/>
            <a:r>
              <a:rPr lang="zh-CN" dirty="0"/>
              <a:t>宪法第三十九条保护住宅。原文说“公民的住宅不受侵犯”，接着禁止非法搜查，也禁止非法侵入他人的住宅。</a:t>
            </a:r>
          </a:p>
          <a:p>
            <a:pPr/>
            <a:endParaRPr lang="zh-CN" dirty="0"/>
          </a:p>
          <a:p>
            <a:pPr/>
            <a:r>
              <a:rPr lang="zh-CN" dirty="0"/>
              <a:t>为什么把两条放在一起讲？因为它们都保护一个人身边的人身利益，但保护的对象不一样：第三十八条保护的是与人身密切联系的名誉、姓名、肖像这一类不容侵犯的利益，教材说它在法律层面主要表现为人格权，是公民进入社会生活应当具备的一项资格；第三十九条保护的是一个空间——私人生活的空间。</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人格尊严。教材说，它的内容除了姓名、肖像、名誉、荣誉这几种权利，还包括隐私权。关于隐私权，教材有一处方法上的说明值得注意：宪法里并没有“隐私权”这三个字，但从宪法解释看，“人格尊严不受侵犯”这一条本身就包含了保护隐私权的要求；住宅不受侵犯，是隐私权的一种具体保护；其他法律对隐私的保护，则是宪法精神的具体体现。</a:t>
            </a:r>
          </a:p>
          <a:p>
            <a:pPr/>
            <a:endParaRPr lang="zh-CN" dirty="0"/>
          </a:p>
          <a:p>
            <a:pPr/>
            <a:r>
              <a:rPr lang="zh-CN" dirty="0"/>
              <a:t>这里可以看出教材联系条文和宪法体系理解一项保护的思路：宪法没有写某一个具体名称，不等于这一项利益不受保护。 要从已有条文的精神和体系里找依据，而不是因为找不到名称就说不受保护；反过来，也不能因为推论出有保护，就声称宪法上明文写了这几个字。这两层应当分清。这里介绍的是教材的学理说明，不是一项已经作出的正式宪法解释。</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说住宅。教材给的范围比日常说法宽：这里的“住宅”是广义的，固定的住房算，宿舍、旅馆这类临时住的地方也算；只要是和私人生活有关的空间，都可能落进“住宅”的范围。教材还提到，一些特定的工作场所，也可能被算进“住宅不受侵犯”的保护范围。</a:t>
            </a:r>
          </a:p>
          <a:p>
            <a:pPr/>
            <a:endParaRPr lang="zh-CN" dirty="0"/>
          </a:p>
          <a:p>
            <a:pPr/>
            <a:r>
              <a:rPr lang="zh-CN" dirty="0"/>
              <a:t>范围宽了，实际判断就更要讲条件。教材列出刑事搜查、查封及紧急进入等情形，提示住宅保护不是排除一切依法行动；这些概括却不是一个适用于所有进入的授权。搜查、行政检查和救助面对的任务不同，须分别找主体、事实和程序。“紧急”也不能自行变成先进入、事后补一张纸就一律合法的理由。</a:t>
            </a:r>
          </a:p>
          <a:p>
            <a:pPr/>
            <a:endParaRPr lang="zh-CN" dirty="0"/>
          </a:p>
          <a:p>
            <a:pPr/>
            <a:r>
              <a:rPr lang="zh-CN" dirty="0"/>
              <a:t>请注意教材这几句话里的四个要素：谁来做（法定的国家机关）、为什么做（刑事侦查的需要、维护公共利益）、做什么（搜查、查封、紧急进入）、依据什么（依法、法律程序）。</a:t>
            </a:r>
          </a:p>
          <a:p>
            <a:pPr/>
            <a:endParaRPr lang="zh-CN" dirty="0"/>
          </a:p>
          <a:p>
            <a:pPr/>
            <a:r>
              <a:rPr lang="zh-CN" dirty="0"/>
              <a:t>一位民警说要因办案需要进入住宅，我们已经听到了一个理由，却还不知道是什么措施、谁有权实施、范围和手续怎样。现在给足一个有限判断所需的材料，不把问题一直留在“还要查”。</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刑事搜查依刑事诉讼法进行：为收集犯罪证据、查获犯罪人，可以依法搜查犯罪嫌疑人及可能隐藏罪犯或犯罪证据的人的身体、物品、住所等，但须守相应证件、在场和记录要求。一般应出示搜查证；执行逮捕、拘留遇到紧急情形时，法律允许不另用搜查证。这里的特定例外不能挪去给所有治安住宅检查使用。</a:t>
            </a:r>
          </a:p>
          <a:p>
            <a:pPr/>
            <a:endParaRPr lang="zh-CN" dirty="0"/>
          </a:p>
          <a:p>
            <a:pPr/>
            <a:r>
              <a:rPr lang="zh-CN" dirty="0"/>
              <a:t>我们另设一个治安检查情形：两名民警为调查涉嫌治安违法行为，进入公民住宅实施检查，已出示人民警察证，却没有县级以上人民政府公安机关开具的检查证；这里不是敲门询问、住户邀请或紧急救助。二〇二六年施行的治安管理处罚法第一百零三条要求检查公民住所出示该检查证。因此，可以判断这次检查不符合这一文书要求，不必因为尚未拿到完整案卷就连这一点也不判断。</a:t>
            </a:r>
          </a:p>
          <a:p>
            <a:pPr/>
            <a:endParaRPr lang="zh-CN" dirty="0"/>
          </a:p>
          <a:p>
            <a:pPr/>
            <a:r>
              <a:rPr lang="zh-CN" dirty="0"/>
              <a:t>同条对一般场所确有必要立即检查设有当场检查的安排，公民住所却有单独要求；不能把一般场所的办法直接套进住宅。我们现在没有判定所有后果和责任，只判断已明确的措施与文书条件。证件具备时也还须核其他实体和程序条件，住户没有拒绝更不能替代法定根据。</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（三）通信自由和通信秘密</a:t>
            </a:r>
          </a:p>
          <a:p>
            <a:pPr/>
            <a:endParaRPr lang="zh-CN" dirty="0"/>
          </a:p>
          <a:p>
            <a:pPr/>
            <a:r>
              <a:rPr lang="zh-CN" dirty="0"/>
              <a:t>第四十条保护通信自由和通信秘密，并对依法检查通信设置特定例外。条文不是只给办案机关一个便利，而是把可以检查的目的、主体和程序同时限住；在这些条件之外，不能随便找一个理由侵犯通信自由与秘密。</a:t>
            </a:r>
          </a:p>
          <a:p>
            <a:pPr/>
            <a:endParaRPr lang="zh-CN" dirty="0"/>
          </a:p>
          <a:p>
            <a:pPr/>
            <a:r>
              <a:rPr lang="zh-CN" dirty="0"/>
              <a:t>教材说明，通信自由说的是：公民用书信、电报、传真、电话这些手段，按照自己的意愿通信，不受别人干涉；它保护的是两样东西——私生活的秘密，和表达行为的自由。</a:t>
            </a:r>
          </a:p>
          <a:p>
            <a:pPr/>
            <a:endParaRPr lang="zh-CN" dirty="0"/>
          </a:p>
          <a:p>
            <a:pPr/>
            <a:r>
              <a:rPr lang="zh-CN" dirty="0"/>
              <a:t>这一条的写法很特别，值得逐段读。它的结构是：先给一般保护，再给一个例外，然后立刻用“任何组织或者个人不得以任何理由”把口封上。</a:t>
            </a:r>
          </a:p>
          <a:p>
            <a:pPr/>
            <a:endParaRPr lang="zh-CN" dirty="0"/>
          </a:p>
          <a:p>
            <a:pPr/>
            <a:r>
              <a:rPr lang="zh-CN" dirty="0"/>
              <a:t>那个例外里有三样东西，一件都不能少：目的——因国家安全或者追查刑事犯罪的需要；主体——公安机关或者检察机关；程序——依照法律规定的程序。</a:t>
            </a:r>
          </a:p>
          <a:p>
            <a:pPr/>
            <a:endParaRPr lang="zh-CN" dirty="0"/>
          </a:p>
          <a:p>
            <a:pPr/>
            <a:r>
              <a:rPr lang="zh-CN" dirty="0"/>
              <a:t>请把三样连起来看。只有目的正当不够，只有机关名称正确也不够，程序条件同样必须满足。三样是一个整体，缺一样，这一次检查就缺了依据。</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国家安全机关怎样同这个主体规定相接？教材引的一九八三年全国人大常委会决定，确认国家安全机关承担当时原由公安机关主管的间谍、特务案件侦查工作，具有国家公安机关的性质，并列明相关职权。这是当年的机关与授权安排，没有修改第四十条。今天还须读具体法律：刑事诉讼法第四条规定国家安全机关办理危害国家安全的刑事案件，依法行使与公安机关相同的职权；邮政法第三条明确列出公安、国安和检察机关检查通信的相应条件。不能把这层衔接读成任何事项上三种机关都可任意互换。</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程序不是再说一遍“依法”就有了。我们只看传统邮件中的一项刑事侦查规则：侦查人员认为需要扣押犯罪嫌疑人的邮件、电报，须经公安机关或者检察院批准，再通知邮电机关检交扣押；不需要继续扣押时，应立即通知。这条规则把对象、批准和实际办理分开，侦查人员个人觉得着急，不等于已经获批，更不等于可以私拆任何人的信。</a:t>
            </a:r>
          </a:p>
          <a:p>
            <a:pPr/>
            <a:endParaRPr lang="zh-CN" dirty="0"/>
          </a:p>
          <a:p>
            <a:pPr/>
            <a:r>
              <a:rPr lang="zh-CN" dirty="0"/>
              <a:t>这不是所有通信监听的通用办法，技术侦查等另有案件范围、对象、期限和批准条件。我们借一项真实规定看清，目的、主体和程序怎样共同约束行为。第四十条所列检查目的仍是国家安全或者追查刑事犯罪，不能再用一个泛泛的“公共利益”把这项例外扩大。</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三、政治权利与宗教信仰自由</a:t>
            </a:r>
          </a:p>
          <a:p>
            <a:pPr/>
            <a:endParaRPr lang="zh-CN" dirty="0"/>
          </a:p>
          <a:p>
            <a:pPr/>
            <a:r>
              <a:rPr lang="zh-CN" dirty="0"/>
              <a:t>第三组权利，我们建立必要的认识，但不逐项深挖。</a:t>
            </a:r>
          </a:p>
          <a:p>
            <a:pPr/>
            <a:endParaRPr lang="zh-CN" dirty="0"/>
          </a:p>
          <a:p>
            <a:pPr/>
            <a:r>
              <a:rPr lang="zh-CN" dirty="0"/>
              <a:t>（一）选举权与被选举权</a:t>
            </a:r>
          </a:p>
          <a:p>
            <a:pPr/>
            <a:endParaRPr lang="zh-CN" dirty="0"/>
          </a:p>
          <a:p>
            <a:pPr/>
            <a:r>
              <a:rPr lang="zh-CN" dirty="0"/>
              <a:t>第三十四条从个人一侧确认选举权与被选举权。它在问，谁具备参与这类选举的资格；接下来才是选什么、怎样选。</a:t>
            </a:r>
          </a:p>
          <a:p>
            <a:pPr/>
            <a:endParaRPr lang="zh-CN" dirty="0"/>
          </a:p>
          <a:p>
            <a:pPr/>
            <a:r>
              <a:rPr lang="zh-CN" dirty="0"/>
              <a:t>教材说明：选举权，是选民依法把代表选出来的权利；被选举权，是选民依法被选为代表的权利。它有三条特征：第一，要有法定资格，也就是符合宪法和法律规定的条件；第二，行使的对象，主要是选代表、或者被选为代表；第三，怎么行使——原则、方式、程序，都由法律定，具体写在选举法里。</a:t>
            </a:r>
          </a:p>
          <a:p>
            <a:pPr/>
            <a:endParaRPr lang="zh-CN" dirty="0"/>
          </a:p>
          <a:p>
            <a:pPr/>
            <a:r>
              <a:rPr lang="zh-CN" dirty="0"/>
              <a:t>这一条里有三个要素要说准。第一，主体条件是中华人民共和国公民、年满十八周岁。第二，民族、种族、性别、职业、家庭出身、宗教信仰、教育程度、财产状况、居住期限，都不能用来排除符合条件的公民；条文用“不分”列明了这些要求。第三，依法被剥夺政治权利的人除外，这项限制须有法律根据，不能由个人或机关随意贴上一个标签决定。</a:t>
            </a:r>
          </a:p>
          <a:p>
            <a:pPr/>
            <a:endParaRPr lang="zh-CN" dirty="0"/>
          </a:p>
          <a:p>
            <a:pPr/>
            <a:r>
              <a:rPr lang="zh-CN" dirty="0"/>
              <a:t>这里要跟第四讲分清。第四讲讲的是制度关系：谁选出代表，代表受谁监督，那时候我们看的是第七十七、九十七、一百零二条。今天讲的是个人一侧：一个具体的公民自己有没有这项资格。 同一个制度，一个问“代表从哪来、对谁负责”，一个问“我作为公民有没有这一票”，两问不能互相代替。</a:t>
            </a:r>
          </a:p>
          <a:p>
            <a:pPr/>
            <a:endParaRPr lang="zh-CN" dirty="0"/>
          </a:p>
          <a:p>
            <a:pPr/>
            <a:r>
              <a:rPr lang="zh-CN" dirty="0"/>
              <a:t>也要分清公民资格与具体权利的享有条件。十七岁的中国公民尚未达到本条的年龄条件，不是已经有这一票、只是暂时不能领取；这不否认公民身份，也不取消其他权利。依法被剥夺政治权利的例外也须按相应规定判断，不能扩成全部权利都失效。这个区别与第五讲的主体认识相接。</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（二）言论、出版、集会、结社、游行、示威</a:t>
            </a:r>
          </a:p>
          <a:p>
            <a:pPr/>
            <a:endParaRPr lang="zh-CN" dirty="0"/>
          </a:p>
          <a:p>
            <a:pPr/>
            <a:r>
              <a:rPr lang="zh-CN" dirty="0"/>
              <a:t>宪法第三十五条列举了六项自由：言论、出版、集会、结社、游行、示威。</a:t>
            </a:r>
          </a:p>
          <a:p>
            <a:pPr/>
            <a:endParaRPr lang="zh-CN" dirty="0"/>
          </a:p>
          <a:p>
            <a:pPr/>
            <a:r>
              <a:rPr lang="zh-CN" dirty="0"/>
              <a:t>言论侧重表达和传播思想，既可口头，也可通过文字和其他媒介。出版借公开发行的出版物表达，不限于文字；出版管理条例列有报纸、书刊，也有音像和电子出版物。结社则侧重人们为共同目标组织起来、持续开展活动。</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社会团体登记是特定组织形式的制度，不能把同学结伴一律套进去。二〇二六年修订的社会团体登记管理条例明确，经单位批准成立、只在本单位内部活动的团体，不在该条例规定的登记范围。比如经学校批准成立、只在校内活动的读书社团，可以据此与向社会开展活动的相应组织区分。这是在辨认条例的对象，不是说其他法律和校内规则都不必遵守。</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集会、游行、示威也要实际分开。依集会游行示威法，集会突出在露天公共场所聚集发表意见；游行突出在公共道路或露天场所列队行进，表达共同愿望；示威则在露天公共场所或者公共道路上，以集会、游行、静坐等方式表达要求、抗议、支持或声援。几种形式可以相互结合，示威不只指抗议。</a:t>
            </a:r>
          </a:p>
          <a:p>
            <a:pPr/>
            <a:endParaRPr lang="zh-CN" dirty="0"/>
          </a:p>
          <a:p>
            <a:pPr/>
            <a:r>
              <a:rPr lang="zh-CN" dirty="0"/>
              <a:t>同法还区分不适用的活动与不需申请的情形，不能把“不需申请”读成整部法律都不适用。具体活动怎样办理，要按对象和相应规则判断。今天先理解六项自由的表达方式、组织形态及重要边界，不把它们合成一种笼统许可；第五讲已经说明，管理的目的也不能代替权限和条件。</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（三）宗教信仰自由</a:t>
            </a:r>
          </a:p>
          <a:p>
            <a:pPr/>
            <a:endParaRPr lang="zh-CN" dirty="0"/>
          </a:p>
          <a:p>
            <a:pPr/>
            <a:r>
              <a:rPr lang="zh-CN" dirty="0"/>
              <a:t>第三十六条确认公民的宗教信仰自由，禁止强迫一个人信教或者不信教，也禁止相应歧视。这里保护的是自愿选择：可以信，也可以不信；可以选择不同宗教或教派，也可以改变过去的选择。不能只保护某种已有信仰，却把不信或不再信的自由排除掉。</a:t>
            </a:r>
          </a:p>
          <a:p>
            <a:pPr/>
            <a:endParaRPr lang="zh-CN" dirty="0"/>
          </a:p>
          <a:p>
            <a:pPr/>
            <a:r>
              <a:rPr lang="zh-CN" dirty="0"/>
              <a:t>所以，保障信仰自由不是让每个人作同一种选择，而是让不同选择的人仍受到尊重。同时，国家保护正常的宗教活动，活动须符合相应法律条件。内心的选择与实际活动，需要分别认识。</a:t>
            </a:r>
          </a:p>
          <a:p>
            <a:pPr/>
            <a:endParaRPr lang="zh-CN" dirty="0"/>
          </a:p>
          <a:p>
            <a:pPr/>
            <a:r>
              <a:rPr lang="zh-CN" dirty="0"/>
              <a:t>教材用合法性、政教分离、宗教平等和独立办教等原则解释这些安排。信仰属于个人自愿选择，不得强迫人入教或不信教；宗教不能干预依法开展的行政、司法和公共教育。不同宗教之间要相互尊重，国家依法平等保护各宗教的正常活动；宗教事务和团体又不能受外国势力支配。几项原则各有对象，不能只记成一串名称。</a:t>
            </a:r>
          </a:p>
          <a:p>
            <a:pPr/>
            <a:endParaRPr lang="zh-CN" dirty="0"/>
          </a:p>
          <a:p>
            <a:pPr/>
            <a:r>
              <a:rPr lang="zh-CN" dirty="0"/>
              <a:t>这里的“正常”在限制活动的合法性，不是让机关随意指定一个人应当相信什么。第三十六条同时禁止利用宗教破坏社会秩序、损害公民身体健康或妨碍国家教育制度。不得强迫或歧视信仰选择，与依法规范具体活动，是需要一起落实的要求。</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上节我们看下来，可以收一句：权利名称本身不能说明什么，要问它保护的是谁、保护什么、在什么条件下行使、由谁承担相应义务。 平等权要问比较对象和理由；身体自由要问具体处理方式和依据；住宅和通信要问主体、目的和程序。</a:t>
            </a:r>
          </a:p>
          <a:p>
            <a:pPr/>
            <a:endParaRPr lang="zh-CN" dirty="0"/>
          </a:p>
          <a:p>
            <a:pPr/>
            <a:r>
              <a:rPr lang="zh-CN" dirty="0"/>
              <a:t>下节我们先把生活中的其他权利过一遍——财产、劳动、休息、社会保障、物质帮助、受教育、文化活动，还有监督和请求；然后讲另一半：公民的基本义务，以及权利和义务到底是什么关系。</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下节｜其他权利的全貌与公民基本义务</a:t>
            </a:r>
          </a:p>
          <a:p>
            <a:pPr/>
            <a:endParaRPr lang="zh-CN" dirty="0"/>
          </a:p>
          <a:p>
            <a:pPr/>
            <a:r>
              <a:rPr lang="zh-CN" dirty="0"/>
              <a:t>四、社会经济、文化教育及特定保护</a:t>
            </a:r>
          </a:p>
          <a:p>
            <a:pPr/>
            <a:endParaRPr lang="zh-CN" dirty="0"/>
          </a:p>
          <a:p>
            <a:pPr/>
            <a:r>
              <a:rPr lang="zh-CN" dirty="0"/>
              <a:t>接下来这一组，我们先认识各项权利保护什么，再看国家的制度工作怎样同个人主张相接。</a:t>
            </a:r>
          </a:p>
          <a:p>
            <a:pPr/>
            <a:endParaRPr lang="zh-CN" dirty="0"/>
          </a:p>
          <a:p>
            <a:pPr/>
            <a:r>
              <a:rPr lang="zh-CN" dirty="0"/>
              <a:t>先看财产。第十三条保护公民的合法私有财产及继承，同时对公共利益需要下的征收、征用规定法律依据与补偿要求。保护与依法限制写在同一条中，具体条件就不能省掉。</a:t>
            </a:r>
          </a:p>
          <a:p>
            <a:pPr/>
            <a:endParaRPr lang="zh-CN" dirty="0"/>
          </a:p>
          <a:p>
            <a:pPr/>
            <a:r>
              <a:rPr lang="zh-CN" dirty="0"/>
              <a:t>教材说明，财产权是公民通过劳动或者其他合法方式，取得、占有、使用、处分财产的权利；它是公民在社会生活中获得自由、实现经济利益的必要途径。教材还点了一处和上一讲的呼应：宪法上的财产权，主要是相对于国家来讲的一项基本权利，这一点和民法上的财产权不同；两者的保障内容虽然高度一致，但作为宪法权利的财产权，可以为私法上的财产权保障提供宪法基础。</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段说明和第五讲讲规范层次时用的是同一个例子，到了具体条文这里，可以看到它多了一层——限制的条件。第三款里说的是：为了公共利益的需要，可以依法征收或者征用，并且要给补偿。这里有三个词都要读准：“公共利益的需要”是目的条件，“依照法律”是依据条件，“给予补偿”是伴随要求。三个在同一条里，不是三选一。</a:t>
            </a:r>
          </a:p>
          <a:p>
            <a:pPr/>
            <a:endParaRPr lang="zh-CN" dirty="0"/>
          </a:p>
          <a:p>
            <a:pPr/>
            <a:r>
              <a:rPr lang="zh-CN" dirty="0"/>
              <a:t>教材用所有权转移与使用权改变区分征收和征用，我们再按民法典把后果讲清。征收依法转移相应财产的所有权，须依法补偿；征用通常为抢险救灾等紧急需要临时使用财产，使用后应当返还。比如依法临时征用车辆抢险，不能因为任务结束就把车留下。</a:t>
            </a:r>
          </a:p>
          <a:p>
            <a:pPr/>
            <a:endParaRPr lang="zh-CN" dirty="0"/>
          </a:p>
          <a:p>
            <a:pPr/>
            <a:r>
              <a:rPr lang="zh-CN" dirty="0"/>
              <a:t>返还又不等于免去补偿。民法典第二百四十五条既规定使用后返还，也规定征用本身，以及征用后毁损、灭失的补偿。不能只在损坏时才想到补偿，也不能只凭“征收”“征用”两个名称就认定哪种补偿必然更高；具体须看财产、实际影响和适用规定。公共利益、法定权限程序和补偿要求，需要共同核对。</a:t>
            </a:r>
          </a:p>
          <a:p>
            <a:pPr/>
            <a:endParaRPr lang="zh-CN" dirty="0"/>
          </a:p>
          <a:p>
            <a:pPr/>
            <a:r>
              <a:rPr lang="zh-CN" dirty="0"/>
              <a:t>“公共利益”为什么需要严格限定？ 因为这是一个很容易被用宽的词。一个团体的利益、一次开发的收益，如果都可以称作公共利益，那么第三款给的这三个条件就等于没有。所以这一款的用法不是“有需要就可以”，而是先证明这个需要确实是公共利益，再谈后面两步。</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接下来几组，我快速给出各自的对象。</a:t>
            </a:r>
          </a:p>
          <a:p>
            <a:pPr/>
            <a:endParaRPr lang="zh-CN" dirty="0"/>
          </a:p>
          <a:p>
            <a:pPr/>
            <a:r>
              <a:rPr lang="zh-CN" dirty="0"/>
              <a:t>劳动权。 宪法第四十二条第一款的原话是“公民有劳动的权利和义务”。教材说明，劳动权是有劳动能力的公民从事劳动、取得劳动报酬的权利，主要内容就是两条：劳动就业权，和取得报酬权。它是公民赖以生存的基础，也是行使其他权利的物质前提。有劳动能力的人，都有权平等地参加社会劳动、平等地获得就业机会；而参加了社会劳动的人，有权按照自己提供劳动的数量和质量，拿到相应的报酬。</a:t>
            </a:r>
          </a:p>
          <a:p>
            <a:pPr/>
            <a:endParaRPr lang="zh-CN" dirty="0"/>
          </a:p>
          <a:p>
            <a:pPr/>
            <a:r>
              <a:rPr lang="zh-CN" dirty="0"/>
              <a:t>请注意这一条把劳动同时写成了权利和义务，为什么可以同时是两件事，第七单元专门讲。</a:t>
            </a:r>
          </a:p>
          <a:p>
            <a:pPr/>
            <a:endParaRPr lang="zh-CN" dirty="0"/>
          </a:p>
          <a:p>
            <a:pPr/>
            <a:r>
              <a:rPr lang="zh-CN" dirty="0"/>
              <a:t>休息权。 宪法第四十三条规定，劳动者有休息的权利；第二款说，国家要发展劳动者休息和休养的设施，还要规定工时和休假制度。教材引劳动法说明了工时制度，并说国家的休假制度主要有三类：公休日、法定节假日、带薪年休假。</a:t>
            </a:r>
          </a:p>
          <a:p>
            <a:pPr/>
            <a:endParaRPr lang="zh-CN" dirty="0"/>
          </a:p>
          <a:p>
            <a:pPr/>
            <a:r>
              <a:rPr lang="zh-CN" dirty="0"/>
              <a:t>休息权看起来是“不上班”这样一件简单的事，其实它保护的对象很具体：劳动者在付出一定劳动以后消除疲劳、恢复劳动能力。 教材说它是劳动权存在和发展的基础——休息不是劳动的对立面，而是让劳动能够持续下去的条件。</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社会保障权和物质帮助权。 先说两条依据。宪法第四十四条规定，国家依照法律规定，对各类企业事业组织和国家机关的职工，实行退休制度，退休人员的生活由国家和社会来保障。第十四条第四款说，国家要建立健全社会保障制度，并让它和经济发展水平相适应。第四十五条第一款说的是另一项权利——原话是：公民在“年老、疾病或者丧失劳动能力的情况下”，有从国家和社会获得“物质帮助的权利”；国家则要为公民享受这项权利，发展社会保险、社会救济和医疗卫生这几类事业。</a:t>
            </a:r>
          </a:p>
          <a:p>
            <a:pPr/>
            <a:endParaRPr lang="zh-CN" dirty="0"/>
          </a:p>
          <a:p>
            <a:pPr/>
            <a:r>
              <a:rPr lang="zh-CN" dirty="0"/>
              <a:t>社会保障首先是一项国家责任：国家建立制度，安排必要支持，监督制度运行。落实到某种社会保险，具体义务却不全由政府一方办理。社会保险法规定，职工基本养老保险由用人单位和职工依法共同缴费，相关经办机构依法支付待遇。国家维持制度、单位履行缴费责任、经办机构办理给付，各自做的事情不同，也不能相互推掉责任。</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物质帮助权则突出第四十五条规定的特定处境：年老、疾病或者丧失劳动能力的公民，有从国家和社会获得物质帮助的权利。社会保险本身就是实现这种帮助的一种方式。因此，两项保障有交叉，不能按“政府”“社会”“用人单位”几个名称切成互不相接的两套制度。具体向谁请求什么，要进一步看适用的制度和条件；“社会”也不等于可以任意要求某个陌生人给钱。</a:t>
            </a:r>
          </a:p>
          <a:p>
            <a:pPr/>
            <a:endParaRPr lang="zh-CN" dirty="0"/>
          </a:p>
          <a:p>
            <a:pPr/>
            <a:r>
              <a:rPr lang="zh-CN" dirty="0"/>
              <a:t>教材同时说明，社会保障权客观上有它的界限：保障水平不能超过经济社会发展允许的限度。教材的意思有两头——既要防止给得太少，也要防止给得超出了国家财力物力能承受的范围。这和第五讲讲人权时那句双向的提醒是同一个道理：条件的存在，是要求把标准定在真实可能上，不是不保障的借口。</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受教育权和文化权利。 宪法第四十六条规定，公民有受教育的权利和义务。教材说明，受教育权有两层：一层是每个人按照自己的能力平等地接受教育，一层是可以要求国家提供教育机会。国家可以用必要的考试制度，让有一定能力的人接受相应的教育；招生政策上要贯彻平等原则，维护教育公平和社会正义。</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宪法第四十七条规定，公民有从事科学研究、文学艺术创作，以及参加其他文化活动的自由。教材把文化权利分成三块：科学研究的自由、文艺创作的自由，还有参加其他文化活动的自由。科研自由，包括自由地探讨科学领域的问题，有权用各种形式发表自己的研究成果；国家有义务提供必要的物质条件和具体设施。文艺创作方面，应当允许自由选择创作的内容、形式和风格，允许不同风格、不同流派存在，国家权力不能非法干预。</a:t>
            </a:r>
          </a:p>
          <a:p>
            <a:pPr/>
            <a:endParaRPr lang="zh-CN" dirty="0"/>
          </a:p>
          <a:p>
            <a:pPr/>
            <a:r>
              <a:rPr lang="zh-CN" dirty="0"/>
              <a:t>这里有一句教材的判断值得留意：尊重文艺创作的规律，和依法限制文艺创作权利，这两件事是统一的，不是互相打架。这和第五讲讲限制时那句“限制本身也受约束”是一回事的两面。</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特定群体的保护。 这里有三条宪法条文。宪法第四十八条讲妇女：妇女在政治、经济、文化、社会、家庭生活等各方面，享有和男子平等的权利。第四十九条讲婚姻和家庭：婚姻、家庭、母亲和儿童，受国家的保护；同一条还禁止破坏婚姻自由，也禁止虐待老人、妇女和儿童。第五十条讲华侨：华侨的正当权利和利益受保护，归侨、侨眷的合法权利和利益也受保护。</a:t>
            </a:r>
          </a:p>
          <a:p>
            <a:pPr/>
            <a:endParaRPr lang="zh-CN" dirty="0"/>
          </a:p>
          <a:p>
            <a:pPr/>
            <a:r>
              <a:rPr lang="zh-CN" dirty="0"/>
              <a:t>这些规定不能用“特殊群体”一个词带过。它们各自保护的对象和内容不同：妇女保护的重点是平等地位；婚姻家庭这一条保护的是一个关系和其中的成员；华侨、归侨、侨眷保护的是与国外有联系的相应主体的权利和利益。对象不同，遇到问题时要找的条文和依据也不同。</a:t>
            </a:r>
          </a:p>
          <a:p>
            <a:pPr/>
            <a:endParaRPr lang="zh-CN" dirty="0"/>
          </a:p>
          <a:p>
            <a:pPr/>
            <a:r>
              <a:rPr lang="zh-CN" dirty="0"/>
              <a:t>最后把这一组和第四讲接一下。第四讲讲国家承担发展教育、卫生等任务。今天我们看到，国家发展这些事业，与个人作为权利主体提出要求是相接的——但这个相接不等于每个人都可以请求同一个岗位、同一所学校或者同一个金额。 国家任务提供了条件；具体能请求什么、向谁请求、按什么条件，要看相应权利条文和具体法律的规定。</a:t>
            </a:r>
          </a:p>
          <a:p>
            <a:pPr/>
            <a:endParaRPr lang="zh-CN" dirty="0"/>
          </a:p>
          <a:p>
            <a:pPr/>
            <a:r>
              <a:rPr lang="zh-CN" dirty="0"/>
              <a:t>这里还要说明材料的时点：教材关于社会保障、教育均衡、人口与计划生育等内容写的是它出版时的情况，其中提到的年份和具体措施属于当时记载。采用其中任何一项作为今天的结论之前，都要另核现行规定。</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五、监督权与国家赔偿请求权</a:t>
            </a:r>
          </a:p>
          <a:p>
            <a:pPr/>
            <a:endParaRPr lang="zh-CN" dirty="0"/>
          </a:p>
          <a:p>
            <a:pPr/>
            <a:r>
              <a:rPr lang="zh-CN" dirty="0"/>
              <a:t>宪法第四十一条有三款，写了两组不同的东西，我们把它们分开。</a:t>
            </a:r>
          </a:p>
          <a:p>
            <a:pPr/>
            <a:endParaRPr lang="zh-CN" dirty="0"/>
          </a:p>
          <a:p>
            <a:pPr/>
            <a:r>
              <a:rPr lang="zh-CN" dirty="0"/>
              <a:t>第一款面对国家机关及工作人员，规定提出批评、建议的权利，也规定针对违法失职行为提出申诉、控告、检举的权利，禁止捏造或歪曲事实进行诬告陷害。几种主张各做什么，需要继续分开。</a:t>
            </a:r>
          </a:p>
          <a:p>
            <a:pPr/>
            <a:endParaRPr lang="zh-CN" dirty="0"/>
          </a:p>
          <a:p>
            <a:pPr/>
            <a:r>
              <a:rPr lang="zh-CN" dirty="0"/>
              <a:t>教材把监督权概括为依照宪法和法律监督机关及工作人员的活动，并分别说明批评建议、控告检举和申诉。申诉着重表达对原处理不服、请求依法重新审查，不同事项还有相应制度和处理机关；不能把所有主张都当成向同一个部门要求再办一次。</a:t>
            </a:r>
          </a:p>
          <a:p>
            <a:pPr/>
            <a:endParaRPr lang="zh-CN" dirty="0"/>
          </a:p>
          <a:p>
            <a:pPr/>
            <a:r>
              <a:rPr lang="zh-CN" dirty="0"/>
              <a:t>批评、建议可以针对工作缺点或改进需要；申诉、控告、检举则指向提出者认为存在的违法失职问题。是否属实还要查，不能要求公民先替机关完成全部调查才允许提出，也不能因有人提出就认定被反映者已经违法。两类主张的对象不同，都须在相应制度中认真对待。</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还有一处说明很实在：因为信息掌握得有限，公民行使批评、建议权时，说出来的内容也可能不正确。所以国家机关和工作人员对批评、建议要采取宽容的态度，不能滥用公权力，去打击报复提意见的群众。为什么内容不正确还要宽容？ 因为要求普通公民先把事实查清、定性搞准才能提意见，等于把监督的门槛抬到多数人过不去的高度。批评的价值在于它可能指出问题，不在于它每次都说得准。</a:t>
            </a:r>
          </a:p>
          <a:p>
            <a:pPr/>
            <a:endParaRPr lang="zh-CN" dirty="0"/>
          </a:p>
          <a:p>
            <a:pPr/>
            <a:r>
              <a:rPr lang="zh-CN" dirty="0"/>
              <a:t>但这一款也写了一句限制：不得捏造事实、歪曲事实去诬告陷害。这两句是一体两面：允许说得不准，不允许故意造假。 说得不准确是认识问题，捏造歪曲事实是故意把监督变成加害。</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第二款再从机关一侧接上：对申诉、控告或检举，必须查清事实、负责处理，并禁止压制和打击报复。个人可以依法提出问题，对应的处理和保护责任也要落实。</a:t>
            </a:r>
          </a:p>
          <a:p>
            <a:pPr/>
            <a:endParaRPr lang="zh-CN" dirty="0"/>
          </a:p>
          <a:p>
            <a:pPr/>
            <a:r>
              <a:rPr lang="zh-CN" dirty="0"/>
              <a:t>这一款说明监督权的行使对应着机关的义务：必须查清事实，负责处理。 教材说，监督权是公民的一项基本权利，对国家机关及其工作人员的活动有直接的约束力。教材还引了刑法关于报复陷害的规定，说明法律对此作了严格的保护性规定。</a:t>
            </a:r>
          </a:p>
          <a:p>
            <a:pPr/>
            <a:endParaRPr lang="zh-CN" dirty="0"/>
          </a:p>
          <a:p>
            <a:pPr/>
            <a:r>
              <a:rPr lang="zh-CN" dirty="0"/>
              <a:t>收到公民的申诉、控告或者检举，相关机关须查清事实、负责处理，不能仅因不愿面对问题便置之不理。这是第二款明确的对象。批评、建议则可以指出缺点或提出改进，并不都在指控违法；机关也须依法面对群众意见，不能把两类主张的处理要求全部压成同一个程序。提出者的信息可能有限，保护表达与禁止诬告仍要一起理解。</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第三款又增加一项不同的请求：国家机关及工作人员侵权使人受损时，当事人有依照法律规定取得赔偿的权利。不能仅因已经接受一份建议，就说这项赔偿请求也处理完了。</a:t>
            </a:r>
          </a:p>
          <a:p>
            <a:pPr/>
            <a:endParaRPr lang="zh-CN" dirty="0"/>
          </a:p>
          <a:p>
            <a:pPr/>
            <a:r>
              <a:rPr lang="zh-CN" dirty="0"/>
              <a:t>教材说明，国家赔偿请求权，就是公民被国家机关或者国家工作人员侵权、受到损失以后，依照法律规定取得赔偿的权利。它的效力直接来自宪法，是一项带有财产权性质的权利。教材还提到国家赔偿法后来的修改——完善了赔偿程序，扩大了赔偿范围，规定了新的归责原则，明确了精神损害赔偿；此外，最高人民法院、最高人民检察院也出台过相关解释和指导性案例。</a:t>
            </a:r>
          </a:p>
          <a:p>
            <a:pPr/>
            <a:endParaRPr lang="zh-CN" dirty="0"/>
          </a:p>
          <a:p>
            <a:pPr/>
            <a:r>
              <a:rPr lang="zh-CN" dirty="0"/>
              <a:t>第一讲已经沿一位申请人的请求解释了宪法赔偿权、普通法律及办理途径，这里不重复。监督权和赔偿请求权虽在同一条里，做的工作不同：前者监督机关及工作人员的活动，后者在法律规定的侵权受损情形下请求赔偿。日常叫作“投诉”的事情，仍须辨清实际提出哪一种主张。</a:t>
            </a:r>
          </a:p>
          <a:p>
            <a:pPr/>
            <a:endParaRPr lang="zh-CN" dirty="0"/>
          </a:p>
          <a:p>
            <a:pPr/>
            <a:r>
              <a:rPr lang="zh-CN" dirty="0"/>
              <a:t>还有两处边界要交代。第一，个人的监督权，不等于第八讲要讲的宪法监督制度——那一套讲的是规范审查和实施监督的机关与程序。第二，个人提出意见不会自动撤销一项规范或者一个行政决定。这两句话合起来的意思是：监督的入口是敞开的，处理的权力仍在有权限的机关手里。</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六、公民基本义务的含义与主要内容</a:t>
            </a:r>
          </a:p>
          <a:p>
            <a:pPr/>
            <a:endParaRPr lang="zh-CN" dirty="0"/>
          </a:p>
          <a:p>
            <a:pPr/>
            <a:r>
              <a:rPr lang="zh-CN" dirty="0"/>
              <a:t>前面我们把权利过了一遍。现在讲另一半：义务。</a:t>
            </a:r>
          </a:p>
          <a:p>
            <a:pPr/>
            <a:endParaRPr lang="zh-CN" dirty="0"/>
          </a:p>
          <a:p>
            <a:pPr/>
            <a:r>
              <a:rPr lang="zh-CN" dirty="0"/>
              <a:t>先说明义务为什么写在宪法里。教材说，按一般的法理，义务就是法律规定、公民必须履行的一种责任；宪法规定的公民义务，就是基本义务。教材接着给了两个理由：一是各种基本权利之间可能发生冲突，需要调整；二是要增进社会公共利益。因为这两条，就不得不要求公民履行一定的义务。</a:t>
            </a:r>
          </a:p>
          <a:p>
            <a:pPr/>
            <a:endParaRPr lang="zh-CN" dirty="0"/>
          </a:p>
          <a:p>
            <a:pPr/>
            <a:r>
              <a:rPr lang="zh-CN" dirty="0"/>
              <a:t>第二个理由里有一个观察值得留意。教材说，基本义务既是一种应尽的责任，也是一种资格——它表明公民在国家生活中处在什么位置。教材举的例子是服兵役：不是所有人都能服，只有具备公民资格的人才能履行这一义务。所以义务不是“外人被要求做的事”，它本身就是成员身份的一面——这一点在后文讲权利义务关系时还会回来。</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接下来是本节最实用的一段：义务的设定受什么约束。</a:t>
            </a:r>
          </a:p>
          <a:p>
            <a:pPr/>
            <a:endParaRPr lang="zh-CN" dirty="0"/>
          </a:p>
          <a:p>
            <a:pPr/>
            <a:r>
              <a:rPr lang="zh-CN" dirty="0"/>
              <a:t>教材强调，义务会让个人承担负担，国家不能随意增加这种负担。义务也可以表现为不得侵害别人，并非每次履行都必然损失财物或受到身体强制。我们还要问：这是什么事项，谁有权规定，采用哪一层规范？</a:t>
            </a:r>
          </a:p>
          <a:p>
            <a:pPr/>
            <a:endParaRPr lang="zh-CN" dirty="0"/>
          </a:p>
          <a:p>
            <a:pPr/>
            <a:r>
              <a:rPr lang="zh-CN" dirty="0"/>
              <a:t>第五讲已经区分严格法律保留与依法作具体安排。我国立法法对限制人身自由的强制措施、税收基本制度等规定特定的立法权限；国务院行政法规也可依法执行法律，或在法定管理职权、合法授权范围内作出规定。不能把它概括成行政法规一律不得规定义务，也不能反过来说任何部门只发一纸通知就有权加负担。</a:t>
            </a:r>
          </a:p>
          <a:p>
            <a:pPr/>
            <a:endParaRPr lang="zh-CN" dirty="0"/>
          </a:p>
          <a:p>
            <a:pPr/>
            <a:r>
              <a:rPr lang="zh-CN" dirty="0"/>
              <a:t>部门和地方政府不能没有规定依据，借规章或一般文件自行给公民增加义务。即使制定者有权限，内容也须符合宪法，程序也须合法。后来制定的规定原则上不能倒过来要求过去的行为，更好保护权利利益的特别规定有相应例外。这些要求共同约束谁来规定、规定什么及何时适用，不是只查文件上有没有一个正式名称。</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现在看宪法规定的五项主要义务。</a:t>
            </a:r>
          </a:p>
          <a:p>
            <a:pPr/>
            <a:endParaRPr lang="zh-CN" dirty="0"/>
          </a:p>
          <a:p>
            <a:pPr/>
            <a:r>
              <a:rPr lang="zh-CN" dirty="0"/>
              <a:t>第一，维护国家统一和全国各民族团结。 宪法第五十二条规定了这一条义务：维护国家统一，维护全国各民族团结。教材说明，国家统一是整个社会共同体存在和发展的基础，也是整个法律制度存在的基础；同时，它还是公民实现基本权利和自由的前提。教材还引了反分裂国家法中维护国家主权和领土完整的规定。关于民族团结，教材引的是宪法第四条第一款：各民族一律平等；国家保障各少数民族的合法权利和利益，维护和发展平等团结互助和谐的民族关系；对任何民族的歧视和压迫都要禁止，破坏民族团结、制造民族分裂也不行。教材接着说，按宪法和民族区域自治法的规定，凡是破坏民族团结、制造民族分裂的行为，都要受到法律追究。</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第二，遵守宪法和法律。 宪法第五十三条先规定，公民要遵守宪法和法律；它接着还列了五项：保守国家秘密，爱护公共财产，遵守劳动纪律，遵守公共秩序，尊重社会公德。教材说明，这五项，都是把遵守宪法和法律的义务落到实处，是公民在不同社会领域要遵守的具体规则。</a:t>
            </a:r>
          </a:p>
          <a:p>
            <a:pPr/>
            <a:endParaRPr lang="zh-CN" dirty="0"/>
          </a:p>
          <a:p>
            <a:pPr/>
            <a:r>
              <a:rPr lang="zh-CN" dirty="0"/>
              <a:t>请注意第五十三条不能缩成“守法”两个字。 它列了六项，头一项是遵守宪法和法律，后面五项各自落在不同的社会领域：保守国家秘密，落在国家安全领域；爱护公共财产，落在财产领域；遵守劳动纪律，落在劳动领域；遵守公共秩序，落在社会秩序领域；尊重社会公德，落在道德领域。教材还说明，遵守宪法和法律这一义务，其实包含两种情形：遵守宪法，和遵守法律；其中遵守宪法这一层是根本。遵守宪法又有三个要求：第一，宪法有最高的法律效力，是公民活动的最高准则；第二，公民有义务同一切违宪现象作斗争；第三，这里的“宪法”不只是现行宪法典，还包括宪法的基本原则和基本价值体系。</a:t>
            </a:r>
          </a:p>
          <a:p>
            <a:pPr/>
            <a:endParaRPr lang="zh-CN" dirty="0"/>
          </a:p>
          <a:p>
            <a:pPr/>
            <a:r>
              <a:rPr lang="zh-CN" dirty="0"/>
              <a:t>后面几项各有对象。公共财产包括国家和集体财产；劳动纪律是生产工作中的相应秩序和规则；公共秩序涉及共同生活、生产及教学科研等活动；社会公德是公共交往中的行为要求。某次违反要求有什么法律后果，还须有相应依据，不能只报义务的名称就宣布处罚。</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国家秘密的对象尤其需要准确。二〇二四年修订的保守国家秘密法规定，它是关系国家安全和利益、依照法定程序确定、在一定时间内只限一定范围人员知悉的事项。尚未公开，是一个事实；依法属于国家秘密，是另一个须满足条件的判断。</a:t>
            </a:r>
          </a:p>
          <a:p>
            <a:pPr/>
            <a:endParaRPr lang="zh-CN" dirty="0"/>
          </a:p>
          <a:p>
            <a:pPr/>
            <a:r>
              <a:rPr lang="zh-CN" dirty="0"/>
              <a:t>我们设一个短例：一份校内活动的排练安排尚未公开，已明确它不涉及国家安全和利益，也未依法确定为国家秘密。有人只因“还没有公开”，就要求大家按国家秘密对待。请依据刚才的定义判断，这个理由能不能成立？若不属于国家秘密，是否就表示对它没有任何其他信息保护要求？</a:t>
            </a:r>
          </a:p>
          <a:p>
            <a:pPr/>
            <a:endParaRPr lang="zh-CN" dirty="0"/>
          </a:p>
          <a:p>
            <a:pPr/>
            <a:r>
              <a:rPr lang="zh-CN" dirty="0"/>
              <a:t>【独立思考约一至两分钟：指出国家秘密定义中不满足的条件，并说明为什么不能据此直接认定可以任意传播。教师此时暂停讲述。】</a:t>
            </a:r>
          </a:p>
          <a:p>
            <a:pPr/>
            <a:endParaRPr lang="zh-CN" dirty="0"/>
          </a:p>
          <a:p>
            <a:pPr/>
            <a:r>
              <a:rPr lang="zh-CN" dirty="0"/>
              <a:t>仅凭尚未公开，不能把这份安排归为国家秘密，给定事实也不满足相应定义。但国家秘密不是所有信息保护的总名称。若某份资料涉及个人隐私，或有合法的其他管理要求，要分别找相应根据，不能由“不属于国家秘密”直接推出可以任意传播。义务的对象和依据讲清，才能知道实际应当怎样做。</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第三，维护祖国的安全、荣誉和利益。 宪法第五十四条规定：公民要维护祖国的安全、荣誉和利益，不得做危害祖国安全、荣誉和利益的事。教材把三个词分别解释了。祖国安全，指国家的领土完整、主权不受侵犯，国家政权不受威胁。维护祖国荣誉，指国家的声誉和尊严不受损害。祖国利益，通常分对内和对外两方面。教材还提到，维护祖国荣誉要提倡一些礼仪，帮助人们培养对国旗、国歌、国徽的崇敬感。</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第四，依法服兵役。 第五十五条将保卫祖国、抵抗侵略规定为公民的神圣职责，并规定依法服兵役和参加民兵组织的义务。兵役法再将这项义务具体化。二〇二一年修订的法律明确，我国实行以志愿兵役为主体的志愿兵役与义务兵役相结合的制度，不能仍照旧教材的制度名称来讲。</a:t>
            </a:r>
          </a:p>
          <a:p>
            <a:pPr/>
            <a:endParaRPr lang="zh-CN" dirty="0"/>
          </a:p>
          <a:p>
            <a:pPr/>
            <a:r>
              <a:rPr lang="zh-CN" dirty="0"/>
              <a:t>具有相应兵役义务、依法完成登记、实际被征集入伍，是不同环节。法律也分别规定不得服兵役、免服、不征集和可以缓征的条件。比如依法被剥夺政治权利者不得服兵役，严重生理缺陷或严重残疾不适合服兵役者免服；因涉嫌犯罪正在依法监察调查、侦查、起诉、审判，或者被判处徒刑、拘役、管制正在服刑的应征公民，不征集。作为维持家庭生活唯一劳动力的，可以缓征，不是只要自称符合便自动获准。</a:t>
            </a:r>
          </a:p>
          <a:p>
            <a:pPr/>
            <a:endParaRPr lang="zh-CN" dirty="0"/>
          </a:p>
          <a:p>
            <a:pPr/>
            <a:r>
              <a:rPr lang="zh-CN" dirty="0"/>
              <a:t>这些区别说明，义务不是把所有人立刻送进同一种状态。有相应登记义务的人，完成登记也不等于已经入伍。违反哪一种依法确定的义务，后果须按相应条件处理；本讲先把资格、环节和处理效果分开，不由宪法一句话直接推出全部处罚。</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第五，依法纳税。 第五十六条规定公民有依照法律纳税的义务。这里先说宪法上的公民义务；具体税法还规定企业等纳税人，不能因此把法人也叫作本条的公民。外国人是否负有某项纳税义务，同样要看相应应税事实和税法条件，不能只凭在我国拥有财产就推定所有税都要交。</a:t>
            </a:r>
          </a:p>
          <a:p>
            <a:pPr/>
            <a:endParaRPr lang="zh-CN" dirty="0"/>
          </a:p>
          <a:p>
            <a:pPr/>
            <a:r>
              <a:rPr lang="zh-CN" dirty="0"/>
              <a:t>纳税为公共财政提供资源，“依法”又同时约束征税机关。法律确定谁须缴税、在什么事实下、按什么标准缴，个人须履行成立的义务，机关也不能任意加收。立法法对税种设立、税率确定、税收征管基本制度规定立法权限；这是让取财的范围有规范边界。税收依法减少个人部分财产，与保护其免受任意取财，可以同时成立。</a:t>
            </a:r>
          </a:p>
          <a:p>
            <a:pPr/>
            <a:endParaRPr lang="zh-CN" dirty="0"/>
          </a:p>
          <a:p>
            <a:pPr/>
            <a:r>
              <a:rPr lang="zh-CN" dirty="0"/>
              <a:t>因此，不能只说税收涉及财产就自动证明它保护财产，真正的联系在于课税权也受约束。具体税种的负担和计算还须按相应规则，不能用一套“所得多就多收”的概括处理所有税。公共财政需要资源，确定负担又须科学合理、公平并有根据，本课不展开金额计算。</a:t>
            </a:r>
          </a:p>
          <a:p>
            <a:pPr/>
            <a:endParaRPr lang="zh-CN" dirty="0"/>
          </a:p>
          <a:p>
            <a:pPr/>
            <a:r>
              <a:rPr lang="zh-CN" dirty="0"/>
              <a:t>讲到这里可以收一句：“基本”不表示每个人在任何时刻承担相同给付。宪法确定根本责任，具体规范再依事项、权限和条件安排履行；有关机关也须守这些根据，不能只凭义务名称要求人付出一切。</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七、权利义务的一致性与非简单交换关系</a:t>
            </a:r>
          </a:p>
          <a:p>
            <a:pPr/>
            <a:endParaRPr lang="zh-CN" dirty="0"/>
          </a:p>
          <a:p>
            <a:pPr/>
            <a:r>
              <a:rPr lang="zh-CN" dirty="0"/>
              <a:t>这是本讲的收束，也是最能看出法律思维方式的一段。</a:t>
            </a:r>
          </a:p>
          <a:p>
            <a:pPr/>
            <a:endParaRPr lang="zh-CN" dirty="0"/>
          </a:p>
          <a:p>
            <a:pPr/>
            <a:r>
              <a:rPr lang="zh-CN" dirty="0"/>
              <a:t>先看两个同时是权利又是义务的项目。第四十二条规定劳动的权利和义务，第四十六条规定受教育的权利和义务。教材从个人生存发展与社会共同需要解释这两面，但有社会价值，并不直接说明每个人此刻必须做什么；具体要求仍须由法律确定。</a:t>
            </a:r>
          </a:p>
          <a:p>
            <a:pPr/>
            <a:endParaRPr lang="zh-CN" dirty="0"/>
          </a:p>
          <a:p>
            <a:pPr/>
            <a:r>
              <a:rPr lang="zh-CN" dirty="0"/>
              <a:t>劳动是有劳动能力公民的光荣职责，就业促进法同时保障平等就业与自主择业。不能仅由宪法的义务表达，就让某个机关任意指定所有人到同一岗位工作。进入具体劳动关系以后，合同、劳动纪律和法律规定的责任还要分别看。</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受教育义务也不是任何年龄的人都必须持续上同一种学校。义务教育法规定适龄儿童、少年接受并完成义务教育，监护人须依法保证入学，政府和学校也要提供保障。六周岁一般应入学，条件不具备的地区可以推迟到七周岁，身体状况需要延缓或休学也有法定安排。这些条件把谁履行、在何阶段履行、其他主体做什么接起来，不能由教育有益就推出无限求学义务。</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宪法第四十九条的后两款。第二款规定，夫妻双方都有实行计划生育的义务。第三款规定，父母对未成年子女有抚养教育的义务；成年子女对父母有赡养扶助的义务。教材说明，这两款讲的义务都跟婚姻、家庭生活有关。教材还说，民法典规定了父母保护和教育未成年子女的权利和义务；未成年人保护法把父母抚养、教育子女的义务规定得更细；老年人权益保障法把成年子女的赡养义务规定得更具体。</a:t>
            </a:r>
          </a:p>
          <a:p>
            <a:pPr/>
            <a:endParaRPr lang="zh-CN" dirty="0"/>
          </a:p>
          <a:p>
            <a:pPr/>
            <a:r>
              <a:rPr lang="zh-CN" dirty="0"/>
              <a:t>这里要交代一件事：基本义务不只集中在第五十二条到第五十六条。 劳动的义务、受教育的义务，还有婚姻家庭中的计划生育义务、抚养教育子女的义务、赡养扶助父母的义务，都是宪法规定的公民义务。教材把它们列在“其他义务”里。所以第五十二条到第五十六条是义务的主要集中线索，不是穷尽的清单。第四十九条的全部内容我们要知道它的去向，不能只取父母子女这一例，就说已经把婚姻家庭里的义务讲完了。</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讲最关键的一层。教材先从马克思主义基本原理讲起：权利和义务紧密相连、相辅相成，没有无义务的权利，也找不到无权利的义务；从抽象角度和内在逻辑上说，权利与义务统一在整个法律制度之中。但教材马上补了一句要紧的话：在具体的法律关系里，不能把这种“相统一”作简单化、庸俗化的理解。</a:t>
            </a:r>
          </a:p>
          <a:p>
            <a:pPr/>
            <a:endParaRPr lang="zh-CN" dirty="0"/>
          </a:p>
          <a:p>
            <a:pPr/>
            <a:r>
              <a:rPr lang="zh-CN" dirty="0"/>
              <a:t>教材接着说明，享有权利，不意味着必须同时、一对一地履行某项义务；履行义务，也不等于当时就取得一项对应权利。然后它从三个维度说明。时间上：现在享有权利，可能要等到将来才履行义务——小时候靠父母养，成年以后才轮到自己赡养父母。空间上：在一个方面享受了权利，可能要在另一方面履行相应的义务。主体上：一方履行义务，另一方享有权利。</a:t>
            </a:r>
          </a:p>
          <a:p>
            <a:pPr/>
            <a:endParaRPr lang="zh-CN" dirty="0"/>
          </a:p>
          <a:p>
            <a:pPr/>
            <a:r>
              <a:rPr lang="zh-CN" dirty="0"/>
              <a:t>这三个维度共同说明：“权利义务相统一”说的是整个法律制度的构造，不是一个人身上某一时刻的账目。 时间、领域、主体都可以错开，所以不能用“我履行了什么就该得到什么”的方式来理解它。</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这就回到一个常见的说法上。有人会说：既然宪法保护我的权利，那我就不存在什么义务；或者反过来：我先把义务履行了，才有资格谈权利。</a:t>
            </a:r>
          </a:p>
          <a:p>
            <a:pPr/>
            <a:endParaRPr lang="zh-CN" dirty="0"/>
          </a:p>
          <a:p>
            <a:pPr/>
            <a:r>
              <a:rPr lang="zh-CN" dirty="0"/>
              <a:t>两种说法都不成立，方式还不一样。前一种，宪法第五十五条、第五十六条明确规定了义务，权利义务并存写在第三十三条第四款里。后一种更值得说：保护不是某项义务履行完之后发放的奖励。 一个人没履行某项义务，不等于他全部权利自动消失；法律可以规定后果，但后果要有依据、有条件，不能靠“没尽义务就别谈权利”这句话代替。</a:t>
            </a:r>
          </a:p>
          <a:p>
            <a:pPr/>
            <a:endParaRPr lang="zh-CN" dirty="0"/>
          </a:p>
          <a:p>
            <a:pPr/>
            <a:r>
              <a:rPr lang="zh-CN" dirty="0"/>
              <a:t>教材从公民与国家的整体关系说明权利义务相联系，我们还应看到具体家庭关系：父母对子女、成年子女对父母，也各有法律规定的责任。国家确认、保护并通过制度支持这些关系，不是把每项义务的相对方都改叫国家。</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末页由家庭保护和物质帮助规定，说明履行困难不能被忽视。父母负有抚养义务，家庭确实难以维持基本生活时，国家还应按救助制度提供帮助。二〇二六年七月施行的社会救助法，按对象类型和困难程度安排救助，最低生活保障等有收入、财产等条件。帮助保障人的基本生活，可以改善家庭履行义务的条件，却不是国家无条件代替全部家庭责任。</a:t>
            </a:r>
          </a:p>
          <a:p>
            <a:pPr/>
            <a:endParaRPr lang="zh-CN" dirty="0"/>
          </a:p>
          <a:p>
            <a:pPr/>
            <a:r>
              <a:rPr lang="zh-CN" dirty="0"/>
              <a:t>具体帮助需要制度，也需要依法核实处境。不能因为义务尚难履行就把人留在困难里，也不能仅说一句“我有困难”，就认为所有责任已经转给别人。家庭责任与国家保护各有工作，又能够相互支持。</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讲我们走了两半。前半是权利：平等要问比较对象和理由，身体自由要问作了什么处理和依据，住宅和通信要问主体、目的和程序，其他权利各有各的保护对象和条件。后半是义务：设定和履行都有法定根据，主要集中在第五十二条到第五十六条，也散在劳动、受教育、婚姻家庭等处；权利义务相统一是整个制度的结构，不是一对一当场结清的交换。</a:t>
            </a:r>
          </a:p>
          <a:p>
            <a:pPr/>
            <a:endParaRPr lang="zh-CN" dirty="0"/>
          </a:p>
          <a:p>
            <a:pPr/>
            <a:r>
              <a:rPr lang="zh-CN" dirty="0"/>
              <a:t>最后留一句：权利让人自由发展，义务让人共同生活；两者不是互相扣减的关系，而是同一个宪法安排在一个人身上同时生效的两面。</a:t>
            </a:r>
          </a:p>
          <a:p>
            <a:pPr/>
            <a:endParaRPr lang="zh-CN" dirty="0"/>
          </a:p>
          <a:p>
            <a:pPr/>
            <a:r>
              <a:rPr lang="zh-CN" dirty="0"/>
              <a:t>下一讲，我们来看这些国家职责和权利保障，由哪些有法定职权的机关承担、按什么关系承担。</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6-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6-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9pPr>
    </p:bodyStyle>
    <p:otherStyle>
      <a:defPPr>
        <a:defRPr lang="zh-CN"/>
      </a:defPPr>
      <a:lvl1pPr marL="0" algn="l" defTabSz="457200" rtl="0" eaLnBrk="1" latinLnBrk="0" hangingPunct="1">
        <a:defRPr sz="1950" kern="1200" lang="zh-CN">
          <a:solidFill>
            <a:schemeClr val="tx1"/>
          </a:solidFill>
          <a:latin typeface="+mn-lt"/>
          <a:ea typeface="+mn-ea"/>
          <a:cs typeface="+mn-cs"/>
        </a:defRPr>
      </a:lvl1pPr>
      <a:lvl2pPr marL="457200" algn="l" defTabSz="457200" rtl="0" eaLnBrk="1" latinLnBrk="0" hangingPunct="1">
        <a:defRPr sz="1850" kern="1200" lang="zh-CN">
          <a:solidFill>
            <a:schemeClr val="tx1"/>
          </a:solidFill>
          <a:latin typeface="+mn-lt"/>
          <a:ea typeface="+mn-ea"/>
          <a:cs typeface="+mn-cs"/>
        </a:defRPr>
      </a:lvl2pPr>
      <a:lvl3pPr marL="914400" algn="l" defTabSz="457200" rtl="0" eaLnBrk="1" latinLnBrk="0" hangingPunct="1">
        <a:defRPr sz="1700" kern="1200" lang="zh-CN">
          <a:solidFill>
            <a:schemeClr val="tx1"/>
          </a:solidFill>
          <a:latin typeface="+mn-lt"/>
          <a:ea typeface="+mn-ea"/>
          <a:cs typeface="+mn-cs"/>
        </a:defRPr>
      </a:lvl3pPr>
      <a:lvl4pPr marL="1371600" algn="l" defTabSz="457200" rtl="0" eaLnBrk="1" latinLnBrk="0" hangingPunct="1">
        <a:defRPr sz="1600" kern="1200" lang="zh-CN">
          <a:solidFill>
            <a:schemeClr val="tx1"/>
          </a:solidFill>
          <a:latin typeface="+mn-lt"/>
          <a:ea typeface="+mn-ea"/>
          <a:cs typeface="+mn-cs"/>
        </a:defRPr>
      </a:lvl4pPr>
      <a:lvl5pPr marL="1828800" algn="l" defTabSz="457200" rtl="0" eaLnBrk="1" latinLnBrk="0" hangingPunct="1">
        <a:defRPr sz="1450" kern="1200" lang="zh-CN">
          <a:solidFill>
            <a:schemeClr val="tx1"/>
          </a:solidFill>
          <a:latin typeface="+mn-lt"/>
          <a:ea typeface="+mn-ea"/>
          <a:cs typeface="+mn-cs"/>
        </a:defRPr>
      </a:lvl5pPr>
      <a:lvl6pPr marL="2286000" algn="l" defTabSz="457200" rtl="0" eaLnBrk="1" latinLnBrk="0" hangingPunct="1">
        <a:defRPr sz="1350" kern="1200" lang="zh-CN">
          <a:solidFill>
            <a:schemeClr val="tx1"/>
          </a:solidFill>
          <a:latin typeface="+mn-lt"/>
          <a:ea typeface="+mn-ea"/>
          <a:cs typeface="+mn-cs"/>
        </a:defRPr>
      </a:lvl6pPr>
      <a:lvl7pPr marL="2743200" algn="l" defTabSz="457200" rtl="0" eaLnBrk="1" latinLnBrk="0" hangingPunct="1">
        <a:defRPr sz="1200" kern="1200" lang="zh-CN">
          <a:solidFill>
            <a:schemeClr val="tx1"/>
          </a:solidFill>
          <a:latin typeface="+mn-lt"/>
          <a:ea typeface="+mn-ea"/>
          <a:cs typeface="+mn-cs"/>
        </a:defRPr>
      </a:lvl7pPr>
      <a:lvl8pPr marL="3200400" algn="l" defTabSz="457200" rtl="0" eaLnBrk="1" latinLnBrk="0" hangingPunct="1">
        <a:defRPr sz="1100" kern="1200" lang="zh-CN">
          <a:solidFill>
            <a:schemeClr val="tx1"/>
          </a:solidFill>
          <a:latin typeface="+mn-lt"/>
          <a:ea typeface="+mn-ea"/>
          <a:cs typeface="+mn-cs"/>
        </a:defRPr>
      </a:lvl8pPr>
      <a:lvl9pPr marL="3657600" algn="l" defTabSz="457200" rtl="0" eaLnBrk="1" latinLnBrk="0" hangingPunct="1">
        <a:defRPr sz="10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3f31482fc3230c0.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3911494dac9118a.jpg"/>
  <Relationship Id="rId3"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3911494dac9118a.jpg"/>
  <Relationship Id="rId3"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1-title"/>
          <p:cNvGrpSpPr/>
          <p:nvPr/>
        </p:nvGrpSpPr>
        <p:grpSpPr>
          <a:xfrm>
            <a:off x="444246" y="381000"/>
            <a:ext cx="4015740" cy="854329"/>
            <a:chOff x="444246" y="381000"/>
            <a:chExt cx="4015740" cy="854329"/>
          </a:xfrm>
        </p:grpSpPr>
        <p:sp>
          <p:nvSpPr>
            <p:cNvPr id="2" name="TextBox 2"/>
            <p:cNvSpPr txBox="1"/>
            <p:nvPr/>
          </p:nvSpPr>
          <p:spPr>
            <a:xfrm>
              <a:off x="451104" y="381000"/>
              <a:ext cx="116723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a:t>
              </a:r>
            </a:p>
          </p:txBody>
        </p:sp>
        <p:sp>
          <p:nvSpPr>
            <p:cNvPr id="3" name="TextBox 3"/>
            <p:cNvSpPr txBox="1"/>
            <p:nvPr/>
          </p:nvSpPr>
          <p:spPr>
            <a:xfrm>
              <a:off x="444246" y="736600"/>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具体基本权利与基本义务</a:t>
              </a:r>
            </a:p>
          </p:txBody>
        </p:sp>
      </p:grpSp>
      <p:grpSp>
        <p:nvGrpSpPr>
          <p:cNvPr id="9" name="p01-hook"/>
          <p:cNvGrpSpPr/>
          <p:nvPr/>
        </p:nvGrpSpPr>
        <p:grpSpPr>
          <a:xfrm>
            <a:off x="438150" y="1946275"/>
            <a:ext cx="5414772" cy="2965831"/>
            <a:chOff x="438150" y="1946275"/>
            <a:chExt cx="5414772" cy="2965831"/>
          </a:xfrm>
        </p:grpSpPr>
        <p:sp>
          <p:nvSpPr>
            <p:cNvPr id="5" name="TextBox 5"/>
            <p:cNvSpPr txBox="1"/>
            <p:nvPr/>
          </p:nvSpPr>
          <p:spPr>
            <a:xfrm>
              <a:off x="438150" y="1946275"/>
              <a:ext cx="541477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权利保护什么？</a:t>
              </a:r>
            </a:p>
          </p:txBody>
        </p:sp>
        <p:sp>
          <p:nvSpPr>
            <p:cNvPr id="6" name="TextBox 6"/>
            <p:cNvSpPr txBox="1"/>
            <p:nvPr/>
          </p:nvSpPr>
          <p:spPr>
            <a:xfrm>
              <a:off x="438150" y="2917825"/>
              <a:ext cx="541477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义务要求什么？</a:t>
              </a:r>
            </a:p>
          </p:txBody>
        </p:sp>
        <p:sp>
          <p:nvSpPr>
            <p:cNvPr id="7" name="Line 7"/>
            <p:cNvSpPr/>
            <p:nvPr/>
          </p:nvSpPr>
          <p:spPr>
            <a:xfrm>
              <a:off x="457200" y="4152900"/>
              <a:ext cx="914400" cy="9525"/>
            </a:xfrm>
            <a:custGeom>
              <a:avLst/>
              <a:gdLst/>
              <a:ahLst/>
              <a:cxnLst/>
              <a:rect l="l" t="t" r="r" b="b"/>
              <a:pathLst>
                <a:path w="914400" h="9525">
                  <a:moveTo>
                    <a:pt x="0" y="0"/>
                  </a:moveTo>
                  <a:lnTo>
                    <a:pt x="914400" y="0"/>
                  </a:lnTo>
                </a:path>
              </a:pathLst>
            </a:custGeom>
            <a:noFill/>
            <a:ln w="28575">
              <a:solidFill>
                <a:schemeClr val="accent2"/>
              </a:solidFill>
            </a:ln>
          </p:spPr>
        </p:sp>
        <p:sp>
          <p:nvSpPr>
            <p:cNvPr id="8" name="TextBox 8"/>
            <p:cNvSpPr txBox="1"/>
            <p:nvPr/>
          </p:nvSpPr>
          <p:spPr>
            <a:xfrm>
              <a:off x="447294" y="4530725"/>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从具体生活，读懂一份宪法安排。</a:t>
              </a:r>
            </a:p>
          </p:txBody>
        </p:sp>
      </p:grpSp>
      <p:grpSp>
        <p:nvGrpSpPr>
          <p:cNvPr id="15" name="p01-person"/>
          <p:cNvGrpSpPr/>
          <p:nvPr/>
        </p:nvGrpSpPr>
        <p:grpSpPr>
          <a:xfrm>
            <a:off x="8505444" y="2066925"/>
            <a:ext cx="2644902" cy="3369056"/>
            <a:chOff x="8505444" y="2066925"/>
            <a:chExt cx="2644902" cy="3369056"/>
          </a:xfrm>
        </p:grpSpPr>
        <p:sp>
          <p:nvSpPr>
            <p:cNvPr id="10" name="Ellipse 10"/>
            <p:cNvSpPr/>
            <p:nvPr/>
          </p:nvSpPr>
          <p:spPr>
            <a:xfrm>
              <a:off x="8820150" y="2066925"/>
              <a:ext cx="2133600" cy="2133600"/>
            </a:xfrm>
            <a:prstGeom prst="ellipse">
              <a:avLst/>
            </a:prstGeom>
            <a:solidFill>
              <a:schemeClr val="lt2"/>
            </a:solidFill>
            <a:ln>
              <a:noFill/>
            </a:ln>
          </p:spPr>
        </p:sp>
        <p:sp>
          <p:nvSpPr>
            <p:cNvPr id="11" name="Ellipse 11"/>
            <p:cNvSpPr/>
            <p:nvPr/>
          </p:nvSpPr>
          <p:spPr>
            <a:xfrm>
              <a:off x="9629775" y="2571750"/>
              <a:ext cx="514350" cy="514350"/>
            </a:xfrm>
            <a:prstGeom prst="ellipse">
              <a:avLst/>
            </a:prstGeom>
            <a:noFill/>
            <a:ln w="57150">
              <a:solidFill>
                <a:schemeClr val="accent1"/>
              </a:solidFill>
            </a:ln>
          </p:spPr>
        </p:sp>
        <p:sp>
          <p:nvSpPr>
            <p:cNvPr id="12" name="Freeform 12"/>
            <p:cNvSpPr/>
            <p:nvPr/>
          </p:nvSpPr>
          <p:spPr>
            <a:xfrm>
              <a:off x="9372600" y="3257550"/>
              <a:ext cx="1028700" cy="495300"/>
            </a:xfrm>
            <a:custGeom>
              <a:avLst/>
              <a:gdLst/>
              <a:ahLst/>
              <a:cxnLst/>
              <a:rect l="l" t="t" r="r" b="b"/>
              <a:pathLst>
                <a:path w="1028700" h="495300">
                  <a:moveTo>
                    <a:pt x="0" y="495300"/>
                  </a:moveTo>
                  <a:lnTo>
                    <a:pt x="0" y="285750"/>
                  </a:lnTo>
                  <a:cubicBezTo>
                    <a:pt x="0" y="95250"/>
                    <a:pt x="98425" y="0"/>
                    <a:pt x="295275" y="0"/>
                  </a:cubicBezTo>
                  <a:lnTo>
                    <a:pt x="733425" y="0"/>
                  </a:lnTo>
                  <a:cubicBezTo>
                    <a:pt x="930275" y="0"/>
                    <a:pt x="1028700" y="95250"/>
                    <a:pt x="1028700" y="285750"/>
                  </a:cubicBezTo>
                  <a:lnTo>
                    <a:pt x="1028700" y="495300"/>
                  </a:lnTo>
                </a:path>
              </a:pathLst>
            </a:custGeom>
            <a:noFill/>
            <a:ln w="57150">
              <a:solidFill>
                <a:schemeClr val="accent1"/>
              </a:solidFill>
            </a:ln>
          </p:spPr>
        </p:sp>
        <p:sp>
          <p:nvSpPr>
            <p:cNvPr id="13" name="TextBox 13"/>
            <p:cNvSpPr txBox="1"/>
            <p:nvPr/>
          </p:nvSpPr>
          <p:spPr>
            <a:xfrm>
              <a:off x="8921496" y="44894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同一个人</a:t>
              </a:r>
            </a:p>
          </p:txBody>
        </p:sp>
        <p:sp>
          <p:nvSpPr>
            <p:cNvPr id="14" name="TextBox 14"/>
            <p:cNvSpPr txBox="1"/>
            <p:nvPr/>
          </p:nvSpPr>
          <p:spPr>
            <a:xfrm>
              <a:off x="8505444" y="50546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自由发展，也共同生活</a:t>
              </a:r>
            </a:p>
          </p:txBody>
        </p:sp>
      </p:grpSp>
      <p:grpSp>
        <p:nvGrpSpPr>
          <p:cNvPr id="17" name="p01-entry"/>
          <p:cNvGrpSpPr/>
          <p:nvPr/>
        </p:nvGrpSpPr>
        <p:grpSpPr>
          <a:xfrm>
            <a:off x="447294" y="5768975"/>
            <a:ext cx="5821261" cy="381381"/>
            <a:chOff x="447294" y="5768975"/>
            <a:chExt cx="5821261" cy="381381"/>
          </a:xfrm>
        </p:grpSpPr>
        <p:sp>
          <p:nvSpPr>
            <p:cNvPr id="16" name="TextBox 16"/>
            <p:cNvSpPr txBox="1"/>
            <p:nvPr/>
          </p:nvSpPr>
          <p:spPr>
            <a:xfrm>
              <a:off x="447294" y="5768975"/>
              <a:ext cx="582126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保护的对象　·　主张的条件　·　依法确定的责任</a:t>
              </a:r>
            </a:p>
          </p:txBody>
        </p:sp>
      </p:grpSp>
      <p:grpSp>
        <p:nvGrpSpPr>
          <p:cNvPr id="20" name="p01-footer"/>
          <p:cNvGrpSpPr/>
          <p:nvPr/>
        </p:nvGrpSpPr>
        <p:grpSpPr>
          <a:xfrm>
            <a:off x="451866" y="6502400"/>
            <a:ext cx="11247444" cy="205359"/>
            <a:chOff x="451866" y="6502400"/>
            <a:chExt cx="11247444" cy="205359"/>
          </a:xfrm>
        </p:grpSpPr>
        <p:sp>
          <p:nvSpPr>
            <p:cNvPr id="18" name="TextBox 18"/>
            <p:cNvSpPr txBox="1"/>
            <p:nvPr/>
          </p:nvSpPr>
          <p:spPr>
            <a:xfrm>
              <a:off x="451866" y="6502400"/>
              <a:ext cx="354444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本讲由一般原理走向具体权利与义务；人物为教学示意。</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01 / 54</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440436" y="381000"/>
            <a:ext cx="6605016" cy="918464"/>
            <a:chOff x="440436" y="381000"/>
            <a:chExt cx="6605016" cy="918464"/>
          </a:xfrm>
        </p:grpSpPr>
        <p:sp>
          <p:nvSpPr>
            <p:cNvPr id="2" name="TextBox 2"/>
            <p:cNvSpPr txBox="1"/>
            <p:nvPr/>
          </p:nvSpPr>
          <p:spPr>
            <a:xfrm>
              <a:off x="451104" y="38100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平等权的四层读法</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法律面前平等，包含哪些内容？</a:t>
              </a:r>
            </a:p>
          </p:txBody>
        </p:sp>
      </p:grpSp>
      <p:grpSp>
        <p:nvGrpSpPr>
          <p:cNvPr id="10" name="p02-text"/>
          <p:cNvGrpSpPr/>
          <p:nvPr/>
        </p:nvGrpSpPr>
        <p:grpSpPr>
          <a:xfrm>
            <a:off x="476250" y="2076450"/>
            <a:ext cx="3563112" cy="2718308"/>
            <a:chOff x="476250" y="2076450"/>
            <a:chExt cx="3563112" cy="2718308"/>
          </a:xfrm>
        </p:grpSpPr>
        <p:sp>
          <p:nvSpPr>
            <p:cNvPr id="5" name="Line 5"/>
            <p:cNvSpPr/>
            <p:nvPr/>
          </p:nvSpPr>
          <p:spPr>
            <a:xfrm>
              <a:off x="476250" y="2076450"/>
              <a:ext cx="9525" cy="2667000"/>
            </a:xfrm>
            <a:custGeom>
              <a:avLst/>
              <a:gdLst/>
              <a:ahLst/>
              <a:cxnLst/>
              <a:rect l="l" t="t" r="r" b="b"/>
              <a:pathLst>
                <a:path w="9525" h="2667000">
                  <a:moveTo>
                    <a:pt x="0" y="0"/>
                  </a:moveTo>
                  <a:lnTo>
                    <a:pt x="0" y="2667000"/>
                  </a:lnTo>
                </a:path>
              </a:pathLst>
            </a:custGeom>
            <a:noFill/>
            <a:ln w="28575">
              <a:solidFill>
                <a:schemeClr val="accent2"/>
              </a:solidFill>
            </a:ln>
          </p:spPr>
        </p:sp>
        <p:sp>
          <p:nvSpPr>
            <p:cNvPr id="6" name="TextBox 6"/>
            <p:cNvSpPr txBox="1"/>
            <p:nvPr/>
          </p:nvSpPr>
          <p:spPr>
            <a:xfrm>
              <a:off x="749046" y="241300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中华人民共和国公民</a:t>
              </a:r>
            </a:p>
          </p:txBody>
        </p:sp>
        <p:sp>
          <p:nvSpPr>
            <p:cNvPr id="7" name="TextBox 7"/>
            <p:cNvSpPr txBox="1"/>
            <p:nvPr/>
          </p:nvSpPr>
          <p:spPr>
            <a:xfrm>
              <a:off x="749046" y="3108325"/>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在法律面前</a:t>
              </a:r>
            </a:p>
          </p:txBody>
        </p:sp>
        <p:sp>
          <p:nvSpPr>
            <p:cNvPr id="8" name="TextBox 8"/>
            <p:cNvSpPr txBox="1"/>
            <p:nvPr/>
          </p:nvSpPr>
          <p:spPr>
            <a:xfrm>
              <a:off x="745236" y="3702050"/>
              <a:ext cx="238048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一律平等。</a:t>
              </a:r>
            </a:p>
          </p:txBody>
        </p:sp>
        <p:sp>
          <p:nvSpPr>
            <p:cNvPr id="9" name="TextBox 9"/>
            <p:cNvSpPr txBox="1"/>
            <p:nvPr/>
          </p:nvSpPr>
          <p:spPr>
            <a:xfrm>
              <a:off x="755142" y="4530725"/>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宪法第三十三条第二款</a:t>
              </a:r>
            </a:p>
          </p:txBody>
        </p:sp>
      </p:grpSp>
      <p:grpSp>
        <p:nvGrpSpPr>
          <p:cNvPr id="19" name="p02-reveal-1"/>
          <p:cNvGrpSpPr/>
          <p:nvPr/>
        </p:nvGrpSpPr>
        <p:grpSpPr>
          <a:xfrm>
            <a:off x="6369558" y="1879600"/>
            <a:ext cx="3697224" cy="3746881"/>
            <a:chOff x="6369558" y="1879600"/>
            <a:chExt cx="3697224" cy="3746881"/>
          </a:xfrm>
        </p:grpSpPr>
        <p:sp>
          <p:nvSpPr>
            <p:cNvPr id="11" name="TextBox 11"/>
            <p:cNvSpPr txBox="1"/>
            <p:nvPr/>
          </p:nvSpPr>
          <p:spPr>
            <a:xfrm>
              <a:off x="6369558" y="187960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权利与义务</a:t>
              </a:r>
            </a:p>
          </p:txBody>
        </p:sp>
        <p:sp>
          <p:nvSpPr>
            <p:cNvPr id="12" name="TextBox 12"/>
            <p:cNvSpPr txBox="1"/>
            <p:nvPr/>
          </p:nvSpPr>
          <p:spPr>
            <a:xfrm>
              <a:off x="6371844" y="23304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平等享有、平等履行</a:t>
              </a:r>
            </a:p>
          </p:txBody>
        </p:sp>
        <p:sp>
          <p:nvSpPr>
            <p:cNvPr id="13" name="TextBox 13"/>
            <p:cNvSpPr txBox="1"/>
            <p:nvPr/>
          </p:nvSpPr>
          <p:spPr>
            <a:xfrm>
              <a:off x="6369558" y="28511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没有超越法律的特权</a:t>
              </a:r>
            </a:p>
          </p:txBody>
        </p:sp>
        <p:sp>
          <p:nvSpPr>
            <p:cNvPr id="14" name="TextBox 14"/>
            <p:cNvSpPr txBox="1"/>
            <p:nvPr/>
          </p:nvSpPr>
          <p:spPr>
            <a:xfrm>
              <a:off x="6371844" y="33020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不能凭身份地位免于守法</a:t>
              </a:r>
            </a:p>
          </p:txBody>
        </p:sp>
        <p:sp>
          <p:nvSpPr>
            <p:cNvPr id="15" name="TextBox 15"/>
            <p:cNvSpPr txBox="1"/>
            <p:nvPr/>
          </p:nvSpPr>
          <p:spPr>
            <a:xfrm>
              <a:off x="6369558" y="3822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法律适用</a:t>
              </a:r>
            </a:p>
          </p:txBody>
        </p:sp>
        <p:sp>
          <p:nvSpPr>
            <p:cNvPr id="16" name="TextBox 16"/>
            <p:cNvSpPr txBox="1"/>
            <p:nvPr/>
          </p:nvSpPr>
          <p:spPr>
            <a:xfrm>
              <a:off x="6371844" y="42735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司法中同样一律平等</a:t>
              </a:r>
            </a:p>
          </p:txBody>
        </p:sp>
        <p:sp>
          <p:nvSpPr>
            <p:cNvPr id="17" name="TextBox 17"/>
            <p:cNvSpPr txBox="1"/>
            <p:nvPr/>
          </p:nvSpPr>
          <p:spPr>
            <a:xfrm>
              <a:off x="6369558" y="47942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权利能力</a:t>
              </a:r>
            </a:p>
          </p:txBody>
        </p:sp>
        <p:sp>
          <p:nvSpPr>
            <p:cNvPr id="18" name="TextBox 18"/>
            <p:cNvSpPr txBox="1"/>
            <p:nvPr/>
          </p:nvSpPr>
          <p:spPr>
            <a:xfrm>
              <a:off x="6371844" y="52451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条件相同，有资格取得相同权利</a:t>
              </a:r>
            </a:p>
          </p:txBody>
        </p:sp>
      </p:grpSp>
      <p:grpSp>
        <p:nvGrpSpPr>
          <p:cNvPr id="21" name="p02-limit"/>
          <p:cNvGrpSpPr/>
          <p:nvPr/>
        </p:nvGrpSpPr>
        <p:grpSpPr>
          <a:xfrm>
            <a:off x="447294" y="5883275"/>
            <a:ext cx="8157591" cy="381381"/>
            <a:chOff x="447294" y="5883275"/>
            <a:chExt cx="8157591" cy="381381"/>
          </a:xfrm>
        </p:grpSpPr>
        <p:sp>
          <p:nvSpPr>
            <p:cNvPr id="20" name="TextBox 20"/>
            <p:cNvSpPr txBox="1"/>
            <p:nvPr/>
          </p:nvSpPr>
          <p:spPr>
            <a:xfrm>
              <a:off x="447294" y="5883275"/>
              <a:ext cx="815759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平等不等于所有实际结果相同；权利能力也不等于行为能力绝对相等。</a:t>
              </a:r>
            </a:p>
          </p:txBody>
        </p:sp>
      </p:grpSp>
      <p:grpSp>
        <p:nvGrpSpPr>
          <p:cNvPr id="24" name="p02-footer"/>
          <p:cNvGrpSpPr/>
          <p:nvPr/>
        </p:nvGrpSpPr>
        <p:grpSpPr>
          <a:xfrm>
            <a:off x="451866" y="6502400"/>
            <a:ext cx="11247444" cy="205359"/>
            <a:chOff x="451866" y="6502400"/>
            <a:chExt cx="11247444" cy="205359"/>
          </a:xfrm>
        </p:grpSpPr>
        <p:sp>
          <p:nvSpPr>
            <p:cNvPr id="22" name="TextBox 22"/>
            <p:cNvSpPr txBox="1"/>
            <p:nvPr/>
          </p:nvSpPr>
          <p:spPr>
            <a:xfrm>
              <a:off x="451866" y="6502400"/>
              <a:ext cx="462577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依据：宪法第33条第2款及教材四层说明。右侧为解释，左侧为原文分行。</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440436" y="381000"/>
            <a:ext cx="6605016" cy="918464"/>
            <a:chOff x="440436" y="381000"/>
            <a:chExt cx="6605016" cy="918464"/>
          </a:xfrm>
        </p:grpSpPr>
        <p:sp>
          <p:nvSpPr>
            <p:cNvPr id="2" name="TextBox 2"/>
            <p:cNvSpPr txBox="1"/>
            <p:nvPr/>
          </p:nvSpPr>
          <p:spPr>
            <a:xfrm>
              <a:off x="451104" y="38100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两种法律能力</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有自己的财产，能否独立交易？</a:t>
              </a:r>
            </a:p>
          </p:txBody>
        </p:sp>
      </p:grpSp>
      <p:grpSp>
        <p:nvGrpSpPr>
          <p:cNvPr id="9" name="p03-child"/>
          <p:cNvGrpSpPr/>
          <p:nvPr/>
        </p:nvGrpSpPr>
        <p:grpSpPr>
          <a:xfrm>
            <a:off x="438150" y="1974850"/>
            <a:ext cx="1574292" cy="2955417"/>
            <a:chOff x="438150" y="1974850"/>
            <a:chExt cx="1574292" cy="2955417"/>
          </a:xfrm>
        </p:grpSpPr>
        <p:sp>
          <p:nvSpPr>
            <p:cNvPr id="5" name="TextBox 5"/>
            <p:cNvSpPr txBox="1"/>
            <p:nvPr/>
          </p:nvSpPr>
          <p:spPr>
            <a:xfrm>
              <a:off x="438150" y="1974850"/>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六岁</a:t>
              </a:r>
            </a:p>
          </p:txBody>
        </p:sp>
        <p:sp>
          <p:nvSpPr>
            <p:cNvPr id="6" name="Ellipse 6"/>
            <p:cNvSpPr/>
            <p:nvPr/>
          </p:nvSpPr>
          <p:spPr>
            <a:xfrm>
              <a:off x="1171575" y="3228975"/>
              <a:ext cx="361950" cy="361950"/>
            </a:xfrm>
            <a:prstGeom prst="ellipse">
              <a:avLst/>
            </a:prstGeom>
            <a:noFill/>
            <a:ln w="47625">
              <a:solidFill>
                <a:schemeClr val="accent1"/>
              </a:solidFill>
            </a:ln>
          </p:spPr>
        </p:sp>
        <p:sp>
          <p:nvSpPr>
            <p:cNvPr id="7" name="Freeform 7"/>
            <p:cNvSpPr/>
            <p:nvPr/>
          </p:nvSpPr>
          <p:spPr>
            <a:xfrm>
              <a:off x="1019175" y="3657600"/>
              <a:ext cx="666750" cy="352425"/>
            </a:xfrm>
            <a:custGeom>
              <a:avLst/>
              <a:gdLst/>
              <a:ahLst/>
              <a:cxnLst/>
              <a:rect l="l" t="t" r="r" b="b"/>
              <a:pathLst>
                <a:path w="666750" h="352425">
                  <a:moveTo>
                    <a:pt x="0" y="352425"/>
                  </a:moveTo>
                  <a:lnTo>
                    <a:pt x="0" y="152400"/>
                  </a:lnTo>
                  <a:cubicBezTo>
                    <a:pt x="0" y="50800"/>
                    <a:pt x="60325" y="0"/>
                    <a:pt x="180975" y="0"/>
                  </a:cubicBezTo>
                  <a:lnTo>
                    <a:pt x="485775" y="0"/>
                  </a:lnTo>
                  <a:cubicBezTo>
                    <a:pt x="606425" y="0"/>
                    <a:pt x="666750" y="50800"/>
                    <a:pt x="666750" y="152400"/>
                  </a:cubicBezTo>
                  <a:lnTo>
                    <a:pt x="666750" y="352425"/>
                  </a:lnTo>
                </a:path>
              </a:pathLst>
            </a:custGeom>
            <a:noFill/>
            <a:ln w="47625">
              <a:solidFill>
                <a:schemeClr val="accent1"/>
              </a:solidFill>
            </a:ln>
          </p:spPr>
        </p:sp>
        <p:sp>
          <p:nvSpPr>
            <p:cNvPr id="8" name="TextBox 8"/>
            <p:cNvSpPr txBox="1"/>
            <p:nvPr/>
          </p:nvSpPr>
          <p:spPr>
            <a:xfrm>
              <a:off x="445008" y="446087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同一儿童</a:t>
              </a:r>
            </a:p>
          </p:txBody>
        </p:sp>
      </p:grpSp>
      <p:grpSp>
        <p:nvGrpSpPr>
          <p:cNvPr id="13" name="p03-property"/>
          <p:cNvGrpSpPr/>
          <p:nvPr/>
        </p:nvGrpSpPr>
        <p:grpSpPr>
          <a:xfrm>
            <a:off x="4178046" y="2051050"/>
            <a:ext cx="6483096" cy="1041781"/>
            <a:chOff x="4178046" y="2051050"/>
            <a:chExt cx="6483096" cy="1041781"/>
          </a:xfrm>
        </p:grpSpPr>
        <p:sp>
          <p:nvSpPr>
            <p:cNvPr id="10" name="TextBox 10"/>
            <p:cNvSpPr txBox="1"/>
            <p:nvPr/>
          </p:nvSpPr>
          <p:spPr>
            <a:xfrm>
              <a:off x="4178046" y="20510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享有自己的财产权</a:t>
              </a:r>
            </a:p>
          </p:txBody>
        </p:sp>
        <p:sp>
          <p:nvSpPr>
            <p:cNvPr id="11" name="TextBox 11"/>
            <p:cNvSpPr txBox="1"/>
            <p:nvPr/>
          </p:nvSpPr>
          <p:spPr>
            <a:xfrm>
              <a:off x="4181094" y="27114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可以成为权利和义务的主体</a:t>
              </a:r>
            </a:p>
          </p:txBody>
        </p:sp>
        <p:sp>
          <p:nvSpPr>
            <p:cNvPr id="12" name="TextBox 12"/>
            <p:cNvSpPr txBox="1"/>
            <p:nvPr/>
          </p:nvSpPr>
          <p:spPr>
            <a:xfrm>
              <a:off x="9591294" y="271145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权利能力</a:t>
              </a:r>
            </a:p>
          </p:txBody>
        </p:sp>
      </p:grpSp>
      <p:grpSp>
        <p:nvGrpSpPr>
          <p:cNvPr id="19" name="p03-reveal-1"/>
          <p:cNvGrpSpPr/>
          <p:nvPr/>
        </p:nvGrpSpPr>
        <p:grpSpPr>
          <a:xfrm>
            <a:off x="4178046" y="3714750"/>
            <a:ext cx="7556754" cy="1518158"/>
            <a:chOff x="4178046" y="3714750"/>
            <a:chExt cx="7556754" cy="1518158"/>
          </a:xfrm>
        </p:grpSpPr>
        <p:sp>
          <p:nvSpPr>
            <p:cNvPr id="14" name="Line 14"/>
            <p:cNvSpPr/>
            <p:nvPr/>
          </p:nvSpPr>
          <p:spPr>
            <a:xfrm>
              <a:off x="4191000" y="3714750"/>
              <a:ext cx="7543800" cy="9525"/>
            </a:xfrm>
            <a:custGeom>
              <a:avLst/>
              <a:gdLst/>
              <a:ahLst/>
              <a:cxnLst/>
              <a:rect l="l" t="t" r="r" b="b"/>
              <a:pathLst>
                <a:path w="7543800" h="9525">
                  <a:moveTo>
                    <a:pt x="0" y="0"/>
                  </a:moveTo>
                  <a:lnTo>
                    <a:pt x="7543800" y="0"/>
                  </a:lnTo>
                </a:path>
              </a:pathLst>
            </a:custGeom>
            <a:noFill/>
            <a:ln w="9525">
              <a:solidFill>
                <a:schemeClr val="accent6"/>
              </a:solidFill>
            </a:ln>
          </p:spPr>
        </p:sp>
        <p:sp>
          <p:nvSpPr>
            <p:cNvPr id="15" name="TextBox 15"/>
            <p:cNvSpPr txBox="1"/>
            <p:nvPr/>
          </p:nvSpPr>
          <p:spPr>
            <a:xfrm>
              <a:off x="4178046" y="38608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订立买卖合同</a:t>
              </a:r>
            </a:p>
          </p:txBody>
        </p:sp>
        <p:sp>
          <p:nvSpPr>
            <p:cNvPr id="16" name="TextBox 16"/>
            <p:cNvSpPr txBox="1"/>
            <p:nvPr/>
          </p:nvSpPr>
          <p:spPr>
            <a:xfrm>
              <a:off x="4181094" y="44831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须由法定代理人代理</a:t>
              </a:r>
            </a:p>
          </p:txBody>
        </p:sp>
        <p:sp>
          <p:nvSpPr>
            <p:cNvPr id="17" name="TextBox 17"/>
            <p:cNvSpPr txBox="1"/>
            <p:nvPr/>
          </p:nvSpPr>
          <p:spPr>
            <a:xfrm>
              <a:off x="9591294" y="448310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行为能力</a:t>
              </a:r>
            </a:p>
          </p:txBody>
        </p:sp>
        <p:sp>
          <p:nvSpPr>
            <p:cNvPr id="18" name="TextBox 18"/>
            <p:cNvSpPr txBox="1"/>
            <p:nvPr/>
          </p:nvSpPr>
          <p:spPr>
            <a:xfrm>
              <a:off x="4184142" y="4968875"/>
              <a:ext cx="38301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区别在能否以自己行为独立产生相应法律后果。</a:t>
              </a:r>
            </a:p>
          </p:txBody>
        </p:sp>
      </p:grpSp>
      <p:grpSp>
        <p:nvGrpSpPr>
          <p:cNvPr id="21" name="p03-message"/>
          <p:cNvGrpSpPr/>
          <p:nvPr/>
        </p:nvGrpSpPr>
        <p:grpSpPr>
          <a:xfrm>
            <a:off x="447294" y="5826125"/>
            <a:ext cx="8945118" cy="381381"/>
            <a:chOff x="447294" y="5826125"/>
            <a:chExt cx="8945118" cy="381381"/>
          </a:xfrm>
        </p:grpSpPr>
        <p:sp>
          <p:nvSpPr>
            <p:cNvPr id="20" name="TextBox 20"/>
            <p:cNvSpPr txBox="1"/>
            <p:nvPr/>
          </p:nvSpPr>
          <p:spPr>
            <a:xfrm>
              <a:off x="447294" y="5826125"/>
              <a:ext cx="894511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财产受到保护，与不能独立作这项交易可以并存；法律能力不是体能或成绩。</a:t>
              </a:r>
            </a:p>
          </p:txBody>
        </p:sp>
      </p:grpSp>
      <p:grpSp>
        <p:nvGrpSpPr>
          <p:cNvPr id="24" name="p03-footer"/>
          <p:cNvGrpSpPr/>
          <p:nvPr/>
        </p:nvGrpSpPr>
        <p:grpSpPr>
          <a:xfrm>
            <a:off x="451866" y="6502400"/>
            <a:ext cx="11247444" cy="205359"/>
            <a:chOff x="451866" y="6502400"/>
            <a:chExt cx="11247444" cy="205359"/>
          </a:xfrm>
        </p:grpSpPr>
        <p:sp>
          <p:nvSpPr>
            <p:cNvPr id="22" name="TextBox 22"/>
            <p:cNvSpPr txBox="1"/>
            <p:nvPr/>
          </p:nvSpPr>
          <p:spPr>
            <a:xfrm>
              <a:off x="451866" y="6502400"/>
              <a:ext cx="548801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依据：本讲六岁儿童例；民法典第13—23条。人物为教学示意，具体能力划分仍依法律。</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440436" y="381000"/>
            <a:ext cx="7074408" cy="918464"/>
            <a:chOff x="440436" y="381000"/>
            <a:chExt cx="7074408"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客观差异与差别待遇</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有差异，就能作任何不同处理吗？</a:t>
              </a:r>
            </a:p>
          </p:txBody>
        </p:sp>
      </p:grpSp>
      <p:grpSp>
        <p:nvGrpSpPr>
          <p:cNvPr id="7" name="p04-fact"/>
          <p:cNvGrpSpPr/>
          <p:nvPr/>
        </p:nvGrpSpPr>
        <p:grpSpPr>
          <a:xfrm>
            <a:off x="444246" y="2022475"/>
            <a:ext cx="5273040" cy="975106"/>
            <a:chOff x="444246" y="2022475"/>
            <a:chExt cx="5273040" cy="975106"/>
          </a:xfrm>
        </p:grpSpPr>
        <p:sp>
          <p:nvSpPr>
            <p:cNvPr id="5" name="TextBox 5"/>
            <p:cNvSpPr txBox="1"/>
            <p:nvPr/>
          </p:nvSpPr>
          <p:spPr>
            <a:xfrm>
              <a:off x="444246" y="2022475"/>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人们客观上有差异</a:t>
              </a:r>
            </a:p>
          </p:txBody>
        </p:sp>
        <p:sp>
          <p:nvSpPr>
            <p:cNvPr id="6" name="TextBox 6"/>
            <p:cNvSpPr txBox="1"/>
            <p:nvPr/>
          </p:nvSpPr>
          <p:spPr>
            <a:xfrm>
              <a:off x="447294" y="261620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能力、环境、受教育程度等，并不完全相同。</a:t>
              </a:r>
            </a:p>
          </p:txBody>
        </p:sp>
      </p:grpSp>
      <p:grpSp>
        <p:nvGrpSpPr>
          <p:cNvPr id="13" name="p04-reveal-1"/>
          <p:cNvGrpSpPr/>
          <p:nvPr/>
        </p:nvGrpSpPr>
        <p:grpSpPr>
          <a:xfrm>
            <a:off x="445008" y="3425825"/>
            <a:ext cx="10174986" cy="1371981"/>
            <a:chOff x="445008" y="3425825"/>
            <a:chExt cx="10174986" cy="1371981"/>
          </a:xfrm>
        </p:grpSpPr>
        <p:sp>
          <p:nvSpPr>
            <p:cNvPr id="8" name="TextBox 8"/>
            <p:cNvSpPr txBox="1"/>
            <p:nvPr/>
          </p:nvSpPr>
          <p:spPr>
            <a:xfrm>
              <a:off x="445008" y="36322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差异依据</a:t>
              </a:r>
            </a:p>
          </p:txBody>
        </p:sp>
        <p:sp>
          <p:nvSpPr>
            <p:cNvPr id="9" name="Line 9"/>
            <p:cNvSpPr/>
            <p:nvPr/>
          </p:nvSpPr>
          <p:spPr>
            <a:xfrm>
              <a:off x="2419350" y="3829050"/>
              <a:ext cx="6286500" cy="9525"/>
            </a:xfrm>
            <a:custGeom>
              <a:avLst/>
              <a:gdLst/>
              <a:ahLst/>
              <a:cxnLst/>
              <a:rect l="l" t="t" r="r" b="b"/>
              <a:pathLst>
                <a:path w="6286500" h="9525">
                  <a:moveTo>
                    <a:pt x="0" y="0"/>
                  </a:moveTo>
                  <a:lnTo>
                    <a:pt x="6286500" y="0"/>
                  </a:lnTo>
                </a:path>
              </a:pathLst>
            </a:custGeom>
            <a:noFill/>
            <a:ln w="19050">
              <a:solidFill>
                <a:schemeClr val="accent3"/>
              </a:solidFill>
            </a:ln>
          </p:spPr>
        </p:sp>
        <p:sp>
          <p:nvSpPr>
            <p:cNvPr id="10" name="TextBox 10"/>
            <p:cNvSpPr txBox="1"/>
            <p:nvPr/>
          </p:nvSpPr>
          <p:spPr>
            <a:xfrm>
              <a:off x="4219194" y="3425825"/>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需要理由连接</a:t>
              </a:r>
            </a:p>
          </p:txBody>
        </p:sp>
        <p:sp>
          <p:nvSpPr>
            <p:cNvPr id="11" name="TextBox 11"/>
            <p:cNvSpPr txBox="1"/>
            <p:nvPr/>
          </p:nvSpPr>
          <p:spPr>
            <a:xfrm>
              <a:off x="9303258" y="36322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具体待遇</a:t>
              </a:r>
            </a:p>
          </p:txBody>
        </p:sp>
        <p:sp>
          <p:nvSpPr>
            <p:cNvPr id="12" name="TextBox 12"/>
            <p:cNvSpPr txBox="1"/>
            <p:nvPr/>
          </p:nvSpPr>
          <p:spPr>
            <a:xfrm>
              <a:off x="447294" y="441642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为什么这项差异，能够支持眼前这一步不同处理？</a:t>
              </a:r>
            </a:p>
          </p:txBody>
        </p:sp>
      </p:grpSp>
      <p:grpSp>
        <p:nvGrpSpPr>
          <p:cNvPr id="16" name="p04-principle"/>
          <p:cNvGrpSpPr/>
          <p:nvPr/>
        </p:nvGrpSpPr>
        <p:grpSpPr>
          <a:xfrm>
            <a:off x="445008" y="5613400"/>
            <a:ext cx="5516880" cy="724408"/>
            <a:chOff x="445008" y="5613400"/>
            <a:chExt cx="5516880" cy="724408"/>
          </a:xfrm>
        </p:grpSpPr>
        <p:sp>
          <p:nvSpPr>
            <p:cNvPr id="14" name="TextBox 14"/>
            <p:cNvSpPr txBox="1"/>
            <p:nvPr/>
          </p:nvSpPr>
          <p:spPr>
            <a:xfrm>
              <a:off x="445008" y="5613400"/>
              <a:ext cx="551688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承认合理差别，同时检验理由与范围。</a:t>
              </a:r>
            </a:p>
          </p:txBody>
        </p:sp>
        <p:sp>
          <p:nvSpPr>
            <p:cNvPr id="15" name="TextBox 15"/>
            <p:cNvSpPr txBox="1"/>
            <p:nvPr/>
          </p:nvSpPr>
          <p:spPr>
            <a:xfrm>
              <a:off x="450342" y="6073775"/>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不能从客观存在差别，直接推出一切差别待遇都合理。</a:t>
              </a:r>
            </a:p>
          </p:txBody>
        </p:sp>
      </p:grpSp>
      <p:grpSp>
        <p:nvGrpSpPr>
          <p:cNvPr id="19" name="p04-footer"/>
          <p:cNvGrpSpPr/>
          <p:nvPr/>
        </p:nvGrpSpPr>
        <p:grpSpPr>
          <a:xfrm>
            <a:off x="451866" y="6502400"/>
            <a:ext cx="11247444" cy="205359"/>
            <a:chOff x="451866" y="6502400"/>
            <a:chExt cx="11247444" cy="205359"/>
          </a:xfrm>
        </p:grpSpPr>
        <p:sp>
          <p:nvSpPr>
            <p:cNvPr id="17" name="TextBox 17"/>
            <p:cNvSpPr txBox="1"/>
            <p:nvPr/>
          </p:nvSpPr>
          <p:spPr>
            <a:xfrm>
              <a:off x="451866" y="6502400"/>
              <a:ext cx="538200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依据：教材合理差别及本讲解释。连线表示需要论证的联系，不是已经得出合法结论。</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04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5-title"/>
          <p:cNvGrpSpPr/>
          <p:nvPr/>
        </p:nvGrpSpPr>
        <p:grpSpPr>
          <a:xfrm>
            <a:off x="440436" y="381000"/>
            <a:ext cx="6135624" cy="918464"/>
            <a:chOff x="440436" y="381000"/>
            <a:chExt cx="6135624" cy="918464"/>
          </a:xfrm>
        </p:grpSpPr>
        <p:sp>
          <p:nvSpPr>
            <p:cNvPr id="2" name="TextBox 2"/>
            <p:cNvSpPr txBox="1"/>
            <p:nvPr/>
          </p:nvSpPr>
          <p:spPr>
            <a:xfrm>
              <a:off x="451104" y="381000"/>
              <a:ext cx="251612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第75、76条并读</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特殊保障，保护的是依法履职</a:t>
              </a:r>
            </a:p>
          </p:txBody>
        </p:sp>
      </p:grpSp>
      <p:grpSp>
        <p:nvGrpSpPr>
          <p:cNvPr id="8" name="p05-photo"/>
          <p:cNvGrpSpPr/>
          <p:nvPr/>
        </p:nvGrpSpPr>
        <p:grpSpPr>
          <a:xfrm>
            <a:off x="447294" y="1774329"/>
            <a:ext cx="5343906" cy="4487279"/>
            <a:chOff x="447294" y="1774329"/>
            <a:chExt cx="5343906" cy="4487279"/>
          </a:xfrm>
        </p:grpSpPr>
        <p:pic>
          <p:nvPicPr>
            <p:cNvPr id="5" name="Image 5"/>
            <p:cNvPicPr>
              <a:picLocks noChangeAspect="1"/>
            </p:cNvPicPr>
            <p:nvPr/>
          </p:nvPicPr>
          <p:blipFill>
            <a:blip r:embed="rId2"/>
            <a:stretch>
              <a:fillRect/>
            </a:stretch>
          </p:blipFill>
          <p:spPr>
            <a:xfrm>
              <a:off x="457200" y="1774329"/>
              <a:ext cx="5334000" cy="3604617"/>
            </a:xfrm>
            <a:prstGeom prst="rect">
              <a:avLst/>
            </a:prstGeom>
          </p:spPr>
        </p:pic>
        <p:sp>
          <p:nvSpPr>
            <p:cNvPr id="6" name="TextBox 6"/>
            <p:cNvSpPr txBox="1"/>
            <p:nvPr/>
          </p:nvSpPr>
          <p:spPr>
            <a:xfrm>
              <a:off x="447294" y="554037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真实全国人大会议场景</a:t>
              </a:r>
            </a:p>
          </p:txBody>
        </p:sp>
        <p:sp>
          <p:nvSpPr>
            <p:cNvPr id="7" name="TextBox 7"/>
            <p:cNvSpPr txBox="1"/>
            <p:nvPr/>
          </p:nvSpPr>
          <p:spPr>
            <a:xfrm>
              <a:off x="450342" y="5997575"/>
              <a:ext cx="352124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2026年3月5日开幕会；新华社记者王晔摄。</a:t>
              </a:r>
            </a:p>
          </p:txBody>
        </p:sp>
      </p:grpSp>
      <p:grpSp>
        <p:nvGrpSpPr>
          <p:cNvPr id="13" name="p05-protection"/>
          <p:cNvGrpSpPr/>
          <p:nvPr/>
        </p:nvGrpSpPr>
        <p:grpSpPr>
          <a:xfrm>
            <a:off x="6368796" y="1860550"/>
            <a:ext cx="3256026" cy="1956181"/>
            <a:chOff x="6368796" y="1860550"/>
            <a:chExt cx="3256026" cy="1956181"/>
          </a:xfrm>
        </p:grpSpPr>
        <p:sp>
          <p:nvSpPr>
            <p:cNvPr id="9" name="TextBox 9"/>
            <p:cNvSpPr txBox="1"/>
            <p:nvPr/>
          </p:nvSpPr>
          <p:spPr>
            <a:xfrm>
              <a:off x="6369558" y="18605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全国人民代表大会代表</a:t>
              </a:r>
            </a:p>
          </p:txBody>
        </p:sp>
        <p:sp>
          <p:nvSpPr>
            <p:cNvPr id="10" name="TextBox 10"/>
            <p:cNvSpPr txBox="1"/>
            <p:nvPr/>
          </p:nvSpPr>
          <p:spPr>
            <a:xfrm>
              <a:off x="6371844" y="24066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在人大的各种会议上</a:t>
              </a:r>
            </a:p>
          </p:txBody>
        </p:sp>
        <p:sp>
          <p:nvSpPr>
            <p:cNvPr id="11" name="TextBox 11"/>
            <p:cNvSpPr txBox="1"/>
            <p:nvPr/>
          </p:nvSpPr>
          <p:spPr>
            <a:xfrm>
              <a:off x="6368796" y="2851150"/>
              <a:ext cx="183946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j-lt"/>
                  <a:ea typeface="+mj-ea"/>
                  <a:cs typeface="+mj-cs"/>
                </a:rPr>
                <a:t>发言和表决</a:t>
              </a:r>
            </a:p>
          </p:txBody>
        </p:sp>
        <p:sp>
          <p:nvSpPr>
            <p:cNvPr id="12" name="TextBox 12"/>
            <p:cNvSpPr txBox="1"/>
            <p:nvPr/>
          </p:nvSpPr>
          <p:spPr>
            <a:xfrm>
              <a:off x="6371844" y="34353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不受法律追究</a:t>
              </a:r>
            </a:p>
          </p:txBody>
        </p:sp>
      </p:grpSp>
      <p:grpSp>
        <p:nvGrpSpPr>
          <p:cNvPr id="18" name="p05-reveal-1"/>
          <p:cNvGrpSpPr/>
          <p:nvPr/>
        </p:nvGrpSpPr>
        <p:grpSpPr>
          <a:xfrm>
            <a:off x="6369558" y="4114800"/>
            <a:ext cx="5365242" cy="2175383"/>
            <a:chOff x="6369558" y="4114800"/>
            <a:chExt cx="5365242" cy="2175383"/>
          </a:xfrm>
        </p:grpSpPr>
        <p:sp>
          <p:nvSpPr>
            <p:cNvPr id="14" name="Line 14"/>
            <p:cNvSpPr/>
            <p:nvPr/>
          </p:nvSpPr>
          <p:spPr>
            <a:xfrm>
              <a:off x="6381750" y="4114800"/>
              <a:ext cx="5353050" cy="9525"/>
            </a:xfrm>
            <a:custGeom>
              <a:avLst/>
              <a:gdLst/>
              <a:ahLst/>
              <a:cxnLst/>
              <a:rect l="l" t="t" r="r" b="b"/>
              <a:pathLst>
                <a:path w="5353050" h="9525">
                  <a:moveTo>
                    <a:pt x="0" y="0"/>
                  </a:moveTo>
                  <a:lnTo>
                    <a:pt x="5353050" y="0"/>
                  </a:lnTo>
                </a:path>
              </a:pathLst>
            </a:custGeom>
            <a:noFill/>
            <a:ln w="9525">
              <a:solidFill>
                <a:schemeClr val="accent6"/>
              </a:solidFill>
            </a:ln>
          </p:spPr>
        </p:sp>
        <p:sp>
          <p:nvSpPr>
            <p:cNvPr id="15" name="TextBox 15"/>
            <p:cNvSpPr txBox="1"/>
            <p:nvPr/>
          </p:nvSpPr>
          <p:spPr>
            <a:xfrm>
              <a:off x="6369558" y="42608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让审议与表达能够展开</a:t>
              </a:r>
            </a:p>
          </p:txBody>
        </p:sp>
        <p:sp>
          <p:nvSpPr>
            <p:cNvPr id="16" name="TextBox 16"/>
            <p:cNvSpPr txBox="1"/>
            <p:nvPr/>
          </p:nvSpPr>
          <p:spPr>
            <a:xfrm>
              <a:off x="6371844" y="4730750"/>
              <a:ext cx="373456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同时须模范遵守宪法和法律、</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保守国家秘密，并在生产、工作</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和社会活动中协助宪法法律实施。</a:t>
              </a:r>
            </a:p>
          </p:txBody>
        </p:sp>
        <p:sp>
          <p:nvSpPr>
            <p:cNvPr id="17" name="TextBox 17"/>
            <p:cNvSpPr txBox="1"/>
            <p:nvPr/>
          </p:nvSpPr>
          <p:spPr>
            <a:xfrm>
              <a:off x="6374892" y="6026150"/>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履职理由为课堂解释，并非条文逐字陈述。</a:t>
              </a:r>
            </a:p>
          </p:txBody>
        </p:sp>
      </p:grpSp>
      <p:grpSp>
        <p:nvGrpSpPr>
          <p:cNvPr id="21" name="p05-footer"/>
          <p:cNvGrpSpPr/>
          <p:nvPr/>
        </p:nvGrpSpPr>
        <p:grpSpPr>
          <a:xfrm>
            <a:off x="451866" y="6502400"/>
            <a:ext cx="11247444" cy="205359"/>
            <a:chOff x="451866" y="6502400"/>
            <a:chExt cx="11247444" cy="205359"/>
          </a:xfrm>
        </p:grpSpPr>
        <p:sp>
          <p:nvSpPr>
            <p:cNvPr id="19" name="TextBox 19"/>
            <p:cNvSpPr txBox="1"/>
            <p:nvPr/>
          </p:nvSpPr>
          <p:spPr>
            <a:xfrm>
              <a:off x="451866" y="6502400"/>
              <a:ext cx="651281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图：新华网，十四届全国人大四次会议开幕。图只辨会议场景，具体免责主体、场合和行为由条文确定。</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05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6-title"/>
          <p:cNvGrpSpPr/>
          <p:nvPr/>
        </p:nvGrpSpPr>
        <p:grpSpPr>
          <a:xfrm>
            <a:off x="440436" y="381000"/>
            <a:ext cx="7543800" cy="918464"/>
            <a:chOff x="440436" y="381000"/>
            <a:chExt cx="7543800"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同一代表，改变场合</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保障特定行为，不是整个人的通行证</a:t>
              </a:r>
            </a:p>
          </p:txBody>
        </p:sp>
      </p:grpSp>
      <p:grpSp>
        <p:nvGrpSpPr>
          <p:cNvPr id="7" name="p06-person"/>
          <p:cNvGrpSpPr/>
          <p:nvPr/>
        </p:nvGrpSpPr>
        <p:grpSpPr>
          <a:xfrm>
            <a:off x="445008" y="1803400"/>
            <a:ext cx="10146792" cy="469392"/>
            <a:chOff x="445008" y="1803400"/>
            <a:chExt cx="10146792" cy="469392"/>
          </a:xfrm>
        </p:grpSpPr>
        <p:sp>
          <p:nvSpPr>
            <p:cNvPr id="5" name="TextBox 5"/>
            <p:cNvSpPr txBox="1"/>
            <p:nvPr/>
          </p:nvSpPr>
          <p:spPr>
            <a:xfrm>
              <a:off x="445008" y="18034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同一位全国人大代表</a:t>
              </a:r>
            </a:p>
          </p:txBody>
        </p:sp>
        <p:sp>
          <p:nvSpPr>
            <p:cNvPr id="6" name="TextBox 6"/>
            <p:cNvSpPr txBox="1"/>
            <p:nvPr/>
          </p:nvSpPr>
          <p:spPr>
            <a:xfrm>
              <a:off x="6371844" y="1854200"/>
              <a:ext cx="421995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身份相同，场合和行为须分别辨认。</a:t>
              </a:r>
            </a:p>
          </p:txBody>
        </p:sp>
      </p:grpSp>
      <p:grpSp>
        <p:nvGrpSpPr>
          <p:cNvPr id="14" name="p06-reveal-1"/>
          <p:cNvGrpSpPr/>
          <p:nvPr/>
        </p:nvGrpSpPr>
        <p:grpSpPr>
          <a:xfrm>
            <a:off x="445008" y="2667000"/>
            <a:ext cx="10306393" cy="2168017"/>
            <a:chOff x="445008" y="2667000"/>
            <a:chExt cx="10306393" cy="2168017"/>
          </a:xfrm>
        </p:grpSpPr>
        <p:sp>
          <p:nvSpPr>
            <p:cNvPr id="8" name="Rectangle 8"/>
            <p:cNvSpPr/>
            <p:nvPr/>
          </p:nvSpPr>
          <p:spPr>
            <a:xfrm>
              <a:off x="476250" y="2667000"/>
              <a:ext cx="5200650" cy="1371600"/>
            </a:xfrm>
            <a:prstGeom prst="rect">
              <a:avLst/>
            </a:prstGeom>
            <a:solidFill>
              <a:schemeClr val="lt2"/>
            </a:solidFill>
            <a:ln w="9525">
              <a:solidFill>
                <a:schemeClr val="accent3"/>
              </a:solidFill>
            </a:ln>
          </p:spPr>
        </p:sp>
        <p:sp>
          <p:nvSpPr>
            <p:cNvPr id="9" name="TextBox 9"/>
            <p:cNvSpPr txBox="1"/>
            <p:nvPr/>
          </p:nvSpPr>
          <p:spPr>
            <a:xfrm>
              <a:off x="729996" y="2803525"/>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人大的各种会议</a:t>
              </a:r>
            </a:p>
          </p:txBody>
        </p:sp>
        <p:sp>
          <p:nvSpPr>
            <p:cNvPr id="10" name="TextBox 10"/>
            <p:cNvSpPr txBox="1"/>
            <p:nvPr/>
          </p:nvSpPr>
          <p:spPr>
            <a:xfrm>
              <a:off x="733044" y="3435350"/>
              <a:ext cx="293366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发言与表决：第75条保障</a:t>
              </a:r>
            </a:p>
          </p:txBody>
        </p:sp>
        <p:sp>
          <p:nvSpPr>
            <p:cNvPr id="11" name="TextBox 11"/>
            <p:cNvSpPr txBox="1"/>
            <p:nvPr/>
          </p:nvSpPr>
          <p:spPr>
            <a:xfrm>
              <a:off x="6502146" y="2803525"/>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会外私人一般活动</a:t>
              </a:r>
            </a:p>
          </p:txBody>
        </p:sp>
        <p:sp>
          <p:nvSpPr>
            <p:cNvPr id="12" name="TextBox 12"/>
            <p:cNvSpPr txBox="1"/>
            <p:nvPr/>
          </p:nvSpPr>
          <p:spPr>
            <a:xfrm>
              <a:off x="6505194" y="3435350"/>
              <a:ext cx="424620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第75条不当然适用，按一般法律处理</a:t>
              </a:r>
            </a:p>
          </p:txBody>
        </p:sp>
        <p:sp>
          <p:nvSpPr>
            <p:cNvPr id="13" name="TextBox 13"/>
            <p:cNvSpPr txBox="1"/>
            <p:nvPr/>
          </p:nvSpPr>
          <p:spPr>
            <a:xfrm>
              <a:off x="445008" y="4365625"/>
              <a:ext cx="569457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会外不当然适用　≠　会外行为当然违法</a:t>
              </a:r>
            </a:p>
          </p:txBody>
        </p:sp>
      </p:grpSp>
      <p:grpSp>
        <p:nvGrpSpPr>
          <p:cNvPr id="19" name="p06-reveal-2"/>
          <p:cNvGrpSpPr/>
          <p:nvPr/>
        </p:nvGrpSpPr>
        <p:grpSpPr>
          <a:xfrm>
            <a:off x="447294" y="5143500"/>
            <a:ext cx="11287506" cy="1222883"/>
            <a:chOff x="447294" y="5143500"/>
            <a:chExt cx="11287506" cy="1222883"/>
          </a:xfrm>
        </p:grpSpPr>
        <p:sp>
          <p:nvSpPr>
            <p:cNvPr id="15" name="Line 15"/>
            <p:cNvSpPr/>
            <p:nvPr/>
          </p:nvSpPr>
          <p:spPr>
            <a:xfrm>
              <a:off x="457200" y="51435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7294" y="532130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会议意见后来错误，不等于当然失去免责保障。</a:t>
              </a:r>
            </a:p>
          </p:txBody>
        </p:sp>
        <p:sp>
          <p:nvSpPr>
            <p:cNvPr id="17" name="TextBox 17"/>
            <p:cNvSpPr txBox="1"/>
            <p:nvPr/>
          </p:nvSpPr>
          <p:spPr>
            <a:xfrm>
              <a:off x="447294" y="5683250"/>
              <a:ext cx="660878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遵法、保密等职责，不把保护变成“意见被认可才免责”。</a:t>
              </a:r>
            </a:p>
          </p:txBody>
        </p:sp>
        <p:sp>
          <p:nvSpPr>
            <p:cNvPr id="18" name="TextBox 18"/>
            <p:cNvSpPr txBox="1"/>
            <p:nvPr/>
          </p:nvSpPr>
          <p:spPr>
            <a:xfrm>
              <a:off x="450342" y="6102350"/>
              <a:ext cx="69197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理由是保障履职表达，不是人格地位更高；本例限全国人大代表，地方代表另有法律。</a:t>
              </a:r>
            </a:p>
          </p:txBody>
        </p:sp>
      </p:grpSp>
      <p:grpSp>
        <p:nvGrpSpPr>
          <p:cNvPr id="22" name="p06-footer"/>
          <p:cNvGrpSpPr/>
          <p:nvPr/>
        </p:nvGrpSpPr>
        <p:grpSpPr>
          <a:xfrm>
            <a:off x="451866" y="6502400"/>
            <a:ext cx="11247444" cy="205359"/>
            <a:chOff x="451866" y="6502400"/>
            <a:chExt cx="11247444" cy="205359"/>
          </a:xfrm>
        </p:grpSpPr>
        <p:sp>
          <p:nvSpPr>
            <p:cNvPr id="20" name="TextBox 20"/>
            <p:cNvSpPr txBox="1"/>
            <p:nvPr/>
          </p:nvSpPr>
          <p:spPr>
            <a:xfrm>
              <a:off x="451866" y="6502400"/>
              <a:ext cx="569297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依据：宪法第75、76条及本讲范围变化。两种场合不是两个人，也不是全部行为一概免责。</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06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7-title"/>
          <p:cNvGrpSpPr/>
          <p:nvPr/>
        </p:nvGrpSpPr>
        <p:grpSpPr>
          <a:xfrm>
            <a:off x="440436" y="381000"/>
            <a:ext cx="6135624" cy="918464"/>
            <a:chOff x="440436" y="381000"/>
            <a:chExt cx="6135624" cy="918464"/>
          </a:xfrm>
        </p:grpSpPr>
        <p:sp>
          <p:nvSpPr>
            <p:cNvPr id="2" name="TextBox 2"/>
            <p:cNvSpPr txBox="1"/>
            <p:nvPr/>
          </p:nvSpPr>
          <p:spPr>
            <a:xfrm>
              <a:off x="451104" y="381000"/>
              <a:ext cx="314614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把“这不平等”打开成问题</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理由，到底支持哪一步差别？</a:t>
              </a:r>
            </a:p>
          </p:txBody>
        </p:sp>
      </p:grpSp>
      <p:grpSp>
        <p:nvGrpSpPr>
          <p:cNvPr id="6" name="p07-question"/>
          <p:cNvGrpSpPr/>
          <p:nvPr/>
        </p:nvGrpSpPr>
        <p:grpSpPr>
          <a:xfrm>
            <a:off x="447294" y="1816100"/>
            <a:ext cx="6608788" cy="381381"/>
            <a:chOff x="447294" y="1816100"/>
            <a:chExt cx="6608788" cy="381381"/>
          </a:xfrm>
        </p:grpSpPr>
        <p:sp>
          <p:nvSpPr>
            <p:cNvPr id="5" name="TextBox 5"/>
            <p:cNvSpPr txBox="1"/>
            <p:nvPr/>
          </p:nvSpPr>
          <p:spPr>
            <a:xfrm>
              <a:off x="447294" y="1816100"/>
              <a:ext cx="660878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先辨认比较，再检验理由；不是只记“平等不等于平均”。</a:t>
              </a:r>
            </a:p>
          </p:txBody>
        </p:sp>
      </p:grpSp>
      <p:grpSp>
        <p:nvGrpSpPr>
          <p:cNvPr id="21" name="p07-reveal-1"/>
          <p:cNvGrpSpPr/>
          <p:nvPr/>
        </p:nvGrpSpPr>
        <p:grpSpPr>
          <a:xfrm>
            <a:off x="445008" y="2774950"/>
            <a:ext cx="11289792" cy="3269742"/>
            <a:chOff x="445008" y="2774950"/>
            <a:chExt cx="11289792" cy="3269742"/>
          </a:xfrm>
        </p:grpSpPr>
        <p:sp>
          <p:nvSpPr>
            <p:cNvPr id="7" name="TextBox 7"/>
            <p:cNvSpPr txBox="1"/>
            <p:nvPr/>
          </p:nvSpPr>
          <p:spPr>
            <a:xfrm>
              <a:off x="445008" y="2774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比较对象</a:t>
              </a:r>
            </a:p>
          </p:txBody>
        </p:sp>
        <p:sp>
          <p:nvSpPr>
            <p:cNvPr id="8" name="TextBox 8"/>
            <p:cNvSpPr txBox="1"/>
            <p:nvPr/>
          </p:nvSpPr>
          <p:spPr>
            <a:xfrm>
              <a:off x="3416808" y="2774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差别待遇</a:t>
              </a:r>
            </a:p>
          </p:txBody>
        </p:sp>
        <p:sp>
          <p:nvSpPr>
            <p:cNvPr id="9" name="TextBox 9"/>
            <p:cNvSpPr txBox="1"/>
            <p:nvPr/>
          </p:nvSpPr>
          <p:spPr>
            <a:xfrm>
              <a:off x="6388608" y="2774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差别依据</a:t>
              </a:r>
            </a:p>
          </p:txBody>
        </p:sp>
        <p:sp>
          <p:nvSpPr>
            <p:cNvPr id="10" name="TextBox 10"/>
            <p:cNvSpPr txBox="1"/>
            <p:nvPr/>
          </p:nvSpPr>
          <p:spPr>
            <a:xfrm>
              <a:off x="9360408" y="27749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理由与范围</a:t>
              </a:r>
            </a:p>
          </p:txBody>
        </p:sp>
        <p:sp>
          <p:nvSpPr>
            <p:cNvPr id="11" name="Line 11"/>
            <p:cNvSpPr/>
            <p:nvPr/>
          </p:nvSpPr>
          <p:spPr>
            <a:xfrm>
              <a:off x="457200" y="3352800"/>
              <a:ext cx="11277600" cy="9525"/>
            </a:xfrm>
            <a:custGeom>
              <a:avLst/>
              <a:gdLst/>
              <a:ahLst/>
              <a:cxnLst/>
              <a:rect l="l" t="t" r="r" b="b"/>
              <a:pathLst>
                <a:path w="11277600" h="9525">
                  <a:moveTo>
                    <a:pt x="0" y="0"/>
                  </a:moveTo>
                  <a:lnTo>
                    <a:pt x="11277600" y="0"/>
                  </a:lnTo>
                </a:path>
              </a:pathLst>
            </a:custGeom>
            <a:noFill/>
            <a:ln w="19050">
              <a:solidFill>
                <a:schemeClr val="accent3"/>
              </a:solidFill>
            </a:ln>
          </p:spPr>
        </p:sp>
        <p:sp>
          <p:nvSpPr>
            <p:cNvPr id="12" name="TextBox 12"/>
            <p:cNvSpPr txBox="1"/>
            <p:nvPr/>
          </p:nvSpPr>
          <p:spPr>
            <a:xfrm>
              <a:off x="447294" y="36068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谁和谁相比？</a:t>
              </a:r>
            </a:p>
          </p:txBody>
        </p:sp>
        <p:sp>
          <p:nvSpPr>
            <p:cNvPr id="13" name="TextBox 13"/>
            <p:cNvSpPr txBox="1"/>
            <p:nvPr/>
          </p:nvSpPr>
          <p:spPr>
            <a:xfrm>
              <a:off x="3419094" y="36068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具体不同在哪？</a:t>
              </a:r>
            </a:p>
          </p:txBody>
        </p:sp>
        <p:sp>
          <p:nvSpPr>
            <p:cNvPr id="14" name="TextBox 14"/>
            <p:cNvSpPr txBox="1"/>
            <p:nvPr/>
          </p:nvSpPr>
          <p:spPr>
            <a:xfrm>
              <a:off x="6390894" y="36068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依据什么区分？</a:t>
              </a:r>
            </a:p>
          </p:txBody>
        </p:sp>
        <p:sp>
          <p:nvSpPr>
            <p:cNvPr id="15" name="TextBox 15"/>
            <p:cNvSpPr txBox="1"/>
            <p:nvPr/>
          </p:nvSpPr>
          <p:spPr>
            <a:xfrm>
              <a:off x="9362694" y="36068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支持到哪一步？</a:t>
              </a:r>
            </a:p>
          </p:txBody>
        </p:sp>
        <p:sp>
          <p:nvSpPr>
            <p:cNvPr id="16" name="TextBox 16"/>
            <p:cNvSpPr txBox="1"/>
            <p:nvPr/>
          </p:nvSpPr>
          <p:spPr>
            <a:xfrm>
              <a:off x="450342" y="4397375"/>
              <a:ext cx="207111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例：相应会议履职的代表，</a:t>
              </a:r>
              <a:br>
                <a:rPr lang="zh-CN" sz="1350" dirty="0">
                  <a:solidFill>
                    <a:schemeClr val="accent5"/>
                  </a:solidFill>
                  <a:latin typeface="+mn-lt"/>
                  <a:ea typeface="+mn-ea"/>
                  <a:cs typeface="+mn-cs"/>
                </a:rPr>
              </a:br>
              <a:r>
                <a:rPr lang="zh-CN" sz="1350" dirty="0">
                  <a:solidFill>
                    <a:schemeClr val="accent5"/>
                  </a:solidFill>
                  <a:latin typeface="+mn-lt"/>
                  <a:ea typeface="+mn-ea"/>
                  <a:cs typeface="+mn-cs"/>
                </a:rPr>
                <a:t>与无此职责的其他公民。</a:t>
              </a:r>
            </a:p>
          </p:txBody>
        </p:sp>
        <p:sp>
          <p:nvSpPr>
            <p:cNvPr id="17" name="TextBox 17"/>
            <p:cNvSpPr txBox="1"/>
            <p:nvPr/>
          </p:nvSpPr>
          <p:spPr>
            <a:xfrm>
              <a:off x="3422142" y="4435475"/>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发言、表决的免责保障</a:t>
              </a:r>
            </a:p>
          </p:txBody>
        </p:sp>
        <p:sp>
          <p:nvSpPr>
            <p:cNvPr id="18" name="TextBox 18"/>
            <p:cNvSpPr txBox="1"/>
            <p:nvPr/>
          </p:nvSpPr>
          <p:spPr>
            <a:xfrm>
              <a:off x="6393942" y="4435475"/>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资格、会议、具体行为</a:t>
              </a:r>
            </a:p>
          </p:txBody>
        </p:sp>
        <p:sp>
          <p:nvSpPr>
            <p:cNvPr id="19" name="TextBox 19"/>
            <p:cNvSpPr txBox="1"/>
            <p:nvPr/>
          </p:nvSpPr>
          <p:spPr>
            <a:xfrm>
              <a:off x="9365742" y="4397375"/>
              <a:ext cx="18996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保障审议表达；</a:t>
              </a:r>
              <a:br>
                <a:rPr lang="zh-CN" sz="1350" dirty="0">
                  <a:solidFill>
                    <a:schemeClr val="accent5"/>
                  </a:solidFill>
                  <a:latin typeface="+mn-lt"/>
                  <a:ea typeface="+mn-ea"/>
                  <a:cs typeface="+mn-cs"/>
                </a:rPr>
              </a:br>
              <a:r>
                <a:rPr lang="zh-CN" sz="1350" dirty="0">
                  <a:solidFill>
                    <a:schemeClr val="accent5"/>
                  </a:solidFill>
                  <a:latin typeface="+mn-lt"/>
                  <a:ea typeface="+mn-ea"/>
                  <a:cs typeface="+mn-cs"/>
                </a:rPr>
                <a:t>不能扩到会外全部活动。</a:t>
              </a:r>
            </a:p>
          </p:txBody>
        </p:sp>
        <p:sp>
          <p:nvSpPr>
            <p:cNvPr id="20" name="TextBox 20"/>
            <p:cNvSpPr txBox="1"/>
            <p:nvPr/>
          </p:nvSpPr>
          <p:spPr>
            <a:xfrm>
              <a:off x="445008" y="5575300"/>
              <a:ext cx="713232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第四问回检前面的联系：范围变了，理由还够吗？</a:t>
              </a:r>
            </a:p>
          </p:txBody>
        </p:sp>
      </p:grpSp>
      <p:grpSp>
        <p:nvGrpSpPr>
          <p:cNvPr id="24" name="p07-footer"/>
          <p:cNvGrpSpPr/>
          <p:nvPr/>
        </p:nvGrpSpPr>
        <p:grpSpPr>
          <a:xfrm>
            <a:off x="451866" y="6502400"/>
            <a:ext cx="11247444" cy="205359"/>
            <a:chOff x="451866" y="6502400"/>
            <a:chExt cx="11247444" cy="205359"/>
          </a:xfrm>
        </p:grpSpPr>
        <p:sp>
          <p:nvSpPr>
            <p:cNvPr id="22" name="TextBox 22"/>
            <p:cNvSpPr txBox="1"/>
            <p:nvPr/>
          </p:nvSpPr>
          <p:spPr>
            <a:xfrm>
              <a:off x="451866" y="6502400"/>
              <a:ext cx="497208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依据：本讲四步检查及代表例。它帮助展开问题，不是自动输出“违法”的算法。</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07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8-title"/>
          <p:cNvGrpSpPr/>
          <p:nvPr/>
        </p:nvGrpSpPr>
        <p:grpSpPr>
          <a:xfrm>
            <a:off x="440436" y="381000"/>
            <a:ext cx="6605016" cy="918464"/>
            <a:chOff x="440436" y="381000"/>
            <a:chExt cx="6605016" cy="918464"/>
          </a:xfrm>
        </p:grpSpPr>
        <p:sp>
          <p:nvSpPr>
            <p:cNvPr id="2" name="TextBox 2"/>
            <p:cNvSpPr txBox="1"/>
            <p:nvPr/>
          </p:nvSpPr>
          <p:spPr>
            <a:xfrm>
              <a:off x="451104" y="38100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独立思考约1—2分钟</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这个理由，最多能支持到哪里？</a:t>
              </a:r>
            </a:p>
          </p:txBody>
        </p:sp>
      </p:grpSp>
      <p:grpSp>
        <p:nvGrpSpPr>
          <p:cNvPr id="9" name="p08-case"/>
          <p:cNvGrpSpPr/>
          <p:nvPr/>
        </p:nvGrpSpPr>
        <p:grpSpPr>
          <a:xfrm>
            <a:off x="476250" y="1771650"/>
            <a:ext cx="5734050" cy="2228850"/>
            <a:chOff x="476250" y="1771650"/>
            <a:chExt cx="5734050" cy="2228850"/>
          </a:xfrm>
        </p:grpSpPr>
        <p:sp>
          <p:nvSpPr>
            <p:cNvPr id="5" name="Rectangle 5"/>
            <p:cNvSpPr/>
            <p:nvPr/>
          </p:nvSpPr>
          <p:spPr>
            <a:xfrm>
              <a:off x="476250" y="1771650"/>
              <a:ext cx="5734050" cy="2228850"/>
            </a:xfrm>
            <a:prstGeom prst="rect">
              <a:avLst/>
            </a:prstGeom>
            <a:solidFill>
              <a:schemeClr val="lt2"/>
            </a:solidFill>
            <a:ln>
              <a:noFill/>
            </a:ln>
          </p:spPr>
        </p:sp>
        <p:sp>
          <p:nvSpPr>
            <p:cNvPr id="6" name="TextBox 6"/>
            <p:cNvSpPr txBox="1"/>
            <p:nvPr/>
          </p:nvSpPr>
          <p:spPr>
            <a:xfrm>
              <a:off x="736092" y="2044700"/>
              <a:ext cx="18583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教学设例 · 某单位规定</a:t>
              </a:r>
            </a:p>
          </p:txBody>
        </p:sp>
        <p:sp>
          <p:nvSpPr>
            <p:cNvPr id="7" name="TextBox 7"/>
            <p:cNvSpPr txBox="1"/>
            <p:nvPr/>
          </p:nvSpPr>
          <p:spPr>
            <a:xfrm>
              <a:off x="730758" y="2451100"/>
              <a:ext cx="337718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accent1"/>
                  </a:solidFill>
                  <a:latin typeface="+mn-lt"/>
                  <a:ea typeface="+mn-ea"/>
                  <a:cs typeface="+mn-cs"/>
                </a:rPr>
                <a:t>新入职人员一律不得申请</a:t>
              </a:r>
              <a:br>
                <a:rPr lang="zh-CN" sz="2400" dirty="0">
                  <a:solidFill>
                    <a:schemeClr val="accent1"/>
                  </a:solidFill>
                  <a:latin typeface="+mn-lt"/>
                  <a:ea typeface="+mn-ea"/>
                  <a:cs typeface="+mn-cs"/>
                </a:rPr>
              </a:br>
              <a:r>
                <a:rPr lang="zh-CN" sz="2400" dirty="0">
                  <a:solidFill>
                    <a:schemeClr val="accent1"/>
                  </a:solidFill>
                  <a:latin typeface="+mn-lt"/>
                  <a:ea typeface="+mn-ea"/>
                  <a:cs typeface="+mn-cs"/>
                </a:rPr>
                <a:t>单位的某项福利。</a:t>
              </a:r>
            </a:p>
          </p:txBody>
        </p:sp>
        <p:sp>
          <p:nvSpPr>
            <p:cNvPr id="8" name="TextBox 8"/>
            <p:cNvSpPr txBox="1"/>
            <p:nvPr/>
          </p:nvSpPr>
          <p:spPr>
            <a:xfrm>
              <a:off x="733044" y="3473450"/>
              <a:ext cx="319617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理由：“鼓励先熟悉工作”。</a:t>
              </a:r>
            </a:p>
          </p:txBody>
        </p:sp>
      </p:grpSp>
      <p:grpSp>
        <p:nvGrpSpPr>
          <p:cNvPr id="13" name="p08-prompt"/>
          <p:cNvGrpSpPr/>
          <p:nvPr/>
        </p:nvGrpSpPr>
        <p:grpSpPr>
          <a:xfrm>
            <a:off x="6845808" y="2108200"/>
            <a:ext cx="3287573" cy="1705483"/>
            <a:chOff x="6845808" y="2108200"/>
            <a:chExt cx="3287573" cy="1705483"/>
          </a:xfrm>
        </p:grpSpPr>
        <p:sp>
          <p:nvSpPr>
            <p:cNvPr id="10" name="TextBox 10"/>
            <p:cNvSpPr txBox="1"/>
            <p:nvPr/>
          </p:nvSpPr>
          <p:spPr>
            <a:xfrm>
              <a:off x="6845808" y="21082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比较对象是谁？</a:t>
              </a:r>
            </a:p>
          </p:txBody>
        </p:sp>
        <p:sp>
          <p:nvSpPr>
            <p:cNvPr id="11" name="TextBox 11"/>
            <p:cNvSpPr txBox="1"/>
            <p:nvPr/>
          </p:nvSpPr>
          <p:spPr>
            <a:xfrm>
              <a:off x="6845808" y="2813050"/>
              <a:ext cx="328757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这个理由最多支持到……</a:t>
              </a:r>
            </a:p>
          </p:txBody>
        </p:sp>
        <p:sp>
          <p:nvSpPr>
            <p:cNvPr id="12" name="TextBox 12"/>
            <p:cNvSpPr txBox="1"/>
            <p:nvPr/>
          </p:nvSpPr>
          <p:spPr>
            <a:xfrm>
              <a:off x="6851142" y="3549650"/>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各写一句，再听讲评。</a:t>
              </a:r>
            </a:p>
          </p:txBody>
        </p:sp>
      </p:grpSp>
      <p:grpSp>
        <p:nvGrpSpPr>
          <p:cNvPr id="15" name="p08-reveal-1"/>
          <p:cNvGrpSpPr/>
          <p:nvPr/>
        </p:nvGrpSpPr>
        <p:grpSpPr>
          <a:xfrm>
            <a:off x="447294" y="4568825"/>
            <a:ext cx="5532501" cy="381381"/>
            <a:chOff x="447294" y="4568825"/>
            <a:chExt cx="5532501" cy="381381"/>
          </a:xfrm>
        </p:grpSpPr>
        <p:sp>
          <p:nvSpPr>
            <p:cNvPr id="14" name="TextBox 14"/>
            <p:cNvSpPr txBox="1"/>
            <p:nvPr/>
          </p:nvSpPr>
          <p:spPr>
            <a:xfrm>
              <a:off x="447294" y="4568825"/>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比较新、老员工；差别在能否申请这一项福利。</a:t>
              </a:r>
            </a:p>
          </p:txBody>
        </p:sp>
      </p:grpSp>
      <p:grpSp>
        <p:nvGrpSpPr>
          <p:cNvPr id="18" name="p08-reveal-2"/>
          <p:cNvGrpSpPr/>
          <p:nvPr/>
        </p:nvGrpSpPr>
        <p:grpSpPr>
          <a:xfrm>
            <a:off x="445008" y="5403850"/>
            <a:ext cx="8159877" cy="851281"/>
            <a:chOff x="445008" y="5403850"/>
            <a:chExt cx="8159877" cy="851281"/>
          </a:xfrm>
        </p:grpSpPr>
        <p:sp>
          <p:nvSpPr>
            <p:cNvPr id="16" name="TextBox 16"/>
            <p:cNvSpPr txBox="1"/>
            <p:nvPr/>
          </p:nvSpPr>
          <p:spPr>
            <a:xfrm>
              <a:off x="445008" y="5403850"/>
              <a:ext cx="5549189"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目前理由不足以支持“一律不得申请”。</a:t>
              </a:r>
            </a:p>
          </p:txBody>
        </p:sp>
        <p:sp>
          <p:nvSpPr>
            <p:cNvPr id="17" name="TextBox 17"/>
            <p:cNvSpPr txBox="1"/>
            <p:nvPr/>
          </p:nvSpPr>
          <p:spPr>
            <a:xfrm>
              <a:off x="447294" y="587375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还缺福利性质、与熟悉工作的实质联系；这不是已经判定该规定违法。</a:t>
              </a:r>
            </a:p>
          </p:txBody>
        </p:sp>
      </p:gr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08 / 54</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9-title"/>
          <p:cNvGrpSpPr/>
          <p:nvPr/>
        </p:nvGrpSpPr>
        <p:grpSpPr>
          <a:xfrm>
            <a:off x="440436" y="381000"/>
            <a:ext cx="6605016" cy="918464"/>
            <a:chOff x="440436" y="381000"/>
            <a:chExt cx="6605016"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原则与具体主张相接</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平等是基础，也是一项具体权利</a:t>
              </a:r>
            </a:p>
          </p:txBody>
        </p:sp>
      </p:grpSp>
      <p:grpSp>
        <p:nvGrpSpPr>
          <p:cNvPr id="8" name="p09-principle"/>
          <p:cNvGrpSpPr/>
          <p:nvPr/>
        </p:nvGrpSpPr>
        <p:grpSpPr>
          <a:xfrm>
            <a:off x="440436" y="2044700"/>
            <a:ext cx="3176778" cy="1714881"/>
            <a:chOff x="440436" y="2044700"/>
            <a:chExt cx="3176778" cy="1714881"/>
          </a:xfrm>
        </p:grpSpPr>
        <p:sp>
          <p:nvSpPr>
            <p:cNvPr id="5" name="TextBox 5"/>
            <p:cNvSpPr txBox="1"/>
            <p:nvPr/>
          </p:nvSpPr>
          <p:spPr>
            <a:xfrm>
              <a:off x="440436" y="20447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原则</a:t>
              </a:r>
            </a:p>
          </p:txBody>
        </p:sp>
        <p:sp>
          <p:nvSpPr>
            <p:cNvPr id="6" name="TextBox 6"/>
            <p:cNvSpPr txBox="1"/>
            <p:nvPr/>
          </p:nvSpPr>
          <p:spPr>
            <a:xfrm>
              <a:off x="447294" y="28638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指导、约束法律和制度安排</a:t>
              </a:r>
            </a:p>
          </p:txBody>
        </p:sp>
        <p:sp>
          <p:nvSpPr>
            <p:cNvPr id="7" name="TextBox 7"/>
            <p:cNvSpPr txBox="1"/>
            <p:nvPr/>
          </p:nvSpPr>
          <p:spPr>
            <a:xfrm>
              <a:off x="447294" y="3378200"/>
              <a:ext cx="290741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也是行使其他权利的基础</a:t>
              </a:r>
            </a:p>
          </p:txBody>
        </p:sp>
      </p:grpSp>
      <p:grpSp>
        <p:nvGrpSpPr>
          <p:cNvPr id="12" name="p09-right"/>
          <p:cNvGrpSpPr/>
          <p:nvPr/>
        </p:nvGrpSpPr>
        <p:grpSpPr>
          <a:xfrm>
            <a:off x="6498336" y="2044700"/>
            <a:ext cx="3701796" cy="1714881"/>
            <a:chOff x="6498336" y="2044700"/>
            <a:chExt cx="3701796" cy="1714881"/>
          </a:xfrm>
        </p:grpSpPr>
        <p:sp>
          <p:nvSpPr>
            <p:cNvPr id="9" name="TextBox 9"/>
            <p:cNvSpPr txBox="1"/>
            <p:nvPr/>
          </p:nvSpPr>
          <p:spPr>
            <a:xfrm>
              <a:off x="6498336" y="204470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具体权利</a:t>
              </a:r>
            </a:p>
          </p:txBody>
        </p:sp>
        <p:sp>
          <p:nvSpPr>
            <p:cNvPr id="10" name="TextBox 10"/>
            <p:cNvSpPr txBox="1"/>
            <p:nvPr/>
          </p:nvSpPr>
          <p:spPr>
            <a:xfrm>
              <a:off x="6505194" y="28638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支持个人提出相应主张</a:t>
              </a:r>
            </a:p>
          </p:txBody>
        </p:sp>
        <p:sp>
          <p:nvSpPr>
            <p:cNvPr id="11" name="TextBox 11"/>
            <p:cNvSpPr txBox="1"/>
            <p:nvPr/>
          </p:nvSpPr>
          <p:spPr>
            <a:xfrm>
              <a:off x="6505194" y="3378200"/>
              <a:ext cx="369493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请求还须事实、对象与具体程序</a:t>
              </a:r>
            </a:p>
          </p:txBody>
        </p:sp>
      </p:grpSp>
      <p:grpSp>
        <p:nvGrpSpPr>
          <p:cNvPr id="18" name="p09-reveal-1"/>
          <p:cNvGrpSpPr/>
          <p:nvPr/>
        </p:nvGrpSpPr>
        <p:grpSpPr>
          <a:xfrm>
            <a:off x="445008" y="4286250"/>
            <a:ext cx="11289792" cy="2032508"/>
            <a:chOff x="445008" y="4286250"/>
            <a:chExt cx="11289792" cy="2032508"/>
          </a:xfrm>
        </p:grpSpPr>
        <p:sp>
          <p:nvSpPr>
            <p:cNvPr id="13" name="Line 13"/>
            <p:cNvSpPr/>
            <p:nvPr/>
          </p:nvSpPr>
          <p:spPr>
            <a:xfrm>
              <a:off x="457200" y="42862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4451350"/>
              <a:ext cx="264139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就业促进法第62条</a:t>
              </a:r>
            </a:p>
          </p:txBody>
        </p:sp>
        <p:sp>
          <p:nvSpPr>
            <p:cNvPr id="15" name="TextBox 15"/>
            <p:cNvSpPr txBox="1"/>
            <p:nvPr/>
          </p:nvSpPr>
          <p:spPr>
            <a:xfrm>
              <a:off x="447294" y="4968875"/>
              <a:ext cx="714693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违反该法规定实施就业歧视 → 劳动者可以向人民法院提起诉讼</a:t>
              </a:r>
            </a:p>
          </p:txBody>
        </p:sp>
        <p:sp>
          <p:nvSpPr>
            <p:cNvPr id="16" name="TextBox 16"/>
            <p:cNvSpPr txBox="1"/>
            <p:nvPr/>
          </p:nvSpPr>
          <p:spPr>
            <a:xfrm>
              <a:off x="447294" y="556895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不是所有差别都有同一种诉讼途径；原则不能替代具体制度。</a:t>
              </a:r>
            </a:p>
          </p:txBody>
        </p:sp>
        <p:sp>
          <p:nvSpPr>
            <p:cNvPr id="17" name="TextBox 17"/>
            <p:cNvSpPr txBox="1"/>
            <p:nvPr/>
          </p:nvSpPr>
          <p:spPr>
            <a:xfrm>
              <a:off x="450342" y="6054725"/>
              <a:ext cx="56475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前页福利例只检验理由；现实仍须辨单位性质、福利内容及适用法律。</a:t>
              </a:r>
            </a:p>
          </p:txBody>
        </p:sp>
      </p:grpSp>
      <p:grpSp>
        <p:nvGrpSpPr>
          <p:cNvPr id="21" name="p09-footer"/>
          <p:cNvGrpSpPr/>
          <p:nvPr/>
        </p:nvGrpSpPr>
        <p:grpSpPr>
          <a:xfrm>
            <a:off x="451866" y="6502400"/>
            <a:ext cx="11247444" cy="205359"/>
            <a:chOff x="451866" y="6502400"/>
            <a:chExt cx="11247444" cy="205359"/>
          </a:xfrm>
        </p:grpSpPr>
        <p:sp>
          <p:nvSpPr>
            <p:cNvPr id="19" name="TextBox 19"/>
            <p:cNvSpPr txBox="1"/>
            <p:nvPr/>
          </p:nvSpPr>
          <p:spPr>
            <a:xfrm>
              <a:off x="451866" y="6502400"/>
              <a:ext cx="553749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依据：教材平等权的两重身份、就业促进法第62条及本讲解释；非对某单位的正式裁断。</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09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0-title"/>
          <p:cNvGrpSpPr/>
          <p:nvPr/>
        </p:nvGrpSpPr>
        <p:grpSpPr>
          <a:xfrm>
            <a:off x="440436" y="381000"/>
            <a:ext cx="4727448" cy="918464"/>
            <a:chOff x="440436" y="381000"/>
            <a:chExt cx="4727448" cy="9184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同一身体条件，换一个岗位看</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要求，要接上具体职责</a:t>
              </a:r>
            </a:p>
          </p:txBody>
        </p:sp>
      </p:grpSp>
      <p:grpSp>
        <p:nvGrpSpPr>
          <p:cNvPr id="6" name="p10-notice"/>
          <p:cNvGrpSpPr/>
          <p:nvPr/>
        </p:nvGrpSpPr>
        <p:grpSpPr>
          <a:xfrm>
            <a:off x="445008" y="1946275"/>
            <a:ext cx="6518453" cy="469392"/>
            <a:chOff x="445008" y="1946275"/>
            <a:chExt cx="6518453" cy="469392"/>
          </a:xfrm>
        </p:grpSpPr>
        <p:sp>
          <p:nvSpPr>
            <p:cNvPr id="5" name="TextBox 5"/>
            <p:cNvSpPr txBox="1"/>
            <p:nvPr/>
          </p:nvSpPr>
          <p:spPr>
            <a:xfrm>
              <a:off x="445008" y="1946275"/>
              <a:ext cx="651845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设例招录公告：“身体健康，符合岗位要求”。</a:t>
              </a:r>
            </a:p>
          </p:txBody>
        </p:sp>
      </p:grpSp>
      <p:grpSp>
        <p:nvGrpSpPr>
          <p:cNvPr id="9" name="p10-physical"/>
          <p:cNvGrpSpPr/>
          <p:nvPr/>
        </p:nvGrpSpPr>
        <p:grpSpPr>
          <a:xfrm>
            <a:off x="444246" y="3194050"/>
            <a:ext cx="3960495" cy="1060831"/>
            <a:chOff x="444246" y="3194050"/>
            <a:chExt cx="3960495" cy="1060831"/>
          </a:xfrm>
        </p:grpSpPr>
        <p:sp>
          <p:nvSpPr>
            <p:cNvPr id="7" name="TextBox 7"/>
            <p:cNvSpPr txBox="1"/>
            <p:nvPr/>
          </p:nvSpPr>
          <p:spPr>
            <a:xfrm>
              <a:off x="444246" y="319405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高强度体力处置岗位</a:t>
              </a:r>
            </a:p>
          </p:txBody>
        </p:sp>
        <p:sp>
          <p:nvSpPr>
            <p:cNvPr id="8" name="TextBox 8"/>
            <p:cNvSpPr txBox="1"/>
            <p:nvPr/>
          </p:nvSpPr>
          <p:spPr>
            <a:xfrm>
              <a:off x="447294" y="38735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具体身体条件与职责有什么联系？</a:t>
              </a:r>
            </a:p>
          </p:txBody>
        </p:sp>
      </p:grpSp>
      <p:grpSp>
        <p:nvGrpSpPr>
          <p:cNvPr id="12" name="p10-office"/>
          <p:cNvGrpSpPr/>
          <p:nvPr/>
        </p:nvGrpSpPr>
        <p:grpSpPr>
          <a:xfrm>
            <a:off x="6502146" y="3194050"/>
            <a:ext cx="3960495" cy="1060831"/>
            <a:chOff x="6502146" y="3194050"/>
            <a:chExt cx="3960495" cy="1060831"/>
          </a:xfrm>
        </p:grpSpPr>
        <p:sp>
          <p:nvSpPr>
            <p:cNvPr id="10" name="TextBox 10"/>
            <p:cNvSpPr txBox="1"/>
            <p:nvPr/>
          </p:nvSpPr>
          <p:spPr>
            <a:xfrm>
              <a:off x="6502146" y="319405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纯文书岗位</a:t>
              </a:r>
            </a:p>
          </p:txBody>
        </p:sp>
        <p:sp>
          <p:nvSpPr>
            <p:cNvPr id="11" name="TextBox 11"/>
            <p:cNvSpPr txBox="1"/>
            <p:nvPr/>
          </p:nvSpPr>
          <p:spPr>
            <a:xfrm>
              <a:off x="6505194" y="38735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同一要求，还能支持同一范围吗？</a:t>
              </a:r>
            </a:p>
          </p:txBody>
        </p:sp>
      </p:grpSp>
      <p:grpSp>
        <p:nvGrpSpPr>
          <p:cNvPr id="17" name="p10-reveal-1"/>
          <p:cNvGrpSpPr/>
          <p:nvPr/>
        </p:nvGrpSpPr>
        <p:grpSpPr>
          <a:xfrm>
            <a:off x="445008" y="4991100"/>
            <a:ext cx="11289792" cy="1384808"/>
            <a:chOff x="445008" y="4991100"/>
            <a:chExt cx="11289792" cy="1384808"/>
          </a:xfrm>
        </p:grpSpPr>
        <p:sp>
          <p:nvSpPr>
            <p:cNvPr id="13" name="Line 13"/>
            <p:cNvSpPr/>
            <p:nvPr/>
          </p:nvSpPr>
          <p:spPr>
            <a:xfrm>
              <a:off x="457200" y="49911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5156200"/>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检查条件与具体职责的实质联系。</a:t>
              </a:r>
            </a:p>
          </p:txBody>
        </p:sp>
        <p:sp>
          <p:nvSpPr>
            <p:cNvPr id="15" name="TextBox 15"/>
            <p:cNvSpPr txBox="1"/>
            <p:nvPr/>
          </p:nvSpPr>
          <p:spPr>
            <a:xfrm>
              <a:off x="447294" y="5692775"/>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不是一概不能有身体要求，也不是任何排除都合理。</a:t>
              </a:r>
            </a:p>
          </p:txBody>
        </p:sp>
        <p:sp>
          <p:nvSpPr>
            <p:cNvPr id="16" name="TextBox 16"/>
            <p:cNvSpPr txBox="1"/>
            <p:nvPr/>
          </p:nvSpPr>
          <p:spPr>
            <a:xfrm>
              <a:off x="450342" y="6111875"/>
              <a:ext cx="4757052"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理由支持不到的地方，不能只靠“岗位要求”四个字走过去。</a:t>
              </a:r>
            </a:p>
          </p:txBody>
        </p:sp>
      </p:grpSp>
      <p:grpSp>
        <p:nvGrpSpPr>
          <p:cNvPr id="20" name="p10-footer"/>
          <p:cNvGrpSpPr/>
          <p:nvPr/>
        </p:nvGrpSpPr>
        <p:grpSpPr>
          <a:xfrm>
            <a:off x="451866" y="6502400"/>
            <a:ext cx="11247444" cy="205359"/>
            <a:chOff x="451866" y="6502400"/>
            <a:chExt cx="11247444" cy="205359"/>
          </a:xfrm>
        </p:grpSpPr>
        <p:sp>
          <p:nvSpPr>
            <p:cNvPr id="18" name="TextBox 18"/>
            <p:cNvSpPr txBox="1"/>
            <p:nvPr/>
          </p:nvSpPr>
          <p:spPr>
            <a:xfrm>
              <a:off x="451866" y="6502400"/>
              <a:ext cx="538200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招录教学设例：只比较身体条件与岗位职责的联系，不预设具体体检标准或个案结论。</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10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1-title"/>
          <p:cNvGrpSpPr/>
          <p:nvPr/>
        </p:nvGrpSpPr>
        <p:grpSpPr>
          <a:xfrm>
            <a:off x="440436" y="381000"/>
            <a:ext cx="7074408" cy="918464"/>
            <a:chOff x="440436" y="381000"/>
            <a:chExt cx="7074408" cy="918464"/>
          </a:xfrm>
        </p:grpSpPr>
        <p:sp>
          <p:nvSpPr>
            <p:cNvPr id="2" name="TextBox 2"/>
            <p:cNvSpPr txBox="1"/>
            <p:nvPr/>
          </p:nvSpPr>
          <p:spPr>
            <a:xfrm>
              <a:off x="451104" y="381000"/>
              <a:ext cx="325114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第37—40条的四种保护对象</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常被并提，保护的却不是同一件事</a:t>
              </a:r>
            </a:p>
          </p:txBody>
        </p:sp>
      </p:grpSp>
      <p:grpSp>
        <p:nvGrpSpPr>
          <p:cNvPr id="9" name="p11-body"/>
          <p:cNvGrpSpPr/>
          <p:nvPr/>
        </p:nvGrpSpPr>
        <p:grpSpPr>
          <a:xfrm>
            <a:off x="666750" y="2038350"/>
            <a:ext cx="3274314" cy="1149731"/>
            <a:chOff x="666750" y="2038350"/>
            <a:chExt cx="3274314" cy="1149731"/>
          </a:xfrm>
        </p:grpSpPr>
        <p:sp>
          <p:nvSpPr>
            <p:cNvPr id="5" name="Ellipse 5"/>
            <p:cNvSpPr/>
            <p:nvPr/>
          </p:nvSpPr>
          <p:spPr>
            <a:xfrm>
              <a:off x="819150" y="2038350"/>
              <a:ext cx="419100" cy="419100"/>
            </a:xfrm>
            <a:prstGeom prst="ellipse">
              <a:avLst/>
            </a:prstGeom>
            <a:noFill/>
            <a:ln w="38100">
              <a:solidFill>
                <a:schemeClr val="accent1"/>
              </a:solidFill>
            </a:ln>
          </p:spPr>
        </p:sp>
        <p:sp>
          <p:nvSpPr>
            <p:cNvPr id="6" name="Freeform 6"/>
            <p:cNvSpPr/>
            <p:nvPr/>
          </p:nvSpPr>
          <p:spPr>
            <a:xfrm>
              <a:off x="666750" y="2562225"/>
              <a:ext cx="723900" cy="447675"/>
            </a:xfrm>
            <a:custGeom>
              <a:avLst/>
              <a:gdLst/>
              <a:ahLst/>
              <a:cxnLst/>
              <a:rect l="l" t="t" r="r" b="b"/>
              <a:pathLst>
                <a:path w="723900" h="447675">
                  <a:moveTo>
                    <a:pt x="0" y="447675"/>
                  </a:moveTo>
                  <a:lnTo>
                    <a:pt x="0" y="190500"/>
                  </a:lnTo>
                  <a:cubicBezTo>
                    <a:pt x="0" y="63500"/>
                    <a:pt x="66675" y="0"/>
                    <a:pt x="200025" y="0"/>
                  </a:cubicBezTo>
                  <a:lnTo>
                    <a:pt x="523875" y="0"/>
                  </a:lnTo>
                  <a:cubicBezTo>
                    <a:pt x="657225" y="0"/>
                    <a:pt x="723900" y="63500"/>
                    <a:pt x="723900" y="190500"/>
                  </a:cubicBezTo>
                  <a:lnTo>
                    <a:pt x="723900" y="447675"/>
                  </a:lnTo>
                </a:path>
              </a:pathLst>
            </a:custGeom>
            <a:noFill/>
            <a:ln w="38100">
              <a:solidFill>
                <a:schemeClr val="accent1"/>
              </a:solidFill>
            </a:ln>
          </p:spPr>
        </p:sp>
        <p:sp>
          <p:nvSpPr>
            <p:cNvPr id="7" name="TextBox 7"/>
            <p:cNvSpPr txBox="1"/>
            <p:nvPr/>
          </p:nvSpPr>
          <p:spPr>
            <a:xfrm>
              <a:off x="2101596" y="212725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身体与行动</a:t>
              </a:r>
            </a:p>
          </p:txBody>
        </p:sp>
        <p:sp>
          <p:nvSpPr>
            <p:cNvPr id="8" name="TextBox 8"/>
            <p:cNvSpPr txBox="1"/>
            <p:nvPr/>
          </p:nvSpPr>
          <p:spPr>
            <a:xfrm>
              <a:off x="2104644" y="28067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人身自由</a:t>
              </a:r>
            </a:p>
          </p:txBody>
        </p:sp>
      </p:grpSp>
      <p:grpSp>
        <p:nvGrpSpPr>
          <p:cNvPr id="14" name="p11-personality"/>
          <p:cNvGrpSpPr/>
          <p:nvPr/>
        </p:nvGrpSpPr>
        <p:grpSpPr>
          <a:xfrm>
            <a:off x="6534150" y="2038350"/>
            <a:ext cx="3223260" cy="1149731"/>
            <a:chOff x="6534150" y="2038350"/>
            <a:chExt cx="3223260" cy="1149731"/>
          </a:xfrm>
        </p:grpSpPr>
        <p:sp>
          <p:nvSpPr>
            <p:cNvPr id="10" name="Rectangle 10"/>
            <p:cNvSpPr/>
            <p:nvPr/>
          </p:nvSpPr>
          <p:spPr>
            <a:xfrm>
              <a:off x="6534150" y="2038350"/>
              <a:ext cx="1238250" cy="952500"/>
            </a:xfrm>
            <a:prstGeom prst="rect">
              <a:avLst/>
            </a:prstGeom>
            <a:solidFill>
              <a:schemeClr val="lt2"/>
            </a:solidFill>
            <a:ln w="9525">
              <a:solidFill>
                <a:schemeClr val="accent3"/>
              </a:solidFill>
            </a:ln>
          </p:spPr>
        </p:sp>
        <p:sp>
          <p:nvSpPr>
            <p:cNvPr id="11" name="TextBox 11"/>
            <p:cNvSpPr txBox="1"/>
            <p:nvPr/>
          </p:nvSpPr>
          <p:spPr>
            <a:xfrm>
              <a:off x="6752844" y="238760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姓名</a:t>
              </a:r>
            </a:p>
          </p:txBody>
        </p:sp>
        <p:sp>
          <p:nvSpPr>
            <p:cNvPr id="12" name="TextBox 12"/>
            <p:cNvSpPr txBox="1"/>
            <p:nvPr/>
          </p:nvSpPr>
          <p:spPr>
            <a:xfrm>
              <a:off x="8159496" y="21272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人格利益</a:t>
              </a:r>
            </a:p>
          </p:txBody>
        </p:sp>
        <p:sp>
          <p:nvSpPr>
            <p:cNvPr id="13" name="TextBox 13"/>
            <p:cNvSpPr txBox="1"/>
            <p:nvPr/>
          </p:nvSpPr>
          <p:spPr>
            <a:xfrm>
              <a:off x="8162544" y="28067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尊严、名誉等</a:t>
              </a:r>
            </a:p>
          </p:txBody>
        </p:sp>
      </p:grpSp>
      <p:grpSp>
        <p:nvGrpSpPr>
          <p:cNvPr id="19" name="p11-home"/>
          <p:cNvGrpSpPr/>
          <p:nvPr/>
        </p:nvGrpSpPr>
        <p:grpSpPr>
          <a:xfrm>
            <a:off x="476250" y="4133850"/>
            <a:ext cx="3827526" cy="1149731"/>
            <a:chOff x="476250" y="4133850"/>
            <a:chExt cx="3827526" cy="1149731"/>
          </a:xfrm>
        </p:grpSpPr>
        <p:sp>
          <p:nvSpPr>
            <p:cNvPr id="15" name="Freeform 15"/>
            <p:cNvSpPr/>
            <p:nvPr/>
          </p:nvSpPr>
          <p:spPr>
            <a:xfrm>
              <a:off x="476250" y="4133850"/>
              <a:ext cx="1181100" cy="1143000"/>
            </a:xfrm>
            <a:custGeom>
              <a:avLst/>
              <a:gdLst/>
              <a:ahLst/>
              <a:cxnLst/>
              <a:rect l="l" t="t" r="r" b="b"/>
              <a:pathLst>
                <a:path w="1181100" h="1143000">
                  <a:moveTo>
                    <a:pt x="0" y="0"/>
                  </a:moveTo>
                  <a:lnTo>
                    <a:pt x="1181100" y="0"/>
                  </a:lnTo>
                  <a:lnTo>
                    <a:pt x="1181100" y="1143000"/>
                  </a:lnTo>
                  <a:lnTo>
                    <a:pt x="819150" y="1143000"/>
                  </a:lnTo>
                  <a:moveTo>
                    <a:pt x="476250" y="1143000"/>
                  </a:moveTo>
                  <a:lnTo>
                    <a:pt x="0" y="1143000"/>
                  </a:lnTo>
                  <a:lnTo>
                    <a:pt x="0" y="0"/>
                  </a:lnTo>
                </a:path>
              </a:pathLst>
            </a:custGeom>
            <a:noFill/>
            <a:ln w="28575">
              <a:solidFill>
                <a:schemeClr val="accent3"/>
              </a:solidFill>
            </a:ln>
          </p:spPr>
        </p:sp>
        <p:sp>
          <p:nvSpPr>
            <p:cNvPr id="16" name="Line 16"/>
            <p:cNvSpPr/>
            <p:nvPr/>
          </p:nvSpPr>
          <p:spPr>
            <a:xfrm>
              <a:off x="952500" y="4914900"/>
              <a:ext cx="9525" cy="361950"/>
            </a:xfrm>
            <a:custGeom>
              <a:avLst/>
              <a:gdLst/>
              <a:ahLst/>
              <a:cxnLst/>
              <a:rect l="l" t="t" r="r" b="b"/>
              <a:pathLst>
                <a:path w="9525" h="361950">
                  <a:moveTo>
                    <a:pt x="0" y="361950"/>
                  </a:moveTo>
                  <a:lnTo>
                    <a:pt x="0" y="0"/>
                  </a:lnTo>
                </a:path>
              </a:pathLst>
            </a:custGeom>
            <a:noFill/>
            <a:ln w="19050">
              <a:solidFill>
                <a:schemeClr val="accent3"/>
              </a:solidFill>
            </a:ln>
          </p:spPr>
        </p:sp>
        <p:sp>
          <p:nvSpPr>
            <p:cNvPr id="17" name="TextBox 17"/>
            <p:cNvSpPr txBox="1"/>
            <p:nvPr/>
          </p:nvSpPr>
          <p:spPr>
            <a:xfrm>
              <a:off x="2101596" y="42227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私人生活空间</a:t>
              </a:r>
            </a:p>
          </p:txBody>
        </p:sp>
        <p:sp>
          <p:nvSpPr>
            <p:cNvPr id="18" name="TextBox 18"/>
            <p:cNvSpPr txBox="1"/>
            <p:nvPr/>
          </p:nvSpPr>
          <p:spPr>
            <a:xfrm>
              <a:off x="2104644" y="490220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住宅</a:t>
              </a:r>
            </a:p>
          </p:txBody>
        </p:sp>
      </p:grpSp>
      <p:grpSp>
        <p:nvGrpSpPr>
          <p:cNvPr id="24" name="p11-mail"/>
          <p:cNvGrpSpPr/>
          <p:nvPr/>
        </p:nvGrpSpPr>
        <p:grpSpPr>
          <a:xfrm>
            <a:off x="6534150" y="4222750"/>
            <a:ext cx="3485769" cy="1060831"/>
            <a:chOff x="6534150" y="4222750"/>
            <a:chExt cx="3485769" cy="1060831"/>
          </a:xfrm>
        </p:grpSpPr>
        <p:sp>
          <p:nvSpPr>
            <p:cNvPr id="20" name="Rectangle 20"/>
            <p:cNvSpPr/>
            <p:nvPr/>
          </p:nvSpPr>
          <p:spPr>
            <a:xfrm>
              <a:off x="6534150" y="4267200"/>
              <a:ext cx="1238250" cy="857250"/>
            </a:xfrm>
            <a:prstGeom prst="rect">
              <a:avLst/>
            </a:prstGeom>
            <a:noFill/>
            <a:ln w="28575">
              <a:solidFill>
                <a:schemeClr val="accent3"/>
              </a:solidFill>
            </a:ln>
          </p:spPr>
        </p:sp>
        <p:sp>
          <p:nvSpPr>
            <p:cNvPr id="21" name="Freeform 21"/>
            <p:cNvSpPr/>
            <p:nvPr/>
          </p:nvSpPr>
          <p:spPr>
            <a:xfrm>
              <a:off x="6534150" y="4267200"/>
              <a:ext cx="1238250" cy="447675"/>
            </a:xfrm>
            <a:custGeom>
              <a:avLst/>
              <a:gdLst/>
              <a:ahLst/>
              <a:cxnLst/>
              <a:rect l="l" t="t" r="r" b="b"/>
              <a:pathLst>
                <a:path w="1238250" h="447675">
                  <a:moveTo>
                    <a:pt x="0" y="0"/>
                  </a:moveTo>
                  <a:lnTo>
                    <a:pt x="619125" y="447675"/>
                  </a:lnTo>
                  <a:lnTo>
                    <a:pt x="1238250" y="0"/>
                  </a:lnTo>
                </a:path>
              </a:pathLst>
            </a:custGeom>
            <a:noFill/>
            <a:ln w="19050">
              <a:solidFill>
                <a:schemeClr val="accent3"/>
              </a:solidFill>
            </a:ln>
          </p:spPr>
        </p:sp>
        <p:sp>
          <p:nvSpPr>
            <p:cNvPr id="22" name="TextBox 22"/>
            <p:cNvSpPr txBox="1"/>
            <p:nvPr/>
          </p:nvSpPr>
          <p:spPr>
            <a:xfrm>
              <a:off x="8159496" y="42227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通信</a:t>
              </a:r>
            </a:p>
          </p:txBody>
        </p:sp>
        <p:sp>
          <p:nvSpPr>
            <p:cNvPr id="23" name="TextBox 23"/>
            <p:cNvSpPr txBox="1"/>
            <p:nvPr/>
          </p:nvSpPr>
          <p:spPr>
            <a:xfrm>
              <a:off x="8162544" y="49022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表达自由与秘密</a:t>
              </a:r>
            </a:p>
          </p:txBody>
        </p:sp>
      </p:grpSp>
      <p:grpSp>
        <p:nvGrpSpPr>
          <p:cNvPr id="26" name="p11-link"/>
          <p:cNvGrpSpPr/>
          <p:nvPr/>
        </p:nvGrpSpPr>
        <p:grpSpPr>
          <a:xfrm>
            <a:off x="447294" y="5892800"/>
            <a:ext cx="6320028" cy="381381"/>
            <a:chOff x="447294" y="5892800"/>
            <a:chExt cx="6320028" cy="381381"/>
          </a:xfrm>
        </p:grpSpPr>
        <p:sp>
          <p:nvSpPr>
            <p:cNvPr id="25" name="TextBox 25"/>
            <p:cNvSpPr txBox="1"/>
            <p:nvPr/>
          </p:nvSpPr>
          <p:spPr>
            <a:xfrm>
              <a:off x="447294" y="5892800"/>
              <a:ext cx="632002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四种对象分别进入条文，不能当成一个词的四种说法。</a:t>
              </a:r>
            </a:p>
          </p:txBody>
        </p:sp>
      </p:grpSp>
      <p:grpSp>
        <p:nvGrpSpPr>
          <p:cNvPr id="29" name="p11-footer"/>
          <p:cNvGrpSpPr/>
          <p:nvPr/>
        </p:nvGrpSpPr>
        <p:grpSpPr>
          <a:xfrm>
            <a:off x="451866" y="6502400"/>
            <a:ext cx="11247444" cy="205359"/>
            <a:chOff x="451866" y="6502400"/>
            <a:chExt cx="11247444" cy="205359"/>
          </a:xfrm>
        </p:grpSpPr>
        <p:sp>
          <p:nvSpPr>
            <p:cNvPr id="27" name="TextBox 27"/>
            <p:cNvSpPr txBox="1"/>
            <p:nvPr/>
          </p:nvSpPr>
          <p:spPr>
            <a:xfrm>
              <a:off x="451866" y="6502400"/>
              <a:ext cx="407450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依据：宪法第37—40条。人物、名片、房间及邮件均为教学示意。</a:t>
              </a:r>
            </a:p>
          </p:txBody>
        </p:sp>
        <p:sp>
          <p:nvSpPr>
            <p:cNvPr id="28" name="TextBox 2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11 / 54</a:t>
              </a:r>
            </a:p>
          </p:txBody>
        </p:sp>
      </p:gr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2-title"/>
          <p:cNvGrpSpPr/>
          <p:nvPr/>
        </p:nvGrpSpPr>
        <p:grpSpPr>
          <a:xfrm>
            <a:off x="440436" y="381000"/>
            <a:ext cx="6605016" cy="918464"/>
            <a:chOff x="440436" y="381000"/>
            <a:chExt cx="6605016" cy="9184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把机关分工落在一个人的自由上</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批准、决定与执行，是不同工作</a:t>
              </a:r>
            </a:p>
          </p:txBody>
        </p:sp>
      </p:grpSp>
      <p:grpSp>
        <p:nvGrpSpPr>
          <p:cNvPr id="6" name="p12-protection"/>
          <p:cNvGrpSpPr/>
          <p:nvPr/>
        </p:nvGrpSpPr>
        <p:grpSpPr>
          <a:xfrm>
            <a:off x="445008" y="1803400"/>
            <a:ext cx="8101584" cy="469392"/>
            <a:chOff x="445008" y="1803400"/>
            <a:chExt cx="8101584" cy="469392"/>
          </a:xfrm>
        </p:grpSpPr>
        <p:sp>
          <p:nvSpPr>
            <p:cNvPr id="5" name="TextBox 5"/>
            <p:cNvSpPr txBox="1"/>
            <p:nvPr/>
          </p:nvSpPr>
          <p:spPr>
            <a:xfrm>
              <a:off x="445008" y="1803400"/>
              <a:ext cx="810158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人身自由不受侵犯；依法采取措施，也须符合相应条件。</a:t>
              </a:r>
            </a:p>
          </p:txBody>
        </p:sp>
      </p:grpSp>
      <p:grpSp>
        <p:nvGrpSpPr>
          <p:cNvPr id="16" name="p12-reveal-1"/>
          <p:cNvGrpSpPr/>
          <p:nvPr/>
        </p:nvGrpSpPr>
        <p:grpSpPr>
          <a:xfrm>
            <a:off x="444246" y="2803525"/>
            <a:ext cx="9687306" cy="2165731"/>
            <a:chOff x="444246" y="2803525"/>
            <a:chExt cx="9687306" cy="2165731"/>
          </a:xfrm>
        </p:grpSpPr>
        <p:sp>
          <p:nvSpPr>
            <p:cNvPr id="7" name="TextBox 7"/>
            <p:cNvSpPr txBox="1"/>
            <p:nvPr/>
          </p:nvSpPr>
          <p:spPr>
            <a:xfrm>
              <a:off x="444246" y="2803525"/>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人民检察院</a:t>
              </a:r>
            </a:p>
          </p:txBody>
        </p:sp>
        <p:sp>
          <p:nvSpPr>
            <p:cNvPr id="8" name="TextBox 8"/>
            <p:cNvSpPr txBox="1"/>
            <p:nvPr/>
          </p:nvSpPr>
          <p:spPr>
            <a:xfrm>
              <a:off x="447294" y="334962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批准或者决定</a:t>
              </a:r>
            </a:p>
          </p:txBody>
        </p:sp>
        <p:sp>
          <p:nvSpPr>
            <p:cNvPr id="9" name="TextBox 9"/>
            <p:cNvSpPr txBox="1"/>
            <p:nvPr/>
          </p:nvSpPr>
          <p:spPr>
            <a:xfrm>
              <a:off x="444246" y="40417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人民法院</a:t>
              </a:r>
            </a:p>
          </p:txBody>
        </p:sp>
        <p:sp>
          <p:nvSpPr>
            <p:cNvPr id="10" name="TextBox 10"/>
            <p:cNvSpPr txBox="1"/>
            <p:nvPr/>
          </p:nvSpPr>
          <p:spPr>
            <a:xfrm>
              <a:off x="447294" y="4587875"/>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决定</a:t>
              </a:r>
            </a:p>
          </p:txBody>
        </p:sp>
        <p:sp>
          <p:nvSpPr>
            <p:cNvPr id="11" name="TextBox 11"/>
            <p:cNvSpPr txBox="1"/>
            <p:nvPr/>
          </p:nvSpPr>
          <p:spPr>
            <a:xfrm>
              <a:off x="3647694" y="3740150"/>
              <a:ext cx="54483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或者</a:t>
              </a:r>
            </a:p>
          </p:txBody>
        </p:sp>
        <p:sp>
          <p:nvSpPr>
            <p:cNvPr id="12" name="Freeform 12"/>
            <p:cNvSpPr/>
            <p:nvPr/>
          </p:nvSpPr>
          <p:spPr>
            <a:xfrm>
              <a:off x="3257550" y="3067050"/>
              <a:ext cx="4762500" cy="1562100"/>
            </a:xfrm>
            <a:custGeom>
              <a:avLst/>
              <a:gdLst/>
              <a:ahLst/>
              <a:cxnLst/>
              <a:rect l="l" t="t" r="r" b="b"/>
              <a:pathLst>
                <a:path w="4762500" h="1562100">
                  <a:moveTo>
                    <a:pt x="0" y="0"/>
                  </a:moveTo>
                  <a:lnTo>
                    <a:pt x="2305050" y="0"/>
                  </a:lnTo>
                  <a:lnTo>
                    <a:pt x="2305050" y="800100"/>
                  </a:lnTo>
                  <a:lnTo>
                    <a:pt x="4762500" y="800100"/>
                  </a:lnTo>
                  <a:moveTo>
                    <a:pt x="0" y="1562100"/>
                  </a:moveTo>
                  <a:lnTo>
                    <a:pt x="2305050" y="1562100"/>
                  </a:lnTo>
                  <a:lnTo>
                    <a:pt x="2305050" y="800100"/>
                  </a:lnTo>
                </a:path>
              </a:pathLst>
            </a:custGeom>
            <a:noFill/>
            <a:ln w="19050">
              <a:solidFill>
                <a:schemeClr val="accent3"/>
              </a:solidFill>
            </a:ln>
          </p:spPr>
        </p:sp>
        <p:sp>
          <p:nvSpPr>
            <p:cNvPr id="13" name="Freeform 13"/>
            <p:cNvSpPr/>
            <p:nvPr/>
          </p:nvSpPr>
          <p:spPr>
            <a:xfrm>
              <a:off x="7886700" y="380047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4" name="TextBox 14"/>
            <p:cNvSpPr txBox="1"/>
            <p:nvPr/>
          </p:nvSpPr>
          <p:spPr>
            <a:xfrm>
              <a:off x="8654796" y="34512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公安机关</a:t>
              </a:r>
            </a:p>
          </p:txBody>
        </p:sp>
        <p:sp>
          <p:nvSpPr>
            <p:cNvPr id="15" name="TextBox 15"/>
            <p:cNvSpPr txBox="1"/>
            <p:nvPr/>
          </p:nvSpPr>
          <p:spPr>
            <a:xfrm>
              <a:off x="8657844" y="4092575"/>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执行逮捕</a:t>
              </a:r>
            </a:p>
          </p:txBody>
        </p:sp>
      </p:grpSp>
      <p:grpSp>
        <p:nvGrpSpPr>
          <p:cNvPr id="19" name="p12-limits"/>
          <p:cNvGrpSpPr/>
          <p:nvPr/>
        </p:nvGrpSpPr>
        <p:grpSpPr>
          <a:xfrm>
            <a:off x="447294" y="5683250"/>
            <a:ext cx="8420100" cy="673608"/>
            <a:chOff x="447294" y="5683250"/>
            <a:chExt cx="8420100" cy="673608"/>
          </a:xfrm>
        </p:grpSpPr>
        <p:sp>
          <p:nvSpPr>
            <p:cNvPr id="17" name="TextBox 17"/>
            <p:cNvSpPr txBox="1"/>
            <p:nvPr/>
          </p:nvSpPr>
          <p:spPr>
            <a:xfrm>
              <a:off x="447294" y="568325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不能凭办案人员个人主张完成逮捕；分工也不自动证明每次措施都合法。</a:t>
              </a:r>
            </a:p>
          </p:txBody>
        </p:sp>
        <p:sp>
          <p:nvSpPr>
            <p:cNvPr id="18" name="TextBox 18"/>
            <p:cNvSpPr txBox="1"/>
            <p:nvPr/>
          </p:nvSpPr>
          <p:spPr>
            <a:xfrm>
              <a:off x="450342" y="6092825"/>
              <a:ext cx="62109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第37条另禁止非法拘禁、其他非法限制和非法搜查身体，不能只剩逮捕一项。</a:t>
              </a:r>
            </a:p>
          </p:txBody>
        </p:sp>
      </p:grpSp>
      <p:grpSp>
        <p:nvGrpSpPr>
          <p:cNvPr id="22" name="p12-footer"/>
          <p:cNvGrpSpPr/>
          <p:nvPr/>
        </p:nvGrpSpPr>
        <p:grpSpPr>
          <a:xfrm>
            <a:off x="451866" y="6502400"/>
            <a:ext cx="11247444" cy="205359"/>
            <a:chOff x="451866" y="6502400"/>
            <a:chExt cx="11247444" cy="205359"/>
          </a:xfrm>
        </p:grpSpPr>
        <p:sp>
          <p:nvSpPr>
            <p:cNvPr id="20" name="TextBox 20"/>
            <p:cNvSpPr txBox="1"/>
            <p:nvPr/>
          </p:nvSpPr>
          <p:spPr>
            <a:xfrm>
              <a:off x="451866" y="6502400"/>
              <a:ext cx="440668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宪法第37条。两种判断来源是替代关系，不是检察院依次交法院批准。</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3-title"/>
          <p:cNvGrpSpPr/>
          <p:nvPr/>
        </p:nvGrpSpPr>
        <p:grpSpPr>
          <a:xfrm>
            <a:off x="440436" y="381000"/>
            <a:ext cx="8060131" cy="943864"/>
            <a:chOff x="440436" y="381000"/>
            <a:chExt cx="8060131" cy="9438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先看实际控制了什么</a:t>
              </a:r>
            </a:p>
          </p:txBody>
        </p:sp>
        <p:sp>
          <p:nvSpPr>
            <p:cNvPr id="3" name="TextBox 3"/>
            <p:cNvSpPr txBox="1"/>
            <p:nvPr/>
          </p:nvSpPr>
          <p:spPr>
            <a:xfrm>
              <a:off x="440436" y="679450"/>
              <a:ext cx="8060131"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没有“逮捕”这个名称，就不检查了吗？</a:t>
              </a:r>
            </a:p>
          </p:txBody>
        </p:sp>
      </p:grpSp>
      <p:grpSp>
        <p:nvGrpSpPr>
          <p:cNvPr id="8" name="p13-a"/>
          <p:cNvGrpSpPr/>
          <p:nvPr/>
        </p:nvGrpSpPr>
        <p:grpSpPr>
          <a:xfrm>
            <a:off x="444246" y="1974850"/>
            <a:ext cx="3836289" cy="2010283"/>
            <a:chOff x="444246" y="1974850"/>
            <a:chExt cx="3836289" cy="2010283"/>
          </a:xfrm>
        </p:grpSpPr>
        <p:sp>
          <p:nvSpPr>
            <p:cNvPr id="5" name="TextBox 5"/>
            <p:cNvSpPr txBox="1"/>
            <p:nvPr/>
          </p:nvSpPr>
          <p:spPr>
            <a:xfrm>
              <a:off x="444246" y="197485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情形甲</a:t>
              </a:r>
            </a:p>
          </p:txBody>
        </p:sp>
        <p:sp>
          <p:nvSpPr>
            <p:cNvPr id="6" name="TextBox 6"/>
            <p:cNvSpPr txBox="1"/>
            <p:nvPr/>
          </p:nvSpPr>
          <p:spPr>
            <a:xfrm>
              <a:off x="447294" y="2673350"/>
              <a:ext cx="27439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已按法定条件批准逮捕，</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并依法执行。</a:t>
              </a:r>
            </a:p>
          </p:txBody>
        </p:sp>
        <p:sp>
          <p:nvSpPr>
            <p:cNvPr id="7" name="TextBox 7"/>
            <p:cNvSpPr txBox="1"/>
            <p:nvPr/>
          </p:nvSpPr>
          <p:spPr>
            <a:xfrm>
              <a:off x="450342" y="3721100"/>
              <a:ext cx="38301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这是给定事实，不替后续所有行为作合法评价。</a:t>
              </a:r>
            </a:p>
          </p:txBody>
        </p:sp>
      </p:grpSp>
      <p:grpSp>
        <p:nvGrpSpPr>
          <p:cNvPr id="11" name="p13-b"/>
          <p:cNvGrpSpPr/>
          <p:nvPr/>
        </p:nvGrpSpPr>
        <p:grpSpPr>
          <a:xfrm>
            <a:off x="6502146" y="1974850"/>
            <a:ext cx="3242310" cy="1803781"/>
            <a:chOff x="6502146" y="1974850"/>
            <a:chExt cx="3242310" cy="1803781"/>
          </a:xfrm>
        </p:grpSpPr>
        <p:sp>
          <p:nvSpPr>
            <p:cNvPr id="9" name="TextBox 9"/>
            <p:cNvSpPr txBox="1"/>
            <p:nvPr/>
          </p:nvSpPr>
          <p:spPr>
            <a:xfrm>
              <a:off x="6502146" y="197485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情形乙</a:t>
              </a:r>
            </a:p>
          </p:txBody>
        </p:sp>
        <p:sp>
          <p:nvSpPr>
            <p:cNvPr id="10" name="TextBox 10"/>
            <p:cNvSpPr txBox="1"/>
            <p:nvPr/>
          </p:nvSpPr>
          <p:spPr>
            <a:xfrm>
              <a:off x="6505194" y="2673350"/>
              <a:ext cx="323926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不叫逮捕，却让人在办案区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从上午待到晚上，不许离开，</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也不说明依据和手续。</a:t>
              </a:r>
            </a:p>
          </p:txBody>
        </p:sp>
      </p:grpSp>
      <p:grpSp>
        <p:nvGrpSpPr>
          <p:cNvPr id="17" name="p13-reveal-1"/>
          <p:cNvGrpSpPr/>
          <p:nvPr/>
        </p:nvGrpSpPr>
        <p:grpSpPr>
          <a:xfrm>
            <a:off x="445008" y="4476750"/>
            <a:ext cx="11289792" cy="1889633"/>
            <a:chOff x="445008" y="4476750"/>
            <a:chExt cx="11289792" cy="1889633"/>
          </a:xfrm>
        </p:grpSpPr>
        <p:sp>
          <p:nvSpPr>
            <p:cNvPr id="12" name="Line 12"/>
            <p:cNvSpPr/>
            <p:nvPr/>
          </p:nvSpPr>
          <p:spPr>
            <a:xfrm>
              <a:off x="457200" y="44767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4613275"/>
              <a:ext cx="90708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看处理方式、时长、哪些行动受到限制，再找法律与事实依据。</a:t>
              </a:r>
            </a:p>
          </p:txBody>
        </p:sp>
        <p:sp>
          <p:nvSpPr>
            <p:cNvPr id="14" name="TextBox 14"/>
            <p:cNvSpPr txBox="1"/>
            <p:nvPr/>
          </p:nvSpPr>
          <p:spPr>
            <a:xfrm>
              <a:off x="447294" y="5159375"/>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逮捕还须犯罪证据、刑罚可能性、逮捕必要性等条件。</a:t>
              </a:r>
            </a:p>
          </p:txBody>
        </p:sp>
        <p:sp>
          <p:nvSpPr>
            <p:cNvPr id="15" name="TextBox 15"/>
            <p:cNvSpPr txBox="1"/>
            <p:nvPr/>
          </p:nvSpPr>
          <p:spPr>
            <a:xfrm>
              <a:off x="447294" y="5645150"/>
              <a:ext cx="815759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批准文件不代替实体条件；依法限制行动，也不允许刑讯等非法侵害。</a:t>
              </a:r>
            </a:p>
          </p:txBody>
        </p:sp>
        <p:sp>
          <p:nvSpPr>
            <p:cNvPr id="16" name="TextBox 16"/>
            <p:cNvSpPr txBox="1"/>
            <p:nvPr/>
          </p:nvSpPr>
          <p:spPr>
            <a:xfrm>
              <a:off x="450342" y="6102350"/>
              <a:ext cx="728319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逮捕只是限制人身自由的一种形式，非法拘禁、其他非法限制及非法搜查身体同样须检查。</a:t>
              </a:r>
            </a:p>
          </p:txBody>
        </p:sp>
      </p:grpSp>
      <p:grpSp>
        <p:nvGrpSpPr>
          <p:cNvPr id="20" name="p13-footer"/>
          <p:cNvGrpSpPr/>
          <p:nvPr/>
        </p:nvGrpSpPr>
        <p:grpSpPr>
          <a:xfrm>
            <a:off x="451866" y="6502400"/>
            <a:ext cx="11247444" cy="205359"/>
            <a:chOff x="451866" y="6502400"/>
            <a:chExt cx="11247444" cy="205359"/>
          </a:xfrm>
        </p:grpSpPr>
        <p:sp>
          <p:nvSpPr>
            <p:cNvPr id="18" name="TextBox 18"/>
            <p:cNvSpPr txBox="1"/>
            <p:nvPr/>
          </p:nvSpPr>
          <p:spPr>
            <a:xfrm>
              <a:off x="451866" y="6502400"/>
              <a:ext cx="567884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依据：本讲两情形、宪法第37条及刑事诉讼法相关规定。两情形为教学设定，非真实案件。</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4-title"/>
          <p:cNvGrpSpPr/>
          <p:nvPr/>
        </p:nvGrpSpPr>
        <p:grpSpPr>
          <a:xfrm>
            <a:off x="440436" y="381000"/>
            <a:ext cx="6651955" cy="943864"/>
            <a:chOff x="440436" y="381000"/>
            <a:chExt cx="6651955" cy="943864"/>
          </a:xfrm>
        </p:grpSpPr>
        <p:sp>
          <p:nvSpPr>
            <p:cNvPr id="2" name="TextBox 2"/>
            <p:cNvSpPr txBox="1"/>
            <p:nvPr/>
          </p:nvSpPr>
          <p:spPr>
            <a:xfrm>
              <a:off x="451104" y="381000"/>
              <a:ext cx="377616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程序不是客气，而是可核对的工作</a:t>
              </a:r>
            </a:p>
          </p:txBody>
        </p:sp>
        <p:sp>
          <p:nvSpPr>
            <p:cNvPr id="3" name="TextBox 3"/>
            <p:cNvSpPr txBox="1"/>
            <p:nvPr/>
          </p:nvSpPr>
          <p:spPr>
            <a:xfrm>
              <a:off x="440436" y="679450"/>
              <a:ext cx="6651955"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让“依法办”变成可以检查的事实</a:t>
              </a:r>
            </a:p>
          </p:txBody>
        </p:sp>
      </p:grpSp>
      <p:grpSp>
        <p:nvGrpSpPr>
          <p:cNvPr id="13" name="p14-procedures"/>
          <p:cNvGrpSpPr/>
          <p:nvPr/>
        </p:nvGrpSpPr>
        <p:grpSpPr>
          <a:xfrm>
            <a:off x="444246" y="2003425"/>
            <a:ext cx="11290554" cy="2337181"/>
            <a:chOff x="444246" y="2003425"/>
            <a:chExt cx="11290554" cy="2337181"/>
          </a:xfrm>
        </p:grpSpPr>
        <p:sp>
          <p:nvSpPr>
            <p:cNvPr id="5" name="TextBox 5"/>
            <p:cNvSpPr txBox="1"/>
            <p:nvPr/>
          </p:nvSpPr>
          <p:spPr>
            <a:xfrm>
              <a:off x="444246" y="20034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执行逮捕</a:t>
              </a:r>
            </a:p>
          </p:txBody>
        </p:sp>
        <p:sp>
          <p:nvSpPr>
            <p:cNvPr id="6" name="TextBox 6"/>
            <p:cNvSpPr txBox="1"/>
            <p:nvPr/>
          </p:nvSpPr>
          <p:spPr>
            <a:xfrm>
              <a:off x="447294" y="2701925"/>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出示逮捕证</a:t>
              </a:r>
            </a:p>
          </p:txBody>
        </p:sp>
        <p:sp>
          <p:nvSpPr>
            <p:cNvPr id="7" name="TextBox 7"/>
            <p:cNvSpPr txBox="1"/>
            <p:nvPr/>
          </p:nvSpPr>
          <p:spPr>
            <a:xfrm>
              <a:off x="4330446" y="20034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逮捕以后</a:t>
              </a:r>
            </a:p>
          </p:txBody>
        </p:sp>
        <p:sp>
          <p:nvSpPr>
            <p:cNvPr id="8" name="TextBox 8"/>
            <p:cNvSpPr txBox="1"/>
            <p:nvPr/>
          </p:nvSpPr>
          <p:spPr>
            <a:xfrm>
              <a:off x="4333494" y="270192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立即送看守所</a:t>
              </a:r>
            </a:p>
          </p:txBody>
        </p:sp>
        <p:sp>
          <p:nvSpPr>
            <p:cNvPr id="9" name="TextBox 9"/>
            <p:cNvSpPr txBox="1"/>
            <p:nvPr/>
          </p:nvSpPr>
          <p:spPr>
            <a:xfrm>
              <a:off x="8216646" y="20034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通知家属</a:t>
              </a:r>
            </a:p>
          </p:txBody>
        </p:sp>
        <p:sp>
          <p:nvSpPr>
            <p:cNvPr id="10" name="TextBox 10"/>
            <p:cNvSpPr txBox="1"/>
            <p:nvPr/>
          </p:nvSpPr>
          <p:spPr>
            <a:xfrm>
              <a:off x="8219694" y="2663825"/>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除无法通知的以外，</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24小时内通知</a:t>
              </a:r>
            </a:p>
          </p:txBody>
        </p:sp>
        <p:sp>
          <p:nvSpPr>
            <p:cNvPr id="11" name="Line 11"/>
            <p:cNvSpPr/>
            <p:nvPr/>
          </p:nvSpPr>
          <p:spPr>
            <a:xfrm>
              <a:off x="457200" y="37338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2" name="TextBox 12"/>
            <p:cNvSpPr txBox="1"/>
            <p:nvPr/>
          </p:nvSpPr>
          <p:spPr>
            <a:xfrm>
              <a:off x="447294" y="3959225"/>
              <a:ext cx="844635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搜查另有证件、在场和记录要求，不能把几种措施都概括成“手续齐全”。</a:t>
              </a:r>
            </a:p>
          </p:txBody>
        </p:sp>
      </p:grpSp>
      <p:grpSp>
        <p:nvGrpSpPr>
          <p:cNvPr id="17" name="p14-reveal-1"/>
          <p:cNvGrpSpPr/>
          <p:nvPr/>
        </p:nvGrpSpPr>
        <p:grpSpPr>
          <a:xfrm>
            <a:off x="445008" y="5003800"/>
            <a:ext cx="7288530" cy="1314958"/>
            <a:chOff x="445008" y="5003800"/>
            <a:chExt cx="7288530" cy="1314958"/>
          </a:xfrm>
        </p:grpSpPr>
        <p:sp>
          <p:nvSpPr>
            <p:cNvPr id="14" name="TextBox 14"/>
            <p:cNvSpPr txBox="1"/>
            <p:nvPr/>
          </p:nvSpPr>
          <p:spPr>
            <a:xfrm>
              <a:off x="445008" y="5003800"/>
              <a:ext cx="616305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受到怀疑或调查，不意味着失去全部权利。</a:t>
              </a:r>
            </a:p>
          </p:txBody>
        </p:sp>
        <p:sp>
          <p:nvSpPr>
            <p:cNvPr id="15" name="TextBox 15"/>
            <p:cNvSpPr txBox="1"/>
            <p:nvPr/>
          </p:nvSpPr>
          <p:spPr>
            <a:xfrm>
              <a:off x="447294" y="5540375"/>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依法限制行动，生命和尊严仍须保障；人不能成为办案工具。</a:t>
              </a:r>
            </a:p>
          </p:txBody>
        </p:sp>
        <p:sp>
          <p:nvSpPr>
            <p:cNvPr id="16" name="TextBox 16"/>
            <p:cNvSpPr txBox="1"/>
            <p:nvPr/>
          </p:nvSpPr>
          <p:spPr>
            <a:xfrm>
              <a:off x="450342" y="6054725"/>
              <a:ext cx="728319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教材从人权、人身自由等作生命保障的体系说明；宪法没有单列该名称，不等于没有保护。</a:t>
              </a:r>
            </a:p>
          </p:txBody>
        </p:sp>
      </p:grpSp>
      <p:grpSp>
        <p:nvGrpSpPr>
          <p:cNvPr id="20" name="p14-footer"/>
          <p:cNvGrpSpPr/>
          <p:nvPr/>
        </p:nvGrpSpPr>
        <p:grpSpPr>
          <a:xfrm>
            <a:off x="451866" y="6502400"/>
            <a:ext cx="11247444" cy="205359"/>
            <a:chOff x="451866" y="6502400"/>
            <a:chExt cx="11247444" cy="205359"/>
          </a:xfrm>
        </p:grpSpPr>
        <p:sp>
          <p:nvSpPr>
            <p:cNvPr id="18" name="TextBox 18"/>
            <p:cNvSpPr txBox="1"/>
            <p:nvPr/>
          </p:nvSpPr>
          <p:spPr>
            <a:xfrm>
              <a:off x="451866" y="6502400"/>
              <a:ext cx="594741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依据：现行刑事诉讼法逮捕、搜查规则及本讲说明。这里只展示有别的工作，不代替全部程序。</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14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5-title"/>
          <p:cNvGrpSpPr/>
          <p:nvPr/>
        </p:nvGrpSpPr>
        <p:grpSpPr>
          <a:xfrm>
            <a:off x="440436" y="381000"/>
            <a:ext cx="5666232" cy="918464"/>
            <a:chOff x="440436" y="381000"/>
            <a:chExt cx="5666232" cy="918464"/>
          </a:xfrm>
        </p:grpSpPr>
        <p:sp>
          <p:nvSpPr>
            <p:cNvPr id="2" name="TextBox 2"/>
            <p:cNvSpPr txBox="1"/>
            <p:nvPr/>
          </p:nvSpPr>
          <p:spPr>
            <a:xfrm>
              <a:off x="451104" y="381000"/>
              <a:ext cx="251612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第38条与第39条</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人格利益，与私人生活空间</a:t>
              </a:r>
            </a:p>
          </p:txBody>
        </p:sp>
      </p:grpSp>
      <p:grpSp>
        <p:nvGrpSpPr>
          <p:cNvPr id="9" name="p15-dignity"/>
          <p:cNvGrpSpPr/>
          <p:nvPr/>
        </p:nvGrpSpPr>
        <p:grpSpPr>
          <a:xfrm>
            <a:off x="440436" y="1939925"/>
            <a:ext cx="3176778" cy="2866517"/>
            <a:chOff x="440436" y="1939925"/>
            <a:chExt cx="3176778" cy="2866517"/>
          </a:xfrm>
        </p:grpSpPr>
        <p:sp>
          <p:nvSpPr>
            <p:cNvPr id="5" name="TextBox 5"/>
            <p:cNvSpPr txBox="1"/>
            <p:nvPr/>
          </p:nvSpPr>
          <p:spPr>
            <a:xfrm>
              <a:off x="440436" y="1939925"/>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人格尊严</a:t>
              </a:r>
            </a:p>
          </p:txBody>
        </p:sp>
        <p:sp>
          <p:nvSpPr>
            <p:cNvPr id="6" name="TextBox 6"/>
            <p:cNvSpPr txBox="1"/>
            <p:nvPr/>
          </p:nvSpPr>
          <p:spPr>
            <a:xfrm>
              <a:off x="447294" y="28257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姓名、肖像、名誉、荣誉等</a:t>
              </a:r>
            </a:p>
          </p:txBody>
        </p:sp>
        <p:sp>
          <p:nvSpPr>
            <p:cNvPr id="7" name="TextBox 7"/>
            <p:cNvSpPr txBox="1"/>
            <p:nvPr/>
          </p:nvSpPr>
          <p:spPr>
            <a:xfrm>
              <a:off x="447294" y="3425825"/>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禁止侮辱、诽谤、诬告陷害</a:t>
              </a:r>
            </a:p>
          </p:txBody>
        </p:sp>
        <p:sp>
          <p:nvSpPr>
            <p:cNvPr id="8" name="TextBox 8"/>
            <p:cNvSpPr txBox="1"/>
            <p:nvPr/>
          </p:nvSpPr>
          <p:spPr>
            <a:xfrm>
              <a:off x="445008" y="4337050"/>
              <a:ext cx="2286000"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人与其人格利益</a:t>
              </a:r>
            </a:p>
          </p:txBody>
        </p:sp>
      </p:grpSp>
      <p:grpSp>
        <p:nvGrpSpPr>
          <p:cNvPr id="15" name="p15-reveal-1"/>
          <p:cNvGrpSpPr/>
          <p:nvPr/>
        </p:nvGrpSpPr>
        <p:grpSpPr>
          <a:xfrm>
            <a:off x="6498336" y="1939925"/>
            <a:ext cx="3989451" cy="2866517"/>
            <a:chOff x="6498336" y="1939925"/>
            <a:chExt cx="3989451" cy="2866517"/>
          </a:xfrm>
        </p:grpSpPr>
        <p:sp>
          <p:nvSpPr>
            <p:cNvPr id="10" name="TextBox 10"/>
            <p:cNvSpPr txBox="1"/>
            <p:nvPr/>
          </p:nvSpPr>
          <p:spPr>
            <a:xfrm>
              <a:off x="6498336" y="193992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住宅</a:t>
              </a:r>
            </a:p>
          </p:txBody>
        </p:sp>
        <p:sp>
          <p:nvSpPr>
            <p:cNvPr id="11" name="Freeform 11"/>
            <p:cNvSpPr/>
            <p:nvPr/>
          </p:nvSpPr>
          <p:spPr>
            <a:xfrm>
              <a:off x="6534150" y="2762250"/>
              <a:ext cx="1238250" cy="1200150"/>
            </a:xfrm>
            <a:custGeom>
              <a:avLst/>
              <a:gdLst/>
              <a:ahLst/>
              <a:cxnLst/>
              <a:rect l="l" t="t" r="r" b="b"/>
              <a:pathLst>
                <a:path w="1238250" h="1200150">
                  <a:moveTo>
                    <a:pt x="0" y="0"/>
                  </a:moveTo>
                  <a:lnTo>
                    <a:pt x="1238250" y="0"/>
                  </a:lnTo>
                  <a:lnTo>
                    <a:pt x="1238250" y="1200150"/>
                  </a:lnTo>
                  <a:lnTo>
                    <a:pt x="895350" y="1200150"/>
                  </a:lnTo>
                  <a:moveTo>
                    <a:pt x="552450" y="1200150"/>
                  </a:moveTo>
                  <a:lnTo>
                    <a:pt x="0" y="1200150"/>
                  </a:lnTo>
                  <a:lnTo>
                    <a:pt x="0" y="0"/>
                  </a:lnTo>
                </a:path>
              </a:pathLst>
            </a:custGeom>
            <a:noFill/>
            <a:ln w="19050">
              <a:solidFill>
                <a:schemeClr val="accent3"/>
              </a:solidFill>
            </a:ln>
          </p:spPr>
        </p:sp>
        <p:sp>
          <p:nvSpPr>
            <p:cNvPr id="12" name="TextBox 12"/>
            <p:cNvSpPr txBox="1"/>
            <p:nvPr/>
          </p:nvSpPr>
          <p:spPr>
            <a:xfrm>
              <a:off x="8105394" y="2968625"/>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私人生活空间</a:t>
              </a:r>
            </a:p>
          </p:txBody>
        </p:sp>
        <p:sp>
          <p:nvSpPr>
            <p:cNvPr id="13" name="TextBox 13"/>
            <p:cNvSpPr txBox="1"/>
            <p:nvPr/>
          </p:nvSpPr>
          <p:spPr>
            <a:xfrm>
              <a:off x="8105394" y="34353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禁止非法搜查、侵入</a:t>
              </a:r>
            </a:p>
          </p:txBody>
        </p:sp>
        <p:sp>
          <p:nvSpPr>
            <p:cNvPr id="14" name="TextBox 14"/>
            <p:cNvSpPr txBox="1"/>
            <p:nvPr/>
          </p:nvSpPr>
          <p:spPr>
            <a:xfrm>
              <a:off x="6502908" y="4337050"/>
              <a:ext cx="2286000"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人与其私人空间</a:t>
              </a:r>
            </a:p>
          </p:txBody>
        </p:sp>
      </p:grpSp>
      <p:grpSp>
        <p:nvGrpSpPr>
          <p:cNvPr id="18" name="p15-distinction"/>
          <p:cNvGrpSpPr/>
          <p:nvPr/>
        </p:nvGrpSpPr>
        <p:grpSpPr>
          <a:xfrm>
            <a:off x="447294" y="5581650"/>
            <a:ext cx="11287506" cy="597281"/>
            <a:chOff x="447294" y="5581650"/>
            <a:chExt cx="11287506" cy="597281"/>
          </a:xfrm>
        </p:grpSpPr>
        <p:sp>
          <p:nvSpPr>
            <p:cNvPr id="16" name="Line 16"/>
            <p:cNvSpPr/>
            <p:nvPr/>
          </p:nvSpPr>
          <p:spPr>
            <a:xfrm>
              <a:off x="457200" y="5581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7" name="TextBox 17"/>
            <p:cNvSpPr txBox="1"/>
            <p:nvPr/>
          </p:nvSpPr>
          <p:spPr>
            <a:xfrm>
              <a:off x="447294" y="579755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都关乎人身利益，但不是身体自由的同义词，也不能互相替代。</a:t>
              </a:r>
            </a:p>
          </p:txBody>
        </p:sp>
      </p:grpSp>
      <p:grpSp>
        <p:nvGrpSpPr>
          <p:cNvPr id="21" name="p15-footer"/>
          <p:cNvGrpSpPr/>
          <p:nvPr/>
        </p:nvGrpSpPr>
        <p:grpSpPr>
          <a:xfrm>
            <a:off x="451866" y="6502400"/>
            <a:ext cx="11247444" cy="205359"/>
            <a:chOff x="451866" y="6502400"/>
            <a:chExt cx="11247444" cy="205359"/>
          </a:xfrm>
        </p:grpSpPr>
        <p:sp>
          <p:nvSpPr>
            <p:cNvPr id="19" name="TextBox 19"/>
            <p:cNvSpPr txBox="1"/>
            <p:nvPr/>
          </p:nvSpPr>
          <p:spPr>
            <a:xfrm>
              <a:off x="451866" y="6502400"/>
              <a:ext cx="541027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宪法第38、39条及教材保护对象说明；房间轮廓为教学示意，具体进入依据随后区分。</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15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6-title"/>
          <p:cNvGrpSpPr/>
          <p:nvPr/>
        </p:nvGrpSpPr>
        <p:grpSpPr>
          <a:xfrm>
            <a:off x="440436" y="381000"/>
            <a:ext cx="6605016" cy="918464"/>
            <a:chOff x="440436" y="381000"/>
            <a:chExt cx="6605016"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明文与体系理解分开</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没有单列名称，就没有保护吗？</a:t>
              </a:r>
            </a:p>
          </p:txBody>
        </p:sp>
      </p:grpSp>
      <p:grpSp>
        <p:nvGrpSpPr>
          <p:cNvPr id="9" name="p16-source"/>
          <p:cNvGrpSpPr/>
          <p:nvPr/>
        </p:nvGrpSpPr>
        <p:grpSpPr>
          <a:xfrm>
            <a:off x="444246" y="2041525"/>
            <a:ext cx="2927604" cy="2429383"/>
            <a:chOff x="444246" y="2041525"/>
            <a:chExt cx="2927604" cy="2429383"/>
          </a:xfrm>
        </p:grpSpPr>
        <p:sp>
          <p:nvSpPr>
            <p:cNvPr id="5" name="TextBox 5"/>
            <p:cNvSpPr txBox="1"/>
            <p:nvPr/>
          </p:nvSpPr>
          <p:spPr>
            <a:xfrm>
              <a:off x="445008" y="20415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已有条文</a:t>
              </a:r>
            </a:p>
          </p:txBody>
        </p:sp>
        <p:sp>
          <p:nvSpPr>
            <p:cNvPr id="6" name="TextBox 6"/>
            <p:cNvSpPr txBox="1"/>
            <p:nvPr/>
          </p:nvSpPr>
          <p:spPr>
            <a:xfrm>
              <a:off x="444246" y="27178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人格尊严不受侵犯</a:t>
              </a:r>
            </a:p>
          </p:txBody>
        </p:sp>
        <p:sp>
          <p:nvSpPr>
            <p:cNvPr id="7" name="TextBox 7"/>
            <p:cNvSpPr txBox="1"/>
            <p:nvPr/>
          </p:nvSpPr>
          <p:spPr>
            <a:xfrm>
              <a:off x="444246" y="339407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住宅不受侵犯</a:t>
              </a:r>
            </a:p>
          </p:txBody>
        </p:sp>
        <p:sp>
          <p:nvSpPr>
            <p:cNvPr id="8" name="TextBox 8"/>
            <p:cNvSpPr txBox="1"/>
            <p:nvPr/>
          </p:nvSpPr>
          <p:spPr>
            <a:xfrm>
              <a:off x="450342" y="4206875"/>
              <a:ext cx="27579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宪法并未单列“隐私权”这一名称。</a:t>
              </a:r>
            </a:p>
          </p:txBody>
        </p:sp>
      </p:grpSp>
      <p:grpSp>
        <p:nvGrpSpPr>
          <p:cNvPr id="13" name="p16-reveal-1"/>
          <p:cNvGrpSpPr/>
          <p:nvPr/>
        </p:nvGrpSpPr>
        <p:grpSpPr>
          <a:xfrm>
            <a:off x="6502146" y="2041525"/>
            <a:ext cx="3489960" cy="2080006"/>
            <a:chOff x="6502146" y="2041525"/>
            <a:chExt cx="3489960" cy="2080006"/>
          </a:xfrm>
        </p:grpSpPr>
        <p:sp>
          <p:nvSpPr>
            <p:cNvPr id="10" name="TextBox 10"/>
            <p:cNvSpPr txBox="1"/>
            <p:nvPr/>
          </p:nvSpPr>
          <p:spPr>
            <a:xfrm>
              <a:off x="6502908" y="2041525"/>
              <a:ext cx="228600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教材的学理说明</a:t>
              </a:r>
            </a:p>
          </p:txBody>
        </p:sp>
        <p:sp>
          <p:nvSpPr>
            <p:cNvPr id="11" name="TextBox 11"/>
            <p:cNvSpPr txBox="1"/>
            <p:nvPr/>
          </p:nvSpPr>
          <p:spPr>
            <a:xfrm>
              <a:off x="6502146" y="27178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隐私保护</a:t>
              </a:r>
            </a:p>
          </p:txBody>
        </p:sp>
        <p:sp>
          <p:nvSpPr>
            <p:cNvPr id="12" name="TextBox 12"/>
            <p:cNvSpPr txBox="1"/>
            <p:nvPr/>
          </p:nvSpPr>
          <p:spPr>
            <a:xfrm>
              <a:off x="6505194" y="3378200"/>
              <a:ext cx="34869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从既有条文精神与体系理解，</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并由其他法律进一步具体保护。</a:t>
              </a:r>
            </a:p>
          </p:txBody>
        </p:sp>
      </p:grpSp>
      <p:grpSp>
        <p:nvGrpSpPr>
          <p:cNvPr id="17" name="p16-identity"/>
          <p:cNvGrpSpPr/>
          <p:nvPr/>
        </p:nvGrpSpPr>
        <p:grpSpPr>
          <a:xfrm>
            <a:off x="445008" y="5219700"/>
            <a:ext cx="11289792" cy="1035431"/>
            <a:chOff x="445008" y="5219700"/>
            <a:chExt cx="11289792" cy="1035431"/>
          </a:xfrm>
        </p:grpSpPr>
        <p:sp>
          <p:nvSpPr>
            <p:cNvPr id="14" name="Line 14"/>
            <p:cNvSpPr/>
            <p:nvPr/>
          </p:nvSpPr>
          <p:spPr>
            <a:xfrm>
              <a:off x="457200" y="521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5" name="TextBox 15"/>
            <p:cNvSpPr txBox="1"/>
            <p:nvPr/>
          </p:nvSpPr>
          <p:spPr>
            <a:xfrm>
              <a:off x="445008" y="5365750"/>
              <a:ext cx="781080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不是“宪法明文写了”，也不是已作出的正式宪法解释。</a:t>
              </a:r>
            </a:p>
          </p:txBody>
        </p:sp>
        <p:sp>
          <p:nvSpPr>
            <p:cNvPr id="16" name="TextBox 16"/>
            <p:cNvSpPr txBox="1"/>
            <p:nvPr/>
          </p:nvSpPr>
          <p:spPr>
            <a:xfrm>
              <a:off x="447294" y="5873750"/>
              <a:ext cx="684504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没有该名称不等于无保护；有解释论证也不等于条文明列。</a:t>
              </a:r>
            </a:p>
          </p:txBody>
        </p:sp>
      </p:grpSp>
      <p:grpSp>
        <p:nvGrpSpPr>
          <p:cNvPr id="20" name="p16-footer"/>
          <p:cNvGrpSpPr/>
          <p:nvPr/>
        </p:nvGrpSpPr>
        <p:grpSpPr>
          <a:xfrm>
            <a:off x="451866" y="6502400"/>
            <a:ext cx="11247444" cy="205359"/>
            <a:chOff x="451866" y="6502400"/>
            <a:chExt cx="11247444" cy="205359"/>
          </a:xfrm>
        </p:grpSpPr>
        <p:sp>
          <p:nvSpPr>
            <p:cNvPr id="18" name="TextBox 18"/>
            <p:cNvSpPr txBox="1"/>
            <p:nvPr/>
          </p:nvSpPr>
          <p:spPr>
            <a:xfrm>
              <a:off x="451866" y="6502400"/>
              <a:ext cx="410984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依据：教材的学理说明；此为体系理解，并非正式宪法解释文件。</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16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7-title"/>
          <p:cNvGrpSpPr/>
          <p:nvPr/>
        </p:nvGrpSpPr>
        <p:grpSpPr>
          <a:xfrm>
            <a:off x="440436" y="381000"/>
            <a:ext cx="6605016" cy="918464"/>
            <a:chOff x="440436" y="381000"/>
            <a:chExt cx="6605016"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空间范围与进入依据</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住宅范围广，进入更要分清措施</a:t>
              </a:r>
            </a:p>
          </p:txBody>
        </p:sp>
      </p:grpSp>
      <p:grpSp>
        <p:nvGrpSpPr>
          <p:cNvPr id="11" name="p17-spaces"/>
          <p:cNvGrpSpPr/>
          <p:nvPr/>
        </p:nvGrpSpPr>
        <p:grpSpPr>
          <a:xfrm>
            <a:off x="444246" y="1936750"/>
            <a:ext cx="10253739" cy="1686433"/>
            <a:chOff x="444246" y="1936750"/>
            <a:chExt cx="10253739" cy="1686433"/>
          </a:xfrm>
        </p:grpSpPr>
        <p:sp>
          <p:nvSpPr>
            <p:cNvPr id="5" name="TextBox 5"/>
            <p:cNvSpPr txBox="1"/>
            <p:nvPr/>
          </p:nvSpPr>
          <p:spPr>
            <a:xfrm>
              <a:off x="444246" y="19367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私人生活空间</a:t>
              </a:r>
            </a:p>
          </p:txBody>
        </p:sp>
        <p:sp>
          <p:nvSpPr>
            <p:cNvPr id="6" name="TextBox 6"/>
            <p:cNvSpPr txBox="1"/>
            <p:nvPr/>
          </p:nvSpPr>
          <p:spPr>
            <a:xfrm>
              <a:off x="447294" y="26543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固定住房、宿舍、旅馆等临时住所</a:t>
              </a:r>
            </a:p>
          </p:txBody>
        </p:sp>
        <p:sp>
          <p:nvSpPr>
            <p:cNvPr id="7" name="TextBox 7"/>
            <p:cNvSpPr txBox="1"/>
            <p:nvPr/>
          </p:nvSpPr>
          <p:spPr>
            <a:xfrm>
              <a:off x="450342" y="3359150"/>
              <a:ext cx="31214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不是只按日常“自有房产”来理解住宅。</a:t>
              </a:r>
            </a:p>
          </p:txBody>
        </p:sp>
        <p:sp>
          <p:nvSpPr>
            <p:cNvPr id="8" name="TextBox 8"/>
            <p:cNvSpPr txBox="1"/>
            <p:nvPr/>
          </p:nvSpPr>
          <p:spPr>
            <a:xfrm>
              <a:off x="7207758" y="19748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某些特定工作场所</a:t>
              </a:r>
            </a:p>
          </p:txBody>
        </p:sp>
        <p:sp>
          <p:nvSpPr>
            <p:cNvPr id="9" name="TextBox 9"/>
            <p:cNvSpPr txBox="1"/>
            <p:nvPr/>
          </p:nvSpPr>
          <p:spPr>
            <a:xfrm>
              <a:off x="7210044" y="26543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也可能纳入保护范围</a:t>
              </a:r>
            </a:p>
          </p:txBody>
        </p:sp>
        <p:sp>
          <p:nvSpPr>
            <p:cNvPr id="10" name="TextBox 10"/>
            <p:cNvSpPr txBox="1"/>
            <p:nvPr/>
          </p:nvSpPr>
          <p:spPr>
            <a:xfrm>
              <a:off x="7213092" y="3359150"/>
              <a:ext cx="34848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“可能”仍须具体判断，不是所有工作空间。</a:t>
              </a:r>
            </a:p>
          </p:txBody>
        </p:sp>
      </p:grpSp>
      <p:grpSp>
        <p:nvGrpSpPr>
          <p:cNvPr id="19" name="p17-reveal-1"/>
          <p:cNvGrpSpPr/>
          <p:nvPr/>
        </p:nvGrpSpPr>
        <p:grpSpPr>
          <a:xfrm>
            <a:off x="445008" y="4248150"/>
            <a:ext cx="11289792" cy="2080133"/>
            <a:chOff x="445008" y="4248150"/>
            <a:chExt cx="11289792" cy="2080133"/>
          </a:xfrm>
        </p:grpSpPr>
        <p:sp>
          <p:nvSpPr>
            <p:cNvPr id="12" name="Line 12"/>
            <p:cNvSpPr/>
            <p:nvPr/>
          </p:nvSpPr>
          <p:spPr>
            <a:xfrm>
              <a:off x="457200" y="4248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44037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刑事搜查</a:t>
              </a:r>
            </a:p>
          </p:txBody>
        </p:sp>
        <p:sp>
          <p:nvSpPr>
            <p:cNvPr id="14" name="TextBox 14"/>
            <p:cNvSpPr txBox="1"/>
            <p:nvPr/>
          </p:nvSpPr>
          <p:spPr>
            <a:xfrm>
              <a:off x="4331208" y="44037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行政检查</a:t>
              </a:r>
            </a:p>
          </p:txBody>
        </p:sp>
        <p:sp>
          <p:nvSpPr>
            <p:cNvPr id="15" name="TextBox 15"/>
            <p:cNvSpPr txBox="1"/>
            <p:nvPr/>
          </p:nvSpPr>
          <p:spPr>
            <a:xfrm>
              <a:off x="8217408" y="44037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紧急救助</a:t>
              </a:r>
            </a:p>
          </p:txBody>
        </p:sp>
        <p:sp>
          <p:nvSpPr>
            <p:cNvPr id="16" name="TextBox 16"/>
            <p:cNvSpPr txBox="1"/>
            <p:nvPr/>
          </p:nvSpPr>
          <p:spPr>
            <a:xfrm>
              <a:off x="447294" y="5026025"/>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分别辨认谁来做、为什么、做什么、依据什么。</a:t>
              </a:r>
            </a:p>
          </p:txBody>
        </p:sp>
        <p:sp>
          <p:nvSpPr>
            <p:cNvPr id="17" name="TextBox 17"/>
            <p:cNvSpPr txBox="1"/>
            <p:nvPr/>
          </p:nvSpPr>
          <p:spPr>
            <a:xfrm>
              <a:off x="447294" y="5521325"/>
              <a:ext cx="74225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“办案需要”不是通用授权；“紧急”不使先进入后补纸一律合法。</a:t>
              </a:r>
            </a:p>
          </p:txBody>
        </p:sp>
        <p:sp>
          <p:nvSpPr>
            <p:cNvPr id="18" name="TextBox 18"/>
            <p:cNvSpPr txBox="1"/>
            <p:nvPr/>
          </p:nvSpPr>
          <p:spPr>
            <a:xfrm>
              <a:off x="450342" y="6064250"/>
              <a:ext cx="673798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须分措施找主体、事实、权限与程序，不能把几种任务合并成一种进入住宅的根据。</a:t>
              </a:r>
            </a:p>
          </p:txBody>
        </p:sp>
      </p:grpSp>
      <p:grpSp>
        <p:nvGrpSpPr>
          <p:cNvPr id="22" name="p17-footer"/>
          <p:cNvGrpSpPr/>
          <p:nvPr/>
        </p:nvGrpSpPr>
        <p:grpSpPr>
          <a:xfrm>
            <a:off x="451866" y="6502400"/>
            <a:ext cx="11247444" cy="205359"/>
            <a:chOff x="451866" y="6502400"/>
            <a:chExt cx="11247444" cy="205359"/>
          </a:xfrm>
        </p:grpSpPr>
        <p:sp>
          <p:nvSpPr>
            <p:cNvPr id="20" name="TextBox 20"/>
            <p:cNvSpPr txBox="1"/>
            <p:nvPr/>
          </p:nvSpPr>
          <p:spPr>
            <a:xfrm>
              <a:off x="451866" y="6502400"/>
              <a:ext cx="538200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依据：教材关于广义住宅的说明。这里辨范围与问题，不预先确认某次进入具有授权。</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17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8-title"/>
          <p:cNvGrpSpPr/>
          <p:nvPr/>
        </p:nvGrpSpPr>
        <p:grpSpPr>
          <a:xfrm>
            <a:off x="440436" y="381000"/>
            <a:ext cx="6135624" cy="918464"/>
            <a:chOff x="440436" y="381000"/>
            <a:chExt cx="6135624" cy="918464"/>
          </a:xfrm>
        </p:grpSpPr>
        <p:sp>
          <p:nvSpPr>
            <p:cNvPr id="2" name="TextBox 2"/>
            <p:cNvSpPr txBox="1"/>
            <p:nvPr/>
          </p:nvSpPr>
          <p:spPr>
            <a:xfrm>
              <a:off x="451104" y="381000"/>
              <a:ext cx="393771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法律是真实的，治安检查情境为设例</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警察证，不能代替住宅检查证</a:t>
              </a:r>
            </a:p>
          </p:txBody>
        </p:sp>
      </p:grpSp>
      <p:grpSp>
        <p:nvGrpSpPr>
          <p:cNvPr id="9" name="p18-criminal"/>
          <p:cNvGrpSpPr/>
          <p:nvPr/>
        </p:nvGrpSpPr>
        <p:grpSpPr>
          <a:xfrm>
            <a:off x="444246" y="1774825"/>
            <a:ext cx="3985260" cy="2867533"/>
            <a:chOff x="444246" y="1774825"/>
            <a:chExt cx="3985260" cy="2867533"/>
          </a:xfrm>
        </p:grpSpPr>
        <p:sp>
          <p:nvSpPr>
            <p:cNvPr id="5" name="TextBox 5"/>
            <p:cNvSpPr txBox="1"/>
            <p:nvPr/>
          </p:nvSpPr>
          <p:spPr>
            <a:xfrm>
              <a:off x="444246" y="17748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刑事搜查</a:t>
              </a:r>
            </a:p>
          </p:txBody>
        </p:sp>
        <p:sp>
          <p:nvSpPr>
            <p:cNvPr id="6" name="TextBox 6"/>
            <p:cNvSpPr txBox="1"/>
            <p:nvPr/>
          </p:nvSpPr>
          <p:spPr>
            <a:xfrm>
              <a:off x="447294" y="2368550"/>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为收集犯罪证据、查获犯罪人，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依法搜查有关身体、物品、住所等。</a:t>
              </a:r>
            </a:p>
          </p:txBody>
        </p:sp>
        <p:sp>
          <p:nvSpPr>
            <p:cNvPr id="7" name="TextBox 7"/>
            <p:cNvSpPr txBox="1"/>
            <p:nvPr/>
          </p:nvSpPr>
          <p:spPr>
            <a:xfrm>
              <a:off x="447294" y="3321050"/>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一般应出示搜查证；执行逮捕、</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拘留遇紧急情形，可不另用搜查证。</a:t>
              </a:r>
            </a:p>
          </p:txBody>
        </p:sp>
        <p:sp>
          <p:nvSpPr>
            <p:cNvPr id="8" name="TextBox 8"/>
            <p:cNvSpPr txBox="1"/>
            <p:nvPr/>
          </p:nvSpPr>
          <p:spPr>
            <a:xfrm>
              <a:off x="450342" y="4378325"/>
              <a:ext cx="31032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仍须守相应证件、在场与记录等要求。</a:t>
              </a:r>
            </a:p>
          </p:txBody>
        </p:sp>
      </p:grpSp>
      <p:grpSp>
        <p:nvGrpSpPr>
          <p:cNvPr id="13" name="p18-scenario"/>
          <p:cNvGrpSpPr/>
          <p:nvPr/>
        </p:nvGrpSpPr>
        <p:grpSpPr>
          <a:xfrm>
            <a:off x="6502146" y="1774825"/>
            <a:ext cx="3737610" cy="2651506"/>
            <a:chOff x="6502146" y="1774825"/>
            <a:chExt cx="3737610" cy="2651506"/>
          </a:xfrm>
        </p:grpSpPr>
        <p:sp>
          <p:nvSpPr>
            <p:cNvPr id="10" name="TextBox 10"/>
            <p:cNvSpPr txBox="1"/>
            <p:nvPr/>
          </p:nvSpPr>
          <p:spPr>
            <a:xfrm>
              <a:off x="6502146" y="177482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治安住宅检查</a:t>
              </a:r>
            </a:p>
          </p:txBody>
        </p:sp>
        <p:sp>
          <p:nvSpPr>
            <p:cNvPr id="11" name="TextBox 11"/>
            <p:cNvSpPr txBox="1"/>
            <p:nvPr/>
          </p:nvSpPr>
          <p:spPr>
            <a:xfrm>
              <a:off x="6505194" y="2368550"/>
              <a:ext cx="373456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两名民警调查涉嫌治安违法行为；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已出示人民警察证，却没有</a:t>
              </a:r>
              <a:br>
                <a:rPr lang="zh-CN" sz="1950" dirty="0">
                  <a:solidFill>
                    <a:schemeClr val="accent1"/>
                  </a:solidFill>
                  <a:latin typeface="+mn-lt"/>
                  <a:ea typeface="+mn-ea"/>
                  <a:cs typeface="+mn-cs"/>
                </a:rPr>
              </a:br>
              <a:r>
                <a:rPr lang="zh-CN" sz="1950" dirty="0">
                  <a:solidFill>
                    <a:schemeClr val="accent2"/>
                  </a:solidFill>
                  <a:latin typeface="+mn-lt"/>
                  <a:ea typeface="+mn-ea"/>
                  <a:cs typeface="+mn-cs"/>
                </a:rPr>
                <a:t>县级以上公安机关开具的检查证。</a:t>
              </a:r>
            </a:p>
          </p:txBody>
        </p:sp>
        <p:sp>
          <p:nvSpPr>
            <p:cNvPr id="12" name="TextBox 12"/>
            <p:cNvSpPr txBox="1"/>
            <p:nvPr/>
          </p:nvSpPr>
          <p:spPr>
            <a:xfrm>
              <a:off x="6505194" y="3683000"/>
              <a:ext cx="29916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不是敲门询问、住户邀请，</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也不是紧急救助。</a:t>
              </a:r>
            </a:p>
          </p:txBody>
        </p:sp>
      </p:grpSp>
      <p:grpSp>
        <p:nvGrpSpPr>
          <p:cNvPr id="17" name="p18-reveal-1"/>
          <p:cNvGrpSpPr/>
          <p:nvPr/>
        </p:nvGrpSpPr>
        <p:grpSpPr>
          <a:xfrm>
            <a:off x="447294" y="4892675"/>
            <a:ext cx="6845046" cy="1505331"/>
            <a:chOff x="447294" y="4892675"/>
            <a:chExt cx="6845046" cy="1505331"/>
          </a:xfrm>
        </p:grpSpPr>
        <p:sp>
          <p:nvSpPr>
            <p:cNvPr id="14" name="TextBox 14"/>
            <p:cNvSpPr txBox="1"/>
            <p:nvPr/>
          </p:nvSpPr>
          <p:spPr>
            <a:xfrm>
              <a:off x="447294" y="4892675"/>
              <a:ext cx="6619684"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第103条：检查公民住所，须出示县级以上人民政府公安机关</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开具的检查证。例中缺证，不符合这一项文书要求。</a:t>
              </a:r>
            </a:p>
          </p:txBody>
        </p:sp>
        <p:sp>
          <p:nvSpPr>
            <p:cNvPr id="15" name="TextBox 15"/>
            <p:cNvSpPr txBox="1"/>
            <p:nvPr/>
          </p:nvSpPr>
          <p:spPr>
            <a:xfrm>
              <a:off x="447294" y="5654675"/>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刑事紧急特例不能移用；住户未拒绝，也不代替法定根据。</a:t>
              </a:r>
            </a:p>
          </p:txBody>
        </p:sp>
        <p:sp>
          <p:nvSpPr>
            <p:cNvPr id="16" name="TextBox 16"/>
            <p:cNvSpPr txBox="1"/>
            <p:nvPr/>
          </p:nvSpPr>
          <p:spPr>
            <a:xfrm>
              <a:off x="447294" y="6016625"/>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证件具备仍须核其他条件；此处未判断全部后果与责任。</a:t>
              </a:r>
            </a:p>
          </p:txBody>
        </p:sp>
      </p:grpSp>
      <p:grpSp>
        <p:nvGrpSpPr>
          <p:cNvPr id="20" name="p18-footer"/>
          <p:cNvGrpSpPr/>
          <p:nvPr/>
        </p:nvGrpSpPr>
        <p:grpSpPr>
          <a:xfrm>
            <a:off x="451866" y="6502400"/>
            <a:ext cx="11247444" cy="205359"/>
            <a:chOff x="451866" y="6502400"/>
            <a:chExt cx="11247444" cy="205359"/>
          </a:xfrm>
        </p:grpSpPr>
        <p:sp>
          <p:nvSpPr>
            <p:cNvPr id="18" name="TextBox 18"/>
            <p:cNvSpPr txBox="1"/>
            <p:nvPr/>
          </p:nvSpPr>
          <p:spPr>
            <a:xfrm>
              <a:off x="451866" y="6502400"/>
              <a:ext cx="578485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2026年施行治安管理处罚法第103条；刑事诉讼法搜查相关规则。不同措施的特例不可互换。</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18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9-title"/>
          <p:cNvGrpSpPr/>
          <p:nvPr/>
        </p:nvGrpSpPr>
        <p:grpSpPr>
          <a:xfrm>
            <a:off x="440436" y="381000"/>
            <a:ext cx="6135624" cy="918464"/>
            <a:chOff x="440436" y="381000"/>
            <a:chExt cx="6135624" cy="918464"/>
          </a:xfrm>
        </p:grpSpPr>
        <p:sp>
          <p:nvSpPr>
            <p:cNvPr id="2" name="TextBox 2"/>
            <p:cNvSpPr txBox="1"/>
            <p:nvPr/>
          </p:nvSpPr>
          <p:spPr>
            <a:xfrm>
              <a:off x="451104" y="381000"/>
              <a:ext cx="314614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第40条：保护与特定例外</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检查通信，三个条件共同限定</a:t>
              </a:r>
            </a:p>
          </p:txBody>
        </p:sp>
      </p:grpSp>
      <p:grpSp>
        <p:nvGrpSpPr>
          <p:cNvPr id="7" name="p19-protection"/>
          <p:cNvGrpSpPr/>
          <p:nvPr/>
        </p:nvGrpSpPr>
        <p:grpSpPr>
          <a:xfrm>
            <a:off x="445008" y="1822450"/>
            <a:ext cx="5534787" cy="889381"/>
            <a:chOff x="445008" y="1822450"/>
            <a:chExt cx="5534787" cy="889381"/>
          </a:xfrm>
        </p:grpSpPr>
        <p:sp>
          <p:nvSpPr>
            <p:cNvPr id="5" name="TextBox 5"/>
            <p:cNvSpPr txBox="1"/>
            <p:nvPr/>
          </p:nvSpPr>
          <p:spPr>
            <a:xfrm>
              <a:off x="445008" y="18224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通信自由与通信秘密受保护</a:t>
              </a:r>
            </a:p>
          </p:txBody>
        </p:sp>
        <p:sp>
          <p:nvSpPr>
            <p:cNvPr id="6" name="TextBox 6"/>
            <p:cNvSpPr txBox="1"/>
            <p:nvPr/>
          </p:nvSpPr>
          <p:spPr>
            <a:xfrm>
              <a:off x="447294" y="23304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既关乎私生活的秘密，也关乎表达行为的自由。</a:t>
              </a:r>
            </a:p>
          </p:txBody>
        </p:sp>
      </p:grpSp>
      <p:grpSp>
        <p:nvGrpSpPr>
          <p:cNvPr id="16" name="p19-reveal-1"/>
          <p:cNvGrpSpPr/>
          <p:nvPr/>
        </p:nvGrpSpPr>
        <p:grpSpPr>
          <a:xfrm>
            <a:off x="444246" y="3203575"/>
            <a:ext cx="11271504" cy="2545842"/>
            <a:chOff x="444246" y="3203575"/>
            <a:chExt cx="11271504" cy="2545842"/>
          </a:xfrm>
        </p:grpSpPr>
        <p:sp>
          <p:nvSpPr>
            <p:cNvPr id="8" name="TextBox 8"/>
            <p:cNvSpPr txBox="1"/>
            <p:nvPr/>
          </p:nvSpPr>
          <p:spPr>
            <a:xfrm>
              <a:off x="444246" y="32035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目的</a:t>
              </a:r>
            </a:p>
          </p:txBody>
        </p:sp>
        <p:sp>
          <p:nvSpPr>
            <p:cNvPr id="9" name="TextBox 9"/>
            <p:cNvSpPr txBox="1"/>
            <p:nvPr/>
          </p:nvSpPr>
          <p:spPr>
            <a:xfrm>
              <a:off x="447294" y="381635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国家安全，或者</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追查刑事犯罪的需要</a:t>
              </a:r>
            </a:p>
          </p:txBody>
        </p:sp>
        <p:sp>
          <p:nvSpPr>
            <p:cNvPr id="10" name="TextBox 10"/>
            <p:cNvSpPr txBox="1"/>
            <p:nvPr/>
          </p:nvSpPr>
          <p:spPr>
            <a:xfrm>
              <a:off x="4330446" y="32035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主体</a:t>
              </a:r>
            </a:p>
          </p:txBody>
        </p:sp>
        <p:sp>
          <p:nvSpPr>
            <p:cNvPr id="11" name="TextBox 11"/>
            <p:cNvSpPr txBox="1"/>
            <p:nvPr/>
          </p:nvSpPr>
          <p:spPr>
            <a:xfrm>
              <a:off x="4333494" y="38544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公安机关或者检察机关</a:t>
              </a:r>
            </a:p>
          </p:txBody>
        </p:sp>
        <p:sp>
          <p:nvSpPr>
            <p:cNvPr id="12" name="TextBox 12"/>
            <p:cNvSpPr txBox="1"/>
            <p:nvPr/>
          </p:nvSpPr>
          <p:spPr>
            <a:xfrm>
              <a:off x="8216646" y="32035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程序</a:t>
              </a:r>
            </a:p>
          </p:txBody>
        </p:sp>
        <p:sp>
          <p:nvSpPr>
            <p:cNvPr id="13" name="TextBox 13"/>
            <p:cNvSpPr txBox="1"/>
            <p:nvPr/>
          </p:nvSpPr>
          <p:spPr>
            <a:xfrm>
              <a:off x="8219694" y="38544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依照法律规定的程序</a:t>
              </a:r>
            </a:p>
          </p:txBody>
        </p:sp>
        <p:sp>
          <p:nvSpPr>
            <p:cNvPr id="14" name="Freeform 14"/>
            <p:cNvSpPr/>
            <p:nvPr/>
          </p:nvSpPr>
          <p:spPr>
            <a:xfrm>
              <a:off x="476250" y="4895850"/>
              <a:ext cx="11239500" cy="495300"/>
            </a:xfrm>
            <a:custGeom>
              <a:avLst/>
              <a:gdLst/>
              <a:ahLst/>
              <a:cxnLst/>
              <a:rect l="l" t="t" r="r" b="b"/>
              <a:pathLst>
                <a:path w="11239500" h="495300">
                  <a:moveTo>
                    <a:pt x="0" y="0"/>
                  </a:moveTo>
                  <a:lnTo>
                    <a:pt x="0" y="190500"/>
                  </a:lnTo>
                  <a:lnTo>
                    <a:pt x="11239500" y="190500"/>
                  </a:lnTo>
                  <a:lnTo>
                    <a:pt x="11239500" y="0"/>
                  </a:lnTo>
                  <a:moveTo>
                    <a:pt x="5619750" y="190500"/>
                  </a:moveTo>
                  <a:lnTo>
                    <a:pt x="5619750" y="495300"/>
                  </a:lnTo>
                </a:path>
              </a:pathLst>
            </a:custGeom>
            <a:noFill/>
            <a:ln w="19050">
              <a:solidFill>
                <a:schemeClr val="accent2"/>
              </a:solidFill>
            </a:ln>
          </p:spPr>
        </p:sp>
        <p:sp>
          <p:nvSpPr>
            <p:cNvPr id="15" name="TextBox 15"/>
            <p:cNvSpPr txBox="1"/>
            <p:nvPr/>
          </p:nvSpPr>
          <p:spPr>
            <a:xfrm>
              <a:off x="445008" y="5280025"/>
              <a:ext cx="810158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不是三选一：只满足目的，或只对上机关名称，都不够。</a:t>
              </a:r>
            </a:p>
          </p:txBody>
        </p:sp>
      </p:grpSp>
      <p:grpSp>
        <p:nvGrpSpPr>
          <p:cNvPr id="18" name="p19-boundary"/>
          <p:cNvGrpSpPr/>
          <p:nvPr/>
        </p:nvGrpSpPr>
        <p:grpSpPr>
          <a:xfrm>
            <a:off x="447294" y="5949950"/>
            <a:ext cx="8183842" cy="381381"/>
            <a:chOff x="447294" y="5949950"/>
            <a:chExt cx="8183842" cy="381381"/>
          </a:xfrm>
        </p:grpSpPr>
        <p:sp>
          <p:nvSpPr>
            <p:cNvPr id="17" name="TextBox 17"/>
            <p:cNvSpPr txBox="1"/>
            <p:nvPr/>
          </p:nvSpPr>
          <p:spPr>
            <a:xfrm>
              <a:off x="447294" y="5949950"/>
              <a:ext cx="818384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其他组织和个人不得任意侵犯；不能用泛泛“公共利益”扩大这项例外。</a:t>
              </a:r>
            </a:p>
          </p:txBody>
        </p:sp>
      </p:grpSp>
      <p:grpSp>
        <p:nvGrpSpPr>
          <p:cNvPr id="21" name="p19-footer"/>
          <p:cNvGrpSpPr/>
          <p:nvPr/>
        </p:nvGrpSpPr>
        <p:grpSpPr>
          <a:xfrm>
            <a:off x="451866" y="6502400"/>
            <a:ext cx="11247444" cy="205359"/>
            <a:chOff x="451866" y="6502400"/>
            <a:chExt cx="11247444" cy="205359"/>
          </a:xfrm>
        </p:grpSpPr>
        <p:sp>
          <p:nvSpPr>
            <p:cNvPr id="19" name="TextBox 19"/>
            <p:cNvSpPr txBox="1"/>
            <p:nvPr/>
          </p:nvSpPr>
          <p:spPr>
            <a:xfrm>
              <a:off x="451866" y="6502400"/>
              <a:ext cx="525479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宪法第40条。三条件是同时限定；具体工具权限、法律程序须继续到相应法律核对。</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19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0-title"/>
          <p:cNvGrpSpPr/>
          <p:nvPr/>
        </p:nvGrpSpPr>
        <p:grpSpPr>
          <a:xfrm>
            <a:off x="440436" y="381000"/>
            <a:ext cx="6605016" cy="918464"/>
            <a:chOff x="440436" y="381000"/>
            <a:chExt cx="6605016"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国家安全机关与具体授权</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机关怎样衔接，要看事项和法律</a:t>
              </a:r>
            </a:p>
          </p:txBody>
        </p:sp>
      </p:grpSp>
      <p:grpSp>
        <p:nvGrpSpPr>
          <p:cNvPr id="7" name="p20-history"/>
          <p:cNvGrpSpPr/>
          <p:nvPr/>
        </p:nvGrpSpPr>
        <p:grpSpPr>
          <a:xfrm>
            <a:off x="445008" y="1860550"/>
            <a:ext cx="5823547" cy="870331"/>
            <a:chOff x="445008" y="1860550"/>
            <a:chExt cx="5823547" cy="870331"/>
          </a:xfrm>
        </p:grpSpPr>
        <p:sp>
          <p:nvSpPr>
            <p:cNvPr id="5" name="TextBox 5"/>
            <p:cNvSpPr txBox="1"/>
            <p:nvPr/>
          </p:nvSpPr>
          <p:spPr>
            <a:xfrm>
              <a:off x="445008" y="1860550"/>
              <a:ext cx="396605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教材引1983年机关职权安排</a:t>
              </a:r>
            </a:p>
          </p:txBody>
        </p:sp>
        <p:sp>
          <p:nvSpPr>
            <p:cNvPr id="6" name="TextBox 6"/>
            <p:cNvSpPr txBox="1"/>
            <p:nvPr/>
          </p:nvSpPr>
          <p:spPr>
            <a:xfrm>
              <a:off x="447294" y="2349500"/>
              <a:ext cx="582126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这是历史机关与授权安排，并未修改宪法第40条。</a:t>
              </a:r>
            </a:p>
          </p:txBody>
        </p:sp>
      </p:grpSp>
      <p:grpSp>
        <p:nvGrpSpPr>
          <p:cNvPr id="13" name="p20-reveal-1"/>
          <p:cNvGrpSpPr/>
          <p:nvPr/>
        </p:nvGrpSpPr>
        <p:grpSpPr>
          <a:xfrm>
            <a:off x="445008" y="3105150"/>
            <a:ext cx="11289792" cy="2016506"/>
            <a:chOff x="445008" y="3105150"/>
            <a:chExt cx="11289792" cy="2016506"/>
          </a:xfrm>
        </p:grpSpPr>
        <p:sp>
          <p:nvSpPr>
            <p:cNvPr id="8" name="Line 8"/>
            <p:cNvSpPr/>
            <p:nvPr/>
          </p:nvSpPr>
          <p:spPr>
            <a:xfrm>
              <a:off x="457200" y="3105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5008" y="3327400"/>
              <a:ext cx="24636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刑事诉讼法第4条</a:t>
              </a:r>
            </a:p>
          </p:txBody>
        </p:sp>
        <p:sp>
          <p:nvSpPr>
            <p:cNvPr id="10" name="TextBox 10"/>
            <p:cNvSpPr txBox="1"/>
            <p:nvPr/>
          </p:nvSpPr>
          <p:spPr>
            <a:xfrm>
              <a:off x="4485894" y="3282950"/>
              <a:ext cx="44775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国安机关办理危害国家安全的刑事案件，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依法行使与公安机关相同的职权。</a:t>
              </a:r>
            </a:p>
          </p:txBody>
        </p:sp>
        <p:sp>
          <p:nvSpPr>
            <p:cNvPr id="11" name="TextBox 11"/>
            <p:cNvSpPr txBox="1"/>
            <p:nvPr/>
          </p:nvSpPr>
          <p:spPr>
            <a:xfrm>
              <a:off x="445008" y="4422775"/>
              <a:ext cx="181752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邮政法第3条</a:t>
              </a:r>
            </a:p>
          </p:txBody>
        </p:sp>
        <p:sp>
          <p:nvSpPr>
            <p:cNvPr id="12" name="TextBox 12"/>
            <p:cNvSpPr txBox="1"/>
            <p:nvPr/>
          </p:nvSpPr>
          <p:spPr>
            <a:xfrm>
              <a:off x="4485894" y="4378325"/>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列出公安、国安、检察机关，</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并规定检查通信的相应条件。</a:t>
              </a:r>
            </a:p>
          </p:txBody>
        </p:sp>
      </p:grpSp>
      <p:grpSp>
        <p:nvGrpSpPr>
          <p:cNvPr id="15" name="p20-limits"/>
          <p:cNvGrpSpPr/>
          <p:nvPr/>
        </p:nvGrpSpPr>
        <p:grpSpPr>
          <a:xfrm>
            <a:off x="445008" y="5803900"/>
            <a:ext cx="6486144" cy="469392"/>
            <a:chOff x="445008" y="5803900"/>
            <a:chExt cx="6486144" cy="469392"/>
          </a:xfrm>
        </p:grpSpPr>
        <p:sp>
          <p:nvSpPr>
            <p:cNvPr id="14" name="TextBox 14"/>
            <p:cNvSpPr txBox="1"/>
            <p:nvPr/>
          </p:nvSpPr>
          <p:spPr>
            <a:xfrm>
              <a:off x="445008" y="5803900"/>
              <a:ext cx="648614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不是三个机关在任何事项上都可以任意互换。</a:t>
              </a:r>
            </a:p>
          </p:txBody>
        </p:sp>
      </p:grpSp>
      <p:grpSp>
        <p:nvGrpSpPr>
          <p:cNvPr id="18" name="p20-footer"/>
          <p:cNvGrpSpPr/>
          <p:nvPr/>
        </p:nvGrpSpPr>
        <p:grpSpPr>
          <a:xfrm>
            <a:off x="451866" y="6502400"/>
            <a:ext cx="11247444" cy="205359"/>
            <a:chOff x="451866" y="6502400"/>
            <a:chExt cx="11247444" cy="205359"/>
          </a:xfrm>
        </p:grpSpPr>
        <p:sp>
          <p:nvSpPr>
            <p:cNvPr id="16" name="TextBox 16"/>
            <p:cNvSpPr txBox="1"/>
            <p:nvPr/>
          </p:nvSpPr>
          <p:spPr>
            <a:xfrm>
              <a:off x="451866" y="6502400"/>
              <a:ext cx="553749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历史说明依教材；今日授权据现行刑事诉讼法第4条、邮政法第3条。不同事项分别适用。</a:t>
              </a:r>
            </a:p>
          </p:txBody>
        </p:sp>
        <p:sp>
          <p:nvSpPr>
            <p:cNvPr id="17" name="TextBox 1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1-title"/>
          <p:cNvGrpSpPr/>
          <p:nvPr/>
        </p:nvGrpSpPr>
        <p:grpSpPr>
          <a:xfrm>
            <a:off x="440436" y="381000"/>
            <a:ext cx="7590739" cy="943864"/>
            <a:chOff x="440436" y="381000"/>
            <a:chExt cx="7590739" cy="9438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传统邮件中的一项刑事侦查规则</a:t>
              </a:r>
            </a:p>
          </p:txBody>
        </p:sp>
        <p:sp>
          <p:nvSpPr>
            <p:cNvPr id="3" name="TextBox 3"/>
            <p:cNvSpPr txBox="1"/>
            <p:nvPr/>
          </p:nvSpPr>
          <p:spPr>
            <a:xfrm>
              <a:off x="440436" y="679450"/>
              <a:ext cx="7590739"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“认为需要”，怎样进入批准和办理？</a:t>
              </a:r>
            </a:p>
          </p:txBody>
        </p:sp>
      </p:grpSp>
      <p:grpSp>
        <p:nvGrpSpPr>
          <p:cNvPr id="9" name="p21-mail"/>
          <p:cNvGrpSpPr/>
          <p:nvPr/>
        </p:nvGrpSpPr>
        <p:grpSpPr>
          <a:xfrm>
            <a:off x="447294" y="1943100"/>
            <a:ext cx="2907411" cy="2823083"/>
            <a:chOff x="447294" y="1943100"/>
            <a:chExt cx="2907411" cy="2823083"/>
          </a:xfrm>
        </p:grpSpPr>
        <p:sp>
          <p:nvSpPr>
            <p:cNvPr id="5" name="Rectangle 5"/>
            <p:cNvSpPr/>
            <p:nvPr/>
          </p:nvSpPr>
          <p:spPr>
            <a:xfrm>
              <a:off x="476250" y="1943100"/>
              <a:ext cx="2800350" cy="1714500"/>
            </a:xfrm>
            <a:prstGeom prst="rect">
              <a:avLst/>
            </a:prstGeom>
            <a:solidFill>
              <a:schemeClr val="lt2"/>
            </a:solidFill>
            <a:ln w="19050">
              <a:solidFill>
                <a:schemeClr val="accent3"/>
              </a:solidFill>
            </a:ln>
          </p:spPr>
        </p:sp>
        <p:sp>
          <p:nvSpPr>
            <p:cNvPr id="6" name="Freeform 6"/>
            <p:cNvSpPr/>
            <p:nvPr/>
          </p:nvSpPr>
          <p:spPr>
            <a:xfrm>
              <a:off x="476250" y="1943100"/>
              <a:ext cx="2800350" cy="1009650"/>
            </a:xfrm>
            <a:custGeom>
              <a:avLst/>
              <a:gdLst/>
              <a:ahLst/>
              <a:cxnLst/>
              <a:rect l="l" t="t" r="r" b="b"/>
              <a:pathLst>
                <a:path w="2800350" h="1009650">
                  <a:moveTo>
                    <a:pt x="0" y="0"/>
                  </a:moveTo>
                  <a:lnTo>
                    <a:pt x="1400175" y="1009650"/>
                  </a:lnTo>
                  <a:lnTo>
                    <a:pt x="2800350" y="0"/>
                  </a:lnTo>
                </a:path>
              </a:pathLst>
            </a:custGeom>
            <a:noFill/>
            <a:ln w="19050">
              <a:solidFill>
                <a:schemeClr val="accent3"/>
              </a:solidFill>
            </a:ln>
          </p:spPr>
        </p:sp>
        <p:sp>
          <p:nvSpPr>
            <p:cNvPr id="7" name="TextBox 7"/>
            <p:cNvSpPr txBox="1"/>
            <p:nvPr/>
          </p:nvSpPr>
          <p:spPr>
            <a:xfrm>
              <a:off x="447294" y="40068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犯罪嫌疑人的邮件、电报</a:t>
              </a:r>
            </a:p>
          </p:txBody>
        </p:sp>
        <p:sp>
          <p:nvSpPr>
            <p:cNvPr id="8" name="TextBox 8"/>
            <p:cNvSpPr txBox="1"/>
            <p:nvPr/>
          </p:nvSpPr>
          <p:spPr>
            <a:xfrm>
              <a:off x="450342" y="4502150"/>
              <a:ext cx="2739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对象不能无声换成任何人的通信。</a:t>
              </a:r>
            </a:p>
          </p:txBody>
        </p:sp>
      </p:grpSp>
      <p:grpSp>
        <p:nvGrpSpPr>
          <p:cNvPr id="18" name="p21-reveal-1"/>
          <p:cNvGrpSpPr/>
          <p:nvPr/>
        </p:nvGrpSpPr>
        <p:grpSpPr>
          <a:xfrm>
            <a:off x="4257294" y="1930400"/>
            <a:ext cx="6845046" cy="2715006"/>
            <a:chOff x="4257294" y="1930400"/>
            <a:chExt cx="6845046" cy="2715006"/>
          </a:xfrm>
        </p:grpSpPr>
        <p:sp>
          <p:nvSpPr>
            <p:cNvPr id="10" name="TextBox 10"/>
            <p:cNvSpPr txBox="1"/>
            <p:nvPr/>
          </p:nvSpPr>
          <p:spPr>
            <a:xfrm>
              <a:off x="4257294" y="19304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侦查人员认为需要扣押</a:t>
              </a:r>
            </a:p>
          </p:txBody>
        </p:sp>
        <p:sp>
          <p:nvSpPr>
            <p:cNvPr id="11" name="Line 11"/>
            <p:cNvSpPr/>
            <p:nvPr/>
          </p:nvSpPr>
          <p:spPr>
            <a:xfrm>
              <a:off x="4514850" y="2362200"/>
              <a:ext cx="9525" cy="323850"/>
            </a:xfrm>
            <a:custGeom>
              <a:avLst/>
              <a:gdLst/>
              <a:ahLst/>
              <a:cxnLst/>
              <a:rect l="l" t="t" r="r" b="b"/>
              <a:pathLst>
                <a:path w="9525" h="323850">
                  <a:moveTo>
                    <a:pt x="0" y="0"/>
                  </a:moveTo>
                  <a:lnTo>
                    <a:pt x="0" y="323850"/>
                  </a:lnTo>
                </a:path>
              </a:pathLst>
            </a:custGeom>
            <a:noFill/>
            <a:ln w="19050">
              <a:solidFill>
                <a:schemeClr val="accent3"/>
              </a:solidFill>
            </a:ln>
          </p:spPr>
        </p:sp>
        <p:sp>
          <p:nvSpPr>
            <p:cNvPr id="12" name="Freeform 12"/>
            <p:cNvSpPr/>
            <p:nvPr/>
          </p:nvSpPr>
          <p:spPr>
            <a:xfrm>
              <a:off x="4448175" y="2552700"/>
              <a:ext cx="133350" cy="133350"/>
            </a:xfrm>
            <a:custGeom>
              <a:avLst/>
              <a:gdLst/>
              <a:ahLst/>
              <a:cxnLst/>
              <a:rect l="l" t="t" r="r" b="b"/>
              <a:pathLst>
                <a:path w="133350" h="133350">
                  <a:moveTo>
                    <a:pt x="66675" y="133350"/>
                  </a:moveTo>
                  <a:lnTo>
                    <a:pt x="0" y="0"/>
                  </a:lnTo>
                  <a:lnTo>
                    <a:pt x="133350" y="0"/>
                  </a:lnTo>
                  <a:close/>
                </a:path>
              </a:pathLst>
            </a:custGeom>
            <a:solidFill>
              <a:schemeClr val="accent3"/>
            </a:solidFill>
            <a:ln>
              <a:noFill/>
            </a:ln>
          </p:spPr>
        </p:sp>
        <p:sp>
          <p:nvSpPr>
            <p:cNvPr id="13" name="TextBox 13"/>
            <p:cNvSpPr txBox="1"/>
            <p:nvPr/>
          </p:nvSpPr>
          <p:spPr>
            <a:xfrm>
              <a:off x="4864608" y="260350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经公安机关或者检察院批准</a:t>
              </a:r>
            </a:p>
          </p:txBody>
        </p:sp>
        <p:sp>
          <p:nvSpPr>
            <p:cNvPr id="14" name="Line 14"/>
            <p:cNvSpPr/>
            <p:nvPr/>
          </p:nvSpPr>
          <p:spPr>
            <a:xfrm>
              <a:off x="4514850" y="3143250"/>
              <a:ext cx="9525" cy="323850"/>
            </a:xfrm>
            <a:custGeom>
              <a:avLst/>
              <a:gdLst/>
              <a:ahLst/>
              <a:cxnLst/>
              <a:rect l="l" t="t" r="r" b="b"/>
              <a:pathLst>
                <a:path w="9525" h="323850">
                  <a:moveTo>
                    <a:pt x="0" y="0"/>
                  </a:moveTo>
                  <a:lnTo>
                    <a:pt x="0" y="323850"/>
                  </a:lnTo>
                </a:path>
              </a:pathLst>
            </a:custGeom>
            <a:noFill/>
            <a:ln w="19050">
              <a:solidFill>
                <a:schemeClr val="accent3"/>
              </a:solidFill>
            </a:ln>
          </p:spPr>
        </p:sp>
        <p:sp>
          <p:nvSpPr>
            <p:cNvPr id="15" name="Freeform 15"/>
            <p:cNvSpPr/>
            <p:nvPr/>
          </p:nvSpPr>
          <p:spPr>
            <a:xfrm>
              <a:off x="4448175" y="3333750"/>
              <a:ext cx="133350" cy="133350"/>
            </a:xfrm>
            <a:custGeom>
              <a:avLst/>
              <a:gdLst/>
              <a:ahLst/>
              <a:cxnLst/>
              <a:rect l="l" t="t" r="r" b="b"/>
              <a:pathLst>
                <a:path w="133350" h="133350">
                  <a:moveTo>
                    <a:pt x="66675" y="133350"/>
                  </a:moveTo>
                  <a:lnTo>
                    <a:pt x="0" y="0"/>
                  </a:lnTo>
                  <a:lnTo>
                    <a:pt x="133350" y="0"/>
                  </a:lnTo>
                  <a:close/>
                </a:path>
              </a:pathLst>
            </a:custGeom>
            <a:solidFill>
              <a:schemeClr val="accent3"/>
            </a:solidFill>
            <a:ln>
              <a:noFill/>
            </a:ln>
          </p:spPr>
        </p:sp>
        <p:sp>
          <p:nvSpPr>
            <p:cNvPr id="16" name="TextBox 16"/>
            <p:cNvSpPr txBox="1"/>
            <p:nvPr/>
          </p:nvSpPr>
          <p:spPr>
            <a:xfrm>
              <a:off x="4864608" y="34226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通知邮电机关检交扣押</a:t>
              </a:r>
            </a:p>
          </p:txBody>
        </p:sp>
        <p:sp>
          <p:nvSpPr>
            <p:cNvPr id="17" name="TextBox 17"/>
            <p:cNvSpPr txBox="1"/>
            <p:nvPr/>
          </p:nvSpPr>
          <p:spPr>
            <a:xfrm>
              <a:off x="4257294" y="4264025"/>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个人觉得着急，不等于获批，更不等于可以私拆任何信件。</a:t>
              </a:r>
            </a:p>
          </p:txBody>
        </p:sp>
      </p:grpSp>
      <p:grpSp>
        <p:nvGrpSpPr>
          <p:cNvPr id="22" name="p21-reveal-2"/>
          <p:cNvGrpSpPr/>
          <p:nvPr/>
        </p:nvGrpSpPr>
        <p:grpSpPr>
          <a:xfrm>
            <a:off x="445008" y="5105400"/>
            <a:ext cx="11289792" cy="997331"/>
            <a:chOff x="445008" y="5105400"/>
            <a:chExt cx="11289792" cy="997331"/>
          </a:xfrm>
        </p:grpSpPr>
        <p:sp>
          <p:nvSpPr>
            <p:cNvPr id="19" name="Line 19"/>
            <p:cNvSpPr/>
            <p:nvPr/>
          </p:nvSpPr>
          <p:spPr>
            <a:xfrm>
              <a:off x="457200" y="5105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0" name="TextBox 20"/>
            <p:cNvSpPr txBox="1"/>
            <p:nvPr/>
          </p:nvSpPr>
          <p:spPr>
            <a:xfrm>
              <a:off x="445008" y="5232400"/>
              <a:ext cx="616305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不需要继续扣押时，应立即通知邮电机关。</a:t>
              </a:r>
            </a:p>
          </p:txBody>
        </p:sp>
        <p:sp>
          <p:nvSpPr>
            <p:cNvPr id="21" name="TextBox 21"/>
            <p:cNvSpPr txBox="1"/>
            <p:nvPr/>
          </p:nvSpPr>
          <p:spPr>
            <a:xfrm>
              <a:off x="447294" y="572135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不是全部监听的通用办法；技术侦查另有案件范围、对象、期限和批准条件。</a:t>
              </a:r>
            </a:p>
          </p:txBody>
        </p:sp>
      </p:grpSp>
      <p:grpSp>
        <p:nvGrpSpPr>
          <p:cNvPr id="25" name="p21-footer"/>
          <p:cNvGrpSpPr/>
          <p:nvPr/>
        </p:nvGrpSpPr>
        <p:grpSpPr>
          <a:xfrm>
            <a:off x="451866" y="6502400"/>
            <a:ext cx="11247444" cy="205359"/>
            <a:chOff x="451866" y="6502400"/>
            <a:chExt cx="11247444" cy="205359"/>
          </a:xfrm>
        </p:grpSpPr>
        <p:sp>
          <p:nvSpPr>
            <p:cNvPr id="23" name="TextBox 23"/>
            <p:cNvSpPr txBox="1"/>
            <p:nvPr/>
          </p:nvSpPr>
          <p:spPr>
            <a:xfrm>
              <a:off x="451866" y="6502400"/>
              <a:ext cx="58979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刑事诉讼法第143条及相邻制度边界。邮件为教学示意；箭头分别表示判断、批准与通知办理。</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21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2-title"/>
          <p:cNvGrpSpPr/>
          <p:nvPr/>
        </p:nvGrpSpPr>
        <p:grpSpPr>
          <a:xfrm>
            <a:off x="440436" y="381000"/>
            <a:ext cx="6135624" cy="918464"/>
            <a:chOff x="440436" y="381000"/>
            <a:chExt cx="6135624"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从个人一侧问选举资格</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我作为公民，有没有这一票？</a:t>
              </a:r>
            </a:p>
          </p:txBody>
        </p:sp>
      </p:grpSp>
      <p:grpSp>
        <p:nvGrpSpPr>
          <p:cNvPr id="11" name="p22-condition"/>
          <p:cNvGrpSpPr/>
          <p:nvPr/>
        </p:nvGrpSpPr>
        <p:grpSpPr>
          <a:xfrm>
            <a:off x="440436" y="1917700"/>
            <a:ext cx="10285362" cy="1679956"/>
            <a:chOff x="440436" y="1917700"/>
            <a:chExt cx="10285362" cy="1679956"/>
          </a:xfrm>
        </p:grpSpPr>
        <p:sp>
          <p:nvSpPr>
            <p:cNvPr id="5" name="TextBox 5"/>
            <p:cNvSpPr txBox="1"/>
            <p:nvPr/>
          </p:nvSpPr>
          <p:spPr>
            <a:xfrm>
              <a:off x="445008" y="19177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中华人民共和国公民</a:t>
              </a:r>
            </a:p>
          </p:txBody>
        </p:sp>
        <p:sp>
          <p:nvSpPr>
            <p:cNvPr id="6" name="TextBox 6"/>
            <p:cNvSpPr txBox="1"/>
            <p:nvPr/>
          </p:nvSpPr>
          <p:spPr>
            <a:xfrm>
              <a:off x="440436" y="2444750"/>
              <a:ext cx="284988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年满十八周岁</a:t>
              </a:r>
            </a:p>
          </p:txBody>
        </p:sp>
        <p:sp>
          <p:nvSpPr>
            <p:cNvPr id="7" name="TextBox 7"/>
            <p:cNvSpPr txBox="1"/>
            <p:nvPr/>
          </p:nvSpPr>
          <p:spPr>
            <a:xfrm>
              <a:off x="447294" y="321627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依法被剥夺政治权利的人除外</a:t>
              </a:r>
            </a:p>
          </p:txBody>
        </p:sp>
        <p:sp>
          <p:nvSpPr>
            <p:cNvPr id="8" name="TextBox 8"/>
            <p:cNvSpPr txBox="1"/>
            <p:nvPr/>
          </p:nvSpPr>
          <p:spPr>
            <a:xfrm>
              <a:off x="7417308" y="191770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选出／被选为代表</a:t>
              </a:r>
            </a:p>
          </p:txBody>
        </p:sp>
        <p:sp>
          <p:nvSpPr>
            <p:cNvPr id="9" name="TextBox 9"/>
            <p:cNvSpPr txBox="1"/>
            <p:nvPr/>
          </p:nvSpPr>
          <p:spPr>
            <a:xfrm>
              <a:off x="7419594" y="26352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行使方式和程序由法律规定</a:t>
              </a:r>
            </a:p>
          </p:txBody>
        </p:sp>
        <p:sp>
          <p:nvSpPr>
            <p:cNvPr id="10" name="TextBox 10"/>
            <p:cNvSpPr txBox="1"/>
            <p:nvPr/>
          </p:nvSpPr>
          <p:spPr>
            <a:xfrm>
              <a:off x="7422642" y="3292475"/>
              <a:ext cx="330315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不是第四讲“谁选出、受谁监督”的问题。</a:t>
              </a:r>
            </a:p>
          </p:txBody>
        </p:sp>
      </p:grpSp>
      <p:grpSp>
        <p:nvGrpSpPr>
          <p:cNvPr id="16" name="p22-reveal-1"/>
          <p:cNvGrpSpPr/>
          <p:nvPr/>
        </p:nvGrpSpPr>
        <p:grpSpPr>
          <a:xfrm>
            <a:off x="445008" y="4057650"/>
            <a:ext cx="11289792" cy="1425956"/>
            <a:chOff x="445008" y="4057650"/>
            <a:chExt cx="11289792" cy="1425956"/>
          </a:xfrm>
        </p:grpSpPr>
        <p:sp>
          <p:nvSpPr>
            <p:cNvPr id="12" name="Line 12"/>
            <p:cNvSpPr/>
            <p:nvPr/>
          </p:nvSpPr>
          <p:spPr>
            <a:xfrm>
              <a:off x="457200" y="4057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4232275"/>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不分</a:t>
              </a:r>
            </a:p>
          </p:txBody>
        </p:sp>
        <p:sp>
          <p:nvSpPr>
            <p:cNvPr id="14" name="TextBox 14"/>
            <p:cNvSpPr txBox="1"/>
            <p:nvPr/>
          </p:nvSpPr>
          <p:spPr>
            <a:xfrm>
              <a:off x="1780794" y="4197350"/>
              <a:ext cx="54681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民族、种族、性别、职业、家庭出身、宗教信仰、</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教育程度、财产状况、居住期限</a:t>
              </a:r>
            </a:p>
          </p:txBody>
        </p:sp>
        <p:sp>
          <p:nvSpPr>
            <p:cNvPr id="15" name="TextBox 15"/>
            <p:cNvSpPr txBox="1"/>
            <p:nvPr/>
          </p:nvSpPr>
          <p:spPr>
            <a:xfrm>
              <a:off x="1780794" y="5102225"/>
              <a:ext cx="421995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这些不能用来排除符合条件的公民。</a:t>
              </a:r>
            </a:p>
          </p:txBody>
        </p:sp>
      </p:grpSp>
      <p:grpSp>
        <p:nvGrpSpPr>
          <p:cNvPr id="18" name="p22-age"/>
          <p:cNvGrpSpPr/>
          <p:nvPr/>
        </p:nvGrpSpPr>
        <p:grpSpPr>
          <a:xfrm>
            <a:off x="447294" y="5911850"/>
            <a:ext cx="8708860" cy="381381"/>
            <a:chOff x="447294" y="5911850"/>
            <a:chExt cx="8708860" cy="381381"/>
          </a:xfrm>
        </p:grpSpPr>
        <p:sp>
          <p:nvSpPr>
            <p:cNvPr id="17" name="TextBox 17"/>
            <p:cNvSpPr txBox="1"/>
            <p:nvPr/>
          </p:nvSpPr>
          <p:spPr>
            <a:xfrm>
              <a:off x="447294" y="5911850"/>
              <a:ext cx="870886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17岁尚未达到此项享有的年龄条件；不否认公民身份，也不取消其他权利。</a:t>
              </a:r>
            </a:p>
          </p:txBody>
        </p:sp>
      </p:grpSp>
      <p:grpSp>
        <p:nvGrpSpPr>
          <p:cNvPr id="21" name="p22-footer"/>
          <p:cNvGrpSpPr/>
          <p:nvPr/>
        </p:nvGrpSpPr>
        <p:grpSpPr>
          <a:xfrm>
            <a:off x="451866" y="6502400"/>
            <a:ext cx="11247444" cy="205359"/>
            <a:chOff x="451866" y="6502400"/>
            <a:chExt cx="11247444" cy="205359"/>
          </a:xfrm>
        </p:grpSpPr>
        <p:sp>
          <p:nvSpPr>
            <p:cNvPr id="19" name="TextBox 19"/>
            <p:cNvSpPr txBox="1"/>
            <p:nvPr/>
          </p:nvSpPr>
          <p:spPr>
            <a:xfrm>
              <a:off x="451866" y="6502400"/>
              <a:ext cx="610289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宪法第34条及选举法。依法剥夺政治权利的例外须有依据，不能由标签决定或扩为全部权利失效。</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3-title"/>
          <p:cNvGrpSpPr/>
          <p:nvPr/>
        </p:nvGrpSpPr>
        <p:grpSpPr>
          <a:xfrm>
            <a:off x="440436" y="381000"/>
            <a:ext cx="6135624" cy="918464"/>
            <a:chOff x="440436" y="381000"/>
            <a:chExt cx="6135624" cy="918464"/>
          </a:xfrm>
        </p:grpSpPr>
        <p:sp>
          <p:nvSpPr>
            <p:cNvPr id="2" name="TextBox 2"/>
            <p:cNvSpPr txBox="1"/>
            <p:nvPr/>
          </p:nvSpPr>
          <p:spPr>
            <a:xfrm>
              <a:off x="451104" y="381000"/>
              <a:ext cx="330769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第35条的表达、传播和组织</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言论、出版与结社，各有侧重</a:t>
              </a:r>
            </a:p>
          </p:txBody>
        </p:sp>
      </p:grpSp>
      <p:grpSp>
        <p:nvGrpSpPr>
          <p:cNvPr id="8" name="p23-speech"/>
          <p:cNvGrpSpPr/>
          <p:nvPr/>
        </p:nvGrpSpPr>
        <p:grpSpPr>
          <a:xfrm>
            <a:off x="440436" y="1882775"/>
            <a:ext cx="6434328" cy="943356"/>
            <a:chOff x="440436" y="1882775"/>
            <a:chExt cx="6434328" cy="943356"/>
          </a:xfrm>
        </p:grpSpPr>
        <p:sp>
          <p:nvSpPr>
            <p:cNvPr id="5" name="TextBox 5"/>
            <p:cNvSpPr txBox="1"/>
            <p:nvPr/>
          </p:nvSpPr>
          <p:spPr>
            <a:xfrm>
              <a:off x="440436" y="18827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言论</a:t>
              </a:r>
            </a:p>
          </p:txBody>
        </p:sp>
        <p:sp>
          <p:nvSpPr>
            <p:cNvPr id="6" name="TextBox 6"/>
            <p:cNvSpPr txBox="1"/>
            <p:nvPr/>
          </p:nvSpPr>
          <p:spPr>
            <a:xfrm>
              <a:off x="3702558" y="19367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表达与传播思想</a:t>
              </a:r>
            </a:p>
          </p:txBody>
        </p:sp>
        <p:sp>
          <p:nvSpPr>
            <p:cNvPr id="7" name="TextBox 7"/>
            <p:cNvSpPr txBox="1"/>
            <p:nvPr/>
          </p:nvSpPr>
          <p:spPr>
            <a:xfrm>
              <a:off x="3704844" y="24447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可以口头、文字或其他媒介</a:t>
              </a:r>
            </a:p>
          </p:txBody>
        </p:sp>
      </p:grpSp>
      <p:grpSp>
        <p:nvGrpSpPr>
          <p:cNvPr id="13" name="p23-publication"/>
          <p:cNvGrpSpPr/>
          <p:nvPr/>
        </p:nvGrpSpPr>
        <p:grpSpPr>
          <a:xfrm>
            <a:off x="440436" y="3162300"/>
            <a:ext cx="11294364" cy="997331"/>
            <a:chOff x="440436" y="3162300"/>
            <a:chExt cx="11294364" cy="997331"/>
          </a:xfrm>
        </p:grpSpPr>
        <p:sp>
          <p:nvSpPr>
            <p:cNvPr id="9" name="Line 9"/>
            <p:cNvSpPr/>
            <p:nvPr/>
          </p:nvSpPr>
          <p:spPr>
            <a:xfrm>
              <a:off x="457200" y="31623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0" name="TextBox 10"/>
            <p:cNvSpPr txBox="1"/>
            <p:nvPr/>
          </p:nvSpPr>
          <p:spPr>
            <a:xfrm>
              <a:off x="440436" y="32162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出版</a:t>
              </a:r>
            </a:p>
          </p:txBody>
        </p:sp>
        <p:sp>
          <p:nvSpPr>
            <p:cNvPr id="11" name="TextBox 11"/>
            <p:cNvSpPr txBox="1"/>
            <p:nvPr/>
          </p:nvSpPr>
          <p:spPr>
            <a:xfrm>
              <a:off x="3702558" y="32702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通过公开发行的出版物表达</a:t>
              </a:r>
            </a:p>
          </p:txBody>
        </p:sp>
        <p:sp>
          <p:nvSpPr>
            <p:cNvPr id="12" name="TextBox 12"/>
            <p:cNvSpPr txBox="1"/>
            <p:nvPr/>
          </p:nvSpPr>
          <p:spPr>
            <a:xfrm>
              <a:off x="3704844" y="377825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书报刊、音像、电子出版物等，不限于文字</a:t>
              </a:r>
            </a:p>
          </p:txBody>
        </p:sp>
      </p:grpSp>
      <p:grpSp>
        <p:nvGrpSpPr>
          <p:cNvPr id="18" name="p23-reveal-1"/>
          <p:cNvGrpSpPr/>
          <p:nvPr/>
        </p:nvGrpSpPr>
        <p:grpSpPr>
          <a:xfrm>
            <a:off x="440436" y="4495800"/>
            <a:ext cx="11294364" cy="997331"/>
            <a:chOff x="440436" y="4495800"/>
            <a:chExt cx="11294364" cy="997331"/>
          </a:xfrm>
        </p:grpSpPr>
        <p:sp>
          <p:nvSpPr>
            <p:cNvPr id="14" name="Line 14"/>
            <p:cNvSpPr/>
            <p:nvPr/>
          </p:nvSpPr>
          <p:spPr>
            <a:xfrm>
              <a:off x="457200" y="44958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5" name="TextBox 15"/>
            <p:cNvSpPr txBox="1"/>
            <p:nvPr/>
          </p:nvSpPr>
          <p:spPr>
            <a:xfrm>
              <a:off x="440436" y="45497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结社</a:t>
              </a:r>
            </a:p>
          </p:txBody>
        </p:sp>
        <p:sp>
          <p:nvSpPr>
            <p:cNvPr id="16" name="TextBox 16"/>
            <p:cNvSpPr txBox="1"/>
            <p:nvPr/>
          </p:nvSpPr>
          <p:spPr>
            <a:xfrm>
              <a:off x="3702558" y="46037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为共同目标组织起来</a:t>
              </a:r>
            </a:p>
          </p:txBody>
        </p:sp>
        <p:sp>
          <p:nvSpPr>
            <p:cNvPr id="17" name="TextBox 17"/>
            <p:cNvSpPr txBox="1"/>
            <p:nvPr/>
          </p:nvSpPr>
          <p:spPr>
            <a:xfrm>
              <a:off x="3704844" y="51117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持续开展活动</a:t>
              </a:r>
            </a:p>
          </p:txBody>
        </p:sp>
      </p:grpSp>
      <p:grpSp>
        <p:nvGrpSpPr>
          <p:cNvPr id="20" name="p23-next"/>
          <p:cNvGrpSpPr/>
          <p:nvPr/>
        </p:nvGrpSpPr>
        <p:grpSpPr>
          <a:xfrm>
            <a:off x="447294" y="5959475"/>
            <a:ext cx="7895082" cy="381381"/>
            <a:chOff x="447294" y="5959475"/>
            <a:chExt cx="7895082" cy="381381"/>
          </a:xfrm>
        </p:grpSpPr>
        <p:sp>
          <p:nvSpPr>
            <p:cNvPr id="19" name="TextBox 19"/>
            <p:cNvSpPr txBox="1"/>
            <p:nvPr/>
          </p:nvSpPr>
          <p:spPr>
            <a:xfrm>
              <a:off x="447294" y="5959475"/>
              <a:ext cx="789508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其他三项共同活动形式随后展开；六项自由不能合成一种笼统许可。</a:t>
              </a:r>
            </a:p>
          </p:txBody>
        </p:sp>
      </p:grpSp>
      <p:grpSp>
        <p:nvGrpSpPr>
          <p:cNvPr id="23" name="p23-footer"/>
          <p:cNvGrpSpPr/>
          <p:nvPr/>
        </p:nvGrpSpPr>
        <p:grpSpPr>
          <a:xfrm>
            <a:off x="451866" y="6502400"/>
            <a:ext cx="11247444" cy="205359"/>
            <a:chOff x="451866" y="6502400"/>
            <a:chExt cx="11247444" cy="205359"/>
          </a:xfrm>
        </p:grpSpPr>
        <p:sp>
          <p:nvSpPr>
            <p:cNvPr id="21" name="TextBox 21"/>
            <p:cNvSpPr txBox="1"/>
            <p:nvPr/>
          </p:nvSpPr>
          <p:spPr>
            <a:xfrm>
              <a:off x="451866" y="6502400"/>
              <a:ext cx="624424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宪法第35条、出版管理条例有关范围及本讲说明。三行并列辨侧重，不表示一种活动只能属于一行。</a:t>
              </a:r>
            </a:p>
          </p:txBody>
        </p:sp>
        <p:sp>
          <p:nvSpPr>
            <p:cNvPr id="22" name="TextBox 22"/>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4-title"/>
          <p:cNvGrpSpPr/>
          <p:nvPr/>
        </p:nvGrpSpPr>
        <p:grpSpPr>
          <a:xfrm>
            <a:off x="440436" y="381000"/>
            <a:ext cx="7543800" cy="918464"/>
            <a:chOff x="440436" y="381000"/>
            <a:chExt cx="7543800" cy="918464"/>
          </a:xfrm>
        </p:grpSpPr>
        <p:sp>
          <p:nvSpPr>
            <p:cNvPr id="2" name="TextBox 2"/>
            <p:cNvSpPr txBox="1"/>
            <p:nvPr/>
          </p:nvSpPr>
          <p:spPr>
            <a:xfrm>
              <a:off x="451104" y="38100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先辨认条例的对象</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校内读书社团，属于哪种登记范围？</a:t>
              </a:r>
            </a:p>
          </p:txBody>
        </p:sp>
      </p:grpSp>
      <p:grpSp>
        <p:nvGrpSpPr>
          <p:cNvPr id="13" name="p24-school"/>
          <p:cNvGrpSpPr/>
          <p:nvPr/>
        </p:nvGrpSpPr>
        <p:grpSpPr>
          <a:xfrm>
            <a:off x="476250" y="1771650"/>
            <a:ext cx="6210300" cy="3333750"/>
            <a:chOff x="476250" y="1771650"/>
            <a:chExt cx="6210300" cy="3333750"/>
          </a:xfrm>
        </p:grpSpPr>
        <p:sp>
          <p:nvSpPr>
            <p:cNvPr id="5" name="Rectangle 5"/>
            <p:cNvSpPr/>
            <p:nvPr/>
          </p:nvSpPr>
          <p:spPr>
            <a:xfrm>
              <a:off x="476250" y="1771650"/>
              <a:ext cx="6210300" cy="3333750"/>
            </a:xfrm>
            <a:prstGeom prst="rect">
              <a:avLst/>
            </a:prstGeom>
            <a:noFill/>
            <a:ln w="19050">
              <a:solidFill>
                <a:schemeClr val="accent3"/>
              </a:solidFill>
            </a:ln>
          </p:spPr>
        </p:sp>
        <p:sp>
          <p:nvSpPr>
            <p:cNvPr id="6" name="TextBox 6"/>
            <p:cNvSpPr txBox="1"/>
            <p:nvPr/>
          </p:nvSpPr>
          <p:spPr>
            <a:xfrm>
              <a:off x="730758" y="192722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本单位内部活动</a:t>
              </a:r>
            </a:p>
          </p:txBody>
        </p:sp>
        <p:sp>
          <p:nvSpPr>
            <p:cNvPr id="7" name="Rectangle 7"/>
            <p:cNvSpPr/>
            <p:nvPr/>
          </p:nvSpPr>
          <p:spPr>
            <a:xfrm>
              <a:off x="742950" y="2638425"/>
              <a:ext cx="1104900" cy="1371600"/>
            </a:xfrm>
            <a:prstGeom prst="rect">
              <a:avLst/>
            </a:prstGeom>
            <a:solidFill>
              <a:schemeClr val="lt2"/>
            </a:solidFill>
            <a:ln w="9525">
              <a:solidFill>
                <a:schemeClr val="accent1"/>
              </a:solidFill>
            </a:ln>
          </p:spPr>
        </p:sp>
        <p:sp>
          <p:nvSpPr>
            <p:cNvPr id="8" name="Line 8"/>
            <p:cNvSpPr/>
            <p:nvPr/>
          </p:nvSpPr>
          <p:spPr>
            <a:xfrm>
              <a:off x="895350" y="2647950"/>
              <a:ext cx="9525" cy="1352550"/>
            </a:xfrm>
            <a:custGeom>
              <a:avLst/>
              <a:gdLst/>
              <a:ahLst/>
              <a:cxnLst/>
              <a:rect l="l" t="t" r="r" b="b"/>
              <a:pathLst>
                <a:path w="9525" h="1352550">
                  <a:moveTo>
                    <a:pt x="0" y="0"/>
                  </a:moveTo>
                  <a:lnTo>
                    <a:pt x="0" y="1352550"/>
                  </a:lnTo>
                </a:path>
              </a:pathLst>
            </a:custGeom>
            <a:noFill/>
            <a:ln w="19050">
              <a:solidFill>
                <a:schemeClr val="accent2"/>
              </a:solidFill>
            </a:ln>
          </p:spPr>
        </p:sp>
        <p:sp>
          <p:nvSpPr>
            <p:cNvPr id="9" name="TextBox 9"/>
            <p:cNvSpPr txBox="1"/>
            <p:nvPr/>
          </p:nvSpPr>
          <p:spPr>
            <a:xfrm>
              <a:off x="1056894" y="3187700"/>
              <a:ext cx="28232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书</a:t>
              </a:r>
            </a:p>
          </p:txBody>
        </p:sp>
        <p:sp>
          <p:nvSpPr>
            <p:cNvPr id="10" name="TextBox 10"/>
            <p:cNvSpPr txBox="1"/>
            <p:nvPr/>
          </p:nvSpPr>
          <p:spPr>
            <a:xfrm>
              <a:off x="2273808" y="27654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读书社团</a:t>
              </a:r>
            </a:p>
          </p:txBody>
        </p:sp>
        <p:sp>
          <p:nvSpPr>
            <p:cNvPr id="11" name="TextBox 11"/>
            <p:cNvSpPr txBox="1"/>
            <p:nvPr/>
          </p:nvSpPr>
          <p:spPr>
            <a:xfrm>
              <a:off x="2276094" y="3305175"/>
              <a:ext cx="2496312" cy="838581"/>
            </a:xfrm>
            <a:prstGeom prst="rect">
              <a:avLst/>
            </a:prstGeom>
            <a:noFill/>
            <a:ln>
              <a:noFill/>
            </a:ln>
          </p:spPr>
          <p:txBody>
            <a:bodyPr wrap="none" lIns="0" tIns="0" rIns="0" bIns="0" anchor="t" anchorCtr="0">
              <a:spAutoFit/>
            </a:bodyPr>
            <a:lstStyle/>
            <a:p>
              <a:pPr algn="l">
                <a:lnSpc>
                  <a:spcPts val="3600"/>
                </a:lnSpc>
              </a:pPr>
              <a:r>
                <a:rPr lang="zh-CN" sz="1950" dirty="0">
                  <a:solidFill>
                    <a:schemeClr val="accent1"/>
                  </a:solidFill>
                  <a:latin typeface="+mn-lt"/>
                  <a:ea typeface="+mn-ea"/>
                  <a:cs typeface="+mn-cs"/>
                </a:rPr>
                <a:t>经单位批准成立</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且只在本单位内部活动</a:t>
              </a:r>
            </a:p>
          </p:txBody>
        </p:sp>
        <p:sp>
          <p:nvSpPr>
            <p:cNvPr id="12" name="TextBox 12"/>
            <p:cNvSpPr txBox="1"/>
            <p:nvPr/>
          </p:nvSpPr>
          <p:spPr>
            <a:xfrm>
              <a:off x="736092" y="464502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两个条件同时限定；此为教学设例。</a:t>
              </a:r>
            </a:p>
          </p:txBody>
        </p:sp>
      </p:grpSp>
      <p:grpSp>
        <p:nvGrpSpPr>
          <p:cNvPr id="16" name="p24-reveal-1"/>
          <p:cNvGrpSpPr/>
          <p:nvPr/>
        </p:nvGrpSpPr>
        <p:grpSpPr>
          <a:xfrm>
            <a:off x="7226808" y="1889125"/>
            <a:ext cx="2462784" cy="2556256"/>
            <a:chOff x="7226808" y="1889125"/>
            <a:chExt cx="2462784" cy="2556256"/>
          </a:xfrm>
        </p:grpSpPr>
        <p:sp>
          <p:nvSpPr>
            <p:cNvPr id="14" name="TextBox 14"/>
            <p:cNvSpPr txBox="1"/>
            <p:nvPr/>
          </p:nvSpPr>
          <p:spPr>
            <a:xfrm>
              <a:off x="7226808" y="1889125"/>
              <a:ext cx="2462784" cy="917067"/>
            </a:xfrm>
            <a:prstGeom prst="rect">
              <a:avLst/>
            </a:prstGeom>
            <a:noFill/>
            <a:ln>
              <a:noFill/>
            </a:ln>
          </p:spPr>
          <p:txBody>
            <a:bodyPr wrap="none" lIns="0" tIns="0" rIns="0" bIns="0" anchor="t" anchorCtr="0">
              <a:spAutoFit/>
            </a:bodyPr>
            <a:lstStyle/>
            <a:p>
              <a:pPr algn="l">
                <a:lnSpc>
                  <a:spcPts val="3525"/>
                </a:lnSpc>
              </a:pPr>
              <a:r>
                <a:rPr lang="zh-CN" sz="2400" dirty="0">
                  <a:solidFill>
                    <a:schemeClr val="accent2"/>
                  </a:solidFill>
                  <a:latin typeface="+mn-lt"/>
                  <a:ea typeface="+mn-ea"/>
                  <a:cs typeface="+mn-cs"/>
                </a:rPr>
                <a:t>不在该条例规定的</a:t>
              </a:r>
              <a:br>
                <a:rPr lang="zh-CN" sz="2400" dirty="0">
                  <a:solidFill>
                    <a:schemeClr val="accent2"/>
                  </a:solidFill>
                  <a:latin typeface="+mn-lt"/>
                  <a:ea typeface="+mn-ea"/>
                  <a:cs typeface="+mn-cs"/>
                </a:rPr>
              </a:br>
              <a:r>
                <a:rPr lang="zh-CN" sz="2400" dirty="0">
                  <a:solidFill>
                    <a:schemeClr val="accent2"/>
                  </a:solidFill>
                  <a:latin typeface="+mn-lt"/>
                  <a:ea typeface="+mn-ea"/>
                  <a:cs typeface="+mn-cs"/>
                </a:rPr>
                <a:t>登记范围</a:t>
              </a:r>
            </a:p>
          </p:txBody>
        </p:sp>
        <p:sp>
          <p:nvSpPr>
            <p:cNvPr id="15" name="TextBox 15"/>
            <p:cNvSpPr txBox="1"/>
            <p:nvPr/>
          </p:nvSpPr>
          <p:spPr>
            <a:xfrm>
              <a:off x="7229094" y="3216275"/>
              <a:ext cx="2248662" cy="1229106"/>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并不等于</a:t>
              </a:r>
            </a:p>
            <a:p>
              <a:pPr algn="l">
                <a:lnSpc>
                  <a:spcPts val="2850"/>
                </a:lnSpc>
                <a:spcBef>
                  <a:spcPts val="975"/>
                </a:spcBef>
              </a:pPr>
              <a:r>
                <a:rPr lang="zh-CN" sz="1950" dirty="0">
                  <a:solidFill>
                    <a:schemeClr val="accent1"/>
                  </a:solidFill>
                  <a:latin typeface="+mn-lt"/>
                  <a:ea typeface="+mn-ea"/>
                  <a:cs typeface="+mn-cs"/>
                </a:rPr>
                <a:t>其他法律和校内规则</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都不必遵守</a:t>
              </a:r>
            </a:p>
          </p:txBody>
        </p:sp>
      </p:grpSp>
      <p:grpSp>
        <p:nvGrpSpPr>
          <p:cNvPr id="18" name="p24-boundary"/>
          <p:cNvGrpSpPr/>
          <p:nvPr/>
        </p:nvGrpSpPr>
        <p:grpSpPr>
          <a:xfrm>
            <a:off x="447294" y="5797550"/>
            <a:ext cx="8682609" cy="381381"/>
            <a:chOff x="447294" y="5797550"/>
            <a:chExt cx="8682609" cy="381381"/>
          </a:xfrm>
        </p:grpSpPr>
        <p:sp>
          <p:nvSpPr>
            <p:cNvPr id="17" name="TextBox 17"/>
            <p:cNvSpPr txBox="1"/>
            <p:nvPr/>
          </p:nvSpPr>
          <p:spPr>
            <a:xfrm>
              <a:off x="447294" y="5797550"/>
              <a:ext cx="8682609"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不能把同学结伴一律套进社会团体登记；范围排除也不是一切规则的豁免。</a:t>
              </a:r>
            </a:p>
          </p:txBody>
        </p:sp>
      </p:grpSp>
      <p:grpSp>
        <p:nvGrpSpPr>
          <p:cNvPr id="21" name="p24-footer"/>
          <p:cNvGrpSpPr/>
          <p:nvPr/>
        </p:nvGrpSpPr>
        <p:grpSpPr>
          <a:xfrm>
            <a:off x="451866" y="6502400"/>
            <a:ext cx="11247444" cy="205359"/>
            <a:chOff x="451866" y="6502400"/>
            <a:chExt cx="11247444" cy="205359"/>
          </a:xfrm>
        </p:grpSpPr>
        <p:sp>
          <p:nvSpPr>
            <p:cNvPr id="19" name="TextBox 19"/>
            <p:cNvSpPr txBox="1"/>
            <p:nvPr/>
          </p:nvSpPr>
          <p:spPr>
            <a:xfrm>
              <a:off x="451866" y="6502400"/>
              <a:ext cx="59120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2026年修订社会团体登记管理条例第3条。本页只解释给定内部团体的范围，不代判所有社团。</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24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5-title"/>
          <p:cNvGrpSpPr/>
          <p:nvPr/>
        </p:nvGrpSpPr>
        <p:grpSpPr>
          <a:xfrm>
            <a:off x="440436" y="381000"/>
            <a:ext cx="7543800" cy="918464"/>
            <a:chOff x="440436" y="381000"/>
            <a:chExt cx="7543800" cy="918464"/>
          </a:xfrm>
        </p:grpSpPr>
        <p:sp>
          <p:nvSpPr>
            <p:cNvPr id="2" name="TextBox 2"/>
            <p:cNvSpPr txBox="1"/>
            <p:nvPr/>
          </p:nvSpPr>
          <p:spPr>
            <a:xfrm>
              <a:off x="451104" y="38100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共同表达的形式与制度边界</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集会、游行、示威，可以怎样不同？</a:t>
              </a:r>
            </a:p>
          </p:txBody>
        </p:sp>
      </p:grpSp>
      <p:grpSp>
        <p:nvGrpSpPr>
          <p:cNvPr id="11" name="p25-forms"/>
          <p:cNvGrpSpPr/>
          <p:nvPr/>
        </p:nvGrpSpPr>
        <p:grpSpPr>
          <a:xfrm>
            <a:off x="444246" y="1879600"/>
            <a:ext cx="8823960" cy="2394331"/>
            <a:chOff x="444246" y="1879600"/>
            <a:chExt cx="8823960" cy="2394331"/>
          </a:xfrm>
        </p:grpSpPr>
        <p:sp>
          <p:nvSpPr>
            <p:cNvPr id="5" name="TextBox 5"/>
            <p:cNvSpPr txBox="1"/>
            <p:nvPr/>
          </p:nvSpPr>
          <p:spPr>
            <a:xfrm>
              <a:off x="444246" y="187960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集会</a:t>
              </a:r>
            </a:p>
          </p:txBody>
        </p:sp>
        <p:sp>
          <p:nvSpPr>
            <p:cNvPr id="6" name="TextBox 6"/>
            <p:cNvSpPr txBox="1"/>
            <p:nvPr/>
          </p:nvSpPr>
          <p:spPr>
            <a:xfrm>
              <a:off x="2561844" y="191135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在露天公共场所聚集，发表意见、表达意愿</a:t>
              </a:r>
            </a:p>
          </p:txBody>
        </p:sp>
        <p:sp>
          <p:nvSpPr>
            <p:cNvPr id="7" name="TextBox 7"/>
            <p:cNvSpPr txBox="1"/>
            <p:nvPr/>
          </p:nvSpPr>
          <p:spPr>
            <a:xfrm>
              <a:off x="444246" y="27368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游行</a:t>
              </a:r>
            </a:p>
          </p:txBody>
        </p:sp>
        <p:sp>
          <p:nvSpPr>
            <p:cNvPr id="8" name="TextBox 8"/>
            <p:cNvSpPr txBox="1"/>
            <p:nvPr/>
          </p:nvSpPr>
          <p:spPr>
            <a:xfrm>
              <a:off x="2561844" y="276860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在公共道路或露天公共场所列队行进，表达共同愿望</a:t>
              </a:r>
            </a:p>
          </p:txBody>
        </p:sp>
        <p:sp>
          <p:nvSpPr>
            <p:cNvPr id="9" name="TextBox 9"/>
            <p:cNvSpPr txBox="1"/>
            <p:nvPr/>
          </p:nvSpPr>
          <p:spPr>
            <a:xfrm>
              <a:off x="444246" y="359410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示威</a:t>
              </a:r>
            </a:p>
          </p:txBody>
        </p:sp>
        <p:sp>
          <p:nvSpPr>
            <p:cNvPr id="10" name="TextBox 10"/>
            <p:cNvSpPr txBox="1"/>
            <p:nvPr/>
          </p:nvSpPr>
          <p:spPr>
            <a:xfrm>
              <a:off x="2561844" y="3530600"/>
              <a:ext cx="67063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在露天公共场所或者公共道路，以集会、游行、静坐等方式，</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表达要求、抗议、支持或声援；形式可以结合</a:t>
              </a:r>
            </a:p>
          </p:txBody>
        </p:sp>
      </p:grpSp>
      <p:grpSp>
        <p:nvGrpSpPr>
          <p:cNvPr id="18" name="p25-reveal-1"/>
          <p:cNvGrpSpPr/>
          <p:nvPr/>
        </p:nvGrpSpPr>
        <p:grpSpPr>
          <a:xfrm>
            <a:off x="445008" y="4914900"/>
            <a:ext cx="11289792" cy="1432433"/>
            <a:chOff x="445008" y="4914900"/>
            <a:chExt cx="11289792" cy="1432433"/>
          </a:xfrm>
        </p:grpSpPr>
        <p:sp>
          <p:nvSpPr>
            <p:cNvPr id="12" name="Line 12"/>
            <p:cNvSpPr/>
            <p:nvPr/>
          </p:nvSpPr>
          <p:spPr>
            <a:xfrm>
              <a:off x="457200" y="49149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50800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不适用这部法律</a:t>
              </a:r>
            </a:p>
          </p:txBody>
        </p:sp>
        <p:sp>
          <p:nvSpPr>
            <p:cNvPr id="14" name="TextBox 14"/>
            <p:cNvSpPr txBox="1"/>
            <p:nvPr/>
          </p:nvSpPr>
          <p:spPr>
            <a:xfrm>
              <a:off x="6502908" y="50800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法定不需申请</a:t>
              </a:r>
            </a:p>
          </p:txBody>
        </p:sp>
        <p:sp>
          <p:nvSpPr>
            <p:cNvPr id="15" name="TextBox 15"/>
            <p:cNvSpPr txBox="1"/>
            <p:nvPr/>
          </p:nvSpPr>
          <p:spPr>
            <a:xfrm>
              <a:off x="447294" y="56451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辨认整部法的适用范围</a:t>
              </a:r>
            </a:p>
          </p:txBody>
        </p:sp>
        <p:sp>
          <p:nvSpPr>
            <p:cNvPr id="16" name="TextBox 16"/>
            <p:cNvSpPr txBox="1"/>
            <p:nvPr/>
          </p:nvSpPr>
          <p:spPr>
            <a:xfrm>
              <a:off x="6505194" y="56451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不等于其他适用要求都消失</a:t>
              </a:r>
            </a:p>
          </p:txBody>
        </p:sp>
        <p:sp>
          <p:nvSpPr>
            <p:cNvPr id="17" name="TextBox 17"/>
            <p:cNvSpPr txBox="1"/>
            <p:nvPr/>
          </p:nvSpPr>
          <p:spPr>
            <a:xfrm>
              <a:off x="450342" y="6083300"/>
              <a:ext cx="655624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示威不只指抗议；具体活动仍须辨对象和相应规则，不从一个名称推出通用许可。</a:t>
              </a:r>
            </a:p>
          </p:txBody>
        </p:sp>
      </p:grpSp>
      <p:grpSp>
        <p:nvGrpSpPr>
          <p:cNvPr id="21" name="p25-footer"/>
          <p:cNvGrpSpPr/>
          <p:nvPr/>
        </p:nvGrpSpPr>
        <p:grpSpPr>
          <a:xfrm>
            <a:off x="451866" y="6502400"/>
            <a:ext cx="11247444" cy="205359"/>
            <a:chOff x="451866" y="6502400"/>
            <a:chExt cx="11247444" cy="205359"/>
          </a:xfrm>
        </p:grpSpPr>
        <p:sp>
          <p:nvSpPr>
            <p:cNvPr id="19" name="TextBox 19"/>
            <p:cNvSpPr txBox="1"/>
            <p:nvPr/>
          </p:nvSpPr>
          <p:spPr>
            <a:xfrm>
              <a:off x="451866" y="6502400"/>
              <a:ext cx="426533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集会游行示威法第2、7条要点。三种方式侧重点不同，也可以结合。</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25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6-title"/>
          <p:cNvGrpSpPr/>
          <p:nvPr/>
        </p:nvGrpSpPr>
        <p:grpSpPr>
          <a:xfrm>
            <a:off x="440436" y="381000"/>
            <a:ext cx="7543800" cy="918464"/>
            <a:chOff x="440436" y="381000"/>
            <a:chExt cx="7543800"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选择与活动分别认识</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保护自愿选择，也依法规范实际活动</a:t>
              </a:r>
            </a:p>
          </p:txBody>
        </p:sp>
      </p:grpSp>
      <p:grpSp>
        <p:nvGrpSpPr>
          <p:cNvPr id="10" name="p26-choice"/>
          <p:cNvGrpSpPr/>
          <p:nvPr/>
        </p:nvGrpSpPr>
        <p:grpSpPr>
          <a:xfrm>
            <a:off x="440436" y="1901825"/>
            <a:ext cx="4229100" cy="3054858"/>
            <a:chOff x="440436" y="1901825"/>
            <a:chExt cx="4229100" cy="3054858"/>
          </a:xfrm>
        </p:grpSpPr>
        <p:sp>
          <p:nvSpPr>
            <p:cNvPr id="5" name="TextBox 5"/>
            <p:cNvSpPr txBox="1"/>
            <p:nvPr/>
          </p:nvSpPr>
          <p:spPr>
            <a:xfrm>
              <a:off x="440436" y="1901825"/>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信仰选择</a:t>
              </a:r>
            </a:p>
          </p:txBody>
        </p:sp>
        <p:sp>
          <p:nvSpPr>
            <p:cNvPr id="6" name="TextBox 6"/>
            <p:cNvSpPr txBox="1"/>
            <p:nvPr/>
          </p:nvSpPr>
          <p:spPr>
            <a:xfrm>
              <a:off x="445008" y="2708275"/>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信　／　不信　／　改变选择</a:t>
              </a:r>
            </a:p>
          </p:txBody>
        </p:sp>
        <p:sp>
          <p:nvSpPr>
            <p:cNvPr id="7" name="TextBox 7"/>
            <p:cNvSpPr txBox="1"/>
            <p:nvPr/>
          </p:nvSpPr>
          <p:spPr>
            <a:xfrm>
              <a:off x="447294" y="33782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可选择不同宗教或教派</a:t>
              </a:r>
            </a:p>
          </p:txBody>
        </p:sp>
        <p:sp>
          <p:nvSpPr>
            <p:cNvPr id="8" name="TextBox 8"/>
            <p:cNvSpPr txBox="1"/>
            <p:nvPr/>
          </p:nvSpPr>
          <p:spPr>
            <a:xfrm>
              <a:off x="447294" y="3949700"/>
              <a:ext cx="395744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禁止强迫信教或不信教，禁止歧视</a:t>
              </a:r>
            </a:p>
          </p:txBody>
        </p:sp>
        <p:sp>
          <p:nvSpPr>
            <p:cNvPr id="9" name="TextBox 9"/>
            <p:cNvSpPr txBox="1"/>
            <p:nvPr/>
          </p:nvSpPr>
          <p:spPr>
            <a:xfrm>
              <a:off x="450342" y="4692650"/>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不能只保护某一种已有信仰。</a:t>
              </a:r>
            </a:p>
          </p:txBody>
        </p:sp>
      </p:grpSp>
      <p:grpSp>
        <p:nvGrpSpPr>
          <p:cNvPr id="15" name="p26-reveal-1"/>
          <p:cNvGrpSpPr/>
          <p:nvPr/>
        </p:nvGrpSpPr>
        <p:grpSpPr>
          <a:xfrm>
            <a:off x="6502146" y="2003425"/>
            <a:ext cx="4378452" cy="3124708"/>
            <a:chOff x="6502146" y="2003425"/>
            <a:chExt cx="4378452" cy="3124708"/>
          </a:xfrm>
        </p:grpSpPr>
        <p:sp>
          <p:nvSpPr>
            <p:cNvPr id="11" name="TextBox 11"/>
            <p:cNvSpPr txBox="1"/>
            <p:nvPr/>
          </p:nvSpPr>
          <p:spPr>
            <a:xfrm>
              <a:off x="6502146" y="2003425"/>
              <a:ext cx="437845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正常宗教活动依法平等保护</a:t>
              </a:r>
            </a:p>
          </p:txBody>
        </p:sp>
        <p:sp>
          <p:nvSpPr>
            <p:cNvPr id="12" name="TextBox 12"/>
            <p:cNvSpPr txBox="1"/>
            <p:nvPr/>
          </p:nvSpPr>
          <p:spPr>
            <a:xfrm>
              <a:off x="6505194" y="2616200"/>
              <a:ext cx="34869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不得破坏社会秩序、损害健康，</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或者妨碍国家教育制度。</a:t>
              </a:r>
            </a:p>
          </p:txBody>
        </p:sp>
        <p:sp>
          <p:nvSpPr>
            <p:cNvPr id="13" name="TextBox 13"/>
            <p:cNvSpPr txBox="1"/>
            <p:nvPr/>
          </p:nvSpPr>
          <p:spPr>
            <a:xfrm>
              <a:off x="6505194" y="3530600"/>
              <a:ext cx="348691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不干预依法运行的行政、司法、</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公共教育；宗教事务和团体</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不受外国势力支配。</a:t>
              </a:r>
            </a:p>
          </p:txBody>
        </p:sp>
        <p:sp>
          <p:nvSpPr>
            <p:cNvPr id="14" name="TextBox 14"/>
            <p:cNvSpPr txBox="1"/>
            <p:nvPr/>
          </p:nvSpPr>
          <p:spPr>
            <a:xfrm>
              <a:off x="6508242" y="4864100"/>
              <a:ext cx="38301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对应合法性、政教分离、宗教平等和独立办教。</a:t>
              </a:r>
            </a:p>
          </p:txBody>
        </p:sp>
      </p:grpSp>
      <p:grpSp>
        <p:nvGrpSpPr>
          <p:cNvPr id="18" name="p26-join"/>
          <p:cNvGrpSpPr/>
          <p:nvPr/>
        </p:nvGrpSpPr>
        <p:grpSpPr>
          <a:xfrm>
            <a:off x="447294" y="5619750"/>
            <a:ext cx="11287506" cy="578231"/>
            <a:chOff x="447294" y="5619750"/>
            <a:chExt cx="11287506" cy="578231"/>
          </a:xfrm>
        </p:grpSpPr>
        <p:sp>
          <p:nvSpPr>
            <p:cNvPr id="16" name="Line 16"/>
            <p:cNvSpPr/>
            <p:nvPr/>
          </p:nvSpPr>
          <p:spPr>
            <a:xfrm>
              <a:off x="457200" y="56197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7" name="TextBox 17"/>
            <p:cNvSpPr txBox="1"/>
            <p:nvPr/>
          </p:nvSpPr>
          <p:spPr>
            <a:xfrm>
              <a:off x="447294" y="5816600"/>
              <a:ext cx="792133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“正常”限制活动的合法性，不让机关随意指定一个人内心应信什么。</a:t>
              </a:r>
            </a:p>
          </p:txBody>
        </p:sp>
      </p:grpSp>
      <p:grpSp>
        <p:nvGrpSpPr>
          <p:cNvPr id="21" name="p26-footer"/>
          <p:cNvGrpSpPr/>
          <p:nvPr/>
        </p:nvGrpSpPr>
        <p:grpSpPr>
          <a:xfrm>
            <a:off x="451866" y="6502400"/>
            <a:ext cx="11247444" cy="205359"/>
            <a:chOff x="451866" y="6502400"/>
            <a:chExt cx="11247444" cy="205359"/>
          </a:xfrm>
        </p:grpSpPr>
        <p:sp>
          <p:nvSpPr>
            <p:cNvPr id="19" name="TextBox 19"/>
            <p:cNvSpPr txBox="1"/>
            <p:nvPr/>
          </p:nvSpPr>
          <p:spPr>
            <a:xfrm>
              <a:off x="451866" y="6502400"/>
              <a:ext cx="497208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宪法第36条与教材原则说明。保护自愿选择、依法规范活动，两面须同时落实。</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26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7-title"/>
          <p:cNvGrpSpPr/>
          <p:nvPr/>
        </p:nvGrpSpPr>
        <p:grpSpPr>
          <a:xfrm>
            <a:off x="440436" y="381000"/>
            <a:ext cx="5196840" cy="918464"/>
            <a:chOff x="440436" y="381000"/>
            <a:chExt cx="5196840" cy="918464"/>
          </a:xfrm>
        </p:grpSpPr>
        <p:sp>
          <p:nvSpPr>
            <p:cNvPr id="2" name="TextBox 2"/>
            <p:cNvSpPr txBox="1"/>
            <p:nvPr/>
          </p:nvSpPr>
          <p:spPr>
            <a:xfrm>
              <a:off x="451104" y="381000"/>
              <a:ext cx="199918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上节收束</a:t>
              </a:r>
            </a:p>
          </p:txBody>
        </p:sp>
        <p:sp>
          <p:nvSpPr>
            <p:cNvPr id="3" name="TextBox 3"/>
            <p:cNvSpPr txBox="1"/>
            <p:nvPr/>
          </p:nvSpPr>
          <p:spPr>
            <a:xfrm>
              <a:off x="440436" y="65405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权利名称，是理解的入口</a:t>
              </a:r>
            </a:p>
          </p:txBody>
        </p:sp>
      </p:grpSp>
      <p:grpSp>
        <p:nvGrpSpPr>
          <p:cNvPr id="8" name="p27-hook"/>
          <p:cNvGrpSpPr/>
          <p:nvPr/>
        </p:nvGrpSpPr>
        <p:grpSpPr>
          <a:xfrm>
            <a:off x="438150" y="2003425"/>
            <a:ext cx="4646676" cy="2339975"/>
            <a:chOff x="438150" y="2003425"/>
            <a:chExt cx="4646676" cy="2339975"/>
          </a:xfrm>
        </p:grpSpPr>
        <p:sp>
          <p:nvSpPr>
            <p:cNvPr id="5" name="TextBox 5"/>
            <p:cNvSpPr txBox="1"/>
            <p:nvPr/>
          </p:nvSpPr>
          <p:spPr>
            <a:xfrm>
              <a:off x="438150" y="2003425"/>
              <a:ext cx="3878580"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保护什么？</a:t>
              </a:r>
            </a:p>
          </p:txBody>
        </p:sp>
        <p:sp>
          <p:nvSpPr>
            <p:cNvPr id="6" name="TextBox 6"/>
            <p:cNvSpPr txBox="1"/>
            <p:nvPr/>
          </p:nvSpPr>
          <p:spPr>
            <a:xfrm>
              <a:off x="438150" y="3051175"/>
              <a:ext cx="4646676"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条件是什么？</a:t>
              </a:r>
            </a:p>
          </p:txBody>
        </p:sp>
        <p:sp>
          <p:nvSpPr>
            <p:cNvPr id="7" name="Line 7"/>
            <p:cNvSpPr/>
            <p:nvPr/>
          </p:nvSpPr>
          <p:spPr>
            <a:xfrm>
              <a:off x="457200" y="4333875"/>
              <a:ext cx="914400" cy="9525"/>
            </a:xfrm>
            <a:custGeom>
              <a:avLst/>
              <a:gdLst/>
              <a:ahLst/>
              <a:cxnLst/>
              <a:rect l="l" t="t" r="r" b="b"/>
              <a:pathLst>
                <a:path w="914400" h="9525">
                  <a:moveTo>
                    <a:pt x="0" y="0"/>
                  </a:moveTo>
                  <a:lnTo>
                    <a:pt x="914400" y="0"/>
                  </a:lnTo>
                </a:path>
              </a:pathLst>
            </a:custGeom>
            <a:noFill/>
            <a:ln w="28575">
              <a:solidFill>
                <a:schemeClr val="accent2"/>
              </a:solidFill>
            </a:ln>
          </p:spPr>
        </p:sp>
      </p:grpSp>
      <p:grpSp>
        <p:nvGrpSpPr>
          <p:cNvPr id="13" name="p27-recall"/>
          <p:cNvGrpSpPr/>
          <p:nvPr/>
        </p:nvGrpSpPr>
        <p:grpSpPr>
          <a:xfrm>
            <a:off x="6693408" y="2117725"/>
            <a:ext cx="3901440" cy="2603881"/>
            <a:chOff x="6693408" y="2117725"/>
            <a:chExt cx="3901440" cy="2603881"/>
          </a:xfrm>
        </p:grpSpPr>
        <p:sp>
          <p:nvSpPr>
            <p:cNvPr id="9" name="TextBox 9"/>
            <p:cNvSpPr txBox="1"/>
            <p:nvPr/>
          </p:nvSpPr>
          <p:spPr>
            <a:xfrm>
              <a:off x="6693408" y="2117725"/>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平等：比较对象与理由</a:t>
              </a:r>
            </a:p>
          </p:txBody>
        </p:sp>
        <p:sp>
          <p:nvSpPr>
            <p:cNvPr id="10" name="TextBox 10"/>
            <p:cNvSpPr txBox="1"/>
            <p:nvPr/>
          </p:nvSpPr>
          <p:spPr>
            <a:xfrm>
              <a:off x="6693408" y="2841625"/>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身体：具体处理与依据</a:t>
              </a:r>
            </a:p>
          </p:txBody>
        </p:sp>
        <p:sp>
          <p:nvSpPr>
            <p:cNvPr id="11" name="TextBox 11"/>
            <p:cNvSpPr txBox="1"/>
            <p:nvPr/>
          </p:nvSpPr>
          <p:spPr>
            <a:xfrm>
              <a:off x="6693408" y="3565525"/>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住宅、通信：主体目的程序</a:t>
              </a:r>
            </a:p>
          </p:txBody>
        </p:sp>
        <p:sp>
          <p:nvSpPr>
            <p:cNvPr id="12" name="TextBox 12"/>
            <p:cNvSpPr txBox="1"/>
            <p:nvPr/>
          </p:nvSpPr>
          <p:spPr>
            <a:xfrm>
              <a:off x="6695694" y="4340225"/>
              <a:ext cx="290741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还要问由谁承担相应义务</a:t>
              </a:r>
            </a:p>
          </p:txBody>
        </p:sp>
      </p:grpSp>
      <p:grpSp>
        <p:nvGrpSpPr>
          <p:cNvPr id="15" name="p27-next"/>
          <p:cNvGrpSpPr/>
          <p:nvPr/>
        </p:nvGrpSpPr>
        <p:grpSpPr>
          <a:xfrm>
            <a:off x="447294" y="5768975"/>
            <a:ext cx="7107555" cy="381381"/>
            <a:chOff x="447294" y="5768975"/>
            <a:chExt cx="7107555" cy="381381"/>
          </a:xfrm>
        </p:grpSpPr>
        <p:sp>
          <p:nvSpPr>
            <p:cNvPr id="14" name="TextBox 14"/>
            <p:cNvSpPr txBox="1"/>
            <p:nvPr/>
          </p:nvSpPr>
          <p:spPr>
            <a:xfrm>
              <a:off x="447294" y="5768975"/>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下节：补足其他生活权利，再独立认识基本义务与共同责任。</a:t>
              </a:r>
            </a:p>
          </p:txBody>
        </p:sp>
      </p:grpSp>
      <p:grpSp>
        <p:nvGrpSpPr>
          <p:cNvPr id="18" name="p27-footer"/>
          <p:cNvGrpSpPr/>
          <p:nvPr/>
        </p:nvGrpSpPr>
        <p:grpSpPr>
          <a:xfrm>
            <a:off x="451866" y="6502400"/>
            <a:ext cx="11247444" cy="205359"/>
            <a:chOff x="451866" y="6502400"/>
            <a:chExt cx="11247444" cy="205359"/>
          </a:xfrm>
        </p:grpSpPr>
        <p:sp>
          <p:nvSpPr>
            <p:cNvPr id="16" name="TextBox 16"/>
            <p:cNvSpPr txBox="1"/>
            <p:nvPr/>
          </p:nvSpPr>
          <p:spPr>
            <a:xfrm>
              <a:off x="451866" y="6502400"/>
              <a:ext cx="453390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理解保护对象、理由和条件，也要独立理解基本义务的内容与共同责任。</a:t>
              </a:r>
            </a:p>
          </p:txBody>
        </p:sp>
        <p:sp>
          <p:nvSpPr>
            <p:cNvPr id="17" name="TextBox 1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27 / 54</a:t>
              </a:r>
            </a:p>
          </p:txBody>
        </p:sp>
      </p:grpSp>
    </p:spTree>
  </p:cSld>
  <p:clrMapOvr>
    <a:masterClrMapping/>
  </p:clrMapOvr>
  <p:transition xmlns:p14="http://schemas.microsoft.com/office/powerpoint/2010/main" p14:dur="3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8-title"/>
          <p:cNvGrpSpPr/>
          <p:nvPr/>
        </p:nvGrpSpPr>
        <p:grpSpPr>
          <a:xfrm>
            <a:off x="440436" y="381000"/>
            <a:ext cx="6605016" cy="918464"/>
            <a:chOff x="440436" y="381000"/>
            <a:chExt cx="6605016" cy="918464"/>
          </a:xfrm>
        </p:grpSpPr>
        <p:sp>
          <p:nvSpPr>
            <p:cNvPr id="2" name="TextBox 2"/>
            <p:cNvSpPr txBox="1"/>
            <p:nvPr/>
          </p:nvSpPr>
          <p:spPr>
            <a:xfrm>
              <a:off x="451104" y="38100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下节：其他生活权利与基本义务</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财产保护，怎样接上国家行为？</a:t>
              </a:r>
            </a:p>
          </p:txBody>
        </p:sp>
      </p:grpSp>
      <p:grpSp>
        <p:nvGrpSpPr>
          <p:cNvPr id="7" name="p28-text"/>
          <p:cNvGrpSpPr/>
          <p:nvPr/>
        </p:nvGrpSpPr>
        <p:grpSpPr>
          <a:xfrm>
            <a:off x="444246" y="2051050"/>
            <a:ext cx="5466588" cy="1060831"/>
            <a:chOff x="444246" y="2051050"/>
            <a:chExt cx="5466588" cy="1060831"/>
          </a:xfrm>
        </p:grpSpPr>
        <p:sp>
          <p:nvSpPr>
            <p:cNvPr id="5" name="TextBox 5"/>
            <p:cNvSpPr txBox="1"/>
            <p:nvPr/>
          </p:nvSpPr>
          <p:spPr>
            <a:xfrm>
              <a:off x="444246" y="2051050"/>
              <a:ext cx="546658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公民的合法的私有财产不受侵犯。</a:t>
              </a:r>
            </a:p>
          </p:txBody>
        </p:sp>
        <p:sp>
          <p:nvSpPr>
            <p:cNvPr id="6" name="TextBox 6"/>
            <p:cNvSpPr txBox="1"/>
            <p:nvPr/>
          </p:nvSpPr>
          <p:spPr>
            <a:xfrm>
              <a:off x="447294" y="27305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国家依照法律保护私有财产权和继承权。</a:t>
              </a:r>
            </a:p>
          </p:txBody>
        </p:sp>
      </p:grpSp>
      <p:grpSp>
        <p:nvGrpSpPr>
          <p:cNvPr id="11" name="p28-person"/>
          <p:cNvGrpSpPr/>
          <p:nvPr/>
        </p:nvGrpSpPr>
        <p:grpSpPr>
          <a:xfrm>
            <a:off x="445008" y="3898900"/>
            <a:ext cx="4224528" cy="1419733"/>
            <a:chOff x="445008" y="3898900"/>
            <a:chExt cx="4224528" cy="1419733"/>
          </a:xfrm>
        </p:grpSpPr>
        <p:sp>
          <p:nvSpPr>
            <p:cNvPr id="8" name="TextBox 8"/>
            <p:cNvSpPr txBox="1"/>
            <p:nvPr/>
          </p:nvSpPr>
          <p:spPr>
            <a:xfrm>
              <a:off x="445008" y="3898900"/>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取得、占有、使用、处分财产</a:t>
              </a:r>
            </a:p>
          </p:txBody>
        </p:sp>
        <p:sp>
          <p:nvSpPr>
            <p:cNvPr id="9" name="TextBox 9"/>
            <p:cNvSpPr txBox="1"/>
            <p:nvPr/>
          </p:nvSpPr>
          <p:spPr>
            <a:xfrm>
              <a:off x="447294" y="45402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人在社会生活中发展自由与经济利益</a:t>
              </a:r>
            </a:p>
          </p:txBody>
        </p:sp>
        <p:sp>
          <p:nvSpPr>
            <p:cNvPr id="10" name="TextBox 10"/>
            <p:cNvSpPr txBox="1"/>
            <p:nvPr/>
          </p:nvSpPr>
          <p:spPr>
            <a:xfrm>
              <a:off x="450342" y="5054600"/>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不是只在受到限制时，财产权才有意义。</a:t>
              </a:r>
            </a:p>
          </p:txBody>
        </p:sp>
      </p:grpSp>
      <p:grpSp>
        <p:nvGrpSpPr>
          <p:cNvPr id="15" name="p28-reveal-1"/>
          <p:cNvGrpSpPr/>
          <p:nvPr/>
        </p:nvGrpSpPr>
        <p:grpSpPr>
          <a:xfrm>
            <a:off x="6502908" y="3898900"/>
            <a:ext cx="3959733" cy="1419733"/>
            <a:chOff x="6502908" y="3898900"/>
            <a:chExt cx="3959733" cy="1419733"/>
          </a:xfrm>
        </p:grpSpPr>
        <p:sp>
          <p:nvSpPr>
            <p:cNvPr id="12" name="TextBox 12"/>
            <p:cNvSpPr txBox="1"/>
            <p:nvPr/>
          </p:nvSpPr>
          <p:spPr>
            <a:xfrm>
              <a:off x="6502908" y="389890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宪法层面，主要面对国家</a:t>
              </a:r>
            </a:p>
          </p:txBody>
        </p:sp>
        <p:sp>
          <p:nvSpPr>
            <p:cNvPr id="13" name="TextBox 13"/>
            <p:cNvSpPr txBox="1"/>
            <p:nvPr/>
          </p:nvSpPr>
          <p:spPr>
            <a:xfrm>
              <a:off x="6505194" y="454025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为私法上的财产保障提供宪法基础</a:t>
              </a:r>
            </a:p>
          </p:txBody>
        </p:sp>
        <p:sp>
          <p:nvSpPr>
            <p:cNvPr id="14" name="TextBox 14"/>
            <p:cNvSpPr txBox="1"/>
            <p:nvPr/>
          </p:nvSpPr>
          <p:spPr>
            <a:xfrm>
              <a:off x="6508242" y="5054600"/>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与民法相接，规范层次和法律关系仍不同。</a:t>
              </a:r>
            </a:p>
          </p:txBody>
        </p:sp>
      </p:grpSp>
      <p:grpSp>
        <p:nvGrpSpPr>
          <p:cNvPr id="17" name="p28-next"/>
          <p:cNvGrpSpPr/>
          <p:nvPr/>
        </p:nvGrpSpPr>
        <p:grpSpPr>
          <a:xfrm>
            <a:off x="447294" y="5892800"/>
            <a:ext cx="8446351" cy="381381"/>
            <a:chOff x="447294" y="5892800"/>
            <a:chExt cx="8446351" cy="381381"/>
          </a:xfrm>
        </p:grpSpPr>
        <p:sp>
          <p:nvSpPr>
            <p:cNvPr id="16" name="TextBox 16"/>
            <p:cNvSpPr txBox="1"/>
            <p:nvPr/>
          </p:nvSpPr>
          <p:spPr>
            <a:xfrm>
              <a:off x="447294" y="5892800"/>
              <a:ext cx="844635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第13条把依法征收征用及补偿也写在其中：保护与限制，须一起读条件。</a:t>
              </a:r>
            </a:p>
          </p:txBody>
        </p:sp>
      </p:grpSp>
      <p:grpSp>
        <p:nvGrpSpPr>
          <p:cNvPr id="20" name="p28-footer"/>
          <p:cNvGrpSpPr/>
          <p:nvPr/>
        </p:nvGrpSpPr>
        <p:grpSpPr>
          <a:xfrm>
            <a:off x="451866" y="6502400"/>
            <a:ext cx="11247444" cy="205359"/>
            <a:chOff x="451866" y="6502400"/>
            <a:chExt cx="11247444" cy="205359"/>
          </a:xfrm>
        </p:grpSpPr>
        <p:sp>
          <p:nvSpPr>
            <p:cNvPr id="18" name="TextBox 18"/>
            <p:cNvSpPr txBox="1"/>
            <p:nvPr/>
          </p:nvSpPr>
          <p:spPr>
            <a:xfrm>
              <a:off x="451866" y="6502400"/>
              <a:ext cx="5820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宪法第13条与教材财产权说明。财产保障既须区分规范层次，也须辨认具体条文和限制条件。</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28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9-title"/>
          <p:cNvGrpSpPr/>
          <p:nvPr/>
        </p:nvGrpSpPr>
        <p:grpSpPr>
          <a:xfrm>
            <a:off x="440436" y="381000"/>
            <a:ext cx="7543800" cy="918464"/>
            <a:chOff x="440436" y="381000"/>
            <a:chExt cx="7543800" cy="9184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三个要求同在一条，不是任选</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公共利益、依法、补偿，不能三选一</a:t>
              </a:r>
            </a:p>
          </p:txBody>
        </p:sp>
      </p:grpSp>
      <p:grpSp>
        <p:nvGrpSpPr>
          <p:cNvPr id="9" name="p29-common"/>
          <p:cNvGrpSpPr/>
          <p:nvPr/>
        </p:nvGrpSpPr>
        <p:grpSpPr>
          <a:xfrm>
            <a:off x="445008" y="1917700"/>
            <a:ext cx="9089136" cy="791083"/>
            <a:chOff x="445008" y="1917700"/>
            <a:chExt cx="9089136" cy="791083"/>
          </a:xfrm>
        </p:grpSpPr>
        <p:sp>
          <p:nvSpPr>
            <p:cNvPr id="5" name="TextBox 5"/>
            <p:cNvSpPr txBox="1"/>
            <p:nvPr/>
          </p:nvSpPr>
          <p:spPr>
            <a:xfrm>
              <a:off x="445008" y="19177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公共利益的需要</a:t>
              </a:r>
            </a:p>
          </p:txBody>
        </p:sp>
        <p:sp>
          <p:nvSpPr>
            <p:cNvPr id="6" name="TextBox 6"/>
            <p:cNvSpPr txBox="1"/>
            <p:nvPr/>
          </p:nvSpPr>
          <p:spPr>
            <a:xfrm>
              <a:off x="4331208" y="19177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依照法律规定</a:t>
              </a:r>
            </a:p>
          </p:txBody>
        </p:sp>
        <p:sp>
          <p:nvSpPr>
            <p:cNvPr id="7" name="TextBox 7"/>
            <p:cNvSpPr txBox="1"/>
            <p:nvPr/>
          </p:nvSpPr>
          <p:spPr>
            <a:xfrm>
              <a:off x="8217408" y="1917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给予补偿</a:t>
              </a:r>
            </a:p>
          </p:txBody>
        </p:sp>
        <p:sp>
          <p:nvSpPr>
            <p:cNvPr id="8" name="TextBox 8"/>
            <p:cNvSpPr txBox="1"/>
            <p:nvPr/>
          </p:nvSpPr>
          <p:spPr>
            <a:xfrm>
              <a:off x="450342" y="2444750"/>
              <a:ext cx="58293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公共利益须有根据，不能把一次开发收益或团体利益自动当作公共利益。</a:t>
              </a:r>
            </a:p>
          </p:txBody>
        </p:sp>
      </p:grpSp>
      <p:grpSp>
        <p:nvGrpSpPr>
          <p:cNvPr id="14" name="p29-reveal-1"/>
          <p:cNvGrpSpPr/>
          <p:nvPr/>
        </p:nvGrpSpPr>
        <p:grpSpPr>
          <a:xfrm>
            <a:off x="440436" y="3168650"/>
            <a:ext cx="10547223" cy="1191006"/>
            <a:chOff x="440436" y="3168650"/>
            <a:chExt cx="10547223" cy="1191006"/>
          </a:xfrm>
        </p:grpSpPr>
        <p:sp>
          <p:nvSpPr>
            <p:cNvPr id="10" name="TextBox 10"/>
            <p:cNvSpPr txBox="1"/>
            <p:nvPr/>
          </p:nvSpPr>
          <p:spPr>
            <a:xfrm>
              <a:off x="440436" y="31686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征收</a:t>
              </a:r>
            </a:p>
          </p:txBody>
        </p:sp>
        <p:sp>
          <p:nvSpPr>
            <p:cNvPr id="11" name="TextBox 11"/>
            <p:cNvSpPr txBox="1"/>
            <p:nvPr/>
          </p:nvSpPr>
          <p:spPr>
            <a:xfrm>
              <a:off x="447294" y="3978275"/>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依法转移相应财产所有权</a:t>
              </a:r>
            </a:p>
          </p:txBody>
        </p:sp>
        <p:sp>
          <p:nvSpPr>
            <p:cNvPr id="12" name="TextBox 12"/>
            <p:cNvSpPr txBox="1"/>
            <p:nvPr/>
          </p:nvSpPr>
          <p:spPr>
            <a:xfrm>
              <a:off x="6498336" y="31686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征用</a:t>
              </a:r>
            </a:p>
          </p:txBody>
        </p:sp>
        <p:sp>
          <p:nvSpPr>
            <p:cNvPr id="13" name="TextBox 13"/>
            <p:cNvSpPr txBox="1"/>
            <p:nvPr/>
          </p:nvSpPr>
          <p:spPr>
            <a:xfrm>
              <a:off x="6505194" y="3978275"/>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通常为紧急需要临时使用，使用后返还</a:t>
              </a:r>
            </a:p>
          </p:txBody>
        </p:sp>
      </p:grpSp>
      <p:grpSp>
        <p:nvGrpSpPr>
          <p:cNvPr id="18" name="p29-reveal-2"/>
          <p:cNvGrpSpPr/>
          <p:nvPr/>
        </p:nvGrpSpPr>
        <p:grpSpPr>
          <a:xfrm>
            <a:off x="445008" y="5143500"/>
            <a:ext cx="11289792" cy="1016381"/>
            <a:chOff x="445008" y="5143500"/>
            <a:chExt cx="11289792" cy="1016381"/>
          </a:xfrm>
        </p:grpSpPr>
        <p:sp>
          <p:nvSpPr>
            <p:cNvPr id="15" name="Line 15"/>
            <p:cNvSpPr/>
            <p:nvPr/>
          </p:nvSpPr>
          <p:spPr>
            <a:xfrm>
              <a:off x="457200" y="51435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28955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返还，不抵消补偿。</a:t>
              </a:r>
            </a:p>
          </p:txBody>
        </p:sp>
        <p:sp>
          <p:nvSpPr>
            <p:cNvPr id="17" name="TextBox 17"/>
            <p:cNvSpPr txBox="1"/>
            <p:nvPr/>
          </p:nvSpPr>
          <p:spPr>
            <a:xfrm>
              <a:off x="447294" y="5778500"/>
              <a:ext cx="947013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征用本身，以及征用后毁损、灭失，均有补偿要求；不凭名称比较谁必然补得高。</a:t>
              </a:r>
            </a:p>
          </p:txBody>
        </p:sp>
      </p:grpSp>
      <p:grpSp>
        <p:nvGrpSpPr>
          <p:cNvPr id="21" name="p29-footer"/>
          <p:cNvGrpSpPr/>
          <p:nvPr/>
        </p:nvGrpSpPr>
        <p:grpSpPr>
          <a:xfrm>
            <a:off x="451866" y="6502400"/>
            <a:ext cx="11247444" cy="205359"/>
            <a:chOff x="451866" y="6502400"/>
            <a:chExt cx="11247444" cy="205359"/>
          </a:xfrm>
        </p:grpSpPr>
        <p:sp>
          <p:nvSpPr>
            <p:cNvPr id="19" name="TextBox 19"/>
            <p:cNvSpPr txBox="1"/>
            <p:nvPr/>
          </p:nvSpPr>
          <p:spPr>
            <a:xfrm>
              <a:off x="451866" y="6502400"/>
              <a:ext cx="608169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宪法第13条、民法典第243—245条。征用车辆抢险等只说明临时使用，不使机关当然取得所有权。</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29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0-title"/>
          <p:cNvGrpSpPr/>
          <p:nvPr/>
        </p:nvGrpSpPr>
        <p:grpSpPr>
          <a:xfrm>
            <a:off x="440436" y="381000"/>
            <a:ext cx="8013192" cy="918464"/>
            <a:chOff x="440436" y="381000"/>
            <a:chExt cx="8013192" cy="918464"/>
          </a:xfrm>
        </p:grpSpPr>
        <p:sp>
          <p:nvSpPr>
            <p:cNvPr id="2" name="TextBox 2"/>
            <p:cNvSpPr txBox="1"/>
            <p:nvPr/>
          </p:nvSpPr>
          <p:spPr>
            <a:xfrm>
              <a:off x="451104" y="381000"/>
              <a:ext cx="30007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第42、43条的生活对象</a:t>
              </a:r>
            </a:p>
          </p:txBody>
        </p:sp>
        <p:sp>
          <p:nvSpPr>
            <p:cNvPr id="3" name="TextBox 3"/>
            <p:cNvSpPr txBox="1"/>
            <p:nvPr/>
          </p:nvSpPr>
          <p:spPr>
            <a:xfrm>
              <a:off x="440436" y="65405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劳动获得机会与报酬，休息让劳动持续</a:t>
              </a:r>
            </a:p>
          </p:txBody>
        </p:sp>
      </p:grpSp>
      <p:grpSp>
        <p:nvGrpSpPr>
          <p:cNvPr id="9" name="p30-work"/>
          <p:cNvGrpSpPr/>
          <p:nvPr/>
        </p:nvGrpSpPr>
        <p:grpSpPr>
          <a:xfrm>
            <a:off x="440436" y="1882775"/>
            <a:ext cx="4229100" cy="3026283"/>
            <a:chOff x="440436" y="1882775"/>
            <a:chExt cx="4229100" cy="3026283"/>
          </a:xfrm>
        </p:grpSpPr>
        <p:sp>
          <p:nvSpPr>
            <p:cNvPr id="5" name="TextBox 5"/>
            <p:cNvSpPr txBox="1"/>
            <p:nvPr/>
          </p:nvSpPr>
          <p:spPr>
            <a:xfrm>
              <a:off x="440436" y="18827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劳动</a:t>
              </a:r>
            </a:p>
          </p:txBody>
        </p:sp>
        <p:sp>
          <p:nvSpPr>
            <p:cNvPr id="6" name="TextBox 6"/>
            <p:cNvSpPr txBox="1"/>
            <p:nvPr/>
          </p:nvSpPr>
          <p:spPr>
            <a:xfrm>
              <a:off x="445008" y="2670175"/>
              <a:ext cx="422452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平等参加劳动、获得就业机会</a:t>
              </a:r>
            </a:p>
          </p:txBody>
        </p:sp>
        <p:sp>
          <p:nvSpPr>
            <p:cNvPr id="7" name="TextBox 7"/>
            <p:cNvSpPr txBox="1"/>
            <p:nvPr/>
          </p:nvSpPr>
          <p:spPr>
            <a:xfrm>
              <a:off x="447294" y="3330575"/>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按所提供劳动的数量和质量，</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取得相应报酬</a:t>
              </a:r>
            </a:p>
          </p:txBody>
        </p:sp>
        <p:sp>
          <p:nvSpPr>
            <p:cNvPr id="8" name="TextBox 8"/>
            <p:cNvSpPr txBox="1"/>
            <p:nvPr/>
          </p:nvSpPr>
          <p:spPr>
            <a:xfrm>
              <a:off x="450342" y="4645025"/>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是生存基础与其他权利的物质前提。</a:t>
              </a:r>
            </a:p>
          </p:txBody>
        </p:sp>
      </p:grpSp>
      <p:grpSp>
        <p:nvGrpSpPr>
          <p:cNvPr id="15" name="p30-reveal-1"/>
          <p:cNvGrpSpPr/>
          <p:nvPr/>
        </p:nvGrpSpPr>
        <p:grpSpPr>
          <a:xfrm>
            <a:off x="6498336" y="1882775"/>
            <a:ext cx="3964305" cy="3026283"/>
            <a:chOff x="6498336" y="1882775"/>
            <a:chExt cx="3964305" cy="3026283"/>
          </a:xfrm>
        </p:grpSpPr>
        <p:sp>
          <p:nvSpPr>
            <p:cNvPr id="10" name="TextBox 10"/>
            <p:cNvSpPr txBox="1"/>
            <p:nvPr/>
          </p:nvSpPr>
          <p:spPr>
            <a:xfrm>
              <a:off x="6498336" y="1882775"/>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休息</a:t>
              </a:r>
            </a:p>
          </p:txBody>
        </p:sp>
        <p:sp>
          <p:nvSpPr>
            <p:cNvPr id="11" name="TextBox 11"/>
            <p:cNvSpPr txBox="1"/>
            <p:nvPr/>
          </p:nvSpPr>
          <p:spPr>
            <a:xfrm>
              <a:off x="6502908" y="2670175"/>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消除疲劳，恢复劳动能力</a:t>
              </a:r>
            </a:p>
          </p:txBody>
        </p:sp>
        <p:sp>
          <p:nvSpPr>
            <p:cNvPr id="12" name="TextBox 12"/>
            <p:cNvSpPr txBox="1"/>
            <p:nvPr/>
          </p:nvSpPr>
          <p:spPr>
            <a:xfrm>
              <a:off x="6505194" y="3368675"/>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工时、休假以及休养设施</a:t>
              </a:r>
            </a:p>
          </p:txBody>
        </p:sp>
        <p:sp>
          <p:nvSpPr>
            <p:cNvPr id="13" name="TextBox 13"/>
            <p:cNvSpPr txBox="1"/>
            <p:nvPr/>
          </p:nvSpPr>
          <p:spPr>
            <a:xfrm>
              <a:off x="6505194" y="3959225"/>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公休日、法定节假日、带薪年休假</a:t>
              </a:r>
            </a:p>
          </p:txBody>
        </p:sp>
        <p:sp>
          <p:nvSpPr>
            <p:cNvPr id="14" name="TextBox 14"/>
            <p:cNvSpPr txBox="1"/>
            <p:nvPr/>
          </p:nvSpPr>
          <p:spPr>
            <a:xfrm>
              <a:off x="6508242" y="4645025"/>
              <a:ext cx="34667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不是劳动的对立面，而是持续劳动的条件。</a:t>
              </a:r>
            </a:p>
          </p:txBody>
        </p:sp>
      </p:grpSp>
      <p:grpSp>
        <p:nvGrpSpPr>
          <p:cNvPr id="17" name="p30-conditions"/>
          <p:cNvGrpSpPr/>
          <p:nvPr/>
        </p:nvGrpSpPr>
        <p:grpSpPr>
          <a:xfrm>
            <a:off x="447294" y="5768975"/>
            <a:ext cx="8945118" cy="381381"/>
            <a:chOff x="447294" y="5768975"/>
            <a:chExt cx="8945118" cy="381381"/>
          </a:xfrm>
        </p:grpSpPr>
        <p:sp>
          <p:nvSpPr>
            <p:cNvPr id="16" name="TextBox 16"/>
            <p:cNvSpPr txBox="1"/>
            <p:nvPr/>
          </p:nvSpPr>
          <p:spPr>
            <a:xfrm>
              <a:off x="447294" y="5768975"/>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劳动权不保证人人同一个岗位；劳动同时为权利与义务，后面再辨具体责任。</a:t>
              </a:r>
            </a:p>
          </p:txBody>
        </p:sp>
      </p:grpSp>
      <p:grpSp>
        <p:nvGrpSpPr>
          <p:cNvPr id="20" name="p30-footer"/>
          <p:cNvGrpSpPr/>
          <p:nvPr/>
        </p:nvGrpSpPr>
        <p:grpSpPr>
          <a:xfrm>
            <a:off x="451866" y="6502400"/>
            <a:ext cx="11247444" cy="205359"/>
            <a:chOff x="451866" y="6502400"/>
            <a:chExt cx="11247444" cy="205359"/>
          </a:xfrm>
        </p:grpSpPr>
        <p:sp>
          <p:nvSpPr>
            <p:cNvPr id="18" name="TextBox 18"/>
            <p:cNvSpPr txBox="1"/>
            <p:nvPr/>
          </p:nvSpPr>
          <p:spPr>
            <a:xfrm>
              <a:off x="451866" y="6502400"/>
              <a:ext cx="456217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宪法第42、43条及教材。具体工时、假期和报酬标准须依现行规定判断。</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30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1-title"/>
          <p:cNvGrpSpPr/>
          <p:nvPr/>
        </p:nvGrpSpPr>
        <p:grpSpPr>
          <a:xfrm>
            <a:off x="440436" y="381000"/>
            <a:ext cx="6605016" cy="918464"/>
            <a:chOff x="440436" y="381000"/>
            <a:chExt cx="6605016" cy="9184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国家责任与具体制度中的分工</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社会保障，谁承担哪一件工作？</a:t>
              </a:r>
            </a:p>
          </p:txBody>
        </p:sp>
      </p:grpSp>
      <p:grpSp>
        <p:nvGrpSpPr>
          <p:cNvPr id="7" name="p31-state"/>
          <p:cNvGrpSpPr/>
          <p:nvPr/>
        </p:nvGrpSpPr>
        <p:grpSpPr>
          <a:xfrm>
            <a:off x="445008" y="1936750"/>
            <a:ext cx="9209913" cy="946531"/>
            <a:chOff x="445008" y="1936750"/>
            <a:chExt cx="9209913" cy="946531"/>
          </a:xfrm>
        </p:grpSpPr>
        <p:sp>
          <p:nvSpPr>
            <p:cNvPr id="5" name="TextBox 5"/>
            <p:cNvSpPr txBox="1"/>
            <p:nvPr/>
          </p:nvSpPr>
          <p:spPr>
            <a:xfrm>
              <a:off x="445008" y="1936750"/>
              <a:ext cx="777849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国家建立健全与经济发展水平相适应的社会保障制度。</a:t>
              </a:r>
            </a:p>
          </p:txBody>
        </p:sp>
        <p:sp>
          <p:nvSpPr>
            <p:cNvPr id="6" name="TextBox 6"/>
            <p:cNvSpPr txBox="1"/>
            <p:nvPr/>
          </p:nvSpPr>
          <p:spPr>
            <a:xfrm>
              <a:off x="447294" y="2501900"/>
              <a:ext cx="920762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依法对企业事业组织和国家机关职工实行退休制度，国家和社会保障退休生活。</a:t>
              </a:r>
            </a:p>
          </p:txBody>
        </p:sp>
      </p:grpSp>
      <p:grpSp>
        <p:nvGrpSpPr>
          <p:cNvPr id="16" name="p31-reveal-1"/>
          <p:cNvGrpSpPr/>
          <p:nvPr/>
        </p:nvGrpSpPr>
        <p:grpSpPr>
          <a:xfrm>
            <a:off x="445008" y="3619500"/>
            <a:ext cx="11289792" cy="1702181"/>
            <a:chOff x="445008" y="3619500"/>
            <a:chExt cx="11289792" cy="1702181"/>
          </a:xfrm>
        </p:grpSpPr>
        <p:sp>
          <p:nvSpPr>
            <p:cNvPr id="8" name="Line 8"/>
            <p:cNvSpPr/>
            <p:nvPr/>
          </p:nvSpPr>
          <p:spPr>
            <a:xfrm>
              <a:off x="457200" y="36195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50342" y="3902075"/>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以职工基本养老保险为例</a:t>
              </a:r>
            </a:p>
          </p:txBody>
        </p:sp>
        <p:sp>
          <p:nvSpPr>
            <p:cNvPr id="10" name="TextBox 10"/>
            <p:cNvSpPr txBox="1"/>
            <p:nvPr/>
          </p:nvSpPr>
          <p:spPr>
            <a:xfrm>
              <a:off x="445008" y="42989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a:t>
              </a:r>
            </a:p>
          </p:txBody>
        </p:sp>
        <p:sp>
          <p:nvSpPr>
            <p:cNvPr id="11" name="TextBox 11"/>
            <p:cNvSpPr txBox="1"/>
            <p:nvPr/>
          </p:nvSpPr>
          <p:spPr>
            <a:xfrm>
              <a:off x="447294" y="49403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建制、安排支持、监督运行</a:t>
              </a:r>
            </a:p>
          </p:txBody>
        </p:sp>
        <p:sp>
          <p:nvSpPr>
            <p:cNvPr id="12" name="TextBox 12"/>
            <p:cNvSpPr txBox="1"/>
            <p:nvPr/>
          </p:nvSpPr>
          <p:spPr>
            <a:xfrm>
              <a:off x="4331208" y="42989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用人单位与职工</a:t>
              </a:r>
            </a:p>
          </p:txBody>
        </p:sp>
        <p:sp>
          <p:nvSpPr>
            <p:cNvPr id="13" name="TextBox 13"/>
            <p:cNvSpPr txBox="1"/>
            <p:nvPr/>
          </p:nvSpPr>
          <p:spPr>
            <a:xfrm>
              <a:off x="4333494" y="49403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依法共同缴费</a:t>
              </a:r>
            </a:p>
          </p:txBody>
        </p:sp>
        <p:sp>
          <p:nvSpPr>
            <p:cNvPr id="14" name="TextBox 14"/>
            <p:cNvSpPr txBox="1"/>
            <p:nvPr/>
          </p:nvSpPr>
          <p:spPr>
            <a:xfrm>
              <a:off x="8217408" y="4298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经办机构</a:t>
              </a:r>
            </a:p>
          </p:txBody>
        </p:sp>
        <p:sp>
          <p:nvSpPr>
            <p:cNvPr id="15" name="TextBox 15"/>
            <p:cNvSpPr txBox="1"/>
            <p:nvPr/>
          </p:nvSpPr>
          <p:spPr>
            <a:xfrm>
              <a:off x="8219694" y="49403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依法支付待遇</a:t>
              </a:r>
            </a:p>
          </p:txBody>
        </p:sp>
      </p:grpSp>
      <p:grpSp>
        <p:nvGrpSpPr>
          <p:cNvPr id="18" name="p31-join"/>
          <p:cNvGrpSpPr/>
          <p:nvPr/>
        </p:nvGrpSpPr>
        <p:grpSpPr>
          <a:xfrm>
            <a:off x="447294" y="5949950"/>
            <a:ext cx="8682609" cy="381381"/>
            <a:chOff x="447294" y="5949950"/>
            <a:chExt cx="8682609" cy="381381"/>
          </a:xfrm>
        </p:grpSpPr>
        <p:sp>
          <p:nvSpPr>
            <p:cNvPr id="17" name="TextBox 17"/>
            <p:cNvSpPr txBox="1"/>
            <p:nvPr/>
          </p:nvSpPr>
          <p:spPr>
            <a:xfrm>
              <a:off x="447294" y="5949950"/>
              <a:ext cx="868260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国家维持制度，不等于政府包办每项给付；不同主体也不能互相推掉责任。</a:t>
              </a:r>
            </a:p>
          </p:txBody>
        </p:sp>
      </p:grpSp>
      <p:grpSp>
        <p:nvGrpSpPr>
          <p:cNvPr id="21" name="p31-footer"/>
          <p:cNvGrpSpPr/>
          <p:nvPr/>
        </p:nvGrpSpPr>
        <p:grpSpPr>
          <a:xfrm>
            <a:off x="451866" y="6502400"/>
            <a:ext cx="11247444" cy="205359"/>
            <a:chOff x="451866" y="6502400"/>
            <a:chExt cx="11247444" cy="205359"/>
          </a:xfrm>
        </p:grpSpPr>
        <p:sp>
          <p:nvSpPr>
            <p:cNvPr id="19" name="TextBox 19"/>
            <p:cNvSpPr txBox="1"/>
            <p:nvPr/>
          </p:nvSpPr>
          <p:spPr>
            <a:xfrm>
              <a:off x="451866" y="6502400"/>
              <a:ext cx="598981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宪法第14、44、45条及社会保险法。不同社会保障制度的主体分工、缴费与给付安排各有条件。</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31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2-title"/>
          <p:cNvGrpSpPr/>
          <p:nvPr/>
        </p:nvGrpSpPr>
        <p:grpSpPr>
          <a:xfrm>
            <a:off x="440436" y="381000"/>
            <a:ext cx="6605016" cy="918464"/>
            <a:chOff x="440436" y="381000"/>
            <a:chExt cx="6605016"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特定处境与交叉保障</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物质帮助，不是另一套孤立制度</a:t>
              </a:r>
            </a:p>
          </p:txBody>
        </p:sp>
      </p:grpSp>
      <p:grpSp>
        <p:nvGrpSpPr>
          <p:cNvPr id="7" name="p32-circumstance"/>
          <p:cNvGrpSpPr/>
          <p:nvPr/>
        </p:nvGrpSpPr>
        <p:grpSpPr>
          <a:xfrm>
            <a:off x="445008" y="1831975"/>
            <a:ext cx="5009769" cy="898906"/>
            <a:chOff x="445008" y="1831975"/>
            <a:chExt cx="5009769" cy="898906"/>
          </a:xfrm>
        </p:grpSpPr>
        <p:sp>
          <p:nvSpPr>
            <p:cNvPr id="5" name="TextBox 5"/>
            <p:cNvSpPr txBox="1"/>
            <p:nvPr/>
          </p:nvSpPr>
          <p:spPr>
            <a:xfrm>
              <a:off x="445008" y="1831975"/>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年老、疾病，或者丧失劳动能力</a:t>
              </a:r>
            </a:p>
          </p:txBody>
        </p:sp>
        <p:sp>
          <p:nvSpPr>
            <p:cNvPr id="6" name="TextBox 6"/>
            <p:cNvSpPr txBox="1"/>
            <p:nvPr/>
          </p:nvSpPr>
          <p:spPr>
            <a:xfrm>
              <a:off x="447294" y="234950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公民有从国家和社会获得物质帮助的权利。</a:t>
              </a:r>
            </a:p>
          </p:txBody>
        </p:sp>
      </p:grpSp>
      <p:grpSp>
        <p:nvGrpSpPr>
          <p:cNvPr id="14" name="p32-reveal-1"/>
          <p:cNvGrpSpPr/>
          <p:nvPr/>
        </p:nvGrpSpPr>
        <p:grpSpPr>
          <a:xfrm>
            <a:off x="450342" y="3105150"/>
            <a:ext cx="9817608" cy="2308733"/>
            <a:chOff x="450342" y="3105150"/>
            <a:chExt cx="9817608" cy="2308733"/>
          </a:xfrm>
        </p:grpSpPr>
        <p:sp>
          <p:nvSpPr>
            <p:cNvPr id="8" name="Ellipse 8"/>
            <p:cNvSpPr/>
            <p:nvPr/>
          </p:nvSpPr>
          <p:spPr>
            <a:xfrm>
              <a:off x="1885950" y="3105150"/>
              <a:ext cx="5334000" cy="2019300"/>
            </a:xfrm>
            <a:prstGeom prst="ellipse">
              <a:avLst/>
            </a:prstGeom>
            <a:solidFill>
              <a:schemeClr val="lt2">
                <a:alpha val="45000"/>
              </a:schemeClr>
            </a:solidFill>
            <a:ln w="19050">
              <a:solidFill>
                <a:schemeClr val="accent3"/>
              </a:solidFill>
            </a:ln>
          </p:spPr>
        </p:sp>
        <p:sp>
          <p:nvSpPr>
            <p:cNvPr id="9" name="Ellipse 9"/>
            <p:cNvSpPr/>
            <p:nvPr/>
          </p:nvSpPr>
          <p:spPr>
            <a:xfrm>
              <a:off x="4933950" y="3105150"/>
              <a:ext cx="5334000" cy="2019300"/>
            </a:xfrm>
            <a:prstGeom prst="ellipse">
              <a:avLst/>
            </a:prstGeom>
            <a:solidFill>
              <a:schemeClr val="lt2">
                <a:alpha val="45000"/>
              </a:schemeClr>
            </a:solidFill>
            <a:ln w="19050">
              <a:solidFill>
                <a:schemeClr val="accent3"/>
              </a:solidFill>
            </a:ln>
          </p:spPr>
        </p:sp>
        <p:sp>
          <p:nvSpPr>
            <p:cNvPr id="10" name="TextBox 10"/>
            <p:cNvSpPr txBox="1"/>
            <p:nvPr/>
          </p:nvSpPr>
          <p:spPr>
            <a:xfrm>
              <a:off x="2882646" y="37369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社会保障</a:t>
              </a:r>
            </a:p>
          </p:txBody>
        </p:sp>
        <p:sp>
          <p:nvSpPr>
            <p:cNvPr id="11" name="TextBox 11"/>
            <p:cNvSpPr txBox="1"/>
            <p:nvPr/>
          </p:nvSpPr>
          <p:spPr>
            <a:xfrm>
              <a:off x="7988046" y="37369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物质帮助</a:t>
              </a:r>
            </a:p>
          </p:txBody>
        </p:sp>
        <p:sp>
          <p:nvSpPr>
            <p:cNvPr id="12" name="TextBox 12"/>
            <p:cNvSpPr txBox="1"/>
            <p:nvPr/>
          </p:nvSpPr>
          <p:spPr>
            <a:xfrm>
              <a:off x="5466969" y="3959225"/>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社会保险</a:t>
              </a:r>
            </a:p>
          </p:txBody>
        </p:sp>
        <p:sp>
          <p:nvSpPr>
            <p:cNvPr id="13" name="TextBox 13"/>
            <p:cNvSpPr txBox="1"/>
            <p:nvPr/>
          </p:nvSpPr>
          <p:spPr>
            <a:xfrm>
              <a:off x="450342" y="5149850"/>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只示意交叉，不按比例；社会保险是实现物质帮助的一种方式。</a:t>
              </a:r>
            </a:p>
          </p:txBody>
        </p:sp>
      </p:grpSp>
      <p:grpSp>
        <p:nvGrpSpPr>
          <p:cNvPr id="17" name="p32-boundaries"/>
          <p:cNvGrpSpPr/>
          <p:nvPr/>
        </p:nvGrpSpPr>
        <p:grpSpPr>
          <a:xfrm>
            <a:off x="447294" y="5616575"/>
            <a:ext cx="8945118" cy="743331"/>
            <a:chOff x="447294" y="5616575"/>
            <a:chExt cx="8945118" cy="743331"/>
          </a:xfrm>
        </p:grpSpPr>
        <p:sp>
          <p:nvSpPr>
            <p:cNvPr id="15" name="TextBox 15"/>
            <p:cNvSpPr txBox="1"/>
            <p:nvPr/>
          </p:nvSpPr>
          <p:spPr>
            <a:xfrm>
              <a:off x="447294" y="5616575"/>
              <a:ext cx="818384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具体请求须看制度和条件；“社会”不等于可任意要求某个陌生人给钱。</a:t>
              </a:r>
            </a:p>
          </p:txBody>
        </p:sp>
        <p:sp>
          <p:nvSpPr>
            <p:cNvPr id="16" name="TextBox 16"/>
            <p:cNvSpPr txBox="1"/>
            <p:nvPr/>
          </p:nvSpPr>
          <p:spPr>
            <a:xfrm>
              <a:off x="447294" y="5978525"/>
              <a:ext cx="894511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保障水平须适应现实条件，既防过少也防超出承受，条件不是不保障的借口。</a:t>
              </a:r>
            </a:p>
          </p:txBody>
        </p:sp>
      </p:grpSp>
      <p:grpSp>
        <p:nvGrpSpPr>
          <p:cNvPr id="20" name="p32-footer"/>
          <p:cNvGrpSpPr/>
          <p:nvPr/>
        </p:nvGrpSpPr>
        <p:grpSpPr>
          <a:xfrm>
            <a:off x="451866" y="6502400"/>
            <a:ext cx="11247444" cy="205359"/>
            <a:chOff x="451866" y="6502400"/>
            <a:chExt cx="11247444" cy="205359"/>
          </a:xfrm>
        </p:grpSpPr>
        <p:sp>
          <p:nvSpPr>
            <p:cNvPr id="18" name="TextBox 18"/>
            <p:cNvSpPr txBox="1"/>
            <p:nvPr/>
          </p:nvSpPr>
          <p:spPr>
            <a:xfrm>
              <a:off x="451866" y="6502400"/>
              <a:ext cx="555162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宪法第45条及教材说明。不能按“政府、社会、用人单位”名称切成互不相接的两套保障。</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3-title"/>
          <p:cNvGrpSpPr/>
          <p:nvPr/>
        </p:nvGrpSpPr>
        <p:grpSpPr>
          <a:xfrm>
            <a:off x="440436" y="381000"/>
            <a:ext cx="6605016" cy="918464"/>
            <a:chOff x="440436" y="381000"/>
            <a:chExt cx="6605016" cy="918464"/>
          </a:xfrm>
        </p:grpSpPr>
        <p:sp>
          <p:nvSpPr>
            <p:cNvPr id="2" name="TextBox 2"/>
            <p:cNvSpPr txBox="1"/>
            <p:nvPr/>
          </p:nvSpPr>
          <p:spPr>
            <a:xfrm>
              <a:off x="451104" y="381000"/>
              <a:ext cx="298460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第46条：受教育的权利</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受教育：机会，亦有平等的安排</a:t>
              </a:r>
            </a:p>
          </p:txBody>
        </p:sp>
      </p:grpSp>
      <p:grpSp>
        <p:nvGrpSpPr>
          <p:cNvPr id="7" name="p33-photo"/>
          <p:cNvGrpSpPr/>
          <p:nvPr/>
        </p:nvGrpSpPr>
        <p:grpSpPr>
          <a:xfrm>
            <a:off x="450342" y="1714500"/>
            <a:ext cx="6102858" cy="4623308"/>
            <a:chOff x="450342" y="1714500"/>
            <a:chExt cx="6102858" cy="4623308"/>
          </a:xfrm>
        </p:grpSpPr>
        <p:pic>
          <p:nvPicPr>
            <p:cNvPr id="5" name="Image 5"/>
            <p:cNvPicPr>
              <a:picLocks noChangeAspect="1"/>
            </p:cNvPicPr>
            <p:nvPr/>
          </p:nvPicPr>
          <p:blipFill>
            <a:blip r:embed="rId2"/>
            <a:stretch>
              <a:fillRect/>
            </a:stretch>
          </p:blipFill>
          <p:spPr>
            <a:xfrm>
              <a:off x="457200" y="1714500"/>
              <a:ext cx="6096000" cy="4210050"/>
            </a:xfrm>
            <a:prstGeom prst="rect">
              <a:avLst/>
            </a:prstGeom>
          </p:spPr>
        </p:pic>
        <p:sp>
          <p:nvSpPr>
            <p:cNvPr id="6" name="TextBox 6"/>
            <p:cNvSpPr txBox="1"/>
            <p:nvPr/>
          </p:nvSpPr>
          <p:spPr>
            <a:xfrm>
              <a:off x="450342" y="6073775"/>
              <a:ext cx="46480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广西南宁小学课堂，2026-08-31；新华社记者陆波岸摄。</a:t>
              </a:r>
            </a:p>
          </p:txBody>
        </p:sp>
      </p:grpSp>
      <p:grpSp>
        <p:nvGrpSpPr>
          <p:cNvPr id="10" name="p33-person"/>
          <p:cNvGrpSpPr/>
          <p:nvPr/>
        </p:nvGrpSpPr>
        <p:grpSpPr>
          <a:xfrm>
            <a:off x="7207758" y="2041525"/>
            <a:ext cx="2932176" cy="1365631"/>
            <a:chOff x="7207758" y="2041525"/>
            <a:chExt cx="2932176" cy="1365631"/>
          </a:xfrm>
        </p:grpSpPr>
        <p:sp>
          <p:nvSpPr>
            <p:cNvPr id="8" name="TextBox 8"/>
            <p:cNvSpPr txBox="1"/>
            <p:nvPr/>
          </p:nvSpPr>
          <p:spPr>
            <a:xfrm>
              <a:off x="7207758" y="2041525"/>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按能力平等接受教育</a:t>
              </a:r>
            </a:p>
          </p:txBody>
        </p:sp>
        <p:sp>
          <p:nvSpPr>
            <p:cNvPr id="9" name="TextBox 9"/>
            <p:cNvSpPr txBox="1"/>
            <p:nvPr/>
          </p:nvSpPr>
          <p:spPr>
            <a:xfrm>
              <a:off x="7210044" y="2663825"/>
              <a:ext cx="27439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不是只报一个权利名称，</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而要看实际的接受机会。</a:t>
              </a:r>
            </a:p>
          </p:txBody>
        </p:sp>
      </p:grpSp>
      <p:grpSp>
        <p:nvGrpSpPr>
          <p:cNvPr id="14" name="p33-reveal-1"/>
          <p:cNvGrpSpPr/>
          <p:nvPr/>
        </p:nvGrpSpPr>
        <p:grpSpPr>
          <a:xfrm>
            <a:off x="7207758" y="4108450"/>
            <a:ext cx="3290316" cy="2229358"/>
            <a:chOff x="7207758" y="4108450"/>
            <a:chExt cx="3290316" cy="2229358"/>
          </a:xfrm>
        </p:grpSpPr>
        <p:sp>
          <p:nvSpPr>
            <p:cNvPr id="11" name="TextBox 11"/>
            <p:cNvSpPr txBox="1"/>
            <p:nvPr/>
          </p:nvSpPr>
          <p:spPr>
            <a:xfrm>
              <a:off x="7207758" y="41084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要求国家提供教育机会</a:t>
              </a:r>
            </a:p>
          </p:txBody>
        </p:sp>
        <p:sp>
          <p:nvSpPr>
            <p:cNvPr id="12" name="TextBox 12"/>
            <p:cNvSpPr txBox="1"/>
            <p:nvPr/>
          </p:nvSpPr>
          <p:spPr>
            <a:xfrm>
              <a:off x="7210044" y="4730750"/>
              <a:ext cx="274396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可以有必要的考试安排，</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招生须贯彻平等，</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维护公平和社会正义。</a:t>
              </a:r>
            </a:p>
          </p:txBody>
        </p:sp>
        <p:sp>
          <p:nvSpPr>
            <p:cNvPr id="13" name="TextBox 13"/>
            <p:cNvSpPr txBox="1"/>
            <p:nvPr/>
          </p:nvSpPr>
          <p:spPr>
            <a:xfrm>
              <a:off x="7213092" y="6073775"/>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照片辨真实课堂，不是本讲设例当事人。</a:t>
              </a:r>
            </a:p>
          </p:txBody>
        </p:sp>
      </p:grpSp>
      <p:grpSp>
        <p:nvGrpSpPr>
          <p:cNvPr id="17" name="p33-footer"/>
          <p:cNvGrpSpPr/>
          <p:nvPr/>
        </p:nvGrpSpPr>
        <p:grpSpPr>
          <a:xfrm>
            <a:off x="451866" y="6502400"/>
            <a:ext cx="11247444" cy="205359"/>
            <a:chOff x="451866" y="6502400"/>
            <a:chExt cx="11247444" cy="205359"/>
          </a:xfrm>
        </p:grpSpPr>
        <p:sp>
          <p:nvSpPr>
            <p:cNvPr id="15" name="TextBox 15"/>
            <p:cNvSpPr txBox="1"/>
            <p:nvPr/>
          </p:nvSpPr>
          <p:spPr>
            <a:xfrm>
              <a:off x="451866" y="6502400"/>
              <a:ext cx="610289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宪法第46条与教材；图：新华网《还记得你开学的第一课吗？》。不以单图证明权利已全面兑现。</a:t>
              </a:r>
            </a:p>
          </p:txBody>
        </p:sp>
        <p:sp>
          <p:nvSpPr>
            <p:cNvPr id="16" name="TextBox 16"/>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4-title"/>
          <p:cNvGrpSpPr/>
          <p:nvPr/>
        </p:nvGrpSpPr>
        <p:grpSpPr>
          <a:xfrm>
            <a:off x="440436" y="381000"/>
            <a:ext cx="6135624" cy="918464"/>
            <a:chOff x="440436" y="381000"/>
            <a:chExt cx="6135624" cy="918464"/>
          </a:xfrm>
        </p:grpSpPr>
        <p:sp>
          <p:nvSpPr>
            <p:cNvPr id="2" name="TextBox 2"/>
            <p:cNvSpPr txBox="1"/>
            <p:nvPr/>
          </p:nvSpPr>
          <p:spPr>
            <a:xfrm>
              <a:off x="451104" y="381000"/>
              <a:ext cx="298460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第47条：文化活动自由</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自由创造，也需要条件和边界</a:t>
              </a:r>
            </a:p>
          </p:txBody>
        </p:sp>
      </p:grpSp>
      <p:grpSp>
        <p:nvGrpSpPr>
          <p:cNvPr id="13" name="p34-freedoms"/>
          <p:cNvGrpSpPr/>
          <p:nvPr/>
        </p:nvGrpSpPr>
        <p:grpSpPr>
          <a:xfrm>
            <a:off x="444246" y="1908175"/>
            <a:ext cx="10341864" cy="2508631"/>
            <a:chOff x="444246" y="1908175"/>
            <a:chExt cx="10341864" cy="2508631"/>
          </a:xfrm>
        </p:grpSpPr>
        <p:sp>
          <p:nvSpPr>
            <p:cNvPr id="5" name="TextBox 5"/>
            <p:cNvSpPr txBox="1"/>
            <p:nvPr/>
          </p:nvSpPr>
          <p:spPr>
            <a:xfrm>
              <a:off x="444246" y="190817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科学研究</a:t>
              </a:r>
            </a:p>
          </p:txBody>
        </p:sp>
        <p:sp>
          <p:nvSpPr>
            <p:cNvPr id="6" name="TextBox 6"/>
            <p:cNvSpPr txBox="1"/>
            <p:nvPr/>
          </p:nvSpPr>
          <p:spPr>
            <a:xfrm>
              <a:off x="447294" y="260667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探讨科学问题，发表研究成果</a:t>
              </a:r>
            </a:p>
          </p:txBody>
        </p:sp>
        <p:sp>
          <p:nvSpPr>
            <p:cNvPr id="7" name="TextBox 7"/>
            <p:cNvSpPr txBox="1"/>
            <p:nvPr/>
          </p:nvSpPr>
          <p:spPr>
            <a:xfrm>
              <a:off x="444246" y="341312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文学艺术创作</a:t>
              </a:r>
            </a:p>
          </p:txBody>
        </p:sp>
        <p:sp>
          <p:nvSpPr>
            <p:cNvPr id="8" name="TextBox 8"/>
            <p:cNvSpPr txBox="1"/>
            <p:nvPr/>
          </p:nvSpPr>
          <p:spPr>
            <a:xfrm>
              <a:off x="447294" y="403542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选择内容、形式与风格</a:t>
              </a:r>
            </a:p>
          </p:txBody>
        </p:sp>
        <p:sp>
          <p:nvSpPr>
            <p:cNvPr id="9" name="TextBox 9"/>
            <p:cNvSpPr txBox="1"/>
            <p:nvPr/>
          </p:nvSpPr>
          <p:spPr>
            <a:xfrm>
              <a:off x="7206996" y="190817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其他文化活动</a:t>
              </a:r>
            </a:p>
          </p:txBody>
        </p:sp>
        <p:sp>
          <p:nvSpPr>
            <p:cNvPr id="10" name="TextBox 10"/>
            <p:cNvSpPr txBox="1"/>
            <p:nvPr/>
          </p:nvSpPr>
          <p:spPr>
            <a:xfrm>
              <a:off x="7210044" y="2606675"/>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自由参与相应活动</a:t>
              </a:r>
            </a:p>
          </p:txBody>
        </p:sp>
        <p:sp>
          <p:nvSpPr>
            <p:cNvPr id="11" name="TextBox 11"/>
            <p:cNvSpPr txBox="1"/>
            <p:nvPr/>
          </p:nvSpPr>
          <p:spPr>
            <a:xfrm>
              <a:off x="7207758" y="3451225"/>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国家提供必要条件与设施</a:t>
              </a:r>
            </a:p>
          </p:txBody>
        </p:sp>
        <p:sp>
          <p:nvSpPr>
            <p:cNvPr id="12" name="TextBox 12"/>
            <p:cNvSpPr txBox="1"/>
            <p:nvPr/>
          </p:nvSpPr>
          <p:spPr>
            <a:xfrm>
              <a:off x="7210044" y="403542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国家权力不能非法干预</a:t>
              </a:r>
            </a:p>
          </p:txBody>
        </p:sp>
      </p:grpSp>
      <p:grpSp>
        <p:nvGrpSpPr>
          <p:cNvPr id="17" name="p34-reveal-1"/>
          <p:cNvGrpSpPr/>
          <p:nvPr/>
        </p:nvGrpSpPr>
        <p:grpSpPr>
          <a:xfrm>
            <a:off x="445008" y="4991100"/>
            <a:ext cx="11289792" cy="1111631"/>
            <a:chOff x="445008" y="4991100"/>
            <a:chExt cx="11289792" cy="1111631"/>
          </a:xfrm>
        </p:grpSpPr>
        <p:sp>
          <p:nvSpPr>
            <p:cNvPr id="14" name="Line 14"/>
            <p:cNvSpPr/>
            <p:nvPr/>
          </p:nvSpPr>
          <p:spPr>
            <a:xfrm>
              <a:off x="457200" y="49911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5" name="TextBox 15"/>
            <p:cNvSpPr txBox="1"/>
            <p:nvPr/>
          </p:nvSpPr>
          <p:spPr>
            <a:xfrm>
              <a:off x="445008" y="5165725"/>
              <a:ext cx="680923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尊重文艺创作规律，与依法限制权利可以统一。</a:t>
              </a:r>
            </a:p>
          </p:txBody>
        </p:sp>
        <p:sp>
          <p:nvSpPr>
            <p:cNvPr id="16" name="TextBox 16"/>
            <p:cNvSpPr txBox="1"/>
            <p:nvPr/>
          </p:nvSpPr>
          <p:spPr>
            <a:xfrm>
              <a:off x="447294" y="572135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限制本身也受约束，不能用管理目的代替依据与界限。</a:t>
              </a:r>
            </a:p>
          </p:txBody>
        </p:sp>
      </p:grpSp>
      <p:grpSp>
        <p:nvGrpSpPr>
          <p:cNvPr id="20" name="p34-footer"/>
          <p:cNvGrpSpPr/>
          <p:nvPr/>
        </p:nvGrpSpPr>
        <p:grpSpPr>
          <a:xfrm>
            <a:off x="451866" y="6502400"/>
            <a:ext cx="11247444" cy="205359"/>
            <a:chOff x="451866" y="6502400"/>
            <a:chExt cx="11247444" cy="205359"/>
          </a:xfrm>
        </p:grpSpPr>
        <p:sp>
          <p:nvSpPr>
            <p:cNvPr id="18" name="TextBox 18"/>
            <p:cNvSpPr txBox="1"/>
            <p:nvPr/>
          </p:nvSpPr>
          <p:spPr>
            <a:xfrm>
              <a:off x="451866" y="6502400"/>
              <a:ext cx="610289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宪法第47条与教材。具体科学研究、文艺或出版管理规则仍须分别核对，不从名称推出无限权力。</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34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5-title"/>
          <p:cNvGrpSpPr/>
          <p:nvPr/>
        </p:nvGrpSpPr>
        <p:grpSpPr>
          <a:xfrm>
            <a:off x="440436" y="381000"/>
            <a:ext cx="5666232" cy="918464"/>
            <a:chOff x="440436" y="381000"/>
            <a:chExt cx="5666232" cy="918464"/>
          </a:xfrm>
        </p:grpSpPr>
        <p:sp>
          <p:nvSpPr>
            <p:cNvPr id="2" name="TextBox 2"/>
            <p:cNvSpPr txBox="1"/>
            <p:nvPr/>
          </p:nvSpPr>
          <p:spPr>
            <a:xfrm>
              <a:off x="451104" y="381000"/>
              <a:ext cx="325114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第48—50条不是同一句保护</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特定保护，各有对象与内容</a:t>
              </a:r>
            </a:p>
          </p:txBody>
        </p:sp>
      </p:grpSp>
      <p:grpSp>
        <p:nvGrpSpPr>
          <p:cNvPr id="13" name="p35-subjects"/>
          <p:cNvGrpSpPr/>
          <p:nvPr/>
        </p:nvGrpSpPr>
        <p:grpSpPr>
          <a:xfrm>
            <a:off x="445008" y="1806575"/>
            <a:ext cx="11289792" cy="2791206"/>
            <a:chOff x="445008" y="1806575"/>
            <a:chExt cx="11289792" cy="2791206"/>
          </a:xfrm>
        </p:grpSpPr>
        <p:sp>
          <p:nvSpPr>
            <p:cNvPr id="5" name="TextBox 5"/>
            <p:cNvSpPr txBox="1"/>
            <p:nvPr/>
          </p:nvSpPr>
          <p:spPr>
            <a:xfrm>
              <a:off x="445008" y="1851025"/>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妇女</a:t>
              </a:r>
            </a:p>
          </p:txBody>
        </p:sp>
        <p:sp>
          <p:nvSpPr>
            <p:cNvPr id="6" name="TextBox 6"/>
            <p:cNvSpPr txBox="1"/>
            <p:nvPr/>
          </p:nvSpPr>
          <p:spPr>
            <a:xfrm>
              <a:off x="3704844" y="1806575"/>
              <a:ext cx="52204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在政治、经济、文化、社会、家庭生活各方面，</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享有同男子平等的权利。</a:t>
              </a:r>
            </a:p>
          </p:txBody>
        </p:sp>
        <p:sp>
          <p:nvSpPr>
            <p:cNvPr id="7" name="Line 7"/>
            <p:cNvSpPr/>
            <p:nvPr/>
          </p:nvSpPr>
          <p:spPr>
            <a:xfrm>
              <a:off x="457200" y="2724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8" name="TextBox 8"/>
            <p:cNvSpPr txBox="1"/>
            <p:nvPr/>
          </p:nvSpPr>
          <p:spPr>
            <a:xfrm>
              <a:off x="445008" y="28892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婚姻家庭</a:t>
              </a:r>
            </a:p>
          </p:txBody>
        </p:sp>
        <p:sp>
          <p:nvSpPr>
            <p:cNvPr id="9" name="TextBox 9"/>
            <p:cNvSpPr txBox="1"/>
            <p:nvPr/>
          </p:nvSpPr>
          <p:spPr>
            <a:xfrm>
              <a:off x="3704844" y="2825750"/>
              <a:ext cx="44775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婚姻、家庭、母亲和儿童受保护；</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禁止破坏婚姻自由、虐待老人妇女儿童。</a:t>
              </a:r>
            </a:p>
          </p:txBody>
        </p:sp>
        <p:sp>
          <p:nvSpPr>
            <p:cNvPr id="10" name="Line 10"/>
            <p:cNvSpPr/>
            <p:nvPr/>
          </p:nvSpPr>
          <p:spPr>
            <a:xfrm>
              <a:off x="457200" y="37528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1" name="TextBox 11"/>
            <p:cNvSpPr txBox="1"/>
            <p:nvPr/>
          </p:nvSpPr>
          <p:spPr>
            <a:xfrm>
              <a:off x="445008" y="39179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华侨、归侨、侨眷</a:t>
              </a:r>
            </a:p>
          </p:txBody>
        </p:sp>
        <p:sp>
          <p:nvSpPr>
            <p:cNvPr id="12" name="TextBox 12"/>
            <p:cNvSpPr txBox="1"/>
            <p:nvPr/>
          </p:nvSpPr>
          <p:spPr>
            <a:xfrm>
              <a:off x="3704844" y="3854450"/>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保护华侨的正当权利和利益，</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保护归侨、侨眷的合法权利和利益。</a:t>
              </a:r>
            </a:p>
          </p:txBody>
        </p:sp>
      </p:grpSp>
      <p:grpSp>
        <p:nvGrpSpPr>
          <p:cNvPr id="16" name="p35-reveal-1"/>
          <p:cNvGrpSpPr/>
          <p:nvPr/>
        </p:nvGrpSpPr>
        <p:grpSpPr>
          <a:xfrm>
            <a:off x="447294" y="5530850"/>
            <a:ext cx="8157591" cy="778383"/>
            <a:chOff x="447294" y="5530850"/>
            <a:chExt cx="8157591" cy="778383"/>
          </a:xfrm>
        </p:grpSpPr>
        <p:sp>
          <p:nvSpPr>
            <p:cNvPr id="14" name="TextBox 14"/>
            <p:cNvSpPr txBox="1"/>
            <p:nvPr/>
          </p:nvSpPr>
          <p:spPr>
            <a:xfrm>
              <a:off x="447294" y="553085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国家发展事业，与个人提出主张相接；不等于同一岗位、学校或金额。</a:t>
              </a:r>
            </a:p>
          </p:txBody>
        </p:sp>
        <p:sp>
          <p:nvSpPr>
            <p:cNvPr id="15" name="TextBox 15"/>
            <p:cNvSpPr txBox="1"/>
            <p:nvPr/>
          </p:nvSpPr>
          <p:spPr>
            <a:xfrm>
              <a:off x="450342" y="6045200"/>
              <a:ext cx="637451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涉及人口数据和具体政策时，应辨明适用时间；旧资料不能直接作为现行结论。</a:t>
              </a:r>
            </a:p>
          </p:txBody>
        </p:sp>
      </p:grpSp>
      <p:grpSp>
        <p:nvGrpSpPr>
          <p:cNvPr id="19" name="p35-footer"/>
          <p:cNvGrpSpPr/>
          <p:nvPr/>
        </p:nvGrpSpPr>
        <p:grpSpPr>
          <a:xfrm>
            <a:off x="451866" y="6502400"/>
            <a:ext cx="11247444" cy="205359"/>
            <a:chOff x="451866" y="6502400"/>
            <a:chExt cx="11247444" cy="205359"/>
          </a:xfrm>
        </p:grpSpPr>
        <p:sp>
          <p:nvSpPr>
            <p:cNvPr id="17" name="TextBox 17"/>
            <p:cNvSpPr txBox="1"/>
            <p:nvPr/>
          </p:nvSpPr>
          <p:spPr>
            <a:xfrm>
              <a:off x="451866" y="6502400"/>
              <a:ext cx="578485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宪法第48—50条；第四讲国家任务在此转向个人保护。不是只用“特殊群体”一个词代替内容。</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35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6-title"/>
          <p:cNvGrpSpPr/>
          <p:nvPr/>
        </p:nvGrpSpPr>
        <p:grpSpPr>
          <a:xfrm>
            <a:off x="440436" y="381000"/>
            <a:ext cx="6651955" cy="943864"/>
            <a:chOff x="440436" y="381000"/>
            <a:chExt cx="6651955" cy="943864"/>
          </a:xfrm>
        </p:grpSpPr>
        <p:sp>
          <p:nvSpPr>
            <p:cNvPr id="2" name="TextBox 2"/>
            <p:cNvSpPr txBox="1"/>
            <p:nvPr/>
          </p:nvSpPr>
          <p:spPr>
            <a:xfrm>
              <a:off x="451104" y="381000"/>
              <a:ext cx="346923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第41条：不同主张做不同工作</a:t>
              </a:r>
            </a:p>
          </p:txBody>
        </p:sp>
        <p:sp>
          <p:nvSpPr>
            <p:cNvPr id="3" name="TextBox 3"/>
            <p:cNvSpPr txBox="1"/>
            <p:nvPr/>
          </p:nvSpPr>
          <p:spPr>
            <a:xfrm>
              <a:off x="440436" y="679450"/>
              <a:ext cx="6651955"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“投诉”里，究竟提出什么请求？</a:t>
              </a:r>
            </a:p>
          </p:txBody>
        </p:sp>
      </p:grpSp>
      <p:grpSp>
        <p:nvGrpSpPr>
          <p:cNvPr id="9" name="p36-suggestion"/>
          <p:cNvGrpSpPr/>
          <p:nvPr/>
        </p:nvGrpSpPr>
        <p:grpSpPr>
          <a:xfrm>
            <a:off x="444246" y="2032000"/>
            <a:ext cx="2122932" cy="2422906"/>
            <a:chOff x="444246" y="2032000"/>
            <a:chExt cx="2122932" cy="2422906"/>
          </a:xfrm>
        </p:grpSpPr>
        <p:sp>
          <p:nvSpPr>
            <p:cNvPr id="5" name="TextBox 5"/>
            <p:cNvSpPr txBox="1"/>
            <p:nvPr/>
          </p:nvSpPr>
          <p:spPr>
            <a:xfrm>
              <a:off x="444246" y="20320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批评、建议</a:t>
              </a:r>
            </a:p>
          </p:txBody>
        </p:sp>
        <p:sp>
          <p:nvSpPr>
            <p:cNvPr id="6" name="TextBox 6"/>
            <p:cNvSpPr txBox="1"/>
            <p:nvPr/>
          </p:nvSpPr>
          <p:spPr>
            <a:xfrm>
              <a:off x="447294" y="27876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指出工作缺点</a:t>
              </a:r>
            </a:p>
          </p:txBody>
        </p:sp>
        <p:sp>
          <p:nvSpPr>
            <p:cNvPr id="7" name="TextBox 7"/>
            <p:cNvSpPr txBox="1"/>
            <p:nvPr/>
          </p:nvSpPr>
          <p:spPr>
            <a:xfrm>
              <a:off x="447294" y="32448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提出改进需要</a:t>
              </a:r>
            </a:p>
          </p:txBody>
        </p:sp>
        <p:sp>
          <p:nvSpPr>
            <p:cNvPr id="8" name="TextBox 8"/>
            <p:cNvSpPr txBox="1"/>
            <p:nvPr/>
          </p:nvSpPr>
          <p:spPr>
            <a:xfrm>
              <a:off x="447294" y="4073525"/>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并不都在指控违法</a:t>
              </a:r>
            </a:p>
          </p:txBody>
        </p:sp>
      </p:grpSp>
      <p:grpSp>
        <p:nvGrpSpPr>
          <p:cNvPr id="14" name="p36-reveal-1"/>
          <p:cNvGrpSpPr/>
          <p:nvPr/>
        </p:nvGrpSpPr>
        <p:grpSpPr>
          <a:xfrm>
            <a:off x="6502146" y="2032000"/>
            <a:ext cx="2927604" cy="2696083"/>
            <a:chOff x="6502146" y="2032000"/>
            <a:chExt cx="2927604" cy="2696083"/>
          </a:xfrm>
        </p:grpSpPr>
        <p:sp>
          <p:nvSpPr>
            <p:cNvPr id="10" name="TextBox 10"/>
            <p:cNvSpPr txBox="1"/>
            <p:nvPr/>
          </p:nvSpPr>
          <p:spPr>
            <a:xfrm>
              <a:off x="6502146" y="20320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申诉、控告、检举</a:t>
              </a:r>
            </a:p>
          </p:txBody>
        </p:sp>
        <p:sp>
          <p:nvSpPr>
            <p:cNvPr id="11" name="TextBox 11"/>
            <p:cNvSpPr txBox="1"/>
            <p:nvPr/>
          </p:nvSpPr>
          <p:spPr>
            <a:xfrm>
              <a:off x="6505194" y="27876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提出者认为存在违法失职</a:t>
              </a:r>
            </a:p>
          </p:txBody>
        </p:sp>
        <p:sp>
          <p:nvSpPr>
            <p:cNvPr id="12" name="TextBox 12"/>
            <p:cNvSpPr txBox="1"/>
            <p:nvPr/>
          </p:nvSpPr>
          <p:spPr>
            <a:xfrm>
              <a:off x="6505194" y="339725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申诉：不服原处理，</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请求依法重新审查</a:t>
              </a:r>
            </a:p>
          </p:txBody>
        </p:sp>
        <p:sp>
          <p:nvSpPr>
            <p:cNvPr id="13" name="TextBox 13"/>
            <p:cNvSpPr txBox="1"/>
            <p:nvPr/>
          </p:nvSpPr>
          <p:spPr>
            <a:xfrm>
              <a:off x="6508242" y="4464050"/>
              <a:ext cx="2739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不同事项有不同制度和处理机关。</a:t>
              </a:r>
            </a:p>
          </p:txBody>
        </p:sp>
      </p:grpSp>
      <p:grpSp>
        <p:nvGrpSpPr>
          <p:cNvPr id="18" name="p36-boundary"/>
          <p:cNvGrpSpPr/>
          <p:nvPr/>
        </p:nvGrpSpPr>
        <p:grpSpPr>
          <a:xfrm>
            <a:off x="447294" y="5486400"/>
            <a:ext cx="11287506" cy="879983"/>
            <a:chOff x="447294" y="5486400"/>
            <a:chExt cx="11287506" cy="879983"/>
          </a:xfrm>
        </p:grpSpPr>
        <p:sp>
          <p:nvSpPr>
            <p:cNvPr id="15" name="Line 15"/>
            <p:cNvSpPr/>
            <p:nvPr/>
          </p:nvSpPr>
          <p:spPr>
            <a:xfrm>
              <a:off x="457200" y="5486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7294" y="5683250"/>
              <a:ext cx="868260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提出问题不等于已证明违法；也不能先要求公民替机关查清一切才准提出。</a:t>
              </a:r>
            </a:p>
          </p:txBody>
        </p:sp>
        <p:sp>
          <p:nvSpPr>
            <p:cNvPr id="17" name="TextBox 17"/>
            <p:cNvSpPr txBox="1"/>
            <p:nvPr/>
          </p:nvSpPr>
          <p:spPr>
            <a:xfrm>
              <a:off x="450342" y="6102350"/>
              <a:ext cx="4757052"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主张对象和制度不同，不能一律交同一个部门“再办一次”。</a:t>
              </a:r>
            </a:p>
          </p:txBody>
        </p:sp>
      </p:grpSp>
      <p:grpSp>
        <p:nvGrpSpPr>
          <p:cNvPr id="21" name="p36-footer"/>
          <p:cNvGrpSpPr/>
          <p:nvPr/>
        </p:nvGrpSpPr>
        <p:grpSpPr>
          <a:xfrm>
            <a:off x="451866" y="6502400"/>
            <a:ext cx="11247444" cy="205359"/>
            <a:chOff x="451866" y="6502400"/>
            <a:chExt cx="11247444" cy="205359"/>
          </a:xfrm>
        </p:grpSpPr>
        <p:sp>
          <p:nvSpPr>
            <p:cNvPr id="19" name="TextBox 19"/>
            <p:cNvSpPr txBox="1"/>
            <p:nvPr/>
          </p:nvSpPr>
          <p:spPr>
            <a:xfrm>
              <a:off x="451866" y="6502400"/>
              <a:ext cx="434307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宪法第41条第1款与教材说明。不同事项的申诉制度和程序不能混用。</a:t>
              </a:r>
            </a:p>
          </p:txBody>
        </p:sp>
        <p:sp>
          <p:nvSpPr>
            <p:cNvPr id="20" name="TextBox 20"/>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36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7-title"/>
          <p:cNvGrpSpPr/>
          <p:nvPr/>
        </p:nvGrpSpPr>
        <p:grpSpPr>
          <a:xfrm>
            <a:off x="440436" y="381000"/>
            <a:ext cx="4727448" cy="918464"/>
            <a:chOff x="440436" y="381000"/>
            <a:chExt cx="4727448" cy="918464"/>
          </a:xfrm>
        </p:grpSpPr>
        <p:sp>
          <p:nvSpPr>
            <p:cNvPr id="2" name="TextBox 2"/>
            <p:cNvSpPr txBox="1"/>
            <p:nvPr/>
          </p:nvSpPr>
          <p:spPr>
            <a:xfrm>
              <a:off x="451104" y="38100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保护表达与禁止诬告同时存在</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认识不准，与故意造假</a:t>
              </a:r>
            </a:p>
          </p:txBody>
        </p:sp>
      </p:grpSp>
      <p:grpSp>
        <p:nvGrpSpPr>
          <p:cNvPr id="8" name="p37-error"/>
          <p:cNvGrpSpPr/>
          <p:nvPr/>
        </p:nvGrpSpPr>
        <p:grpSpPr>
          <a:xfrm>
            <a:off x="440436" y="2092325"/>
            <a:ext cx="3439287" cy="1943481"/>
            <a:chOff x="440436" y="2092325"/>
            <a:chExt cx="3439287" cy="1943481"/>
          </a:xfrm>
        </p:grpSpPr>
        <p:sp>
          <p:nvSpPr>
            <p:cNvPr id="5" name="TextBox 5"/>
            <p:cNvSpPr txBox="1"/>
            <p:nvPr/>
          </p:nvSpPr>
          <p:spPr>
            <a:xfrm>
              <a:off x="440436" y="2092325"/>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信息和认识有限</a:t>
              </a:r>
            </a:p>
          </p:txBody>
        </p:sp>
        <p:sp>
          <p:nvSpPr>
            <p:cNvPr id="6" name="TextBox 6"/>
            <p:cNvSpPr txBox="1"/>
            <p:nvPr/>
          </p:nvSpPr>
          <p:spPr>
            <a:xfrm>
              <a:off x="447294" y="2968625"/>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批评、建议可能说得不准</a:t>
              </a:r>
            </a:p>
          </p:txBody>
        </p:sp>
        <p:sp>
          <p:nvSpPr>
            <p:cNvPr id="7" name="TextBox 7"/>
            <p:cNvSpPr txBox="1"/>
            <p:nvPr/>
          </p:nvSpPr>
          <p:spPr>
            <a:xfrm>
              <a:off x="447294" y="365442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不能因此要求先查清、定准性</a:t>
              </a:r>
            </a:p>
          </p:txBody>
        </p:sp>
      </p:grpSp>
      <p:grpSp>
        <p:nvGrpSpPr>
          <p:cNvPr id="12" name="p37-fabrication"/>
          <p:cNvGrpSpPr/>
          <p:nvPr/>
        </p:nvGrpSpPr>
        <p:grpSpPr>
          <a:xfrm>
            <a:off x="6498336" y="2092325"/>
            <a:ext cx="3319272" cy="1943481"/>
            <a:chOff x="6498336" y="2092325"/>
            <a:chExt cx="3319272" cy="1943481"/>
          </a:xfrm>
        </p:grpSpPr>
        <p:sp>
          <p:nvSpPr>
            <p:cNvPr id="9" name="TextBox 9"/>
            <p:cNvSpPr txBox="1"/>
            <p:nvPr/>
          </p:nvSpPr>
          <p:spPr>
            <a:xfrm>
              <a:off x="6498336" y="2092325"/>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故意捏造、歪曲</a:t>
              </a:r>
            </a:p>
          </p:txBody>
        </p:sp>
        <p:sp>
          <p:nvSpPr>
            <p:cNvPr id="10" name="TextBox 10"/>
            <p:cNvSpPr txBox="1"/>
            <p:nvPr/>
          </p:nvSpPr>
          <p:spPr>
            <a:xfrm>
              <a:off x="6505194" y="2968625"/>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以诬告陷害加害他人</a:t>
              </a:r>
            </a:p>
          </p:txBody>
        </p:sp>
        <p:sp>
          <p:nvSpPr>
            <p:cNvPr id="11" name="TextBox 11"/>
            <p:cNvSpPr txBox="1"/>
            <p:nvPr/>
          </p:nvSpPr>
          <p:spPr>
            <a:xfrm>
              <a:off x="6505194" y="3654425"/>
              <a:ext cx="316992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不是批评宽容所允许的行为</a:t>
              </a:r>
            </a:p>
          </p:txBody>
        </p:sp>
      </p:grpSp>
      <p:grpSp>
        <p:nvGrpSpPr>
          <p:cNvPr id="17" name="p37-reveal-1"/>
          <p:cNvGrpSpPr/>
          <p:nvPr/>
        </p:nvGrpSpPr>
        <p:grpSpPr>
          <a:xfrm>
            <a:off x="445008" y="4914900"/>
            <a:ext cx="11289792" cy="1451483"/>
            <a:chOff x="445008" y="4914900"/>
            <a:chExt cx="11289792" cy="1451483"/>
          </a:xfrm>
        </p:grpSpPr>
        <p:sp>
          <p:nvSpPr>
            <p:cNvPr id="13" name="Line 13"/>
            <p:cNvSpPr/>
            <p:nvPr/>
          </p:nvSpPr>
          <p:spPr>
            <a:xfrm>
              <a:off x="457200" y="49149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5108575"/>
              <a:ext cx="71323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对批评、建议应宽容，不得滥用公权力打击报复。</a:t>
              </a:r>
            </a:p>
          </p:txBody>
        </p:sp>
        <p:sp>
          <p:nvSpPr>
            <p:cNvPr id="15" name="TextBox 15"/>
            <p:cNvSpPr txBox="1"/>
            <p:nvPr/>
          </p:nvSpPr>
          <p:spPr>
            <a:xfrm>
              <a:off x="447294" y="5654675"/>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保护其指出问题的价值，不以每次认识都正确为前提。</a:t>
              </a:r>
            </a:p>
          </p:txBody>
        </p:sp>
        <p:sp>
          <p:nvSpPr>
            <p:cNvPr id="16" name="TextBox 16"/>
            <p:cNvSpPr txBox="1"/>
            <p:nvPr/>
          </p:nvSpPr>
          <p:spPr>
            <a:xfrm>
              <a:off x="450342" y="6102350"/>
              <a:ext cx="473887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宽容认识误差，不取消禁止捏造歪曲事实诬告陷害的界限。</a:t>
              </a:r>
            </a:p>
          </p:txBody>
        </p:sp>
      </p:grpSp>
      <p:grpSp>
        <p:nvGrpSpPr>
          <p:cNvPr id="20" name="p37-footer"/>
          <p:cNvGrpSpPr/>
          <p:nvPr/>
        </p:nvGrpSpPr>
        <p:grpSpPr>
          <a:xfrm>
            <a:off x="451866" y="6502400"/>
            <a:ext cx="11247444" cy="205359"/>
            <a:chOff x="451866" y="6502400"/>
            <a:chExt cx="11247444" cy="205359"/>
          </a:xfrm>
        </p:grpSpPr>
        <p:sp>
          <p:nvSpPr>
            <p:cNvPr id="18" name="TextBox 18"/>
            <p:cNvSpPr txBox="1"/>
            <p:nvPr/>
          </p:nvSpPr>
          <p:spPr>
            <a:xfrm>
              <a:off x="451866" y="6502400"/>
              <a:ext cx="5820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依据：宪法第41条、教材宽容说明及本讲解释。两栏比较行为性质，不用结果对错简单划线。</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37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8-title"/>
          <p:cNvGrpSpPr/>
          <p:nvPr/>
        </p:nvGrpSpPr>
        <p:grpSpPr>
          <a:xfrm>
            <a:off x="440436" y="381000"/>
            <a:ext cx="6605016" cy="918464"/>
            <a:chOff x="440436" y="381000"/>
            <a:chExt cx="6605016"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从公民主张接到机关责任</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提出问题以后，谁必须做什么？</a:t>
              </a:r>
            </a:p>
          </p:txBody>
        </p:sp>
      </p:grpSp>
      <p:grpSp>
        <p:nvGrpSpPr>
          <p:cNvPr id="15" name="p38-relation"/>
          <p:cNvGrpSpPr/>
          <p:nvPr/>
        </p:nvGrpSpPr>
        <p:grpSpPr>
          <a:xfrm>
            <a:off x="445008" y="1828800"/>
            <a:ext cx="11270742" cy="2381250"/>
            <a:chOff x="445008" y="1828800"/>
            <a:chExt cx="11270742" cy="2381250"/>
          </a:xfrm>
        </p:grpSpPr>
        <p:sp>
          <p:nvSpPr>
            <p:cNvPr id="5" name="Ellipse 5"/>
            <p:cNvSpPr/>
            <p:nvPr/>
          </p:nvSpPr>
          <p:spPr>
            <a:xfrm>
              <a:off x="971550" y="2305050"/>
              <a:ext cx="419100" cy="419100"/>
            </a:xfrm>
            <a:prstGeom prst="ellipse">
              <a:avLst/>
            </a:prstGeom>
            <a:noFill/>
            <a:ln w="38100">
              <a:solidFill>
                <a:schemeClr val="accent1"/>
              </a:solidFill>
            </a:ln>
          </p:spPr>
        </p:sp>
        <p:sp>
          <p:nvSpPr>
            <p:cNvPr id="6" name="Freeform 6"/>
            <p:cNvSpPr/>
            <p:nvPr/>
          </p:nvSpPr>
          <p:spPr>
            <a:xfrm>
              <a:off x="800100" y="2819400"/>
              <a:ext cx="762000" cy="457200"/>
            </a:xfrm>
            <a:custGeom>
              <a:avLst/>
              <a:gdLst/>
              <a:ahLst/>
              <a:cxnLst/>
              <a:rect l="l" t="t" r="r" b="b"/>
              <a:pathLst>
                <a:path w="762000" h="457200">
                  <a:moveTo>
                    <a:pt x="0" y="457200"/>
                  </a:moveTo>
                  <a:lnTo>
                    <a:pt x="0" y="209550"/>
                  </a:lnTo>
                  <a:cubicBezTo>
                    <a:pt x="0" y="69850"/>
                    <a:pt x="73025" y="0"/>
                    <a:pt x="219075" y="0"/>
                  </a:cubicBezTo>
                  <a:lnTo>
                    <a:pt x="542925" y="0"/>
                  </a:lnTo>
                  <a:cubicBezTo>
                    <a:pt x="688975" y="0"/>
                    <a:pt x="762000" y="69850"/>
                    <a:pt x="762000" y="209550"/>
                  </a:cubicBezTo>
                  <a:lnTo>
                    <a:pt x="762000" y="457200"/>
                  </a:lnTo>
                </a:path>
              </a:pathLst>
            </a:custGeom>
            <a:noFill/>
            <a:ln w="38100">
              <a:solidFill>
                <a:schemeClr val="accent1"/>
              </a:solidFill>
            </a:ln>
          </p:spPr>
        </p:sp>
        <p:sp>
          <p:nvSpPr>
            <p:cNvPr id="7" name="TextBox 7"/>
            <p:cNvSpPr txBox="1"/>
            <p:nvPr/>
          </p:nvSpPr>
          <p:spPr>
            <a:xfrm>
              <a:off x="445008" y="35941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公民</a:t>
              </a:r>
            </a:p>
          </p:txBody>
        </p:sp>
        <p:sp>
          <p:nvSpPr>
            <p:cNvPr id="8" name="Line 8"/>
            <p:cNvSpPr/>
            <p:nvPr/>
          </p:nvSpPr>
          <p:spPr>
            <a:xfrm>
              <a:off x="2247900" y="2933700"/>
              <a:ext cx="4267200" cy="9525"/>
            </a:xfrm>
            <a:custGeom>
              <a:avLst/>
              <a:gdLst/>
              <a:ahLst/>
              <a:cxnLst/>
              <a:rect l="l" t="t" r="r" b="b"/>
              <a:pathLst>
                <a:path w="4267200" h="9525">
                  <a:moveTo>
                    <a:pt x="0" y="0"/>
                  </a:moveTo>
                  <a:lnTo>
                    <a:pt x="4267200" y="0"/>
                  </a:lnTo>
                </a:path>
              </a:pathLst>
            </a:custGeom>
            <a:noFill/>
            <a:ln w="19050">
              <a:solidFill>
                <a:schemeClr val="accent3"/>
              </a:solidFill>
            </a:ln>
          </p:spPr>
        </p:sp>
        <p:sp>
          <p:nvSpPr>
            <p:cNvPr id="9" name="Freeform 9"/>
            <p:cNvSpPr/>
            <p:nvPr/>
          </p:nvSpPr>
          <p:spPr>
            <a:xfrm>
              <a:off x="6381750" y="286702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0" name="TextBox 10"/>
            <p:cNvSpPr txBox="1"/>
            <p:nvPr/>
          </p:nvSpPr>
          <p:spPr>
            <a:xfrm>
              <a:off x="2466594" y="23876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提出申诉、控告或者检举</a:t>
              </a:r>
            </a:p>
          </p:txBody>
        </p:sp>
        <p:sp>
          <p:nvSpPr>
            <p:cNvPr id="11" name="Rectangle 11"/>
            <p:cNvSpPr/>
            <p:nvPr/>
          </p:nvSpPr>
          <p:spPr>
            <a:xfrm>
              <a:off x="6953250" y="1828800"/>
              <a:ext cx="4762500" cy="2381250"/>
            </a:xfrm>
            <a:prstGeom prst="rect">
              <a:avLst/>
            </a:prstGeom>
            <a:solidFill>
              <a:schemeClr val="lt2"/>
            </a:solidFill>
            <a:ln w="9525">
              <a:solidFill>
                <a:schemeClr val="accent3"/>
              </a:solidFill>
            </a:ln>
          </p:spPr>
        </p:sp>
        <p:sp>
          <p:nvSpPr>
            <p:cNvPr id="12" name="TextBox 12"/>
            <p:cNvSpPr txBox="1"/>
            <p:nvPr/>
          </p:nvSpPr>
          <p:spPr>
            <a:xfrm>
              <a:off x="7206996" y="1984375"/>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有关国家机关</a:t>
              </a:r>
            </a:p>
          </p:txBody>
        </p:sp>
        <p:sp>
          <p:nvSpPr>
            <p:cNvPr id="13" name="TextBox 13"/>
            <p:cNvSpPr txBox="1"/>
            <p:nvPr/>
          </p:nvSpPr>
          <p:spPr>
            <a:xfrm>
              <a:off x="7207758" y="26606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查清事实，负责处理</a:t>
              </a:r>
            </a:p>
          </p:txBody>
        </p:sp>
        <p:sp>
          <p:nvSpPr>
            <p:cNvPr id="14" name="TextBox 14"/>
            <p:cNvSpPr txBox="1"/>
            <p:nvPr/>
          </p:nvSpPr>
          <p:spPr>
            <a:xfrm>
              <a:off x="7210044" y="3425825"/>
              <a:ext cx="316992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任何人不得压制、打击报复</a:t>
              </a:r>
            </a:p>
          </p:txBody>
        </p:sp>
      </p:grpSp>
      <p:grpSp>
        <p:nvGrpSpPr>
          <p:cNvPr id="19" name="p38-reveal-1"/>
          <p:cNvGrpSpPr/>
          <p:nvPr/>
        </p:nvGrpSpPr>
        <p:grpSpPr>
          <a:xfrm>
            <a:off x="445008" y="5108575"/>
            <a:ext cx="7897368" cy="1257808"/>
            <a:chOff x="445008" y="5108575"/>
            <a:chExt cx="7897368" cy="1257808"/>
          </a:xfrm>
        </p:grpSpPr>
        <p:sp>
          <p:nvSpPr>
            <p:cNvPr id="16" name="TextBox 16"/>
            <p:cNvSpPr txBox="1"/>
            <p:nvPr/>
          </p:nvSpPr>
          <p:spPr>
            <a:xfrm>
              <a:off x="445008" y="5108575"/>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不能因不愿面对，就置之不理。</a:t>
              </a:r>
            </a:p>
          </p:txBody>
        </p:sp>
        <p:sp>
          <p:nvSpPr>
            <p:cNvPr id="17" name="TextBox 17"/>
            <p:cNvSpPr txBox="1"/>
            <p:nvPr/>
          </p:nvSpPr>
          <p:spPr>
            <a:xfrm>
              <a:off x="447294" y="5635625"/>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对批评、建议也须依法面对，但不能把两类主张全部压成同一程序。</a:t>
              </a:r>
            </a:p>
          </p:txBody>
        </p:sp>
        <p:sp>
          <p:nvSpPr>
            <p:cNvPr id="18" name="TextBox 18"/>
            <p:cNvSpPr txBox="1"/>
            <p:nvPr/>
          </p:nvSpPr>
          <p:spPr>
            <a:xfrm>
              <a:off x="450342" y="6102350"/>
              <a:ext cx="4920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对应处理与保障责任，不等于提出后必须立刻实现全部愿望。</a:t>
              </a:r>
            </a:p>
          </p:txBody>
        </p:sp>
      </p:grpSp>
      <p:grpSp>
        <p:nvGrpSpPr>
          <p:cNvPr id="22" name="p38-footer"/>
          <p:cNvGrpSpPr/>
          <p:nvPr/>
        </p:nvGrpSpPr>
        <p:grpSpPr>
          <a:xfrm>
            <a:off x="451866" y="6502400"/>
            <a:ext cx="11247444" cy="205359"/>
            <a:chOff x="451866" y="6502400"/>
            <a:chExt cx="11247444" cy="205359"/>
          </a:xfrm>
        </p:grpSpPr>
        <p:sp>
          <p:nvSpPr>
            <p:cNvPr id="20" name="TextBox 20"/>
            <p:cNvSpPr txBox="1"/>
            <p:nvPr/>
          </p:nvSpPr>
          <p:spPr>
            <a:xfrm>
              <a:off x="451866" y="6502400"/>
              <a:ext cx="462577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宪法第41条第2款。框内两项工作不是另设的对外机关；人物为教学示意。</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38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39-title"/>
          <p:cNvGrpSpPr/>
          <p:nvPr/>
        </p:nvGrpSpPr>
        <p:grpSpPr>
          <a:xfrm>
            <a:off x="440436" y="381000"/>
            <a:ext cx="6605016" cy="918464"/>
            <a:chOff x="440436" y="381000"/>
            <a:chExt cx="6605016" cy="918464"/>
          </a:xfrm>
        </p:grpSpPr>
        <p:sp>
          <p:nvSpPr>
            <p:cNvPr id="2" name="TextBox 2"/>
            <p:cNvSpPr txBox="1"/>
            <p:nvPr/>
          </p:nvSpPr>
          <p:spPr>
            <a:xfrm>
              <a:off x="451104" y="381000"/>
              <a:ext cx="330769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同在第41条，做的工作不同</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监督活动，与依法请求国家赔偿</a:t>
              </a:r>
            </a:p>
          </p:txBody>
        </p:sp>
      </p:grpSp>
      <p:grpSp>
        <p:nvGrpSpPr>
          <p:cNvPr id="13" name="p39-rights"/>
          <p:cNvGrpSpPr/>
          <p:nvPr/>
        </p:nvGrpSpPr>
        <p:grpSpPr>
          <a:xfrm>
            <a:off x="444246" y="1936750"/>
            <a:ext cx="11290554" cy="2677033"/>
            <a:chOff x="444246" y="1936750"/>
            <a:chExt cx="11290554" cy="2677033"/>
          </a:xfrm>
        </p:grpSpPr>
        <p:sp>
          <p:nvSpPr>
            <p:cNvPr id="5" name="TextBox 5"/>
            <p:cNvSpPr txBox="1"/>
            <p:nvPr/>
          </p:nvSpPr>
          <p:spPr>
            <a:xfrm>
              <a:off x="444246" y="195580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监督权</a:t>
              </a:r>
            </a:p>
          </p:txBody>
        </p:sp>
        <p:sp>
          <p:nvSpPr>
            <p:cNvPr id="6" name="TextBox 6"/>
            <p:cNvSpPr txBox="1"/>
            <p:nvPr/>
          </p:nvSpPr>
          <p:spPr>
            <a:xfrm>
              <a:off x="3702558" y="19367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监督机关和工作人员的活动</a:t>
              </a:r>
            </a:p>
          </p:txBody>
        </p:sp>
        <p:sp>
          <p:nvSpPr>
            <p:cNvPr id="7" name="TextBox 7"/>
            <p:cNvSpPr txBox="1"/>
            <p:nvPr/>
          </p:nvSpPr>
          <p:spPr>
            <a:xfrm>
              <a:off x="3704844" y="24447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提出不同主张，对应处理和保障</a:t>
              </a:r>
            </a:p>
          </p:txBody>
        </p:sp>
        <p:sp>
          <p:nvSpPr>
            <p:cNvPr id="8" name="Line 8"/>
            <p:cNvSpPr/>
            <p:nvPr/>
          </p:nvSpPr>
          <p:spPr>
            <a:xfrm>
              <a:off x="457200" y="3105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4246" y="33083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国家赔偿请求权</a:t>
              </a:r>
            </a:p>
          </p:txBody>
        </p:sp>
        <p:sp>
          <p:nvSpPr>
            <p:cNvPr id="10" name="TextBox 10"/>
            <p:cNvSpPr txBox="1"/>
            <p:nvPr/>
          </p:nvSpPr>
          <p:spPr>
            <a:xfrm>
              <a:off x="3702558" y="3289300"/>
              <a:ext cx="524225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法律规定的侵权受损情形 → 请求赔偿</a:t>
              </a:r>
            </a:p>
          </p:txBody>
        </p:sp>
        <p:sp>
          <p:nvSpPr>
            <p:cNvPr id="11" name="TextBox 11"/>
            <p:cNvSpPr txBox="1"/>
            <p:nvPr/>
          </p:nvSpPr>
          <p:spPr>
            <a:xfrm>
              <a:off x="3704844" y="379730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有宪法基础、财产权性质，按相应法律落实</a:t>
              </a:r>
            </a:p>
          </p:txBody>
        </p:sp>
        <p:sp>
          <p:nvSpPr>
            <p:cNvPr id="12" name="TextBox 12"/>
            <p:cNvSpPr txBox="1"/>
            <p:nvPr/>
          </p:nvSpPr>
          <p:spPr>
            <a:xfrm>
              <a:off x="3707892" y="4349750"/>
              <a:ext cx="364845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接受一份建议，不等于赔偿请求也已处理完。</a:t>
              </a:r>
            </a:p>
          </p:txBody>
        </p:sp>
      </p:grpSp>
      <p:grpSp>
        <p:nvGrpSpPr>
          <p:cNvPr id="16" name="p39-reveal-1"/>
          <p:cNvGrpSpPr/>
          <p:nvPr/>
        </p:nvGrpSpPr>
        <p:grpSpPr>
          <a:xfrm>
            <a:off x="445008" y="5241925"/>
            <a:ext cx="8684895" cy="917956"/>
            <a:chOff x="445008" y="5241925"/>
            <a:chExt cx="8684895" cy="917956"/>
          </a:xfrm>
        </p:grpSpPr>
        <p:sp>
          <p:nvSpPr>
            <p:cNvPr id="14" name="TextBox 14"/>
            <p:cNvSpPr txBox="1"/>
            <p:nvPr/>
          </p:nvSpPr>
          <p:spPr>
            <a:xfrm>
              <a:off x="445008" y="5241925"/>
              <a:ext cx="634075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个人监督权　≠　第八讲的完整宪法监督制度</a:t>
              </a:r>
            </a:p>
          </p:txBody>
        </p:sp>
        <p:sp>
          <p:nvSpPr>
            <p:cNvPr id="15" name="TextBox 15"/>
            <p:cNvSpPr txBox="1"/>
            <p:nvPr/>
          </p:nvSpPr>
          <p:spPr>
            <a:xfrm>
              <a:off x="447294" y="5778500"/>
              <a:ext cx="868260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个人提出意见，不会自动撤销规范或行政决定；处理仍由有权限机关作出。</a:t>
              </a:r>
            </a:p>
          </p:txBody>
        </p:sp>
      </p:grpSp>
      <p:grpSp>
        <p:nvGrpSpPr>
          <p:cNvPr id="19" name="p39-footer"/>
          <p:cNvGrpSpPr/>
          <p:nvPr/>
        </p:nvGrpSpPr>
        <p:grpSpPr>
          <a:xfrm>
            <a:off x="451866" y="6502400"/>
            <a:ext cx="11247444" cy="205359"/>
            <a:chOff x="451866" y="6502400"/>
            <a:chExt cx="11247444" cy="205359"/>
          </a:xfrm>
        </p:grpSpPr>
        <p:sp>
          <p:nvSpPr>
            <p:cNvPr id="17" name="TextBox 17"/>
            <p:cNvSpPr txBox="1"/>
            <p:nvPr/>
          </p:nvSpPr>
          <p:spPr>
            <a:xfrm>
              <a:off x="451866" y="6502400"/>
              <a:ext cx="539614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宪法第41条及教材。国家赔偿须符合相应法定条件，不能仅凭提出请求就认定可获赔。</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39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0-title"/>
          <p:cNvGrpSpPr/>
          <p:nvPr/>
        </p:nvGrpSpPr>
        <p:grpSpPr>
          <a:xfrm>
            <a:off x="440436" y="381000"/>
            <a:ext cx="6135624" cy="918464"/>
            <a:chOff x="440436" y="381000"/>
            <a:chExt cx="6135624"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另一半：公民基本义务</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为什么宪法也规定共同责任？</a:t>
              </a:r>
            </a:p>
          </p:txBody>
        </p:sp>
      </p:grpSp>
      <p:grpSp>
        <p:nvGrpSpPr>
          <p:cNvPr id="9" name="p40-responsibility"/>
          <p:cNvGrpSpPr/>
          <p:nvPr/>
        </p:nvGrpSpPr>
        <p:grpSpPr>
          <a:xfrm>
            <a:off x="440436" y="2120900"/>
            <a:ext cx="3439287" cy="2502408"/>
            <a:chOff x="440436" y="2120900"/>
            <a:chExt cx="3439287" cy="2502408"/>
          </a:xfrm>
        </p:grpSpPr>
        <p:sp>
          <p:nvSpPr>
            <p:cNvPr id="5" name="TextBox 5"/>
            <p:cNvSpPr txBox="1"/>
            <p:nvPr/>
          </p:nvSpPr>
          <p:spPr>
            <a:xfrm>
              <a:off x="440436" y="2120900"/>
              <a:ext cx="238048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应尽的责任</a:t>
              </a:r>
            </a:p>
          </p:txBody>
        </p:sp>
        <p:sp>
          <p:nvSpPr>
            <p:cNvPr id="6" name="TextBox 6"/>
            <p:cNvSpPr txBox="1"/>
            <p:nvPr/>
          </p:nvSpPr>
          <p:spPr>
            <a:xfrm>
              <a:off x="447294" y="3025775"/>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宪法规定公民必须履行的责任</a:t>
              </a:r>
            </a:p>
          </p:txBody>
        </p:sp>
        <p:sp>
          <p:nvSpPr>
            <p:cNvPr id="7" name="TextBox 7"/>
            <p:cNvSpPr txBox="1"/>
            <p:nvPr/>
          </p:nvSpPr>
          <p:spPr>
            <a:xfrm>
              <a:off x="445008" y="37084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也是成员身份的一面</a:t>
              </a:r>
            </a:p>
          </p:txBody>
        </p:sp>
        <p:sp>
          <p:nvSpPr>
            <p:cNvPr id="8" name="TextBox 8"/>
            <p:cNvSpPr txBox="1"/>
            <p:nvPr/>
          </p:nvSpPr>
          <p:spPr>
            <a:xfrm>
              <a:off x="450342" y="4359275"/>
              <a:ext cx="31032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公民地位与依法确定的相应义务相接。</a:t>
              </a:r>
            </a:p>
          </p:txBody>
        </p:sp>
      </p:grpSp>
      <p:grpSp>
        <p:nvGrpSpPr>
          <p:cNvPr id="14" name="p40-reveal-1"/>
          <p:cNvGrpSpPr/>
          <p:nvPr/>
        </p:nvGrpSpPr>
        <p:grpSpPr>
          <a:xfrm>
            <a:off x="6502146" y="2222500"/>
            <a:ext cx="4015740" cy="2441956"/>
            <a:chOff x="6502146" y="2222500"/>
            <a:chExt cx="4015740" cy="2441956"/>
          </a:xfrm>
        </p:grpSpPr>
        <p:sp>
          <p:nvSpPr>
            <p:cNvPr id="10" name="TextBox 10"/>
            <p:cNvSpPr txBox="1"/>
            <p:nvPr/>
          </p:nvSpPr>
          <p:spPr>
            <a:xfrm>
              <a:off x="6502146" y="2222500"/>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调整基本权利之间的冲突</a:t>
              </a:r>
            </a:p>
          </p:txBody>
        </p:sp>
        <p:sp>
          <p:nvSpPr>
            <p:cNvPr id="11" name="TextBox 11"/>
            <p:cNvSpPr txBox="1"/>
            <p:nvPr/>
          </p:nvSpPr>
          <p:spPr>
            <a:xfrm>
              <a:off x="6505194" y="302577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共同生活中，彼此利益需要协调</a:t>
              </a:r>
            </a:p>
          </p:txBody>
        </p:sp>
        <p:sp>
          <p:nvSpPr>
            <p:cNvPr id="12" name="TextBox 12"/>
            <p:cNvSpPr txBox="1"/>
            <p:nvPr/>
          </p:nvSpPr>
          <p:spPr>
            <a:xfrm>
              <a:off x="6502146" y="36703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增进社会公共利益</a:t>
              </a:r>
            </a:p>
          </p:txBody>
        </p:sp>
        <p:sp>
          <p:nvSpPr>
            <p:cNvPr id="13" name="TextBox 13"/>
            <p:cNvSpPr txBox="1"/>
            <p:nvPr/>
          </p:nvSpPr>
          <p:spPr>
            <a:xfrm>
              <a:off x="6505194" y="4283075"/>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不只是权利后面可有可无的口号</a:t>
              </a:r>
            </a:p>
          </p:txBody>
        </p:sp>
      </p:grpSp>
      <p:grpSp>
        <p:nvGrpSpPr>
          <p:cNvPr id="17" name="p40-next"/>
          <p:cNvGrpSpPr/>
          <p:nvPr/>
        </p:nvGrpSpPr>
        <p:grpSpPr>
          <a:xfrm>
            <a:off x="447294" y="5581650"/>
            <a:ext cx="11287506" cy="578231"/>
            <a:chOff x="447294" y="5581650"/>
            <a:chExt cx="11287506" cy="578231"/>
          </a:xfrm>
        </p:grpSpPr>
        <p:sp>
          <p:nvSpPr>
            <p:cNvPr id="15" name="Line 15"/>
            <p:cNvSpPr/>
            <p:nvPr/>
          </p:nvSpPr>
          <p:spPr>
            <a:xfrm>
              <a:off x="457200" y="5581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7294" y="577850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为什么有义务，与此刻谁必须怎样履行，仍是需要分别回答的问题。</a:t>
              </a:r>
            </a:p>
          </p:txBody>
        </p:sp>
      </p:grpSp>
      <p:grpSp>
        <p:nvGrpSpPr>
          <p:cNvPr id="20" name="p40-footer"/>
          <p:cNvGrpSpPr/>
          <p:nvPr/>
        </p:nvGrpSpPr>
        <p:grpSpPr>
          <a:xfrm>
            <a:off x="451866" y="6502400"/>
            <a:ext cx="11247444" cy="205359"/>
            <a:chOff x="451866" y="6502400"/>
            <a:chExt cx="11247444" cy="205359"/>
          </a:xfrm>
        </p:grpSpPr>
        <p:sp>
          <p:nvSpPr>
            <p:cNvPr id="18" name="TextBox 18"/>
            <p:cNvSpPr txBox="1"/>
            <p:nvPr/>
          </p:nvSpPr>
          <p:spPr>
            <a:xfrm>
              <a:off x="451866" y="6502400"/>
              <a:ext cx="594741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依据：教材基本义务含义和理由。成员资格不使每个人立即进入同一种服役、缴税或给付状态。</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40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1-title"/>
          <p:cNvGrpSpPr/>
          <p:nvPr/>
        </p:nvGrpSpPr>
        <p:grpSpPr>
          <a:xfrm>
            <a:off x="440436" y="381000"/>
            <a:ext cx="6605016" cy="918464"/>
            <a:chOff x="440436" y="381000"/>
            <a:chExt cx="6605016" cy="918464"/>
          </a:xfrm>
        </p:grpSpPr>
        <p:sp>
          <p:nvSpPr>
            <p:cNvPr id="2" name="TextBox 2"/>
            <p:cNvSpPr txBox="1"/>
            <p:nvPr/>
          </p:nvSpPr>
          <p:spPr>
            <a:xfrm>
              <a:off x="451104" y="38100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义务的设定同样受约束</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给个人加负担，先问谁有权规定</a:t>
              </a:r>
            </a:p>
          </p:txBody>
        </p:sp>
      </p:grpSp>
      <p:grpSp>
        <p:nvGrpSpPr>
          <p:cNvPr id="6" name="p41-nature"/>
          <p:cNvGrpSpPr/>
          <p:nvPr/>
        </p:nvGrpSpPr>
        <p:grpSpPr>
          <a:xfrm>
            <a:off x="447294" y="1816100"/>
            <a:ext cx="8420100" cy="381381"/>
            <a:chOff x="447294" y="1816100"/>
            <a:chExt cx="8420100" cy="381381"/>
          </a:xfrm>
        </p:grpSpPr>
        <p:sp>
          <p:nvSpPr>
            <p:cNvPr id="5" name="TextBox 5"/>
            <p:cNvSpPr txBox="1"/>
            <p:nvPr/>
          </p:nvSpPr>
          <p:spPr>
            <a:xfrm>
              <a:off x="447294" y="1816100"/>
              <a:ext cx="842010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义务也可表现为不得侵害别人，并不每次都意味着财产损失或身体强制。</a:t>
              </a:r>
            </a:p>
          </p:txBody>
        </p:sp>
      </p:grpSp>
      <p:grpSp>
        <p:nvGrpSpPr>
          <p:cNvPr id="19" name="p41-authority"/>
          <p:cNvGrpSpPr/>
          <p:nvPr/>
        </p:nvGrpSpPr>
        <p:grpSpPr>
          <a:xfrm>
            <a:off x="445008" y="2749550"/>
            <a:ext cx="11289792" cy="3607308"/>
            <a:chOff x="445008" y="2749550"/>
            <a:chExt cx="11289792" cy="3607308"/>
          </a:xfrm>
        </p:grpSpPr>
        <p:sp>
          <p:nvSpPr>
            <p:cNvPr id="7" name="TextBox 7"/>
            <p:cNvSpPr txBox="1"/>
            <p:nvPr/>
          </p:nvSpPr>
          <p:spPr>
            <a:xfrm>
              <a:off x="445008" y="27559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特定立法权限</a:t>
              </a:r>
            </a:p>
          </p:txBody>
        </p:sp>
        <p:sp>
          <p:nvSpPr>
            <p:cNvPr id="8" name="TextBox 8"/>
            <p:cNvSpPr txBox="1"/>
            <p:nvPr/>
          </p:nvSpPr>
          <p:spPr>
            <a:xfrm>
              <a:off x="3704844" y="27495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限制人身自由的强制措施、税收基本制度等事项</a:t>
              </a:r>
            </a:p>
          </p:txBody>
        </p:sp>
        <p:sp>
          <p:nvSpPr>
            <p:cNvPr id="9" name="Line 9"/>
            <p:cNvSpPr/>
            <p:nvPr/>
          </p:nvSpPr>
          <p:spPr>
            <a:xfrm>
              <a:off x="457200" y="33337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0" name="TextBox 10"/>
            <p:cNvSpPr txBox="1"/>
            <p:nvPr/>
          </p:nvSpPr>
          <p:spPr>
            <a:xfrm>
              <a:off x="445008" y="348932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国务院行政法规</a:t>
              </a:r>
            </a:p>
          </p:txBody>
        </p:sp>
        <p:sp>
          <p:nvSpPr>
            <p:cNvPr id="11" name="TextBox 11"/>
            <p:cNvSpPr txBox="1"/>
            <p:nvPr/>
          </p:nvSpPr>
          <p:spPr>
            <a:xfrm>
              <a:off x="3704844" y="3425825"/>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依法执行法律，或在法定管理职权、</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合法授权范围内作出规定</a:t>
              </a:r>
            </a:p>
          </p:txBody>
        </p:sp>
        <p:sp>
          <p:nvSpPr>
            <p:cNvPr id="12" name="Line 12"/>
            <p:cNvSpPr/>
            <p:nvPr/>
          </p:nvSpPr>
          <p:spPr>
            <a:xfrm>
              <a:off x="457200" y="4343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5008" y="449897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规章、一般文件</a:t>
              </a:r>
            </a:p>
          </p:txBody>
        </p:sp>
        <p:sp>
          <p:nvSpPr>
            <p:cNvPr id="14" name="TextBox 14"/>
            <p:cNvSpPr txBox="1"/>
            <p:nvPr/>
          </p:nvSpPr>
          <p:spPr>
            <a:xfrm>
              <a:off x="3704844" y="449262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部门、地方无规定依据，不得自行给公民增加义务</a:t>
              </a:r>
            </a:p>
          </p:txBody>
        </p:sp>
        <p:sp>
          <p:nvSpPr>
            <p:cNvPr id="15" name="Line 15"/>
            <p:cNvSpPr/>
            <p:nvPr/>
          </p:nvSpPr>
          <p:spPr>
            <a:xfrm>
              <a:off x="457200" y="50673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5008" y="5222875"/>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内容、程序、时间</a:t>
              </a:r>
            </a:p>
          </p:txBody>
        </p:sp>
        <p:sp>
          <p:nvSpPr>
            <p:cNvPr id="17" name="TextBox 17"/>
            <p:cNvSpPr txBox="1"/>
            <p:nvPr/>
          </p:nvSpPr>
          <p:spPr>
            <a:xfrm>
              <a:off x="3704844" y="5159375"/>
              <a:ext cx="57157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有权限仍须内容合宪、程序合法；通常不溯及既往，</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更好保护权利利益的法定特别规定有相应例外</a:t>
              </a:r>
            </a:p>
          </p:txBody>
        </p:sp>
        <p:sp>
          <p:nvSpPr>
            <p:cNvPr id="18" name="TextBox 18"/>
            <p:cNvSpPr txBox="1"/>
            <p:nvPr/>
          </p:nvSpPr>
          <p:spPr>
            <a:xfrm>
              <a:off x="450342" y="6092825"/>
              <a:ext cx="655624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既不能说行政法规一律不得规定义务，也不能凭一个正式文件名称就任意加负担。</a:t>
              </a:r>
            </a:p>
          </p:txBody>
        </p:sp>
      </p:grpSp>
      <p:grpSp>
        <p:nvGrpSpPr>
          <p:cNvPr id="22" name="p41-footer"/>
          <p:cNvGrpSpPr/>
          <p:nvPr/>
        </p:nvGrpSpPr>
        <p:grpSpPr>
          <a:xfrm>
            <a:off x="451866" y="6502400"/>
            <a:ext cx="11247444" cy="205359"/>
            <a:chOff x="451866" y="6502400"/>
            <a:chExt cx="11247444" cy="205359"/>
          </a:xfrm>
        </p:grpSpPr>
        <p:sp>
          <p:nvSpPr>
            <p:cNvPr id="20" name="TextBox 20"/>
            <p:cNvSpPr txBox="1"/>
            <p:nvPr/>
          </p:nvSpPr>
          <p:spPr>
            <a:xfrm>
              <a:off x="451866" y="6502400"/>
              <a:ext cx="637146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依据：立法法相关权限、规范性文件要求及本讲。行列对应事项与依据，不以层级名称代替具体权限。</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41 / 54</a:t>
              </a:r>
            </a:p>
          </p:txBody>
        </p:sp>
      </p:grpSp>
    </p:spTree>
  </p:cSld>
  <p:clrMapOvr>
    <a:masterClrMapping/>
  </p:clrMapOvr>
  <p:transition xmlns:p14="http://schemas.microsoft.com/office/powerpoint/2010/main" p14:dur="3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2-title"/>
          <p:cNvGrpSpPr/>
          <p:nvPr/>
        </p:nvGrpSpPr>
        <p:grpSpPr>
          <a:xfrm>
            <a:off x="440436" y="381000"/>
            <a:ext cx="6135624" cy="918464"/>
            <a:chOff x="440436" y="381000"/>
            <a:chExt cx="6135624" cy="918464"/>
          </a:xfrm>
        </p:grpSpPr>
        <p:sp>
          <p:nvSpPr>
            <p:cNvPr id="2" name="TextBox 2"/>
            <p:cNvSpPr txBox="1"/>
            <p:nvPr/>
          </p:nvSpPr>
          <p:spPr>
            <a:xfrm>
              <a:off x="451104" y="381000"/>
              <a:ext cx="282305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第52条的共同体责任</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维护统一，也维护各民族团结</a:t>
              </a:r>
            </a:p>
          </p:txBody>
        </p:sp>
      </p:grpSp>
      <p:grpSp>
        <p:nvGrpSpPr>
          <p:cNvPr id="9" name="p42-unity"/>
          <p:cNvGrpSpPr/>
          <p:nvPr/>
        </p:nvGrpSpPr>
        <p:grpSpPr>
          <a:xfrm>
            <a:off x="440436" y="2139950"/>
            <a:ext cx="3701796" cy="2511933"/>
            <a:chOff x="440436" y="2139950"/>
            <a:chExt cx="3701796" cy="2511933"/>
          </a:xfrm>
        </p:grpSpPr>
        <p:sp>
          <p:nvSpPr>
            <p:cNvPr id="5" name="TextBox 5"/>
            <p:cNvSpPr txBox="1"/>
            <p:nvPr/>
          </p:nvSpPr>
          <p:spPr>
            <a:xfrm>
              <a:off x="440436" y="213995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国家统一</a:t>
              </a:r>
            </a:p>
          </p:txBody>
        </p:sp>
        <p:sp>
          <p:nvSpPr>
            <p:cNvPr id="6" name="TextBox 6"/>
            <p:cNvSpPr txBox="1"/>
            <p:nvPr/>
          </p:nvSpPr>
          <p:spPr>
            <a:xfrm>
              <a:off x="447294" y="30353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共同体存在和发展的基础</a:t>
              </a:r>
            </a:p>
          </p:txBody>
        </p:sp>
        <p:sp>
          <p:nvSpPr>
            <p:cNvPr id="7" name="TextBox 7"/>
            <p:cNvSpPr txBox="1"/>
            <p:nvPr/>
          </p:nvSpPr>
          <p:spPr>
            <a:xfrm>
              <a:off x="447294" y="35877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也是法律制度和权利实现的前提</a:t>
              </a:r>
            </a:p>
          </p:txBody>
        </p:sp>
        <p:sp>
          <p:nvSpPr>
            <p:cNvPr id="8" name="TextBox 8"/>
            <p:cNvSpPr txBox="1"/>
            <p:nvPr/>
          </p:nvSpPr>
          <p:spPr>
            <a:xfrm>
              <a:off x="450342" y="4387850"/>
              <a:ext cx="29215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教材联系国家主权、领土完整说明。</a:t>
              </a:r>
            </a:p>
          </p:txBody>
        </p:sp>
      </p:grpSp>
      <p:grpSp>
        <p:nvGrpSpPr>
          <p:cNvPr id="14" name="p42-reveal-1"/>
          <p:cNvGrpSpPr/>
          <p:nvPr/>
        </p:nvGrpSpPr>
        <p:grpSpPr>
          <a:xfrm>
            <a:off x="6498336" y="2139950"/>
            <a:ext cx="4226814" cy="2400681"/>
            <a:chOff x="6498336" y="2139950"/>
            <a:chExt cx="4226814" cy="2400681"/>
          </a:xfrm>
        </p:grpSpPr>
        <p:sp>
          <p:nvSpPr>
            <p:cNvPr id="10" name="TextBox 10"/>
            <p:cNvSpPr txBox="1"/>
            <p:nvPr/>
          </p:nvSpPr>
          <p:spPr>
            <a:xfrm>
              <a:off x="6498336" y="2139950"/>
              <a:ext cx="238048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各民族团结</a:t>
              </a:r>
            </a:p>
          </p:txBody>
        </p:sp>
        <p:sp>
          <p:nvSpPr>
            <p:cNvPr id="11" name="TextBox 11"/>
            <p:cNvSpPr txBox="1"/>
            <p:nvPr/>
          </p:nvSpPr>
          <p:spPr>
            <a:xfrm>
              <a:off x="6505194" y="30353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与各民族一律平等相接</a:t>
              </a:r>
            </a:p>
          </p:txBody>
        </p:sp>
        <p:sp>
          <p:nvSpPr>
            <p:cNvPr id="12" name="TextBox 12"/>
            <p:cNvSpPr txBox="1"/>
            <p:nvPr/>
          </p:nvSpPr>
          <p:spPr>
            <a:xfrm>
              <a:off x="6505194" y="35877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平等、团结、互助、和谐的民族关系</a:t>
              </a:r>
            </a:p>
          </p:txBody>
        </p:sp>
        <p:sp>
          <p:nvSpPr>
            <p:cNvPr id="13" name="TextBox 13"/>
            <p:cNvSpPr txBox="1"/>
            <p:nvPr/>
          </p:nvSpPr>
          <p:spPr>
            <a:xfrm>
              <a:off x="6505194" y="41592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禁止歧视压迫和破坏团结、制造分裂</a:t>
              </a:r>
            </a:p>
          </p:txBody>
        </p:sp>
      </p:grpSp>
      <p:grpSp>
        <p:nvGrpSpPr>
          <p:cNvPr id="17" name="p42-link"/>
          <p:cNvGrpSpPr/>
          <p:nvPr/>
        </p:nvGrpSpPr>
        <p:grpSpPr>
          <a:xfrm>
            <a:off x="447294" y="5562600"/>
            <a:ext cx="11287506" cy="606806"/>
            <a:chOff x="447294" y="5562600"/>
            <a:chExt cx="11287506" cy="606806"/>
          </a:xfrm>
        </p:grpSpPr>
        <p:sp>
          <p:nvSpPr>
            <p:cNvPr id="15" name="Line 15"/>
            <p:cNvSpPr/>
            <p:nvPr/>
          </p:nvSpPr>
          <p:spPr>
            <a:xfrm>
              <a:off x="457200" y="55626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6" name="TextBox 16"/>
            <p:cNvSpPr txBox="1"/>
            <p:nvPr/>
          </p:nvSpPr>
          <p:spPr>
            <a:xfrm>
              <a:off x="447294" y="5788025"/>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共同责任与个人权利相联系；不能用维护团结抹去平等保护。</a:t>
              </a:r>
            </a:p>
          </p:txBody>
        </p:sp>
      </p:grpSp>
      <p:grpSp>
        <p:nvGrpSpPr>
          <p:cNvPr id="20" name="p42-footer"/>
          <p:cNvGrpSpPr/>
          <p:nvPr/>
        </p:nvGrpSpPr>
        <p:grpSpPr>
          <a:xfrm>
            <a:off x="451866" y="6502400"/>
            <a:ext cx="11247444" cy="205359"/>
            <a:chOff x="451866" y="6502400"/>
            <a:chExt cx="11247444" cy="205359"/>
          </a:xfrm>
        </p:grpSpPr>
        <p:sp>
          <p:nvSpPr>
            <p:cNvPr id="18" name="TextBox 18"/>
            <p:cNvSpPr txBox="1"/>
            <p:nvPr/>
          </p:nvSpPr>
          <p:spPr>
            <a:xfrm>
              <a:off x="451866" y="6502400"/>
              <a:ext cx="543854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宪法第4、52条及教材。相关法律追究仍须具体法律根据；第52—56条是主要集中线索。</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3-title"/>
          <p:cNvGrpSpPr/>
          <p:nvPr/>
        </p:nvGrpSpPr>
        <p:grpSpPr>
          <a:xfrm>
            <a:off x="440436" y="381000"/>
            <a:ext cx="5713171" cy="943864"/>
            <a:chOff x="440436" y="381000"/>
            <a:chExt cx="5713171" cy="943864"/>
          </a:xfrm>
        </p:grpSpPr>
        <p:sp>
          <p:nvSpPr>
            <p:cNvPr id="2" name="TextBox 2"/>
            <p:cNvSpPr txBox="1"/>
            <p:nvPr/>
          </p:nvSpPr>
          <p:spPr>
            <a:xfrm>
              <a:off x="451104" y="381000"/>
              <a:ext cx="330769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第53条六项要求，各有对象</a:t>
              </a:r>
            </a:p>
          </p:txBody>
        </p:sp>
        <p:sp>
          <p:nvSpPr>
            <p:cNvPr id="3" name="TextBox 3"/>
            <p:cNvSpPr txBox="1"/>
            <p:nvPr/>
          </p:nvSpPr>
          <p:spPr>
            <a:xfrm>
              <a:off x="440436" y="679450"/>
              <a:ext cx="5713171"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这一条，不止“守法”两个字</a:t>
              </a:r>
            </a:p>
          </p:txBody>
        </p:sp>
      </p:grpSp>
      <p:grpSp>
        <p:nvGrpSpPr>
          <p:cNvPr id="6" name="p43-entry"/>
          <p:cNvGrpSpPr/>
          <p:nvPr/>
        </p:nvGrpSpPr>
        <p:grpSpPr>
          <a:xfrm>
            <a:off x="447294" y="1816100"/>
            <a:ext cx="6582537" cy="381381"/>
            <a:chOff x="447294" y="1816100"/>
            <a:chExt cx="6582537" cy="381381"/>
          </a:xfrm>
        </p:grpSpPr>
        <p:sp>
          <p:nvSpPr>
            <p:cNvPr id="5" name="TextBox 5"/>
            <p:cNvSpPr txBox="1"/>
            <p:nvPr/>
          </p:nvSpPr>
          <p:spPr>
            <a:xfrm>
              <a:off x="447294" y="1816100"/>
              <a:ext cx="6582537"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首项是遵守宪法和法律，后五项分别落到不同社会领域。</a:t>
              </a:r>
            </a:p>
          </p:txBody>
        </p:sp>
      </p:grpSp>
      <p:grpSp>
        <p:nvGrpSpPr>
          <p:cNvPr id="19" name="p43-reveal-1"/>
          <p:cNvGrpSpPr/>
          <p:nvPr/>
        </p:nvGrpSpPr>
        <p:grpSpPr>
          <a:xfrm>
            <a:off x="445008" y="2632075"/>
            <a:ext cx="8777478" cy="3041142"/>
            <a:chOff x="445008" y="2632075"/>
            <a:chExt cx="8777478" cy="3041142"/>
          </a:xfrm>
        </p:grpSpPr>
        <p:sp>
          <p:nvSpPr>
            <p:cNvPr id="7" name="TextBox 7"/>
            <p:cNvSpPr txBox="1"/>
            <p:nvPr/>
          </p:nvSpPr>
          <p:spPr>
            <a:xfrm>
              <a:off x="445008" y="263207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遵守宪法和法律</a:t>
              </a:r>
            </a:p>
          </p:txBody>
        </p:sp>
        <p:sp>
          <p:nvSpPr>
            <p:cNvPr id="8" name="TextBox 8"/>
            <p:cNvSpPr txBox="1"/>
            <p:nvPr/>
          </p:nvSpPr>
          <p:spPr>
            <a:xfrm>
              <a:off x="3952494" y="263525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最高法律准则、原则价值；同违宪现象作斗争</a:t>
              </a:r>
            </a:p>
          </p:txBody>
        </p:sp>
        <p:sp>
          <p:nvSpPr>
            <p:cNvPr id="9" name="TextBox 9"/>
            <p:cNvSpPr txBox="1"/>
            <p:nvPr/>
          </p:nvSpPr>
          <p:spPr>
            <a:xfrm>
              <a:off x="445008" y="31464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保守国家秘密</a:t>
              </a:r>
            </a:p>
          </p:txBody>
        </p:sp>
        <p:sp>
          <p:nvSpPr>
            <p:cNvPr id="10" name="TextBox 10"/>
            <p:cNvSpPr txBox="1"/>
            <p:nvPr/>
          </p:nvSpPr>
          <p:spPr>
            <a:xfrm>
              <a:off x="3952494" y="31496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对应国家安全领域，具体对象下一页辨认</a:t>
              </a:r>
            </a:p>
          </p:txBody>
        </p:sp>
        <p:sp>
          <p:nvSpPr>
            <p:cNvPr id="11" name="TextBox 11"/>
            <p:cNvSpPr txBox="1"/>
            <p:nvPr/>
          </p:nvSpPr>
          <p:spPr>
            <a:xfrm>
              <a:off x="445008" y="36607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爱护公共财产</a:t>
              </a:r>
            </a:p>
          </p:txBody>
        </p:sp>
        <p:sp>
          <p:nvSpPr>
            <p:cNvPr id="12" name="TextBox 12"/>
            <p:cNvSpPr txBox="1"/>
            <p:nvPr/>
          </p:nvSpPr>
          <p:spPr>
            <a:xfrm>
              <a:off x="3952494" y="36639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国家与集体财产</a:t>
              </a:r>
            </a:p>
          </p:txBody>
        </p:sp>
        <p:sp>
          <p:nvSpPr>
            <p:cNvPr id="13" name="TextBox 13"/>
            <p:cNvSpPr txBox="1"/>
            <p:nvPr/>
          </p:nvSpPr>
          <p:spPr>
            <a:xfrm>
              <a:off x="445008" y="41751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遵守劳动纪律</a:t>
              </a:r>
            </a:p>
          </p:txBody>
        </p:sp>
        <p:sp>
          <p:nvSpPr>
            <p:cNvPr id="14" name="TextBox 14"/>
            <p:cNvSpPr txBox="1"/>
            <p:nvPr/>
          </p:nvSpPr>
          <p:spPr>
            <a:xfrm>
              <a:off x="3952494" y="41783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生产、工作中的相应秩序和规则</a:t>
              </a:r>
            </a:p>
          </p:txBody>
        </p:sp>
        <p:sp>
          <p:nvSpPr>
            <p:cNvPr id="15" name="TextBox 15"/>
            <p:cNvSpPr txBox="1"/>
            <p:nvPr/>
          </p:nvSpPr>
          <p:spPr>
            <a:xfrm>
              <a:off x="445008" y="468947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遵守公共秩序</a:t>
              </a:r>
            </a:p>
          </p:txBody>
        </p:sp>
        <p:sp>
          <p:nvSpPr>
            <p:cNvPr id="16" name="TextBox 16"/>
            <p:cNvSpPr txBox="1"/>
            <p:nvPr/>
          </p:nvSpPr>
          <p:spPr>
            <a:xfrm>
              <a:off x="3952494" y="46926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共同生活、生产、教学科研等活动的秩序</a:t>
              </a:r>
            </a:p>
          </p:txBody>
        </p:sp>
        <p:sp>
          <p:nvSpPr>
            <p:cNvPr id="17" name="TextBox 17"/>
            <p:cNvSpPr txBox="1"/>
            <p:nvPr/>
          </p:nvSpPr>
          <p:spPr>
            <a:xfrm>
              <a:off x="445008" y="52038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尊重社会公德</a:t>
              </a:r>
            </a:p>
          </p:txBody>
        </p:sp>
        <p:sp>
          <p:nvSpPr>
            <p:cNvPr id="18" name="TextBox 18"/>
            <p:cNvSpPr txBox="1"/>
            <p:nvPr/>
          </p:nvSpPr>
          <p:spPr>
            <a:xfrm>
              <a:off x="3952494" y="52070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公共交往中的行为要求</a:t>
              </a:r>
            </a:p>
          </p:txBody>
        </p:sp>
      </p:grpSp>
      <p:grpSp>
        <p:nvGrpSpPr>
          <p:cNvPr id="21" name="p43-effect"/>
          <p:cNvGrpSpPr/>
          <p:nvPr/>
        </p:nvGrpSpPr>
        <p:grpSpPr>
          <a:xfrm>
            <a:off x="447294" y="5997575"/>
            <a:ext cx="8682609" cy="381381"/>
            <a:chOff x="447294" y="5997575"/>
            <a:chExt cx="8682609" cy="381381"/>
          </a:xfrm>
        </p:grpSpPr>
        <p:sp>
          <p:nvSpPr>
            <p:cNvPr id="20" name="TextBox 20"/>
            <p:cNvSpPr txBox="1"/>
            <p:nvPr/>
          </p:nvSpPr>
          <p:spPr>
            <a:xfrm>
              <a:off x="447294" y="5997575"/>
              <a:ext cx="868260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具体违反有什么法律后果，仍须相应依据；不能只报名词就直接宣布处罚。</a:t>
              </a:r>
            </a:p>
          </p:txBody>
        </p:sp>
      </p:grpSp>
      <p:grpSp>
        <p:nvGrpSpPr>
          <p:cNvPr id="24" name="p43-footer"/>
          <p:cNvGrpSpPr/>
          <p:nvPr/>
        </p:nvGrpSpPr>
        <p:grpSpPr>
          <a:xfrm>
            <a:off x="451866" y="6502400"/>
            <a:ext cx="11247444" cy="205359"/>
            <a:chOff x="451866" y="6502400"/>
            <a:chExt cx="11247444" cy="205359"/>
          </a:xfrm>
        </p:grpSpPr>
        <p:sp>
          <p:nvSpPr>
            <p:cNvPr id="22" name="TextBox 22"/>
            <p:cNvSpPr txBox="1"/>
            <p:nvPr/>
          </p:nvSpPr>
          <p:spPr>
            <a:xfrm>
              <a:off x="451866" y="6502400"/>
              <a:ext cx="567884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宪法第53条与教材短释。右栏是理解其对象的说明，不把每种公德要求自动变成处罚条款。</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4-title"/>
          <p:cNvGrpSpPr/>
          <p:nvPr/>
        </p:nvGrpSpPr>
        <p:grpSpPr>
          <a:xfrm>
            <a:off x="440436" y="381000"/>
            <a:ext cx="6605016" cy="918464"/>
            <a:chOff x="440436" y="381000"/>
            <a:chExt cx="6605016" cy="918464"/>
          </a:xfrm>
        </p:grpSpPr>
        <p:sp>
          <p:nvSpPr>
            <p:cNvPr id="2" name="TextBox 2"/>
            <p:cNvSpPr txBox="1"/>
            <p:nvPr/>
          </p:nvSpPr>
          <p:spPr>
            <a:xfrm>
              <a:off x="451104" y="38100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独立思考约1—2分钟</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尚未公开，就等于国家秘密吗？</a:t>
              </a:r>
            </a:p>
          </p:txBody>
        </p:sp>
      </p:grpSp>
      <p:grpSp>
        <p:nvGrpSpPr>
          <p:cNvPr id="6" name="p44-definition"/>
          <p:cNvGrpSpPr/>
          <p:nvPr/>
        </p:nvGrpSpPr>
        <p:grpSpPr>
          <a:xfrm>
            <a:off x="447294" y="1778000"/>
            <a:ext cx="5963412" cy="743331"/>
            <a:chOff x="447294" y="1778000"/>
            <a:chExt cx="5963412" cy="743331"/>
          </a:xfrm>
        </p:grpSpPr>
        <p:sp>
          <p:nvSpPr>
            <p:cNvPr id="5" name="TextBox 5"/>
            <p:cNvSpPr txBox="1"/>
            <p:nvPr/>
          </p:nvSpPr>
          <p:spPr>
            <a:xfrm>
              <a:off x="447294" y="1778000"/>
              <a:ext cx="59634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国家秘密：关系国家安全和利益、依照法定程序确定，</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在一定时间内只限一定范围人员知悉的事项。</a:t>
              </a:r>
            </a:p>
          </p:txBody>
        </p:sp>
      </p:grpSp>
      <p:grpSp>
        <p:nvGrpSpPr>
          <p:cNvPr id="10" name="p44-case"/>
          <p:cNvGrpSpPr/>
          <p:nvPr/>
        </p:nvGrpSpPr>
        <p:grpSpPr>
          <a:xfrm>
            <a:off x="476250" y="3028950"/>
            <a:ext cx="5181600" cy="1828800"/>
            <a:chOff x="476250" y="3028950"/>
            <a:chExt cx="5181600" cy="1828800"/>
          </a:xfrm>
        </p:grpSpPr>
        <p:sp>
          <p:nvSpPr>
            <p:cNvPr id="7" name="Rectangle 7"/>
            <p:cNvSpPr/>
            <p:nvPr/>
          </p:nvSpPr>
          <p:spPr>
            <a:xfrm>
              <a:off x="476250" y="3028950"/>
              <a:ext cx="5181600" cy="1828800"/>
            </a:xfrm>
            <a:prstGeom prst="rect">
              <a:avLst/>
            </a:prstGeom>
            <a:solidFill>
              <a:schemeClr val="lt2"/>
            </a:solidFill>
            <a:ln>
              <a:noFill/>
            </a:ln>
          </p:spPr>
        </p:sp>
        <p:sp>
          <p:nvSpPr>
            <p:cNvPr id="8" name="TextBox 8"/>
            <p:cNvSpPr txBox="1"/>
            <p:nvPr/>
          </p:nvSpPr>
          <p:spPr>
            <a:xfrm>
              <a:off x="730758" y="3146425"/>
              <a:ext cx="362681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校内活动排练安排 · 设例</a:t>
              </a:r>
            </a:p>
          </p:txBody>
        </p:sp>
        <p:sp>
          <p:nvSpPr>
            <p:cNvPr id="9" name="TextBox 9"/>
            <p:cNvSpPr txBox="1"/>
            <p:nvPr/>
          </p:nvSpPr>
          <p:spPr>
            <a:xfrm>
              <a:off x="733044" y="3692525"/>
              <a:ext cx="42298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尚未公开；明确不涉国家安全和利益，</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也未依法确定为国家秘密。</a:t>
              </a:r>
            </a:p>
          </p:txBody>
        </p:sp>
      </p:grpSp>
      <p:grpSp>
        <p:nvGrpSpPr>
          <p:cNvPr id="13" name="p44-prompt"/>
          <p:cNvGrpSpPr/>
          <p:nvPr/>
        </p:nvGrpSpPr>
        <p:grpSpPr>
          <a:xfrm>
            <a:off x="6502908" y="3165475"/>
            <a:ext cx="2286000" cy="1308481"/>
            <a:chOff x="6502908" y="3165475"/>
            <a:chExt cx="2286000" cy="1308481"/>
          </a:xfrm>
        </p:grpSpPr>
        <p:sp>
          <p:nvSpPr>
            <p:cNvPr id="11" name="TextBox 11"/>
            <p:cNvSpPr txBox="1"/>
            <p:nvPr/>
          </p:nvSpPr>
          <p:spPr>
            <a:xfrm>
              <a:off x="6502908" y="316547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缺了哪些条件？</a:t>
              </a:r>
            </a:p>
          </p:txBody>
        </p:sp>
        <p:sp>
          <p:nvSpPr>
            <p:cNvPr id="12" name="TextBox 12"/>
            <p:cNvSpPr txBox="1"/>
            <p:nvPr/>
          </p:nvSpPr>
          <p:spPr>
            <a:xfrm>
              <a:off x="6505194" y="3730625"/>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若不是国家秘密，</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是否就能任意传播？</a:t>
              </a:r>
            </a:p>
          </p:txBody>
        </p:sp>
      </p:grpSp>
      <p:grpSp>
        <p:nvGrpSpPr>
          <p:cNvPr id="17" name="p44-reveal-1"/>
          <p:cNvGrpSpPr/>
          <p:nvPr/>
        </p:nvGrpSpPr>
        <p:grpSpPr>
          <a:xfrm>
            <a:off x="445008" y="5175250"/>
            <a:ext cx="4248493" cy="1213231"/>
            <a:chOff x="445008" y="5175250"/>
            <a:chExt cx="4248493" cy="1213231"/>
          </a:xfrm>
        </p:grpSpPr>
        <p:sp>
          <p:nvSpPr>
            <p:cNvPr id="14" name="TextBox 14"/>
            <p:cNvSpPr txBox="1"/>
            <p:nvPr/>
          </p:nvSpPr>
          <p:spPr>
            <a:xfrm>
              <a:off x="445008" y="5175250"/>
              <a:ext cx="325526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不能据此归为国家秘密</a:t>
              </a:r>
            </a:p>
          </p:txBody>
        </p:sp>
        <p:sp>
          <p:nvSpPr>
            <p:cNvPr id="15" name="TextBox 15"/>
            <p:cNvSpPr txBox="1"/>
            <p:nvPr/>
          </p:nvSpPr>
          <p:spPr>
            <a:xfrm>
              <a:off x="447294" y="56451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给定事实不满足相应定义；</a:t>
              </a:r>
            </a:p>
          </p:txBody>
        </p:sp>
        <p:sp>
          <p:nvSpPr>
            <p:cNvPr id="16" name="TextBox 16"/>
            <p:cNvSpPr txBox="1"/>
            <p:nvPr/>
          </p:nvSpPr>
          <p:spPr>
            <a:xfrm>
              <a:off x="447294" y="6007100"/>
              <a:ext cx="4246207"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n-lt"/>
                  <a:ea typeface="+mn-ea"/>
                  <a:cs typeface="+mn-cs"/>
                </a:rPr>
                <a:t>仅凭“未公开”，也不构成充分理由。</a:t>
              </a:r>
            </a:p>
          </p:txBody>
        </p:sp>
      </p:grpSp>
      <p:grpSp>
        <p:nvGrpSpPr>
          <p:cNvPr id="21" name="p44-reveal-2"/>
          <p:cNvGrpSpPr/>
          <p:nvPr/>
        </p:nvGrpSpPr>
        <p:grpSpPr>
          <a:xfrm>
            <a:off x="6502908" y="5175250"/>
            <a:ext cx="3172206" cy="1213231"/>
            <a:chOff x="6502908" y="5175250"/>
            <a:chExt cx="3172206" cy="1213231"/>
          </a:xfrm>
        </p:grpSpPr>
        <p:sp>
          <p:nvSpPr>
            <p:cNvPr id="18" name="TextBox 18"/>
            <p:cNvSpPr txBox="1"/>
            <p:nvPr/>
          </p:nvSpPr>
          <p:spPr>
            <a:xfrm>
              <a:off x="6502908" y="517525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不等于可以任意传播</a:t>
              </a:r>
            </a:p>
          </p:txBody>
        </p:sp>
        <p:sp>
          <p:nvSpPr>
            <p:cNvPr id="19" name="TextBox 19"/>
            <p:cNvSpPr txBox="1"/>
            <p:nvPr/>
          </p:nvSpPr>
          <p:spPr>
            <a:xfrm>
              <a:off x="6505194" y="56451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隐私或其他合法管理要求，</a:t>
              </a:r>
            </a:p>
          </p:txBody>
        </p:sp>
        <p:sp>
          <p:nvSpPr>
            <p:cNvPr id="20" name="TextBox 20"/>
            <p:cNvSpPr txBox="1"/>
            <p:nvPr/>
          </p:nvSpPr>
          <p:spPr>
            <a:xfrm>
              <a:off x="6505194" y="6007100"/>
              <a:ext cx="2907411"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n-lt"/>
                  <a:ea typeface="+mn-ea"/>
                  <a:cs typeface="+mn-cs"/>
                </a:rPr>
                <a:t>仍须分别找到相应根据。</a:t>
              </a:r>
            </a:p>
          </p:txBody>
        </p:sp>
      </p:grpSp>
      <p:grpSp>
        <p:nvGrpSpPr>
          <p:cNvPr id="24" name="p44-footer"/>
          <p:cNvGrpSpPr/>
          <p:nvPr/>
        </p:nvGrpSpPr>
        <p:grpSpPr>
          <a:xfrm>
            <a:off x="451866" y="6502400"/>
            <a:ext cx="11247444" cy="205359"/>
            <a:chOff x="451866" y="6502400"/>
            <a:chExt cx="11247444" cy="205359"/>
          </a:xfrm>
        </p:grpSpPr>
        <p:sp>
          <p:nvSpPr>
            <p:cNvPr id="22" name="TextBox 22"/>
            <p:cNvSpPr txBox="1"/>
            <p:nvPr/>
          </p:nvSpPr>
          <p:spPr>
            <a:xfrm>
              <a:off x="451866" y="6502400"/>
              <a:ext cx="492261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2024年修订保守国家秘密法第2条。排练安排为教学设例，不是真实涉密材料。</a:t>
              </a:r>
            </a:p>
          </p:txBody>
        </p:sp>
        <p:sp>
          <p:nvSpPr>
            <p:cNvPr id="23" name="TextBox 23"/>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44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5-title"/>
          <p:cNvGrpSpPr/>
          <p:nvPr/>
        </p:nvGrpSpPr>
        <p:grpSpPr>
          <a:xfrm>
            <a:off x="440436" y="381000"/>
            <a:ext cx="6135624" cy="918464"/>
            <a:chOff x="440436" y="381000"/>
            <a:chExt cx="6135624" cy="918464"/>
          </a:xfrm>
        </p:grpSpPr>
        <p:sp>
          <p:nvSpPr>
            <p:cNvPr id="2" name="TextBox 2"/>
            <p:cNvSpPr txBox="1"/>
            <p:nvPr/>
          </p:nvSpPr>
          <p:spPr>
            <a:xfrm>
              <a:off x="451104" y="381000"/>
              <a:ext cx="266151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第54条的三组对象</a:t>
              </a:r>
            </a:p>
          </p:txBody>
        </p:sp>
        <p:sp>
          <p:nvSpPr>
            <p:cNvPr id="3" name="TextBox 3"/>
            <p:cNvSpPr txBox="1"/>
            <p:nvPr/>
          </p:nvSpPr>
          <p:spPr>
            <a:xfrm>
              <a:off x="440436" y="65405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安全、荣誉、利益，各有所指</a:t>
              </a:r>
            </a:p>
          </p:txBody>
        </p:sp>
      </p:grpSp>
      <p:grpSp>
        <p:nvGrpSpPr>
          <p:cNvPr id="8" name="p45-security"/>
          <p:cNvGrpSpPr/>
          <p:nvPr/>
        </p:nvGrpSpPr>
        <p:grpSpPr>
          <a:xfrm>
            <a:off x="438150" y="1870075"/>
            <a:ext cx="7147560" cy="1089406"/>
            <a:chOff x="438150" y="1870075"/>
            <a:chExt cx="7147560" cy="1089406"/>
          </a:xfrm>
        </p:grpSpPr>
        <p:sp>
          <p:nvSpPr>
            <p:cNvPr id="5" name="TextBox 5"/>
            <p:cNvSpPr txBox="1"/>
            <p:nvPr/>
          </p:nvSpPr>
          <p:spPr>
            <a:xfrm>
              <a:off x="438150" y="1870075"/>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安全</a:t>
              </a:r>
            </a:p>
          </p:txBody>
        </p:sp>
        <p:sp>
          <p:nvSpPr>
            <p:cNvPr id="6" name="TextBox 6"/>
            <p:cNvSpPr txBox="1"/>
            <p:nvPr/>
          </p:nvSpPr>
          <p:spPr>
            <a:xfrm>
              <a:off x="4007358" y="2041525"/>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领土完整、主权不受侵犯</a:t>
              </a:r>
            </a:p>
          </p:txBody>
        </p:sp>
        <p:sp>
          <p:nvSpPr>
            <p:cNvPr id="7" name="TextBox 7"/>
            <p:cNvSpPr txBox="1"/>
            <p:nvPr/>
          </p:nvSpPr>
          <p:spPr>
            <a:xfrm>
              <a:off x="4009644" y="25781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国家政权不受威胁</a:t>
              </a:r>
            </a:p>
          </p:txBody>
        </p:sp>
      </p:grpSp>
      <p:grpSp>
        <p:nvGrpSpPr>
          <p:cNvPr id="12" name="p45-honor"/>
          <p:cNvGrpSpPr/>
          <p:nvPr/>
        </p:nvGrpSpPr>
        <p:grpSpPr>
          <a:xfrm>
            <a:off x="438150" y="3375025"/>
            <a:ext cx="8578977" cy="1089406"/>
            <a:chOff x="438150" y="3375025"/>
            <a:chExt cx="8578977" cy="1089406"/>
          </a:xfrm>
        </p:grpSpPr>
        <p:sp>
          <p:nvSpPr>
            <p:cNvPr id="9" name="TextBox 9"/>
            <p:cNvSpPr txBox="1"/>
            <p:nvPr/>
          </p:nvSpPr>
          <p:spPr>
            <a:xfrm>
              <a:off x="438150" y="3375025"/>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荣誉</a:t>
              </a:r>
            </a:p>
          </p:txBody>
        </p:sp>
        <p:sp>
          <p:nvSpPr>
            <p:cNvPr id="10" name="TextBox 10"/>
            <p:cNvSpPr txBox="1"/>
            <p:nvPr/>
          </p:nvSpPr>
          <p:spPr>
            <a:xfrm>
              <a:off x="4007358" y="3546475"/>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国家的声誉与尊严不受损害</a:t>
              </a:r>
            </a:p>
          </p:txBody>
        </p:sp>
        <p:sp>
          <p:nvSpPr>
            <p:cNvPr id="11" name="TextBox 11"/>
            <p:cNvSpPr txBox="1"/>
            <p:nvPr/>
          </p:nvSpPr>
          <p:spPr>
            <a:xfrm>
              <a:off x="4009644" y="4083050"/>
              <a:ext cx="5007483"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国旗、国歌、国徽等礼仪，帮助培育崇敬感</a:t>
              </a:r>
            </a:p>
          </p:txBody>
        </p:sp>
      </p:grpSp>
      <p:grpSp>
        <p:nvGrpSpPr>
          <p:cNvPr id="16" name="p45-interests"/>
          <p:cNvGrpSpPr/>
          <p:nvPr/>
        </p:nvGrpSpPr>
        <p:grpSpPr>
          <a:xfrm>
            <a:off x="438150" y="4879975"/>
            <a:ext cx="9366504" cy="1089406"/>
            <a:chOff x="438150" y="4879975"/>
            <a:chExt cx="9366504" cy="1089406"/>
          </a:xfrm>
        </p:grpSpPr>
        <p:sp>
          <p:nvSpPr>
            <p:cNvPr id="13" name="TextBox 13"/>
            <p:cNvSpPr txBox="1"/>
            <p:nvPr/>
          </p:nvSpPr>
          <p:spPr>
            <a:xfrm>
              <a:off x="438150" y="4879975"/>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利益</a:t>
              </a:r>
            </a:p>
          </p:txBody>
        </p:sp>
        <p:sp>
          <p:nvSpPr>
            <p:cNvPr id="14" name="TextBox 14"/>
            <p:cNvSpPr txBox="1"/>
            <p:nvPr/>
          </p:nvSpPr>
          <p:spPr>
            <a:xfrm>
              <a:off x="4007358" y="5051425"/>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对内与对外的利益</a:t>
              </a:r>
            </a:p>
          </p:txBody>
        </p:sp>
        <p:sp>
          <p:nvSpPr>
            <p:cNvPr id="15" name="TextBox 15"/>
            <p:cNvSpPr txBox="1"/>
            <p:nvPr/>
          </p:nvSpPr>
          <p:spPr>
            <a:xfrm>
              <a:off x="4009644" y="558800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维护并不得危害这些对象，不把三个词互当同义词</a:t>
              </a:r>
            </a:p>
          </p:txBody>
        </p:sp>
      </p:grpSp>
      <p:grpSp>
        <p:nvGrpSpPr>
          <p:cNvPr id="19" name="p45-footer"/>
          <p:cNvGrpSpPr/>
          <p:nvPr/>
        </p:nvGrpSpPr>
        <p:grpSpPr>
          <a:xfrm>
            <a:off x="451866" y="6502400"/>
            <a:ext cx="11247444" cy="205359"/>
            <a:chOff x="451866" y="6502400"/>
            <a:chExt cx="11247444" cy="205359"/>
          </a:xfrm>
        </p:grpSpPr>
        <p:sp>
          <p:nvSpPr>
            <p:cNvPr id="17" name="TextBox 17"/>
            <p:cNvSpPr txBox="1"/>
            <p:nvPr/>
          </p:nvSpPr>
          <p:spPr>
            <a:xfrm>
              <a:off x="451866" y="6502400"/>
              <a:ext cx="48307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宪法第54条与教材解释。此页讲对象，不从三个名称直接推出某项具体处罚。</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45 / 54</a:t>
              </a:r>
            </a:p>
          </p:txBody>
        </p:sp>
      </p:grpSp>
    </p:spTree>
  </p:cSld>
  <p:clrMapOvr>
    <a:masterClrMapping/>
  </p:clrMapOvr>
  <p:transition xmlns:p14="http://schemas.microsoft.com/office/powerpoint/2010/main" p14:dur="3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6-title"/>
          <p:cNvGrpSpPr/>
          <p:nvPr/>
        </p:nvGrpSpPr>
        <p:grpSpPr>
          <a:xfrm>
            <a:off x="440436" y="381000"/>
            <a:ext cx="8013192" cy="918464"/>
            <a:chOff x="440436" y="381000"/>
            <a:chExt cx="8013192" cy="918464"/>
          </a:xfrm>
        </p:grpSpPr>
        <p:sp>
          <p:nvSpPr>
            <p:cNvPr id="2" name="TextBox 2"/>
            <p:cNvSpPr txBox="1"/>
            <p:nvPr/>
          </p:nvSpPr>
          <p:spPr>
            <a:xfrm>
              <a:off x="451104" y="381000"/>
              <a:ext cx="314614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第55条与兵役法的具体化</a:t>
              </a:r>
            </a:p>
          </p:txBody>
        </p:sp>
        <p:sp>
          <p:nvSpPr>
            <p:cNvPr id="3" name="TextBox 3"/>
            <p:cNvSpPr txBox="1"/>
            <p:nvPr/>
          </p:nvSpPr>
          <p:spPr>
            <a:xfrm>
              <a:off x="440436" y="65405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义务、登记、实际入伍，不是同一状态</a:t>
              </a:r>
            </a:p>
          </p:txBody>
        </p:sp>
      </p:grpSp>
      <p:grpSp>
        <p:nvGrpSpPr>
          <p:cNvPr id="7" name="p46-system"/>
          <p:cNvGrpSpPr/>
          <p:nvPr/>
        </p:nvGrpSpPr>
        <p:grpSpPr>
          <a:xfrm>
            <a:off x="445008" y="1717675"/>
            <a:ext cx="7132320" cy="879856"/>
            <a:chOff x="445008" y="1717675"/>
            <a:chExt cx="7132320" cy="879856"/>
          </a:xfrm>
        </p:grpSpPr>
        <p:sp>
          <p:nvSpPr>
            <p:cNvPr id="5" name="TextBox 5"/>
            <p:cNvSpPr txBox="1"/>
            <p:nvPr/>
          </p:nvSpPr>
          <p:spPr>
            <a:xfrm>
              <a:off x="445008" y="1717675"/>
              <a:ext cx="71323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保卫祖国、抵抗侵略；依法服兵役、参加民兵组织</a:t>
              </a:r>
            </a:p>
          </p:txBody>
        </p:sp>
        <p:sp>
          <p:nvSpPr>
            <p:cNvPr id="6" name="TextBox 6"/>
            <p:cNvSpPr txBox="1"/>
            <p:nvPr/>
          </p:nvSpPr>
          <p:spPr>
            <a:xfrm>
              <a:off x="447294" y="221615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以志愿兵役为主体，志愿兵役与义务兵役相结合。</a:t>
              </a:r>
            </a:p>
          </p:txBody>
        </p:sp>
      </p:grpSp>
      <p:grpSp>
        <p:nvGrpSpPr>
          <p:cNvPr id="10" name="p46-stages"/>
          <p:cNvGrpSpPr/>
          <p:nvPr/>
        </p:nvGrpSpPr>
        <p:grpSpPr>
          <a:xfrm>
            <a:off x="447294" y="2968625"/>
            <a:ext cx="6320028" cy="752856"/>
            <a:chOff x="447294" y="2968625"/>
            <a:chExt cx="6320028" cy="752856"/>
          </a:xfrm>
        </p:grpSpPr>
        <p:sp>
          <p:nvSpPr>
            <p:cNvPr id="8" name="TextBox 8"/>
            <p:cNvSpPr txBox="1"/>
            <p:nvPr/>
          </p:nvSpPr>
          <p:spPr>
            <a:xfrm>
              <a:off x="447294" y="2968625"/>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具有相应义务　／　依法登记　／　实际被征集入伍</a:t>
              </a:r>
            </a:p>
          </p:txBody>
        </p:sp>
        <p:sp>
          <p:nvSpPr>
            <p:cNvPr id="9" name="TextBox 9"/>
            <p:cNvSpPr txBox="1"/>
            <p:nvPr/>
          </p:nvSpPr>
          <p:spPr>
            <a:xfrm>
              <a:off x="447294" y="334010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登记不等于入伍；缓征须依法认定，不能自称即获准。</a:t>
              </a:r>
            </a:p>
          </p:txBody>
        </p:sp>
      </p:grpSp>
      <p:grpSp>
        <p:nvGrpSpPr>
          <p:cNvPr id="19" name="p46-reveal-1"/>
          <p:cNvGrpSpPr/>
          <p:nvPr/>
        </p:nvGrpSpPr>
        <p:grpSpPr>
          <a:xfrm>
            <a:off x="445008" y="3997325"/>
            <a:ext cx="10058400" cy="2333117"/>
            <a:chOff x="445008" y="3997325"/>
            <a:chExt cx="10058400" cy="2333117"/>
          </a:xfrm>
        </p:grpSpPr>
        <p:sp>
          <p:nvSpPr>
            <p:cNvPr id="11" name="TextBox 11"/>
            <p:cNvSpPr txBox="1"/>
            <p:nvPr/>
          </p:nvSpPr>
          <p:spPr>
            <a:xfrm>
              <a:off x="445008" y="4003675"/>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不得服</a:t>
              </a:r>
            </a:p>
          </p:txBody>
        </p:sp>
        <p:sp>
          <p:nvSpPr>
            <p:cNvPr id="12" name="TextBox 12"/>
            <p:cNvSpPr txBox="1"/>
            <p:nvPr/>
          </p:nvSpPr>
          <p:spPr>
            <a:xfrm>
              <a:off x="3133344" y="399732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依法被剥夺政治权利者</a:t>
              </a:r>
            </a:p>
          </p:txBody>
        </p:sp>
        <p:sp>
          <p:nvSpPr>
            <p:cNvPr id="13" name="TextBox 13"/>
            <p:cNvSpPr txBox="1"/>
            <p:nvPr/>
          </p:nvSpPr>
          <p:spPr>
            <a:xfrm>
              <a:off x="445008" y="45275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免服</a:t>
              </a:r>
            </a:p>
          </p:txBody>
        </p:sp>
        <p:sp>
          <p:nvSpPr>
            <p:cNvPr id="14" name="TextBox 14"/>
            <p:cNvSpPr txBox="1"/>
            <p:nvPr/>
          </p:nvSpPr>
          <p:spPr>
            <a:xfrm>
              <a:off x="3133344" y="452120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严重生理缺陷或严重残疾，不适合服兵役者</a:t>
              </a:r>
            </a:p>
          </p:txBody>
        </p:sp>
        <p:sp>
          <p:nvSpPr>
            <p:cNvPr id="15" name="TextBox 15"/>
            <p:cNvSpPr txBox="1"/>
            <p:nvPr/>
          </p:nvSpPr>
          <p:spPr>
            <a:xfrm>
              <a:off x="445008" y="5051425"/>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不征集</a:t>
              </a:r>
            </a:p>
          </p:txBody>
        </p:sp>
        <p:sp>
          <p:nvSpPr>
            <p:cNvPr id="16" name="TextBox 16"/>
            <p:cNvSpPr txBox="1"/>
            <p:nvPr/>
          </p:nvSpPr>
          <p:spPr>
            <a:xfrm>
              <a:off x="3133344" y="4968875"/>
              <a:ext cx="54681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涉嫌犯罪正在依法监察调查、侦查、起诉、审判，</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或被判徒刑、拘役、管制正在服刑的应征公民</a:t>
              </a:r>
            </a:p>
          </p:txBody>
        </p:sp>
        <p:sp>
          <p:nvSpPr>
            <p:cNvPr id="17" name="TextBox 17"/>
            <p:cNvSpPr txBox="1"/>
            <p:nvPr/>
          </p:nvSpPr>
          <p:spPr>
            <a:xfrm>
              <a:off x="445008" y="58610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可以缓征</a:t>
              </a:r>
            </a:p>
          </p:txBody>
        </p:sp>
        <p:sp>
          <p:nvSpPr>
            <p:cNvPr id="18" name="TextBox 18"/>
            <p:cNvSpPr txBox="1"/>
            <p:nvPr/>
          </p:nvSpPr>
          <p:spPr>
            <a:xfrm>
              <a:off x="3133344" y="58547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应征公民是维持家庭生活唯一劳动力的，可缓征，仍须依法认定</a:t>
              </a:r>
            </a:p>
          </p:txBody>
        </p:sp>
      </p:grpSp>
      <p:grpSp>
        <p:nvGrpSpPr>
          <p:cNvPr id="22" name="p46-footer"/>
          <p:cNvGrpSpPr/>
          <p:nvPr/>
        </p:nvGrpSpPr>
        <p:grpSpPr>
          <a:xfrm>
            <a:off x="451866" y="6502400"/>
            <a:ext cx="11247444" cy="205359"/>
            <a:chOff x="451866" y="6502400"/>
            <a:chExt cx="11247444" cy="205359"/>
          </a:xfrm>
        </p:grpSpPr>
        <p:sp>
          <p:nvSpPr>
            <p:cNvPr id="20" name="TextBox 20"/>
            <p:cNvSpPr txBox="1"/>
            <p:nvPr/>
          </p:nvSpPr>
          <p:spPr>
            <a:xfrm>
              <a:off x="451866" y="6502400"/>
              <a:ext cx="570711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2021年修订兵役法及宪法第55条。所列并非全部资格清单；四种状态不是依次发生的阶段。</a:t>
              </a:r>
            </a:p>
          </p:txBody>
        </p:sp>
        <p:sp>
          <p:nvSpPr>
            <p:cNvPr id="21" name="TextBox 21"/>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46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7-title"/>
          <p:cNvGrpSpPr/>
          <p:nvPr/>
        </p:nvGrpSpPr>
        <p:grpSpPr>
          <a:xfrm>
            <a:off x="440436" y="381000"/>
            <a:ext cx="7543800" cy="918464"/>
            <a:chOff x="440436" y="381000"/>
            <a:chExt cx="7543800" cy="918464"/>
          </a:xfrm>
        </p:grpSpPr>
        <p:sp>
          <p:nvSpPr>
            <p:cNvPr id="2" name="TextBox 2"/>
            <p:cNvSpPr txBox="1"/>
            <p:nvPr/>
          </p:nvSpPr>
          <p:spPr>
            <a:xfrm>
              <a:off x="451104" y="381000"/>
              <a:ext cx="330769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“依法”同时约束纳税与课税</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公共财政需要资源，课税权也有边界</a:t>
              </a:r>
            </a:p>
          </p:txBody>
        </p:sp>
      </p:grpSp>
      <p:grpSp>
        <p:nvGrpSpPr>
          <p:cNvPr id="7" name="p47-duty"/>
          <p:cNvGrpSpPr/>
          <p:nvPr/>
        </p:nvGrpSpPr>
        <p:grpSpPr>
          <a:xfrm>
            <a:off x="445008" y="1860550"/>
            <a:ext cx="7136092" cy="984631"/>
            <a:chOff x="445008" y="1860550"/>
            <a:chExt cx="7136092" cy="984631"/>
          </a:xfrm>
        </p:grpSpPr>
        <p:sp>
          <p:nvSpPr>
            <p:cNvPr id="5" name="TextBox 5"/>
            <p:cNvSpPr txBox="1"/>
            <p:nvPr/>
          </p:nvSpPr>
          <p:spPr>
            <a:xfrm>
              <a:off x="445008" y="1860550"/>
              <a:ext cx="522610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第56条：公民有依照法律纳税的义务</a:t>
              </a:r>
            </a:p>
          </p:txBody>
        </p:sp>
        <p:sp>
          <p:nvSpPr>
            <p:cNvPr id="6" name="TextBox 6"/>
            <p:cNvSpPr txBox="1"/>
            <p:nvPr/>
          </p:nvSpPr>
          <p:spPr>
            <a:xfrm>
              <a:off x="447294" y="2463800"/>
              <a:ext cx="713380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具体税法还规定企业等纳税人，法人不因此成为本条“公民”。</a:t>
              </a:r>
            </a:p>
          </p:txBody>
        </p:sp>
      </p:grpSp>
      <p:grpSp>
        <p:nvGrpSpPr>
          <p:cNvPr id="14" name="p47-reveal-1"/>
          <p:cNvGrpSpPr/>
          <p:nvPr/>
        </p:nvGrpSpPr>
        <p:grpSpPr>
          <a:xfrm>
            <a:off x="445008" y="3486150"/>
            <a:ext cx="11289792" cy="1664081"/>
            <a:chOff x="445008" y="3486150"/>
            <a:chExt cx="11289792" cy="1664081"/>
          </a:xfrm>
        </p:grpSpPr>
        <p:sp>
          <p:nvSpPr>
            <p:cNvPr id="8" name="Line 8"/>
            <p:cNvSpPr/>
            <p:nvPr/>
          </p:nvSpPr>
          <p:spPr>
            <a:xfrm>
              <a:off x="457200" y="3486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5008" y="36417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谁须缴税</a:t>
              </a:r>
            </a:p>
          </p:txBody>
        </p:sp>
        <p:sp>
          <p:nvSpPr>
            <p:cNvPr id="10" name="TextBox 10"/>
            <p:cNvSpPr txBox="1"/>
            <p:nvPr/>
          </p:nvSpPr>
          <p:spPr>
            <a:xfrm>
              <a:off x="4331208" y="3641725"/>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在什么应税事实下</a:t>
              </a:r>
            </a:p>
          </p:txBody>
        </p:sp>
        <p:sp>
          <p:nvSpPr>
            <p:cNvPr id="11" name="TextBox 11"/>
            <p:cNvSpPr txBox="1"/>
            <p:nvPr/>
          </p:nvSpPr>
          <p:spPr>
            <a:xfrm>
              <a:off x="8217408" y="3641725"/>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按什么标准</a:t>
              </a:r>
            </a:p>
          </p:txBody>
        </p:sp>
        <p:sp>
          <p:nvSpPr>
            <p:cNvPr id="12" name="TextBox 12"/>
            <p:cNvSpPr txBox="1"/>
            <p:nvPr/>
          </p:nvSpPr>
          <p:spPr>
            <a:xfrm>
              <a:off x="447294" y="429260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个人履行依法成立的义务，征税机关不能任意加收。</a:t>
              </a:r>
            </a:p>
          </p:txBody>
        </p:sp>
        <p:sp>
          <p:nvSpPr>
            <p:cNvPr id="13" name="TextBox 13"/>
            <p:cNvSpPr txBox="1"/>
            <p:nvPr/>
          </p:nvSpPr>
          <p:spPr>
            <a:xfrm>
              <a:off x="447294" y="47688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税种、税率和征管基本制度有特定立法权限，取财范围有规范边界。</a:t>
              </a:r>
            </a:p>
          </p:txBody>
        </p:sp>
      </p:grpSp>
      <p:grpSp>
        <p:nvGrpSpPr>
          <p:cNvPr id="17" name="p47-boundary"/>
          <p:cNvGrpSpPr/>
          <p:nvPr/>
        </p:nvGrpSpPr>
        <p:grpSpPr>
          <a:xfrm>
            <a:off x="447294" y="5673725"/>
            <a:ext cx="8420100" cy="743331"/>
            <a:chOff x="447294" y="5673725"/>
            <a:chExt cx="8420100" cy="743331"/>
          </a:xfrm>
        </p:grpSpPr>
        <p:sp>
          <p:nvSpPr>
            <p:cNvPr id="15" name="TextBox 15"/>
            <p:cNvSpPr txBox="1"/>
            <p:nvPr/>
          </p:nvSpPr>
          <p:spPr>
            <a:xfrm>
              <a:off x="447294" y="5673725"/>
              <a:ext cx="842010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课税权受约束，才与防任意取财相接；不是凡涉及财产就自动保护财产。</a:t>
              </a:r>
            </a:p>
          </p:txBody>
        </p:sp>
        <p:sp>
          <p:nvSpPr>
            <p:cNvPr id="16" name="TextBox 16"/>
            <p:cNvSpPr txBox="1"/>
            <p:nvPr/>
          </p:nvSpPr>
          <p:spPr>
            <a:xfrm>
              <a:off x="447294" y="6035675"/>
              <a:ext cx="6582537"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n-lt"/>
                  <a:ea typeface="+mn-ea"/>
                  <a:cs typeface="+mn-cs"/>
                </a:rPr>
                <a:t>外国人看具体应税事实和税法，不凭有财产就交所有税。</a:t>
              </a:r>
            </a:p>
          </p:txBody>
        </p:sp>
      </p:grpSp>
      <p:grpSp>
        <p:nvGrpSpPr>
          <p:cNvPr id="20" name="p47-footer"/>
          <p:cNvGrpSpPr/>
          <p:nvPr/>
        </p:nvGrpSpPr>
        <p:grpSpPr>
          <a:xfrm>
            <a:off x="451866" y="6502400"/>
            <a:ext cx="11247444" cy="205359"/>
            <a:chOff x="451866" y="6502400"/>
            <a:chExt cx="11247444" cy="205359"/>
          </a:xfrm>
        </p:grpSpPr>
        <p:sp>
          <p:nvSpPr>
            <p:cNvPr id="18" name="TextBox 18"/>
            <p:cNvSpPr txBox="1"/>
            <p:nvPr/>
          </p:nvSpPr>
          <p:spPr>
            <a:xfrm>
              <a:off x="451866" y="6502400"/>
              <a:ext cx="541027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宪法第56条、立法法有关税收权限及本讲说明。不能以“所得多就多收”概括所有税种。</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47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8-title"/>
          <p:cNvGrpSpPr/>
          <p:nvPr/>
        </p:nvGrpSpPr>
        <p:grpSpPr>
          <a:xfrm>
            <a:off x="440436" y="381000"/>
            <a:ext cx="7543800" cy="918464"/>
            <a:chOff x="440436" y="381000"/>
            <a:chExt cx="7543800" cy="918464"/>
          </a:xfrm>
        </p:grpSpPr>
        <p:sp>
          <p:nvSpPr>
            <p:cNvPr id="2" name="TextBox 2"/>
            <p:cNvSpPr txBox="1"/>
            <p:nvPr/>
          </p:nvSpPr>
          <p:spPr>
            <a:xfrm>
              <a:off x="451104" y="381000"/>
              <a:ext cx="30007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第42、46条的双重属性</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劳动，为什么能同时是权利和义务？</a:t>
              </a:r>
            </a:p>
          </p:txBody>
        </p:sp>
      </p:grpSp>
      <p:grpSp>
        <p:nvGrpSpPr>
          <p:cNvPr id="12" name="p48-two_sides"/>
          <p:cNvGrpSpPr/>
          <p:nvPr/>
        </p:nvGrpSpPr>
        <p:grpSpPr>
          <a:xfrm>
            <a:off x="440436" y="2044700"/>
            <a:ext cx="9963912" cy="2464308"/>
            <a:chOff x="440436" y="2044700"/>
            <a:chExt cx="9963912" cy="2464308"/>
          </a:xfrm>
        </p:grpSpPr>
        <p:sp>
          <p:nvSpPr>
            <p:cNvPr id="5" name="TextBox 5"/>
            <p:cNvSpPr txBox="1"/>
            <p:nvPr/>
          </p:nvSpPr>
          <p:spPr>
            <a:xfrm>
              <a:off x="440436" y="20447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a:t>
              </a:r>
            </a:p>
          </p:txBody>
        </p:sp>
        <p:sp>
          <p:nvSpPr>
            <p:cNvPr id="6" name="TextBox 6"/>
            <p:cNvSpPr txBox="1"/>
            <p:nvPr/>
          </p:nvSpPr>
          <p:spPr>
            <a:xfrm>
              <a:off x="447294" y="29781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个人生存、发展的需要</a:t>
              </a:r>
            </a:p>
          </p:txBody>
        </p:sp>
        <p:sp>
          <p:nvSpPr>
            <p:cNvPr id="7" name="TextBox 7"/>
            <p:cNvSpPr txBox="1"/>
            <p:nvPr/>
          </p:nvSpPr>
          <p:spPr>
            <a:xfrm>
              <a:off x="445008" y="34988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平等就业、自主择业</a:t>
              </a:r>
            </a:p>
          </p:txBody>
        </p:sp>
        <p:sp>
          <p:nvSpPr>
            <p:cNvPr id="8" name="TextBox 8"/>
            <p:cNvSpPr txBox="1"/>
            <p:nvPr/>
          </p:nvSpPr>
          <p:spPr>
            <a:xfrm>
              <a:off x="6498336" y="20447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义务</a:t>
              </a:r>
            </a:p>
          </p:txBody>
        </p:sp>
        <p:sp>
          <p:nvSpPr>
            <p:cNvPr id="9" name="TextBox 9"/>
            <p:cNvSpPr txBox="1"/>
            <p:nvPr/>
          </p:nvSpPr>
          <p:spPr>
            <a:xfrm>
              <a:off x="6505194" y="29781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社会共同生活的需要</a:t>
              </a:r>
            </a:p>
          </p:txBody>
        </p:sp>
        <p:sp>
          <p:nvSpPr>
            <p:cNvPr id="10" name="TextBox 10"/>
            <p:cNvSpPr txBox="1"/>
            <p:nvPr/>
          </p:nvSpPr>
          <p:spPr>
            <a:xfrm>
              <a:off x="6502908" y="34988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有劳动能力公民的光荣职责</a:t>
              </a:r>
            </a:p>
          </p:txBody>
        </p:sp>
        <p:sp>
          <p:nvSpPr>
            <p:cNvPr id="11" name="TextBox 11"/>
            <p:cNvSpPr txBox="1"/>
            <p:nvPr/>
          </p:nvSpPr>
          <p:spPr>
            <a:xfrm>
              <a:off x="450342" y="4244975"/>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劳动、受教育都被宪法同时规定为权利和义务；此处先看劳动。</a:t>
              </a:r>
            </a:p>
          </p:txBody>
        </p:sp>
      </p:grpSp>
      <p:grpSp>
        <p:nvGrpSpPr>
          <p:cNvPr id="16" name="p48-reveal-1"/>
          <p:cNvGrpSpPr/>
          <p:nvPr/>
        </p:nvGrpSpPr>
        <p:grpSpPr>
          <a:xfrm>
            <a:off x="445008" y="4953000"/>
            <a:ext cx="11289792" cy="1349756"/>
            <a:chOff x="445008" y="4953000"/>
            <a:chExt cx="11289792" cy="1349756"/>
          </a:xfrm>
        </p:grpSpPr>
        <p:sp>
          <p:nvSpPr>
            <p:cNvPr id="13" name="Line 13"/>
            <p:cNvSpPr/>
            <p:nvPr/>
          </p:nvSpPr>
          <p:spPr>
            <a:xfrm>
              <a:off x="457200" y="49530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5099050"/>
              <a:ext cx="713232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有社会价值，不直接决定每个人此刻必须做什么。</a:t>
              </a:r>
            </a:p>
          </p:txBody>
        </p:sp>
        <p:sp>
          <p:nvSpPr>
            <p:cNvPr id="15" name="TextBox 15"/>
            <p:cNvSpPr txBox="1"/>
            <p:nvPr/>
          </p:nvSpPr>
          <p:spPr>
            <a:xfrm>
              <a:off x="447294" y="5559425"/>
              <a:ext cx="74493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不能凭劳动义务任意指定所有人同一岗位；具体劳动关系中的合同、</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劳动纪律与法律责任，仍须分别看。</a:t>
              </a:r>
            </a:p>
          </p:txBody>
        </p:sp>
      </p:grpSp>
      <p:grpSp>
        <p:nvGrpSpPr>
          <p:cNvPr id="19" name="p48-footer"/>
          <p:cNvGrpSpPr/>
          <p:nvPr/>
        </p:nvGrpSpPr>
        <p:grpSpPr>
          <a:xfrm>
            <a:off x="451866" y="6502400"/>
            <a:ext cx="11247444" cy="205359"/>
            <a:chOff x="451866" y="6502400"/>
            <a:chExt cx="11247444" cy="205359"/>
          </a:xfrm>
        </p:grpSpPr>
        <p:sp>
          <p:nvSpPr>
            <p:cNvPr id="17" name="TextBox 17"/>
            <p:cNvSpPr txBox="1"/>
            <p:nvPr/>
          </p:nvSpPr>
          <p:spPr>
            <a:xfrm>
              <a:off x="451866" y="6502400"/>
              <a:ext cx="512757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宪法第42、46条、就业促进法。权利与义务并存，不意味着互相抵消或当场交换。</a:t>
              </a:r>
            </a:p>
          </p:txBody>
        </p:sp>
        <p:sp>
          <p:nvSpPr>
            <p:cNvPr id="18" name="TextBox 18"/>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48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49-title"/>
          <p:cNvGrpSpPr/>
          <p:nvPr/>
        </p:nvGrpSpPr>
        <p:grpSpPr>
          <a:xfrm>
            <a:off x="440436" y="381000"/>
            <a:ext cx="7074408" cy="918464"/>
            <a:chOff x="440436" y="381000"/>
            <a:chExt cx="7074408" cy="918464"/>
          </a:xfrm>
        </p:grpSpPr>
        <p:sp>
          <p:nvSpPr>
            <p:cNvPr id="2" name="TextBox 2"/>
            <p:cNvSpPr txBox="1"/>
            <p:nvPr/>
          </p:nvSpPr>
          <p:spPr>
            <a:xfrm>
              <a:off x="451104" y="38100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回到同一课堂，辨教育义务</a:t>
              </a:r>
            </a:p>
          </p:txBody>
        </p:sp>
        <p:sp>
          <p:nvSpPr>
            <p:cNvPr id="3" name="TextBox 3"/>
            <p:cNvSpPr txBox="1"/>
            <p:nvPr/>
          </p:nvSpPr>
          <p:spPr>
            <a:xfrm>
              <a:off x="440436" y="65405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什么年龄、什么阶段，由谁保障？</a:t>
              </a:r>
            </a:p>
          </p:txBody>
        </p:sp>
      </p:grpSp>
      <p:grpSp>
        <p:nvGrpSpPr>
          <p:cNvPr id="7" name="p49-photo"/>
          <p:cNvGrpSpPr/>
          <p:nvPr/>
        </p:nvGrpSpPr>
        <p:grpSpPr>
          <a:xfrm>
            <a:off x="450342" y="1714500"/>
            <a:ext cx="6102858" cy="4623308"/>
            <a:chOff x="450342" y="1714500"/>
            <a:chExt cx="6102858" cy="4623308"/>
          </a:xfrm>
        </p:grpSpPr>
        <p:pic>
          <p:nvPicPr>
            <p:cNvPr id="5" name="Image 5"/>
            <p:cNvPicPr>
              <a:picLocks noChangeAspect="1"/>
            </p:cNvPicPr>
            <p:nvPr/>
          </p:nvPicPr>
          <p:blipFill>
            <a:blip r:embed="rId2"/>
            <a:stretch>
              <a:fillRect/>
            </a:stretch>
          </p:blipFill>
          <p:spPr>
            <a:xfrm>
              <a:off x="457200" y="1714500"/>
              <a:ext cx="6096000" cy="4210050"/>
            </a:xfrm>
            <a:prstGeom prst="rect">
              <a:avLst/>
            </a:prstGeom>
          </p:spPr>
        </p:pic>
        <p:sp>
          <p:nvSpPr>
            <p:cNvPr id="6" name="TextBox 6"/>
            <p:cNvSpPr txBox="1"/>
            <p:nvPr/>
          </p:nvSpPr>
          <p:spPr>
            <a:xfrm>
              <a:off x="450342" y="6073775"/>
              <a:ext cx="510235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同一真实学校场景；照片不代表本页具体年龄或延缓入学设例。</a:t>
              </a:r>
            </a:p>
          </p:txBody>
        </p:sp>
      </p:grpSp>
      <p:grpSp>
        <p:nvGrpSpPr>
          <p:cNvPr id="11" name="p49-condition"/>
          <p:cNvGrpSpPr/>
          <p:nvPr/>
        </p:nvGrpSpPr>
        <p:grpSpPr>
          <a:xfrm>
            <a:off x="7207758" y="1917700"/>
            <a:ext cx="3377756" cy="2165731"/>
            <a:chOff x="7207758" y="1917700"/>
            <a:chExt cx="3377756" cy="2165731"/>
          </a:xfrm>
        </p:grpSpPr>
        <p:sp>
          <p:nvSpPr>
            <p:cNvPr id="8" name="TextBox 8"/>
            <p:cNvSpPr txBox="1"/>
            <p:nvPr/>
          </p:nvSpPr>
          <p:spPr>
            <a:xfrm>
              <a:off x="7207758" y="19177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适龄儿童、少年</a:t>
              </a:r>
            </a:p>
          </p:txBody>
        </p:sp>
        <p:sp>
          <p:nvSpPr>
            <p:cNvPr id="9" name="TextBox 9"/>
            <p:cNvSpPr txBox="1"/>
            <p:nvPr/>
          </p:nvSpPr>
          <p:spPr>
            <a:xfrm>
              <a:off x="7210044" y="24638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依法接受并完成义务教育</a:t>
              </a:r>
            </a:p>
          </p:txBody>
        </p:sp>
        <p:sp>
          <p:nvSpPr>
            <p:cNvPr id="10" name="TextBox 10"/>
            <p:cNvSpPr txBox="1"/>
            <p:nvPr/>
          </p:nvSpPr>
          <p:spPr>
            <a:xfrm>
              <a:off x="7210044" y="2978150"/>
              <a:ext cx="3375470"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一般6周岁；条件不具备地区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可推迟7周岁；身体状况所需的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延缓、休学，有法定安排。</a:t>
              </a:r>
            </a:p>
          </p:txBody>
        </p:sp>
      </p:grpSp>
      <p:grpSp>
        <p:nvGrpSpPr>
          <p:cNvPr id="15" name="p49-reveal-1"/>
          <p:cNvGrpSpPr/>
          <p:nvPr/>
        </p:nvGrpSpPr>
        <p:grpSpPr>
          <a:xfrm>
            <a:off x="7207758" y="4746625"/>
            <a:ext cx="2746248" cy="1632331"/>
            <a:chOff x="7207758" y="4746625"/>
            <a:chExt cx="2746248" cy="1632331"/>
          </a:xfrm>
        </p:grpSpPr>
        <p:sp>
          <p:nvSpPr>
            <p:cNvPr id="12" name="TextBox 12"/>
            <p:cNvSpPr txBox="1"/>
            <p:nvPr/>
          </p:nvSpPr>
          <p:spPr>
            <a:xfrm>
              <a:off x="7207758" y="474662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监护人保证入学</a:t>
              </a:r>
            </a:p>
          </p:txBody>
        </p:sp>
        <p:sp>
          <p:nvSpPr>
            <p:cNvPr id="13" name="TextBox 13"/>
            <p:cNvSpPr txBox="1"/>
            <p:nvPr/>
          </p:nvSpPr>
          <p:spPr>
            <a:xfrm>
              <a:off x="7210044" y="5273675"/>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政府和学校提供保障</a:t>
              </a:r>
            </a:p>
          </p:txBody>
        </p:sp>
        <p:sp>
          <p:nvSpPr>
            <p:cNvPr id="14" name="TextBox 14"/>
            <p:cNvSpPr txBox="1"/>
            <p:nvPr/>
          </p:nvSpPr>
          <p:spPr>
            <a:xfrm>
              <a:off x="7210044" y="5635625"/>
              <a:ext cx="27439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不意味着任何年龄都必须</a:t>
              </a:r>
            </a:p>
            <a:p>
              <a:pPr algn="l">
                <a:lnSpc>
                  <a:spcPts val="2850"/>
                </a:lnSpc>
              </a:pPr>
              <a:r>
                <a:rPr lang="zh-CN" sz="1950" dirty="0">
                  <a:solidFill>
                    <a:schemeClr val="accent5"/>
                  </a:solidFill>
                  <a:latin typeface="+mn-lt"/>
                  <a:ea typeface="+mn-ea"/>
                  <a:cs typeface="+mn-cs"/>
                </a:rPr>
                <a:t>持续上同一种学校。</a:t>
              </a:r>
            </a:p>
          </p:txBody>
        </p:sp>
      </p:grpSp>
      <p:grpSp>
        <p:nvGrpSpPr>
          <p:cNvPr id="18" name="p49-footer"/>
          <p:cNvGrpSpPr/>
          <p:nvPr/>
        </p:nvGrpSpPr>
        <p:grpSpPr>
          <a:xfrm>
            <a:off x="451866" y="6502400"/>
            <a:ext cx="11247444" cy="205359"/>
            <a:chOff x="451866" y="6502400"/>
            <a:chExt cx="11247444" cy="205359"/>
          </a:xfrm>
        </p:grpSpPr>
        <p:sp>
          <p:nvSpPr>
            <p:cNvPr id="16" name="TextBox 16"/>
            <p:cNvSpPr txBox="1"/>
            <p:nvPr/>
          </p:nvSpPr>
          <p:spPr>
            <a:xfrm>
              <a:off x="451866" y="6502400"/>
              <a:ext cx="574951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宪法第46条、义务教育法；图：新华网，2026-08-31南宁小学课堂，新华社记者陆波岸摄。</a:t>
              </a:r>
            </a:p>
          </p:txBody>
        </p:sp>
        <p:sp>
          <p:nvSpPr>
            <p:cNvPr id="17" name="TextBox 1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49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50-title"/>
          <p:cNvGrpSpPr/>
          <p:nvPr/>
        </p:nvGrpSpPr>
        <p:grpSpPr>
          <a:xfrm>
            <a:off x="440436" y="381000"/>
            <a:ext cx="6605016" cy="918464"/>
            <a:chOff x="440436" y="381000"/>
            <a:chExt cx="6605016" cy="918464"/>
          </a:xfrm>
        </p:grpSpPr>
        <p:sp>
          <p:nvSpPr>
            <p:cNvPr id="2" name="TextBox 2"/>
            <p:cNvSpPr txBox="1"/>
            <p:nvPr/>
          </p:nvSpPr>
          <p:spPr>
            <a:xfrm>
              <a:off x="451104" y="381000"/>
              <a:ext cx="266151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第49条的家庭义务</a:t>
              </a:r>
            </a:p>
          </p:txBody>
        </p:sp>
        <p:sp>
          <p:nvSpPr>
            <p:cNvPr id="3" name="TextBox 3"/>
            <p:cNvSpPr txBox="1"/>
            <p:nvPr/>
          </p:nvSpPr>
          <p:spPr>
            <a:xfrm>
              <a:off x="440436" y="65405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基本义务，也在具体家庭关系中</a:t>
              </a:r>
            </a:p>
          </p:txBody>
        </p:sp>
      </p:grpSp>
      <p:grpSp>
        <p:nvGrpSpPr>
          <p:cNvPr id="7" name="p50-couple"/>
          <p:cNvGrpSpPr/>
          <p:nvPr/>
        </p:nvGrpSpPr>
        <p:grpSpPr>
          <a:xfrm>
            <a:off x="445008" y="1851025"/>
            <a:ext cx="6167247" cy="469392"/>
            <a:chOff x="445008" y="1851025"/>
            <a:chExt cx="6167247" cy="469392"/>
          </a:xfrm>
        </p:grpSpPr>
        <p:sp>
          <p:nvSpPr>
            <p:cNvPr id="5" name="TextBox 5"/>
            <p:cNvSpPr txBox="1"/>
            <p:nvPr/>
          </p:nvSpPr>
          <p:spPr>
            <a:xfrm>
              <a:off x="445008" y="1851025"/>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夫妻双方</a:t>
              </a:r>
            </a:p>
          </p:txBody>
        </p:sp>
        <p:sp>
          <p:nvSpPr>
            <p:cNvPr id="6" name="TextBox 6"/>
            <p:cNvSpPr txBox="1"/>
            <p:nvPr/>
          </p:nvSpPr>
          <p:spPr>
            <a:xfrm>
              <a:off x="3704844" y="1901825"/>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都有实行计划生育的义务</a:t>
              </a:r>
            </a:p>
          </p:txBody>
        </p:sp>
      </p:grpSp>
      <p:grpSp>
        <p:nvGrpSpPr>
          <p:cNvPr id="18" name="p50-relations"/>
          <p:cNvGrpSpPr/>
          <p:nvPr/>
        </p:nvGrpSpPr>
        <p:grpSpPr>
          <a:xfrm>
            <a:off x="444246" y="2825750"/>
            <a:ext cx="10259568" cy="1848104"/>
            <a:chOff x="444246" y="2825750"/>
            <a:chExt cx="10259568" cy="1848104"/>
          </a:xfrm>
        </p:grpSpPr>
        <p:sp>
          <p:nvSpPr>
            <p:cNvPr id="8" name="TextBox 8"/>
            <p:cNvSpPr txBox="1"/>
            <p:nvPr/>
          </p:nvSpPr>
          <p:spPr>
            <a:xfrm>
              <a:off x="444246" y="30511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父母</a:t>
              </a:r>
            </a:p>
          </p:txBody>
        </p:sp>
        <p:sp>
          <p:nvSpPr>
            <p:cNvPr id="9" name="Line 9"/>
            <p:cNvSpPr/>
            <p:nvPr/>
          </p:nvSpPr>
          <p:spPr>
            <a:xfrm>
              <a:off x="2133600" y="3257550"/>
              <a:ext cx="6096000" cy="9525"/>
            </a:xfrm>
            <a:custGeom>
              <a:avLst/>
              <a:gdLst/>
              <a:ahLst/>
              <a:cxnLst/>
              <a:rect l="l" t="t" r="r" b="b"/>
              <a:pathLst>
                <a:path w="6096000" h="9525">
                  <a:moveTo>
                    <a:pt x="0" y="0"/>
                  </a:moveTo>
                  <a:lnTo>
                    <a:pt x="6096000" y="0"/>
                  </a:lnTo>
                </a:path>
              </a:pathLst>
            </a:custGeom>
            <a:noFill/>
            <a:ln w="19050">
              <a:solidFill>
                <a:schemeClr val="accent3"/>
              </a:solidFill>
            </a:ln>
          </p:spPr>
        </p:sp>
        <p:sp>
          <p:nvSpPr>
            <p:cNvPr id="10" name="Freeform 10"/>
            <p:cNvSpPr/>
            <p:nvPr/>
          </p:nvSpPr>
          <p:spPr>
            <a:xfrm>
              <a:off x="8096250" y="3190875"/>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11" name="TextBox 11"/>
            <p:cNvSpPr txBox="1"/>
            <p:nvPr/>
          </p:nvSpPr>
          <p:spPr>
            <a:xfrm>
              <a:off x="4219194" y="28257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抚养教育</a:t>
              </a:r>
            </a:p>
          </p:txBody>
        </p:sp>
        <p:sp>
          <p:nvSpPr>
            <p:cNvPr id="12" name="TextBox 12"/>
            <p:cNvSpPr txBox="1"/>
            <p:nvPr/>
          </p:nvSpPr>
          <p:spPr>
            <a:xfrm>
              <a:off x="8864346" y="3051175"/>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未成年子女</a:t>
              </a:r>
            </a:p>
          </p:txBody>
        </p:sp>
        <p:sp>
          <p:nvSpPr>
            <p:cNvPr id="13" name="TextBox 13"/>
            <p:cNvSpPr txBox="1"/>
            <p:nvPr/>
          </p:nvSpPr>
          <p:spPr>
            <a:xfrm>
              <a:off x="444246" y="4175125"/>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成年子女</a:t>
              </a:r>
            </a:p>
          </p:txBody>
        </p:sp>
        <p:sp>
          <p:nvSpPr>
            <p:cNvPr id="14" name="Line 14"/>
            <p:cNvSpPr/>
            <p:nvPr/>
          </p:nvSpPr>
          <p:spPr>
            <a:xfrm>
              <a:off x="2476500" y="4381500"/>
              <a:ext cx="5753100" cy="9525"/>
            </a:xfrm>
            <a:custGeom>
              <a:avLst/>
              <a:gdLst/>
              <a:ahLst/>
              <a:cxnLst/>
              <a:rect l="l" t="t" r="r" b="b"/>
              <a:pathLst>
                <a:path w="5753100" h="9525">
                  <a:moveTo>
                    <a:pt x="0" y="0"/>
                  </a:moveTo>
                  <a:lnTo>
                    <a:pt x="5753100" y="0"/>
                  </a:lnTo>
                </a:path>
              </a:pathLst>
            </a:custGeom>
            <a:noFill/>
            <a:ln w="19050">
              <a:solidFill>
                <a:schemeClr val="accent2"/>
              </a:solidFill>
            </a:ln>
          </p:spPr>
        </p:sp>
        <p:sp>
          <p:nvSpPr>
            <p:cNvPr id="15" name="Freeform 15"/>
            <p:cNvSpPr/>
            <p:nvPr/>
          </p:nvSpPr>
          <p:spPr>
            <a:xfrm>
              <a:off x="8096250" y="4314825"/>
              <a:ext cx="133350" cy="133350"/>
            </a:xfrm>
            <a:custGeom>
              <a:avLst/>
              <a:gdLst/>
              <a:ahLst/>
              <a:cxnLst/>
              <a:rect l="l" t="t" r="r" b="b"/>
              <a:pathLst>
                <a:path w="133350" h="133350">
                  <a:moveTo>
                    <a:pt x="133350" y="66675"/>
                  </a:moveTo>
                  <a:lnTo>
                    <a:pt x="0" y="0"/>
                  </a:lnTo>
                  <a:lnTo>
                    <a:pt x="0" y="133350"/>
                  </a:lnTo>
                  <a:close/>
                </a:path>
              </a:pathLst>
            </a:custGeom>
            <a:solidFill>
              <a:schemeClr val="accent2"/>
            </a:solidFill>
            <a:ln>
              <a:noFill/>
            </a:ln>
          </p:spPr>
        </p:sp>
        <p:sp>
          <p:nvSpPr>
            <p:cNvPr id="16" name="TextBox 16"/>
            <p:cNvSpPr txBox="1"/>
            <p:nvPr/>
          </p:nvSpPr>
          <p:spPr>
            <a:xfrm>
              <a:off x="4219194" y="394970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赡养扶助</a:t>
              </a:r>
            </a:p>
          </p:txBody>
        </p:sp>
        <p:sp>
          <p:nvSpPr>
            <p:cNvPr id="17" name="TextBox 17"/>
            <p:cNvSpPr txBox="1"/>
            <p:nvPr/>
          </p:nvSpPr>
          <p:spPr>
            <a:xfrm>
              <a:off x="8864346" y="41751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父母</a:t>
              </a:r>
            </a:p>
          </p:txBody>
        </p:sp>
      </p:grpSp>
      <p:grpSp>
        <p:nvGrpSpPr>
          <p:cNvPr id="22" name="p50-reveal-1"/>
          <p:cNvGrpSpPr/>
          <p:nvPr/>
        </p:nvGrpSpPr>
        <p:grpSpPr>
          <a:xfrm>
            <a:off x="445008" y="5334000"/>
            <a:ext cx="11289792" cy="1025906"/>
            <a:chOff x="445008" y="5334000"/>
            <a:chExt cx="11289792" cy="1025906"/>
          </a:xfrm>
        </p:grpSpPr>
        <p:sp>
          <p:nvSpPr>
            <p:cNvPr id="19" name="Line 19"/>
            <p:cNvSpPr/>
            <p:nvPr/>
          </p:nvSpPr>
          <p:spPr>
            <a:xfrm>
              <a:off x="457200" y="53340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0" name="TextBox 20"/>
            <p:cNvSpPr txBox="1"/>
            <p:nvPr/>
          </p:nvSpPr>
          <p:spPr>
            <a:xfrm>
              <a:off x="445008" y="5470525"/>
              <a:ext cx="640537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第52—56条是主要集中线索，不是穷尽清单。</a:t>
              </a:r>
            </a:p>
          </p:txBody>
        </p:sp>
        <p:sp>
          <p:nvSpPr>
            <p:cNvPr id="21" name="TextBox 21"/>
            <p:cNvSpPr txBox="1"/>
            <p:nvPr/>
          </p:nvSpPr>
          <p:spPr>
            <a:xfrm>
              <a:off x="447294" y="5978525"/>
              <a:ext cx="923387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劳动、受教育以及婚姻家庭义务都在宪法中；不能只取亲子例便说穷尽第49条。</a:t>
              </a:r>
            </a:p>
          </p:txBody>
        </p:sp>
      </p:grpSp>
      <p:grpSp>
        <p:nvGrpSpPr>
          <p:cNvPr id="25" name="p50-footer"/>
          <p:cNvGrpSpPr/>
          <p:nvPr/>
        </p:nvGrpSpPr>
        <p:grpSpPr>
          <a:xfrm>
            <a:off x="451866" y="6502400"/>
            <a:ext cx="11247444" cy="205359"/>
            <a:chOff x="451866" y="6502400"/>
            <a:chExt cx="11247444" cy="205359"/>
          </a:xfrm>
        </p:grpSpPr>
        <p:sp>
          <p:nvSpPr>
            <p:cNvPr id="23" name="TextBox 23"/>
            <p:cNvSpPr txBox="1"/>
            <p:nvPr/>
          </p:nvSpPr>
          <p:spPr>
            <a:xfrm>
              <a:off x="451866" y="6502400"/>
              <a:ext cx="570711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宪法第42、46、49条及教材。箭头表示具体责任的相对方，不是先收到抚养才能换取赡养。</a:t>
              </a:r>
            </a:p>
          </p:txBody>
        </p:sp>
        <p:sp>
          <p:nvSpPr>
            <p:cNvPr id="24" name="TextBox 2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50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51-title"/>
          <p:cNvGrpSpPr/>
          <p:nvPr/>
        </p:nvGrpSpPr>
        <p:grpSpPr>
          <a:xfrm>
            <a:off x="440436" y="381000"/>
            <a:ext cx="5666232" cy="918464"/>
            <a:chOff x="440436" y="381000"/>
            <a:chExt cx="5666232" cy="918464"/>
          </a:xfrm>
        </p:grpSpPr>
        <p:sp>
          <p:nvSpPr>
            <p:cNvPr id="2" name="TextBox 2"/>
            <p:cNvSpPr txBox="1"/>
            <p:nvPr/>
          </p:nvSpPr>
          <p:spPr>
            <a:xfrm>
              <a:off x="451104" y="381000"/>
              <a:ext cx="393771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统一在全制度中，三种维度可以错开</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不是一个人某一时刻的账目</a:t>
              </a:r>
            </a:p>
          </p:txBody>
        </p:sp>
      </p:grpSp>
      <p:grpSp>
        <p:nvGrpSpPr>
          <p:cNvPr id="11" name="p51-time"/>
          <p:cNvGrpSpPr/>
          <p:nvPr/>
        </p:nvGrpSpPr>
        <p:grpSpPr>
          <a:xfrm>
            <a:off x="444246" y="1984375"/>
            <a:ext cx="9190482" cy="975106"/>
            <a:chOff x="444246" y="1984375"/>
            <a:chExt cx="9190482" cy="975106"/>
          </a:xfrm>
        </p:grpSpPr>
        <p:sp>
          <p:nvSpPr>
            <p:cNvPr id="5" name="TextBox 5"/>
            <p:cNvSpPr txBox="1"/>
            <p:nvPr/>
          </p:nvSpPr>
          <p:spPr>
            <a:xfrm>
              <a:off x="444246" y="19843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时间</a:t>
              </a:r>
            </a:p>
          </p:txBody>
        </p:sp>
        <p:sp>
          <p:nvSpPr>
            <p:cNvPr id="6" name="TextBox 6"/>
            <p:cNvSpPr txBox="1"/>
            <p:nvPr/>
          </p:nvSpPr>
          <p:spPr>
            <a:xfrm>
              <a:off x="2752344" y="19875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小时候受父母抚养</a:t>
              </a:r>
            </a:p>
          </p:txBody>
        </p:sp>
        <p:sp>
          <p:nvSpPr>
            <p:cNvPr id="7" name="Line 7"/>
            <p:cNvSpPr/>
            <p:nvPr/>
          </p:nvSpPr>
          <p:spPr>
            <a:xfrm>
              <a:off x="6038850" y="2143125"/>
              <a:ext cx="1066800" cy="9525"/>
            </a:xfrm>
            <a:custGeom>
              <a:avLst/>
              <a:gdLst/>
              <a:ahLst/>
              <a:cxnLst/>
              <a:rect l="l" t="t" r="r" b="b"/>
              <a:pathLst>
                <a:path w="1066800" h="9525">
                  <a:moveTo>
                    <a:pt x="0" y="0"/>
                  </a:moveTo>
                  <a:lnTo>
                    <a:pt x="1066800" y="0"/>
                  </a:lnTo>
                </a:path>
              </a:pathLst>
            </a:custGeom>
            <a:noFill/>
            <a:ln w="19050">
              <a:solidFill>
                <a:schemeClr val="accent3"/>
              </a:solidFill>
            </a:ln>
          </p:spPr>
        </p:sp>
        <p:sp>
          <p:nvSpPr>
            <p:cNvPr id="8" name="Freeform 8"/>
            <p:cNvSpPr/>
            <p:nvPr/>
          </p:nvSpPr>
          <p:spPr>
            <a:xfrm>
              <a:off x="6972300" y="2076450"/>
              <a:ext cx="133350" cy="133350"/>
            </a:xfrm>
            <a:custGeom>
              <a:avLst/>
              <a:gdLst/>
              <a:ahLst/>
              <a:cxnLst/>
              <a:rect l="l" t="t" r="r" b="b"/>
              <a:pathLst>
                <a:path w="133350" h="133350">
                  <a:moveTo>
                    <a:pt x="133350" y="66675"/>
                  </a:moveTo>
                  <a:lnTo>
                    <a:pt x="0" y="0"/>
                  </a:lnTo>
                  <a:lnTo>
                    <a:pt x="0" y="133350"/>
                  </a:lnTo>
                  <a:close/>
                </a:path>
              </a:pathLst>
            </a:custGeom>
            <a:solidFill>
              <a:schemeClr val="accent3"/>
            </a:solidFill>
            <a:ln>
              <a:noFill/>
            </a:ln>
          </p:spPr>
        </p:sp>
        <p:sp>
          <p:nvSpPr>
            <p:cNvPr id="9" name="TextBox 9"/>
            <p:cNvSpPr txBox="1"/>
            <p:nvPr/>
          </p:nvSpPr>
          <p:spPr>
            <a:xfrm>
              <a:off x="7514844" y="19875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成年以后赡养父母</a:t>
              </a:r>
            </a:p>
          </p:txBody>
        </p:sp>
        <p:sp>
          <p:nvSpPr>
            <p:cNvPr id="10" name="TextBox 10"/>
            <p:cNvSpPr txBox="1"/>
            <p:nvPr/>
          </p:nvSpPr>
          <p:spPr>
            <a:xfrm>
              <a:off x="2752344" y="2578100"/>
              <a:ext cx="6582537"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表现时间上的先后联系，不是履行先后换取权利的条件。</a:t>
              </a:r>
            </a:p>
          </p:txBody>
        </p:sp>
      </p:grpSp>
      <p:grpSp>
        <p:nvGrpSpPr>
          <p:cNvPr id="17" name="p51-reveal-1"/>
          <p:cNvGrpSpPr/>
          <p:nvPr/>
        </p:nvGrpSpPr>
        <p:grpSpPr>
          <a:xfrm>
            <a:off x="444246" y="3505200"/>
            <a:ext cx="11290554" cy="1111631"/>
            <a:chOff x="444246" y="3505200"/>
            <a:chExt cx="11290554" cy="1111631"/>
          </a:xfrm>
        </p:grpSpPr>
        <p:sp>
          <p:nvSpPr>
            <p:cNvPr id="12" name="Line 12"/>
            <p:cNvSpPr/>
            <p:nvPr/>
          </p:nvSpPr>
          <p:spPr>
            <a:xfrm>
              <a:off x="457200" y="35052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4246" y="367982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领域</a:t>
              </a:r>
            </a:p>
          </p:txBody>
        </p:sp>
        <p:sp>
          <p:nvSpPr>
            <p:cNvPr id="14" name="TextBox 14"/>
            <p:cNvSpPr txBox="1"/>
            <p:nvPr/>
          </p:nvSpPr>
          <p:spPr>
            <a:xfrm>
              <a:off x="2752344" y="36830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在一个方面享受权利</a:t>
              </a:r>
            </a:p>
          </p:txBody>
        </p:sp>
        <p:sp>
          <p:nvSpPr>
            <p:cNvPr id="15" name="TextBox 15"/>
            <p:cNvSpPr txBox="1"/>
            <p:nvPr/>
          </p:nvSpPr>
          <p:spPr>
            <a:xfrm>
              <a:off x="7514844" y="36830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在另一方面履行义务</a:t>
              </a:r>
            </a:p>
          </p:txBody>
        </p:sp>
        <p:sp>
          <p:nvSpPr>
            <p:cNvPr id="16" name="TextBox 16"/>
            <p:cNvSpPr txBox="1"/>
            <p:nvPr/>
          </p:nvSpPr>
          <p:spPr>
            <a:xfrm>
              <a:off x="2752344" y="4235450"/>
              <a:ext cx="632002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联系不要求落在同一方面，更不等于同一张即时清单。</a:t>
              </a:r>
            </a:p>
          </p:txBody>
        </p:sp>
      </p:grpSp>
      <p:grpSp>
        <p:nvGrpSpPr>
          <p:cNvPr id="25" name="p51-reveal-2"/>
          <p:cNvGrpSpPr/>
          <p:nvPr/>
        </p:nvGrpSpPr>
        <p:grpSpPr>
          <a:xfrm>
            <a:off x="444246" y="5010150"/>
            <a:ext cx="11290554" cy="1159256"/>
            <a:chOff x="444246" y="5010150"/>
            <a:chExt cx="11290554" cy="1159256"/>
          </a:xfrm>
        </p:grpSpPr>
        <p:sp>
          <p:nvSpPr>
            <p:cNvPr id="18" name="Line 18"/>
            <p:cNvSpPr/>
            <p:nvPr/>
          </p:nvSpPr>
          <p:spPr>
            <a:xfrm>
              <a:off x="457200" y="50101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9" name="TextBox 19"/>
            <p:cNvSpPr txBox="1"/>
            <p:nvPr/>
          </p:nvSpPr>
          <p:spPr>
            <a:xfrm>
              <a:off x="444246" y="5184775"/>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主体</a:t>
              </a:r>
            </a:p>
          </p:txBody>
        </p:sp>
        <p:sp>
          <p:nvSpPr>
            <p:cNvPr id="20" name="TextBox 20"/>
            <p:cNvSpPr txBox="1"/>
            <p:nvPr/>
          </p:nvSpPr>
          <p:spPr>
            <a:xfrm>
              <a:off x="2752344" y="51879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一方履行义务</a:t>
              </a:r>
            </a:p>
          </p:txBody>
        </p:sp>
        <p:sp>
          <p:nvSpPr>
            <p:cNvPr id="21" name="TextBox 21"/>
            <p:cNvSpPr txBox="1"/>
            <p:nvPr/>
          </p:nvSpPr>
          <p:spPr>
            <a:xfrm>
              <a:off x="7514844" y="51879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另一方享有权利</a:t>
              </a:r>
            </a:p>
          </p:txBody>
        </p:sp>
        <p:sp>
          <p:nvSpPr>
            <p:cNvPr id="22" name="Line 22"/>
            <p:cNvSpPr/>
            <p:nvPr/>
          </p:nvSpPr>
          <p:spPr>
            <a:xfrm>
              <a:off x="5105400" y="5324475"/>
              <a:ext cx="1905000" cy="9525"/>
            </a:xfrm>
            <a:custGeom>
              <a:avLst/>
              <a:gdLst/>
              <a:ahLst/>
              <a:cxnLst/>
              <a:rect l="l" t="t" r="r" b="b"/>
              <a:pathLst>
                <a:path w="1905000" h="9525">
                  <a:moveTo>
                    <a:pt x="0" y="0"/>
                  </a:moveTo>
                  <a:lnTo>
                    <a:pt x="1905000" y="0"/>
                  </a:lnTo>
                </a:path>
              </a:pathLst>
            </a:custGeom>
            <a:noFill/>
            <a:ln w="19050">
              <a:solidFill>
                <a:schemeClr val="accent2"/>
              </a:solidFill>
            </a:ln>
          </p:spPr>
        </p:sp>
        <p:sp>
          <p:nvSpPr>
            <p:cNvPr id="23" name="Freeform 23"/>
            <p:cNvSpPr/>
            <p:nvPr/>
          </p:nvSpPr>
          <p:spPr>
            <a:xfrm>
              <a:off x="6877050" y="5257800"/>
              <a:ext cx="133350" cy="133350"/>
            </a:xfrm>
            <a:custGeom>
              <a:avLst/>
              <a:gdLst/>
              <a:ahLst/>
              <a:cxnLst/>
              <a:rect l="l" t="t" r="r" b="b"/>
              <a:pathLst>
                <a:path w="133350" h="133350">
                  <a:moveTo>
                    <a:pt x="133350" y="66675"/>
                  </a:moveTo>
                  <a:lnTo>
                    <a:pt x="0" y="0"/>
                  </a:lnTo>
                  <a:lnTo>
                    <a:pt x="0" y="133350"/>
                  </a:lnTo>
                  <a:close/>
                </a:path>
              </a:pathLst>
            </a:custGeom>
            <a:solidFill>
              <a:schemeClr val="accent2"/>
            </a:solidFill>
            <a:ln>
              <a:noFill/>
            </a:ln>
          </p:spPr>
        </p:sp>
        <p:sp>
          <p:nvSpPr>
            <p:cNvPr id="24" name="TextBox 24"/>
            <p:cNvSpPr txBox="1"/>
            <p:nvPr/>
          </p:nvSpPr>
          <p:spPr>
            <a:xfrm>
              <a:off x="2752344" y="5788025"/>
              <a:ext cx="737006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例如抚养教育关系：父母承担义务，未成年子女得到相应保护。</a:t>
              </a:r>
            </a:p>
          </p:txBody>
        </p:sp>
      </p:grpSp>
      <p:grpSp>
        <p:nvGrpSpPr>
          <p:cNvPr id="28" name="p51-footer"/>
          <p:cNvGrpSpPr/>
          <p:nvPr/>
        </p:nvGrpSpPr>
        <p:grpSpPr>
          <a:xfrm>
            <a:off x="451866" y="6502400"/>
            <a:ext cx="11247444" cy="205359"/>
            <a:chOff x="451866" y="6502400"/>
            <a:chExt cx="11247444" cy="205359"/>
          </a:xfrm>
        </p:grpSpPr>
        <p:sp>
          <p:nvSpPr>
            <p:cNvPr id="26" name="TextBox 26"/>
            <p:cNvSpPr txBox="1"/>
            <p:nvPr/>
          </p:nvSpPr>
          <p:spPr>
            <a:xfrm>
              <a:off x="451866" y="6502400"/>
              <a:ext cx="524065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依据：教材关于时间、领域、主体的说明。制度联系不等于单个人即时一对一结清。</a:t>
              </a:r>
            </a:p>
          </p:txBody>
        </p:sp>
        <p:sp>
          <p:nvSpPr>
            <p:cNvPr id="27" name="TextBox 2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51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52-title"/>
          <p:cNvGrpSpPr/>
          <p:nvPr/>
        </p:nvGrpSpPr>
        <p:grpSpPr>
          <a:xfrm>
            <a:off x="440436" y="381000"/>
            <a:ext cx="7543800" cy="918464"/>
            <a:chOff x="440436" y="381000"/>
            <a:chExt cx="7543800" cy="918464"/>
          </a:xfrm>
        </p:grpSpPr>
        <p:sp>
          <p:nvSpPr>
            <p:cNvPr id="2" name="TextBox 2"/>
            <p:cNvSpPr txBox="1"/>
            <p:nvPr/>
          </p:nvSpPr>
          <p:spPr>
            <a:xfrm>
              <a:off x="451104" y="38100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并存与后果，都须有依据</a:t>
              </a:r>
            </a:p>
          </p:txBody>
        </p:sp>
        <p:sp>
          <p:nvSpPr>
            <p:cNvPr id="3" name="TextBox 3"/>
            <p:cNvSpPr txBox="1"/>
            <p:nvPr/>
          </p:nvSpPr>
          <p:spPr>
            <a:xfrm>
              <a:off x="440436" y="65405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权利保护，不是尽义务后发放的奖励</a:t>
              </a:r>
            </a:p>
          </p:txBody>
        </p:sp>
      </p:grpSp>
      <p:grpSp>
        <p:nvGrpSpPr>
          <p:cNvPr id="8" name="p52-hook"/>
          <p:cNvGrpSpPr/>
          <p:nvPr/>
        </p:nvGrpSpPr>
        <p:grpSpPr>
          <a:xfrm>
            <a:off x="438150" y="1993900"/>
            <a:ext cx="3110484" cy="2330450"/>
            <a:chOff x="438150" y="1993900"/>
            <a:chExt cx="3110484" cy="2330450"/>
          </a:xfrm>
        </p:grpSpPr>
        <p:sp>
          <p:nvSpPr>
            <p:cNvPr id="5" name="TextBox 5"/>
            <p:cNvSpPr txBox="1"/>
            <p:nvPr/>
          </p:nvSpPr>
          <p:spPr>
            <a:xfrm>
              <a:off x="438150" y="1993900"/>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保护</a:t>
              </a:r>
            </a:p>
          </p:txBody>
        </p:sp>
        <p:sp>
          <p:nvSpPr>
            <p:cNvPr id="6" name="TextBox 6"/>
            <p:cNvSpPr txBox="1"/>
            <p:nvPr/>
          </p:nvSpPr>
          <p:spPr>
            <a:xfrm>
              <a:off x="438150" y="3041650"/>
              <a:ext cx="3110484"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不是奖励</a:t>
              </a:r>
            </a:p>
          </p:txBody>
        </p:sp>
        <p:sp>
          <p:nvSpPr>
            <p:cNvPr id="7" name="Line 7"/>
            <p:cNvSpPr/>
            <p:nvPr/>
          </p:nvSpPr>
          <p:spPr>
            <a:xfrm>
              <a:off x="457200" y="4314825"/>
              <a:ext cx="914400" cy="9525"/>
            </a:xfrm>
            <a:custGeom>
              <a:avLst/>
              <a:gdLst/>
              <a:ahLst/>
              <a:cxnLst/>
              <a:rect l="l" t="t" r="r" b="b"/>
              <a:pathLst>
                <a:path w="914400" h="9525">
                  <a:moveTo>
                    <a:pt x="0" y="0"/>
                  </a:moveTo>
                  <a:lnTo>
                    <a:pt x="914400" y="0"/>
                  </a:lnTo>
                </a:path>
              </a:pathLst>
            </a:custGeom>
            <a:noFill/>
            <a:ln w="28575">
              <a:solidFill>
                <a:schemeClr val="accent2"/>
              </a:solidFill>
            </a:ln>
          </p:spPr>
        </p:sp>
      </p:grpSp>
      <p:grpSp>
        <p:nvGrpSpPr>
          <p:cNvPr id="12" name="p52-misreadings"/>
          <p:cNvGrpSpPr/>
          <p:nvPr/>
        </p:nvGrpSpPr>
        <p:grpSpPr>
          <a:xfrm>
            <a:off x="6502908" y="2127250"/>
            <a:ext cx="3578352" cy="2298192"/>
            <a:chOff x="6502908" y="2127250"/>
            <a:chExt cx="3578352" cy="2298192"/>
          </a:xfrm>
        </p:grpSpPr>
        <p:sp>
          <p:nvSpPr>
            <p:cNvPr id="9" name="TextBox 9"/>
            <p:cNvSpPr txBox="1"/>
            <p:nvPr/>
          </p:nvSpPr>
          <p:spPr>
            <a:xfrm>
              <a:off x="6502908" y="212725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有权利，不等于没有义务</a:t>
              </a:r>
            </a:p>
          </p:txBody>
        </p:sp>
        <p:sp>
          <p:nvSpPr>
            <p:cNvPr id="10" name="TextBox 10"/>
            <p:cNvSpPr txBox="1"/>
            <p:nvPr/>
          </p:nvSpPr>
          <p:spPr>
            <a:xfrm>
              <a:off x="6505194" y="27686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宪法同时规定两者并存</a:t>
              </a:r>
            </a:p>
          </p:txBody>
        </p:sp>
        <p:sp>
          <p:nvSpPr>
            <p:cNvPr id="11" name="TextBox 11"/>
            <p:cNvSpPr txBox="1"/>
            <p:nvPr/>
          </p:nvSpPr>
          <p:spPr>
            <a:xfrm>
              <a:off x="6502908" y="3508375"/>
              <a:ext cx="2767584" cy="917067"/>
            </a:xfrm>
            <a:prstGeom prst="rect">
              <a:avLst/>
            </a:prstGeom>
            <a:noFill/>
            <a:ln>
              <a:noFill/>
            </a:ln>
          </p:spPr>
          <p:txBody>
            <a:bodyPr wrap="none" lIns="0" tIns="0" rIns="0" bIns="0" anchor="t" anchorCtr="0">
              <a:spAutoFit/>
            </a:bodyPr>
            <a:lstStyle/>
            <a:p>
              <a:pPr algn="l">
                <a:lnSpc>
                  <a:spcPts val="3525"/>
                </a:lnSpc>
              </a:pPr>
              <a:r>
                <a:rPr lang="zh-CN" sz="2400" dirty="0">
                  <a:solidFill>
                    <a:schemeClr val="accent1"/>
                  </a:solidFill>
                  <a:latin typeface="+mn-lt"/>
                  <a:ea typeface="+mn-ea"/>
                  <a:cs typeface="+mn-cs"/>
                </a:rPr>
                <a:t>未履行某项义务，</a:t>
              </a:r>
              <a:br>
                <a:rPr lang="zh-CN" sz="2400" dirty="0">
                  <a:solidFill>
                    <a:schemeClr val="accent1"/>
                  </a:solidFill>
                  <a:latin typeface="+mn-lt"/>
                  <a:ea typeface="+mn-ea"/>
                  <a:cs typeface="+mn-cs"/>
                </a:rPr>
              </a:br>
              <a:r>
                <a:rPr lang="zh-CN" sz="2400" dirty="0">
                  <a:solidFill>
                    <a:schemeClr val="accent1"/>
                  </a:solidFill>
                  <a:latin typeface="+mn-lt"/>
                  <a:ea typeface="+mn-ea"/>
                  <a:cs typeface="+mn-cs"/>
                </a:rPr>
                <a:t>不等于全部权利消失</a:t>
              </a:r>
            </a:p>
          </p:txBody>
        </p:sp>
      </p:grpSp>
      <p:grpSp>
        <p:nvGrpSpPr>
          <p:cNvPr id="15" name="p52-reveal-1"/>
          <p:cNvGrpSpPr/>
          <p:nvPr/>
        </p:nvGrpSpPr>
        <p:grpSpPr>
          <a:xfrm>
            <a:off x="447294" y="5302250"/>
            <a:ext cx="10257663" cy="914781"/>
            <a:chOff x="447294" y="5302250"/>
            <a:chExt cx="10257663" cy="914781"/>
          </a:xfrm>
        </p:grpSpPr>
        <p:sp>
          <p:nvSpPr>
            <p:cNvPr id="13" name="TextBox 13"/>
            <p:cNvSpPr txBox="1"/>
            <p:nvPr/>
          </p:nvSpPr>
          <p:spPr>
            <a:xfrm>
              <a:off x="447294" y="5302250"/>
              <a:ext cx="923387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法律可以规定后果，但须有依据、有条件，不能用“没尽义务就别谈权利”代替。</a:t>
              </a:r>
            </a:p>
          </p:txBody>
        </p:sp>
        <p:sp>
          <p:nvSpPr>
            <p:cNvPr id="14" name="TextBox 14"/>
            <p:cNvSpPr txBox="1"/>
            <p:nvPr/>
          </p:nvSpPr>
          <p:spPr>
            <a:xfrm>
              <a:off x="447294" y="5835650"/>
              <a:ext cx="1025766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家庭等具体关系各有相对方；国家确认、保护并支持，不把每项义务都改为对国家履行。</a:t>
              </a:r>
            </a:p>
          </p:txBody>
        </p:sp>
      </p:grpSp>
      <p:grpSp>
        <p:nvGrpSpPr>
          <p:cNvPr id="18" name="p52-footer"/>
          <p:cNvGrpSpPr/>
          <p:nvPr/>
        </p:nvGrpSpPr>
        <p:grpSpPr>
          <a:xfrm>
            <a:off x="451866" y="6502400"/>
            <a:ext cx="11247444" cy="205359"/>
            <a:chOff x="451866" y="6502400"/>
            <a:chExt cx="11247444" cy="205359"/>
          </a:xfrm>
        </p:grpSpPr>
        <p:sp>
          <p:nvSpPr>
            <p:cNvPr id="16" name="TextBox 16"/>
            <p:cNvSpPr txBox="1"/>
            <p:nvPr/>
          </p:nvSpPr>
          <p:spPr>
            <a:xfrm>
              <a:off x="451866" y="6502400"/>
              <a:ext cx="58979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依据：宪法第33条第4款及本讲非交换关系。未履行某一义务不构成取消全部权利的通用授权。</a:t>
              </a:r>
            </a:p>
          </p:txBody>
        </p:sp>
        <p:sp>
          <p:nvSpPr>
            <p:cNvPr id="17" name="TextBox 17"/>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52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53-title"/>
          <p:cNvGrpSpPr/>
          <p:nvPr/>
        </p:nvGrpSpPr>
        <p:grpSpPr>
          <a:xfrm>
            <a:off x="440436" y="381000"/>
            <a:ext cx="5666232" cy="918464"/>
            <a:chOff x="440436" y="381000"/>
            <a:chExt cx="5666232" cy="918464"/>
          </a:xfrm>
        </p:grpSpPr>
        <p:sp>
          <p:nvSpPr>
            <p:cNvPr id="2" name="TextBox 2"/>
            <p:cNvSpPr txBox="1"/>
            <p:nvPr/>
          </p:nvSpPr>
          <p:spPr>
            <a:xfrm>
              <a:off x="451104" y="38100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家庭责任与国家帮助</a:t>
              </a:r>
            </a:p>
          </p:txBody>
        </p:sp>
        <p:sp>
          <p:nvSpPr>
            <p:cNvPr id="3" name="TextBox 3"/>
            <p:cNvSpPr txBox="1"/>
            <p:nvPr/>
          </p:nvSpPr>
          <p:spPr>
            <a:xfrm>
              <a:off x="440436" y="65405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分别承担，也可以相互支持</a:t>
              </a:r>
            </a:p>
          </p:txBody>
        </p:sp>
      </p:grpSp>
      <p:grpSp>
        <p:nvGrpSpPr>
          <p:cNvPr id="8" name="p53-family"/>
          <p:cNvGrpSpPr/>
          <p:nvPr/>
        </p:nvGrpSpPr>
        <p:grpSpPr>
          <a:xfrm>
            <a:off x="440436" y="1930400"/>
            <a:ext cx="2998470" cy="2210181"/>
            <a:chOff x="440436" y="1930400"/>
            <a:chExt cx="2998470" cy="2210181"/>
          </a:xfrm>
        </p:grpSpPr>
        <p:sp>
          <p:nvSpPr>
            <p:cNvPr id="5" name="TextBox 5"/>
            <p:cNvSpPr txBox="1"/>
            <p:nvPr/>
          </p:nvSpPr>
          <p:spPr>
            <a:xfrm>
              <a:off x="440436" y="193040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家庭责任</a:t>
              </a:r>
            </a:p>
          </p:txBody>
        </p:sp>
        <p:sp>
          <p:nvSpPr>
            <p:cNvPr id="6" name="TextBox 6"/>
            <p:cNvSpPr txBox="1"/>
            <p:nvPr/>
          </p:nvSpPr>
          <p:spPr>
            <a:xfrm>
              <a:off x="447294" y="2797175"/>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父母对子女负抚养义务</a:t>
              </a:r>
            </a:p>
          </p:txBody>
        </p:sp>
        <p:sp>
          <p:nvSpPr>
            <p:cNvPr id="7" name="TextBox 7"/>
            <p:cNvSpPr txBox="1"/>
            <p:nvPr/>
          </p:nvSpPr>
          <p:spPr>
            <a:xfrm>
              <a:off x="447294" y="3397250"/>
              <a:ext cx="29916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家庭确难维持基本生活时，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履责困难不能被忽视</a:t>
              </a:r>
            </a:p>
          </p:txBody>
        </p:sp>
      </p:grpSp>
      <p:grpSp>
        <p:nvGrpSpPr>
          <p:cNvPr id="12" name="p53-state"/>
          <p:cNvGrpSpPr/>
          <p:nvPr/>
        </p:nvGrpSpPr>
        <p:grpSpPr>
          <a:xfrm>
            <a:off x="6502146" y="2032000"/>
            <a:ext cx="3290316" cy="2146681"/>
            <a:chOff x="6502146" y="2032000"/>
            <a:chExt cx="3290316" cy="2146681"/>
          </a:xfrm>
        </p:grpSpPr>
        <p:sp>
          <p:nvSpPr>
            <p:cNvPr id="9" name="TextBox 9"/>
            <p:cNvSpPr txBox="1"/>
            <p:nvPr/>
          </p:nvSpPr>
          <p:spPr>
            <a:xfrm>
              <a:off x="6502146" y="203200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国家按制度提供帮助</a:t>
              </a:r>
            </a:p>
          </p:txBody>
        </p:sp>
        <p:sp>
          <p:nvSpPr>
            <p:cNvPr id="10" name="TextBox 10"/>
            <p:cNvSpPr txBox="1"/>
            <p:nvPr/>
          </p:nvSpPr>
          <p:spPr>
            <a:xfrm>
              <a:off x="6505194" y="2759075"/>
              <a:ext cx="29916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依据对象类型、困难程度，</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安排相应救助和必要支持</a:t>
              </a:r>
            </a:p>
          </p:txBody>
        </p:sp>
        <p:sp>
          <p:nvSpPr>
            <p:cNvPr id="11" name="TextBox 11"/>
            <p:cNvSpPr txBox="1"/>
            <p:nvPr/>
          </p:nvSpPr>
          <p:spPr>
            <a:xfrm>
              <a:off x="6505194" y="3797300"/>
              <a:ext cx="316992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具体帮助仍须依法核实处境</a:t>
              </a:r>
            </a:p>
          </p:txBody>
        </p:sp>
      </p:grpSp>
      <p:grpSp>
        <p:nvGrpSpPr>
          <p:cNvPr id="17" name="p53-reveal-1"/>
          <p:cNvGrpSpPr/>
          <p:nvPr/>
        </p:nvGrpSpPr>
        <p:grpSpPr>
          <a:xfrm>
            <a:off x="445008" y="4838700"/>
            <a:ext cx="11289792" cy="1499108"/>
            <a:chOff x="445008" y="4838700"/>
            <a:chExt cx="11289792" cy="1499108"/>
          </a:xfrm>
        </p:grpSpPr>
        <p:sp>
          <p:nvSpPr>
            <p:cNvPr id="13" name="Line 13"/>
            <p:cNvSpPr/>
            <p:nvPr/>
          </p:nvSpPr>
          <p:spPr>
            <a:xfrm>
              <a:off x="457200" y="4838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4" name="TextBox 14"/>
            <p:cNvSpPr txBox="1"/>
            <p:nvPr/>
          </p:nvSpPr>
          <p:spPr>
            <a:xfrm>
              <a:off x="445008" y="4994275"/>
              <a:ext cx="745540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以最低生活保障等为例：依法核收入、财产等条件。</a:t>
              </a:r>
            </a:p>
          </p:txBody>
        </p:sp>
        <p:sp>
          <p:nvSpPr>
            <p:cNvPr id="15" name="TextBox 15"/>
            <p:cNvSpPr txBox="1"/>
            <p:nvPr/>
          </p:nvSpPr>
          <p:spPr>
            <a:xfrm>
              <a:off x="447294" y="554990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帮助改善家庭履责条件，不是国家无条件代替全部家庭责任。</a:t>
              </a:r>
            </a:p>
          </p:txBody>
        </p:sp>
        <p:sp>
          <p:nvSpPr>
            <p:cNvPr id="16" name="TextBox 16"/>
            <p:cNvSpPr txBox="1"/>
            <p:nvPr/>
          </p:nvSpPr>
          <p:spPr>
            <a:xfrm>
              <a:off x="450342" y="6073775"/>
              <a:ext cx="6011037"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不能因有家庭义务就不给帮助，也不能仅说有困难便把所有责任转给别人。</a:t>
              </a:r>
            </a:p>
          </p:txBody>
        </p:sp>
      </p:grpSp>
      <p:grpSp>
        <p:nvGrpSpPr>
          <p:cNvPr id="20" name="p53-footer"/>
          <p:cNvGrpSpPr/>
          <p:nvPr/>
        </p:nvGrpSpPr>
        <p:grpSpPr>
          <a:xfrm>
            <a:off x="451866" y="6502400"/>
            <a:ext cx="11247444" cy="205359"/>
            <a:chOff x="451866" y="6502400"/>
            <a:chExt cx="11247444" cy="205359"/>
          </a:xfrm>
        </p:grpSpPr>
        <p:sp>
          <p:nvSpPr>
            <p:cNvPr id="18" name="TextBox 18"/>
            <p:cNvSpPr txBox="1"/>
            <p:nvPr/>
          </p:nvSpPr>
          <p:spPr>
            <a:xfrm>
              <a:off x="451866" y="6502400"/>
              <a:ext cx="619477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2026年7月施行社会救助法及本讲。收入财产条件限定到相应制度，不泛化为全部救助的同一门槛。</a:t>
              </a:r>
            </a:p>
          </p:txBody>
        </p:sp>
        <p:sp>
          <p:nvSpPr>
            <p:cNvPr id="19" name="TextBox 19"/>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53 / 54</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54-title"/>
          <p:cNvGrpSpPr/>
          <p:nvPr/>
        </p:nvGrpSpPr>
        <p:grpSpPr>
          <a:xfrm>
            <a:off x="440436" y="381000"/>
            <a:ext cx="4727448" cy="918464"/>
            <a:chOff x="440436" y="381000"/>
            <a:chExt cx="4727448" cy="918464"/>
          </a:xfrm>
        </p:grpSpPr>
        <p:sp>
          <p:nvSpPr>
            <p:cNvPr id="2" name="TextBox 2"/>
            <p:cNvSpPr txBox="1"/>
            <p:nvPr/>
          </p:nvSpPr>
          <p:spPr>
            <a:xfrm>
              <a:off x="451104" y="381000"/>
              <a:ext cx="377616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第六讲 / 同一份宪法安排，同时生效的两面</a:t>
              </a:r>
            </a:p>
          </p:txBody>
        </p:sp>
        <p:sp>
          <p:nvSpPr>
            <p:cNvPr id="3" name="TextBox 3"/>
            <p:cNvSpPr txBox="1"/>
            <p:nvPr/>
          </p:nvSpPr>
          <p:spPr>
            <a:xfrm>
              <a:off x="440436" y="65405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自由发展，与共同生活</a:t>
              </a:r>
            </a:p>
          </p:txBody>
        </p:sp>
      </p:grpSp>
      <p:grpSp>
        <p:nvGrpSpPr>
          <p:cNvPr id="7" name="p54-recap"/>
          <p:cNvGrpSpPr/>
          <p:nvPr/>
        </p:nvGrpSpPr>
        <p:grpSpPr>
          <a:xfrm>
            <a:off x="447294" y="1997075"/>
            <a:ext cx="3957447" cy="810006"/>
            <a:chOff x="447294" y="1997075"/>
            <a:chExt cx="3957447" cy="810006"/>
          </a:xfrm>
        </p:grpSpPr>
        <p:sp>
          <p:nvSpPr>
            <p:cNvPr id="5" name="TextBox 5"/>
            <p:cNvSpPr txBox="1"/>
            <p:nvPr/>
          </p:nvSpPr>
          <p:spPr>
            <a:xfrm>
              <a:off x="447294" y="1997075"/>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权利：各有保护对象和行使条件。</a:t>
              </a:r>
            </a:p>
          </p:txBody>
        </p:sp>
        <p:sp>
          <p:nvSpPr>
            <p:cNvPr id="6" name="TextBox 6"/>
            <p:cNvSpPr txBox="1"/>
            <p:nvPr/>
          </p:nvSpPr>
          <p:spPr>
            <a:xfrm>
              <a:off x="447294" y="24257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义务：设定和履行均须法定根据。</a:t>
              </a:r>
            </a:p>
          </p:txBody>
        </p:sp>
      </p:grpSp>
      <p:grpSp>
        <p:nvGrpSpPr>
          <p:cNvPr id="9" name="p54-hook"/>
          <p:cNvGrpSpPr/>
          <p:nvPr/>
        </p:nvGrpSpPr>
        <p:grpSpPr>
          <a:xfrm>
            <a:off x="438150" y="3470275"/>
            <a:ext cx="4838700" cy="1981200"/>
            <a:chOff x="438150" y="3470275"/>
            <a:chExt cx="4838700" cy="1981200"/>
          </a:xfrm>
        </p:grpSpPr>
        <p:sp>
          <p:nvSpPr>
            <p:cNvPr id="8" name="TextBox 8"/>
            <p:cNvSpPr txBox="1"/>
            <p:nvPr/>
          </p:nvSpPr>
          <p:spPr>
            <a:xfrm>
              <a:off x="438150" y="3470275"/>
              <a:ext cx="4838700" cy="1981200"/>
            </a:xfrm>
            <a:prstGeom prst="rect">
              <a:avLst/>
            </a:prstGeom>
            <a:noFill/>
            <a:ln>
              <a:noFill/>
            </a:ln>
          </p:spPr>
          <p:txBody>
            <a:bodyPr wrap="none" lIns="0" tIns="0" rIns="0" bIns="0" anchor="t" anchorCtr="0">
              <a:spAutoFit/>
            </a:bodyPr>
            <a:lstStyle/>
            <a:p>
              <a:pPr algn="l">
                <a:lnSpc>
                  <a:spcPts val="7350"/>
                </a:lnSpc>
              </a:pPr>
              <a:r>
                <a:rPr lang="zh-CN" sz="5400" dirty="0">
                  <a:solidFill>
                    <a:schemeClr val="accent1"/>
                  </a:solidFill>
                  <a:latin typeface="+mj-lt"/>
                  <a:ea typeface="+mj-ea"/>
                  <a:cs typeface="+mj-cs"/>
                </a:rPr>
                <a:t>两面并存，</a:t>
              </a:r>
              <a:br>
                <a:rPr lang="zh-CN" sz="5400" dirty="0">
                  <a:solidFill>
                    <a:schemeClr val="accent1"/>
                  </a:solidFill>
                  <a:latin typeface="+mj-lt"/>
                  <a:ea typeface="+mj-ea"/>
                  <a:cs typeface="+mj-cs"/>
                </a:rPr>
              </a:br>
              <a:r>
                <a:rPr lang="zh-CN" sz="5400" dirty="0">
                  <a:solidFill>
                    <a:schemeClr val="accent1"/>
                  </a:solidFill>
                  <a:latin typeface="+mj-lt"/>
                  <a:ea typeface="+mj-ea"/>
                  <a:cs typeface="+mj-cs"/>
                </a:rPr>
                <a:t>不是互相扣减。</a:t>
              </a:r>
            </a:p>
          </p:txBody>
        </p:sp>
      </p:grpSp>
      <p:grpSp>
        <p:nvGrpSpPr>
          <p:cNvPr id="12" name="p54-next"/>
          <p:cNvGrpSpPr/>
          <p:nvPr/>
        </p:nvGrpSpPr>
        <p:grpSpPr>
          <a:xfrm>
            <a:off x="447294" y="5740400"/>
            <a:ext cx="7895082" cy="664083"/>
            <a:chOff x="447294" y="5740400"/>
            <a:chExt cx="7895082" cy="664083"/>
          </a:xfrm>
        </p:grpSpPr>
        <p:sp>
          <p:nvSpPr>
            <p:cNvPr id="10" name="TextBox 10"/>
            <p:cNvSpPr txBox="1"/>
            <p:nvPr/>
          </p:nvSpPr>
          <p:spPr>
            <a:xfrm>
              <a:off x="447294" y="5740400"/>
              <a:ext cx="789508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下一讲：这些国家职责与权利保障，由哪些有法定职权的机关承担？</a:t>
              </a:r>
            </a:p>
          </p:txBody>
        </p:sp>
        <p:sp>
          <p:nvSpPr>
            <p:cNvPr id="11" name="TextBox 11"/>
            <p:cNvSpPr txBox="1"/>
            <p:nvPr/>
          </p:nvSpPr>
          <p:spPr>
            <a:xfrm>
              <a:off x="450342" y="6140450"/>
              <a:ext cx="564756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相统一是整个法律制度的联系，不是一个人即时、一对一结清的交换。</a:t>
              </a:r>
            </a:p>
          </p:txBody>
        </p:sp>
      </p:grpSp>
      <p:grpSp>
        <p:nvGrpSpPr>
          <p:cNvPr id="15" name="p54-footer"/>
          <p:cNvGrpSpPr/>
          <p:nvPr/>
        </p:nvGrpSpPr>
        <p:grpSpPr>
          <a:xfrm>
            <a:off x="451866" y="6502400"/>
            <a:ext cx="11247444" cy="205359"/>
            <a:chOff x="451866" y="6502400"/>
            <a:chExt cx="11247444" cy="205359"/>
          </a:xfrm>
        </p:grpSpPr>
        <p:sp>
          <p:nvSpPr>
            <p:cNvPr id="13" name="TextBox 13"/>
            <p:cNvSpPr txBox="1"/>
            <p:nvPr/>
          </p:nvSpPr>
          <p:spPr>
            <a:xfrm>
              <a:off x="451866" y="6502400"/>
              <a:ext cx="24136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第六讲《具体基本权利与基本义务》。</a:t>
              </a:r>
            </a:p>
          </p:txBody>
        </p:sp>
        <p:sp>
          <p:nvSpPr>
            <p:cNvPr id="14" name="TextBox 14"/>
            <p:cNvSpPr txBox="1"/>
            <p:nvPr/>
          </p:nvSpPr>
          <p:spPr>
            <a:xfrm>
              <a:off x="11215116" y="6502400"/>
              <a:ext cx="48419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54 / 54</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lecture-06-20261015-student-ready">
  <a:themeElements>
    <a:clrScheme name="lecture-06-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6-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6-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6-20261015-student-ready">
  <a:themeElements>
    <a:clrScheme name="lecture-06-20261015-student-ready">
      <a:dk1>
        <a:srgbClr val="2F2D29"/>
      </a:dk1>
      <a:lt1>
        <a:srgbClr val="F7F3EA"/>
      </a:lt1>
      <a:dk2>
        <a:srgbClr val="1F497D"/>
      </a:dk2>
      <a:lt2>
        <a:srgbClr val="ECE5D6"/>
      </a:lt2>
      <a:accent1>
        <a:srgbClr val="202C35"/>
      </a:accent1>
      <a:accent2>
        <a:srgbClr val="A02B2D"/>
      </a:accent2>
      <a:accent3>
        <a:srgbClr val="526774"/>
      </a:accent3>
      <a:accent4>
        <a:srgbClr val="202C35"/>
      </a:accent4>
      <a:accent5>
        <a:srgbClr val="6A645C"/>
      </a:accent5>
      <a:accent6>
        <a:srgbClr val="C7BFB1"/>
      </a:accent6>
      <a:hlink>
        <a:srgbClr val="A02B2D"/>
      </a:hlink>
      <a:folHlink>
        <a:srgbClr val="526774"/>
      </a:folHlink>
    </a:clrScheme>
    <a:fontScheme name="lecture-06-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6-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2026-10-15T13:11:16Z</dcterms:created>
  <dcterms:modified xsi:type="dcterms:W3CDTF">2026-10-15T13:11:16Z</dcterms:modified>
  <cp:category/>
  <cp:contentStatus/>
</cp:coreProperties>
</file>