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54"/>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  <Relationship Id="rId5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第五讲　基本权利的一般原理</a:t>
            </a:r>
          </a:p>
          <a:p>
            <a:pPr/>
            <a:endParaRPr lang="zh-CN" dirty="0"/>
          </a:p>
          <a:p>
            <a:pPr/>
            <a:r>
              <a:rPr lang="zh-CN" dirty="0"/>
              <a:t>&gt; 公安专业一年级；上下两节各45分钟，课间另计。小标题供定位；方括号为简短课堂提示。</a:t>
            </a:r>
          </a:p>
          <a:p>
            <a:pPr/>
            <a:endParaRPr lang="zh-CN" dirty="0"/>
          </a:p>
          <a:p>
            <a:pPr/>
            <a:r>
              <a:rPr lang="zh-CN" dirty="0"/>
              <a:t>上节｜从生活利益到基本权利的概念与主体</a:t>
            </a:r>
          </a:p>
          <a:p>
            <a:pPr/>
            <a:endParaRPr lang="zh-CN" dirty="0"/>
          </a:p>
          <a:p>
            <a:pPr/>
            <a:r>
              <a:rPr lang="zh-CN" dirty="0"/>
              <a:t>一、人权：人的生存发展为什么需要自由和平等</a:t>
            </a:r>
          </a:p>
          <a:p>
            <a:pPr/>
            <a:endParaRPr lang="zh-CN" dirty="0"/>
          </a:p>
          <a:p>
            <a:pPr/>
            <a:r>
              <a:rPr lang="zh-CN" dirty="0"/>
              <a:t>上一讲我们看的是国家一侧：国家有哪些制度，承担哪些任务，为人的生活和权利提供什么条件。从这一讲开始，我们换一个方向，从个人一侧来问：一个人说“我有权利”，这句话到底在说什么？</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先不急着下定义。我们从日常经验进去。</a:t>
            </a:r>
          </a:p>
          <a:p>
            <a:pPr/>
            <a:endParaRPr lang="zh-CN" dirty="0"/>
          </a:p>
          <a:p>
            <a:pPr/>
            <a:r>
              <a:rPr lang="zh-CN" dirty="0"/>
              <a:t>一个人要读书，需要有人办学、有人教书；生了病，希望有地方能治；打工挣来的钱，希望不被人随意拿走；好端端走在路上，希望不被人无故拦下搜身。这些事看起来很不相同，但它们有一个共同的地方：它们都关系到一个人能不能有尊严地活着，能不能发展自己。</a:t>
            </a:r>
          </a:p>
          <a:p>
            <a:pPr/>
            <a:endParaRPr lang="zh-CN" dirty="0"/>
          </a:p>
          <a:p>
            <a:pPr/>
            <a:r>
              <a:rPr lang="zh-CN" dirty="0"/>
              <a:t>宪法第三十三条第三款写着：“国家尊重和保障人权。”这一句，就是我们这一节要展开的东西。不过，先要知道教材怎么解释“人权”。</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教材给的界定，是这么说的：人权，说的是在一定的社会历史条件之下，每个人按照自己的本质和尊严，自由地、平等地生存和发展的一种基本权利。这句话的落点在最后——人权实质的内容和目标，就是人的生存和发展。</a:t>
            </a:r>
          </a:p>
          <a:p>
            <a:pPr/>
            <a:endParaRPr lang="zh-CN" dirty="0"/>
          </a:p>
          <a:p>
            <a:pPr/>
            <a:r>
              <a:rPr lang="zh-CN" dirty="0"/>
              <a:t>这个界定不长，但每一处都有用。请留意两点。</a:t>
            </a:r>
          </a:p>
          <a:p>
            <a:pPr/>
            <a:endParaRPr lang="zh-CN" dirty="0"/>
          </a:p>
          <a:p>
            <a:pPr/>
            <a:r>
              <a:rPr lang="zh-CN" dirty="0"/>
              <a:t>第一，它说“在一定的社会历史条件下”。人权不是悬在空中、与处境无关的标准。什么样的自由能够真正实现，什么样的平等能够真正做到，与社会发展到什么程度有关系。这句话容易被误用，我们在后面会专门回来看它。</a:t>
            </a:r>
          </a:p>
          <a:p>
            <a:pPr/>
            <a:endParaRPr lang="zh-CN" dirty="0"/>
          </a:p>
          <a:p>
            <a:pPr/>
            <a:r>
              <a:rPr lang="zh-CN" dirty="0"/>
              <a:t>第二，它把自由、平等和“生存和发展”绑在一起。教材在这一处讲得更直接，而且是分两头说的：一头是，如果没有自由和平等来保证，那种符合人的尊严、符合本性的生存和发展就无从谈起，人权也就无从谈起；另一头是，自由和平等本身，又是为了人的生存和全面发展服务的。两头合起来的意思就是——一旦离开了人的生存和发展，自由和平等就会只剩一个形式，说得好听，落到实处却什么都没有。</a:t>
            </a:r>
          </a:p>
          <a:p>
            <a:pPr/>
            <a:endParaRPr lang="zh-CN" dirty="0"/>
          </a:p>
          <a:p>
            <a:pPr/>
            <a:r>
              <a:rPr lang="zh-CN" dirty="0"/>
              <a:t>这两句话是一体两面。只讲自由平等、不问人的实际处境，自由就可能变成一句好听的话，落不到人身上；只强调处境困难、不谈自由平等，人的发展也会被放在一边。所以教材在讲人权的目的时，用的说法是——让人摆脱一切压迫、剥削和歧视，获得有尊严的生存和全面的发展。</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再看人权的范围。马克思主义讲，人的本质是一切社会关系的总和。既然如此，一个人基于这个本质应该享有的权利，也就必然涉及一切社会领域。可以说，有人，就有人的社会；有人的社会，就有人权问题。</a:t>
            </a:r>
          </a:p>
          <a:p>
            <a:pPr/>
            <a:endParaRPr lang="zh-CN" dirty="0"/>
          </a:p>
          <a:p>
            <a:pPr/>
            <a:r>
              <a:rPr lang="zh-CN" dirty="0"/>
              <a:t>按享受权利的主体来划分，人权又分个人人权和集体人权两类。个人人权，是每个人依法享有的生命、人身，还有政治、经济、社会、文化这些方面的自由平等权利。集体人权，则是集体作为个人的一种社会存在方式，本身应该享有的权利，比如种族平等权、民族自决权，还有发展权、环境权、和平权这些。这里只要求大家知道，人权的范围很宽、层次不止一种，这份名单不要求背。</a:t>
            </a:r>
          </a:p>
          <a:p>
            <a:pPr/>
            <a:endParaRPr lang="zh-CN" dirty="0"/>
          </a:p>
          <a:p>
            <a:pPr/>
            <a:r>
              <a:rPr lang="zh-CN" dirty="0"/>
              <a:t>这些主张也有发展的过程。教材从人身自由等权利，讲到劳动、教育等社会生活条件，再讲民族和国家的发展等共同需要。我们在这里认识的是人权问题会随社会生活展开，不把这些历史阶段排成权利高低的顺序，也不另讲一套人权史。</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现在把话收回我国。教材有一段话值得停一下：我国政府和人民，是从自己的历史和国情出发的，把人权的普遍性，同中国历史、文化、现实里的特殊性结合起来，一步一步形成了有中国特色的社会主义人权观。</a:t>
            </a:r>
          </a:p>
          <a:p>
            <a:pPr/>
            <a:endParaRPr lang="zh-CN" dirty="0"/>
          </a:p>
          <a:p>
            <a:pPr/>
            <a:r>
              <a:rPr lang="zh-CN" dirty="0"/>
              <a:t>它的形成有几个可以看见的节点。一九九一年十一月，国务院新闻办公室发布了一份《中国的人权状况》白皮书；这是第一次用政府文件的形式，正面肯定人权这个概念，在中国社会主义政治发展中的地位。一九九七年九月，党的十五大报告第一次把“尊重和保障人权”写进去，作为执政党的明确工作目标。二〇〇四年修改宪法，“国家尊重和保障人权”写进宪法。</a:t>
            </a:r>
          </a:p>
          <a:p>
            <a:pPr/>
            <a:endParaRPr lang="zh-CN" dirty="0"/>
          </a:p>
          <a:p>
            <a:pPr/>
            <a:r>
              <a:rPr lang="zh-CN" dirty="0"/>
              <a:t>教材用从政治概念到法律概念的表述强调这一步的意义。放在这里的制度变化中理解，就是尊重和保障人权不只作为政策文件中的工作要求，还被明确规定为国家根本法的一项原则，对国家活动具有宪法上的约束力。这不是说人权在此前所有法律中都没有位置，更不是说二〇〇四年以前的人没有权利。</a:t>
            </a:r>
          </a:p>
          <a:p>
            <a:pPr/>
            <a:endParaRPr lang="zh-CN" dirty="0"/>
          </a:p>
          <a:p>
            <a:pPr/>
            <a:r>
              <a:rPr lang="zh-CN" dirty="0"/>
              <a:t>这里要提醒一句，避免一个常见误读：二〇〇四年宪法增写这一款，并不表示此前没有具体权利保障。现行宪法在它之前就写明了人身自由、人格尊严、住宅不受侵犯这些具体权利。新增这一款，是把一项一般要求明确写出来，不是从这一年开始才有权利保障。</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那么，一个人说“我有权利”，和他说“我希望别人对我好一点”，区别在哪里？</a:t>
            </a:r>
          </a:p>
          <a:p>
            <a:pPr/>
            <a:endParaRPr lang="zh-CN" dirty="0"/>
          </a:p>
          <a:p>
            <a:pPr/>
            <a:r>
              <a:rPr lang="zh-CN" dirty="0"/>
              <a:t>二、权利是什么：一种可以要求的资格</a:t>
            </a:r>
          </a:p>
          <a:p>
            <a:pPr/>
            <a:endParaRPr lang="zh-CN" dirty="0"/>
          </a:p>
          <a:p>
            <a:pPr/>
            <a:r>
              <a:rPr lang="zh-CN" dirty="0"/>
              <a:t>先把刚才的“人权”和现在要讲的“法律权利”接起来。谈人权，我们从人的尊严、生存和发展出发，说明人应当得到怎样的对待；谈法律关系中的权利，则要继续问：哪些要求已经得到法律规范确认，谁可以向谁要求什么。前者也可以成为推动完善法律的理由，不能因为某项正当要求尚未得到充分确认，就说它毫无意义。</a:t>
            </a:r>
          </a:p>
          <a:p>
            <a:pPr/>
            <a:endParaRPr lang="zh-CN" dirty="0"/>
          </a:p>
          <a:p>
            <a:pPr/>
            <a:r>
              <a:rPr lang="zh-CN" dirty="0"/>
              <a:t>教材在人权定义中使用“基本权利”，着重说的是人的根本需要和应有地位。接下来专门讨论的宪法基本权利，则着重看这些保障怎样被宪法确认。人权、法律权利、宪法基本权利有关联，但不是三个名称可以随意替换：宪法基本权利本身也是法律上的权利。</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教材给的定义是：在一定的法律关系当中，法律关系的主体一方，相对于另一方，可以要求对方作出某种作为、或者不作出某种作为；而这种要求又是被法律规范所认可的。这样的东西，就叫一种资格。</a:t>
            </a:r>
          </a:p>
          <a:p>
            <a:pPr/>
            <a:endParaRPr lang="zh-CN" dirty="0"/>
          </a:p>
          <a:p>
            <a:pPr/>
            <a:r>
              <a:rPr lang="zh-CN" dirty="0"/>
              <a:t>我们把这句拆成三层来看。</a:t>
            </a:r>
          </a:p>
          <a:p>
            <a:pPr/>
            <a:endParaRPr lang="zh-CN" dirty="0"/>
          </a:p>
          <a:p>
            <a:pPr/>
            <a:r>
              <a:rPr lang="zh-CN" dirty="0"/>
              <a:t>第一层，它讲的是权利与义务的对应关系。在特定法律关系中，一方依法有权要求，对方就要承担相应义务。教材用“对等”说明这种法律地位上的关系，不是说公民与机关拥有同一种职权，更不是说个人也可以对机关采取同样的强制措施。</a:t>
            </a:r>
          </a:p>
          <a:p>
            <a:pPr/>
            <a:endParaRPr lang="zh-CN" dirty="0"/>
          </a:p>
          <a:p>
            <a:pPr/>
            <a:r>
              <a:rPr lang="zh-CN" dirty="0"/>
              <a:t>请体会“另一方必须承担某种义务”这一句。我可以要求你把借去的书还回来，你就负有还书的义务。这不是我在许愿，也不是你出于好心。权利从来不是一个人的独白，它一定指向另一方的义务。反过来说，如果一项主张不指向任何人的义务，它可能是一种愿望、一种期待，但还不是这里讲的这种权利。</a:t>
            </a:r>
          </a:p>
          <a:p>
            <a:pPr/>
            <a:endParaRPr lang="zh-CN" dirty="0"/>
          </a:p>
          <a:p>
            <a:pPr/>
            <a:r>
              <a:rPr lang="zh-CN" dirty="0"/>
              <a:t>第二层讲的是，权利要由法律规范点头认可。任何一项权利，都得经过法律规范的确认，才说得上是正当的、有效的。</a:t>
            </a:r>
          </a:p>
          <a:p>
            <a:pPr/>
            <a:endParaRPr lang="zh-CN" dirty="0"/>
          </a:p>
          <a:p>
            <a:pPr/>
            <a:r>
              <a:rPr lang="zh-CN" dirty="0"/>
              <a:t>这一层回答的是“凭什么可以依法要求”。比如，我希望朋友送我一本书，与我要求他归还借走的书，不是同一种请求。后一种有相应法律关系作依据。前一种期待即使能够得到友好回应，也不能只凭“我很想要”，便认定对方负有赠书的法律义务。这没有否定正当诉求推动法律改善的价值，只是在辨认眼前已经成立的法律关系。</a:t>
            </a:r>
          </a:p>
          <a:p>
            <a:pPr/>
            <a:endParaRPr lang="zh-CN" dirty="0"/>
          </a:p>
          <a:p>
            <a:pPr/>
            <a:r>
              <a:rPr lang="zh-CN" dirty="0"/>
              <a:t>请把第一层和第二层连起来读：权利一面指向另一方的义务，一面又要有规范作依据。缺少任何一面，都不是完整的法律关系。</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第三层，权利是一种法律上的资格。它说的是，一方要求另一方作出或者不作出某种行为的可能性——注意，它只是一种资格，并不是那个行为本身。</a:t>
            </a:r>
          </a:p>
          <a:p>
            <a:pPr/>
            <a:endParaRPr lang="zh-CN" dirty="0"/>
          </a:p>
          <a:p>
            <a:pPr/>
            <a:r>
              <a:rPr lang="zh-CN" dirty="0"/>
              <a:t>“资格”和“结果”要分清。我享有要求你还书的权利，这是资格；你实际上有没有还，这是结果。一个人明明有权利，事情却没有办成，权利并没有因此不存在。为什么这一点重要？后面讲保障和救济时会用到——正因为权利是资格，当它落空时，才需要追问是谁让它落空的、还能不能补救。</a:t>
            </a:r>
          </a:p>
          <a:p>
            <a:pPr/>
            <a:endParaRPr lang="zh-CN" dirty="0"/>
          </a:p>
          <a:p>
            <a:pPr/>
            <a:r>
              <a:rPr lang="zh-CN" dirty="0"/>
              <a:t>还有一个问题不能绕过：权利要由法律确认，会不会变成国家想给就给、想收回就收回？并非如此。确认权利，与把权利当作恩赐，是两种理解。人的尊严和生存发展需要，并不因为某个机关不愿承认就消失；已经确认的权利，又成为机关必须遵守的规范要求。普通立法也受宪法约束，不能只因它由国家机关制定，就任意改掉更高层次的保障。</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教材引了《马克思恩格斯选集》里的一句话，我念一下：“权利决不能超出社会的经济结构以及由经济结构制约的社会的文化发展。”由这句话，教材提出：权利从产生到实现、再到发展，都要以一定社会的经济条件作基础；人们对权利概念的理解，也会随着时代不断深化，所以应当用发展的眼光看待权利。教材接着说：自从国家出现以后，人的生活和社会活动都和国家息息相关，既没有所谓“天赋权利”，也没有所谓“神赋权利”，权利的实现，最终还是要靠国家来保障。</a:t>
            </a:r>
          </a:p>
          <a:p>
            <a:pPr/>
            <a:endParaRPr lang="zh-CN" dirty="0"/>
          </a:p>
          <a:p>
            <a:pPr/>
            <a:r>
              <a:rPr lang="zh-CN" dirty="0"/>
              <a:t>我想请大家注意教材紧接着的那个判断，它把两个方向同时挡了回去。一个方向是：脱离现实提供的条件，提出过高的权利要求；另一个方向是：拿经济社会发展水平当借口，对权利不给充分的保障。教材说，这两种做法，都不利于社会发展。</a:t>
            </a:r>
          </a:p>
          <a:p>
            <a:pPr/>
            <a:endParaRPr lang="zh-CN" dirty="0"/>
          </a:p>
          <a:p>
            <a:pPr/>
            <a:r>
              <a:rPr lang="zh-CN" dirty="0"/>
              <a:t>这句话值得停一下。它没有只批评一边。一边是脱离现实条件的高要求，另一边是拿条件当挡箭牌。承认条件的存在，不等于可以把条件当成不予保障的理由。 原因就在于前面那句：权利的实现确实依赖国家，国家既然要保障，就不能一边说条件不够，一边不做事。这一点下节讲保障时还会用到。</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再看我国宪法怎么规定权利，用到的是规范层次的区别。</a:t>
            </a:r>
          </a:p>
          <a:p>
            <a:pPr/>
            <a:endParaRPr lang="zh-CN" dirty="0"/>
          </a:p>
          <a:p>
            <a:pPr/>
            <a:r>
              <a:rPr lang="zh-CN" dirty="0"/>
              <a:t>教材按“规定权利的法律性质不同”，把权利分成普通（法律）权利和基本权利。分法的根据，是普通法律和根本法的区别。普通法律规定的，是权利主体在具体法律关系里享有的权利，它反映的是主体的普通法律地位，所以通常叫普通权利，或者叫法律权利，比如民事关系里的物权、债权。宪法是国家的根本法，它规定的权利，涉及的是社会生活的基本方面，反映的是主体的宪法法律地位，所以通常叫基本权利，比如宗教信仰自由、人身自由，还有受教育权。</a:t>
            </a:r>
          </a:p>
          <a:p>
            <a:pPr/>
            <a:endParaRPr lang="zh-CN" dirty="0"/>
          </a:p>
          <a:p>
            <a:pPr/>
            <a:r>
              <a:rPr lang="zh-CN" dirty="0"/>
              <a:t>我们用教材自己的例子来体会这个区别。教材说，民法和宪法都规定了财产权，但两者说的不是一回事：民法上的财产权，指的是平等主体之间的财产权，也就是某个私主体对着另一个私主体享有的财产权利；宪法上的财产权，则是某个私主体对着公权力享有的财产权利。</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请把这两种关系摆在一起看。同样是钱、是房子，同一个人的同一笔财产，在两种关系里的位置不一样：</a:t>
            </a:r>
          </a:p>
          <a:p>
            <a:pPr/>
            <a:endParaRPr lang="zh-CN" dirty="0"/>
          </a:p>
          <a:p>
            <a:pPr/>
            <a:r>
              <a:rPr lang="zh-CN" dirty="0"/>
              <a:t>一种是平等主体之间的关系。你和房东谈租金、你和朋友借钱、你去买东西，这些关系里，双方的地位是对等的，受侵害时一般找民事法律，通过民事诉讼解决。</a:t>
            </a:r>
          </a:p>
          <a:p>
            <a:pPr/>
            <a:endParaRPr lang="zh-CN" dirty="0"/>
          </a:p>
          <a:p>
            <a:pPr/>
            <a:r>
              <a:rPr lang="zh-CN" dirty="0"/>
              <a:t>另一种是公权力活动中的关系。比如一次违法扣押，我要面对的是一个有职权、有强制力的机关。这两种关系里，我要处理的问题并不相同：前一种一般是双方之间谁对谁错；后一种首先要问的是，这个机关有没有依据、有没有权限、程序对不对。</a:t>
            </a:r>
          </a:p>
          <a:p>
            <a:pPr/>
            <a:endParaRPr lang="zh-CN" dirty="0"/>
          </a:p>
          <a:p>
            <a:pPr/>
            <a:r>
              <a:rPr lang="zh-CN" dirty="0"/>
              <a:t>这是本讲最重要的一个区分，所以我要说慢一点。规范层次的区分，不是给利益的轻重排序。 不是说财产在民事关系里就不重要，进了宪法就重要。一个人的全部积蓄可能都在一份合同里，它当然重要。区分的是：同一个利益在不同规范层次上，主张的对象、内容和实现方式不一样。</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请把它落成一次练习。假设同一个人的财产遇到了两种情形。甲：他把钱借给了朋友，朋友到期不还。乙：他经营的一家小店，被机关违法扣押了一批货物。两件事都影响了他的财产，请分别写出：他可以向谁提出要求，依据大概是哪一类规范。</a:t>
            </a:r>
          </a:p>
          <a:p>
            <a:pPr/>
            <a:endParaRPr lang="zh-CN" dirty="0"/>
          </a:p>
          <a:p>
            <a:pPr/>
            <a:r>
              <a:rPr lang="zh-CN" dirty="0"/>
              <a:t>【独立思考约一至两分钟：分别写出两件事中“可以要求谁”“依据哪一类规范”。教师此时暂停讲述。】</a:t>
            </a:r>
          </a:p>
          <a:p>
            <a:pPr/>
            <a:endParaRPr lang="zh-CN" dirty="0"/>
          </a:p>
          <a:p>
            <a:pPr/>
            <a:r>
              <a:rPr lang="zh-CN" dirty="0"/>
              <a:t>甲的对方是另一个普通人，依据借款等民事法律关系请求还款。乙的对方是行使职权的机关，除了宪法对财产权的保障，还要依据行政强制等普通法律检查机关的权限、条件和程序。普通法律也规范国家机关，并不是只管私人之间的事情。</a:t>
            </a:r>
          </a:p>
          <a:p>
            <a:pPr/>
            <a:endParaRPr lang="zh-CN" dirty="0"/>
          </a:p>
          <a:p>
            <a:pPr/>
            <a:r>
              <a:rPr lang="zh-CN" dirty="0"/>
              <a:t>所以这里要分开问两次：先问面对的是私人还是公权力，这是关系对象；再问使用的是宪法还是普通法律，这是规范层次。不能把两条线压成“私人用普通法、机关用宪法”。同样是财产受影响，一次问的是“他该不该还”，一次问的是“机关能不能这么做”；而两种关系都需要继续找到适用的具体法律。</a:t>
            </a:r>
          </a:p>
          <a:p>
            <a:pPr/>
            <a:endParaRPr lang="zh-CN" dirty="0"/>
          </a:p>
          <a:p>
            <a:pPr/>
            <a:r>
              <a:rPr lang="zh-CN" dirty="0"/>
              <a:t>说清这一点，就能避免两个常见的错。第一个错是：既然是宪法规定的权利，就比普通法律的权利“大”，于是直接拿宪法条文去裁判一个私人纠纷。第二个错是：既然具体纠纷一般由民法处理，宪法权利就显得空洞。两种错都来自把规范层次当成了价值高低。</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并读宪法第三十三条。这一条一共四款：第一款讲公民资格——“凡具有中华人民共和国国籍的人都是中华人民共和国公民”；第二款讲平等——“中华人民共和国公民在法律面前一律平等”；第三款讲国家的责任——“国家尊重和保障人权”；第四款讲权利和义务并存——“任何公民享有宪法和法律规定的权利，同时必须履行宪法和法律规定的义务”。</a:t>
            </a:r>
          </a:p>
          <a:p>
            <a:pPr/>
            <a:endParaRPr lang="zh-CN" dirty="0"/>
          </a:p>
          <a:p>
            <a:pPr/>
            <a:r>
              <a:rPr lang="zh-CN" dirty="0"/>
              <a:t>四款各说一件事：第一款讲公民资格，也就是谁是主体；第二款讲平等，是公民行使其他权利的基础，这一款和具体的平等权留到下一讲精读；第三款讲国家的责任，就是我们刚才讲的那句一般要求；第四款讲权利和义务的并存。四款放在一条里，但四者是四件事，不能读成四句意思相同的话。</a:t>
            </a:r>
          </a:p>
          <a:p>
            <a:pPr/>
            <a:endParaRPr lang="zh-CN" dirty="0"/>
          </a:p>
          <a:p>
            <a:pPr/>
            <a:r>
              <a:rPr lang="zh-CN" dirty="0"/>
              <a:t>到这里可以先收一句：权利是一种可以要求的资格，要有规范依据、指向另一方的义务；基本权利和普通法律权利是不同规范层次上的权利，不能互相替代。</a:t>
            </a:r>
          </a:p>
          <a:p>
            <a:pPr/>
            <a:endParaRPr lang="zh-CN" dirty="0"/>
          </a:p>
          <a:p>
            <a:pPr/>
            <a:r>
              <a:rPr lang="zh-CN" dirty="0"/>
              <a:t>那么，基本权利作为一类权利，它自身有什么特点？</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三、基本权利的特征和分类有什么用</a:t>
            </a:r>
          </a:p>
          <a:p>
            <a:pPr/>
            <a:endParaRPr lang="zh-CN" dirty="0"/>
          </a:p>
          <a:p>
            <a:pPr/>
            <a:r>
              <a:rPr lang="zh-CN" dirty="0"/>
              <a:t>教材把基本权利的特点联系在一起讲，其中有几组是对应的，我们要看清它们为什么不是互相取消。</a:t>
            </a:r>
          </a:p>
          <a:p>
            <a:pPr/>
            <a:endParaRPr lang="zh-CN" dirty="0"/>
          </a:p>
          <a:p>
            <a:pPr/>
            <a:r>
              <a:rPr lang="zh-CN" dirty="0"/>
              <a:t>第一组是固有性和宪法规定性。教材的说法是：基本权利，既是固有权利，也是法定权利。先说“固有”。从历史发展看，它是个人为了确保自身的生存和发展、为了维护自己作为人的尊严而享有的权利；它不是谁想出来的，而是在人类社会一步步往前走的过程中，慢慢形成、发展起来的。再说它怎么来的：它既不是造物主或者君主赏下来的，也不是国家和宪法发下来的，而是社会发展到一定历史阶段，人们通过各种各样的方式不断斗争得来的。再说“法定”。宪法要“确认”基本人权，靠的是用宪法规范把基本权利的内容表述出来、规定下来。教材的判断是：固有性和宪法规定性，这两面是相互统一的。</a:t>
            </a:r>
          </a:p>
          <a:p>
            <a:pPr/>
            <a:endParaRPr lang="zh-CN" dirty="0"/>
          </a:p>
          <a:p>
            <a:pPr/>
            <a:r>
              <a:rPr lang="zh-CN" dirty="0"/>
              <a:t>这里有一个容易打架的地方：既然是国家有权规定，那还能不能约束国家？教材的回答方向是：正因为不是国家赐予的，国家才无权随意收回；也正因为要通过宪法确认，这项要求才成为国家必须遵守的规范。两个说法一起成立，缺一个都不完整。</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组是不受侵犯和特定条件下受到限制。基本权利不受侵犯，是由它的固有性和宪法规定性决定的。我国宪法把对某些基本权利的保障表述为“……不受侵犯”，比如第三十七条规定“人身自由不受侵犯”，第三十八条规定“人格尊严不受侵犯”，第三十九条规定“住宅不受侵犯”。</a:t>
            </a:r>
          </a:p>
          <a:p>
            <a:pPr/>
            <a:endParaRPr lang="zh-CN" dirty="0"/>
          </a:p>
          <a:p>
            <a:pPr/>
            <a:r>
              <a:rPr lang="zh-CN" dirty="0"/>
              <a:t>但教材同时说，基本权利也不是绝对不受约束的；在特定条件下，它同样会受到一定程度的限制和制约。这种限制和制约，主要从两个方面表现出来。一个是宪法学意义上的，它内部又分内在限制和外在限制两种。另一个是法社会学意义上的：人们能在多大程度上享有基本权利、保障到什么状态，都不得不受多方面条件的制约——一个国家或民族的历史文化，它的地理环境、社会制度、经济水平，还有它的人权观念。</a:t>
            </a:r>
          </a:p>
          <a:p>
            <a:pPr/>
            <a:endParaRPr lang="zh-CN" dirty="0"/>
          </a:p>
          <a:p>
            <a:pPr/>
            <a:r>
              <a:rPr lang="zh-CN" dirty="0"/>
              <a:t>后一方面，正好接上我们前面那句双向的提醒。前面讲的是规范层面“不得侵犯”，这里讲的是现实层面“条件限制”。不是要求低了，而是要求要落在真实的社会条件上。 具体怎么限制、限制到哪里、谁有权限制，是下节的中心内容。</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组是普遍性和特殊性。既然基本权利是人本身所固有的，那么人们能不能享有这些权利，就不应该看他的性别、职业和家庭出身，也不应该看他的宗教信仰、教育程度和财产状况，更不应该看他属于哪个民族、哪个种族、哪一国籍。正是这种普遍性，推动人权保障出现了国际化的趋势——人权宣言、人权公约，都开始在国际层面通行。落到我国，具体表现有：宪法第三十二条规定，要保护外国人在中国境内的合法权利和利益；我国还先后签署了《经济、社会及文化权利国际公约》，以及《公民权利和政治权利国际公约》。</a:t>
            </a:r>
          </a:p>
          <a:p>
            <a:pPr/>
            <a:endParaRPr lang="zh-CN" dirty="0"/>
          </a:p>
          <a:p>
            <a:pPr/>
            <a:r>
              <a:rPr lang="zh-CN" dirty="0"/>
              <a:t>同时，人们能享有多少基本权利、保障到什么状态，还要受一个国家或民族的社会历史条件制约——这就决定了基本权利又带有一定的特殊性；而且，各国宪法和法律制度不同，具体的保障方式也不一样。</a:t>
            </a:r>
          </a:p>
          <a:p>
            <a:pPr/>
            <a:endParaRPr lang="zh-CN" dirty="0"/>
          </a:p>
          <a:p>
            <a:pPr/>
            <a:r>
              <a:rPr lang="zh-CN" dirty="0"/>
              <a:t>教材给这两个特点下了一个判断，我认为讲得好：普遍性和特殊性之间，并不存在不可调和的矛盾。通常来说，处在应然形态的基本权利，都带有一定的普遍性；而处在实然形态的基本权利，多半要受制于一个国家或民族的社会历史条件——这些条件都是具体的，于是表现出一定的特殊性。</a:t>
            </a:r>
          </a:p>
          <a:p>
            <a:pPr/>
            <a:endParaRPr lang="zh-CN" dirty="0"/>
          </a:p>
          <a:p>
            <a:pPr/>
            <a:r>
              <a:rPr lang="zh-CN" dirty="0"/>
              <a:t>“应然”和“实然”这一对词要分清：前者问应当怎样，后者问实际怎样。现实受到条件影响，不表示现状已经达到应有标准；发现两者有距离，正是继续改善保障的起点。</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再看分类。教材介绍了不少分类方法，我们只取它们的用途。</a:t>
            </a:r>
          </a:p>
          <a:p>
            <a:pPr/>
            <a:endParaRPr lang="zh-CN" dirty="0"/>
          </a:p>
          <a:p>
            <a:pPr/>
            <a:r>
              <a:rPr lang="zh-CN" dirty="0"/>
              <a:t>一种是按公民相对于国家的地位分：公民在国家中的消极地位，派生出自由权，也就是可以排除或免于国家干涉的消极权利，比如人身自由、精神自由、经济自由；积极地位派生出受益权，比如诉讼权、请愿权；能动地位派生出参政权，也就是选举权和被选举权等政治权利。此外还有被动地位，派生的是公民的义务——这一点在讲基本义务的下一讲会用到。</a:t>
            </a:r>
          </a:p>
          <a:p>
            <a:pPr/>
            <a:endParaRPr lang="zh-CN" dirty="0"/>
          </a:p>
          <a:p>
            <a:pPr/>
            <a:r>
              <a:rPr lang="zh-CN" dirty="0"/>
              <a:t>另一种是把基本权利分成消极权利和积极权利。教材也说明，前一种按地位分的办法，逻辑上虽然对称，却概括不了现代宪法新保障的那些权利，比如社会保障权、环境权。于是有了消极权利和积极权利这一对。消极权利，护的是个人不受公权力侵害的那片自由领域，要求公权力不作为；积极权利，指的是参与国家意志的形成，或者要求国家积极作为的权利。</a:t>
            </a:r>
          </a:p>
          <a:p>
            <a:pPr/>
            <a:endParaRPr lang="zh-CN" dirty="0"/>
          </a:p>
          <a:p>
            <a:pPr/>
            <a:r>
              <a:rPr lang="zh-CN" dirty="0"/>
              <a:t>这两种分类有一个共同的用法，也是要特别提醒的地方：它们帮我们辨认个人与国家之间的不同关系，不能读成“这类权利只要国家不做，那类权利只要国家去做”。 人身自由当然要求国家不随意干涉，但它同时要求国家建立制度、规定程序、在受到侵害时提供救济；“国家给予的自由”也并不是国家想给多少就给多少，它同样受法律约束。下节讲保障工作时，这一点会连起来。</a:t>
            </a:r>
          </a:p>
          <a:p>
            <a:pPr/>
            <a:endParaRPr lang="zh-CN" dirty="0"/>
          </a:p>
          <a:p>
            <a:pPr/>
            <a:r>
              <a:rPr lang="zh-CN" dirty="0"/>
              <a:t>教材还有按保护领域、具体保障制度作出的其他分类。分类是帮助理解和查找的工具，不是给权利排等级。下一讲会按平等、人身自由等不同保护对象展开，今天先掌握分类背后所问的关系，不把所有名称都背成一张表。</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四、基本权利的主体：谁可以主张</a:t>
            </a:r>
          </a:p>
          <a:p>
            <a:pPr/>
            <a:endParaRPr lang="zh-CN" dirty="0"/>
          </a:p>
          <a:p>
            <a:pPr/>
            <a:r>
              <a:rPr lang="zh-CN" dirty="0"/>
              <a:t>权利是主体可以主张的资格，那么谁可以成为主体？</a:t>
            </a:r>
          </a:p>
          <a:p>
            <a:pPr/>
            <a:endParaRPr lang="zh-CN" dirty="0"/>
          </a:p>
          <a:p>
            <a:pPr/>
            <a:r>
              <a:rPr lang="zh-CN" dirty="0"/>
              <a:t>教材按基本权利的性质与范围，把主体分成一般主体、特殊主体、特定主体这样三类。教材同时说明，这三类划分是学理上的组织方式，具体谁能享有哪一项权利，仍要回到相应条文去看。</a:t>
            </a:r>
          </a:p>
          <a:p>
            <a:pPr/>
            <a:endParaRPr lang="zh-CN" dirty="0"/>
          </a:p>
          <a:p>
            <a:pPr/>
            <a:r>
              <a:rPr lang="zh-CN" dirty="0"/>
              <a:t>先说一般主体。所谓一般主体，就是最具普遍性、能享有最广泛那一批基本权利的主体。在我国宪法里，公民就是基本权利的一般主体。</a:t>
            </a:r>
          </a:p>
          <a:p>
            <a:pPr/>
            <a:endParaRPr lang="zh-CN" dirty="0"/>
          </a:p>
          <a:p>
            <a:pPr/>
            <a:r>
              <a:rPr lang="zh-CN" dirty="0"/>
              <a:t>宪法第三十三条第一款规定：“凡具有中华人民共和国国籍的人都是中华人民共和国公民。”教材由此说明：判断公民资格，唯一的要件就是具有国籍。这不是一句可以略过的话——它告诉我们，判断一个人是不是公民，看的是国籍，不是职业、身份、地位、财产，也不是他做过什么。</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国籍是个人与国家之间的法律身份联系，取得与丧失由相应法律规定。教材介绍因出生、因加入等取得方式，并说明我国出生国籍规则以血统联系为主，同时考虑出生地等条件。原则帮助我们认识方向，不能替代具体条文。</a:t>
            </a:r>
          </a:p>
          <a:p>
            <a:pPr/>
            <a:endParaRPr lang="zh-CN" dirty="0"/>
          </a:p>
          <a:p>
            <a:pPr/>
            <a:r>
              <a:rPr lang="zh-CN" dirty="0"/>
              <a:t>国籍法第五条先规定，父母双方或一方为中国公民，本人出生在外国，具有中国国籍；但同时规定了父母定居外国、本人出生即具有外国国籍的例外。我们给一个明确落入例外的设定：父母双方都是中国公民，双方都已定居外国，孩子在外国出生且出生时就具有外国国籍。依这条规定，这个孩子不具有中国国籍。若只问父母是不是中国人，判断就会漏掉决定结果的条件。</a:t>
            </a:r>
          </a:p>
          <a:p>
            <a:pPr/>
            <a:endParaRPr lang="zh-CN" dirty="0"/>
          </a:p>
          <a:p>
            <a:pPr/>
            <a:r>
              <a:rPr lang="zh-CN" dirty="0"/>
              <a:t>这里不展开全部国籍规则。我们借这一项认识，宪法规定怎样确认公民，国籍法再规定取得国籍的具体条件；一个概括性的原则，不能代替对这些条件的核对。</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教材还指出我国宪法的一个传统特色：讲主权的归属主体和讲基本权利的享有主体，用的不是同一个词。新中国成立以前，各部宪法和宪法性文件里，基本权利的享有主体一般叫“人民”，主权的归属主体大多叫“国民全体”。新中国宪法把“国民”这个概念放下了，讲主权的归属主体改用“人民”，讲基本权利的享有主体则改用“公民”。</a:t>
            </a:r>
          </a:p>
          <a:p>
            <a:pPr/>
            <a:endParaRPr lang="zh-CN" dirty="0"/>
          </a:p>
          <a:p>
            <a:pPr/>
            <a:r>
              <a:rPr lang="zh-CN" dirty="0"/>
              <a:t>这两个词为什么不能混用？教材说得很清楚：今天讲的“公民”，外延更广，可以用它来指一个一个具体的人，是个法律概念；而“人民”是主权归属主体，讲的是整体，带有政治意义。</a:t>
            </a:r>
          </a:p>
          <a:p>
            <a:pPr/>
            <a:endParaRPr lang="zh-CN" dirty="0"/>
          </a:p>
          <a:p>
            <a:pPr/>
            <a:r>
              <a:rPr lang="zh-CN" dirty="0"/>
              <a:t>理解这一句可以这样想：说“一切权力属于人民”，讲的是国家权力的来源和整体归属，我们在第三讲讲政体时用过；说一个具体的人具有公民资格，则依据国籍确认法律身份。不能拿对某个人的好恶或一个政治标签，代替国籍与具体权利条件的法律判断。国家权力的整体归属，也不表示每个公民可以各自直接行使机关的职权。</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再看特殊主体。教材说，特殊主体是这样一类权利主体：它们的性质和地位比较特殊，只能享有其中一部分基本权利，而不是一般主体享有的全部权利都能享有。法人和外国人，就属于基本权利的特殊主体。</a:t>
            </a:r>
          </a:p>
          <a:p>
            <a:pPr/>
            <a:endParaRPr lang="zh-CN" dirty="0"/>
          </a:p>
          <a:p>
            <a:pPr/>
            <a:r>
              <a:rPr lang="zh-CN" dirty="0"/>
              <a:t>先说法人。人，作为自然人，当然是人权的主体；不过在民事法律关系里，公司这样的法人组织，同样可以成为权利和义务的主体。那么，法人能不能当宪法上的基本权利主体？这既要看法人自身的性质，也要看各项基本权利本身的特性。</a:t>
            </a:r>
          </a:p>
          <a:p>
            <a:pPr/>
            <a:endParaRPr lang="zh-CN" dirty="0"/>
          </a:p>
          <a:p>
            <a:pPr/>
            <a:r>
              <a:rPr lang="zh-CN" dirty="0"/>
              <a:t>教材举了比较法的例子：《德国基本法》第十九条第三款说，某项基本权利，只要按它的性质能适用于国内法人，法人也就可以享有。它不是给公司照搬一套自然人的全部权利：公司可以拥有财产，也有作为诉讼当事人依法表达意见的需要；但公司没有人的身体和生命，不能把保护人的生命简单套给公司。</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美国二〇一〇年的相关裁决，还能说明另一种容易混淆的关系。原判处理的是公司独立开展支持或反对候选人的政治表达所用经费，例如自己购买宣传，而不是把钱直接捐给候选人；后面这种直接捐款的禁令没有因此取消。教材对此概括较宽，实际理解要回到这个区别。能够参加某种政治表达，并不意味着公司因此取得了选民的一张选票。</a:t>
            </a:r>
          </a:p>
          <a:p>
            <a:pPr/>
            <a:endParaRPr lang="zh-CN" dirty="0"/>
          </a:p>
          <a:p>
            <a:pPr/>
            <a:r>
              <a:rPr lang="zh-CN" dirty="0"/>
              <a:t>这些是教材介绍的域外情况，它们说明的是同一个道理：能不能享有，要看权利自身的性质。 财产权关心的是财物归属，法人可以有财物；选举权关心的是一个人作为国家权力归属主体的一员来表态，这一性质决定了它只能由自然人享有。所以，法人是不是基本权利主体，不是一个“是”或“不是”的问题，而是一项一项看的。</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外国人。宪法第三十二条第一款规定：“中华人民共和国保护在中国境内的外国人的合法权利和利益……”教材在这里给了个判断，可以拆成两半听。前半句是原则：宪法关于基本权利的规定，原则上也适用于外国人。后半句是限制：适用到什么范围，要看各项基本权利的性质，不是一刀切。所以一般来说，像人身自由、人格尊严这类属于自由权的权利，外国人可以享有；而劳动权、社会保障权、受教育权这些社会经济权利，外国人就不能完全享有。</a:t>
            </a:r>
          </a:p>
          <a:p>
            <a:pPr/>
            <a:endParaRPr lang="zh-CN" dirty="0"/>
          </a:p>
          <a:p>
            <a:pPr/>
            <a:r>
              <a:rPr lang="zh-CN" dirty="0"/>
              <a:t>请对照两条文字体会这个差别。第三十三条第一款说的是“凡具有中华人民共和国国籍的人”，第三十二条第一款说的是“在中国境内的外国人”——两条的主体范围不一样，保护的内容写法也不一样。所以教材那句判断有两半：原则上适用，但适用范围要看权利的性质。人身自由这类权利，保护的是一个人本身不受任意侵害，不问他持哪国护照；社会经济权利与国家成员的身份、与国家资源的分配安排关系更紧，就可能有差别。教材还提到，让外国人享有相应的基本权利，不光有利于我国的改革开放事业，也顺应了人权国际保障的趋势。</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是特定主体。教材说，特定主体其实是前面两类主体转化来的：他本来作为一般主体或者特殊主体，该享有的基本权利一样享有；此外，又因为自己特别的身份或者处境，另外还享有某些特定的基本权利。这样的一类主体，就叫特定主体。</a:t>
            </a:r>
          </a:p>
          <a:p>
            <a:pPr/>
            <a:endParaRPr lang="zh-CN" dirty="0"/>
          </a:p>
          <a:p>
            <a:pPr/>
            <a:r>
              <a:rPr lang="zh-CN" dirty="0"/>
              <a:t>妇女、老人、儿童，是我国宪法规定的基本权利特定主体。宪法第四十八条第一款规定，妇女在政治的、经济的、文化的、社会的和家庭的生活等各方面享有同男子平等的权利；第四十九条第一款，把婚姻、家庭、母亲和儿童纳入国家的保护；第四十九条第四款，则明确禁止破坏婚姻自由，禁止虐待老人、妇女和儿童。教材就是根据这几条说明：妇女、老人、儿童都可以看作基本权利的特定主体。此外，根据宪法第四十五条、第五十条，残疾人、华侨，同样也是宪法上确定下来的基本权利特定主体。教材还提到，宪法第三十二条第二款规定，对于因政治原因要求避难的外国人，可以给予受庇护的权利；当外国人作为享有受庇护权的主体出现时，学理上也可以把它看作特定主体。</a:t>
            </a:r>
          </a:p>
          <a:p>
            <a:pPr/>
            <a:endParaRPr lang="zh-CN" dirty="0"/>
          </a:p>
          <a:p>
            <a:pPr/>
            <a:r>
              <a:rPr lang="zh-CN" dirty="0"/>
              <a:t>请注意“基于其特别的身份或处境”这句。“特定主体”不是把人分出高下，而是因为某类人的特定身份或者特定处境，需要有针对性的保护。教材把这三种主体都称为学理上的组织方式，具体每一项还要回条文。</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是公民”和“已经符合某项权利的享有条件”，也要分清。宪法第三十四条规定年满十八周岁的中国公民有选举权和被选举权，同时规定依法被剥夺政治权利者的例外。一个十七岁的中国公民，尚未达到这项权利的年龄条件，不是已经享有、只等领票；这不否认他的公民资格，也不取消他依法享有的其他权利。一个三十岁的公民达到年龄条件，具体判断仍要看条文规定的其他条件。完整选举资格留下一讲，今天先把两种资格分开。</a:t>
            </a:r>
          </a:p>
          <a:p>
            <a:pPr/>
            <a:endParaRPr lang="zh-CN" dirty="0"/>
          </a:p>
          <a:p>
            <a:pPr/>
            <a:r>
              <a:rPr lang="zh-CN" dirty="0"/>
              <a:t>上节我们讲了：权利是一种可以要求的资格；基本权利和普通法律权利处在不同规范层次；基本权利有主体，而主体要一项一项看。</a:t>
            </a:r>
          </a:p>
          <a:p>
            <a:pPr/>
            <a:endParaRPr lang="zh-CN" dirty="0"/>
          </a:p>
          <a:p>
            <a:pPr/>
            <a:r>
              <a:rPr lang="zh-CN" dirty="0"/>
              <a:t>那么接下来要问的就是：这些权利约束谁？国家应当为它做哪些工作？限制一项权利又凭什么？</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下节｜效力、保障与限制理由</a:t>
            </a:r>
          </a:p>
          <a:p>
            <a:pPr/>
            <a:endParaRPr lang="zh-CN" dirty="0"/>
          </a:p>
          <a:p>
            <a:pPr/>
            <a:r>
              <a:rPr lang="zh-CN" dirty="0"/>
              <a:t>五、基本权利的效力：约束谁</a:t>
            </a:r>
          </a:p>
          <a:p>
            <a:pPr/>
            <a:endParaRPr lang="zh-CN" dirty="0"/>
          </a:p>
          <a:p>
            <a:pPr/>
            <a:r>
              <a:rPr lang="zh-CN" dirty="0"/>
              <a:t>上节最后留下一个问题：这些权利约束谁？</a:t>
            </a:r>
          </a:p>
          <a:p>
            <a:pPr/>
            <a:endParaRPr lang="zh-CN" dirty="0"/>
          </a:p>
          <a:p>
            <a:pPr/>
            <a:r>
              <a:rPr lang="zh-CN" dirty="0"/>
              <a:t>先把这个词说清楚。教材说，基本权利的效力，讲的是基本权利规范在法律上拘束谁、拘束多大范围。这句话限定得很紧，教材接着把三种容易混的“效力”分开：</a:t>
            </a:r>
          </a:p>
          <a:p>
            <a:pPr/>
            <a:endParaRPr lang="zh-CN" dirty="0"/>
          </a:p>
          <a:p>
            <a:pPr/>
            <a:r>
              <a:rPr lang="zh-CN" dirty="0"/>
              <a:t>道德效力，着重看规范在伦理上是否具有正当性；实际效力，也叫实效性，看规范在现实中有没有被遵行；法律效力，则问它是否具有法律上的约束力。教材从上位规范的授权或依据解释法律规范的效力，我们还要接回第一讲：基本权利条款本身是宪法的一部分，不是等普通法律批准以后才有约束力。</a:t>
            </a:r>
          </a:p>
          <a:p>
            <a:pPr/>
            <a:endParaRPr lang="zh-CN" dirty="0"/>
          </a:p>
          <a:p>
            <a:pPr/>
            <a:r>
              <a:rPr lang="zh-CN" dirty="0"/>
              <a:t>教材明确说：基本权利的效力既不是道德效力，也不是实际效力，而是法律效力。</a:t>
            </a:r>
          </a:p>
          <a:p>
            <a:pPr/>
            <a:endParaRPr lang="zh-CN" dirty="0"/>
          </a:p>
          <a:p>
            <a:pPr/>
            <a:r>
              <a:rPr lang="zh-CN" dirty="0"/>
              <a:t>我们把三者放在一句话里比较。关于住宅不受非法搜查的保障，可以分别问：它为什么值得维护，相关宪法和法律要求是否具有约束力，实际办事时有没有遵守。前两个问题不能靠“大家平时都这么做”代替，后一个问题也不能只看纸上已经写得很清楚。</a:t>
            </a:r>
          </a:p>
          <a:p>
            <a:pPr/>
            <a:endParaRPr lang="zh-CN" dirty="0"/>
          </a:p>
          <a:p>
            <a:pPr/>
            <a:r>
              <a:rPr lang="zh-CN" dirty="0"/>
              <a:t>这三件事可以不一致。一项法律上有拘束力的规定，现实中可能没有被完全执行；一个被普遍遵守的做法，也可能缺少法律依据。“道理上正当”“法律上有拘束力”“实际上做到了”，是三种不同判断。 分清它们，才不会以尚未落实否认权利，也不会以事情已经发生就证明它有依据。</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那么基本权利的法律效力，主要及于谁？</a:t>
            </a:r>
          </a:p>
          <a:p>
            <a:pPr/>
            <a:endParaRPr lang="zh-CN" dirty="0"/>
          </a:p>
          <a:p>
            <a:pPr/>
            <a:r>
              <a:rPr lang="zh-CN" dirty="0"/>
              <a:t>教材从近代宪法产生的背景和立宪主义的精神说起：基本权利规范，本来就是用来调整个人与国家、个人与公共权力之间关系的。这就决定了，基本权利的效力主要落在国家和公共权力这一边，私人关系、私法领域，不在它的射程之内。</a:t>
            </a:r>
          </a:p>
          <a:p>
            <a:pPr/>
            <a:endParaRPr lang="zh-CN" dirty="0"/>
          </a:p>
          <a:p>
            <a:pPr/>
            <a:r>
              <a:rPr lang="zh-CN" dirty="0"/>
              <a:t>为什么主要约束公权力？国家能够制定对人有约束力的规则，依法作出行政决定，并在特定条件下使用强制力量。个人不能因为不愿意就一概退出这种关系。因此，宪法要在根本层次限制权力、保护个人，而具体机关能做什么，仍须有相应权限和条件。</a:t>
            </a:r>
          </a:p>
          <a:p>
            <a:pPr/>
            <a:endParaRPr lang="zh-CN" dirty="0"/>
          </a:p>
          <a:p>
            <a:pPr/>
            <a:r>
              <a:rPr lang="zh-CN" dirty="0"/>
              <a:t>私人也可能伤害别人，这不等于他取得了国家强制权。遇到私人侵害，先找民法等适用规则；涉及机关的措施，也要找具体行政法律，不能只报一个宪法原则。另一方面，国家通过立法、保护和司法处理私人侵害，也在承担保障人的任务。私人关系与公权力关系需要区分，不等于私人受到侵害从此与宪法保障毫无联系。</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不过，教材接着讲了一件现代发生的事，这件事值得认真对待，不能只用一句“很复杂”带过。</a:t>
            </a:r>
          </a:p>
          <a:p>
            <a:pPr/>
            <a:endParaRPr lang="zh-CN" dirty="0"/>
          </a:p>
          <a:p>
            <a:pPr/>
            <a:r>
              <a:rPr lang="zh-CN" dirty="0"/>
              <a:t>教材讨论基本权利在私人关系中的效力，也叫第三人效力。争论不只在于“有没有影响”，还在于通过什么方式影响。我们先看它想回应的实际困难，再看一种具体的处理办法。</a:t>
            </a:r>
          </a:p>
          <a:p>
            <a:pPr/>
            <a:endParaRPr lang="zh-CN" dirty="0"/>
          </a:p>
          <a:p>
            <a:pPr/>
            <a:r>
              <a:rPr lang="zh-CN" dirty="0"/>
              <a:t>读到这里，问题已经很清楚了：为什么会产生“对私人也有效力”的主张？教材给的答案不在理论爱好上，而在现实中——社会发展变迁，让大公司这类私人组织出现了“再社会化”的现象，它们对个人的基本权利形成了潜在的侵犯。这些组织，法律性质上虽然是私人，内部却实实在在地握着某种公共权力。教材的判断是：如果一切照私法自治办，势单力薄的个人，基本权利就保不住，挡不住强大的私人组织。</a:t>
            </a:r>
          </a:p>
          <a:p>
            <a:pPr/>
            <a:endParaRPr lang="zh-CN" dirty="0"/>
          </a:p>
          <a:p>
            <a:pPr/>
            <a:r>
              <a:rPr lang="zh-CN" dirty="0"/>
              <a:t>这个理由要讲实。我们设想一个依靠工作维持生活的人，公司的规则和岗位安排会影响他的收入、休息及谋生机会，他改变这些规则的余地可能很小，离开的代价又很大。教材借“内部实质上存在某些公共权力”强调这种事实上的支配力量，不是说公司因此在法律上变成国家机关。有了这种实际不对称，仅凭双方名义上自愿，就未必足以说明选择真正自由。</a:t>
            </a:r>
          </a:p>
          <a:p>
            <a:pPr/>
            <a:endParaRPr lang="zh-CN" dirty="0"/>
          </a:p>
          <a:p>
            <a:pPr/>
            <a:r>
              <a:rPr lang="zh-CN" dirty="0"/>
              <a:t>但教材没有只讲这一面。它紧接着给出了另一面的理由：如果把这些基本权利规范对私法领域的效力全盘承认，让它的调整范围无限扩大，让国家公权力无限制地伸进私人领域，那么“个人与国家二元对峙”的结构就可能被相对化。教材的判断是：这样既背离了近代以来立宪主义的根本精神，也会把宪法与普通法律之间的界限弄模糊。</a:t>
            </a:r>
          </a:p>
          <a:p>
            <a:pPr/>
            <a:endParaRPr lang="zh-CN" dirty="0"/>
          </a:p>
          <a:p>
            <a:pPr/>
            <a:r>
              <a:rPr lang="zh-CN" dirty="0"/>
              <a:t>这一面同样有具体对象。私人在法律范围内选择同谁合作、怎样安排财产，本身也包含值得保护的自由。如果一方只须提出一个宽泛的宪法主张，法院就能越过普通法律直接替双方重定一切条件，另一方的自主选择也可能被压缩。问题不是要不要保护弱者，而是凭什么规则、在何种范围内保护，同时怎样对待另一方的权利。</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直接效力与间接效力的区别，就在这里有了意义。前一种主张，在相应条件下直接以基本权利规范判断私人之间的权利义务；后一种则让基本权利通过普通法律的解释发生影响，案件仍按相应普通法律处理。不能只说“放射”或“间接”，却不解释中间经过了什么。</a:t>
            </a:r>
          </a:p>
          <a:p>
            <a:pPr/>
            <a:endParaRPr lang="zh-CN" dirty="0"/>
          </a:p>
          <a:p>
            <a:pPr/>
            <a:r>
              <a:rPr lang="zh-CN" dirty="0"/>
              <a:t>教材提到的德国吕特案，可以把后一种办法讲具体。一九五〇年，德国一位名叫吕特的公共事务工作者，反对一名曾拍摄纳粹反犹电影的导演重新成为德国电影的代表人物。他没有发布禁止放映的行政命令，而是公开号召发行方和观众抵制该导演的新片。电影公司认为，这样会损害影片销售，向法院寻求保护。</a:t>
            </a:r>
          </a:p>
          <a:p>
            <a:pPr/>
            <a:endParaRPr lang="zh-CN" dirty="0"/>
          </a:p>
          <a:p>
            <a:pPr/>
            <a:r>
              <a:rPr lang="zh-CN" dirty="0"/>
              <a:t>汉堡的民事法院支持公司，禁止吕特继续作出抵制号召。它依据的是民法关于故意以违反善良风俗的方式损害他人的规则。吕特则认为，这份判决侵犯了他的言论自由，向联邦宪法法院提出申诉。私人之间的争议经过裁判，已经有了国家司法权的参与。</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一九五八年，联邦宪法法院撤销该判决并发回重审。它没有简单说宪法重要，所以民法可以丢掉；而是要求民事法院解释和适用这项民法规则时，认真考虑言论自由的意义，以及与对方利益的关系。争议仍是民事争议，普通法律没有退出，但法院不能把基本权利的影响完全挡在门外。这就展示了“经由普通法律的解释发生影响”是什么意思。</a:t>
            </a:r>
          </a:p>
          <a:p>
            <a:pPr/>
            <a:endParaRPr lang="zh-CN" dirty="0"/>
          </a:p>
          <a:p>
            <a:pPr/>
            <a:r>
              <a:rPr lang="zh-CN" dirty="0"/>
              <a:t>这个结果也不意味着只要喊言论自由，任何抵制或损害都合法。原判要求结合具体情形衡量相互冲突的利益。我们借它认识一种处理路径，不把德国的申诉制度或结论直接搬来处理我国案件。</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国教材提到的齐玉苓案，也须把材料说准确。二〇〇一年的相关批复，将以侵犯姓名权的手段侵害宪法规定的受教育基本权利、造成具体损害，同承担民事责任联系起来。这才是它为什么触及私人关系与宪法保障的问题，而不是仅因案件令人同情就引出宪法。</a:t>
            </a:r>
          </a:p>
          <a:p>
            <a:pPr/>
            <a:endParaRPr lang="zh-CN" dirty="0"/>
          </a:p>
          <a:p>
            <a:pPr/>
            <a:r>
              <a:rPr lang="zh-CN" dirty="0"/>
              <a:t>这个批复已在二〇〇八年被最高人民法院废止，不能作为今天的裁判依据。废止决定同时说明，过去依据所列司法解释作出的判决、裁定仍然有效，所以也不能由废止批复直接推成当年的裁判一并失效。它保留了理解当时讨论的历史价值，却不能据此宣布我国今天已经形成某一种统一的私人效力模式。</a:t>
            </a:r>
          </a:p>
          <a:p>
            <a:pPr/>
            <a:endParaRPr lang="zh-CN" dirty="0"/>
          </a:p>
          <a:p>
            <a:pPr/>
            <a:r>
              <a:rPr lang="zh-CN" dirty="0"/>
              <a:t>那么我国的具体争议怎么办？教材的方向是清楚的：基本权利主要约束公权力，私人之间的问题先看普通法律怎么规定、有没有相应救济；宪法价值怎样影响普通法律的解释，需要有制度依据和学理说明。至于我国是不是已经形成某种统一的效力模式，教材并没有给出这样一句结论，我们也不替它下结论。</a:t>
            </a:r>
          </a:p>
          <a:p>
            <a:pPr/>
            <a:endParaRPr lang="zh-CN" dirty="0"/>
          </a:p>
          <a:p>
            <a:pPr/>
            <a:r>
              <a:rPr lang="zh-CN" dirty="0"/>
              <a:t>所以，这一节要带走的是两个分开的问题：“谁享有这项权利”，和“这项权利约束谁、怎样发生作用”。 私人之间的问题先找普通法律关系和救济途径，不能因此说宪法价值毫无影响；国家机关履职则直接受宪法约束，同时必须依具体法律办事。外国理论和判例帮助看清问题，不能代替我国实际的规范与制度依据。</a:t>
            </a:r>
          </a:p>
          <a:p>
            <a:pPr/>
            <a:endParaRPr lang="zh-CN" dirty="0"/>
          </a:p>
          <a:p>
            <a:pPr/>
            <a:r>
              <a:rPr lang="zh-CN" dirty="0"/>
              <a:t>基本权利主要约束公权力。那么国家是不是只要“不做”，就算尽到责任了？</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六、国家为权利做哪几件事</a:t>
            </a:r>
          </a:p>
          <a:p>
            <a:pPr/>
            <a:endParaRPr lang="zh-CN" dirty="0"/>
          </a:p>
          <a:p>
            <a:pPr/>
            <a:r>
              <a:rPr lang="zh-CN" dirty="0"/>
              <a:t>不是。教材把基本权利的保障分成三种含义。</a:t>
            </a:r>
          </a:p>
          <a:p>
            <a:pPr/>
            <a:endParaRPr lang="zh-CN" dirty="0"/>
          </a:p>
          <a:p>
            <a:pPr/>
            <a:r>
              <a:rPr lang="zh-CN" dirty="0"/>
              <a:t>第一，公权力对公民的某些基本权利，主要是各种自由权，要充分认同、充分尊重，不得肆意侵害。第二，公权力不光不加侵害，还应当尽量让公民的某些基本权利，主要是社会权，真正得到实现。教材说，这两条只是公权力对公民基本权利最起码的职责，《宪法》第三十三条第三款讲的“国家尊重和保障人权”，说的就是这个意思。第三，公民的基本权利一旦受到侵害，特别是被公权力侵害，要能得到切实有效的救济——也就是国家有责任提供一套有效的救济机制。</a:t>
            </a:r>
          </a:p>
          <a:p>
            <a:pPr/>
            <a:endParaRPr lang="zh-CN" dirty="0"/>
          </a:p>
          <a:p>
            <a:pPr/>
            <a:r>
              <a:rPr lang="zh-CN" dirty="0"/>
              <a:t>三种含义，对应三件不同的工作。第一是不侵害：机关不能违法限制人身自由或扣押财物。第二是提供实现条件：一个孩子要上学，不只是要求机关不要拦他，还需要学校、教师和相应制度；这些工作应在权利受到侵害以前就持续进行。第四讲从国家任务一侧讲过，现在看见它们同个人权利的关系。</a:t>
            </a:r>
          </a:p>
          <a:p>
            <a:pPr/>
            <a:endParaRPr lang="zh-CN" dirty="0"/>
          </a:p>
          <a:p>
            <a:pPr/>
            <a:r>
              <a:rPr lang="zh-CN" dirty="0"/>
              <a:t>第三是纠正侵害。回到第一讲已经设定的违法行政拘留及损害，在赔偿条件成立时，需要受理、审查、争议处理和实际履行，让受害人能够获得依法应得的赔偿。救济本身也需要人员、经费和程序，但不能因此把建设学校和赔偿既有损害都说成同一项任务。</a:t>
            </a:r>
          </a:p>
          <a:p>
            <a:pPr/>
            <a:endParaRPr lang="zh-CN" dirty="0"/>
          </a:p>
          <a:p>
            <a:pPr/>
            <a:r>
              <a:rPr lang="zh-CN" dirty="0"/>
              <a:t>这三类工作也会相互连接。保护自由，往往需要建立程序和救济，不是国家什么都不做就够了；国家本来负有保护职责时，袖手旁观也可能使人的权利得不到保障。我们是在分清每一项工作增加什么，不是把每一种权利永远只放进一个格子。</a:t>
            </a:r>
          </a:p>
          <a:p>
            <a:pPr/>
            <a:endParaRPr lang="zh-CN" dirty="0"/>
          </a:p>
          <a:p>
            <a:pPr/>
            <a:r>
              <a:rPr lang="zh-CN" dirty="0"/>
              <a:t>这就把上节那句话落到了实处。权利的实现依赖国家，而国家的保障包括积极的工作。所以，“国家不干涉”这种说法本身是不够的；要看是哪一项权利，需要国家做哪一件事。</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教材接着讲三种保障方式，这同刚才三种工作不是一一对应的分类。刚才问国家要做什么，现在问宪法与普通法律怎样安排保障和限制的关系。</a:t>
            </a:r>
          </a:p>
          <a:p>
            <a:pPr/>
            <a:endParaRPr lang="zh-CN" dirty="0"/>
          </a:p>
          <a:p>
            <a:pPr/>
            <a:r>
              <a:rPr lang="zh-CN" dirty="0"/>
              <a:t>绝对保障方式强调，其他法规范不能任意限制宪法所保障的权利或另设例外，通常由有实效的合宪性审查来排除越过界限的规定。“绝对”在这里是教材的类型名称，不意味着任何权利行使都毫无边界。相对保障方式则允许法律在宪法确定的范围内规定权利的具体内容、保障方法或限制条件。比如“其内容由法律规定”，就把一项具体安排交给立法，而不是让行政机关临时决定。</a:t>
            </a:r>
          </a:p>
          <a:p>
            <a:pPr/>
            <a:endParaRPr lang="zh-CN" dirty="0"/>
          </a:p>
          <a:p>
            <a:pPr/>
            <a:r>
              <a:rPr lang="zh-CN" dirty="0"/>
              <a:t>折中型保障方式将两方面结合：既有合宪性审查，又保留一定范围的法律具体安排。教材用德国说明这种结合。三种类型的用处，在于提醒我们继续问谁来规定、谁来保障、限制又怎样受约束，不是给各国贴好名称就结束。</a:t>
            </a:r>
          </a:p>
          <a:p>
            <a:pPr/>
            <a:endParaRPr lang="zh-CN" dirty="0"/>
          </a:p>
          <a:p>
            <a:pPr/>
            <a:r>
              <a:rPr lang="zh-CN" dirty="0"/>
              <a:t>教材将我国概括为“类似于相对保障方式”，着重说明普通法律对基本权利具体内容的界定和保障作用；同时也交代全国人大及其常委会监督宪法实施、全国人大常委会解释宪法的职责。这里没有说普通法律因此高于宪法，也没有把我国全部保障机制缩成一种名称。完整监督制度在第八讲展开，本讲先看这项概括究竟说明了什么。</a:t>
            </a:r>
          </a:p>
          <a:p>
            <a:pPr/>
            <a:endParaRPr lang="zh-CN" dirty="0"/>
          </a:p>
          <a:p>
            <a:pPr/>
            <a:r>
              <a:rPr lang="zh-CN" dirty="0"/>
              <a:t>这里有一个必须挡回去的推论：既然基本权利的具体内容和保障方式由法律规定，既然法律可以对基本权利加以限制，那是不是立法机关想怎么规定都可以？</a:t>
            </a:r>
          </a:p>
          <a:p>
            <a:pPr/>
            <a:endParaRPr lang="zh-CN" dirty="0"/>
          </a:p>
          <a:p>
            <a:pPr/>
            <a:r>
              <a:rPr lang="zh-CN" dirty="0"/>
              <a:t>不能这样推。教材在这一节末尾和下一节接着讲的，正是限制本身也要受约束。而且从道理上也能看出来：如果法律可以不受宪法约束地决定基本权利的内容，那么宪法规定基本权利就没有意义了。通过普通法律具体化或者限制基本权利，不意味着立法可以不受宪法约束。 自由的保障也可能需要制度工作，社会权的落实也有不得任意排除的要求。</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七、限制一项权利，凭什么</a:t>
            </a:r>
          </a:p>
          <a:p>
            <a:pPr/>
            <a:endParaRPr lang="zh-CN" dirty="0"/>
          </a:p>
          <a:p>
            <a:pPr/>
            <a:r>
              <a:rPr lang="zh-CN" dirty="0"/>
              <a:t>现在进入本讲的重点：限制。</a:t>
            </a:r>
          </a:p>
          <a:p>
            <a:pPr/>
            <a:endParaRPr lang="zh-CN" dirty="0"/>
          </a:p>
          <a:p>
            <a:pPr/>
            <a:r>
              <a:rPr lang="zh-CN" dirty="0"/>
              <a:t>教材先说明一个前提：一般来说，基本权利是受宪法保障的；但在特定条件下，为了保障公共利益，或者为了保障他人的基本权利，也可以对基本权利作出一定的限制。教材同时指出，限制和界限这两件事是内在联系着的——基本权利虽然受宪法保障，但并不意味着它绝对不受任何限制。为什么？因为个人在行使基本权利的时候，既可能侵犯别人的权利和自由，也可能损害公共利益。</a:t>
            </a:r>
          </a:p>
          <a:p>
            <a:pPr/>
            <a:endParaRPr lang="zh-CN" dirty="0"/>
          </a:p>
          <a:p>
            <a:pPr/>
            <a:r>
              <a:rPr lang="zh-CN" dirty="0"/>
              <a:t>我国宪法第五十一条规定，公民“在行使自由和权利的时候”，有一条边界——“不得损害国家的、社会的、集体的利益和其他公民的合法的自由和权利”。教材把这一条称为基本权利限制在规范上的表现，也是它的宪法依据。</a:t>
            </a:r>
          </a:p>
          <a:p>
            <a:pPr/>
            <a:endParaRPr lang="zh-CN" dirty="0"/>
          </a:p>
          <a:p>
            <a:pPr/>
            <a:r>
              <a:rPr lang="zh-CN" dirty="0"/>
              <a:t>第五十一条这句话很短，但它的写法值得看。它没有说“国家可以限制权利”，也没有列出可以限制的清单；它说的是公民行使权利的时候不得损害什么。它给出的是一条边界，而不是一份授权书。 这个区别后面会越来越重要。</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教材把基本权利的限制分为两种类型。</a:t>
            </a:r>
          </a:p>
          <a:p>
            <a:pPr/>
            <a:endParaRPr lang="zh-CN" dirty="0"/>
          </a:p>
          <a:p>
            <a:pPr/>
            <a:r>
              <a:rPr lang="zh-CN" dirty="0"/>
              <a:t>一种是内在限制，说的是限制就长在基本权利自己身上——它由这项权利自身的性质带出来，不用别人从外面加。教材是这样解释的：一个人主张和行使自己的权利，只要伴随了某种法律意义上的行为，就可能同别的主体、同别的权利撞上；一项权利，它的性质本身就决定了它不能去侵害别的权利、别的主体的权利——这一层，就构成内在限制。教材举了个例子：一个人行使言论自由，不能侵犯到别人的隐私权、人格尊严，这就是言论自由这项权利因自身性质而带有的内在界限。</a:t>
            </a:r>
          </a:p>
          <a:p>
            <a:pPr/>
            <a:endParaRPr lang="zh-CN" dirty="0"/>
          </a:p>
          <a:p>
            <a:pPr/>
            <a:r>
              <a:rPr lang="zh-CN" dirty="0"/>
              <a:t>这个例子可以再往具体处想一点。你说话，这件事本身不需要谁批准；但你说话的内容如果损害了别人的人格尊严，那么受影响的这一面就会出现。内在限制不是在权利之外另外加上一段，它来自权利与权利之间本来就会相遇这个事实。</a:t>
            </a:r>
          </a:p>
          <a:p>
            <a:pPr/>
            <a:endParaRPr lang="zh-CN" dirty="0"/>
          </a:p>
          <a:p>
            <a:pPr/>
            <a:r>
              <a:rPr lang="zh-CN" dirty="0"/>
              <a:t>另一种是外在限制，说的是限制从外面来，加在基本权利上；而且这种外加的限制，是宪法自己的价值目标所允许的。教材说明，它主要指现代宪法按公共利益原则给自由权加的限制，所以又叫“（公共）政策上的制约”。教材举了财产权的例子：现代宪法大多明文写着，国家为了公共利益的需要，可以对它作适当的限制。</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再看限制的主体，这一部分对你们将来的工作特别实际。</a:t>
            </a:r>
          </a:p>
          <a:p>
            <a:pPr/>
            <a:endParaRPr lang="zh-CN" dirty="0"/>
          </a:p>
          <a:p>
            <a:pPr/>
            <a:r>
              <a:rPr lang="zh-CN" dirty="0"/>
              <a:t>教材强调限制须有特定主体和法律依据，不能因为某个机关承担管理任务，就让它自行创造限制权利的权力。这里要分开两件事：谁能规定一种限制措施，谁能在具体事情中实施。立法规定可以采取什么措施，不等于每个工作人员都可以直接实施；实施机关有工作任务，也不等于可以自己增加措施种类。</a:t>
            </a:r>
          </a:p>
          <a:p>
            <a:pPr/>
            <a:endParaRPr lang="zh-CN" dirty="0"/>
          </a:p>
          <a:p>
            <a:pPr/>
            <a:r>
              <a:rPr lang="zh-CN" dirty="0"/>
              <a:t>我国现行法律对不同措施规定的层级并不一样。限制人身自由的强制措施，属于只能由法律规定的事项，不能授权国务院先制定行政法规。行政强制法对一些财物措施则保留了行政法规、地方性法规在严格条件下设定的空间。到具体执法时，还须按相应规定确认实施机关、职权和程序，不能只说一句“这里有法律依据”就算核完。</a:t>
            </a:r>
          </a:p>
          <a:p>
            <a:pPr/>
            <a:endParaRPr lang="zh-CN" dirty="0"/>
          </a:p>
          <a:p>
            <a:pPr/>
            <a:r>
              <a:rPr lang="zh-CN" dirty="0"/>
              <a:t>所以，不能用上级的口头要求或一般工作文件，代替本来应有的设定和实施依据。但也不能仅看文件叫“决定”，就说它一定没有法律作用。立法法对全国人大及其常委会作出有关法律问题的决定，也规定适用相应立法规则。判断仍须看谁依据什么职权、按什么程序、就什么事项作出，不能凭标题判断。</a:t>
            </a:r>
          </a:p>
          <a:p>
            <a:pPr/>
            <a:endParaRPr lang="zh-CN" dirty="0"/>
          </a:p>
          <a:p>
            <a:pPr/>
            <a:r>
              <a:rPr lang="zh-CN" dirty="0"/>
              <a:t>组织和个人不能自行取得国家强制权，这也不是否定私人依法订立合同、安排彼此的权利义务。前面讲的私法自治仍有位置，但约定同样受法律约束。我们要防止的是把管理、合同或工作需要直接换成没有根据的强制权力。</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限制的目的。教材说：对基本权利的限制，必须符合一定的目的；就算宪法已经授权立法机关去制定法律、限制基本权利，它也一样要符合特定的目的。这些目的有哪些？根据宪法第五十一条，包括维护其他公民合法的权利和自由，以及国家利益、社会利益和集体利益；此外，教材还提到，公共秩序和紧急状态，也属于限制的目的。</a:t>
            </a:r>
          </a:p>
          <a:p>
            <a:pPr/>
            <a:endParaRPr lang="zh-CN" dirty="0"/>
          </a:p>
          <a:p>
            <a:pPr/>
            <a:r>
              <a:rPr lang="zh-CN" dirty="0"/>
              <a:t>限制的目的这一项，请注意它的位置：它排在“限制主体”之后。也就是说，一个机关即使有法律授权，还要问这一次的限制是为了什么。有授权但目的不对，仍然有问题。</a:t>
            </a:r>
          </a:p>
          <a:p>
            <a:pPr/>
            <a:endParaRPr lang="zh-CN" dirty="0"/>
          </a:p>
          <a:p>
            <a:pPr/>
            <a:r>
              <a:rPr lang="zh-CN" dirty="0"/>
              <a:t>再看限制的方式。教材说，限制的方式分两种：宪法限制和法律限制。宪法限制，是宪法直接在基本权利规范里，把这项权利的界限和范围写明白，又叫宪法保留。法律限制，是立法机关按立法程序制定法律，用法律来限制基本权利，可以叫法律保留。</a:t>
            </a:r>
          </a:p>
          <a:p>
            <a:pPr/>
            <a:endParaRPr lang="zh-CN" dirty="0"/>
          </a:p>
          <a:p>
            <a:pPr/>
            <a:r>
              <a:rPr lang="zh-CN" dirty="0"/>
              <a:t>两种保留解决的是同一个问题的两面：哪些界限直接由宪法划定，哪些交给法律去安排。第五十一条就是我们刚才说的那种边界；而很多具体权利由法律去规定它的范围、条件和程序。</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现在讲这一段最重要的部分：对限制的限制。</a:t>
            </a:r>
          </a:p>
          <a:p>
            <a:pPr/>
            <a:endParaRPr lang="zh-CN" dirty="0"/>
          </a:p>
          <a:p>
            <a:pPr/>
            <a:r>
              <a:rPr lang="zh-CN" dirty="0"/>
              <a:t>教材说：限制是相对的，所以对限制本身，也必须再有约束——用教材的说法，就是“对限制的限制”。立法当然可以规定、限制基本权利的具体行使方式，但这种规定和限制，本身也不能漫无边际；立法如果限过了头，超出了宪法允许的限度，就可能构成违宪。所以，对基本权利的限制，必须有一条界限；越过了它，这种限制也就失去了宪法上的正当性。</a:t>
            </a:r>
          </a:p>
          <a:p>
            <a:pPr/>
            <a:endParaRPr lang="zh-CN" dirty="0"/>
          </a:p>
          <a:p>
            <a:pPr/>
            <a:r>
              <a:rPr lang="zh-CN" dirty="0"/>
              <a:t>教材接着说明确定界限的方法：在宪法实践中，要判断一条限制的界限划在哪里，常用的办法是把限制的目的和手段放在一起比较、衡量，最后看这条限制是不是符合宪法保障基本权利的原则。</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是限制的审查。教材从权利保障的角度，提出公民有权请求有关机关审查不当限制是否符合宪法。这说明法律对权利作出限制，也不能免于宪法检验；但不能把这项原理直接读成我国已经为所有规范设置了同一种个人申请程序。提出意见、进入法定审查程序和由有权机关作出处理，是不同层次。 具体还须辨认规范种类、相应渠道及处理权限；第八讲将以地方性法规说明公民审查建议怎样工作。</a:t>
            </a:r>
          </a:p>
          <a:p>
            <a:pPr/>
            <a:endParaRPr lang="zh-CN" dirty="0"/>
          </a:p>
          <a:p>
            <a:pPr/>
            <a:r>
              <a:rPr lang="zh-CN" dirty="0"/>
              <a:t>这一段的读法要留意分寸。教材讲的是审查的方向和任务，它不是一条现成的、逐字写好的审查公式。 第一，第五十一条的原文是“不得损害国家的、社会的、集体的利益和其他公民的合法的自由和权利”，它并没有在文字里写出“法律保留”“比例原则”这些术语；限制主体、目的、方式、限度、审查这一套，是宪法学用来把问题打开的分析线索，是学理和宪法实践中的做法，不是第五十一条逐字规定的内容。第二，具体由谁审查、按什么程序审查，涉及我国的宪法监督制度，是第八讲的内容，这里不能提前塞进来。</a:t>
            </a:r>
          </a:p>
          <a:p>
            <a:pPr/>
            <a:endParaRPr lang="zh-CN" dirty="0"/>
          </a:p>
          <a:p>
            <a:pPr/>
            <a:r>
              <a:rPr lang="zh-CN" dirty="0"/>
              <a:t>那这套分析线索有什么用？它的用处是逼着我们按顺序问下去：</a:t>
            </a:r>
          </a:p>
          <a:p>
            <a:pPr/>
            <a:endParaRPr lang="zh-CN" dirty="0"/>
          </a:p>
          <a:p>
            <a:pPr/>
            <a:r>
              <a:rPr lang="zh-CN" dirty="0"/>
              <a:t>谁有权规定这类措施，谁有权在这里实施？设定和实施分别依据什么规范，符合所需的规范层级吗？这一步要达到什么目的？手段和目的有没有关系？范围和强度是不是超过了必要？规定这项限制的法律本身，符合宪法吗？</a:t>
            </a:r>
          </a:p>
          <a:p>
            <a:pPr/>
            <a:endParaRPr lang="zh-CN" dirty="0"/>
          </a:p>
          <a:p>
            <a:pPr/>
            <a:r>
              <a:rPr lang="zh-CN" dirty="0"/>
              <a:t>在这些有关的条件还没查清时，不能认定眼前的限制已经妥当。但这不等于任何管理都不允许，也不等于所有问题都只能回答“不知道”。依据已经明确、事实已经足够时，就应作出相应范围的判断。</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用这几问做一次短练习。假设某机关准备对一处占道的摊位采取暂时性控制措施，理由是“影响通行”。请先不要判断合不合法，只按顺序写出三件事：这一步该由谁决定，依据应当来自哪一层规范，这一步想解决的具体问题是什么。</a:t>
            </a:r>
          </a:p>
          <a:p>
            <a:pPr/>
            <a:endParaRPr lang="zh-CN" dirty="0"/>
          </a:p>
          <a:p>
            <a:pPr/>
            <a:r>
              <a:rPr lang="zh-CN" dirty="0"/>
              <a:t>【独立思考约一至两分钟：写出三点，不下合法或违法结论。教师此时暂停讲述。】</a:t>
            </a:r>
          </a:p>
          <a:p>
            <a:pPr/>
            <a:endParaRPr lang="zh-CN" dirty="0"/>
          </a:p>
          <a:p>
            <a:pPr/>
            <a:r>
              <a:rPr lang="zh-CN" dirty="0"/>
              <a:t>有人可能已经想写“不合法”了。先停一下。这三问的作用，是把“我觉得不合适”换成可以逐项核对的要件：谁有权、依据是什么、要解决什么问题。答完这三问以后，还要接第四、第五、第六问，才谈得上这一次限制是否妥当。把情绪换成问题清单，本身就是法律判断的一部分。</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八、一次有充分材料的有限判断</a:t>
            </a:r>
          </a:p>
          <a:p>
            <a:pPr/>
            <a:endParaRPr lang="zh-CN" dirty="0"/>
          </a:p>
          <a:p>
            <a:pPr/>
            <a:r>
              <a:rPr lang="zh-CN" dirty="0"/>
              <a:t>下面这个例子，用真实的《中华人民共和国行政强制法》条文，配一个明确设定的教学情境。我把两边分开说清楚：法律是真的，情境是我设的，不是真实案件。</a:t>
            </a:r>
          </a:p>
          <a:p>
            <a:pPr/>
            <a:endParaRPr lang="zh-CN" dirty="0"/>
          </a:p>
          <a:p>
            <a:pPr/>
            <a:r>
              <a:rPr lang="zh-CN" dirty="0"/>
              <a:t>先看法律。行政强制法区分行政强制措施与行政强制执行。前者是在行政管理中，为制止违法行为、防止证据损毁、避免危害发生等，依法暂时限制人身自由或者控制财物；后者则是依法强制履行已经作出的行政决定所确定的义务。我们这里考察第九条所列的扣押财物，是暂时控制财物的措施；代为清除障碍和把设备扣住，不能只因都动了设备便当作同一行为。</a:t>
            </a:r>
          </a:p>
          <a:p>
            <a:pPr/>
            <a:endParaRPr lang="zh-CN" dirty="0"/>
          </a:p>
          <a:p>
            <a:pPr/>
            <a:r>
              <a:rPr lang="zh-CN" dirty="0"/>
              <a:t>第四条规定：“行政强制的设定和实施，应当依照法定的权限、范围、条件和程序。”第五条又规定：“行政强制的设定和实施，应当适当。采用非强制手段可以达到行政管理目的的，不得设定和实施行政强制。”</a:t>
            </a:r>
          </a:p>
          <a:p>
            <a:pPr/>
            <a:endParaRPr lang="zh-CN" dirty="0"/>
          </a:p>
          <a:p>
            <a:pPr/>
            <a:r>
              <a:rPr lang="zh-CN" dirty="0"/>
              <a:t>请注意第五条第二句的写法：“采用非强制手段可以达到行政管理目的的，不得设定和实施行政强制。”它把“有没有更轻的办法”写成了法律要求，而不是一种建议。</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现在设定情境。某地一家店铺，把设备堆放在了公共通道上，妨碍通行。主管机关认为需要疏通通道，考虑扣押这些设备。这是我们设定的情境，不是从案卷里来的。</a:t>
            </a:r>
          </a:p>
          <a:p>
            <a:pPr/>
            <a:endParaRPr lang="zh-CN" dirty="0"/>
          </a:p>
          <a:p>
            <a:pPr/>
            <a:r>
              <a:rPr lang="zh-CN" dirty="0"/>
              <a:t>在这个情境里，把事实和法律条件一条一条摆开：</a:t>
            </a:r>
          </a:p>
          <a:p>
            <a:pPr/>
            <a:endParaRPr lang="zh-CN" dirty="0"/>
          </a:p>
          <a:p>
            <a:pPr/>
            <a:r>
              <a:rPr lang="zh-CN" dirty="0"/>
              <a:t>第一，这里是行政管理事项，属于行政强制法要处理的范围，不涉及该法第三条规定的自然灾害、事故灾难、公共卫生事件等突发事件应急措施那类由其他法律、行政法规执行的情形。第二，经营者已经自愿把设备移到了安全位置，通道的通行已经恢复。第三，采用非强制手段就可以达到疏通通道这个目的。第四，没有保全证据、防止损害等其他需要。第五，扣押设备是第九条所列的行政强制措施之一。</a:t>
            </a:r>
          </a:p>
          <a:p>
            <a:pPr/>
            <a:endParaRPr lang="zh-CN" dirty="0"/>
          </a:p>
          <a:p>
            <a:pPr/>
            <a:r>
              <a:rPr lang="zh-CN" dirty="0"/>
              <a:t>有了这些事实，我们可以得出一个有理由、有范围的结论：在这个已经设定的情境里，机关如果仍然以“疏通通道”这个理由去扣押设备，不符合行政强制法第五条的要求。因为第五条明确写了，采用非强制手段可以达到行政管理目的的，不得实施行政强制——而我们的前提正是非强制手段已经足够。</a:t>
            </a:r>
          </a:p>
          <a:p>
            <a:pPr/>
            <a:endParaRPr lang="zh-CN" dirty="0"/>
          </a:p>
          <a:p>
            <a:pPr/>
            <a:r>
              <a:rPr lang="zh-CN" dirty="0"/>
              <a:t>这个结论具体到哪一步，请留意：它说的是“以这个理由、在这组事实下实施这项强制，不符合第五条”。它没有说这家店铺的做法都合法，也没有说机关完全没有别的职权。结论的范围要和依据的范围一样大，不能多走一步。</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保留一般行政管理、没有保全证据等其他目的这些前提，把有关非强制手段的事实换成第二种情况：设备尚未移走，通行尚未恢复，经营者拒绝配合，而且非强制办法确实不能达到疏通目的。原来“已经自愿移走”的事实不再保留。我们改变的是原否定理由所依赖的这一组事实，不是同时拿着两套相互矛盾的前提。</a:t>
            </a:r>
          </a:p>
          <a:p>
            <a:pPr/>
            <a:endParaRPr lang="zh-CN" dirty="0"/>
          </a:p>
          <a:p>
            <a:pPr/>
            <a:r>
              <a:rPr lang="zh-CN" dirty="0"/>
              <a:t>原来的那个排除理由还成立吗？不成立了。原来我们说“不符合第五条”，靠的是“非强制手段可以达到目的”这一个前提；这个前提变了，结论就不能照搬。</a:t>
            </a:r>
          </a:p>
          <a:p>
            <a:pPr/>
            <a:endParaRPr lang="zh-CN" dirty="0"/>
          </a:p>
          <a:p>
            <a:pPr/>
            <a:r>
              <a:rPr lang="zh-CN" dirty="0"/>
              <a:t>那么，能不能反过来得出“所以就可以扣押”？</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不能。本例仍然考察扣押。需要清除障碍，不当然意味着可以选择把这些设备扣住；若另选强制履行清理义务的办法，须另查其依据，不能借用本例的判断。现在仍沿扣押往下核：这类措施的设定依据是什么？行政强制法第十条规定，尚未制定法律且属于国务院行政管理职权事项的，行政法规可依法设定部分措施，但不得设定限制人身自由、冻结存款汇款及应由法律规定的措施；尚未制定法律、行政法规且属于地方性事务的，地方性法规只可设定查封场所设施财物、扣押财物。其他规范性文件不能自行设定行政强制措施。</a:t>
            </a:r>
          </a:p>
          <a:p>
            <a:pPr/>
            <a:endParaRPr lang="zh-CN" dirty="0"/>
          </a:p>
          <a:p>
            <a:pPr/>
            <a:r>
              <a:rPr lang="zh-CN" dirty="0"/>
              <a:t>第十一条还规定，法律已规定措施的对象、条件和种类，法规不得扩大；法律没有设定措施，法规也不能自行补设。只有法律将特定事项的具体管理措施交给行政法规规定时，才适用该条列明的例外，仍不能突破保留给法律的范围。可见，上位法没有写，并不当然留下一个可以自行增加强制措施的空位。</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实施主体是否有该项法定职权、对象是否属于可扣押范围。第二十三条排除与违法行为无关的财物及个人、所扶养家属的生活必需品。程序上还要按第十八条等履行相应要求，不能因为目的紧迫就省掉根据和程序。即使需要采取某种强制办法，也还要比较具体办法的范围、强度和效果，不能由“不能完全不用强制”跳成“就能扣押全部设备”。</a:t>
            </a:r>
          </a:p>
          <a:p>
            <a:pPr/>
            <a:endParaRPr lang="zh-CN" dirty="0"/>
          </a:p>
          <a:p>
            <a:pPr/>
            <a:r>
              <a:rPr lang="zh-CN" dirty="0"/>
              <a:t>所以第二次判断的结果和第一次不一样：原来“不行”的这一项理由消失了，但这并不等于“可以”，而是要继续核下一组条件。 本例考察的仍是扣押，但它的权限、对象、程序以及具体范围和强度是否适当，都还没有确定。</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我用这个例子，不是为了教你怎么办这个案子——具体的执法依据、程序和权限，要按你将来所在单位和所办案件适用的规范逐一核对。我要示范的是三件事：</a:t>
            </a:r>
          </a:p>
          <a:p>
            <a:pPr/>
            <a:endParaRPr lang="zh-CN" dirty="0"/>
          </a:p>
          <a:p>
            <a:pPr/>
            <a:r>
              <a:rPr lang="zh-CN" dirty="0"/>
              <a:t>第一，材料充分时，可以作出肯定的判断，不必一律回答“还要查资料”。 我们的例子有明确的法律条文、有确定的事实设定，就能得出一个范围清楚的结论。只会回答“资料不足”，和只会回答“我认为不合理”，都是没有完成法律判断。</a:t>
            </a:r>
          </a:p>
          <a:p>
            <a:pPr/>
            <a:endParaRPr lang="zh-CN" dirty="0"/>
          </a:p>
          <a:p>
            <a:pPr/>
            <a:r>
              <a:rPr lang="zh-CN" dirty="0"/>
              <a:t>第二，条件一变，改变的可能只是原来的理由，不是结论本身。 前后两次判断不是互相矛盾，它们各自对应各自的前提。</a:t>
            </a:r>
          </a:p>
          <a:p>
            <a:pPr/>
            <a:endParaRPr lang="zh-CN" dirty="0"/>
          </a:p>
          <a:p>
            <a:pPr/>
            <a:r>
              <a:rPr lang="zh-CN" dirty="0"/>
              <a:t>第三，判断的范围要跟着材料走。 依据支持到哪一步，结论就说到哪一步。</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讲的收束，回到三组认识：从人应受怎样的对待，走到法律确认了什么；在法律规范内部，再区分宪法基本权利和普通法律权利。谁能主张、规范约束谁，又是相接而不同的问题。国家既要尊重不侵害，也要提供实现条件和有效救济；限制则须有权、有据、有正当目的和界限，本身也要受到检验。</a:t>
            </a:r>
          </a:p>
          <a:p>
            <a:pPr/>
            <a:endParaRPr lang="zh-CN" dirty="0"/>
          </a:p>
          <a:p>
            <a:pPr/>
            <a:r>
              <a:rPr lang="zh-CN" dirty="0"/>
              <a:t>最后留一句：权利不自动排除任何管理，管理的目的也不自动证明任何限制都适当。这一句的两半都要当真。</a:t>
            </a:r>
          </a:p>
          <a:p>
            <a:pPr/>
            <a:endParaRPr lang="zh-CN" dirty="0"/>
          </a:p>
          <a:p>
            <a:pPr/>
            <a:r>
              <a:rPr lang="zh-CN" dirty="0"/>
              <a:t>下一讲，我们从一般原理进入具体权利：平等权、人身自由这些最常遇到的保护对象，以及宪法规定的公民基本义务。</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lecture-05-20261015-student-ready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lecture-05-20261015-student-ready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95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7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2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1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00" kern="1200" lang="zh-CN">
          <a:solidFill>
            <a:schemeClr val="tx1"/>
          </a:solidFill>
          <a:latin typeface="+mn-lt"/>
          <a:ea typeface="+mn-ea"/>
          <a:cs typeface="+mn-cs"/>
        </a:defRPr>
      </a:lvl9pPr>
    </p:bodyStyle>
    <p:otherStyle>
      <a:defPPr>
        <a:defRPr lang="zh-CN"/>
      </a:defPPr>
      <a:lvl1pPr marL="0" algn="l" defTabSz="457200" rtl="0" eaLnBrk="1" latinLnBrk="0" hangingPunct="1">
        <a:defRPr sz="1950" kern="1200" lang="zh-CN">
          <a:solidFill>
            <a:schemeClr val="tx1"/>
          </a:solidFill>
          <a:latin typeface="+mn-lt"/>
          <a:ea typeface="+mn-ea"/>
          <a:cs typeface="+mn-cs"/>
        </a:defRPr>
      </a:lvl1pPr>
      <a:lvl2pPr marL="457200" algn="l" defTabSz="457200" rtl="0" eaLnBrk="1" latinLnBrk="0" hangingPunct="1">
        <a:defRPr sz="1850" kern="1200" lang="zh-CN">
          <a:solidFill>
            <a:schemeClr val="tx1"/>
          </a:solidFill>
          <a:latin typeface="+mn-lt"/>
          <a:ea typeface="+mn-ea"/>
          <a:cs typeface="+mn-cs"/>
        </a:defRPr>
      </a:lvl2pPr>
      <a:lvl3pPr marL="914400" algn="l" defTabSz="457200" rtl="0" eaLnBrk="1" latinLnBrk="0" hangingPunct="1">
        <a:defRPr sz="1700" kern="1200" lang="zh-CN">
          <a:solidFill>
            <a:schemeClr val="tx1"/>
          </a:solidFill>
          <a:latin typeface="+mn-lt"/>
          <a:ea typeface="+mn-ea"/>
          <a:cs typeface="+mn-cs"/>
        </a:defRPr>
      </a:lvl3pPr>
      <a:lvl4pPr marL="1371600" algn="l" defTabSz="457200" rtl="0" eaLnBrk="1" latinLnBrk="0" hangingPunct="1">
        <a:defRPr sz="1600" kern="1200" lang="zh-CN">
          <a:solidFill>
            <a:schemeClr val="tx1"/>
          </a:solidFill>
          <a:latin typeface="+mn-lt"/>
          <a:ea typeface="+mn-ea"/>
          <a:cs typeface="+mn-cs"/>
        </a:defRPr>
      </a:lvl4pPr>
      <a:lvl5pPr marL="1828800" algn="l" defTabSz="457200" rtl="0" eaLnBrk="1" latinLnBrk="0" hangingPunct="1">
        <a:defRPr sz="1450" kern="1200" lang="zh-CN">
          <a:solidFill>
            <a:schemeClr val="tx1"/>
          </a:solidFill>
          <a:latin typeface="+mn-lt"/>
          <a:ea typeface="+mn-ea"/>
          <a:cs typeface="+mn-cs"/>
        </a:defRPr>
      </a:lvl5pPr>
      <a:lvl6pPr marL="2286000" algn="l" defTabSz="457200" rtl="0" eaLnBrk="1" latinLnBrk="0" hangingPunct="1">
        <a:defRPr sz="1350" kern="1200" lang="zh-CN">
          <a:solidFill>
            <a:schemeClr val="tx1"/>
          </a:solidFill>
          <a:latin typeface="+mn-lt"/>
          <a:ea typeface="+mn-ea"/>
          <a:cs typeface="+mn-cs"/>
        </a:defRPr>
      </a:lvl6pPr>
      <a:lvl7pPr marL="2743200" algn="l" defTabSz="457200" rtl="0" eaLnBrk="1" latinLnBrk="0" hangingPunct="1">
        <a:defRPr sz="1200" kern="1200" lang="zh-CN">
          <a:solidFill>
            <a:schemeClr val="tx1"/>
          </a:solidFill>
          <a:latin typeface="+mn-lt"/>
          <a:ea typeface="+mn-ea"/>
          <a:cs typeface="+mn-cs"/>
        </a:defRPr>
      </a:lvl7pPr>
      <a:lvl8pPr marL="3200400" algn="l" defTabSz="457200" rtl="0" eaLnBrk="1" latinLnBrk="0" hangingPunct="1">
        <a:defRPr sz="1100" kern="1200" lang="zh-CN">
          <a:solidFill>
            <a:schemeClr val="tx1"/>
          </a:solidFill>
          <a:latin typeface="+mn-lt"/>
          <a:ea typeface="+mn-ea"/>
          <a:cs typeface="+mn-cs"/>
        </a:defRPr>
      </a:lvl8pPr>
      <a:lvl9pPr marL="3657600" algn="l" defTabSz="457200" rtl="0" eaLnBrk="1" latinLnBrk="0" hangingPunct="1">
        <a:defRPr sz="10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37b49311c24f080.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82b32324aa6dcf1.jpg"/>
  <Relationship Id="rId3"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1-course"/>
          <p:cNvGrpSpPr/>
          <p:nvPr/>
        </p:nvGrpSpPr>
        <p:grpSpPr>
          <a:xfrm>
            <a:off x="444246" y="400050"/>
            <a:ext cx="3290316" cy="835279"/>
            <a:chOff x="444246" y="400050"/>
            <a:chExt cx="3290316" cy="835279"/>
          </a:xfrm>
        </p:grpSpPr>
        <p:sp>
          <p:nvSpPr>
            <p:cNvPr id="2" name="TextBox 2"/>
            <p:cNvSpPr txBox="1"/>
            <p:nvPr/>
          </p:nvSpPr>
          <p:spPr>
            <a:xfrm>
              <a:off x="451104" y="400050"/>
              <a:ext cx="1167232"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a:t>
              </a:r>
            </a:p>
          </p:txBody>
        </p:sp>
        <p:sp>
          <p:nvSpPr>
            <p:cNvPr id="3" name="TextBox 3"/>
            <p:cNvSpPr txBox="1"/>
            <p:nvPr/>
          </p:nvSpPr>
          <p:spPr>
            <a:xfrm>
              <a:off x="444246" y="736600"/>
              <a:ext cx="329031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基本权利的一般原理</a:t>
              </a:r>
            </a:p>
          </p:txBody>
        </p:sp>
      </p:grpSp>
      <p:grpSp>
        <p:nvGrpSpPr>
          <p:cNvPr id="10" name="p01-question"/>
          <p:cNvGrpSpPr/>
          <p:nvPr/>
        </p:nvGrpSpPr>
        <p:grpSpPr>
          <a:xfrm>
            <a:off x="438150" y="2012950"/>
            <a:ext cx="4646676" cy="3639058"/>
            <a:chOff x="438150" y="2012950"/>
            <a:chExt cx="4646676" cy="3639058"/>
          </a:xfrm>
        </p:grpSpPr>
        <p:sp>
          <p:nvSpPr>
            <p:cNvPr id="5" name="TextBox 5"/>
            <p:cNvSpPr txBox="1"/>
            <p:nvPr/>
          </p:nvSpPr>
          <p:spPr>
            <a:xfrm>
              <a:off x="438150" y="2012950"/>
              <a:ext cx="3878580"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我有权利，</a:t>
              </a:r>
            </a:p>
          </p:txBody>
        </p:sp>
        <p:sp>
          <p:nvSpPr>
            <p:cNvPr id="6" name="TextBox 6"/>
            <p:cNvSpPr txBox="1"/>
            <p:nvPr/>
          </p:nvSpPr>
          <p:spPr>
            <a:xfrm>
              <a:off x="438150" y="2965450"/>
              <a:ext cx="4646676"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能要求什么？</a:t>
              </a:r>
            </a:p>
          </p:txBody>
        </p:sp>
        <p:sp>
          <p:nvSpPr>
            <p:cNvPr id="7" name="Line 7"/>
            <p:cNvSpPr/>
            <p:nvPr/>
          </p:nvSpPr>
          <p:spPr>
            <a:xfrm>
              <a:off x="457200" y="4257675"/>
              <a:ext cx="914400" cy="9525"/>
            </a:xfrm>
            <a:custGeom>
              <a:avLst/>
              <a:gdLst/>
              <a:ahLst/>
              <a:cxnLst/>
              <a:rect l="l" t="t" r="r" b="b"/>
              <a:pathLst>
                <a:path w="914400" h="9525">
                  <a:moveTo>
                    <a:pt x="0" y="0"/>
                  </a:moveTo>
                  <a:lnTo>
                    <a:pt x="914400" y="0"/>
                  </a:lnTo>
                </a:path>
              </a:pathLst>
            </a:custGeom>
            <a:noFill/>
            <a:ln w="28575">
              <a:solidFill>
                <a:schemeClr val="accent2"/>
              </a:solidFill>
            </a:ln>
          </p:spPr>
        </p:sp>
        <p:sp>
          <p:nvSpPr>
            <p:cNvPr id="8" name="TextBox 8"/>
            <p:cNvSpPr txBox="1"/>
            <p:nvPr/>
          </p:nvSpPr>
          <p:spPr>
            <a:xfrm>
              <a:off x="447294" y="4625975"/>
              <a:ext cx="372118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从“我想要”，走向有依据的主张</a:t>
              </a:r>
            </a:p>
          </p:txBody>
        </p:sp>
        <p:sp>
          <p:nvSpPr>
            <p:cNvPr id="9" name="TextBox 9"/>
            <p:cNvSpPr txBox="1"/>
            <p:nvPr/>
          </p:nvSpPr>
          <p:spPr>
            <a:xfrm>
              <a:off x="450342" y="5387975"/>
              <a:ext cx="201282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先看人，再看他面对谁。</a:t>
              </a:r>
            </a:p>
          </p:txBody>
        </p:sp>
      </p:grpSp>
      <p:grpSp>
        <p:nvGrpSpPr>
          <p:cNvPr id="17" name="p01-book"/>
          <p:cNvGrpSpPr/>
          <p:nvPr/>
        </p:nvGrpSpPr>
        <p:grpSpPr>
          <a:xfrm>
            <a:off x="8089392" y="2019300"/>
            <a:ext cx="3312033" cy="4089908"/>
            <a:chOff x="8089392" y="2019300"/>
            <a:chExt cx="3312033" cy="4089908"/>
          </a:xfrm>
        </p:grpSpPr>
        <p:sp>
          <p:nvSpPr>
            <p:cNvPr id="11" name="Rectangle 11"/>
            <p:cNvSpPr/>
            <p:nvPr/>
          </p:nvSpPr>
          <p:spPr>
            <a:xfrm>
              <a:off x="8258175" y="2152650"/>
              <a:ext cx="3143250" cy="3562350"/>
            </a:xfrm>
            <a:prstGeom prst="rect">
              <a:avLst/>
            </a:prstGeom>
            <a:solidFill>
              <a:schemeClr val="lt2"/>
            </a:solidFill>
            <a:ln w="9525">
              <a:solidFill>
                <a:schemeClr val="accent6"/>
              </a:solidFill>
            </a:ln>
          </p:spPr>
        </p:sp>
        <p:sp>
          <p:nvSpPr>
            <p:cNvPr id="12" name="Rectangle 12"/>
            <p:cNvSpPr/>
            <p:nvPr/>
          </p:nvSpPr>
          <p:spPr>
            <a:xfrm>
              <a:off x="8096250" y="2019300"/>
              <a:ext cx="3143250" cy="3562350"/>
            </a:xfrm>
            <a:prstGeom prst="rect">
              <a:avLst/>
            </a:prstGeom>
            <a:solidFill>
              <a:schemeClr val="lt2"/>
            </a:solidFill>
            <a:ln w="19050">
              <a:solidFill>
                <a:schemeClr val="accent1"/>
              </a:solidFill>
            </a:ln>
          </p:spPr>
        </p:sp>
        <p:sp>
          <p:nvSpPr>
            <p:cNvPr id="13" name="Line 13"/>
            <p:cNvSpPr/>
            <p:nvPr/>
          </p:nvSpPr>
          <p:spPr>
            <a:xfrm>
              <a:off x="8448675" y="2038350"/>
              <a:ext cx="9525" cy="3524250"/>
            </a:xfrm>
            <a:custGeom>
              <a:avLst/>
              <a:gdLst/>
              <a:ahLst/>
              <a:cxnLst/>
              <a:rect l="l" t="t" r="r" b="b"/>
              <a:pathLst>
                <a:path w="9525" h="3524250">
                  <a:moveTo>
                    <a:pt x="0" y="0"/>
                  </a:moveTo>
                  <a:lnTo>
                    <a:pt x="0" y="3524250"/>
                  </a:lnTo>
                </a:path>
              </a:pathLst>
            </a:custGeom>
            <a:noFill/>
            <a:ln w="28575">
              <a:solidFill>
                <a:schemeClr val="accent2"/>
              </a:solidFill>
            </a:ln>
          </p:spPr>
        </p:sp>
        <p:sp>
          <p:nvSpPr>
            <p:cNvPr id="14" name="TextBox 14"/>
            <p:cNvSpPr txBox="1"/>
            <p:nvPr/>
          </p:nvSpPr>
          <p:spPr>
            <a:xfrm>
              <a:off x="8854821" y="284162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借来的书</a:t>
              </a:r>
            </a:p>
          </p:txBody>
        </p:sp>
        <p:sp>
          <p:nvSpPr>
            <p:cNvPr id="15" name="TextBox 15"/>
            <p:cNvSpPr txBox="1"/>
            <p:nvPr/>
          </p:nvSpPr>
          <p:spPr>
            <a:xfrm>
              <a:off x="8848344" y="4187825"/>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谁应当归还？</a:t>
              </a:r>
            </a:p>
          </p:txBody>
        </p:sp>
        <p:sp>
          <p:nvSpPr>
            <p:cNvPr id="16" name="TextBox 16"/>
            <p:cNvSpPr txBox="1"/>
            <p:nvPr/>
          </p:nvSpPr>
          <p:spPr>
            <a:xfrm>
              <a:off x="8089392" y="5845175"/>
              <a:ext cx="185834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教学示意 · 非真实借条</a:t>
              </a:r>
            </a:p>
          </p:txBody>
        </p:sp>
      </p:grpSp>
      <p:grpSp>
        <p:nvGrpSpPr>
          <p:cNvPr id="20" name="p01-footer"/>
          <p:cNvGrpSpPr/>
          <p:nvPr/>
        </p:nvGrpSpPr>
        <p:grpSpPr>
          <a:xfrm>
            <a:off x="451866" y="6502400"/>
            <a:ext cx="11247444" cy="205359"/>
            <a:chOff x="451866" y="6502400"/>
            <a:chExt cx="11247444" cy="205359"/>
          </a:xfrm>
        </p:grpSpPr>
        <p:sp>
          <p:nvSpPr>
            <p:cNvPr id="18" name="TextBox 18"/>
            <p:cNvSpPr txBox="1"/>
            <p:nvPr/>
          </p:nvSpPr>
          <p:spPr>
            <a:xfrm>
              <a:off x="451866" y="6502400"/>
              <a:ext cx="198958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本讲由国家任务转到个人主张。</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01 / 47</a:t>
              </a:r>
            </a:p>
          </p:txBody>
        </p:sp>
      </p:grpSp>
    </p:spTree>
  </p:cSld>
  <p:clrMapOvr>
    <a:masterClrMapping/>
  </p:clrMapOvr>
  <p:transition xmlns:p14="http://schemas.microsoft.com/office/powerpoint/2010/main" p14:dur="3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2-title"/>
          <p:cNvGrpSpPr/>
          <p:nvPr/>
        </p:nvGrpSpPr>
        <p:grpSpPr>
          <a:xfrm>
            <a:off x="440436" y="381000"/>
            <a:ext cx="7074408" cy="918464"/>
            <a:chOff x="440436" y="381000"/>
            <a:chExt cx="7074408" cy="918464"/>
          </a:xfrm>
        </p:grpSpPr>
        <p:sp>
          <p:nvSpPr>
            <p:cNvPr id="2" name="TextBox 2"/>
            <p:cNvSpPr txBox="1"/>
            <p:nvPr/>
          </p:nvSpPr>
          <p:spPr>
            <a:xfrm>
              <a:off x="451104" y="38100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从生活利益进入</a:t>
              </a:r>
            </a:p>
          </p:txBody>
        </p:sp>
        <p:sp>
          <p:nvSpPr>
            <p:cNvPr id="3" name="TextBox 3"/>
            <p:cNvSpPr txBox="1"/>
            <p:nvPr/>
          </p:nvSpPr>
          <p:spPr>
            <a:xfrm>
              <a:off x="440436" y="65405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这些不同的需要，共同关心什么？</a:t>
              </a:r>
            </a:p>
          </p:txBody>
        </p:sp>
      </p:grpSp>
      <p:grpSp>
        <p:nvGrpSpPr>
          <p:cNvPr id="9" name="p02-left-needs"/>
          <p:cNvGrpSpPr/>
          <p:nvPr/>
        </p:nvGrpSpPr>
        <p:grpSpPr>
          <a:xfrm>
            <a:off x="444246" y="2155825"/>
            <a:ext cx="2647950" cy="2918206"/>
            <a:chOff x="444246" y="2155825"/>
            <a:chExt cx="2647950" cy="2918206"/>
          </a:xfrm>
        </p:grpSpPr>
        <p:sp>
          <p:nvSpPr>
            <p:cNvPr id="5" name="TextBox 5"/>
            <p:cNvSpPr txBox="1"/>
            <p:nvPr/>
          </p:nvSpPr>
          <p:spPr>
            <a:xfrm>
              <a:off x="444246" y="215582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读书</a:t>
              </a:r>
            </a:p>
          </p:txBody>
        </p:sp>
        <p:sp>
          <p:nvSpPr>
            <p:cNvPr id="6" name="TextBox 6"/>
            <p:cNvSpPr txBox="1"/>
            <p:nvPr/>
          </p:nvSpPr>
          <p:spPr>
            <a:xfrm>
              <a:off x="447294" y="273050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有人办学、有人教</a:t>
              </a:r>
            </a:p>
          </p:txBody>
        </p:sp>
        <p:sp>
          <p:nvSpPr>
            <p:cNvPr id="7" name="TextBox 7"/>
            <p:cNvSpPr txBox="1"/>
            <p:nvPr/>
          </p:nvSpPr>
          <p:spPr>
            <a:xfrm>
              <a:off x="444246" y="411797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财产</a:t>
              </a:r>
            </a:p>
          </p:txBody>
        </p:sp>
        <p:sp>
          <p:nvSpPr>
            <p:cNvPr id="8" name="TextBox 8"/>
            <p:cNvSpPr txBox="1"/>
            <p:nvPr/>
          </p:nvSpPr>
          <p:spPr>
            <a:xfrm>
              <a:off x="447294" y="469265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劳动所得不被随意拿走</a:t>
              </a:r>
            </a:p>
          </p:txBody>
        </p:sp>
      </p:grpSp>
      <p:grpSp>
        <p:nvGrpSpPr>
          <p:cNvPr id="14" name="p02-right-needs"/>
          <p:cNvGrpSpPr/>
          <p:nvPr/>
        </p:nvGrpSpPr>
        <p:grpSpPr>
          <a:xfrm>
            <a:off x="8845296" y="2155825"/>
            <a:ext cx="2122932" cy="2918206"/>
            <a:chOff x="8845296" y="2155825"/>
            <a:chExt cx="2122932" cy="2918206"/>
          </a:xfrm>
        </p:grpSpPr>
        <p:sp>
          <p:nvSpPr>
            <p:cNvPr id="10" name="TextBox 10"/>
            <p:cNvSpPr txBox="1"/>
            <p:nvPr/>
          </p:nvSpPr>
          <p:spPr>
            <a:xfrm>
              <a:off x="8845296" y="215582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看病</a:t>
              </a:r>
            </a:p>
          </p:txBody>
        </p:sp>
        <p:sp>
          <p:nvSpPr>
            <p:cNvPr id="11" name="TextBox 11"/>
            <p:cNvSpPr txBox="1"/>
            <p:nvPr/>
          </p:nvSpPr>
          <p:spPr>
            <a:xfrm>
              <a:off x="8848344" y="273050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有地方得到治疗</a:t>
              </a:r>
            </a:p>
          </p:txBody>
        </p:sp>
        <p:sp>
          <p:nvSpPr>
            <p:cNvPr id="12" name="TextBox 12"/>
            <p:cNvSpPr txBox="1"/>
            <p:nvPr/>
          </p:nvSpPr>
          <p:spPr>
            <a:xfrm>
              <a:off x="8845296" y="411797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身体</a:t>
              </a:r>
            </a:p>
          </p:txBody>
        </p:sp>
        <p:sp>
          <p:nvSpPr>
            <p:cNvPr id="13" name="TextBox 13"/>
            <p:cNvSpPr txBox="1"/>
            <p:nvPr/>
          </p:nvSpPr>
          <p:spPr>
            <a:xfrm>
              <a:off x="8848344" y="46926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不被无故拦下搜身</a:t>
              </a:r>
            </a:p>
          </p:txBody>
        </p:sp>
      </p:grpSp>
      <p:grpSp>
        <p:nvGrpSpPr>
          <p:cNvPr id="17" name="p02-reveal-1"/>
          <p:cNvGrpSpPr/>
          <p:nvPr/>
        </p:nvGrpSpPr>
        <p:grpSpPr>
          <a:xfrm>
            <a:off x="4098036" y="2778125"/>
            <a:ext cx="3319272" cy="1305306"/>
            <a:chOff x="4098036" y="2778125"/>
            <a:chExt cx="3319272" cy="1305306"/>
          </a:xfrm>
        </p:grpSpPr>
        <p:sp>
          <p:nvSpPr>
            <p:cNvPr id="15" name="TextBox 15"/>
            <p:cNvSpPr txBox="1"/>
            <p:nvPr/>
          </p:nvSpPr>
          <p:spPr>
            <a:xfrm>
              <a:off x="4098036" y="2778125"/>
              <a:ext cx="331927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人的生存与发展</a:t>
              </a:r>
            </a:p>
          </p:txBody>
        </p:sp>
        <p:sp>
          <p:nvSpPr>
            <p:cNvPr id="16" name="TextBox 16"/>
            <p:cNvSpPr txBox="1"/>
            <p:nvPr/>
          </p:nvSpPr>
          <p:spPr>
            <a:xfrm>
              <a:off x="4104894" y="3702050"/>
              <a:ext cx="2198637"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尊严 · 自由 · 平等</a:t>
              </a:r>
            </a:p>
          </p:txBody>
        </p:sp>
      </p:grpSp>
      <p:grpSp>
        <p:nvGrpSpPr>
          <p:cNvPr id="20" name="p02-footer"/>
          <p:cNvGrpSpPr/>
          <p:nvPr/>
        </p:nvGrpSpPr>
        <p:grpSpPr>
          <a:xfrm>
            <a:off x="451866" y="6502400"/>
            <a:ext cx="11247444" cy="205359"/>
            <a:chOff x="451866" y="6502400"/>
            <a:chExt cx="11247444" cy="205359"/>
          </a:xfrm>
        </p:grpSpPr>
        <p:sp>
          <p:nvSpPr>
            <p:cNvPr id="18" name="TextBox 18"/>
            <p:cNvSpPr txBox="1"/>
            <p:nvPr/>
          </p:nvSpPr>
          <p:spPr>
            <a:xfrm>
              <a:off x="451866" y="6502400"/>
              <a:ext cx="453390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依据：教材人权含义。生活利益切入不表示每项都能直接请求相同给付。</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02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3-title"/>
          <p:cNvGrpSpPr/>
          <p:nvPr/>
        </p:nvGrpSpPr>
        <p:grpSpPr>
          <a:xfrm>
            <a:off x="440436" y="381000"/>
            <a:ext cx="6605016" cy="918464"/>
            <a:chOff x="440436" y="381000"/>
            <a:chExt cx="6605016" cy="918464"/>
          </a:xfrm>
        </p:grpSpPr>
        <p:sp>
          <p:nvSpPr>
            <p:cNvPr id="2" name="TextBox 2"/>
            <p:cNvSpPr txBox="1"/>
            <p:nvPr/>
          </p:nvSpPr>
          <p:spPr>
            <a:xfrm>
              <a:off x="451104" y="381000"/>
              <a:ext cx="216072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目标与条件</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自由和平等，为了怎样的生活？</a:t>
              </a:r>
            </a:p>
          </p:txBody>
        </p:sp>
      </p:grpSp>
      <p:grpSp>
        <p:nvGrpSpPr>
          <p:cNvPr id="6" name="p03-context"/>
          <p:cNvGrpSpPr/>
          <p:nvPr/>
        </p:nvGrpSpPr>
        <p:grpSpPr>
          <a:xfrm>
            <a:off x="447294" y="1854200"/>
            <a:ext cx="5269992" cy="381381"/>
            <a:chOff x="447294" y="1854200"/>
            <a:chExt cx="5269992" cy="381381"/>
          </a:xfrm>
        </p:grpSpPr>
        <p:sp>
          <p:nvSpPr>
            <p:cNvPr id="5" name="TextBox 5"/>
            <p:cNvSpPr txBox="1"/>
            <p:nvPr/>
          </p:nvSpPr>
          <p:spPr>
            <a:xfrm>
              <a:off x="447294" y="1854200"/>
              <a:ext cx="5269992"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n-lt"/>
                  <a:ea typeface="+mn-ea"/>
                  <a:cs typeface="+mn-cs"/>
                </a:rPr>
                <a:t>教材把人权放在一定的社会历史条件中理解。</a:t>
              </a:r>
            </a:p>
          </p:txBody>
        </p:sp>
      </p:grpSp>
      <p:grpSp>
        <p:nvGrpSpPr>
          <p:cNvPr id="15" name="p03-reveal-1"/>
          <p:cNvGrpSpPr/>
          <p:nvPr/>
        </p:nvGrpSpPr>
        <p:grpSpPr>
          <a:xfrm>
            <a:off x="440436" y="2901950"/>
            <a:ext cx="11294364" cy="3029331"/>
            <a:chOff x="440436" y="2901950"/>
            <a:chExt cx="11294364" cy="3029331"/>
          </a:xfrm>
        </p:grpSpPr>
        <p:sp>
          <p:nvSpPr>
            <p:cNvPr id="7" name="TextBox 7"/>
            <p:cNvSpPr txBox="1"/>
            <p:nvPr/>
          </p:nvSpPr>
          <p:spPr>
            <a:xfrm>
              <a:off x="440436" y="2901950"/>
              <a:ext cx="238048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自由、平等</a:t>
              </a:r>
            </a:p>
          </p:txBody>
        </p:sp>
        <p:sp>
          <p:nvSpPr>
            <p:cNvPr id="8" name="Line 8"/>
            <p:cNvSpPr/>
            <p:nvPr/>
          </p:nvSpPr>
          <p:spPr>
            <a:xfrm>
              <a:off x="3524250" y="3590925"/>
              <a:ext cx="3886200" cy="1"/>
            </a:xfrm>
            <a:prstGeom prst="line">
              <a:avLst/>
            </a:prstGeom>
            <a:noFill/>
            <a:ln w="19050">
              <a:solidFill>
                <a:schemeClr val="accent1"/>
              </a:solidFill>
              <a:tailEnd type="triangle" w="lg" len="lg"/>
            </a:ln>
          </p:spPr>
        </p:sp>
        <p:sp>
          <p:nvSpPr>
            <p:cNvPr id="9" name="TextBox 9"/>
            <p:cNvSpPr txBox="1"/>
            <p:nvPr/>
          </p:nvSpPr>
          <p:spPr>
            <a:xfrm>
              <a:off x="4962144" y="3054350"/>
              <a:ext cx="54483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保障</a:t>
              </a:r>
            </a:p>
          </p:txBody>
        </p:sp>
        <p:sp>
          <p:nvSpPr>
            <p:cNvPr id="10" name="TextBox 10"/>
            <p:cNvSpPr txBox="1"/>
            <p:nvPr/>
          </p:nvSpPr>
          <p:spPr>
            <a:xfrm>
              <a:off x="7835646" y="291782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有尊严地</a:t>
              </a:r>
            </a:p>
          </p:txBody>
        </p:sp>
        <p:sp>
          <p:nvSpPr>
            <p:cNvPr id="11" name="TextBox 11"/>
            <p:cNvSpPr txBox="1"/>
            <p:nvPr/>
          </p:nvSpPr>
          <p:spPr>
            <a:xfrm>
              <a:off x="7835646" y="3451225"/>
              <a:ext cx="183946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生存和发展</a:t>
              </a:r>
            </a:p>
          </p:txBody>
        </p:sp>
        <p:sp>
          <p:nvSpPr>
            <p:cNvPr id="12" name="Line 12"/>
            <p:cNvSpPr/>
            <p:nvPr/>
          </p:nvSpPr>
          <p:spPr>
            <a:xfrm>
              <a:off x="457200" y="45339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3" name="TextBox 13"/>
            <p:cNvSpPr txBox="1"/>
            <p:nvPr/>
          </p:nvSpPr>
          <p:spPr>
            <a:xfrm>
              <a:off x="445008" y="4813300"/>
              <a:ext cx="680923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自由和平等，也应服务于人的生存和全面发展。</a:t>
              </a:r>
            </a:p>
          </p:txBody>
        </p:sp>
        <p:sp>
          <p:nvSpPr>
            <p:cNvPr id="14" name="TextBox 14"/>
            <p:cNvSpPr txBox="1"/>
            <p:nvPr/>
          </p:nvSpPr>
          <p:spPr>
            <a:xfrm>
              <a:off x="447294" y="5549900"/>
              <a:ext cx="5795010"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既要问应有保障，也要问如何在真实处境中实现。</a:t>
              </a:r>
            </a:p>
          </p:txBody>
        </p:sp>
      </p:grpSp>
      <p:grpSp>
        <p:nvGrpSpPr>
          <p:cNvPr id="18" name="p03-footer"/>
          <p:cNvGrpSpPr/>
          <p:nvPr/>
        </p:nvGrpSpPr>
        <p:grpSpPr>
          <a:xfrm>
            <a:off x="451866" y="6502400"/>
            <a:ext cx="11247444" cy="205359"/>
            <a:chOff x="451866" y="6502400"/>
            <a:chExt cx="11247444" cy="205359"/>
          </a:xfrm>
        </p:grpSpPr>
        <p:sp>
          <p:nvSpPr>
            <p:cNvPr id="16" name="TextBox 16"/>
            <p:cNvSpPr txBox="1"/>
            <p:nvPr/>
          </p:nvSpPr>
          <p:spPr>
            <a:xfrm>
              <a:off x="451866" y="6502400"/>
              <a:ext cx="509930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依据：教材人权含义与目的。条件不是不予保障的借口，自由与发展不是二选一。</a:t>
              </a:r>
            </a:p>
          </p:txBody>
        </p:sp>
        <p:sp>
          <p:nvSpPr>
            <p:cNvPr id="17" name="TextBox 17"/>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03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4-title"/>
          <p:cNvGrpSpPr/>
          <p:nvPr/>
        </p:nvGrpSpPr>
        <p:grpSpPr>
          <a:xfrm>
            <a:off x="440436" y="381000"/>
            <a:ext cx="4727448" cy="918464"/>
            <a:chOff x="440436" y="381000"/>
            <a:chExt cx="4727448" cy="918464"/>
          </a:xfrm>
        </p:grpSpPr>
        <p:sp>
          <p:nvSpPr>
            <p:cNvPr id="2" name="TextBox 2"/>
            <p:cNvSpPr txBox="1"/>
            <p:nvPr/>
          </p:nvSpPr>
          <p:spPr>
            <a:xfrm>
              <a:off x="451104" y="38100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范围与主体层面</a:t>
              </a:r>
            </a:p>
          </p:txBody>
        </p:sp>
        <p:sp>
          <p:nvSpPr>
            <p:cNvPr id="3" name="TextBox 3"/>
            <p:cNvSpPr txBox="1"/>
            <p:nvPr/>
          </p:nvSpPr>
          <p:spPr>
            <a:xfrm>
              <a:off x="440436" y="654050"/>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人权不止一个生活领域</a:t>
              </a:r>
            </a:p>
          </p:txBody>
        </p:sp>
      </p:grpSp>
      <p:grpSp>
        <p:nvGrpSpPr>
          <p:cNvPr id="9" name="p04-individual"/>
          <p:cNvGrpSpPr/>
          <p:nvPr/>
        </p:nvGrpSpPr>
        <p:grpSpPr>
          <a:xfrm>
            <a:off x="444246" y="2089150"/>
            <a:ext cx="3435477" cy="2410333"/>
            <a:chOff x="444246" y="2089150"/>
            <a:chExt cx="3435477" cy="2410333"/>
          </a:xfrm>
        </p:grpSpPr>
        <p:sp>
          <p:nvSpPr>
            <p:cNvPr id="5" name="TextBox 5"/>
            <p:cNvSpPr txBox="1"/>
            <p:nvPr/>
          </p:nvSpPr>
          <p:spPr>
            <a:xfrm>
              <a:off x="444246" y="20891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个人人权</a:t>
              </a:r>
            </a:p>
          </p:txBody>
        </p:sp>
        <p:sp>
          <p:nvSpPr>
            <p:cNvPr id="6" name="TextBox 6"/>
            <p:cNvSpPr txBox="1"/>
            <p:nvPr/>
          </p:nvSpPr>
          <p:spPr>
            <a:xfrm>
              <a:off x="447294" y="28829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生命、人身的自由与平等</a:t>
              </a:r>
            </a:p>
          </p:txBody>
        </p:sp>
        <p:sp>
          <p:nvSpPr>
            <p:cNvPr id="7" name="TextBox 7"/>
            <p:cNvSpPr txBox="1"/>
            <p:nvPr/>
          </p:nvSpPr>
          <p:spPr>
            <a:xfrm>
              <a:off x="447294" y="34734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政治、经济、社会、文化生活</a:t>
              </a:r>
            </a:p>
          </p:txBody>
        </p:sp>
        <p:sp>
          <p:nvSpPr>
            <p:cNvPr id="8" name="TextBox 8"/>
            <p:cNvSpPr txBox="1"/>
            <p:nvPr/>
          </p:nvSpPr>
          <p:spPr>
            <a:xfrm>
              <a:off x="450342" y="4235450"/>
              <a:ext cx="183108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看每个人依法享有什么</a:t>
              </a:r>
            </a:p>
          </p:txBody>
        </p:sp>
      </p:grpSp>
      <p:grpSp>
        <p:nvGrpSpPr>
          <p:cNvPr id="14" name="p04-collective"/>
          <p:cNvGrpSpPr/>
          <p:nvPr/>
        </p:nvGrpSpPr>
        <p:grpSpPr>
          <a:xfrm>
            <a:off x="6464046" y="2089150"/>
            <a:ext cx="3435477" cy="2410333"/>
            <a:chOff x="6464046" y="2089150"/>
            <a:chExt cx="3435477" cy="2410333"/>
          </a:xfrm>
        </p:grpSpPr>
        <p:sp>
          <p:nvSpPr>
            <p:cNvPr id="10" name="TextBox 10"/>
            <p:cNvSpPr txBox="1"/>
            <p:nvPr/>
          </p:nvSpPr>
          <p:spPr>
            <a:xfrm>
              <a:off x="6464046" y="20891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集体人权</a:t>
              </a:r>
            </a:p>
          </p:txBody>
        </p:sp>
        <p:sp>
          <p:nvSpPr>
            <p:cNvPr id="11" name="TextBox 11"/>
            <p:cNvSpPr txBox="1"/>
            <p:nvPr/>
          </p:nvSpPr>
          <p:spPr>
            <a:xfrm>
              <a:off x="6467094" y="28829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种族平等、民族自决</a:t>
              </a:r>
            </a:p>
          </p:txBody>
        </p:sp>
        <p:sp>
          <p:nvSpPr>
            <p:cNvPr id="12" name="TextBox 12"/>
            <p:cNvSpPr txBox="1"/>
            <p:nvPr/>
          </p:nvSpPr>
          <p:spPr>
            <a:xfrm>
              <a:off x="6467094" y="34734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发展、环境、和平等共同需要</a:t>
              </a:r>
            </a:p>
          </p:txBody>
        </p:sp>
        <p:sp>
          <p:nvSpPr>
            <p:cNvPr id="13" name="TextBox 13"/>
            <p:cNvSpPr txBox="1"/>
            <p:nvPr/>
          </p:nvSpPr>
          <p:spPr>
            <a:xfrm>
              <a:off x="6470142" y="4235450"/>
              <a:ext cx="237629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集体也是个人的社会存在方式</a:t>
              </a:r>
            </a:p>
          </p:txBody>
        </p:sp>
      </p:grpSp>
      <p:grpSp>
        <p:nvGrpSpPr>
          <p:cNvPr id="17" name="p04-reveal-1"/>
          <p:cNvGrpSpPr/>
          <p:nvPr/>
        </p:nvGrpSpPr>
        <p:grpSpPr>
          <a:xfrm>
            <a:off x="445008" y="5162550"/>
            <a:ext cx="11289792" cy="710692"/>
            <a:chOff x="445008" y="5162550"/>
            <a:chExt cx="11289792" cy="710692"/>
          </a:xfrm>
        </p:grpSpPr>
        <p:sp>
          <p:nvSpPr>
            <p:cNvPr id="15" name="Line 15"/>
            <p:cNvSpPr/>
            <p:nvPr/>
          </p:nvSpPr>
          <p:spPr>
            <a:xfrm>
              <a:off x="457200" y="51625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6" name="TextBox 16"/>
            <p:cNvSpPr txBox="1"/>
            <p:nvPr/>
          </p:nvSpPr>
          <p:spPr>
            <a:xfrm>
              <a:off x="445008" y="5403850"/>
              <a:ext cx="583996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领域会展开，历史阶段不等于权利高低。</a:t>
              </a:r>
            </a:p>
          </p:txBody>
        </p:sp>
      </p:grpSp>
      <p:grpSp>
        <p:nvGrpSpPr>
          <p:cNvPr id="20" name="p04-footer"/>
          <p:cNvGrpSpPr/>
          <p:nvPr/>
        </p:nvGrpSpPr>
        <p:grpSpPr>
          <a:xfrm>
            <a:off x="451866" y="6502400"/>
            <a:ext cx="11247444" cy="205359"/>
            <a:chOff x="451866" y="6502400"/>
            <a:chExt cx="11247444" cy="205359"/>
          </a:xfrm>
        </p:grpSpPr>
        <p:sp>
          <p:nvSpPr>
            <p:cNvPr id="18" name="TextBox 18"/>
            <p:cNvSpPr txBox="1"/>
            <p:nvPr/>
          </p:nvSpPr>
          <p:spPr>
            <a:xfrm>
              <a:off x="451866" y="6502400"/>
              <a:ext cx="4675251"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依据：教材人权范围及发展说明。只识别范围与层面，不要求背完整名单。</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04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5-title"/>
          <p:cNvGrpSpPr/>
          <p:nvPr/>
        </p:nvGrpSpPr>
        <p:grpSpPr>
          <a:xfrm>
            <a:off x="440436" y="381000"/>
            <a:ext cx="5196840" cy="918464"/>
            <a:chOff x="440436" y="381000"/>
            <a:chExt cx="5196840" cy="918464"/>
          </a:xfrm>
        </p:grpSpPr>
        <p:sp>
          <p:nvSpPr>
            <p:cNvPr id="2" name="TextBox 2"/>
            <p:cNvSpPr txBox="1"/>
            <p:nvPr/>
          </p:nvSpPr>
          <p:spPr>
            <a:xfrm>
              <a:off x="451104" y="38100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一般要求怎样进入宪法</a:t>
              </a:r>
            </a:p>
          </p:txBody>
        </p:sp>
        <p:sp>
          <p:nvSpPr>
            <p:cNvPr id="3" name="TextBox 3"/>
            <p:cNvSpPr txBox="1"/>
            <p:nvPr/>
          </p:nvSpPr>
          <p:spPr>
            <a:xfrm>
              <a:off x="440436" y="654050"/>
              <a:ext cx="519684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从一般主张，到宪法原则</a:t>
              </a:r>
            </a:p>
          </p:txBody>
        </p:sp>
      </p:grpSp>
      <p:grpSp>
        <p:nvGrpSpPr>
          <p:cNvPr id="6" name="p05-gazette"/>
          <p:cNvGrpSpPr/>
          <p:nvPr/>
        </p:nvGrpSpPr>
        <p:grpSpPr>
          <a:xfrm>
            <a:off x="457200" y="1638300"/>
            <a:ext cx="3143250" cy="4705350"/>
            <a:chOff x="457200" y="1638300"/>
            <a:chExt cx="3143250" cy="4705350"/>
          </a:xfrm>
        </p:grpSpPr>
        <p:pic>
          <p:nvPicPr>
            <p:cNvPr id="5" name="Image 5"/>
            <p:cNvPicPr>
              <a:picLocks noChangeAspect="1"/>
            </p:cNvPicPr>
            <p:nvPr/>
          </p:nvPicPr>
          <p:blipFill>
            <a:blip r:embed="rId2"/>
            <a:stretch>
              <a:fillRect/>
            </a:stretch>
          </p:blipFill>
          <p:spPr>
            <a:xfrm>
              <a:off x="457200" y="1638300"/>
              <a:ext cx="3143250" cy="4705350"/>
            </a:xfrm>
            <a:prstGeom prst="rect">
              <a:avLst/>
            </a:prstGeom>
          </p:spPr>
        </p:pic>
      </p:grpSp>
      <p:grpSp>
        <p:nvGrpSpPr>
          <p:cNvPr id="10" name="p05-whitepaper"/>
          <p:cNvGrpSpPr/>
          <p:nvPr/>
        </p:nvGrpSpPr>
        <p:grpSpPr>
          <a:xfrm>
            <a:off x="4273296" y="1797050"/>
            <a:ext cx="4485513" cy="1387983"/>
            <a:chOff x="4273296" y="1797050"/>
            <a:chExt cx="4485513" cy="1387983"/>
          </a:xfrm>
        </p:grpSpPr>
        <p:sp>
          <p:nvSpPr>
            <p:cNvPr id="7" name="TextBox 7"/>
            <p:cNvSpPr txBox="1"/>
            <p:nvPr/>
          </p:nvSpPr>
          <p:spPr>
            <a:xfrm>
              <a:off x="4273296" y="1797050"/>
              <a:ext cx="417896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1991年11月 · 政府白皮书</a:t>
              </a:r>
            </a:p>
          </p:txBody>
        </p:sp>
        <p:sp>
          <p:nvSpPr>
            <p:cNvPr id="8" name="TextBox 8"/>
            <p:cNvSpPr txBox="1"/>
            <p:nvPr/>
          </p:nvSpPr>
          <p:spPr>
            <a:xfrm>
              <a:off x="4276344" y="240665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国务院新闻办公室《中国的人权状况》</a:t>
              </a:r>
            </a:p>
          </p:txBody>
        </p:sp>
        <p:sp>
          <p:nvSpPr>
            <p:cNvPr id="9" name="TextBox 9"/>
            <p:cNvSpPr txBox="1"/>
            <p:nvPr/>
          </p:nvSpPr>
          <p:spPr>
            <a:xfrm>
              <a:off x="4279392" y="2921000"/>
              <a:ext cx="364845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左图为公报刊载的白皮书标题、目录与前言页</a:t>
              </a:r>
            </a:p>
          </p:txBody>
        </p:sp>
      </p:grpSp>
      <p:grpSp>
        <p:nvGrpSpPr>
          <p:cNvPr id="14" name="p05-reveal-1"/>
          <p:cNvGrpSpPr/>
          <p:nvPr/>
        </p:nvGrpSpPr>
        <p:grpSpPr>
          <a:xfrm>
            <a:off x="4273296" y="3429000"/>
            <a:ext cx="7461504" cy="1140206"/>
            <a:chOff x="4273296" y="3429000"/>
            <a:chExt cx="7461504" cy="1140206"/>
          </a:xfrm>
        </p:grpSpPr>
        <p:sp>
          <p:nvSpPr>
            <p:cNvPr id="11" name="Line 11"/>
            <p:cNvSpPr/>
            <p:nvPr/>
          </p:nvSpPr>
          <p:spPr>
            <a:xfrm>
              <a:off x="4286250" y="3429000"/>
              <a:ext cx="7448550" cy="9525"/>
            </a:xfrm>
            <a:custGeom>
              <a:avLst/>
              <a:gdLst/>
              <a:ahLst/>
              <a:cxnLst/>
              <a:rect l="l" t="t" r="r" b="b"/>
              <a:pathLst>
                <a:path w="7448550" h="9525">
                  <a:moveTo>
                    <a:pt x="0" y="0"/>
                  </a:moveTo>
                  <a:lnTo>
                    <a:pt x="7448550" y="0"/>
                  </a:lnTo>
                </a:path>
              </a:pathLst>
            </a:custGeom>
            <a:noFill/>
            <a:ln w="9525">
              <a:solidFill>
                <a:schemeClr val="accent6"/>
              </a:solidFill>
            </a:ln>
          </p:spPr>
        </p:sp>
        <p:sp>
          <p:nvSpPr>
            <p:cNvPr id="12" name="TextBox 12"/>
            <p:cNvSpPr txBox="1"/>
            <p:nvPr/>
          </p:nvSpPr>
          <p:spPr>
            <a:xfrm>
              <a:off x="4273296" y="3597275"/>
              <a:ext cx="4505401"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1997年 · 执政党的工作目标</a:t>
              </a:r>
            </a:p>
          </p:txBody>
        </p:sp>
        <p:sp>
          <p:nvSpPr>
            <p:cNvPr id="13" name="TextBox 13"/>
            <p:cNvSpPr txBox="1"/>
            <p:nvPr/>
          </p:nvSpPr>
          <p:spPr>
            <a:xfrm>
              <a:off x="4276344" y="4187825"/>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党的十五大报告写入尊重和保障人权</a:t>
              </a:r>
            </a:p>
          </p:txBody>
        </p:sp>
      </p:grpSp>
      <p:grpSp>
        <p:nvGrpSpPr>
          <p:cNvPr id="19" name="p05-reveal-2"/>
          <p:cNvGrpSpPr/>
          <p:nvPr/>
        </p:nvGrpSpPr>
        <p:grpSpPr>
          <a:xfrm>
            <a:off x="4273296" y="4895850"/>
            <a:ext cx="7461504" cy="1454531"/>
            <a:chOff x="4273296" y="4895850"/>
            <a:chExt cx="7461504" cy="1454531"/>
          </a:xfrm>
        </p:grpSpPr>
        <p:sp>
          <p:nvSpPr>
            <p:cNvPr id="15" name="Line 15"/>
            <p:cNvSpPr/>
            <p:nvPr/>
          </p:nvSpPr>
          <p:spPr>
            <a:xfrm>
              <a:off x="4286250" y="4895850"/>
              <a:ext cx="7448550" cy="9525"/>
            </a:xfrm>
            <a:custGeom>
              <a:avLst/>
              <a:gdLst/>
              <a:ahLst/>
              <a:cxnLst/>
              <a:rect l="l" t="t" r="r" b="b"/>
              <a:pathLst>
                <a:path w="7448550" h="9525">
                  <a:moveTo>
                    <a:pt x="0" y="0"/>
                  </a:moveTo>
                  <a:lnTo>
                    <a:pt x="7448550" y="0"/>
                  </a:lnTo>
                </a:path>
              </a:pathLst>
            </a:custGeom>
            <a:noFill/>
            <a:ln w="9525">
              <a:solidFill>
                <a:schemeClr val="accent6"/>
              </a:solidFill>
            </a:ln>
          </p:spPr>
        </p:sp>
        <p:sp>
          <p:nvSpPr>
            <p:cNvPr id="16" name="TextBox 16"/>
            <p:cNvSpPr txBox="1"/>
            <p:nvPr/>
          </p:nvSpPr>
          <p:spPr>
            <a:xfrm>
              <a:off x="4273296" y="4987925"/>
              <a:ext cx="118658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2004年</a:t>
              </a:r>
            </a:p>
          </p:txBody>
        </p:sp>
        <p:sp>
          <p:nvSpPr>
            <p:cNvPr id="17" name="TextBox 17"/>
            <p:cNvSpPr txBox="1"/>
            <p:nvPr/>
          </p:nvSpPr>
          <p:spPr>
            <a:xfrm>
              <a:off x="4274058" y="5470525"/>
              <a:ext cx="2932176"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国家尊重和保障人权</a:t>
              </a:r>
            </a:p>
          </p:txBody>
        </p:sp>
        <p:sp>
          <p:nvSpPr>
            <p:cNvPr id="18" name="TextBox 18"/>
            <p:cNvSpPr txBox="1"/>
            <p:nvPr/>
          </p:nvSpPr>
          <p:spPr>
            <a:xfrm>
              <a:off x="4276344" y="596900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一般原则入宪；此前已有具体权利保障。</a:t>
              </a:r>
            </a:p>
          </p:txBody>
        </p:sp>
      </p:grpSp>
      <p:grpSp>
        <p:nvGrpSpPr>
          <p:cNvPr id="22" name="p05-footer"/>
          <p:cNvGrpSpPr/>
          <p:nvPr/>
        </p:nvGrpSpPr>
        <p:grpSpPr>
          <a:xfrm>
            <a:off x="451866" y="6502400"/>
            <a:ext cx="11247444" cy="205359"/>
            <a:chOff x="451866" y="6502400"/>
            <a:chExt cx="11247444" cy="205359"/>
          </a:xfrm>
        </p:grpSpPr>
        <p:sp>
          <p:nvSpPr>
            <p:cNvPr id="20" name="TextBox 20"/>
            <p:cNvSpPr txBox="1"/>
            <p:nvPr/>
          </p:nvSpPr>
          <p:spPr>
            <a:xfrm>
              <a:off x="451866" y="6502400"/>
              <a:ext cx="661176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图：《国务院公报》1991年第39号，第1348页／中国政府网；公报12月刊载不等于白皮书11月首次发布。</a:t>
              </a:r>
            </a:p>
          </p:txBody>
        </p:sp>
        <p:sp>
          <p:nvSpPr>
            <p:cNvPr id="21" name="TextBox 21"/>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05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6-title"/>
          <p:cNvGrpSpPr/>
          <p:nvPr/>
        </p:nvGrpSpPr>
        <p:grpSpPr>
          <a:xfrm>
            <a:off x="440436" y="381000"/>
            <a:ext cx="4727448" cy="918464"/>
            <a:chOff x="440436" y="381000"/>
            <a:chExt cx="4727448" cy="918464"/>
          </a:xfrm>
        </p:grpSpPr>
        <p:sp>
          <p:nvSpPr>
            <p:cNvPr id="2" name="TextBox 2"/>
            <p:cNvSpPr txBox="1"/>
            <p:nvPr/>
          </p:nvSpPr>
          <p:spPr>
            <a:xfrm>
              <a:off x="451104" y="38100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从应有要求到规范确认</a:t>
              </a:r>
            </a:p>
          </p:txBody>
        </p:sp>
        <p:sp>
          <p:nvSpPr>
            <p:cNvPr id="3" name="TextBox 3"/>
            <p:cNvSpPr txBox="1"/>
            <p:nvPr/>
          </p:nvSpPr>
          <p:spPr>
            <a:xfrm>
              <a:off x="440436" y="654050"/>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三个概念，怎样相接？</a:t>
              </a:r>
            </a:p>
          </p:txBody>
        </p:sp>
      </p:grpSp>
      <p:grpSp>
        <p:nvGrpSpPr>
          <p:cNvPr id="10" name="p06-human"/>
          <p:cNvGrpSpPr/>
          <p:nvPr/>
        </p:nvGrpSpPr>
        <p:grpSpPr>
          <a:xfrm>
            <a:off x="438150" y="1717675"/>
            <a:ext cx="2206752" cy="2924683"/>
            <a:chOff x="438150" y="1717675"/>
            <a:chExt cx="2206752" cy="2924683"/>
          </a:xfrm>
        </p:grpSpPr>
        <p:sp>
          <p:nvSpPr>
            <p:cNvPr id="5" name="TextBox 5"/>
            <p:cNvSpPr txBox="1"/>
            <p:nvPr/>
          </p:nvSpPr>
          <p:spPr>
            <a:xfrm>
              <a:off x="438150" y="1717675"/>
              <a:ext cx="1574292"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人权</a:t>
              </a:r>
            </a:p>
          </p:txBody>
        </p:sp>
        <p:sp>
          <p:nvSpPr>
            <p:cNvPr id="6" name="TextBox 6"/>
            <p:cNvSpPr txBox="1"/>
            <p:nvPr/>
          </p:nvSpPr>
          <p:spPr>
            <a:xfrm>
              <a:off x="447294" y="2873375"/>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人应受怎样的对待</a:t>
              </a:r>
            </a:p>
          </p:txBody>
        </p:sp>
        <p:sp>
          <p:nvSpPr>
            <p:cNvPr id="7" name="TextBox 7"/>
            <p:cNvSpPr txBox="1"/>
            <p:nvPr/>
          </p:nvSpPr>
          <p:spPr>
            <a:xfrm>
              <a:off x="447294" y="3235325"/>
              <a:ext cx="2119884"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尊严、生存与发展</a:t>
              </a:r>
            </a:p>
          </p:txBody>
        </p:sp>
        <p:sp>
          <p:nvSpPr>
            <p:cNvPr id="8" name="TextBox 8"/>
            <p:cNvSpPr txBox="1"/>
            <p:nvPr/>
          </p:nvSpPr>
          <p:spPr>
            <a:xfrm>
              <a:off x="450342" y="4111625"/>
              <a:ext cx="21945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正当诉求尚未被充分确认，</a:t>
              </a:r>
            </a:p>
          </p:txBody>
        </p:sp>
        <p:sp>
          <p:nvSpPr>
            <p:cNvPr id="9" name="TextBox 9"/>
            <p:cNvSpPr txBox="1"/>
            <p:nvPr/>
          </p:nvSpPr>
          <p:spPr>
            <a:xfrm>
              <a:off x="450342" y="4378325"/>
              <a:ext cx="21945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仍可成为完善法律的理由。</a:t>
              </a:r>
            </a:p>
          </p:txBody>
        </p:sp>
      </p:grpSp>
      <p:grpSp>
        <p:nvGrpSpPr>
          <p:cNvPr id="13" name="p06-question"/>
          <p:cNvGrpSpPr/>
          <p:nvPr/>
        </p:nvGrpSpPr>
        <p:grpSpPr>
          <a:xfrm>
            <a:off x="445008" y="5232400"/>
            <a:ext cx="3822192" cy="596900"/>
            <a:chOff x="445008" y="5232400"/>
            <a:chExt cx="3822192" cy="596900"/>
          </a:xfrm>
        </p:grpSpPr>
        <p:sp>
          <p:nvSpPr>
            <p:cNvPr id="11" name="TextBox 11"/>
            <p:cNvSpPr txBox="1"/>
            <p:nvPr/>
          </p:nvSpPr>
          <p:spPr>
            <a:xfrm>
              <a:off x="445008" y="5232400"/>
              <a:ext cx="3255264"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法律已经确认了什么？</a:t>
              </a:r>
            </a:p>
          </p:txBody>
        </p:sp>
        <p:sp>
          <p:nvSpPr>
            <p:cNvPr id="12" name="Line 12"/>
            <p:cNvSpPr/>
            <p:nvPr/>
          </p:nvSpPr>
          <p:spPr>
            <a:xfrm>
              <a:off x="457200" y="5819775"/>
              <a:ext cx="3810000" cy="9525"/>
            </a:xfrm>
            <a:custGeom>
              <a:avLst/>
              <a:gdLst/>
              <a:ahLst/>
              <a:cxnLst/>
              <a:rect l="l" t="t" r="r" b="b"/>
              <a:pathLst>
                <a:path w="3810000" h="9525">
                  <a:moveTo>
                    <a:pt x="0" y="0"/>
                  </a:moveTo>
                  <a:lnTo>
                    <a:pt x="3810000" y="0"/>
                  </a:lnTo>
                </a:path>
              </a:pathLst>
            </a:custGeom>
            <a:noFill/>
            <a:ln w="19050">
              <a:solidFill>
                <a:schemeClr val="accent2"/>
              </a:solidFill>
            </a:ln>
          </p:spPr>
        </p:sp>
      </p:grpSp>
      <p:grpSp>
        <p:nvGrpSpPr>
          <p:cNvPr id="22" name="p06-reveal-1"/>
          <p:cNvGrpSpPr/>
          <p:nvPr/>
        </p:nvGrpSpPr>
        <p:grpSpPr>
          <a:xfrm>
            <a:off x="5029200" y="1752600"/>
            <a:ext cx="6686550" cy="4248150"/>
            <a:chOff x="5029200" y="1752600"/>
            <a:chExt cx="6686550" cy="4248150"/>
          </a:xfrm>
        </p:grpSpPr>
        <p:sp>
          <p:nvSpPr>
            <p:cNvPr id="14" name="Rectangle 14"/>
            <p:cNvSpPr/>
            <p:nvPr/>
          </p:nvSpPr>
          <p:spPr>
            <a:xfrm>
              <a:off x="5029200" y="1752600"/>
              <a:ext cx="6686550" cy="4248150"/>
            </a:xfrm>
            <a:prstGeom prst="rect">
              <a:avLst/>
            </a:prstGeom>
            <a:noFill/>
            <a:ln w="19050">
              <a:solidFill>
                <a:schemeClr val="accent3"/>
              </a:solidFill>
            </a:ln>
          </p:spPr>
        </p:sp>
        <p:sp>
          <p:nvSpPr>
            <p:cNvPr id="15" name="TextBox 15"/>
            <p:cNvSpPr txBox="1"/>
            <p:nvPr/>
          </p:nvSpPr>
          <p:spPr>
            <a:xfrm>
              <a:off x="5359146" y="19367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法律权利</a:t>
              </a:r>
            </a:p>
          </p:txBody>
        </p:sp>
        <p:sp>
          <p:nvSpPr>
            <p:cNvPr id="16" name="TextBox 16"/>
            <p:cNvSpPr txBox="1"/>
            <p:nvPr/>
          </p:nvSpPr>
          <p:spPr>
            <a:xfrm>
              <a:off x="5362194" y="254000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由法律规范确认的要求资格</a:t>
              </a:r>
            </a:p>
          </p:txBody>
        </p:sp>
        <p:sp>
          <p:nvSpPr>
            <p:cNvPr id="17" name="Rectangle 17"/>
            <p:cNvSpPr/>
            <p:nvPr/>
          </p:nvSpPr>
          <p:spPr>
            <a:xfrm>
              <a:off x="5372100" y="3238500"/>
              <a:ext cx="6000750" cy="1600200"/>
            </a:xfrm>
            <a:prstGeom prst="rect">
              <a:avLst/>
            </a:prstGeom>
            <a:solidFill>
              <a:schemeClr val="lt2"/>
            </a:solidFill>
            <a:ln>
              <a:noFill/>
            </a:ln>
          </p:spPr>
        </p:sp>
        <p:sp>
          <p:nvSpPr>
            <p:cNvPr id="18" name="TextBox 18"/>
            <p:cNvSpPr txBox="1"/>
            <p:nvPr/>
          </p:nvSpPr>
          <p:spPr>
            <a:xfrm>
              <a:off x="5625846" y="342265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宪法基本权利</a:t>
              </a:r>
            </a:p>
          </p:txBody>
        </p:sp>
        <p:sp>
          <p:nvSpPr>
            <p:cNvPr id="19" name="TextBox 19"/>
            <p:cNvSpPr txBox="1"/>
            <p:nvPr/>
          </p:nvSpPr>
          <p:spPr>
            <a:xfrm>
              <a:off x="5628894" y="39687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宪法确认的基本保障</a:t>
              </a:r>
            </a:p>
          </p:txBody>
        </p:sp>
        <p:sp>
          <p:nvSpPr>
            <p:cNvPr id="20" name="TextBox 20"/>
            <p:cNvSpPr txBox="1"/>
            <p:nvPr/>
          </p:nvSpPr>
          <p:spPr>
            <a:xfrm>
              <a:off x="5631942" y="4406900"/>
              <a:ext cx="36666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属于法律上的权利；不是第三层“更大权利”。</a:t>
              </a:r>
            </a:p>
          </p:txBody>
        </p:sp>
        <p:sp>
          <p:nvSpPr>
            <p:cNvPr id="21" name="TextBox 21"/>
            <p:cNvSpPr txBox="1"/>
            <p:nvPr/>
          </p:nvSpPr>
          <p:spPr>
            <a:xfrm>
              <a:off x="5362194" y="530225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关联着看，名称不能随意互换。</a:t>
              </a:r>
            </a:p>
          </p:txBody>
        </p:sp>
      </p:grpSp>
      <p:grpSp>
        <p:nvGrpSpPr>
          <p:cNvPr id="25" name="p06-footer"/>
          <p:cNvGrpSpPr/>
          <p:nvPr/>
        </p:nvGrpSpPr>
        <p:grpSpPr>
          <a:xfrm>
            <a:off x="451866" y="6502400"/>
            <a:ext cx="11247444" cy="205359"/>
            <a:chOff x="451866" y="6502400"/>
            <a:chExt cx="11247444" cy="205359"/>
          </a:xfrm>
        </p:grpSpPr>
        <p:sp>
          <p:nvSpPr>
            <p:cNvPr id="23" name="TextBox 23"/>
            <p:cNvSpPr txBox="1"/>
            <p:nvPr/>
          </p:nvSpPr>
          <p:spPr>
            <a:xfrm>
              <a:off x="451866" y="6502400"/>
              <a:ext cx="552335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依据：本讲对教材用语的衔接。图示表达概念关系，不表示人权仅限于已经入法的内容。</a:t>
              </a:r>
            </a:p>
          </p:txBody>
        </p:sp>
        <p:sp>
          <p:nvSpPr>
            <p:cNvPr id="24" name="TextBox 24"/>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06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7-title"/>
          <p:cNvGrpSpPr/>
          <p:nvPr/>
        </p:nvGrpSpPr>
        <p:grpSpPr>
          <a:xfrm>
            <a:off x="440436" y="381000"/>
            <a:ext cx="5666232" cy="918464"/>
            <a:chOff x="440436" y="381000"/>
            <a:chExt cx="5666232" cy="918464"/>
          </a:xfrm>
        </p:grpSpPr>
        <p:sp>
          <p:nvSpPr>
            <p:cNvPr id="2" name="TextBox 2"/>
            <p:cNvSpPr txBox="1"/>
            <p:nvPr/>
          </p:nvSpPr>
          <p:spPr>
            <a:xfrm>
              <a:off x="451104" y="381000"/>
              <a:ext cx="329153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权利指向义务，也须有依据</a:t>
              </a:r>
            </a:p>
          </p:txBody>
        </p:sp>
        <p:sp>
          <p:nvSpPr>
            <p:cNvPr id="3" name="TextBox 3"/>
            <p:cNvSpPr txBox="1"/>
            <p:nvPr/>
          </p:nvSpPr>
          <p:spPr>
            <a:xfrm>
              <a:off x="440436" y="65405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同一本书，两种不同的要求</a:t>
              </a:r>
            </a:p>
          </p:txBody>
        </p:sp>
      </p:grpSp>
      <p:grpSp>
        <p:nvGrpSpPr>
          <p:cNvPr id="12" name="p07-object"/>
          <p:cNvGrpSpPr/>
          <p:nvPr/>
        </p:nvGrpSpPr>
        <p:grpSpPr>
          <a:xfrm>
            <a:off x="444246" y="1752600"/>
            <a:ext cx="10772394" cy="1181100"/>
            <a:chOff x="444246" y="1752600"/>
            <a:chExt cx="10772394" cy="1181100"/>
          </a:xfrm>
        </p:grpSpPr>
        <p:sp>
          <p:nvSpPr>
            <p:cNvPr id="5" name="TextBox 5"/>
            <p:cNvSpPr txBox="1"/>
            <p:nvPr/>
          </p:nvSpPr>
          <p:spPr>
            <a:xfrm>
              <a:off x="444246" y="1946275"/>
              <a:ext cx="111404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出借人</a:t>
              </a:r>
            </a:p>
          </p:txBody>
        </p:sp>
        <p:sp>
          <p:nvSpPr>
            <p:cNvPr id="6" name="Rectangle 6"/>
            <p:cNvSpPr/>
            <p:nvPr/>
          </p:nvSpPr>
          <p:spPr>
            <a:xfrm>
              <a:off x="5219700" y="1752600"/>
              <a:ext cx="1562100" cy="1181100"/>
            </a:xfrm>
            <a:prstGeom prst="rect">
              <a:avLst/>
            </a:prstGeom>
            <a:solidFill>
              <a:schemeClr val="lt2"/>
            </a:solidFill>
            <a:ln w="19050">
              <a:solidFill>
                <a:schemeClr val="accent1"/>
              </a:solidFill>
            </a:ln>
          </p:spPr>
        </p:sp>
        <p:sp>
          <p:nvSpPr>
            <p:cNvPr id="7" name="Line 7"/>
            <p:cNvSpPr/>
            <p:nvPr/>
          </p:nvSpPr>
          <p:spPr>
            <a:xfrm>
              <a:off x="5391150" y="1762125"/>
              <a:ext cx="9525" cy="1162050"/>
            </a:xfrm>
            <a:custGeom>
              <a:avLst/>
              <a:gdLst/>
              <a:ahLst/>
              <a:cxnLst/>
              <a:rect l="l" t="t" r="r" b="b"/>
              <a:pathLst>
                <a:path w="9525" h="1162050">
                  <a:moveTo>
                    <a:pt x="0" y="0"/>
                  </a:moveTo>
                  <a:lnTo>
                    <a:pt x="0" y="1162050"/>
                  </a:lnTo>
                </a:path>
              </a:pathLst>
            </a:custGeom>
            <a:noFill/>
            <a:ln w="19050">
              <a:solidFill>
                <a:schemeClr val="accent2"/>
              </a:solidFill>
            </a:ln>
          </p:spPr>
        </p:sp>
        <p:sp>
          <p:nvSpPr>
            <p:cNvPr id="8" name="TextBox 8"/>
            <p:cNvSpPr txBox="1"/>
            <p:nvPr/>
          </p:nvSpPr>
          <p:spPr>
            <a:xfrm>
              <a:off x="5598033" y="2155825"/>
              <a:ext cx="34747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书</a:t>
              </a:r>
            </a:p>
          </p:txBody>
        </p:sp>
        <p:sp>
          <p:nvSpPr>
            <p:cNvPr id="9" name="TextBox 9"/>
            <p:cNvSpPr txBox="1"/>
            <p:nvPr/>
          </p:nvSpPr>
          <p:spPr>
            <a:xfrm>
              <a:off x="10102596" y="1946275"/>
              <a:ext cx="111404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借书人</a:t>
              </a:r>
            </a:p>
          </p:txBody>
        </p:sp>
        <p:sp>
          <p:nvSpPr>
            <p:cNvPr id="10" name="TextBox 10"/>
            <p:cNvSpPr txBox="1"/>
            <p:nvPr/>
          </p:nvSpPr>
          <p:spPr>
            <a:xfrm>
              <a:off x="450342" y="2606675"/>
              <a:ext cx="128587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同一项借用关系</a:t>
              </a:r>
            </a:p>
          </p:txBody>
        </p:sp>
        <p:sp>
          <p:nvSpPr>
            <p:cNvPr id="11" name="TextBox 11"/>
            <p:cNvSpPr txBox="1"/>
            <p:nvPr/>
          </p:nvSpPr>
          <p:spPr>
            <a:xfrm>
              <a:off x="9841992" y="2606675"/>
              <a:ext cx="110413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持有借来的书</a:t>
              </a:r>
            </a:p>
          </p:txBody>
        </p:sp>
      </p:grpSp>
      <p:grpSp>
        <p:nvGrpSpPr>
          <p:cNvPr id="19" name="p07-reveal-1"/>
          <p:cNvGrpSpPr/>
          <p:nvPr/>
        </p:nvGrpSpPr>
        <p:grpSpPr>
          <a:xfrm>
            <a:off x="445008" y="3317875"/>
            <a:ext cx="11221212" cy="1298956"/>
            <a:chOff x="445008" y="3317875"/>
            <a:chExt cx="11221212" cy="1298956"/>
          </a:xfrm>
        </p:grpSpPr>
        <p:sp>
          <p:nvSpPr>
            <p:cNvPr id="13" name="TextBox 13"/>
            <p:cNvSpPr txBox="1"/>
            <p:nvPr/>
          </p:nvSpPr>
          <p:spPr>
            <a:xfrm>
              <a:off x="445008" y="3317875"/>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可以要求归还</a:t>
              </a:r>
            </a:p>
          </p:txBody>
        </p:sp>
        <p:sp>
          <p:nvSpPr>
            <p:cNvPr id="14" name="Line 14"/>
            <p:cNvSpPr/>
            <p:nvPr/>
          </p:nvSpPr>
          <p:spPr>
            <a:xfrm>
              <a:off x="3333750" y="3524250"/>
              <a:ext cx="5734050" cy="9525"/>
            </a:xfrm>
            <a:custGeom>
              <a:avLst/>
              <a:gdLst/>
              <a:ahLst/>
              <a:cxnLst/>
              <a:rect l="l" t="t" r="r" b="b"/>
              <a:pathLst>
                <a:path w="5734050" h="9525">
                  <a:moveTo>
                    <a:pt x="0" y="0"/>
                  </a:moveTo>
                  <a:lnTo>
                    <a:pt x="5734050" y="0"/>
                  </a:lnTo>
                </a:path>
              </a:pathLst>
            </a:custGeom>
            <a:noFill/>
            <a:ln w="19050">
              <a:solidFill>
                <a:schemeClr val="accent1"/>
              </a:solidFill>
            </a:ln>
          </p:spPr>
        </p:sp>
        <p:sp>
          <p:nvSpPr>
            <p:cNvPr id="15" name="Freeform 15"/>
            <p:cNvSpPr/>
            <p:nvPr/>
          </p:nvSpPr>
          <p:spPr>
            <a:xfrm>
              <a:off x="8934450" y="3457575"/>
              <a:ext cx="133350" cy="133350"/>
            </a:xfrm>
            <a:custGeom>
              <a:avLst/>
              <a:gdLst/>
              <a:ahLst/>
              <a:cxnLst/>
              <a:rect l="l" t="t" r="r" b="b"/>
              <a:pathLst>
                <a:path w="133350" h="133350">
                  <a:moveTo>
                    <a:pt x="133350" y="66675"/>
                  </a:moveTo>
                  <a:lnTo>
                    <a:pt x="0" y="0"/>
                  </a:lnTo>
                  <a:lnTo>
                    <a:pt x="0" y="133350"/>
                  </a:lnTo>
                  <a:close/>
                </a:path>
              </a:pathLst>
            </a:custGeom>
            <a:solidFill>
              <a:schemeClr val="accent1"/>
            </a:solidFill>
            <a:ln>
              <a:noFill/>
            </a:ln>
          </p:spPr>
        </p:sp>
        <p:sp>
          <p:nvSpPr>
            <p:cNvPr id="16" name="TextBox 16"/>
            <p:cNvSpPr txBox="1"/>
            <p:nvPr/>
          </p:nvSpPr>
          <p:spPr>
            <a:xfrm>
              <a:off x="9703308" y="3317875"/>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负有还书义务</a:t>
              </a:r>
            </a:p>
          </p:txBody>
        </p:sp>
        <p:sp>
          <p:nvSpPr>
            <p:cNvPr id="17" name="TextBox 17"/>
            <p:cNvSpPr txBox="1"/>
            <p:nvPr/>
          </p:nvSpPr>
          <p:spPr>
            <a:xfrm>
              <a:off x="4088892" y="3835400"/>
              <a:ext cx="1467612"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要求与义务相对应</a:t>
              </a:r>
            </a:p>
          </p:txBody>
        </p:sp>
        <p:sp>
          <p:nvSpPr>
            <p:cNvPr id="18" name="TextBox 18"/>
            <p:cNvSpPr txBox="1"/>
            <p:nvPr/>
          </p:nvSpPr>
          <p:spPr>
            <a:xfrm>
              <a:off x="447294" y="4235450"/>
              <a:ext cx="7396315"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还要有法律关系和规范的认可；“对等”不等于拥有同一种职权。</a:t>
              </a:r>
            </a:p>
          </p:txBody>
        </p:sp>
      </p:grpSp>
      <p:grpSp>
        <p:nvGrpSpPr>
          <p:cNvPr id="24" name="p07-reveal-2"/>
          <p:cNvGrpSpPr/>
          <p:nvPr/>
        </p:nvGrpSpPr>
        <p:grpSpPr>
          <a:xfrm>
            <a:off x="444246" y="4895850"/>
            <a:ext cx="11290554" cy="1318133"/>
            <a:chOff x="444246" y="4895850"/>
            <a:chExt cx="11290554" cy="1318133"/>
          </a:xfrm>
        </p:grpSpPr>
        <p:sp>
          <p:nvSpPr>
            <p:cNvPr id="20" name="Line 20"/>
            <p:cNvSpPr/>
            <p:nvPr/>
          </p:nvSpPr>
          <p:spPr>
            <a:xfrm>
              <a:off x="457200" y="48958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21" name="TextBox 21"/>
            <p:cNvSpPr txBox="1"/>
            <p:nvPr/>
          </p:nvSpPr>
          <p:spPr>
            <a:xfrm>
              <a:off x="444246" y="5006975"/>
              <a:ext cx="4777435"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换成：“希望朋友送我一本书”</a:t>
              </a:r>
            </a:p>
          </p:txBody>
        </p:sp>
        <p:sp>
          <p:nvSpPr>
            <p:cNvPr id="22" name="TextBox 22"/>
            <p:cNvSpPr txBox="1"/>
            <p:nvPr/>
          </p:nvSpPr>
          <p:spPr>
            <a:xfrm>
              <a:off x="447294" y="5540375"/>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仅凭想要，不能认定对方负有赠书义务。</a:t>
              </a:r>
            </a:p>
          </p:txBody>
        </p:sp>
        <p:sp>
          <p:nvSpPr>
            <p:cNvPr id="23" name="TextBox 23"/>
            <p:cNvSpPr txBox="1"/>
            <p:nvPr/>
          </p:nvSpPr>
          <p:spPr>
            <a:xfrm>
              <a:off x="450342" y="5949950"/>
              <a:ext cx="492061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这在辨认眼前的法律关系，不否定正当诉求完善法律的价值。</a:t>
              </a:r>
            </a:p>
          </p:txBody>
        </p:sp>
      </p:grpSp>
      <p:grpSp>
        <p:nvGrpSpPr>
          <p:cNvPr id="27" name="p07-footer"/>
          <p:cNvGrpSpPr/>
          <p:nvPr/>
        </p:nvGrpSpPr>
        <p:grpSpPr>
          <a:xfrm>
            <a:off x="451866" y="6502400"/>
            <a:ext cx="11247444" cy="205359"/>
            <a:chOff x="451866" y="6502400"/>
            <a:chExt cx="11247444" cy="205359"/>
          </a:xfrm>
        </p:grpSpPr>
        <p:sp>
          <p:nvSpPr>
            <p:cNvPr id="25" name="TextBox 25"/>
            <p:cNvSpPr txBox="1"/>
            <p:nvPr/>
          </p:nvSpPr>
          <p:spPr>
            <a:xfrm>
              <a:off x="451866" y="6502400"/>
              <a:ext cx="283768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依据：教材权利定义；借书情境为教学设例。</a:t>
              </a:r>
            </a:p>
          </p:txBody>
        </p:sp>
        <p:sp>
          <p:nvSpPr>
            <p:cNvPr id="26" name="TextBox 26"/>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07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8-title"/>
          <p:cNvGrpSpPr/>
          <p:nvPr/>
        </p:nvGrpSpPr>
        <p:grpSpPr>
          <a:xfrm>
            <a:off x="440436" y="381000"/>
            <a:ext cx="5196840" cy="918464"/>
            <a:chOff x="440436" y="381000"/>
            <a:chExt cx="5196840" cy="918464"/>
          </a:xfrm>
        </p:grpSpPr>
        <p:sp>
          <p:nvSpPr>
            <p:cNvPr id="2" name="TextBox 2"/>
            <p:cNvSpPr txBox="1"/>
            <p:nvPr/>
          </p:nvSpPr>
          <p:spPr>
            <a:xfrm>
              <a:off x="451104" y="381000"/>
              <a:ext cx="216072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资格与结果</a:t>
              </a:r>
            </a:p>
          </p:txBody>
        </p:sp>
        <p:sp>
          <p:nvSpPr>
            <p:cNvPr id="3" name="TextBox 3"/>
            <p:cNvSpPr txBox="1"/>
            <p:nvPr/>
          </p:nvSpPr>
          <p:spPr>
            <a:xfrm>
              <a:off x="440436" y="654050"/>
              <a:ext cx="519684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有权要求，未必已经得到</a:t>
              </a:r>
            </a:p>
          </p:txBody>
        </p:sp>
      </p:grpSp>
      <p:grpSp>
        <p:nvGrpSpPr>
          <p:cNvPr id="9" name="p08-claim"/>
          <p:cNvGrpSpPr/>
          <p:nvPr/>
        </p:nvGrpSpPr>
        <p:grpSpPr>
          <a:xfrm>
            <a:off x="444246" y="2041525"/>
            <a:ext cx="4261104" cy="2073275"/>
            <a:chOff x="444246" y="2041525"/>
            <a:chExt cx="4261104" cy="2073275"/>
          </a:xfrm>
        </p:grpSpPr>
        <p:sp>
          <p:nvSpPr>
            <p:cNvPr id="5" name="TextBox 5"/>
            <p:cNvSpPr txBox="1"/>
            <p:nvPr/>
          </p:nvSpPr>
          <p:spPr>
            <a:xfrm>
              <a:off x="444246" y="2041525"/>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要求归还的资格</a:t>
              </a:r>
            </a:p>
          </p:txBody>
        </p:sp>
        <p:sp>
          <p:nvSpPr>
            <p:cNvPr id="6" name="Rectangle 6"/>
            <p:cNvSpPr/>
            <p:nvPr/>
          </p:nvSpPr>
          <p:spPr>
            <a:xfrm>
              <a:off x="457200" y="2743200"/>
              <a:ext cx="4248150" cy="1371600"/>
            </a:xfrm>
            <a:prstGeom prst="rect">
              <a:avLst/>
            </a:prstGeom>
            <a:solidFill>
              <a:schemeClr val="lt2"/>
            </a:solidFill>
            <a:ln>
              <a:noFill/>
            </a:ln>
          </p:spPr>
        </p:sp>
        <p:sp>
          <p:nvSpPr>
            <p:cNvPr id="7" name="TextBox 7"/>
            <p:cNvSpPr txBox="1"/>
            <p:nvPr/>
          </p:nvSpPr>
          <p:spPr>
            <a:xfrm>
              <a:off x="711708" y="2984500"/>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还书义务仍然存在</a:t>
              </a:r>
            </a:p>
          </p:txBody>
        </p:sp>
        <p:sp>
          <p:nvSpPr>
            <p:cNvPr id="8" name="TextBox 8"/>
            <p:cNvSpPr txBox="1"/>
            <p:nvPr/>
          </p:nvSpPr>
          <p:spPr>
            <a:xfrm>
              <a:off x="713994" y="34925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由相应法律关系支持</a:t>
              </a:r>
            </a:p>
          </p:txBody>
        </p:sp>
      </p:grpSp>
      <p:grpSp>
        <p:nvGrpSpPr>
          <p:cNvPr id="12" name="p08-different"/>
          <p:cNvGrpSpPr/>
          <p:nvPr/>
        </p:nvGrpSpPr>
        <p:grpSpPr>
          <a:xfrm>
            <a:off x="5231892" y="2670175"/>
            <a:ext cx="1104138" cy="1324483"/>
            <a:chOff x="5231892" y="2670175"/>
            <a:chExt cx="1104138" cy="1324483"/>
          </a:xfrm>
        </p:grpSpPr>
        <p:sp>
          <p:nvSpPr>
            <p:cNvPr id="10" name="TextBox 10"/>
            <p:cNvSpPr txBox="1"/>
            <p:nvPr/>
          </p:nvSpPr>
          <p:spPr>
            <a:xfrm>
              <a:off x="5562600" y="2670175"/>
              <a:ext cx="460553" cy="1047750"/>
            </a:xfrm>
            <a:prstGeom prst="rect">
              <a:avLst/>
            </a:prstGeom>
            <a:noFill/>
            <a:ln>
              <a:noFill/>
            </a:ln>
          </p:spPr>
          <p:txBody>
            <a:bodyPr wrap="none" lIns="0" tIns="0" rIns="0" bIns="0" anchor="t" anchorCtr="0">
              <a:spAutoFit/>
            </a:bodyPr>
            <a:lstStyle/>
            <a:p>
              <a:pPr algn="l"/>
              <a:r>
                <a:rPr lang="zh-CN" sz="5400" dirty="0">
                  <a:solidFill>
                    <a:schemeClr val="accent2"/>
                  </a:solidFill>
                  <a:latin typeface="+mj-lt"/>
                  <a:ea typeface="+mj-ea"/>
                  <a:cs typeface="+mj-cs"/>
                </a:rPr>
                <a:t>≠</a:t>
              </a:r>
            </a:p>
          </p:txBody>
        </p:sp>
        <p:sp>
          <p:nvSpPr>
            <p:cNvPr id="11" name="TextBox 11"/>
            <p:cNvSpPr txBox="1"/>
            <p:nvPr/>
          </p:nvSpPr>
          <p:spPr>
            <a:xfrm>
              <a:off x="5231892" y="3730625"/>
              <a:ext cx="1104138"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不是自动兑现</a:t>
              </a:r>
            </a:p>
          </p:txBody>
        </p:sp>
      </p:grpSp>
      <p:grpSp>
        <p:nvGrpSpPr>
          <p:cNvPr id="18" name="p08-result"/>
          <p:cNvGrpSpPr/>
          <p:nvPr/>
        </p:nvGrpSpPr>
        <p:grpSpPr>
          <a:xfrm>
            <a:off x="7073646" y="2041525"/>
            <a:ext cx="3608832" cy="2054225"/>
            <a:chOff x="7073646" y="2041525"/>
            <a:chExt cx="3608832" cy="2054225"/>
          </a:xfrm>
        </p:grpSpPr>
        <p:sp>
          <p:nvSpPr>
            <p:cNvPr id="13" name="TextBox 13"/>
            <p:cNvSpPr txBox="1"/>
            <p:nvPr/>
          </p:nvSpPr>
          <p:spPr>
            <a:xfrm>
              <a:off x="7073646" y="2041525"/>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实际履行的结果</a:t>
              </a:r>
            </a:p>
          </p:txBody>
        </p:sp>
        <p:sp>
          <p:nvSpPr>
            <p:cNvPr id="14" name="Rectangle 14"/>
            <p:cNvSpPr/>
            <p:nvPr/>
          </p:nvSpPr>
          <p:spPr>
            <a:xfrm>
              <a:off x="7334250" y="2705100"/>
              <a:ext cx="990600" cy="1390650"/>
            </a:xfrm>
            <a:prstGeom prst="rect">
              <a:avLst/>
            </a:prstGeom>
            <a:solidFill>
              <a:schemeClr val="lt2"/>
            </a:solidFill>
            <a:ln w="19050">
              <a:solidFill>
                <a:schemeClr val="accent1"/>
              </a:solidFill>
            </a:ln>
          </p:spPr>
        </p:sp>
        <p:sp>
          <p:nvSpPr>
            <p:cNvPr id="15" name="Line 15"/>
            <p:cNvSpPr/>
            <p:nvPr/>
          </p:nvSpPr>
          <p:spPr>
            <a:xfrm>
              <a:off x="7486650" y="2724150"/>
              <a:ext cx="9525" cy="1352550"/>
            </a:xfrm>
            <a:custGeom>
              <a:avLst/>
              <a:gdLst/>
              <a:ahLst/>
              <a:cxnLst/>
              <a:rect l="l" t="t" r="r" b="b"/>
              <a:pathLst>
                <a:path w="9525" h="1352550">
                  <a:moveTo>
                    <a:pt x="0" y="0"/>
                  </a:moveTo>
                  <a:lnTo>
                    <a:pt x="0" y="1352550"/>
                  </a:lnTo>
                </a:path>
              </a:pathLst>
            </a:custGeom>
            <a:noFill/>
            <a:ln w="19050">
              <a:solidFill>
                <a:schemeClr val="accent2"/>
              </a:solidFill>
            </a:ln>
          </p:spPr>
        </p:sp>
        <p:sp>
          <p:nvSpPr>
            <p:cNvPr id="16" name="TextBox 16"/>
            <p:cNvSpPr txBox="1"/>
            <p:nvPr/>
          </p:nvSpPr>
          <p:spPr>
            <a:xfrm>
              <a:off x="8560308" y="300355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书还没回来</a:t>
              </a:r>
            </a:p>
          </p:txBody>
        </p:sp>
        <p:sp>
          <p:nvSpPr>
            <p:cNvPr id="17" name="TextBox 17"/>
            <p:cNvSpPr txBox="1"/>
            <p:nvPr/>
          </p:nvSpPr>
          <p:spPr>
            <a:xfrm>
              <a:off x="8562594" y="3502025"/>
              <a:ext cx="2119884"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权利没有因此消失</a:t>
              </a:r>
            </a:p>
          </p:txBody>
        </p:sp>
      </p:grpSp>
      <p:grpSp>
        <p:nvGrpSpPr>
          <p:cNvPr id="22" name="p08-reveal-1"/>
          <p:cNvGrpSpPr/>
          <p:nvPr/>
        </p:nvGrpSpPr>
        <p:grpSpPr>
          <a:xfrm>
            <a:off x="445008" y="5010150"/>
            <a:ext cx="11289792" cy="1083056"/>
            <a:chOff x="445008" y="5010150"/>
            <a:chExt cx="11289792" cy="1083056"/>
          </a:xfrm>
        </p:grpSpPr>
        <p:sp>
          <p:nvSpPr>
            <p:cNvPr id="19" name="Line 19"/>
            <p:cNvSpPr/>
            <p:nvPr/>
          </p:nvSpPr>
          <p:spPr>
            <a:xfrm>
              <a:off x="457200" y="50101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20" name="TextBox 20"/>
            <p:cNvSpPr txBox="1"/>
            <p:nvPr/>
          </p:nvSpPr>
          <p:spPr>
            <a:xfrm>
              <a:off x="445008" y="5156200"/>
              <a:ext cx="583996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落空以后，才需要继续追问保障与救济。</a:t>
              </a:r>
            </a:p>
          </p:txBody>
        </p:sp>
        <p:sp>
          <p:nvSpPr>
            <p:cNvPr id="21" name="TextBox 21"/>
            <p:cNvSpPr txBox="1"/>
            <p:nvPr/>
          </p:nvSpPr>
          <p:spPr>
            <a:xfrm>
              <a:off x="447294" y="5711825"/>
              <a:ext cx="710755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规范确认也约束国家；确认权利，不是可以任意收回的恩赐。</a:t>
              </a:r>
            </a:p>
          </p:txBody>
        </p:sp>
      </p:grpSp>
      <p:grpSp>
        <p:nvGrpSpPr>
          <p:cNvPr id="25" name="p08-footer"/>
          <p:cNvGrpSpPr/>
          <p:nvPr/>
        </p:nvGrpSpPr>
        <p:grpSpPr>
          <a:xfrm>
            <a:off x="451866" y="6502400"/>
            <a:ext cx="11247444" cy="205359"/>
            <a:chOff x="451866" y="6502400"/>
            <a:chExt cx="11247444" cy="205359"/>
          </a:xfrm>
        </p:grpSpPr>
        <p:sp>
          <p:nvSpPr>
            <p:cNvPr id="23" name="TextBox 23"/>
            <p:cNvSpPr txBox="1"/>
            <p:nvPr/>
          </p:nvSpPr>
          <p:spPr>
            <a:xfrm>
              <a:off x="451866" y="6502400"/>
              <a:ext cx="483073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依据：教材“资格”及本讲解释。对照资格与事实结果，不以未履行划掉权利。</a:t>
              </a:r>
            </a:p>
          </p:txBody>
        </p:sp>
        <p:sp>
          <p:nvSpPr>
            <p:cNvPr id="24" name="TextBox 24"/>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08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9-title"/>
          <p:cNvGrpSpPr/>
          <p:nvPr/>
        </p:nvGrpSpPr>
        <p:grpSpPr>
          <a:xfrm>
            <a:off x="440436" y="381000"/>
            <a:ext cx="6135624" cy="918464"/>
            <a:chOff x="440436" y="381000"/>
            <a:chExt cx="6135624" cy="918464"/>
          </a:xfrm>
        </p:grpSpPr>
        <p:sp>
          <p:nvSpPr>
            <p:cNvPr id="2" name="TextBox 2"/>
            <p:cNvSpPr txBox="1"/>
            <p:nvPr/>
          </p:nvSpPr>
          <p:spPr>
            <a:xfrm>
              <a:off x="451104" y="38100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教材同时提醒两个方向</a:t>
              </a:r>
            </a:p>
          </p:txBody>
        </p:sp>
        <p:sp>
          <p:nvSpPr>
            <p:cNvPr id="3" name="TextBox 3"/>
            <p:cNvSpPr txBox="1"/>
            <p:nvPr/>
          </p:nvSpPr>
          <p:spPr>
            <a:xfrm>
              <a:off x="440436" y="65405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承认现实条件，也要继续保障</a:t>
              </a:r>
            </a:p>
          </p:txBody>
        </p:sp>
      </p:grpSp>
      <p:grpSp>
        <p:nvGrpSpPr>
          <p:cNvPr id="6" name="p09-center"/>
          <p:cNvGrpSpPr/>
          <p:nvPr/>
        </p:nvGrpSpPr>
        <p:grpSpPr>
          <a:xfrm>
            <a:off x="444246" y="1993900"/>
            <a:ext cx="6917436" cy="498729"/>
            <a:chOff x="444246" y="1993900"/>
            <a:chExt cx="6917436" cy="498729"/>
          </a:xfrm>
        </p:grpSpPr>
        <p:sp>
          <p:nvSpPr>
            <p:cNvPr id="5" name="TextBox 5"/>
            <p:cNvSpPr txBox="1"/>
            <p:nvPr/>
          </p:nvSpPr>
          <p:spPr>
            <a:xfrm>
              <a:off x="444246" y="1993900"/>
              <a:ext cx="691743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权利从产生到实现、发展，都有现实基础。</a:t>
              </a:r>
            </a:p>
          </p:txBody>
        </p:sp>
      </p:grpSp>
      <p:grpSp>
        <p:nvGrpSpPr>
          <p:cNvPr id="10" name="p09-left"/>
          <p:cNvGrpSpPr/>
          <p:nvPr/>
        </p:nvGrpSpPr>
        <p:grpSpPr>
          <a:xfrm>
            <a:off x="445008" y="3200400"/>
            <a:ext cx="5231892" cy="1130681"/>
            <a:chOff x="445008" y="3200400"/>
            <a:chExt cx="5231892" cy="1130681"/>
          </a:xfrm>
        </p:grpSpPr>
        <p:sp>
          <p:nvSpPr>
            <p:cNvPr id="7" name="Line 7"/>
            <p:cNvSpPr/>
            <p:nvPr/>
          </p:nvSpPr>
          <p:spPr>
            <a:xfrm>
              <a:off x="457200" y="3200400"/>
              <a:ext cx="5219700" cy="9525"/>
            </a:xfrm>
            <a:custGeom>
              <a:avLst/>
              <a:gdLst/>
              <a:ahLst/>
              <a:cxnLst/>
              <a:rect l="l" t="t" r="r" b="b"/>
              <a:pathLst>
                <a:path w="5219700" h="9525">
                  <a:moveTo>
                    <a:pt x="0" y="0"/>
                  </a:moveTo>
                  <a:lnTo>
                    <a:pt x="5219700" y="0"/>
                  </a:lnTo>
                </a:path>
              </a:pathLst>
            </a:custGeom>
            <a:noFill/>
            <a:ln w="9525">
              <a:solidFill>
                <a:schemeClr val="accent6"/>
              </a:solidFill>
            </a:ln>
          </p:spPr>
        </p:sp>
        <p:sp>
          <p:nvSpPr>
            <p:cNvPr id="8" name="TextBox 8"/>
            <p:cNvSpPr txBox="1"/>
            <p:nvPr/>
          </p:nvSpPr>
          <p:spPr>
            <a:xfrm>
              <a:off x="445008" y="3384550"/>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不能脱离现实条件</a:t>
              </a:r>
            </a:p>
          </p:txBody>
        </p:sp>
        <p:sp>
          <p:nvSpPr>
            <p:cNvPr id="9" name="TextBox 9"/>
            <p:cNvSpPr txBox="1"/>
            <p:nvPr/>
          </p:nvSpPr>
          <p:spPr>
            <a:xfrm>
              <a:off x="447294" y="394970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把愿望当成已经具备的实现条件</a:t>
              </a:r>
            </a:p>
          </p:txBody>
        </p:sp>
      </p:grpSp>
      <p:grpSp>
        <p:nvGrpSpPr>
          <p:cNvPr id="14" name="p09-right"/>
          <p:cNvGrpSpPr/>
          <p:nvPr/>
        </p:nvGrpSpPr>
        <p:grpSpPr>
          <a:xfrm>
            <a:off x="6502908" y="3200400"/>
            <a:ext cx="5231892" cy="1130681"/>
            <a:chOff x="6502908" y="3200400"/>
            <a:chExt cx="5231892" cy="1130681"/>
          </a:xfrm>
        </p:grpSpPr>
        <p:sp>
          <p:nvSpPr>
            <p:cNvPr id="11" name="Line 11"/>
            <p:cNvSpPr/>
            <p:nvPr/>
          </p:nvSpPr>
          <p:spPr>
            <a:xfrm>
              <a:off x="6515100" y="3200400"/>
              <a:ext cx="5219700" cy="9525"/>
            </a:xfrm>
            <a:custGeom>
              <a:avLst/>
              <a:gdLst/>
              <a:ahLst/>
              <a:cxnLst/>
              <a:rect l="l" t="t" r="r" b="b"/>
              <a:pathLst>
                <a:path w="5219700" h="9525">
                  <a:moveTo>
                    <a:pt x="0" y="0"/>
                  </a:moveTo>
                  <a:lnTo>
                    <a:pt x="5219700" y="0"/>
                  </a:lnTo>
                </a:path>
              </a:pathLst>
            </a:custGeom>
            <a:noFill/>
            <a:ln w="9525">
              <a:solidFill>
                <a:schemeClr val="accent6"/>
              </a:solidFill>
            </a:ln>
          </p:spPr>
        </p:sp>
        <p:sp>
          <p:nvSpPr>
            <p:cNvPr id="12" name="TextBox 12"/>
            <p:cNvSpPr txBox="1"/>
            <p:nvPr/>
          </p:nvSpPr>
          <p:spPr>
            <a:xfrm>
              <a:off x="6502908" y="3384550"/>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不能拿条件作借口</a:t>
              </a:r>
            </a:p>
          </p:txBody>
        </p:sp>
        <p:sp>
          <p:nvSpPr>
            <p:cNvPr id="13" name="TextBox 13"/>
            <p:cNvSpPr txBox="1"/>
            <p:nvPr/>
          </p:nvSpPr>
          <p:spPr>
            <a:xfrm>
              <a:off x="6505194" y="39497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因此不做充分保障的工作</a:t>
              </a:r>
            </a:p>
          </p:txBody>
        </p:sp>
      </p:grpSp>
      <p:grpSp>
        <p:nvGrpSpPr>
          <p:cNvPr id="17" name="p09-reveal-1"/>
          <p:cNvGrpSpPr/>
          <p:nvPr/>
        </p:nvGrpSpPr>
        <p:grpSpPr>
          <a:xfrm>
            <a:off x="440436" y="5102225"/>
            <a:ext cx="7074408" cy="1114806"/>
            <a:chOff x="440436" y="5102225"/>
            <a:chExt cx="7074408" cy="1114806"/>
          </a:xfrm>
        </p:grpSpPr>
        <p:sp>
          <p:nvSpPr>
            <p:cNvPr id="15" name="TextBox 15"/>
            <p:cNvSpPr txBox="1"/>
            <p:nvPr/>
          </p:nvSpPr>
          <p:spPr>
            <a:xfrm>
              <a:off x="440436" y="5102225"/>
              <a:ext cx="7074408" cy="645414"/>
            </a:xfrm>
            <a:prstGeom prst="rect">
              <a:avLst/>
            </a:prstGeom>
            <a:noFill/>
            <a:ln>
              <a:noFill/>
            </a:ln>
          </p:spPr>
          <p:txBody>
            <a:bodyPr wrap="none" lIns="0" tIns="0" rIns="0" bIns="0" anchor="t" anchorCtr="0">
              <a:spAutoFit/>
            </a:bodyPr>
            <a:lstStyle/>
            <a:p>
              <a:pPr algn="l"/>
              <a:r>
                <a:rPr lang="zh-CN" sz="3300" dirty="0">
                  <a:solidFill>
                    <a:schemeClr val="accent2"/>
                  </a:solidFill>
                  <a:latin typeface="+mj-lt"/>
                  <a:ea typeface="+mj-ea"/>
                  <a:cs typeface="+mj-cs"/>
                </a:rPr>
                <a:t>条件解释困难，不免除保障责任。</a:t>
              </a:r>
            </a:p>
          </p:txBody>
        </p:sp>
        <p:sp>
          <p:nvSpPr>
            <p:cNvPr id="16" name="TextBox 16"/>
            <p:cNvSpPr txBox="1"/>
            <p:nvPr/>
          </p:nvSpPr>
          <p:spPr>
            <a:xfrm>
              <a:off x="447294" y="583565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国家的保障，还包括积极提供实现条件。</a:t>
              </a:r>
            </a:p>
          </p:txBody>
        </p:sp>
      </p:grpSp>
      <p:grpSp>
        <p:nvGrpSpPr>
          <p:cNvPr id="20" name="p09-footer"/>
          <p:cNvGrpSpPr/>
          <p:nvPr/>
        </p:nvGrpSpPr>
        <p:grpSpPr>
          <a:xfrm>
            <a:off x="451866" y="6502400"/>
            <a:ext cx="11247444" cy="205359"/>
            <a:chOff x="451866" y="6502400"/>
            <a:chExt cx="11247444" cy="205359"/>
          </a:xfrm>
        </p:grpSpPr>
        <p:sp>
          <p:nvSpPr>
            <p:cNvPr id="18" name="TextBox 18"/>
            <p:cNvSpPr txBox="1"/>
            <p:nvPr/>
          </p:nvSpPr>
          <p:spPr>
            <a:xfrm>
              <a:off x="451866" y="6502400"/>
              <a:ext cx="439254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依据：教材社会条件论及其双向提醒；此处为凝练解释，非经典原文。</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09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0-title"/>
          <p:cNvGrpSpPr/>
          <p:nvPr/>
        </p:nvGrpSpPr>
        <p:grpSpPr>
          <a:xfrm>
            <a:off x="440436" y="381000"/>
            <a:ext cx="5196840" cy="918464"/>
            <a:chOff x="440436" y="381000"/>
            <a:chExt cx="5196840" cy="918464"/>
          </a:xfrm>
        </p:grpSpPr>
        <p:sp>
          <p:nvSpPr>
            <p:cNvPr id="2" name="TextBox 2"/>
            <p:cNvSpPr txBox="1"/>
            <p:nvPr/>
          </p:nvSpPr>
          <p:spPr>
            <a:xfrm>
              <a:off x="451104" y="38100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分的是规范性质</a:t>
              </a:r>
            </a:p>
          </p:txBody>
        </p:sp>
        <p:sp>
          <p:nvSpPr>
            <p:cNvPr id="3" name="TextBox 3"/>
            <p:cNvSpPr txBox="1"/>
            <p:nvPr/>
          </p:nvSpPr>
          <p:spPr>
            <a:xfrm>
              <a:off x="440436" y="654050"/>
              <a:ext cx="519684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同一利益，不同规范层次</a:t>
              </a:r>
            </a:p>
          </p:txBody>
        </p:sp>
      </p:grpSp>
      <p:grpSp>
        <p:nvGrpSpPr>
          <p:cNvPr id="7" name="p10-shared"/>
          <p:cNvGrpSpPr/>
          <p:nvPr/>
        </p:nvGrpSpPr>
        <p:grpSpPr>
          <a:xfrm>
            <a:off x="444246" y="1879600"/>
            <a:ext cx="9396222" cy="498729"/>
            <a:chOff x="444246" y="1879600"/>
            <a:chExt cx="9396222" cy="498729"/>
          </a:xfrm>
        </p:grpSpPr>
        <p:sp>
          <p:nvSpPr>
            <p:cNvPr id="5" name="TextBox 5"/>
            <p:cNvSpPr txBox="1"/>
            <p:nvPr/>
          </p:nvSpPr>
          <p:spPr>
            <a:xfrm>
              <a:off x="444246" y="187960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同一个人的财产</a:t>
              </a:r>
            </a:p>
          </p:txBody>
        </p:sp>
        <p:sp>
          <p:nvSpPr>
            <p:cNvPr id="6" name="TextBox 6"/>
            <p:cNvSpPr txBox="1"/>
            <p:nvPr/>
          </p:nvSpPr>
          <p:spPr>
            <a:xfrm>
              <a:off x="5095494" y="1968500"/>
              <a:ext cx="4744974"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进入两种追问；不是给财产的轻重排序。</a:t>
              </a:r>
            </a:p>
          </p:txBody>
        </p:sp>
      </p:grpSp>
      <p:grpSp>
        <p:nvGrpSpPr>
          <p:cNvPr id="12" name="p10-constitutional"/>
          <p:cNvGrpSpPr/>
          <p:nvPr/>
        </p:nvGrpSpPr>
        <p:grpSpPr>
          <a:xfrm>
            <a:off x="444246" y="2933700"/>
            <a:ext cx="11290554" cy="1092581"/>
            <a:chOff x="444246" y="2933700"/>
            <a:chExt cx="11290554" cy="1092581"/>
          </a:xfrm>
        </p:grpSpPr>
        <p:sp>
          <p:nvSpPr>
            <p:cNvPr id="8" name="Line 8"/>
            <p:cNvSpPr/>
            <p:nvPr/>
          </p:nvSpPr>
          <p:spPr>
            <a:xfrm>
              <a:off x="457200" y="2933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9" name="TextBox 9"/>
            <p:cNvSpPr txBox="1"/>
            <p:nvPr/>
          </p:nvSpPr>
          <p:spPr>
            <a:xfrm>
              <a:off x="444246" y="311785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宪法基本权利</a:t>
              </a:r>
            </a:p>
          </p:txBody>
        </p:sp>
        <p:sp>
          <p:nvSpPr>
            <p:cNvPr id="10" name="TextBox 10"/>
            <p:cNvSpPr txBox="1"/>
            <p:nvPr/>
          </p:nvSpPr>
          <p:spPr>
            <a:xfrm>
              <a:off x="4559808" y="313690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根本法确认基本保障</a:t>
              </a:r>
            </a:p>
          </p:txBody>
        </p:sp>
        <p:sp>
          <p:nvSpPr>
            <p:cNvPr id="11" name="TextBox 11"/>
            <p:cNvSpPr txBox="1"/>
            <p:nvPr/>
          </p:nvSpPr>
          <p:spPr>
            <a:xfrm>
              <a:off x="4562094" y="36449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反映主体的宪法法律地位</a:t>
              </a:r>
            </a:p>
          </p:txBody>
        </p:sp>
      </p:grpSp>
      <p:grpSp>
        <p:nvGrpSpPr>
          <p:cNvPr id="18" name="p10-reveal-1"/>
          <p:cNvGrpSpPr/>
          <p:nvPr/>
        </p:nvGrpSpPr>
        <p:grpSpPr>
          <a:xfrm>
            <a:off x="444246" y="4400550"/>
            <a:ext cx="11290554" cy="1749806"/>
            <a:chOff x="444246" y="4400550"/>
            <a:chExt cx="11290554" cy="1749806"/>
          </a:xfrm>
        </p:grpSpPr>
        <p:sp>
          <p:nvSpPr>
            <p:cNvPr id="13" name="Line 13"/>
            <p:cNvSpPr/>
            <p:nvPr/>
          </p:nvSpPr>
          <p:spPr>
            <a:xfrm>
              <a:off x="457200" y="44005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4" name="TextBox 14"/>
            <p:cNvSpPr txBox="1"/>
            <p:nvPr/>
          </p:nvSpPr>
          <p:spPr>
            <a:xfrm>
              <a:off x="444246" y="458470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普通法律权利</a:t>
              </a:r>
            </a:p>
          </p:txBody>
        </p:sp>
        <p:sp>
          <p:nvSpPr>
            <p:cNvPr id="15" name="TextBox 15"/>
            <p:cNvSpPr txBox="1"/>
            <p:nvPr/>
          </p:nvSpPr>
          <p:spPr>
            <a:xfrm>
              <a:off x="4559808" y="4603750"/>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具体法律关系中的权利</a:t>
              </a:r>
            </a:p>
          </p:txBody>
        </p:sp>
        <p:sp>
          <p:nvSpPr>
            <p:cNvPr id="16" name="TextBox 16"/>
            <p:cNvSpPr txBox="1"/>
            <p:nvPr/>
          </p:nvSpPr>
          <p:spPr>
            <a:xfrm>
              <a:off x="4562094" y="51117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例如民事关系里的物权、债权</a:t>
              </a:r>
            </a:p>
          </p:txBody>
        </p:sp>
        <p:sp>
          <p:nvSpPr>
            <p:cNvPr id="17" name="TextBox 17"/>
            <p:cNvSpPr txBox="1"/>
            <p:nvPr/>
          </p:nvSpPr>
          <p:spPr>
            <a:xfrm>
              <a:off x="447294" y="5768975"/>
              <a:ext cx="7370064"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宪法基本权利本身也是法律上的权利；两种层次不能互相替代。</a:t>
              </a:r>
            </a:p>
          </p:txBody>
        </p:sp>
      </p:grpSp>
      <p:grpSp>
        <p:nvGrpSpPr>
          <p:cNvPr id="21" name="p10-footer"/>
          <p:cNvGrpSpPr/>
          <p:nvPr/>
        </p:nvGrpSpPr>
        <p:grpSpPr>
          <a:xfrm>
            <a:off x="451866" y="6502400"/>
            <a:ext cx="11247444" cy="205359"/>
            <a:chOff x="451866" y="6502400"/>
            <a:chExt cx="11247444" cy="205359"/>
          </a:xfrm>
        </p:grpSpPr>
        <p:sp>
          <p:nvSpPr>
            <p:cNvPr id="19" name="TextBox 19"/>
            <p:cNvSpPr txBox="1"/>
            <p:nvPr/>
          </p:nvSpPr>
          <p:spPr>
            <a:xfrm>
              <a:off x="451866" y="6502400"/>
              <a:ext cx="468938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依据：教材按法律性质分类及财产权例。“普通法律权利”是本处分类用语。</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10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1-title"/>
          <p:cNvGrpSpPr/>
          <p:nvPr/>
        </p:nvGrpSpPr>
        <p:grpSpPr>
          <a:xfrm>
            <a:off x="440436" y="381000"/>
            <a:ext cx="5666232" cy="918464"/>
            <a:chOff x="440436" y="381000"/>
            <a:chExt cx="5666232" cy="918464"/>
          </a:xfrm>
        </p:grpSpPr>
        <p:sp>
          <p:nvSpPr>
            <p:cNvPr id="2" name="TextBox 2"/>
            <p:cNvSpPr txBox="1"/>
            <p:nvPr/>
          </p:nvSpPr>
          <p:spPr>
            <a:xfrm>
              <a:off x="451104" y="38100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财产不变，相对方改变</a:t>
              </a:r>
            </a:p>
          </p:txBody>
        </p:sp>
        <p:sp>
          <p:nvSpPr>
            <p:cNvPr id="3" name="TextBox 3"/>
            <p:cNvSpPr txBox="1"/>
            <p:nvPr/>
          </p:nvSpPr>
          <p:spPr>
            <a:xfrm>
              <a:off x="440436" y="65405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朋友欠款，与机关违法扣押</a:t>
              </a:r>
            </a:p>
          </p:txBody>
        </p:sp>
      </p:grpSp>
      <p:grpSp>
        <p:nvGrpSpPr>
          <p:cNvPr id="6" name="p11-common"/>
          <p:cNvGrpSpPr/>
          <p:nvPr/>
        </p:nvGrpSpPr>
        <p:grpSpPr>
          <a:xfrm>
            <a:off x="447294" y="1787525"/>
            <a:ext cx="5007483" cy="381381"/>
            <a:chOff x="447294" y="1787525"/>
            <a:chExt cx="5007483" cy="381381"/>
          </a:xfrm>
        </p:grpSpPr>
        <p:sp>
          <p:nvSpPr>
            <p:cNvPr id="5" name="TextBox 5"/>
            <p:cNvSpPr txBox="1"/>
            <p:nvPr/>
          </p:nvSpPr>
          <p:spPr>
            <a:xfrm>
              <a:off x="447294" y="1787525"/>
              <a:ext cx="5007483"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同一个人的财产受到影响，先看他面对谁。</a:t>
              </a:r>
            </a:p>
          </p:txBody>
        </p:sp>
      </p:grpSp>
      <p:grpSp>
        <p:nvGrpSpPr>
          <p:cNvPr id="14" name="p11-reveal-1"/>
          <p:cNvGrpSpPr/>
          <p:nvPr/>
        </p:nvGrpSpPr>
        <p:grpSpPr>
          <a:xfrm>
            <a:off x="444246" y="2559050"/>
            <a:ext cx="9323832" cy="1200531"/>
            <a:chOff x="444246" y="2559050"/>
            <a:chExt cx="9323832" cy="1200531"/>
          </a:xfrm>
        </p:grpSpPr>
        <p:sp>
          <p:nvSpPr>
            <p:cNvPr id="7" name="TextBox 7"/>
            <p:cNvSpPr txBox="1"/>
            <p:nvPr/>
          </p:nvSpPr>
          <p:spPr>
            <a:xfrm>
              <a:off x="444246" y="2660650"/>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本人</a:t>
              </a:r>
            </a:p>
          </p:txBody>
        </p:sp>
        <p:sp>
          <p:nvSpPr>
            <p:cNvPr id="8" name="Line 8"/>
            <p:cNvSpPr/>
            <p:nvPr/>
          </p:nvSpPr>
          <p:spPr>
            <a:xfrm>
              <a:off x="1905000" y="2895600"/>
              <a:ext cx="5143500" cy="9525"/>
            </a:xfrm>
            <a:custGeom>
              <a:avLst/>
              <a:gdLst/>
              <a:ahLst/>
              <a:cxnLst/>
              <a:rect l="l" t="t" r="r" b="b"/>
              <a:pathLst>
                <a:path w="5143500" h="9525">
                  <a:moveTo>
                    <a:pt x="0" y="0"/>
                  </a:moveTo>
                  <a:lnTo>
                    <a:pt x="5143500" y="0"/>
                  </a:lnTo>
                </a:path>
              </a:pathLst>
            </a:custGeom>
            <a:noFill/>
            <a:ln w="19050">
              <a:solidFill>
                <a:schemeClr val="accent1"/>
              </a:solidFill>
            </a:ln>
          </p:spPr>
        </p:sp>
        <p:sp>
          <p:nvSpPr>
            <p:cNvPr id="9" name="Freeform 9"/>
            <p:cNvSpPr/>
            <p:nvPr/>
          </p:nvSpPr>
          <p:spPr>
            <a:xfrm>
              <a:off x="6915150" y="2828925"/>
              <a:ext cx="133350" cy="133350"/>
            </a:xfrm>
            <a:custGeom>
              <a:avLst/>
              <a:gdLst/>
              <a:ahLst/>
              <a:cxnLst/>
              <a:rect l="l" t="t" r="r" b="b"/>
              <a:pathLst>
                <a:path w="133350" h="133350">
                  <a:moveTo>
                    <a:pt x="133350" y="66675"/>
                  </a:moveTo>
                  <a:lnTo>
                    <a:pt x="0" y="0"/>
                  </a:lnTo>
                  <a:lnTo>
                    <a:pt x="0" y="133350"/>
                  </a:lnTo>
                  <a:close/>
                </a:path>
              </a:pathLst>
            </a:custGeom>
            <a:solidFill>
              <a:schemeClr val="accent1"/>
            </a:solidFill>
            <a:ln>
              <a:noFill/>
            </a:ln>
          </p:spPr>
        </p:sp>
        <p:sp>
          <p:nvSpPr>
            <p:cNvPr id="10" name="TextBox 10"/>
            <p:cNvSpPr txBox="1"/>
            <p:nvPr/>
          </p:nvSpPr>
          <p:spPr>
            <a:xfrm>
              <a:off x="3612642" y="2559050"/>
              <a:ext cx="110413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要求返还借款</a:t>
              </a:r>
            </a:p>
          </p:txBody>
        </p:sp>
        <p:sp>
          <p:nvSpPr>
            <p:cNvPr id="11" name="TextBox 11"/>
            <p:cNvSpPr txBox="1"/>
            <p:nvPr/>
          </p:nvSpPr>
          <p:spPr>
            <a:xfrm>
              <a:off x="7645146" y="2660650"/>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朋友</a:t>
              </a:r>
            </a:p>
          </p:txBody>
        </p:sp>
        <p:sp>
          <p:nvSpPr>
            <p:cNvPr id="12" name="TextBox 12"/>
            <p:cNvSpPr txBox="1"/>
            <p:nvPr/>
          </p:nvSpPr>
          <p:spPr>
            <a:xfrm>
              <a:off x="447294" y="337820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平等主体之间：他该不该还？</a:t>
              </a:r>
            </a:p>
          </p:txBody>
        </p:sp>
        <p:sp>
          <p:nvSpPr>
            <p:cNvPr id="13" name="TextBox 13"/>
            <p:cNvSpPr txBox="1"/>
            <p:nvPr/>
          </p:nvSpPr>
          <p:spPr>
            <a:xfrm>
              <a:off x="7648194" y="3378200"/>
              <a:ext cx="2119884"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具体民事法律关系</a:t>
              </a:r>
            </a:p>
          </p:txBody>
        </p:sp>
      </p:grpSp>
      <p:grpSp>
        <p:nvGrpSpPr>
          <p:cNvPr id="24" name="p11-reveal-2"/>
          <p:cNvGrpSpPr/>
          <p:nvPr/>
        </p:nvGrpSpPr>
        <p:grpSpPr>
          <a:xfrm>
            <a:off x="444246" y="4229100"/>
            <a:ext cx="11290554" cy="1902206"/>
            <a:chOff x="444246" y="4229100"/>
            <a:chExt cx="11290554" cy="1902206"/>
          </a:xfrm>
        </p:grpSpPr>
        <p:sp>
          <p:nvSpPr>
            <p:cNvPr id="15" name="Line 15"/>
            <p:cNvSpPr/>
            <p:nvPr/>
          </p:nvSpPr>
          <p:spPr>
            <a:xfrm>
              <a:off x="457200" y="42291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6" name="TextBox 16"/>
            <p:cNvSpPr txBox="1"/>
            <p:nvPr/>
          </p:nvSpPr>
          <p:spPr>
            <a:xfrm>
              <a:off x="444246" y="446087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本人</a:t>
              </a:r>
            </a:p>
          </p:txBody>
        </p:sp>
        <p:sp>
          <p:nvSpPr>
            <p:cNvPr id="17" name="Line 17"/>
            <p:cNvSpPr/>
            <p:nvPr/>
          </p:nvSpPr>
          <p:spPr>
            <a:xfrm>
              <a:off x="1905000" y="4695825"/>
              <a:ext cx="5143500" cy="9525"/>
            </a:xfrm>
            <a:custGeom>
              <a:avLst/>
              <a:gdLst/>
              <a:ahLst/>
              <a:cxnLst/>
              <a:rect l="l" t="t" r="r" b="b"/>
              <a:pathLst>
                <a:path w="5143500" h="9525">
                  <a:moveTo>
                    <a:pt x="0" y="0"/>
                  </a:moveTo>
                  <a:lnTo>
                    <a:pt x="5143500" y="0"/>
                  </a:lnTo>
                </a:path>
              </a:pathLst>
            </a:custGeom>
            <a:noFill/>
            <a:ln w="19050">
              <a:solidFill>
                <a:schemeClr val="accent2"/>
              </a:solidFill>
            </a:ln>
          </p:spPr>
        </p:sp>
        <p:sp>
          <p:nvSpPr>
            <p:cNvPr id="18" name="Freeform 18"/>
            <p:cNvSpPr/>
            <p:nvPr/>
          </p:nvSpPr>
          <p:spPr>
            <a:xfrm>
              <a:off x="6915150" y="4629150"/>
              <a:ext cx="133350" cy="133350"/>
            </a:xfrm>
            <a:custGeom>
              <a:avLst/>
              <a:gdLst/>
              <a:ahLst/>
              <a:cxnLst/>
              <a:rect l="l" t="t" r="r" b="b"/>
              <a:pathLst>
                <a:path w="133350" h="133350">
                  <a:moveTo>
                    <a:pt x="133350" y="66675"/>
                  </a:moveTo>
                  <a:lnTo>
                    <a:pt x="0" y="0"/>
                  </a:lnTo>
                  <a:lnTo>
                    <a:pt x="0" y="133350"/>
                  </a:lnTo>
                  <a:close/>
                </a:path>
              </a:pathLst>
            </a:custGeom>
            <a:solidFill>
              <a:schemeClr val="accent2"/>
            </a:solidFill>
            <a:ln>
              <a:noFill/>
            </a:ln>
          </p:spPr>
        </p:sp>
        <p:sp>
          <p:nvSpPr>
            <p:cNvPr id="19" name="TextBox 19"/>
            <p:cNvSpPr txBox="1"/>
            <p:nvPr/>
          </p:nvSpPr>
          <p:spPr>
            <a:xfrm>
              <a:off x="3326892" y="4368800"/>
              <a:ext cx="1649349"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对违法扣押提出要求</a:t>
              </a:r>
            </a:p>
          </p:txBody>
        </p:sp>
        <p:sp>
          <p:nvSpPr>
            <p:cNvPr id="20" name="TextBox 20"/>
            <p:cNvSpPr txBox="1"/>
            <p:nvPr/>
          </p:nvSpPr>
          <p:spPr>
            <a:xfrm>
              <a:off x="7645146" y="4460875"/>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行使职权的机关</a:t>
              </a:r>
            </a:p>
          </p:txBody>
        </p:sp>
        <p:sp>
          <p:nvSpPr>
            <p:cNvPr id="21" name="TextBox 21"/>
            <p:cNvSpPr txBox="1"/>
            <p:nvPr/>
          </p:nvSpPr>
          <p:spPr>
            <a:xfrm>
              <a:off x="447294" y="5130800"/>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公权力活动：机关能不能这样做？</a:t>
              </a:r>
            </a:p>
          </p:txBody>
        </p:sp>
        <p:sp>
          <p:nvSpPr>
            <p:cNvPr id="22" name="TextBox 22"/>
            <p:cNvSpPr txBox="1"/>
            <p:nvPr/>
          </p:nvSpPr>
          <p:spPr>
            <a:xfrm>
              <a:off x="7648194" y="5130800"/>
              <a:ext cx="2907411"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权限、依据、条件、程序</a:t>
              </a:r>
            </a:p>
          </p:txBody>
        </p:sp>
        <p:sp>
          <p:nvSpPr>
            <p:cNvPr id="23" name="TextBox 23"/>
            <p:cNvSpPr txBox="1"/>
            <p:nvPr/>
          </p:nvSpPr>
          <p:spPr>
            <a:xfrm>
              <a:off x="447294" y="5749925"/>
              <a:ext cx="553250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区别在关系和追问；普通法律也规范国家机关。</a:t>
              </a:r>
            </a:p>
          </p:txBody>
        </p:sp>
      </p:grpSp>
      <p:grpSp>
        <p:nvGrpSpPr>
          <p:cNvPr id="27" name="p11-footer"/>
          <p:cNvGrpSpPr/>
          <p:nvPr/>
        </p:nvGrpSpPr>
        <p:grpSpPr>
          <a:xfrm>
            <a:off x="451866" y="6502400"/>
            <a:ext cx="11247444" cy="205359"/>
            <a:chOff x="451866" y="6502400"/>
            <a:chExt cx="11247444" cy="205359"/>
          </a:xfrm>
        </p:grpSpPr>
        <p:sp>
          <p:nvSpPr>
            <p:cNvPr id="25" name="TextBox 25"/>
            <p:cNvSpPr txBox="1"/>
            <p:nvPr/>
          </p:nvSpPr>
          <p:spPr>
            <a:xfrm>
              <a:off x="451866" y="6502400"/>
              <a:ext cx="454803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依据：本讲两种财产关系。不是“私人只用民法、机关只用宪法”的配对。</a:t>
              </a:r>
            </a:p>
          </p:txBody>
        </p:sp>
        <p:sp>
          <p:nvSpPr>
            <p:cNvPr id="26" name="TextBox 26"/>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11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2-title"/>
          <p:cNvGrpSpPr/>
          <p:nvPr/>
        </p:nvGrpSpPr>
        <p:grpSpPr>
          <a:xfrm>
            <a:off x="440436" y="381000"/>
            <a:ext cx="5666232" cy="918464"/>
            <a:chOff x="440436" y="381000"/>
            <a:chExt cx="5666232" cy="918464"/>
          </a:xfrm>
        </p:grpSpPr>
        <p:sp>
          <p:nvSpPr>
            <p:cNvPr id="2" name="TextBox 2"/>
            <p:cNvSpPr txBox="1"/>
            <p:nvPr/>
          </p:nvSpPr>
          <p:spPr>
            <a:xfrm>
              <a:off x="451104" y="381000"/>
              <a:ext cx="275036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独立思考约1—2分钟</a:t>
              </a:r>
            </a:p>
          </p:txBody>
        </p:sp>
        <p:sp>
          <p:nvSpPr>
            <p:cNvPr id="3" name="TextBox 3"/>
            <p:cNvSpPr txBox="1"/>
            <p:nvPr/>
          </p:nvSpPr>
          <p:spPr>
            <a:xfrm>
              <a:off x="440436" y="65405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向谁要求？依据哪类规范？</a:t>
              </a:r>
            </a:p>
          </p:txBody>
        </p:sp>
      </p:grpSp>
      <p:grpSp>
        <p:nvGrpSpPr>
          <p:cNvPr id="9" name="p12-prompt"/>
          <p:cNvGrpSpPr/>
          <p:nvPr/>
        </p:nvGrpSpPr>
        <p:grpSpPr>
          <a:xfrm>
            <a:off x="445008" y="1851025"/>
            <a:ext cx="10015347" cy="1012317"/>
            <a:chOff x="445008" y="1851025"/>
            <a:chExt cx="10015347" cy="1012317"/>
          </a:xfrm>
        </p:grpSpPr>
        <p:sp>
          <p:nvSpPr>
            <p:cNvPr id="5" name="TextBox 5"/>
            <p:cNvSpPr txBox="1"/>
            <p:nvPr/>
          </p:nvSpPr>
          <p:spPr>
            <a:xfrm>
              <a:off x="445008" y="1851025"/>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甲　朋友到期不还借款</a:t>
              </a:r>
            </a:p>
          </p:txBody>
        </p:sp>
        <p:sp>
          <p:nvSpPr>
            <p:cNvPr id="6" name="TextBox 6"/>
            <p:cNvSpPr txBox="1"/>
            <p:nvPr/>
          </p:nvSpPr>
          <p:spPr>
            <a:xfrm>
              <a:off x="445008" y="2393950"/>
              <a:ext cx="487070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乙　机关违法扣押小店的一批货物</a:t>
              </a:r>
            </a:p>
          </p:txBody>
        </p:sp>
        <p:sp>
          <p:nvSpPr>
            <p:cNvPr id="7" name="TextBox 7"/>
            <p:cNvSpPr txBox="1"/>
            <p:nvPr/>
          </p:nvSpPr>
          <p:spPr>
            <a:xfrm>
              <a:off x="7552944" y="1892300"/>
              <a:ext cx="2907411"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分别写两项，再听讲评。</a:t>
              </a:r>
            </a:p>
          </p:txBody>
        </p:sp>
        <p:sp>
          <p:nvSpPr>
            <p:cNvPr id="8" name="TextBox 8"/>
            <p:cNvSpPr txBox="1"/>
            <p:nvPr/>
          </p:nvSpPr>
          <p:spPr>
            <a:xfrm>
              <a:off x="7555992" y="2520950"/>
              <a:ext cx="237629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同一个人的财产，两种情形。</a:t>
              </a:r>
            </a:p>
          </p:txBody>
        </p:sp>
      </p:grpSp>
      <p:grpSp>
        <p:nvGrpSpPr>
          <p:cNvPr id="13" name="p12-reveal-1"/>
          <p:cNvGrpSpPr/>
          <p:nvPr/>
        </p:nvGrpSpPr>
        <p:grpSpPr>
          <a:xfrm>
            <a:off x="447294" y="3467100"/>
            <a:ext cx="11287506" cy="559181"/>
            <a:chOff x="447294" y="3467100"/>
            <a:chExt cx="11287506" cy="559181"/>
          </a:xfrm>
        </p:grpSpPr>
        <p:sp>
          <p:nvSpPr>
            <p:cNvPr id="10" name="Line 10"/>
            <p:cNvSpPr/>
            <p:nvPr/>
          </p:nvSpPr>
          <p:spPr>
            <a:xfrm>
              <a:off x="457200" y="34671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1" name="TextBox 11"/>
            <p:cNvSpPr txBox="1"/>
            <p:nvPr/>
          </p:nvSpPr>
          <p:spPr>
            <a:xfrm>
              <a:off x="447294" y="36449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甲　向朋友要求还款</a:t>
              </a:r>
            </a:p>
          </p:txBody>
        </p:sp>
        <p:sp>
          <p:nvSpPr>
            <p:cNvPr id="12" name="TextBox 12"/>
            <p:cNvSpPr txBox="1"/>
            <p:nvPr/>
          </p:nvSpPr>
          <p:spPr>
            <a:xfrm>
              <a:off x="5971794" y="36449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借款等民事法律关系</a:t>
              </a:r>
            </a:p>
          </p:txBody>
        </p:sp>
      </p:grpSp>
      <p:grpSp>
        <p:nvGrpSpPr>
          <p:cNvPr id="16" name="p12-reveal-2"/>
          <p:cNvGrpSpPr/>
          <p:nvPr/>
        </p:nvGrpSpPr>
        <p:grpSpPr>
          <a:xfrm>
            <a:off x="447294" y="4568825"/>
            <a:ext cx="9219438" cy="381381"/>
            <a:chOff x="447294" y="4568825"/>
            <a:chExt cx="9219438" cy="381381"/>
          </a:xfrm>
        </p:grpSpPr>
        <p:sp>
          <p:nvSpPr>
            <p:cNvPr id="14" name="TextBox 14"/>
            <p:cNvSpPr txBox="1"/>
            <p:nvPr/>
          </p:nvSpPr>
          <p:spPr>
            <a:xfrm>
              <a:off x="447294" y="4568825"/>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乙　对行使职权的机关提出要求</a:t>
              </a:r>
            </a:p>
          </p:txBody>
        </p:sp>
        <p:sp>
          <p:nvSpPr>
            <p:cNvPr id="15" name="TextBox 15"/>
            <p:cNvSpPr txBox="1"/>
            <p:nvPr/>
          </p:nvSpPr>
          <p:spPr>
            <a:xfrm>
              <a:off x="5971794" y="4568825"/>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宪法保障＋行政强制等普通法律</a:t>
              </a:r>
            </a:p>
          </p:txBody>
        </p:sp>
      </p:grpSp>
      <p:grpSp>
        <p:nvGrpSpPr>
          <p:cNvPr id="19" name="p12-reveal-3"/>
          <p:cNvGrpSpPr/>
          <p:nvPr/>
        </p:nvGrpSpPr>
        <p:grpSpPr>
          <a:xfrm>
            <a:off x="445008" y="5422900"/>
            <a:ext cx="7398601" cy="832231"/>
            <a:chOff x="445008" y="5422900"/>
            <a:chExt cx="7398601" cy="832231"/>
          </a:xfrm>
        </p:grpSpPr>
        <p:sp>
          <p:nvSpPr>
            <p:cNvPr id="17" name="TextBox 17"/>
            <p:cNvSpPr txBox="1"/>
            <p:nvPr/>
          </p:nvSpPr>
          <p:spPr>
            <a:xfrm>
              <a:off x="445008" y="5422900"/>
              <a:ext cx="4870704"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对象是一问，规范层次是另一问。</a:t>
              </a:r>
            </a:p>
          </p:txBody>
        </p:sp>
        <p:sp>
          <p:nvSpPr>
            <p:cNvPr id="18" name="TextBox 18"/>
            <p:cNvSpPr txBox="1"/>
            <p:nvPr/>
          </p:nvSpPr>
          <p:spPr>
            <a:xfrm>
              <a:off x="447294" y="5873750"/>
              <a:ext cx="739631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不能压成“私人用普通法，机关用宪法”；层次也不是价值高低。</a:t>
              </a:r>
            </a:p>
          </p:txBody>
        </p:sp>
      </p:gr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12 / 47</a:t>
            </a:r>
          </a:p>
        </p:txBody>
      </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childTnLst>
                          </p:cTn>
                        </p:par>
                      </p:childTnLst>
                    </p:cTn>
                  </p:par>
                  <p:par>
                    <p:cTn id="13" fill="hold">
                      <p:stCondLst>
                        <p:cond delay="indefinite"/>
                      </p:stCondLst>
                      <p:childTnLst>
                        <p:par>
                          <p:cTn id="14" fill="hold">
                            <p:stCondLst>
                              <p:cond delay="0"/>
                            </p:stCondLst>
                            <p:childTnLst>
                              <p:par>
                                <p:cTn xmlns:p="http://schemas.openxmlformats.org/presentationml/2006/mai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3-title"/>
          <p:cNvGrpSpPr/>
          <p:nvPr/>
        </p:nvGrpSpPr>
        <p:grpSpPr>
          <a:xfrm>
            <a:off x="440436" y="381000"/>
            <a:ext cx="3788664" cy="918464"/>
            <a:chOff x="440436" y="381000"/>
            <a:chExt cx="3788664" cy="918464"/>
          </a:xfrm>
        </p:grpSpPr>
        <p:sp>
          <p:nvSpPr>
            <p:cNvPr id="2" name="TextBox 2"/>
            <p:cNvSpPr txBox="1"/>
            <p:nvPr/>
          </p:nvSpPr>
          <p:spPr>
            <a:xfrm>
              <a:off x="451104" y="38100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并读第三十三条</a:t>
              </a:r>
            </a:p>
          </p:txBody>
        </p:sp>
        <p:sp>
          <p:nvSpPr>
            <p:cNvPr id="3" name="TextBox 3"/>
            <p:cNvSpPr txBox="1"/>
            <p:nvPr/>
          </p:nvSpPr>
          <p:spPr>
            <a:xfrm>
              <a:off x="440436" y="654050"/>
              <a:ext cx="378866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同一条里的四件事</a:t>
              </a:r>
            </a:p>
          </p:txBody>
        </p:sp>
      </p:grpSp>
      <p:grpSp>
        <p:nvGrpSpPr>
          <p:cNvPr id="7" name="p13-nationality"/>
          <p:cNvGrpSpPr/>
          <p:nvPr/>
        </p:nvGrpSpPr>
        <p:grpSpPr>
          <a:xfrm>
            <a:off x="445008" y="1765300"/>
            <a:ext cx="9019032" cy="469392"/>
            <a:chOff x="445008" y="1765300"/>
            <a:chExt cx="9019032" cy="469392"/>
          </a:xfrm>
        </p:grpSpPr>
        <p:sp>
          <p:nvSpPr>
            <p:cNvPr id="5" name="TextBox 5"/>
            <p:cNvSpPr txBox="1"/>
            <p:nvPr/>
          </p:nvSpPr>
          <p:spPr>
            <a:xfrm>
              <a:off x="445008" y="1765300"/>
              <a:ext cx="1316736"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公民资格</a:t>
              </a:r>
            </a:p>
          </p:txBody>
        </p:sp>
        <p:sp>
          <p:nvSpPr>
            <p:cNvPr id="6" name="TextBox 6"/>
            <p:cNvSpPr txBox="1"/>
            <p:nvPr/>
          </p:nvSpPr>
          <p:spPr>
            <a:xfrm>
              <a:off x="2618994" y="1797050"/>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凡具有中华人民共和国国籍的人都是中华人民共和国公民。</a:t>
              </a:r>
            </a:p>
          </p:txBody>
        </p:sp>
      </p:grpSp>
      <p:grpSp>
        <p:nvGrpSpPr>
          <p:cNvPr id="11" name="p13-equality"/>
          <p:cNvGrpSpPr/>
          <p:nvPr/>
        </p:nvGrpSpPr>
        <p:grpSpPr>
          <a:xfrm>
            <a:off x="445008" y="2590800"/>
            <a:ext cx="11289792" cy="596392"/>
            <a:chOff x="445008" y="2590800"/>
            <a:chExt cx="11289792" cy="596392"/>
          </a:xfrm>
        </p:grpSpPr>
        <p:sp>
          <p:nvSpPr>
            <p:cNvPr id="8" name="Line 8"/>
            <p:cNvSpPr/>
            <p:nvPr/>
          </p:nvSpPr>
          <p:spPr>
            <a:xfrm>
              <a:off x="457200" y="25908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9" name="TextBox 9"/>
            <p:cNvSpPr txBox="1"/>
            <p:nvPr/>
          </p:nvSpPr>
          <p:spPr>
            <a:xfrm>
              <a:off x="445008" y="2717800"/>
              <a:ext cx="670560"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平等</a:t>
              </a:r>
            </a:p>
          </p:txBody>
        </p:sp>
        <p:sp>
          <p:nvSpPr>
            <p:cNvPr id="10" name="TextBox 10"/>
            <p:cNvSpPr txBox="1"/>
            <p:nvPr/>
          </p:nvSpPr>
          <p:spPr>
            <a:xfrm>
              <a:off x="2618994" y="2749550"/>
              <a:ext cx="500748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中华人民共和国公民在法律面前一律平等。</a:t>
              </a:r>
            </a:p>
          </p:txBody>
        </p:sp>
      </p:grpSp>
      <p:grpSp>
        <p:nvGrpSpPr>
          <p:cNvPr id="15" name="p13-reveal-1"/>
          <p:cNvGrpSpPr/>
          <p:nvPr/>
        </p:nvGrpSpPr>
        <p:grpSpPr>
          <a:xfrm>
            <a:off x="445008" y="3505200"/>
            <a:ext cx="11289792" cy="596392"/>
            <a:chOff x="445008" y="3505200"/>
            <a:chExt cx="11289792" cy="596392"/>
          </a:xfrm>
        </p:grpSpPr>
        <p:sp>
          <p:nvSpPr>
            <p:cNvPr id="12" name="Line 12"/>
            <p:cNvSpPr/>
            <p:nvPr/>
          </p:nvSpPr>
          <p:spPr>
            <a:xfrm>
              <a:off x="457200" y="35052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3" name="TextBox 13"/>
            <p:cNvSpPr txBox="1"/>
            <p:nvPr/>
          </p:nvSpPr>
          <p:spPr>
            <a:xfrm>
              <a:off x="445008" y="3632200"/>
              <a:ext cx="1316736"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国家责任</a:t>
              </a:r>
            </a:p>
          </p:txBody>
        </p:sp>
        <p:sp>
          <p:nvSpPr>
            <p:cNvPr id="14" name="TextBox 14"/>
            <p:cNvSpPr txBox="1"/>
            <p:nvPr/>
          </p:nvSpPr>
          <p:spPr>
            <a:xfrm>
              <a:off x="2618994" y="366395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国家尊重和保障人权。</a:t>
              </a:r>
            </a:p>
          </p:txBody>
        </p:sp>
      </p:grpSp>
      <p:grpSp>
        <p:nvGrpSpPr>
          <p:cNvPr id="21" name="p13-reveal-2"/>
          <p:cNvGrpSpPr/>
          <p:nvPr/>
        </p:nvGrpSpPr>
        <p:grpSpPr>
          <a:xfrm>
            <a:off x="445008" y="4419600"/>
            <a:ext cx="11289792" cy="1730756"/>
            <a:chOff x="445008" y="4419600"/>
            <a:chExt cx="11289792" cy="1730756"/>
          </a:xfrm>
        </p:grpSpPr>
        <p:sp>
          <p:nvSpPr>
            <p:cNvPr id="16" name="Line 16"/>
            <p:cNvSpPr/>
            <p:nvPr/>
          </p:nvSpPr>
          <p:spPr>
            <a:xfrm>
              <a:off x="457200" y="44196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7" name="TextBox 17"/>
            <p:cNvSpPr txBox="1"/>
            <p:nvPr/>
          </p:nvSpPr>
          <p:spPr>
            <a:xfrm>
              <a:off x="445008" y="4546600"/>
              <a:ext cx="1639824"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权利与义务</a:t>
              </a:r>
            </a:p>
          </p:txBody>
        </p:sp>
        <p:sp>
          <p:nvSpPr>
            <p:cNvPr id="18" name="TextBox 18"/>
            <p:cNvSpPr txBox="1"/>
            <p:nvPr/>
          </p:nvSpPr>
          <p:spPr>
            <a:xfrm>
              <a:off x="2618994" y="457835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任何公民享有宪法和法律规定的权利，</a:t>
              </a:r>
            </a:p>
          </p:txBody>
        </p:sp>
        <p:sp>
          <p:nvSpPr>
            <p:cNvPr id="19" name="TextBox 19"/>
            <p:cNvSpPr txBox="1"/>
            <p:nvPr/>
          </p:nvSpPr>
          <p:spPr>
            <a:xfrm>
              <a:off x="2618994" y="494030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同时必须履行宪法和法律规定的义务。</a:t>
              </a:r>
            </a:p>
          </p:txBody>
        </p:sp>
        <p:sp>
          <p:nvSpPr>
            <p:cNvPr id="20" name="TextBox 20"/>
            <p:cNvSpPr txBox="1"/>
            <p:nvPr/>
          </p:nvSpPr>
          <p:spPr>
            <a:xfrm>
              <a:off x="447294" y="5768975"/>
              <a:ext cx="7658824"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并存不等于“先履行义务，才能换取权利”；四款不能互作同义句。</a:t>
              </a:r>
            </a:p>
          </p:txBody>
        </p:sp>
      </p:grpSp>
      <p:grpSp>
        <p:nvGrpSpPr>
          <p:cNvPr id="24" name="p13-footer"/>
          <p:cNvGrpSpPr/>
          <p:nvPr/>
        </p:nvGrpSpPr>
        <p:grpSpPr>
          <a:xfrm>
            <a:off x="451866" y="6502400"/>
            <a:ext cx="11247444" cy="205359"/>
            <a:chOff x="451866" y="6502400"/>
            <a:chExt cx="11247444" cy="205359"/>
          </a:xfrm>
        </p:grpSpPr>
        <p:sp>
          <p:nvSpPr>
            <p:cNvPr id="22" name="TextBox 22"/>
            <p:cNvSpPr txBox="1"/>
            <p:nvPr/>
          </p:nvSpPr>
          <p:spPr>
            <a:xfrm>
              <a:off x="451866" y="6502400"/>
              <a:ext cx="5820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宪法第33条四款。权利是有依据、指向义务的资格；基本权利与普通法律权利不能互相替代。</a:t>
              </a:r>
            </a:p>
          </p:txBody>
        </p:sp>
        <p:sp>
          <p:nvSpPr>
            <p:cNvPr id="23" name="TextBox 23"/>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13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4-title"/>
          <p:cNvGrpSpPr/>
          <p:nvPr/>
        </p:nvGrpSpPr>
        <p:grpSpPr>
          <a:xfrm>
            <a:off x="440436" y="381000"/>
            <a:ext cx="7543800" cy="918464"/>
            <a:chOff x="440436" y="381000"/>
            <a:chExt cx="7543800" cy="918464"/>
          </a:xfrm>
        </p:grpSpPr>
        <p:sp>
          <p:nvSpPr>
            <p:cNvPr id="2" name="TextBox 2"/>
            <p:cNvSpPr txBox="1"/>
            <p:nvPr/>
          </p:nvSpPr>
          <p:spPr>
            <a:xfrm>
              <a:off x="451104" y="38100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基本权利的两面</a:t>
              </a:r>
            </a:p>
          </p:txBody>
        </p:sp>
        <p:sp>
          <p:nvSpPr>
            <p:cNvPr id="3" name="TextBox 3"/>
            <p:cNvSpPr txBox="1"/>
            <p:nvPr/>
          </p:nvSpPr>
          <p:spPr>
            <a:xfrm>
              <a:off x="440436" y="65405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不是国家赐予，为何还要宪法确认？</a:t>
              </a:r>
            </a:p>
          </p:txBody>
        </p:sp>
      </p:grpSp>
      <p:grpSp>
        <p:nvGrpSpPr>
          <p:cNvPr id="9" name="p14-inherent"/>
          <p:cNvGrpSpPr/>
          <p:nvPr/>
        </p:nvGrpSpPr>
        <p:grpSpPr>
          <a:xfrm>
            <a:off x="440436" y="2082800"/>
            <a:ext cx="3439287" cy="2172081"/>
            <a:chOff x="440436" y="2082800"/>
            <a:chExt cx="3439287" cy="2172081"/>
          </a:xfrm>
        </p:grpSpPr>
        <p:sp>
          <p:nvSpPr>
            <p:cNvPr id="5" name="TextBox 5"/>
            <p:cNvSpPr txBox="1"/>
            <p:nvPr/>
          </p:nvSpPr>
          <p:spPr>
            <a:xfrm>
              <a:off x="440436" y="2082800"/>
              <a:ext cx="144170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固有性</a:t>
              </a:r>
            </a:p>
          </p:txBody>
        </p:sp>
        <p:sp>
          <p:nvSpPr>
            <p:cNvPr id="6" name="TextBox 6"/>
            <p:cNvSpPr txBox="1"/>
            <p:nvPr/>
          </p:nvSpPr>
          <p:spPr>
            <a:xfrm>
              <a:off x="447294" y="292100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人的尊严、生存与发展</a:t>
              </a:r>
            </a:p>
          </p:txBody>
        </p:sp>
        <p:sp>
          <p:nvSpPr>
            <p:cNvPr id="7" name="TextBox 7"/>
            <p:cNvSpPr txBox="1"/>
            <p:nvPr/>
          </p:nvSpPr>
          <p:spPr>
            <a:xfrm>
              <a:off x="447294" y="328295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在历史发展与争取中形成</a:t>
              </a:r>
            </a:p>
          </p:txBody>
        </p:sp>
        <p:sp>
          <p:nvSpPr>
            <p:cNvPr id="8" name="TextBox 8"/>
            <p:cNvSpPr txBox="1"/>
            <p:nvPr/>
          </p:nvSpPr>
          <p:spPr>
            <a:xfrm>
              <a:off x="447294" y="3873500"/>
              <a:ext cx="3432429"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不是君主、国家或宪法的赏赐</a:t>
              </a:r>
            </a:p>
          </p:txBody>
        </p:sp>
      </p:grpSp>
      <p:grpSp>
        <p:nvGrpSpPr>
          <p:cNvPr id="14" name="p14-legal"/>
          <p:cNvGrpSpPr/>
          <p:nvPr/>
        </p:nvGrpSpPr>
        <p:grpSpPr>
          <a:xfrm>
            <a:off x="6498336" y="2082800"/>
            <a:ext cx="3439287" cy="2172081"/>
            <a:chOff x="6498336" y="2082800"/>
            <a:chExt cx="3439287" cy="2172081"/>
          </a:xfrm>
        </p:grpSpPr>
        <p:sp>
          <p:nvSpPr>
            <p:cNvPr id="10" name="TextBox 10"/>
            <p:cNvSpPr txBox="1"/>
            <p:nvPr/>
          </p:nvSpPr>
          <p:spPr>
            <a:xfrm>
              <a:off x="6498336" y="2082800"/>
              <a:ext cx="238048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宪法规定性</a:t>
              </a:r>
            </a:p>
          </p:txBody>
        </p:sp>
        <p:sp>
          <p:nvSpPr>
            <p:cNvPr id="11" name="TextBox 11"/>
            <p:cNvSpPr txBox="1"/>
            <p:nvPr/>
          </p:nvSpPr>
          <p:spPr>
            <a:xfrm>
              <a:off x="6505194" y="29210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以宪法规范确认内容</a:t>
              </a:r>
            </a:p>
          </p:txBody>
        </p:sp>
        <p:sp>
          <p:nvSpPr>
            <p:cNvPr id="12" name="TextBox 12"/>
            <p:cNvSpPr txBox="1"/>
            <p:nvPr/>
          </p:nvSpPr>
          <p:spPr>
            <a:xfrm>
              <a:off x="6505194" y="328295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形成必须遵守的根本要求</a:t>
              </a:r>
            </a:p>
          </p:txBody>
        </p:sp>
        <p:sp>
          <p:nvSpPr>
            <p:cNvPr id="13" name="TextBox 13"/>
            <p:cNvSpPr txBox="1"/>
            <p:nvPr/>
          </p:nvSpPr>
          <p:spPr>
            <a:xfrm>
              <a:off x="6505194" y="3873500"/>
              <a:ext cx="3432429"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规范确认，使国家也受到约束</a:t>
              </a:r>
            </a:p>
          </p:txBody>
        </p:sp>
      </p:grpSp>
      <p:grpSp>
        <p:nvGrpSpPr>
          <p:cNvPr id="18" name="p14-reveal-1"/>
          <p:cNvGrpSpPr/>
          <p:nvPr/>
        </p:nvGrpSpPr>
        <p:grpSpPr>
          <a:xfrm>
            <a:off x="445008" y="4972050"/>
            <a:ext cx="11289792" cy="1129792"/>
            <a:chOff x="445008" y="4972050"/>
            <a:chExt cx="11289792" cy="1129792"/>
          </a:xfrm>
        </p:grpSpPr>
        <p:sp>
          <p:nvSpPr>
            <p:cNvPr id="15" name="Line 15"/>
            <p:cNvSpPr/>
            <p:nvPr/>
          </p:nvSpPr>
          <p:spPr>
            <a:xfrm>
              <a:off x="457200" y="49720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6" name="TextBox 16"/>
            <p:cNvSpPr txBox="1"/>
            <p:nvPr/>
          </p:nvSpPr>
          <p:spPr>
            <a:xfrm>
              <a:off x="445008" y="5156200"/>
              <a:ext cx="45476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不是赐予，所以不能随意收回；</a:t>
              </a:r>
            </a:p>
          </p:txBody>
        </p:sp>
        <p:sp>
          <p:nvSpPr>
            <p:cNvPr id="17" name="TextBox 17"/>
            <p:cNvSpPr txBox="1"/>
            <p:nvPr/>
          </p:nvSpPr>
          <p:spPr>
            <a:xfrm>
              <a:off x="445008" y="5632450"/>
              <a:ext cx="6486144"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经宪法确认，所以成为国家应当遵守的规范。</a:t>
              </a:r>
            </a:p>
          </p:txBody>
        </p:sp>
      </p:grpSp>
      <p:grpSp>
        <p:nvGrpSpPr>
          <p:cNvPr id="21" name="p14-footer"/>
          <p:cNvGrpSpPr/>
          <p:nvPr/>
        </p:nvGrpSpPr>
        <p:grpSpPr>
          <a:xfrm>
            <a:off x="451866" y="6502400"/>
            <a:ext cx="11247444" cy="205359"/>
            <a:chOff x="451866" y="6502400"/>
            <a:chExt cx="11247444" cy="205359"/>
          </a:xfrm>
        </p:grpSpPr>
        <p:sp>
          <p:nvSpPr>
            <p:cNvPr id="19" name="TextBox 19"/>
            <p:cNvSpPr txBox="1"/>
            <p:nvPr/>
          </p:nvSpPr>
          <p:spPr>
            <a:xfrm>
              <a:off x="451866" y="6502400"/>
              <a:ext cx="439254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依据：教材固有性与宪法规定性及本讲解释。两面统一，不互相取消。</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14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5-title"/>
          <p:cNvGrpSpPr/>
          <p:nvPr/>
        </p:nvGrpSpPr>
        <p:grpSpPr>
          <a:xfrm>
            <a:off x="440436" y="381000"/>
            <a:ext cx="7168286" cy="943864"/>
            <a:chOff x="440436" y="381000"/>
            <a:chExt cx="7168286" cy="943864"/>
          </a:xfrm>
        </p:grpSpPr>
        <p:sp>
          <p:nvSpPr>
            <p:cNvPr id="2" name="TextBox 2"/>
            <p:cNvSpPr txBox="1"/>
            <p:nvPr/>
          </p:nvSpPr>
          <p:spPr>
            <a:xfrm>
              <a:off x="451104" y="38100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不受侵犯与条件约束</a:t>
              </a:r>
            </a:p>
          </p:txBody>
        </p:sp>
        <p:sp>
          <p:nvSpPr>
            <p:cNvPr id="3" name="TextBox 3"/>
            <p:cNvSpPr txBox="1"/>
            <p:nvPr/>
          </p:nvSpPr>
          <p:spPr>
            <a:xfrm>
              <a:off x="440436" y="679450"/>
              <a:ext cx="716828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“不受侵犯”与“受到限制”矛盾吗？</a:t>
              </a:r>
            </a:p>
          </p:txBody>
        </p:sp>
      </p:grpSp>
      <p:grpSp>
        <p:nvGrpSpPr>
          <p:cNvPr id="12" name="p15-protections"/>
          <p:cNvGrpSpPr/>
          <p:nvPr/>
        </p:nvGrpSpPr>
        <p:grpSpPr>
          <a:xfrm>
            <a:off x="444246" y="1889125"/>
            <a:ext cx="9778403" cy="1832229"/>
            <a:chOff x="444246" y="1889125"/>
            <a:chExt cx="9778403" cy="1832229"/>
          </a:xfrm>
        </p:grpSpPr>
        <p:sp>
          <p:nvSpPr>
            <p:cNvPr id="5" name="TextBox 5"/>
            <p:cNvSpPr txBox="1"/>
            <p:nvPr/>
          </p:nvSpPr>
          <p:spPr>
            <a:xfrm>
              <a:off x="444246" y="188912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人身自由</a:t>
              </a:r>
            </a:p>
          </p:txBody>
        </p:sp>
        <p:sp>
          <p:nvSpPr>
            <p:cNvPr id="6" name="TextBox 6"/>
            <p:cNvSpPr txBox="1"/>
            <p:nvPr/>
          </p:nvSpPr>
          <p:spPr>
            <a:xfrm>
              <a:off x="444246" y="255587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人格尊严</a:t>
              </a:r>
            </a:p>
          </p:txBody>
        </p:sp>
        <p:sp>
          <p:nvSpPr>
            <p:cNvPr id="7" name="TextBox 7"/>
            <p:cNvSpPr txBox="1"/>
            <p:nvPr/>
          </p:nvSpPr>
          <p:spPr>
            <a:xfrm>
              <a:off x="444246" y="322262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住宅</a:t>
              </a:r>
            </a:p>
          </p:txBody>
        </p:sp>
        <p:sp>
          <p:nvSpPr>
            <p:cNvPr id="8" name="Freeform 8"/>
            <p:cNvSpPr/>
            <p:nvPr/>
          </p:nvSpPr>
          <p:spPr>
            <a:xfrm>
              <a:off x="3790950" y="1914525"/>
              <a:ext cx="190500" cy="1647825"/>
            </a:xfrm>
            <a:custGeom>
              <a:avLst/>
              <a:gdLst/>
              <a:ahLst/>
              <a:cxnLst/>
              <a:rect l="l" t="t" r="r" b="b"/>
              <a:pathLst>
                <a:path w="190500" h="1647825">
                  <a:moveTo>
                    <a:pt x="0" y="0"/>
                  </a:moveTo>
                  <a:lnTo>
                    <a:pt x="190500" y="0"/>
                  </a:lnTo>
                  <a:lnTo>
                    <a:pt x="190500" y="1647825"/>
                  </a:lnTo>
                  <a:lnTo>
                    <a:pt x="0" y="1647825"/>
                  </a:lnTo>
                </a:path>
              </a:pathLst>
            </a:custGeom>
            <a:noFill/>
            <a:ln w="19050">
              <a:solidFill>
                <a:schemeClr val="accent3"/>
              </a:solidFill>
            </a:ln>
          </p:spPr>
        </p:sp>
        <p:sp>
          <p:nvSpPr>
            <p:cNvPr id="9" name="TextBox 9"/>
            <p:cNvSpPr txBox="1"/>
            <p:nvPr/>
          </p:nvSpPr>
          <p:spPr>
            <a:xfrm>
              <a:off x="4688586" y="2444750"/>
              <a:ext cx="191109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不受侵犯</a:t>
              </a:r>
            </a:p>
          </p:txBody>
        </p:sp>
        <p:sp>
          <p:nvSpPr>
            <p:cNvPr id="10" name="TextBox 10"/>
            <p:cNvSpPr txBox="1"/>
            <p:nvPr/>
          </p:nvSpPr>
          <p:spPr>
            <a:xfrm>
              <a:off x="8333994" y="2635250"/>
              <a:ext cx="1857375"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宪法的保障要求</a:t>
              </a:r>
            </a:p>
          </p:txBody>
        </p:sp>
        <p:sp>
          <p:nvSpPr>
            <p:cNvPr id="11" name="TextBox 11"/>
            <p:cNvSpPr txBox="1"/>
            <p:nvPr/>
          </p:nvSpPr>
          <p:spPr>
            <a:xfrm>
              <a:off x="8337042" y="3140075"/>
              <a:ext cx="188560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第37、38、39条的表述</a:t>
              </a:r>
            </a:p>
          </p:txBody>
        </p:sp>
      </p:grpSp>
      <p:grpSp>
        <p:nvGrpSpPr>
          <p:cNvPr id="19" name="p15-reveal-1"/>
          <p:cNvGrpSpPr/>
          <p:nvPr/>
        </p:nvGrpSpPr>
        <p:grpSpPr>
          <a:xfrm>
            <a:off x="445008" y="4305300"/>
            <a:ext cx="11289792" cy="1892681"/>
            <a:chOff x="445008" y="4305300"/>
            <a:chExt cx="11289792" cy="1892681"/>
          </a:xfrm>
        </p:grpSpPr>
        <p:sp>
          <p:nvSpPr>
            <p:cNvPr id="13" name="Line 13"/>
            <p:cNvSpPr/>
            <p:nvPr/>
          </p:nvSpPr>
          <p:spPr>
            <a:xfrm>
              <a:off x="457200" y="43053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4" name="TextBox 14"/>
            <p:cNvSpPr txBox="1"/>
            <p:nvPr/>
          </p:nvSpPr>
          <p:spPr>
            <a:xfrm>
              <a:off x="445008" y="452755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规范上的限制</a:t>
              </a:r>
            </a:p>
          </p:txBody>
        </p:sp>
        <p:sp>
          <p:nvSpPr>
            <p:cNvPr id="15" name="TextBox 15"/>
            <p:cNvSpPr txBox="1"/>
            <p:nvPr/>
          </p:nvSpPr>
          <p:spPr>
            <a:xfrm>
              <a:off x="4371594" y="45783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特定主体、依据、目的和界限</a:t>
              </a:r>
            </a:p>
          </p:txBody>
        </p:sp>
        <p:sp>
          <p:nvSpPr>
            <p:cNvPr id="16" name="TextBox 16"/>
            <p:cNvSpPr txBox="1"/>
            <p:nvPr/>
          </p:nvSpPr>
          <p:spPr>
            <a:xfrm>
              <a:off x="445008" y="504190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现实中的制约</a:t>
              </a:r>
            </a:p>
          </p:txBody>
        </p:sp>
        <p:sp>
          <p:nvSpPr>
            <p:cNvPr id="17" name="TextBox 17"/>
            <p:cNvSpPr txBox="1"/>
            <p:nvPr/>
          </p:nvSpPr>
          <p:spPr>
            <a:xfrm>
              <a:off x="4371594" y="509270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社会历史、经济与制度等条件</a:t>
              </a:r>
            </a:p>
          </p:txBody>
        </p:sp>
        <p:sp>
          <p:nvSpPr>
            <p:cNvPr id="18" name="TextBox 18"/>
            <p:cNvSpPr txBox="1"/>
            <p:nvPr/>
          </p:nvSpPr>
          <p:spPr>
            <a:xfrm>
              <a:off x="447294" y="5816600"/>
              <a:ext cx="6582537"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限制仍须受检验；现实有困难，也不能把保障标准放下。</a:t>
              </a:r>
            </a:p>
          </p:txBody>
        </p:sp>
      </p:grpSp>
      <p:grpSp>
        <p:nvGrpSpPr>
          <p:cNvPr id="22" name="p15-footer"/>
          <p:cNvGrpSpPr/>
          <p:nvPr/>
        </p:nvGrpSpPr>
        <p:grpSpPr>
          <a:xfrm>
            <a:off x="451866" y="6502400"/>
            <a:ext cx="11247444" cy="205359"/>
            <a:chOff x="451866" y="6502400"/>
            <a:chExt cx="11247444" cy="205359"/>
          </a:xfrm>
        </p:grpSpPr>
        <p:sp>
          <p:nvSpPr>
            <p:cNvPr id="20" name="TextBox 20"/>
            <p:cNvSpPr txBox="1"/>
            <p:nvPr/>
          </p:nvSpPr>
          <p:spPr>
            <a:xfrm>
              <a:off x="451866" y="6502400"/>
              <a:ext cx="4675251"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依据：教材不受侵犯与限制的两方面。具体主体、依据和限度在下节继续。</a:t>
              </a:r>
            </a:p>
          </p:txBody>
        </p:sp>
        <p:sp>
          <p:nvSpPr>
            <p:cNvPr id="21" name="TextBox 21"/>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15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6-title"/>
          <p:cNvGrpSpPr/>
          <p:nvPr/>
        </p:nvGrpSpPr>
        <p:grpSpPr>
          <a:xfrm>
            <a:off x="440436" y="381000"/>
            <a:ext cx="4727448" cy="918464"/>
            <a:chOff x="440436" y="381000"/>
            <a:chExt cx="4727448" cy="918464"/>
          </a:xfrm>
        </p:grpSpPr>
        <p:sp>
          <p:nvSpPr>
            <p:cNvPr id="2" name="TextBox 2"/>
            <p:cNvSpPr txBox="1"/>
            <p:nvPr/>
          </p:nvSpPr>
          <p:spPr>
            <a:xfrm>
              <a:off x="451104" y="38100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普遍性与特殊性</a:t>
              </a:r>
            </a:p>
          </p:txBody>
        </p:sp>
        <p:sp>
          <p:nvSpPr>
            <p:cNvPr id="3" name="TextBox 3"/>
            <p:cNvSpPr txBox="1"/>
            <p:nvPr/>
          </p:nvSpPr>
          <p:spPr>
            <a:xfrm>
              <a:off x="440436" y="654050"/>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应当怎样，与实际怎样</a:t>
              </a:r>
            </a:p>
          </p:txBody>
        </p:sp>
      </p:grpSp>
      <p:grpSp>
        <p:nvGrpSpPr>
          <p:cNvPr id="8" name="p16-ought"/>
          <p:cNvGrpSpPr/>
          <p:nvPr/>
        </p:nvGrpSpPr>
        <p:grpSpPr>
          <a:xfrm>
            <a:off x="440436" y="1958975"/>
            <a:ext cx="7342632" cy="952881"/>
            <a:chOff x="440436" y="1958975"/>
            <a:chExt cx="7342632" cy="952881"/>
          </a:xfrm>
        </p:grpSpPr>
        <p:sp>
          <p:nvSpPr>
            <p:cNvPr id="5" name="TextBox 5"/>
            <p:cNvSpPr txBox="1"/>
            <p:nvPr/>
          </p:nvSpPr>
          <p:spPr>
            <a:xfrm>
              <a:off x="440436" y="1958975"/>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应然</a:t>
              </a:r>
            </a:p>
          </p:txBody>
        </p:sp>
        <p:sp>
          <p:nvSpPr>
            <p:cNvPr id="6" name="TextBox 6"/>
            <p:cNvSpPr txBox="1"/>
            <p:nvPr/>
          </p:nvSpPr>
          <p:spPr>
            <a:xfrm>
              <a:off x="3035808" y="2003425"/>
              <a:ext cx="422452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人作为人，应当得到基本保障</a:t>
              </a:r>
            </a:p>
          </p:txBody>
        </p:sp>
        <p:sp>
          <p:nvSpPr>
            <p:cNvPr id="7" name="TextBox 7"/>
            <p:cNvSpPr txBox="1"/>
            <p:nvPr/>
          </p:nvSpPr>
          <p:spPr>
            <a:xfrm>
              <a:off x="3038094" y="2530475"/>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不因性别、职业、财产、民族等任意排除</a:t>
              </a:r>
            </a:p>
          </p:txBody>
        </p:sp>
      </p:grpSp>
      <p:grpSp>
        <p:nvGrpSpPr>
          <p:cNvPr id="13" name="p16-actual"/>
          <p:cNvGrpSpPr/>
          <p:nvPr/>
        </p:nvGrpSpPr>
        <p:grpSpPr>
          <a:xfrm>
            <a:off x="440436" y="3505200"/>
            <a:ext cx="11294364" cy="1140206"/>
            <a:chOff x="440436" y="3505200"/>
            <a:chExt cx="11294364" cy="1140206"/>
          </a:xfrm>
        </p:grpSpPr>
        <p:sp>
          <p:nvSpPr>
            <p:cNvPr id="9" name="Line 9"/>
            <p:cNvSpPr/>
            <p:nvPr/>
          </p:nvSpPr>
          <p:spPr>
            <a:xfrm>
              <a:off x="457200" y="35052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0" name="TextBox 10"/>
            <p:cNvSpPr txBox="1"/>
            <p:nvPr/>
          </p:nvSpPr>
          <p:spPr>
            <a:xfrm>
              <a:off x="440436" y="3711575"/>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实然</a:t>
              </a:r>
            </a:p>
          </p:txBody>
        </p:sp>
        <p:sp>
          <p:nvSpPr>
            <p:cNvPr id="11" name="TextBox 11"/>
            <p:cNvSpPr txBox="1"/>
            <p:nvPr/>
          </p:nvSpPr>
          <p:spPr>
            <a:xfrm>
              <a:off x="3035808" y="3736975"/>
              <a:ext cx="39014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现实的保障状态与制度方式</a:t>
              </a:r>
            </a:p>
          </p:txBody>
        </p:sp>
        <p:sp>
          <p:nvSpPr>
            <p:cNvPr id="12" name="TextBox 12"/>
            <p:cNvSpPr txBox="1"/>
            <p:nvPr/>
          </p:nvSpPr>
          <p:spPr>
            <a:xfrm>
              <a:off x="3038094" y="4264025"/>
              <a:ext cx="500748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受具体社会历史条件影响，各国安排有差别</a:t>
              </a:r>
            </a:p>
          </p:txBody>
        </p:sp>
      </p:grpSp>
      <p:grpSp>
        <p:nvGrpSpPr>
          <p:cNvPr id="16" name="p16-reveal-1"/>
          <p:cNvGrpSpPr/>
          <p:nvPr/>
        </p:nvGrpSpPr>
        <p:grpSpPr>
          <a:xfrm>
            <a:off x="445008" y="5384800"/>
            <a:ext cx="6809232" cy="829183"/>
            <a:chOff x="445008" y="5384800"/>
            <a:chExt cx="6809232" cy="829183"/>
          </a:xfrm>
        </p:grpSpPr>
        <p:sp>
          <p:nvSpPr>
            <p:cNvPr id="14" name="TextBox 14"/>
            <p:cNvSpPr txBox="1"/>
            <p:nvPr/>
          </p:nvSpPr>
          <p:spPr>
            <a:xfrm>
              <a:off x="445008" y="5384800"/>
              <a:ext cx="6809232"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现实与应有标准有距离，正是改善保障的起点。</a:t>
              </a:r>
            </a:p>
          </p:txBody>
        </p:sp>
        <p:sp>
          <p:nvSpPr>
            <p:cNvPr id="15" name="TextBox 15"/>
            <p:cNvSpPr txBox="1"/>
            <p:nvPr/>
          </p:nvSpPr>
          <p:spPr>
            <a:xfrm>
              <a:off x="450342" y="5949950"/>
              <a:ext cx="41936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两者是不同提问，不能直接折算为权利的高低等级。</a:t>
              </a:r>
            </a:p>
          </p:txBody>
        </p:sp>
      </p:grpSp>
      <p:grpSp>
        <p:nvGrpSpPr>
          <p:cNvPr id="19" name="p16-footer"/>
          <p:cNvGrpSpPr/>
          <p:nvPr/>
        </p:nvGrpSpPr>
        <p:grpSpPr>
          <a:xfrm>
            <a:off x="451866" y="6502400"/>
            <a:ext cx="11247444" cy="205359"/>
            <a:chOff x="451866" y="6502400"/>
            <a:chExt cx="11247444" cy="205359"/>
          </a:xfrm>
        </p:grpSpPr>
        <p:sp>
          <p:nvSpPr>
            <p:cNvPr id="17" name="TextBox 17"/>
            <p:cNvSpPr txBox="1"/>
            <p:nvPr/>
          </p:nvSpPr>
          <p:spPr>
            <a:xfrm>
              <a:off x="451866" y="6502400"/>
              <a:ext cx="517704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依据：教材普遍性、特殊性及应然/实然。具体某项权利的主体范围仍须回到条文。</a:t>
              </a:r>
            </a:p>
          </p:txBody>
        </p:sp>
        <p:sp>
          <p:nvSpPr>
            <p:cNvPr id="18" name="TextBox 18"/>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16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7-title"/>
          <p:cNvGrpSpPr/>
          <p:nvPr/>
        </p:nvGrpSpPr>
        <p:grpSpPr>
          <a:xfrm>
            <a:off x="440436" y="381000"/>
            <a:ext cx="7074408" cy="918464"/>
            <a:chOff x="440436" y="381000"/>
            <a:chExt cx="7074408" cy="918464"/>
          </a:xfrm>
        </p:grpSpPr>
        <p:sp>
          <p:nvSpPr>
            <p:cNvPr id="2" name="TextBox 2"/>
            <p:cNvSpPr txBox="1"/>
            <p:nvPr/>
          </p:nvSpPr>
          <p:spPr>
            <a:xfrm>
              <a:off x="451104" y="38100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分类是辨关系的工具</a:t>
              </a:r>
            </a:p>
          </p:txBody>
        </p:sp>
        <p:sp>
          <p:nvSpPr>
            <p:cNvPr id="3" name="TextBox 3"/>
            <p:cNvSpPr txBox="1"/>
            <p:nvPr/>
          </p:nvSpPr>
          <p:spPr>
            <a:xfrm>
              <a:off x="440436" y="65405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个人相对于国家，处在什么位置？</a:t>
              </a:r>
            </a:p>
          </p:txBody>
        </p:sp>
      </p:grpSp>
      <p:grpSp>
        <p:nvGrpSpPr>
          <p:cNvPr id="21" name="p17-relations"/>
          <p:cNvGrpSpPr/>
          <p:nvPr/>
        </p:nvGrpSpPr>
        <p:grpSpPr>
          <a:xfrm>
            <a:off x="445008" y="1841500"/>
            <a:ext cx="9428988" cy="2638933"/>
            <a:chOff x="445008" y="1841500"/>
            <a:chExt cx="9428988" cy="2638933"/>
          </a:xfrm>
        </p:grpSpPr>
        <p:sp>
          <p:nvSpPr>
            <p:cNvPr id="5" name="TextBox 5"/>
            <p:cNvSpPr txBox="1"/>
            <p:nvPr/>
          </p:nvSpPr>
          <p:spPr>
            <a:xfrm>
              <a:off x="445008" y="184150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免于干涉</a:t>
              </a:r>
            </a:p>
          </p:txBody>
        </p:sp>
        <p:sp>
          <p:nvSpPr>
            <p:cNvPr id="6" name="Line 6"/>
            <p:cNvSpPr/>
            <p:nvPr/>
          </p:nvSpPr>
          <p:spPr>
            <a:xfrm>
              <a:off x="2571750" y="2038350"/>
              <a:ext cx="1524000" cy="9525"/>
            </a:xfrm>
            <a:custGeom>
              <a:avLst/>
              <a:gdLst/>
              <a:ahLst/>
              <a:cxnLst/>
              <a:rect l="l" t="t" r="r" b="b"/>
              <a:pathLst>
                <a:path w="1524000" h="9525">
                  <a:moveTo>
                    <a:pt x="0" y="0"/>
                  </a:moveTo>
                  <a:lnTo>
                    <a:pt x="1524000" y="0"/>
                  </a:lnTo>
                </a:path>
              </a:pathLst>
            </a:custGeom>
            <a:noFill/>
            <a:ln w="19050">
              <a:solidFill>
                <a:schemeClr val="accent3"/>
              </a:solidFill>
            </a:ln>
          </p:spPr>
        </p:sp>
        <p:sp>
          <p:nvSpPr>
            <p:cNvPr id="7" name="Freeform 7"/>
            <p:cNvSpPr/>
            <p:nvPr/>
          </p:nvSpPr>
          <p:spPr>
            <a:xfrm>
              <a:off x="3962400" y="1971675"/>
              <a:ext cx="133350" cy="133350"/>
            </a:xfrm>
            <a:custGeom>
              <a:avLst/>
              <a:gdLst/>
              <a:ahLst/>
              <a:cxnLst/>
              <a:rect l="l" t="t" r="r" b="b"/>
              <a:pathLst>
                <a:path w="133350" h="133350">
                  <a:moveTo>
                    <a:pt x="133350" y="66675"/>
                  </a:moveTo>
                  <a:lnTo>
                    <a:pt x="0" y="0"/>
                  </a:lnTo>
                  <a:lnTo>
                    <a:pt x="0" y="133350"/>
                  </a:lnTo>
                  <a:close/>
                </a:path>
              </a:pathLst>
            </a:custGeom>
            <a:solidFill>
              <a:schemeClr val="accent3"/>
            </a:solidFill>
            <a:ln>
              <a:noFill/>
            </a:ln>
          </p:spPr>
        </p:sp>
        <p:sp>
          <p:nvSpPr>
            <p:cNvPr id="8" name="TextBox 8"/>
            <p:cNvSpPr txBox="1"/>
            <p:nvPr/>
          </p:nvSpPr>
          <p:spPr>
            <a:xfrm>
              <a:off x="4559808" y="1841500"/>
              <a:ext cx="99364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自由权</a:t>
              </a:r>
            </a:p>
          </p:txBody>
        </p:sp>
        <p:sp>
          <p:nvSpPr>
            <p:cNvPr id="9" name="TextBox 9"/>
            <p:cNvSpPr txBox="1"/>
            <p:nvPr/>
          </p:nvSpPr>
          <p:spPr>
            <a:xfrm>
              <a:off x="7229094" y="1892300"/>
              <a:ext cx="2644902"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人身、精神、经济自由</a:t>
              </a:r>
            </a:p>
          </p:txBody>
        </p:sp>
        <p:sp>
          <p:nvSpPr>
            <p:cNvPr id="10" name="TextBox 10"/>
            <p:cNvSpPr txBox="1"/>
            <p:nvPr/>
          </p:nvSpPr>
          <p:spPr>
            <a:xfrm>
              <a:off x="445008" y="25844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请求作为</a:t>
              </a:r>
            </a:p>
          </p:txBody>
        </p:sp>
        <p:sp>
          <p:nvSpPr>
            <p:cNvPr id="11" name="Line 11"/>
            <p:cNvSpPr/>
            <p:nvPr/>
          </p:nvSpPr>
          <p:spPr>
            <a:xfrm>
              <a:off x="2571750" y="2781300"/>
              <a:ext cx="1524000" cy="9525"/>
            </a:xfrm>
            <a:custGeom>
              <a:avLst/>
              <a:gdLst/>
              <a:ahLst/>
              <a:cxnLst/>
              <a:rect l="l" t="t" r="r" b="b"/>
              <a:pathLst>
                <a:path w="1524000" h="9525">
                  <a:moveTo>
                    <a:pt x="0" y="0"/>
                  </a:moveTo>
                  <a:lnTo>
                    <a:pt x="1524000" y="0"/>
                  </a:lnTo>
                </a:path>
              </a:pathLst>
            </a:custGeom>
            <a:noFill/>
            <a:ln w="19050">
              <a:solidFill>
                <a:schemeClr val="accent3"/>
              </a:solidFill>
            </a:ln>
          </p:spPr>
        </p:sp>
        <p:sp>
          <p:nvSpPr>
            <p:cNvPr id="12" name="Freeform 12"/>
            <p:cNvSpPr/>
            <p:nvPr/>
          </p:nvSpPr>
          <p:spPr>
            <a:xfrm>
              <a:off x="3962400" y="2714625"/>
              <a:ext cx="133350" cy="133350"/>
            </a:xfrm>
            <a:custGeom>
              <a:avLst/>
              <a:gdLst/>
              <a:ahLst/>
              <a:cxnLst/>
              <a:rect l="l" t="t" r="r" b="b"/>
              <a:pathLst>
                <a:path w="133350" h="133350">
                  <a:moveTo>
                    <a:pt x="133350" y="66675"/>
                  </a:moveTo>
                  <a:lnTo>
                    <a:pt x="0" y="0"/>
                  </a:lnTo>
                  <a:lnTo>
                    <a:pt x="0" y="133350"/>
                  </a:lnTo>
                  <a:close/>
                </a:path>
              </a:pathLst>
            </a:custGeom>
            <a:solidFill>
              <a:schemeClr val="accent3"/>
            </a:solidFill>
            <a:ln>
              <a:noFill/>
            </a:ln>
          </p:spPr>
        </p:sp>
        <p:sp>
          <p:nvSpPr>
            <p:cNvPr id="13" name="TextBox 13"/>
            <p:cNvSpPr txBox="1"/>
            <p:nvPr/>
          </p:nvSpPr>
          <p:spPr>
            <a:xfrm>
              <a:off x="4559808" y="2584450"/>
              <a:ext cx="99364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受益权</a:t>
              </a:r>
            </a:p>
          </p:txBody>
        </p:sp>
        <p:sp>
          <p:nvSpPr>
            <p:cNvPr id="14" name="TextBox 14"/>
            <p:cNvSpPr txBox="1"/>
            <p:nvPr/>
          </p:nvSpPr>
          <p:spPr>
            <a:xfrm>
              <a:off x="7229094" y="2635250"/>
              <a:ext cx="1594866"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诉讼、请愿等</a:t>
              </a:r>
            </a:p>
          </p:txBody>
        </p:sp>
        <p:sp>
          <p:nvSpPr>
            <p:cNvPr id="15" name="TextBox 15"/>
            <p:cNvSpPr txBox="1"/>
            <p:nvPr/>
          </p:nvSpPr>
          <p:spPr>
            <a:xfrm>
              <a:off x="445008" y="332740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参与国家意志</a:t>
              </a:r>
            </a:p>
          </p:txBody>
        </p:sp>
        <p:sp>
          <p:nvSpPr>
            <p:cNvPr id="16" name="Line 16"/>
            <p:cNvSpPr/>
            <p:nvPr/>
          </p:nvSpPr>
          <p:spPr>
            <a:xfrm>
              <a:off x="2952750" y="3524250"/>
              <a:ext cx="1143000" cy="9525"/>
            </a:xfrm>
            <a:custGeom>
              <a:avLst/>
              <a:gdLst/>
              <a:ahLst/>
              <a:cxnLst/>
              <a:rect l="l" t="t" r="r" b="b"/>
              <a:pathLst>
                <a:path w="1143000" h="9525">
                  <a:moveTo>
                    <a:pt x="0" y="0"/>
                  </a:moveTo>
                  <a:lnTo>
                    <a:pt x="1143000" y="0"/>
                  </a:lnTo>
                </a:path>
              </a:pathLst>
            </a:custGeom>
            <a:noFill/>
            <a:ln w="19050">
              <a:solidFill>
                <a:schemeClr val="accent3"/>
              </a:solidFill>
            </a:ln>
          </p:spPr>
        </p:sp>
        <p:sp>
          <p:nvSpPr>
            <p:cNvPr id="17" name="Freeform 17"/>
            <p:cNvSpPr/>
            <p:nvPr/>
          </p:nvSpPr>
          <p:spPr>
            <a:xfrm>
              <a:off x="3962400" y="3457575"/>
              <a:ext cx="133350" cy="133350"/>
            </a:xfrm>
            <a:custGeom>
              <a:avLst/>
              <a:gdLst/>
              <a:ahLst/>
              <a:cxnLst/>
              <a:rect l="l" t="t" r="r" b="b"/>
              <a:pathLst>
                <a:path w="133350" h="133350">
                  <a:moveTo>
                    <a:pt x="133350" y="66675"/>
                  </a:moveTo>
                  <a:lnTo>
                    <a:pt x="0" y="0"/>
                  </a:lnTo>
                  <a:lnTo>
                    <a:pt x="0" y="133350"/>
                  </a:lnTo>
                  <a:close/>
                </a:path>
              </a:pathLst>
            </a:custGeom>
            <a:solidFill>
              <a:schemeClr val="accent3"/>
            </a:solidFill>
            <a:ln>
              <a:noFill/>
            </a:ln>
          </p:spPr>
        </p:sp>
        <p:sp>
          <p:nvSpPr>
            <p:cNvPr id="18" name="TextBox 18"/>
            <p:cNvSpPr txBox="1"/>
            <p:nvPr/>
          </p:nvSpPr>
          <p:spPr>
            <a:xfrm>
              <a:off x="4559808" y="3327400"/>
              <a:ext cx="99364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参政权</a:t>
              </a:r>
            </a:p>
          </p:txBody>
        </p:sp>
        <p:sp>
          <p:nvSpPr>
            <p:cNvPr id="19" name="TextBox 19"/>
            <p:cNvSpPr txBox="1"/>
            <p:nvPr/>
          </p:nvSpPr>
          <p:spPr>
            <a:xfrm>
              <a:off x="7229094" y="3378200"/>
              <a:ext cx="1857375"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选举与被选举等</a:t>
              </a:r>
            </a:p>
          </p:txBody>
        </p:sp>
        <p:sp>
          <p:nvSpPr>
            <p:cNvPr id="20" name="TextBox 20"/>
            <p:cNvSpPr txBox="1"/>
            <p:nvPr/>
          </p:nvSpPr>
          <p:spPr>
            <a:xfrm>
              <a:off x="450342" y="4216400"/>
              <a:ext cx="510235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另有被动地位与公民义务；地位分类并不能囊括全部现代权利。</a:t>
              </a:r>
            </a:p>
          </p:txBody>
        </p:sp>
      </p:grpSp>
      <p:grpSp>
        <p:nvGrpSpPr>
          <p:cNvPr id="26" name="p17-reveal-1"/>
          <p:cNvGrpSpPr/>
          <p:nvPr/>
        </p:nvGrpSpPr>
        <p:grpSpPr>
          <a:xfrm>
            <a:off x="445008" y="4933950"/>
            <a:ext cx="11289792" cy="1346708"/>
            <a:chOff x="445008" y="4933950"/>
            <a:chExt cx="11289792" cy="1346708"/>
          </a:xfrm>
        </p:grpSpPr>
        <p:sp>
          <p:nvSpPr>
            <p:cNvPr id="22" name="Line 22"/>
            <p:cNvSpPr/>
            <p:nvPr/>
          </p:nvSpPr>
          <p:spPr>
            <a:xfrm>
              <a:off x="457200" y="49339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23" name="TextBox 23"/>
            <p:cNvSpPr txBox="1"/>
            <p:nvPr/>
          </p:nvSpPr>
          <p:spPr>
            <a:xfrm>
              <a:off x="445008" y="5089525"/>
              <a:ext cx="648614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消极／积极权利，是另一种理解和查找方式。</a:t>
              </a:r>
            </a:p>
          </p:txBody>
        </p:sp>
        <p:sp>
          <p:nvSpPr>
            <p:cNvPr id="24" name="TextBox 24"/>
            <p:cNvSpPr txBox="1"/>
            <p:nvPr/>
          </p:nvSpPr>
          <p:spPr>
            <a:xfrm>
              <a:off x="447294" y="5597525"/>
              <a:ext cx="8210093"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保护自由也要制度和救济；不是一类只需“不做”、另一类只需“去做”。</a:t>
              </a:r>
            </a:p>
          </p:txBody>
        </p:sp>
        <p:sp>
          <p:nvSpPr>
            <p:cNvPr id="25" name="TextBox 25"/>
            <p:cNvSpPr txBox="1"/>
            <p:nvPr/>
          </p:nvSpPr>
          <p:spPr>
            <a:xfrm>
              <a:off x="450342" y="6016625"/>
              <a:ext cx="43754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分类不排等级，也不把每项权利永远锁在一个格子里。</a:t>
              </a:r>
            </a:p>
          </p:txBody>
        </p:sp>
      </p:grpSp>
      <p:grpSp>
        <p:nvGrpSpPr>
          <p:cNvPr id="29" name="p17-footer"/>
          <p:cNvGrpSpPr/>
          <p:nvPr/>
        </p:nvGrpSpPr>
        <p:grpSpPr>
          <a:xfrm>
            <a:off x="451866" y="6502400"/>
            <a:ext cx="11247444" cy="205359"/>
            <a:chOff x="451866" y="6502400"/>
            <a:chExt cx="11247444" cy="205359"/>
          </a:xfrm>
        </p:grpSpPr>
        <p:sp>
          <p:nvSpPr>
            <p:cNvPr id="27" name="TextBox 27"/>
            <p:cNvSpPr txBox="1"/>
            <p:nvPr/>
          </p:nvSpPr>
          <p:spPr>
            <a:xfrm>
              <a:off x="451866" y="6502400"/>
              <a:ext cx="503569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依据：教材地位分类、消极/积极分类及本讲说明；下一讲按具体保护对象展开。</a:t>
              </a:r>
            </a:p>
          </p:txBody>
        </p:sp>
        <p:sp>
          <p:nvSpPr>
            <p:cNvPr id="28" name="TextBox 28"/>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17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8-title"/>
          <p:cNvGrpSpPr/>
          <p:nvPr/>
        </p:nvGrpSpPr>
        <p:grpSpPr>
          <a:xfrm>
            <a:off x="440436" y="381000"/>
            <a:ext cx="4727448" cy="918464"/>
            <a:chOff x="440436" y="381000"/>
            <a:chExt cx="4727448" cy="918464"/>
          </a:xfrm>
        </p:grpSpPr>
        <p:sp>
          <p:nvSpPr>
            <p:cNvPr id="2" name="TextBox 2"/>
            <p:cNvSpPr txBox="1"/>
            <p:nvPr/>
          </p:nvSpPr>
          <p:spPr>
            <a:xfrm>
              <a:off x="451104" y="38100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主体：谁可以主张</a:t>
              </a:r>
            </a:p>
          </p:txBody>
        </p:sp>
        <p:sp>
          <p:nvSpPr>
            <p:cNvPr id="3" name="TextBox 3"/>
            <p:cNvSpPr txBox="1"/>
            <p:nvPr/>
          </p:nvSpPr>
          <p:spPr>
            <a:xfrm>
              <a:off x="440436" y="654050"/>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判断公民资格，看国籍</a:t>
              </a:r>
            </a:p>
          </p:txBody>
        </p:sp>
      </p:grpSp>
      <p:grpSp>
        <p:nvGrpSpPr>
          <p:cNvPr id="8" name="p18-quote"/>
          <p:cNvGrpSpPr/>
          <p:nvPr/>
        </p:nvGrpSpPr>
        <p:grpSpPr>
          <a:xfrm>
            <a:off x="476250" y="1809750"/>
            <a:ext cx="4802124" cy="1053592"/>
            <a:chOff x="476250" y="1809750"/>
            <a:chExt cx="4802124" cy="1053592"/>
          </a:xfrm>
        </p:grpSpPr>
        <p:sp>
          <p:nvSpPr>
            <p:cNvPr id="5" name="Line 5"/>
            <p:cNvSpPr/>
            <p:nvPr/>
          </p:nvSpPr>
          <p:spPr>
            <a:xfrm>
              <a:off x="476250" y="1809750"/>
              <a:ext cx="9525" cy="1047750"/>
            </a:xfrm>
            <a:custGeom>
              <a:avLst/>
              <a:gdLst/>
              <a:ahLst/>
              <a:cxnLst/>
              <a:rect l="l" t="t" r="r" b="b"/>
              <a:pathLst>
                <a:path w="9525" h="1047750">
                  <a:moveTo>
                    <a:pt x="0" y="0"/>
                  </a:moveTo>
                  <a:lnTo>
                    <a:pt x="0" y="1047750"/>
                  </a:lnTo>
                </a:path>
              </a:pathLst>
            </a:custGeom>
            <a:noFill/>
            <a:ln w="28575">
              <a:solidFill>
                <a:schemeClr val="accent2"/>
              </a:solidFill>
            </a:ln>
          </p:spPr>
        </p:sp>
        <p:sp>
          <p:nvSpPr>
            <p:cNvPr id="6" name="TextBox 6"/>
            <p:cNvSpPr txBox="1"/>
            <p:nvPr/>
          </p:nvSpPr>
          <p:spPr>
            <a:xfrm>
              <a:off x="730758" y="1955800"/>
              <a:ext cx="45476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凡具有中华人民共和国国籍的人</a:t>
              </a:r>
            </a:p>
          </p:txBody>
        </p:sp>
        <p:sp>
          <p:nvSpPr>
            <p:cNvPr id="7" name="TextBox 7"/>
            <p:cNvSpPr txBox="1"/>
            <p:nvPr/>
          </p:nvSpPr>
          <p:spPr>
            <a:xfrm>
              <a:off x="730758" y="2393950"/>
              <a:ext cx="39014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都是中华人民共和国公民。</a:t>
              </a:r>
            </a:p>
          </p:txBody>
        </p:sp>
      </p:grpSp>
      <p:grpSp>
        <p:nvGrpSpPr>
          <p:cNvPr id="14" name="p18-identity"/>
          <p:cNvGrpSpPr/>
          <p:nvPr/>
        </p:nvGrpSpPr>
        <p:grpSpPr>
          <a:xfrm>
            <a:off x="440436" y="3359150"/>
            <a:ext cx="10478262" cy="1035558"/>
            <a:chOff x="440436" y="3359150"/>
            <a:chExt cx="10478262" cy="1035558"/>
          </a:xfrm>
        </p:grpSpPr>
        <p:sp>
          <p:nvSpPr>
            <p:cNvPr id="9" name="TextBox 9"/>
            <p:cNvSpPr txBox="1"/>
            <p:nvPr/>
          </p:nvSpPr>
          <p:spPr>
            <a:xfrm>
              <a:off x="440436" y="351155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个人</a:t>
              </a:r>
            </a:p>
          </p:txBody>
        </p:sp>
        <p:sp>
          <p:nvSpPr>
            <p:cNvPr id="10" name="Line 10"/>
            <p:cNvSpPr/>
            <p:nvPr/>
          </p:nvSpPr>
          <p:spPr>
            <a:xfrm>
              <a:off x="2190750" y="3810000"/>
              <a:ext cx="6705600" cy="9525"/>
            </a:xfrm>
            <a:custGeom>
              <a:avLst/>
              <a:gdLst/>
              <a:ahLst/>
              <a:cxnLst/>
              <a:rect l="l" t="t" r="r" b="b"/>
              <a:pathLst>
                <a:path w="6705600" h="9525">
                  <a:moveTo>
                    <a:pt x="0" y="0"/>
                  </a:moveTo>
                  <a:lnTo>
                    <a:pt x="6705600" y="0"/>
                  </a:lnTo>
                </a:path>
              </a:pathLst>
            </a:custGeom>
            <a:noFill/>
            <a:ln w="19050">
              <a:solidFill>
                <a:schemeClr val="accent3"/>
              </a:solidFill>
            </a:ln>
          </p:spPr>
        </p:sp>
        <p:sp>
          <p:nvSpPr>
            <p:cNvPr id="11" name="TextBox 11"/>
            <p:cNvSpPr txBox="1"/>
            <p:nvPr/>
          </p:nvSpPr>
          <p:spPr>
            <a:xfrm>
              <a:off x="3838194" y="3359150"/>
              <a:ext cx="2382393"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国籍：法律身份联系</a:t>
              </a:r>
            </a:p>
          </p:txBody>
        </p:sp>
        <p:sp>
          <p:nvSpPr>
            <p:cNvPr id="12" name="TextBox 12"/>
            <p:cNvSpPr txBox="1"/>
            <p:nvPr/>
          </p:nvSpPr>
          <p:spPr>
            <a:xfrm>
              <a:off x="9946386" y="351155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国家</a:t>
              </a:r>
            </a:p>
          </p:txBody>
        </p:sp>
        <p:sp>
          <p:nvSpPr>
            <p:cNvPr id="13" name="TextBox 13"/>
            <p:cNvSpPr txBox="1"/>
            <p:nvPr/>
          </p:nvSpPr>
          <p:spPr>
            <a:xfrm>
              <a:off x="3841242" y="4130675"/>
              <a:ext cx="21945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取得与丧失由相应法律规定</a:t>
              </a:r>
            </a:p>
          </p:txBody>
        </p:sp>
      </p:grpSp>
      <p:grpSp>
        <p:nvGrpSpPr>
          <p:cNvPr id="18" name="p18-reveal-1"/>
          <p:cNvGrpSpPr/>
          <p:nvPr/>
        </p:nvGrpSpPr>
        <p:grpSpPr>
          <a:xfrm>
            <a:off x="445008" y="5010150"/>
            <a:ext cx="11289792" cy="1140206"/>
            <a:chOff x="445008" y="5010150"/>
            <a:chExt cx="11289792" cy="1140206"/>
          </a:xfrm>
        </p:grpSpPr>
        <p:sp>
          <p:nvSpPr>
            <p:cNvPr id="15" name="Line 15"/>
            <p:cNvSpPr/>
            <p:nvPr/>
          </p:nvSpPr>
          <p:spPr>
            <a:xfrm>
              <a:off x="457200" y="50101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6" name="TextBox 16"/>
            <p:cNvSpPr txBox="1"/>
            <p:nvPr/>
          </p:nvSpPr>
          <p:spPr>
            <a:xfrm>
              <a:off x="445008" y="5184775"/>
              <a:ext cx="713232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不是看职业、地位、财产，也不是凭好恶贴标签。</a:t>
              </a:r>
            </a:p>
          </p:txBody>
        </p:sp>
        <p:sp>
          <p:nvSpPr>
            <p:cNvPr id="17" name="TextBox 17"/>
            <p:cNvSpPr txBox="1"/>
            <p:nvPr/>
          </p:nvSpPr>
          <p:spPr>
            <a:xfrm>
              <a:off x="447294" y="5768975"/>
              <a:ext cx="8945118"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公民是一般主体；一般／特殊／特定，是教材的组织方式，仍须逐项看权利。</a:t>
              </a:r>
            </a:p>
          </p:txBody>
        </p:sp>
      </p:grpSp>
      <p:grpSp>
        <p:nvGrpSpPr>
          <p:cNvPr id="21" name="p18-footer"/>
          <p:cNvGrpSpPr/>
          <p:nvPr/>
        </p:nvGrpSpPr>
        <p:grpSpPr>
          <a:xfrm>
            <a:off x="451866" y="6502400"/>
            <a:ext cx="11247444" cy="205359"/>
            <a:chOff x="451866" y="6502400"/>
            <a:chExt cx="11247444" cy="205359"/>
          </a:xfrm>
        </p:grpSpPr>
        <p:sp>
          <p:nvSpPr>
            <p:cNvPr id="19" name="TextBox 19"/>
            <p:cNvSpPr txBox="1"/>
            <p:nvPr/>
          </p:nvSpPr>
          <p:spPr>
            <a:xfrm>
              <a:off x="451866" y="6502400"/>
              <a:ext cx="448442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宪法第33条第1款；本页只确定公民身份，不替代每项权利的享有条件。</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18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9-title"/>
          <p:cNvGrpSpPr/>
          <p:nvPr/>
        </p:nvGrpSpPr>
        <p:grpSpPr>
          <a:xfrm>
            <a:off x="440436" y="381000"/>
            <a:ext cx="6651955" cy="943864"/>
            <a:chOff x="440436" y="381000"/>
            <a:chExt cx="6651955" cy="943864"/>
          </a:xfrm>
        </p:grpSpPr>
        <p:sp>
          <p:nvSpPr>
            <p:cNvPr id="2" name="TextBox 2"/>
            <p:cNvSpPr txBox="1"/>
            <p:nvPr/>
          </p:nvSpPr>
          <p:spPr>
            <a:xfrm>
              <a:off x="451104" y="381000"/>
              <a:ext cx="345307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国籍法第五条的一项明确设定</a:t>
              </a:r>
            </a:p>
          </p:txBody>
        </p:sp>
        <p:sp>
          <p:nvSpPr>
            <p:cNvPr id="3" name="TextBox 3"/>
            <p:cNvSpPr txBox="1"/>
            <p:nvPr/>
          </p:nvSpPr>
          <p:spPr>
            <a:xfrm>
              <a:off x="440436" y="679450"/>
              <a:ext cx="6651955"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只问“父母是不是中国人”够吗？</a:t>
              </a:r>
            </a:p>
          </p:txBody>
        </p:sp>
      </p:grpSp>
      <p:grpSp>
        <p:nvGrpSpPr>
          <p:cNvPr id="10" name="p19-facts"/>
          <p:cNvGrpSpPr/>
          <p:nvPr/>
        </p:nvGrpSpPr>
        <p:grpSpPr>
          <a:xfrm>
            <a:off x="445008" y="1898650"/>
            <a:ext cx="8971788" cy="1457833"/>
            <a:chOff x="445008" y="1898650"/>
            <a:chExt cx="8971788" cy="1457833"/>
          </a:xfrm>
        </p:grpSpPr>
        <p:sp>
          <p:nvSpPr>
            <p:cNvPr id="5" name="TextBox 5"/>
            <p:cNvSpPr txBox="1"/>
            <p:nvPr/>
          </p:nvSpPr>
          <p:spPr>
            <a:xfrm>
              <a:off x="445008" y="189865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父母双方为中国公民</a:t>
              </a:r>
            </a:p>
          </p:txBody>
        </p:sp>
        <p:sp>
          <p:nvSpPr>
            <p:cNvPr id="6" name="TextBox 6"/>
            <p:cNvSpPr txBox="1"/>
            <p:nvPr/>
          </p:nvSpPr>
          <p:spPr>
            <a:xfrm>
              <a:off x="447294" y="24828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双方都已定居外国</a:t>
              </a:r>
            </a:p>
          </p:txBody>
        </p:sp>
        <p:sp>
          <p:nvSpPr>
            <p:cNvPr id="7" name="TextBox 7"/>
            <p:cNvSpPr txBox="1"/>
            <p:nvPr/>
          </p:nvSpPr>
          <p:spPr>
            <a:xfrm>
              <a:off x="6769608" y="189865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本人在外国出生</a:t>
              </a:r>
            </a:p>
          </p:txBody>
        </p:sp>
        <p:sp>
          <p:nvSpPr>
            <p:cNvPr id="8" name="TextBox 8"/>
            <p:cNvSpPr txBox="1"/>
            <p:nvPr/>
          </p:nvSpPr>
          <p:spPr>
            <a:xfrm>
              <a:off x="6771894" y="2482850"/>
              <a:ext cx="2644902"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出生时即具有外国国籍</a:t>
              </a:r>
            </a:p>
          </p:txBody>
        </p:sp>
        <p:sp>
          <p:nvSpPr>
            <p:cNvPr id="9" name="TextBox 9"/>
            <p:cNvSpPr txBox="1"/>
            <p:nvPr/>
          </p:nvSpPr>
          <p:spPr>
            <a:xfrm>
              <a:off x="450342" y="3092450"/>
              <a:ext cx="457531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四个条件同时保留；法定“定居”不能任意换成有居留证。</a:t>
              </a:r>
            </a:p>
          </p:txBody>
        </p:sp>
      </p:grpSp>
      <p:grpSp>
        <p:nvGrpSpPr>
          <p:cNvPr id="13" name="p19-reveal-1"/>
          <p:cNvGrpSpPr/>
          <p:nvPr/>
        </p:nvGrpSpPr>
        <p:grpSpPr>
          <a:xfrm>
            <a:off x="440436" y="3676650"/>
            <a:ext cx="11275314" cy="1166114"/>
            <a:chOff x="440436" y="3676650"/>
            <a:chExt cx="11275314" cy="1166114"/>
          </a:xfrm>
        </p:grpSpPr>
        <p:sp>
          <p:nvSpPr>
            <p:cNvPr id="11" name="Freeform 11"/>
            <p:cNvSpPr/>
            <p:nvPr/>
          </p:nvSpPr>
          <p:spPr>
            <a:xfrm>
              <a:off x="476250" y="3676650"/>
              <a:ext cx="11239500" cy="419100"/>
            </a:xfrm>
            <a:custGeom>
              <a:avLst/>
              <a:gdLst/>
              <a:ahLst/>
              <a:cxnLst/>
              <a:rect l="l" t="t" r="r" b="b"/>
              <a:pathLst>
                <a:path w="11239500" h="419100">
                  <a:moveTo>
                    <a:pt x="0" y="0"/>
                  </a:moveTo>
                  <a:lnTo>
                    <a:pt x="0" y="190500"/>
                  </a:lnTo>
                  <a:lnTo>
                    <a:pt x="11239500" y="190500"/>
                  </a:lnTo>
                  <a:lnTo>
                    <a:pt x="11239500" y="0"/>
                  </a:lnTo>
                  <a:moveTo>
                    <a:pt x="5619750" y="190500"/>
                  </a:moveTo>
                  <a:lnTo>
                    <a:pt x="5619750" y="419100"/>
                  </a:lnTo>
                </a:path>
              </a:pathLst>
            </a:custGeom>
            <a:noFill/>
            <a:ln w="19050">
              <a:solidFill>
                <a:schemeClr val="accent3"/>
              </a:solidFill>
            </a:ln>
          </p:spPr>
        </p:sp>
        <p:sp>
          <p:nvSpPr>
            <p:cNvPr id="12" name="TextBox 12"/>
            <p:cNvSpPr txBox="1"/>
            <p:nvPr/>
          </p:nvSpPr>
          <p:spPr>
            <a:xfrm>
              <a:off x="440436" y="419735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本设定落入但书：不具有中国国籍</a:t>
              </a:r>
            </a:p>
          </p:txBody>
        </p:sp>
      </p:grpSp>
      <p:grpSp>
        <p:nvGrpSpPr>
          <p:cNvPr id="16" name="p19-reveal-2"/>
          <p:cNvGrpSpPr/>
          <p:nvPr/>
        </p:nvGrpSpPr>
        <p:grpSpPr>
          <a:xfrm>
            <a:off x="447294" y="5283200"/>
            <a:ext cx="8420100" cy="810006"/>
            <a:chOff x="447294" y="5283200"/>
            <a:chExt cx="8420100" cy="810006"/>
          </a:xfrm>
        </p:grpSpPr>
        <p:sp>
          <p:nvSpPr>
            <p:cNvPr id="14" name="TextBox 14"/>
            <p:cNvSpPr txBox="1"/>
            <p:nvPr/>
          </p:nvSpPr>
          <p:spPr>
            <a:xfrm>
              <a:off x="447294" y="5283200"/>
              <a:ext cx="842010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一般规则：父母双方或一方为中国公民、本人国外出生，具有中国国籍。</a:t>
              </a:r>
            </a:p>
          </p:txBody>
        </p:sp>
        <p:sp>
          <p:nvSpPr>
            <p:cNvPr id="15" name="TextBox 15"/>
            <p:cNvSpPr txBox="1"/>
            <p:nvPr/>
          </p:nvSpPr>
          <p:spPr>
            <a:xfrm>
              <a:off x="447294" y="5711825"/>
              <a:ext cx="7632573"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但须继续核对第五条但书；国外出生本身也不等于排除中国国籍。</a:t>
              </a:r>
            </a:p>
          </p:txBody>
        </p:sp>
      </p:grpSp>
      <p:grpSp>
        <p:nvGrpSpPr>
          <p:cNvPr id="19" name="p19-footer"/>
          <p:cNvGrpSpPr/>
          <p:nvPr/>
        </p:nvGrpSpPr>
        <p:grpSpPr>
          <a:xfrm>
            <a:off x="451866" y="6502400"/>
            <a:ext cx="11247444" cy="205359"/>
            <a:chOff x="451866" y="6502400"/>
            <a:chExt cx="11247444" cy="205359"/>
          </a:xfrm>
        </p:grpSpPr>
        <p:sp>
          <p:nvSpPr>
            <p:cNvPr id="17" name="TextBox 17"/>
            <p:cNvSpPr txBox="1"/>
            <p:nvPr/>
          </p:nvSpPr>
          <p:spPr>
            <a:xfrm>
              <a:off x="451866" y="6502400"/>
              <a:ext cx="531839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依据：国籍法第5条（国家移民管理局公布文本）。本例不穷尽国籍取得、丧失规则。</a:t>
              </a:r>
            </a:p>
          </p:txBody>
        </p:sp>
        <p:sp>
          <p:nvSpPr>
            <p:cNvPr id="18" name="TextBox 18"/>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0-title"/>
          <p:cNvGrpSpPr/>
          <p:nvPr/>
        </p:nvGrpSpPr>
        <p:grpSpPr>
          <a:xfrm>
            <a:off x="440436" y="381000"/>
            <a:ext cx="7168286" cy="943864"/>
            <a:chOff x="440436" y="381000"/>
            <a:chExt cx="7168286" cy="943864"/>
          </a:xfrm>
        </p:grpSpPr>
        <p:sp>
          <p:nvSpPr>
            <p:cNvPr id="2" name="TextBox 2"/>
            <p:cNvSpPr txBox="1"/>
            <p:nvPr/>
          </p:nvSpPr>
          <p:spPr>
            <a:xfrm>
              <a:off x="451104" y="38100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整体归属与个体身份</a:t>
              </a:r>
            </a:p>
          </p:txBody>
        </p:sp>
        <p:sp>
          <p:nvSpPr>
            <p:cNvPr id="3" name="TextBox 3"/>
            <p:cNvSpPr txBox="1"/>
            <p:nvPr/>
          </p:nvSpPr>
          <p:spPr>
            <a:xfrm>
              <a:off x="440436" y="679450"/>
              <a:ext cx="716828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“人民”与“公民”，各在回答什么？</a:t>
              </a:r>
            </a:p>
          </p:txBody>
        </p:sp>
      </p:grpSp>
      <p:grpSp>
        <p:nvGrpSpPr>
          <p:cNvPr id="9" name="p20-people"/>
          <p:cNvGrpSpPr/>
          <p:nvPr/>
        </p:nvGrpSpPr>
        <p:grpSpPr>
          <a:xfrm>
            <a:off x="438150" y="1936750"/>
            <a:ext cx="3908298" cy="2457958"/>
            <a:chOff x="438150" y="1936750"/>
            <a:chExt cx="3908298" cy="2457958"/>
          </a:xfrm>
        </p:grpSpPr>
        <p:sp>
          <p:nvSpPr>
            <p:cNvPr id="5" name="TextBox 5"/>
            <p:cNvSpPr txBox="1"/>
            <p:nvPr/>
          </p:nvSpPr>
          <p:spPr>
            <a:xfrm>
              <a:off x="438150" y="1936750"/>
              <a:ext cx="1574292"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人民</a:t>
              </a:r>
            </a:p>
          </p:txBody>
        </p:sp>
        <p:sp>
          <p:nvSpPr>
            <p:cNvPr id="6" name="TextBox 6"/>
            <p:cNvSpPr txBox="1"/>
            <p:nvPr/>
          </p:nvSpPr>
          <p:spPr>
            <a:xfrm>
              <a:off x="445008" y="3041650"/>
              <a:ext cx="39014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国家权力的来源与整体归属</a:t>
              </a:r>
            </a:p>
          </p:txBody>
        </p:sp>
        <p:sp>
          <p:nvSpPr>
            <p:cNvPr id="7" name="TextBox 7"/>
            <p:cNvSpPr txBox="1"/>
            <p:nvPr/>
          </p:nvSpPr>
          <p:spPr>
            <a:xfrm>
              <a:off x="447294" y="3625850"/>
              <a:ext cx="240864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“一切权力属于人民”</a:t>
              </a:r>
            </a:p>
          </p:txBody>
        </p:sp>
        <p:sp>
          <p:nvSpPr>
            <p:cNvPr id="8" name="TextBox 8"/>
            <p:cNvSpPr txBox="1"/>
            <p:nvPr/>
          </p:nvSpPr>
          <p:spPr>
            <a:xfrm>
              <a:off x="450342" y="4130675"/>
              <a:ext cx="128587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回接第三讲政体</a:t>
              </a:r>
            </a:p>
          </p:txBody>
        </p:sp>
      </p:grpSp>
      <p:grpSp>
        <p:nvGrpSpPr>
          <p:cNvPr id="14" name="p20-citizen"/>
          <p:cNvGrpSpPr/>
          <p:nvPr/>
        </p:nvGrpSpPr>
        <p:grpSpPr>
          <a:xfrm>
            <a:off x="6496050" y="1936750"/>
            <a:ext cx="3262122" cy="2457958"/>
            <a:chOff x="6496050" y="1936750"/>
            <a:chExt cx="3262122" cy="2457958"/>
          </a:xfrm>
        </p:grpSpPr>
        <p:sp>
          <p:nvSpPr>
            <p:cNvPr id="10" name="TextBox 10"/>
            <p:cNvSpPr txBox="1"/>
            <p:nvPr/>
          </p:nvSpPr>
          <p:spPr>
            <a:xfrm>
              <a:off x="6496050" y="1936750"/>
              <a:ext cx="1574292"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公民</a:t>
              </a:r>
            </a:p>
          </p:txBody>
        </p:sp>
        <p:sp>
          <p:nvSpPr>
            <p:cNvPr id="11" name="TextBox 11"/>
            <p:cNvSpPr txBox="1"/>
            <p:nvPr/>
          </p:nvSpPr>
          <p:spPr>
            <a:xfrm>
              <a:off x="6502908" y="3041650"/>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一个具体人的法律身份</a:t>
              </a:r>
            </a:p>
          </p:txBody>
        </p:sp>
        <p:sp>
          <p:nvSpPr>
            <p:cNvPr id="12" name="TextBox 12"/>
            <p:cNvSpPr txBox="1"/>
            <p:nvPr/>
          </p:nvSpPr>
          <p:spPr>
            <a:xfrm>
              <a:off x="6505194" y="3625850"/>
              <a:ext cx="13323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依国籍确认</a:t>
              </a:r>
            </a:p>
          </p:txBody>
        </p:sp>
        <p:sp>
          <p:nvSpPr>
            <p:cNvPr id="13" name="TextBox 13"/>
            <p:cNvSpPr txBox="1"/>
            <p:nvPr/>
          </p:nvSpPr>
          <p:spPr>
            <a:xfrm>
              <a:off x="6508242" y="4130675"/>
              <a:ext cx="21945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再核具体权利的主体与条件</a:t>
              </a:r>
            </a:p>
          </p:txBody>
        </p:sp>
      </p:grpSp>
      <p:grpSp>
        <p:nvGrpSpPr>
          <p:cNvPr id="18" name="p20-reveal-1"/>
          <p:cNvGrpSpPr/>
          <p:nvPr/>
        </p:nvGrpSpPr>
        <p:grpSpPr>
          <a:xfrm>
            <a:off x="445008" y="5010150"/>
            <a:ext cx="11289792" cy="1149731"/>
            <a:chOff x="445008" y="5010150"/>
            <a:chExt cx="11289792" cy="1149731"/>
          </a:xfrm>
        </p:grpSpPr>
        <p:sp>
          <p:nvSpPr>
            <p:cNvPr id="15" name="Line 15"/>
            <p:cNvSpPr/>
            <p:nvPr/>
          </p:nvSpPr>
          <p:spPr>
            <a:xfrm>
              <a:off x="457200" y="50101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6" name="TextBox 16"/>
            <p:cNvSpPr txBox="1"/>
            <p:nvPr/>
          </p:nvSpPr>
          <p:spPr>
            <a:xfrm>
              <a:off x="445008" y="5222875"/>
              <a:ext cx="616305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不能用政治标签代替国籍与具体权利条件。</a:t>
              </a:r>
            </a:p>
          </p:txBody>
        </p:sp>
        <p:sp>
          <p:nvSpPr>
            <p:cNvPr id="17" name="TextBox 17"/>
            <p:cNvSpPr txBox="1"/>
            <p:nvPr/>
          </p:nvSpPr>
          <p:spPr>
            <a:xfrm>
              <a:off x="447294" y="5778500"/>
              <a:ext cx="684504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权力属于人民，也不表示每个公民都能各自行使机关职权。</a:t>
              </a:r>
            </a:p>
          </p:txBody>
        </p:sp>
      </p:grpSp>
      <p:grpSp>
        <p:nvGrpSpPr>
          <p:cNvPr id="21" name="p20-footer"/>
          <p:cNvGrpSpPr/>
          <p:nvPr/>
        </p:nvGrpSpPr>
        <p:grpSpPr>
          <a:xfrm>
            <a:off x="451866" y="6502400"/>
            <a:ext cx="11247444" cy="205359"/>
            <a:chOff x="451866" y="6502400"/>
            <a:chExt cx="11247444" cy="205359"/>
          </a:xfrm>
        </p:grpSpPr>
        <p:sp>
          <p:nvSpPr>
            <p:cNvPr id="19" name="TextBox 19"/>
            <p:cNvSpPr txBox="1"/>
            <p:nvPr/>
          </p:nvSpPr>
          <p:spPr>
            <a:xfrm>
              <a:off x="451866" y="6502400"/>
              <a:ext cx="731144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依据：教材关于主体用语的说明及宪法第2、33条。人民与公民回答不同问题，不能据此理解为两个互不相交的人群。</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20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1-title"/>
          <p:cNvGrpSpPr/>
          <p:nvPr/>
        </p:nvGrpSpPr>
        <p:grpSpPr>
          <a:xfrm>
            <a:off x="440436" y="381000"/>
            <a:ext cx="6605016" cy="918464"/>
            <a:chOff x="440436" y="381000"/>
            <a:chExt cx="6605016" cy="918464"/>
          </a:xfrm>
        </p:grpSpPr>
        <p:sp>
          <p:nvSpPr>
            <p:cNvPr id="2" name="TextBox 2"/>
            <p:cNvSpPr txBox="1"/>
            <p:nvPr/>
          </p:nvSpPr>
          <p:spPr>
            <a:xfrm>
              <a:off x="451104" y="38100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特殊主体：法人</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公司能享有什么，要一项一项看</a:t>
              </a:r>
            </a:p>
          </p:txBody>
        </p:sp>
      </p:grpSp>
      <p:grpSp>
        <p:nvGrpSpPr>
          <p:cNvPr id="9" name="p21-company"/>
          <p:cNvGrpSpPr/>
          <p:nvPr/>
        </p:nvGrpSpPr>
        <p:grpSpPr>
          <a:xfrm>
            <a:off x="450342" y="1924050"/>
            <a:ext cx="2654808" cy="2804033"/>
            <a:chOff x="450342" y="1924050"/>
            <a:chExt cx="2654808" cy="2804033"/>
          </a:xfrm>
        </p:grpSpPr>
        <p:sp>
          <p:nvSpPr>
            <p:cNvPr id="5" name="Rectangle 5"/>
            <p:cNvSpPr/>
            <p:nvPr/>
          </p:nvSpPr>
          <p:spPr>
            <a:xfrm>
              <a:off x="476250" y="1924050"/>
              <a:ext cx="2628900" cy="2247900"/>
            </a:xfrm>
            <a:prstGeom prst="rect">
              <a:avLst/>
            </a:prstGeom>
            <a:solidFill>
              <a:schemeClr val="lt2"/>
            </a:solidFill>
            <a:ln w="19050">
              <a:solidFill>
                <a:schemeClr val="accent3"/>
              </a:solidFill>
            </a:ln>
          </p:spPr>
        </p:sp>
        <p:sp>
          <p:nvSpPr>
            <p:cNvPr id="6" name="TextBox 6"/>
            <p:cNvSpPr txBox="1"/>
            <p:nvPr/>
          </p:nvSpPr>
          <p:spPr>
            <a:xfrm>
              <a:off x="1164336" y="242570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公司</a:t>
              </a:r>
            </a:p>
          </p:txBody>
        </p:sp>
        <p:sp>
          <p:nvSpPr>
            <p:cNvPr id="7" name="TextBox 7"/>
            <p:cNvSpPr txBox="1"/>
            <p:nvPr/>
          </p:nvSpPr>
          <p:spPr>
            <a:xfrm>
              <a:off x="809244" y="326390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法人组织</a:t>
              </a:r>
            </a:p>
          </p:txBody>
        </p:sp>
        <p:sp>
          <p:nvSpPr>
            <p:cNvPr id="8" name="TextBox 8"/>
            <p:cNvSpPr txBox="1"/>
            <p:nvPr/>
          </p:nvSpPr>
          <p:spPr>
            <a:xfrm>
              <a:off x="450342" y="4464050"/>
              <a:ext cx="201282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不照搬自然人的全部权利</a:t>
              </a:r>
            </a:p>
          </p:txBody>
        </p:sp>
      </p:grpSp>
      <p:grpSp>
        <p:nvGrpSpPr>
          <p:cNvPr id="19" name="p21-fit"/>
          <p:cNvGrpSpPr/>
          <p:nvPr/>
        </p:nvGrpSpPr>
        <p:grpSpPr>
          <a:xfrm>
            <a:off x="3797808" y="2012950"/>
            <a:ext cx="7936992" cy="2451481"/>
            <a:chOff x="3797808" y="2012950"/>
            <a:chExt cx="7936992" cy="2451481"/>
          </a:xfrm>
        </p:grpSpPr>
        <p:sp>
          <p:nvSpPr>
            <p:cNvPr id="10" name="TextBox 10"/>
            <p:cNvSpPr txBox="1"/>
            <p:nvPr/>
          </p:nvSpPr>
          <p:spPr>
            <a:xfrm>
              <a:off x="3797808" y="201295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权利保护什么？</a:t>
              </a:r>
            </a:p>
          </p:txBody>
        </p:sp>
        <p:sp>
          <p:nvSpPr>
            <p:cNvPr id="11" name="TextBox 11"/>
            <p:cNvSpPr txBox="1"/>
            <p:nvPr/>
          </p:nvSpPr>
          <p:spPr>
            <a:xfrm>
              <a:off x="7779258" y="201295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法人有无这种需要？</a:t>
              </a:r>
            </a:p>
          </p:txBody>
        </p:sp>
        <p:sp>
          <p:nvSpPr>
            <p:cNvPr id="12" name="Line 12"/>
            <p:cNvSpPr/>
            <p:nvPr/>
          </p:nvSpPr>
          <p:spPr>
            <a:xfrm>
              <a:off x="3810000" y="2609850"/>
              <a:ext cx="7924800" cy="9525"/>
            </a:xfrm>
            <a:custGeom>
              <a:avLst/>
              <a:gdLst/>
              <a:ahLst/>
              <a:cxnLst/>
              <a:rect l="l" t="t" r="r" b="b"/>
              <a:pathLst>
                <a:path w="7924800" h="9525">
                  <a:moveTo>
                    <a:pt x="0" y="0"/>
                  </a:moveTo>
                  <a:lnTo>
                    <a:pt x="7924800" y="0"/>
                  </a:lnTo>
                </a:path>
              </a:pathLst>
            </a:custGeom>
            <a:noFill/>
            <a:ln w="9525">
              <a:solidFill>
                <a:schemeClr val="accent6"/>
              </a:solidFill>
            </a:ln>
          </p:spPr>
        </p:sp>
        <p:sp>
          <p:nvSpPr>
            <p:cNvPr id="13" name="TextBox 13"/>
            <p:cNvSpPr txBox="1"/>
            <p:nvPr/>
          </p:nvSpPr>
          <p:spPr>
            <a:xfrm>
              <a:off x="3800094" y="282575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财产归属</a:t>
              </a:r>
            </a:p>
          </p:txBody>
        </p:sp>
        <p:sp>
          <p:nvSpPr>
            <p:cNvPr id="14" name="TextBox 14"/>
            <p:cNvSpPr txBox="1"/>
            <p:nvPr/>
          </p:nvSpPr>
          <p:spPr>
            <a:xfrm>
              <a:off x="7781544" y="28257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公司可以拥有财物</a:t>
              </a:r>
            </a:p>
          </p:txBody>
        </p:sp>
        <p:sp>
          <p:nvSpPr>
            <p:cNvPr id="15" name="TextBox 15"/>
            <p:cNvSpPr txBox="1"/>
            <p:nvPr/>
          </p:nvSpPr>
          <p:spPr>
            <a:xfrm>
              <a:off x="3800094" y="34544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诉讼中的表达</a:t>
              </a:r>
            </a:p>
          </p:txBody>
        </p:sp>
        <p:sp>
          <p:nvSpPr>
            <p:cNvPr id="16" name="TextBox 16"/>
            <p:cNvSpPr txBox="1"/>
            <p:nvPr/>
          </p:nvSpPr>
          <p:spPr>
            <a:xfrm>
              <a:off x="7781544" y="34544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有当事人表达意见的需要</a:t>
              </a:r>
            </a:p>
          </p:txBody>
        </p:sp>
        <p:sp>
          <p:nvSpPr>
            <p:cNvPr id="17" name="TextBox 17"/>
            <p:cNvSpPr txBox="1"/>
            <p:nvPr/>
          </p:nvSpPr>
          <p:spPr>
            <a:xfrm>
              <a:off x="3800094" y="408305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人的身体与生命</a:t>
              </a:r>
            </a:p>
          </p:txBody>
        </p:sp>
        <p:sp>
          <p:nvSpPr>
            <p:cNvPr id="18" name="TextBox 18"/>
            <p:cNvSpPr txBox="1"/>
            <p:nvPr/>
          </p:nvSpPr>
          <p:spPr>
            <a:xfrm>
              <a:off x="7781544" y="4083050"/>
              <a:ext cx="290741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公司没有人的身体和生命</a:t>
              </a:r>
            </a:p>
          </p:txBody>
        </p:sp>
      </p:grpSp>
      <p:grpSp>
        <p:nvGrpSpPr>
          <p:cNvPr id="22" name="p21-reveal-1"/>
          <p:cNvGrpSpPr/>
          <p:nvPr/>
        </p:nvGrpSpPr>
        <p:grpSpPr>
          <a:xfrm>
            <a:off x="445008" y="5327650"/>
            <a:ext cx="7897368" cy="908431"/>
            <a:chOff x="445008" y="5327650"/>
            <a:chExt cx="7897368" cy="908431"/>
          </a:xfrm>
        </p:grpSpPr>
        <p:sp>
          <p:nvSpPr>
            <p:cNvPr id="20" name="TextBox 20"/>
            <p:cNvSpPr txBox="1"/>
            <p:nvPr/>
          </p:nvSpPr>
          <p:spPr>
            <a:xfrm>
              <a:off x="445008" y="5327650"/>
              <a:ext cx="4757623"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比较法：德国基本法第19条第3款</a:t>
              </a:r>
            </a:p>
          </p:txBody>
        </p:sp>
        <p:sp>
          <p:nvSpPr>
            <p:cNvPr id="21" name="TextBox 21"/>
            <p:cNvSpPr txBox="1"/>
            <p:nvPr/>
          </p:nvSpPr>
          <p:spPr>
            <a:xfrm>
              <a:off x="447294" y="5854700"/>
              <a:ext cx="789508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国内法人＋依权利性质可以适用；域外规则不能直接代替我国结论。</a:t>
              </a:r>
            </a:p>
          </p:txBody>
        </p:sp>
      </p:grpSp>
      <p:grpSp>
        <p:nvGrpSpPr>
          <p:cNvPr id="25" name="p21-footer"/>
          <p:cNvGrpSpPr/>
          <p:nvPr/>
        </p:nvGrpSpPr>
        <p:grpSpPr>
          <a:xfrm>
            <a:off x="451866" y="6502400"/>
            <a:ext cx="11247444" cy="205359"/>
            <a:chOff x="451866" y="6502400"/>
            <a:chExt cx="11247444" cy="205359"/>
          </a:xfrm>
        </p:grpSpPr>
        <p:sp>
          <p:nvSpPr>
            <p:cNvPr id="23" name="TextBox 23"/>
            <p:cNvSpPr txBox="1"/>
            <p:nvPr/>
          </p:nvSpPr>
          <p:spPr>
            <a:xfrm>
              <a:off x="451866" y="6502400"/>
              <a:ext cx="492261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依据：教材法人主体说明；德国官方基本法英译第19(3)条。公司为教学示例。</a:t>
              </a:r>
            </a:p>
          </p:txBody>
        </p:sp>
        <p:sp>
          <p:nvSpPr>
            <p:cNvPr id="24" name="TextBox 24"/>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21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2-title"/>
          <p:cNvGrpSpPr/>
          <p:nvPr/>
        </p:nvGrpSpPr>
        <p:grpSpPr>
          <a:xfrm>
            <a:off x="440436" y="381000"/>
            <a:ext cx="7543800" cy="918464"/>
            <a:chOff x="440436" y="381000"/>
            <a:chExt cx="7543800" cy="918464"/>
          </a:xfrm>
        </p:grpSpPr>
        <p:sp>
          <p:nvSpPr>
            <p:cNvPr id="2" name="TextBox 2"/>
            <p:cNvSpPr txBox="1"/>
            <p:nvPr/>
          </p:nvSpPr>
          <p:spPr>
            <a:xfrm>
              <a:off x="451104" y="381000"/>
              <a:ext cx="300075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美国2010年案件的范围</a:t>
              </a:r>
            </a:p>
          </p:txBody>
        </p:sp>
        <p:sp>
          <p:nvSpPr>
            <p:cNvPr id="3" name="TextBox 3"/>
            <p:cNvSpPr txBox="1"/>
            <p:nvPr/>
          </p:nvSpPr>
          <p:spPr>
            <a:xfrm>
              <a:off x="440436" y="65405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参与政治表达，不等于拿到一张选票</a:t>
              </a:r>
            </a:p>
          </p:txBody>
        </p:sp>
      </p:grpSp>
      <p:grpSp>
        <p:nvGrpSpPr>
          <p:cNvPr id="12" name="p22-independent"/>
          <p:cNvGrpSpPr/>
          <p:nvPr/>
        </p:nvGrpSpPr>
        <p:grpSpPr>
          <a:xfrm>
            <a:off x="444246" y="1844675"/>
            <a:ext cx="10416540" cy="1324356"/>
            <a:chOff x="444246" y="1844675"/>
            <a:chExt cx="10416540" cy="1324356"/>
          </a:xfrm>
        </p:grpSpPr>
        <p:sp>
          <p:nvSpPr>
            <p:cNvPr id="5" name="TextBox 5"/>
            <p:cNvSpPr txBox="1"/>
            <p:nvPr/>
          </p:nvSpPr>
          <p:spPr>
            <a:xfrm>
              <a:off x="444246" y="200342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公司</a:t>
              </a:r>
            </a:p>
          </p:txBody>
        </p:sp>
        <p:sp>
          <p:nvSpPr>
            <p:cNvPr id="6" name="Line 6"/>
            <p:cNvSpPr/>
            <p:nvPr/>
          </p:nvSpPr>
          <p:spPr>
            <a:xfrm>
              <a:off x="1962150" y="2219325"/>
              <a:ext cx="4381500" cy="9525"/>
            </a:xfrm>
            <a:custGeom>
              <a:avLst/>
              <a:gdLst/>
              <a:ahLst/>
              <a:cxnLst/>
              <a:rect l="l" t="t" r="r" b="b"/>
              <a:pathLst>
                <a:path w="4381500" h="9525">
                  <a:moveTo>
                    <a:pt x="0" y="0"/>
                  </a:moveTo>
                  <a:lnTo>
                    <a:pt x="4381500" y="0"/>
                  </a:lnTo>
                </a:path>
              </a:pathLst>
            </a:custGeom>
            <a:noFill/>
            <a:ln w="19050">
              <a:solidFill>
                <a:schemeClr val="accent3"/>
              </a:solidFill>
            </a:ln>
          </p:spPr>
        </p:sp>
        <p:sp>
          <p:nvSpPr>
            <p:cNvPr id="7" name="Freeform 7"/>
            <p:cNvSpPr/>
            <p:nvPr/>
          </p:nvSpPr>
          <p:spPr>
            <a:xfrm>
              <a:off x="6210300" y="2152650"/>
              <a:ext cx="133350" cy="133350"/>
            </a:xfrm>
            <a:custGeom>
              <a:avLst/>
              <a:gdLst/>
              <a:ahLst/>
              <a:cxnLst/>
              <a:rect l="l" t="t" r="r" b="b"/>
              <a:pathLst>
                <a:path w="133350" h="133350">
                  <a:moveTo>
                    <a:pt x="133350" y="66675"/>
                  </a:moveTo>
                  <a:lnTo>
                    <a:pt x="0" y="0"/>
                  </a:lnTo>
                  <a:lnTo>
                    <a:pt x="0" y="133350"/>
                  </a:lnTo>
                  <a:close/>
                </a:path>
              </a:pathLst>
            </a:custGeom>
            <a:solidFill>
              <a:schemeClr val="accent3"/>
            </a:solidFill>
            <a:ln>
              <a:noFill/>
            </a:ln>
          </p:spPr>
        </p:sp>
        <p:sp>
          <p:nvSpPr>
            <p:cNvPr id="8" name="TextBox 8"/>
            <p:cNvSpPr txBox="1"/>
            <p:nvPr/>
          </p:nvSpPr>
          <p:spPr>
            <a:xfrm>
              <a:off x="3250692" y="1844675"/>
              <a:ext cx="110413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自己购买宣传</a:t>
              </a:r>
            </a:p>
          </p:txBody>
        </p:sp>
        <p:sp>
          <p:nvSpPr>
            <p:cNvPr id="9" name="TextBox 9"/>
            <p:cNvSpPr txBox="1"/>
            <p:nvPr/>
          </p:nvSpPr>
          <p:spPr>
            <a:xfrm>
              <a:off x="6845046" y="2003425"/>
              <a:ext cx="401574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支持或反对候选人的表达</a:t>
              </a:r>
            </a:p>
          </p:txBody>
        </p:sp>
        <p:sp>
          <p:nvSpPr>
            <p:cNvPr id="10" name="TextBox 10"/>
            <p:cNvSpPr txBox="1"/>
            <p:nvPr/>
          </p:nvSpPr>
          <p:spPr>
            <a:xfrm>
              <a:off x="447294" y="2787650"/>
              <a:ext cx="106984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独立支出</a:t>
              </a:r>
            </a:p>
          </p:txBody>
        </p:sp>
        <p:sp>
          <p:nvSpPr>
            <p:cNvPr id="11" name="TextBox 11"/>
            <p:cNvSpPr txBox="1"/>
            <p:nvPr/>
          </p:nvSpPr>
          <p:spPr>
            <a:xfrm>
              <a:off x="3247644" y="27876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本案处理的政治表达经费范围</a:t>
              </a:r>
            </a:p>
          </p:txBody>
        </p:sp>
      </p:grpSp>
      <p:grpSp>
        <p:nvGrpSpPr>
          <p:cNvPr id="20" name="p22-direct"/>
          <p:cNvGrpSpPr/>
          <p:nvPr/>
        </p:nvGrpSpPr>
        <p:grpSpPr>
          <a:xfrm>
            <a:off x="444246" y="3657600"/>
            <a:ext cx="11290554" cy="1197356"/>
            <a:chOff x="444246" y="3657600"/>
            <a:chExt cx="11290554" cy="1197356"/>
          </a:xfrm>
        </p:grpSpPr>
        <p:sp>
          <p:nvSpPr>
            <p:cNvPr id="13" name="Line 13"/>
            <p:cNvSpPr/>
            <p:nvPr/>
          </p:nvSpPr>
          <p:spPr>
            <a:xfrm>
              <a:off x="457200" y="36576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4" name="TextBox 14"/>
            <p:cNvSpPr txBox="1"/>
            <p:nvPr/>
          </p:nvSpPr>
          <p:spPr>
            <a:xfrm>
              <a:off x="444246" y="3841750"/>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公司</a:t>
              </a:r>
            </a:p>
          </p:txBody>
        </p:sp>
        <p:sp>
          <p:nvSpPr>
            <p:cNvPr id="15" name="Line 15"/>
            <p:cNvSpPr/>
            <p:nvPr/>
          </p:nvSpPr>
          <p:spPr>
            <a:xfrm>
              <a:off x="1962150" y="4057650"/>
              <a:ext cx="4381500" cy="9525"/>
            </a:xfrm>
            <a:custGeom>
              <a:avLst/>
              <a:gdLst/>
              <a:ahLst/>
              <a:cxnLst/>
              <a:rect l="l" t="t" r="r" b="b"/>
              <a:pathLst>
                <a:path w="4381500" h="9525">
                  <a:moveTo>
                    <a:pt x="0" y="0"/>
                  </a:moveTo>
                  <a:lnTo>
                    <a:pt x="4381500" y="0"/>
                  </a:lnTo>
                </a:path>
              </a:pathLst>
            </a:custGeom>
            <a:noFill/>
            <a:ln w="19050">
              <a:solidFill>
                <a:schemeClr val="accent2"/>
              </a:solidFill>
            </a:ln>
          </p:spPr>
        </p:sp>
        <p:sp>
          <p:nvSpPr>
            <p:cNvPr id="16" name="Freeform 16"/>
            <p:cNvSpPr/>
            <p:nvPr/>
          </p:nvSpPr>
          <p:spPr>
            <a:xfrm>
              <a:off x="6210300" y="3990975"/>
              <a:ext cx="133350" cy="133350"/>
            </a:xfrm>
            <a:custGeom>
              <a:avLst/>
              <a:gdLst/>
              <a:ahLst/>
              <a:cxnLst/>
              <a:rect l="l" t="t" r="r" b="b"/>
              <a:pathLst>
                <a:path w="133350" h="133350">
                  <a:moveTo>
                    <a:pt x="133350" y="66675"/>
                  </a:moveTo>
                  <a:lnTo>
                    <a:pt x="0" y="0"/>
                  </a:lnTo>
                  <a:lnTo>
                    <a:pt x="0" y="133350"/>
                  </a:lnTo>
                  <a:close/>
                </a:path>
              </a:pathLst>
            </a:custGeom>
            <a:solidFill>
              <a:schemeClr val="accent2"/>
            </a:solidFill>
            <a:ln>
              <a:noFill/>
            </a:ln>
          </p:spPr>
        </p:sp>
        <p:sp>
          <p:nvSpPr>
            <p:cNvPr id="17" name="TextBox 17"/>
            <p:cNvSpPr txBox="1"/>
            <p:nvPr/>
          </p:nvSpPr>
          <p:spPr>
            <a:xfrm>
              <a:off x="3250692" y="3768725"/>
              <a:ext cx="740664"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直接捐款</a:t>
              </a:r>
            </a:p>
          </p:txBody>
        </p:sp>
        <p:sp>
          <p:nvSpPr>
            <p:cNvPr id="18" name="TextBox 18"/>
            <p:cNvSpPr txBox="1"/>
            <p:nvPr/>
          </p:nvSpPr>
          <p:spPr>
            <a:xfrm>
              <a:off x="6845046" y="3841750"/>
              <a:ext cx="111404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候选人</a:t>
              </a:r>
            </a:p>
          </p:txBody>
        </p:sp>
        <p:sp>
          <p:nvSpPr>
            <p:cNvPr id="19" name="TextBox 19"/>
            <p:cNvSpPr txBox="1"/>
            <p:nvPr/>
          </p:nvSpPr>
          <p:spPr>
            <a:xfrm>
              <a:off x="3247644" y="4473575"/>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相关直接捐款禁令，没有因此取消。</a:t>
              </a:r>
            </a:p>
          </p:txBody>
        </p:sp>
      </p:grpSp>
      <p:grpSp>
        <p:nvGrpSpPr>
          <p:cNvPr id="23" name="p22-reveal-1"/>
          <p:cNvGrpSpPr/>
          <p:nvPr/>
        </p:nvGrpSpPr>
        <p:grpSpPr>
          <a:xfrm>
            <a:off x="445008" y="5451475"/>
            <a:ext cx="6017666" cy="781558"/>
            <a:chOff x="445008" y="5451475"/>
            <a:chExt cx="6017666" cy="781558"/>
          </a:xfrm>
        </p:grpSpPr>
        <p:sp>
          <p:nvSpPr>
            <p:cNvPr id="21" name="TextBox 21"/>
            <p:cNvSpPr txBox="1"/>
            <p:nvPr/>
          </p:nvSpPr>
          <p:spPr>
            <a:xfrm>
              <a:off x="445008" y="5451475"/>
              <a:ext cx="601766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可以作某种政治表达　≠　公司享有选举权</a:t>
              </a:r>
            </a:p>
          </p:txBody>
        </p:sp>
        <p:sp>
          <p:nvSpPr>
            <p:cNvPr id="22" name="TextBox 22"/>
            <p:cNvSpPr txBox="1"/>
            <p:nvPr/>
          </p:nvSpPr>
          <p:spPr>
            <a:xfrm>
              <a:off x="450342" y="5969000"/>
              <a:ext cx="43754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仍须看每一项权利的性质；不是所有经费限制都消失。</a:t>
              </a:r>
            </a:p>
          </p:txBody>
        </p:sp>
      </p:grpSp>
      <p:grpSp>
        <p:nvGrpSpPr>
          <p:cNvPr id="26" name="p22-footer"/>
          <p:cNvGrpSpPr/>
          <p:nvPr/>
        </p:nvGrpSpPr>
        <p:grpSpPr>
          <a:xfrm>
            <a:off x="451866" y="6502400"/>
            <a:ext cx="11247444" cy="205359"/>
            <a:chOff x="451866" y="6502400"/>
            <a:chExt cx="11247444" cy="205359"/>
          </a:xfrm>
        </p:grpSpPr>
        <p:sp>
          <p:nvSpPr>
            <p:cNvPr id="24" name="TextBox 24"/>
            <p:cNvSpPr txBox="1"/>
            <p:nvPr/>
          </p:nvSpPr>
          <p:spPr>
            <a:xfrm>
              <a:off x="451866" y="6502400"/>
              <a:ext cx="648576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美国Citizens United案，2010-01-21；美国联邦选举委员会案件说明。仅作比较法，不代替我国规则。</a:t>
              </a:r>
            </a:p>
          </p:txBody>
        </p:sp>
        <p:sp>
          <p:nvSpPr>
            <p:cNvPr id="25" name="TextBox 25"/>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22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3-title"/>
          <p:cNvGrpSpPr/>
          <p:nvPr/>
        </p:nvGrpSpPr>
        <p:grpSpPr>
          <a:xfrm>
            <a:off x="440436" y="381000"/>
            <a:ext cx="7074408" cy="918464"/>
            <a:chOff x="440436" y="381000"/>
            <a:chExt cx="7074408" cy="918464"/>
          </a:xfrm>
        </p:grpSpPr>
        <p:sp>
          <p:nvSpPr>
            <p:cNvPr id="2" name="TextBox 2"/>
            <p:cNvSpPr txBox="1"/>
            <p:nvPr/>
          </p:nvSpPr>
          <p:spPr>
            <a:xfrm>
              <a:off x="451104" y="38100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特殊主体：外国人</a:t>
              </a:r>
            </a:p>
          </p:txBody>
        </p:sp>
        <p:sp>
          <p:nvSpPr>
            <p:cNvPr id="3" name="TextBox 3"/>
            <p:cNvSpPr txBox="1"/>
            <p:nvPr/>
          </p:nvSpPr>
          <p:spPr>
            <a:xfrm>
              <a:off x="440436" y="65405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身份范围不同，仍须看权利的性质</a:t>
              </a:r>
            </a:p>
          </p:txBody>
        </p:sp>
      </p:grpSp>
      <p:grpSp>
        <p:nvGrpSpPr>
          <p:cNvPr id="8" name="p23-citizen"/>
          <p:cNvGrpSpPr/>
          <p:nvPr/>
        </p:nvGrpSpPr>
        <p:grpSpPr>
          <a:xfrm>
            <a:off x="444246" y="1987550"/>
            <a:ext cx="3435477" cy="1581531"/>
            <a:chOff x="444246" y="1987550"/>
            <a:chExt cx="3435477" cy="1581531"/>
          </a:xfrm>
        </p:grpSpPr>
        <p:sp>
          <p:nvSpPr>
            <p:cNvPr id="5" name="TextBox 5"/>
            <p:cNvSpPr txBox="1"/>
            <p:nvPr/>
          </p:nvSpPr>
          <p:spPr>
            <a:xfrm>
              <a:off x="444246" y="1987550"/>
              <a:ext cx="276438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第三十三条第1款</a:t>
              </a:r>
            </a:p>
          </p:txBody>
        </p:sp>
        <p:sp>
          <p:nvSpPr>
            <p:cNvPr id="6" name="TextBox 6"/>
            <p:cNvSpPr txBox="1"/>
            <p:nvPr/>
          </p:nvSpPr>
          <p:spPr>
            <a:xfrm>
              <a:off x="447294" y="2663825"/>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具有中华人民共和国国籍的人</a:t>
              </a:r>
            </a:p>
          </p:txBody>
        </p:sp>
        <p:sp>
          <p:nvSpPr>
            <p:cNvPr id="7" name="TextBox 7"/>
            <p:cNvSpPr txBox="1"/>
            <p:nvPr/>
          </p:nvSpPr>
          <p:spPr>
            <a:xfrm>
              <a:off x="447294" y="3187700"/>
              <a:ext cx="1594866"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确认公民资格</a:t>
              </a:r>
            </a:p>
          </p:txBody>
        </p:sp>
      </p:grpSp>
      <p:grpSp>
        <p:nvGrpSpPr>
          <p:cNvPr id="12" name="p23-foreign"/>
          <p:cNvGrpSpPr/>
          <p:nvPr/>
        </p:nvGrpSpPr>
        <p:grpSpPr>
          <a:xfrm>
            <a:off x="6502146" y="1987550"/>
            <a:ext cx="2764384" cy="1581531"/>
            <a:chOff x="6502146" y="1987550"/>
            <a:chExt cx="2764384" cy="1581531"/>
          </a:xfrm>
        </p:grpSpPr>
        <p:sp>
          <p:nvSpPr>
            <p:cNvPr id="9" name="TextBox 9"/>
            <p:cNvSpPr txBox="1"/>
            <p:nvPr/>
          </p:nvSpPr>
          <p:spPr>
            <a:xfrm>
              <a:off x="6502146" y="1987550"/>
              <a:ext cx="276438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第三十二条第1款</a:t>
              </a:r>
            </a:p>
          </p:txBody>
        </p:sp>
        <p:sp>
          <p:nvSpPr>
            <p:cNvPr id="10" name="TextBox 10"/>
            <p:cNvSpPr txBox="1"/>
            <p:nvPr/>
          </p:nvSpPr>
          <p:spPr>
            <a:xfrm>
              <a:off x="6505194" y="2663825"/>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在中国境内的外国人</a:t>
              </a:r>
            </a:p>
          </p:txBody>
        </p:sp>
        <p:sp>
          <p:nvSpPr>
            <p:cNvPr id="11" name="TextBox 11"/>
            <p:cNvSpPr txBox="1"/>
            <p:nvPr/>
          </p:nvSpPr>
          <p:spPr>
            <a:xfrm>
              <a:off x="6505194" y="3187700"/>
              <a:ext cx="2644902"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保护其合法权利和利益</a:t>
              </a:r>
            </a:p>
          </p:txBody>
        </p:sp>
      </p:grpSp>
      <p:grpSp>
        <p:nvGrpSpPr>
          <p:cNvPr id="18" name="p23-reveal-1"/>
          <p:cNvGrpSpPr/>
          <p:nvPr/>
        </p:nvGrpSpPr>
        <p:grpSpPr>
          <a:xfrm>
            <a:off x="445008" y="4210050"/>
            <a:ext cx="11289792" cy="2045081"/>
            <a:chOff x="445008" y="4210050"/>
            <a:chExt cx="11289792" cy="2045081"/>
          </a:xfrm>
        </p:grpSpPr>
        <p:sp>
          <p:nvSpPr>
            <p:cNvPr id="13" name="Line 13"/>
            <p:cNvSpPr/>
            <p:nvPr/>
          </p:nvSpPr>
          <p:spPr>
            <a:xfrm>
              <a:off x="457200" y="42100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4" name="TextBox 14"/>
            <p:cNvSpPr txBox="1"/>
            <p:nvPr/>
          </p:nvSpPr>
          <p:spPr>
            <a:xfrm>
              <a:off x="445008" y="4403725"/>
              <a:ext cx="487070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原则上适用，也要逐项辨认范围。</a:t>
              </a:r>
            </a:p>
          </p:txBody>
        </p:sp>
        <p:sp>
          <p:nvSpPr>
            <p:cNvPr id="15" name="TextBox 15"/>
            <p:cNvSpPr txBox="1"/>
            <p:nvPr/>
          </p:nvSpPr>
          <p:spPr>
            <a:xfrm>
              <a:off x="447294" y="4968875"/>
              <a:ext cx="579501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人身自由、人格尊严：保护人本身不受任意侵害。</a:t>
              </a:r>
            </a:p>
          </p:txBody>
        </p:sp>
        <p:sp>
          <p:nvSpPr>
            <p:cNvPr id="16" name="TextBox 16"/>
            <p:cNvSpPr txBox="1"/>
            <p:nvPr/>
          </p:nvSpPr>
          <p:spPr>
            <a:xfrm>
              <a:off x="447294" y="5407025"/>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社会经济权利：与成员身份、资源安排有关，可能有差别。</a:t>
              </a:r>
            </a:p>
          </p:txBody>
        </p:sp>
        <p:sp>
          <p:nvSpPr>
            <p:cNvPr id="17" name="TextBox 17"/>
            <p:cNvSpPr txBox="1"/>
            <p:nvPr/>
          </p:nvSpPr>
          <p:spPr>
            <a:xfrm>
              <a:off x="447294" y="5873750"/>
              <a:ext cx="611002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既不能说“全部同样享有”，也不能说“都不受保护”。</a:t>
              </a:r>
            </a:p>
          </p:txBody>
        </p:sp>
      </p:grpSp>
      <p:grpSp>
        <p:nvGrpSpPr>
          <p:cNvPr id="21" name="p23-footer"/>
          <p:cNvGrpSpPr/>
          <p:nvPr/>
        </p:nvGrpSpPr>
        <p:grpSpPr>
          <a:xfrm>
            <a:off x="451866" y="6502400"/>
            <a:ext cx="11247444" cy="205359"/>
            <a:chOff x="451866" y="6502400"/>
            <a:chExt cx="11247444" cy="205359"/>
          </a:xfrm>
        </p:grpSpPr>
        <p:sp>
          <p:nvSpPr>
            <p:cNvPr id="19" name="TextBox 19"/>
            <p:cNvSpPr txBox="1"/>
            <p:nvPr/>
          </p:nvSpPr>
          <p:spPr>
            <a:xfrm>
              <a:off x="451866" y="6502400"/>
              <a:ext cx="613116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依据：宪法第32、33条和教材外国人主体说明。本页为凝练对读；“可能有差别”不替代具体规则。</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23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4-title"/>
          <p:cNvGrpSpPr/>
          <p:nvPr/>
        </p:nvGrpSpPr>
        <p:grpSpPr>
          <a:xfrm>
            <a:off x="440436" y="381000"/>
            <a:ext cx="6135624" cy="918464"/>
            <a:chOff x="440436" y="381000"/>
            <a:chExt cx="6135624" cy="918464"/>
          </a:xfrm>
        </p:grpSpPr>
        <p:sp>
          <p:nvSpPr>
            <p:cNvPr id="2" name="TextBox 2"/>
            <p:cNvSpPr txBox="1"/>
            <p:nvPr/>
          </p:nvSpPr>
          <p:spPr>
            <a:xfrm>
              <a:off x="451104" y="38100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特定主体是针对性的保护</a:t>
              </a:r>
            </a:p>
          </p:txBody>
        </p:sp>
        <p:sp>
          <p:nvSpPr>
            <p:cNvPr id="3" name="TextBox 3"/>
            <p:cNvSpPr txBox="1"/>
            <p:nvPr/>
          </p:nvSpPr>
          <p:spPr>
            <a:xfrm>
              <a:off x="440436" y="65405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同一个人，可以兼有这些身份</a:t>
              </a:r>
            </a:p>
          </p:txBody>
        </p:sp>
      </p:grpSp>
      <p:grpSp>
        <p:nvGrpSpPr>
          <p:cNvPr id="9" name="p24-person"/>
          <p:cNvGrpSpPr/>
          <p:nvPr/>
        </p:nvGrpSpPr>
        <p:grpSpPr>
          <a:xfrm>
            <a:off x="445008" y="1866900"/>
            <a:ext cx="4870704" cy="2377567"/>
            <a:chOff x="445008" y="1866900"/>
            <a:chExt cx="4870704" cy="2377567"/>
          </a:xfrm>
        </p:grpSpPr>
        <p:sp>
          <p:nvSpPr>
            <p:cNvPr id="5" name="Ellipse 5"/>
            <p:cNvSpPr/>
            <p:nvPr/>
          </p:nvSpPr>
          <p:spPr>
            <a:xfrm>
              <a:off x="1866900" y="1866900"/>
              <a:ext cx="1562100" cy="1562100"/>
            </a:xfrm>
            <a:prstGeom prst="ellipse">
              <a:avLst/>
            </a:prstGeom>
            <a:solidFill>
              <a:schemeClr val="lt2"/>
            </a:solidFill>
            <a:ln>
              <a:noFill/>
            </a:ln>
          </p:spPr>
        </p:sp>
        <p:sp>
          <p:nvSpPr>
            <p:cNvPr id="6" name="Ellipse 6"/>
            <p:cNvSpPr/>
            <p:nvPr/>
          </p:nvSpPr>
          <p:spPr>
            <a:xfrm>
              <a:off x="2466975" y="2257425"/>
              <a:ext cx="361950" cy="361950"/>
            </a:xfrm>
            <a:prstGeom prst="ellipse">
              <a:avLst/>
            </a:prstGeom>
            <a:noFill/>
            <a:ln w="47625">
              <a:solidFill>
                <a:schemeClr val="accent1"/>
              </a:solidFill>
            </a:ln>
          </p:spPr>
        </p:sp>
        <p:sp>
          <p:nvSpPr>
            <p:cNvPr id="7" name="Freeform 7"/>
            <p:cNvSpPr/>
            <p:nvPr/>
          </p:nvSpPr>
          <p:spPr>
            <a:xfrm>
              <a:off x="2305050" y="2695575"/>
              <a:ext cx="685800" cy="333375"/>
            </a:xfrm>
            <a:custGeom>
              <a:avLst/>
              <a:gdLst/>
              <a:ahLst/>
              <a:cxnLst/>
              <a:rect l="l" t="t" r="r" b="b"/>
              <a:pathLst>
                <a:path w="685800" h="333375">
                  <a:moveTo>
                    <a:pt x="0" y="333375"/>
                  </a:moveTo>
                  <a:lnTo>
                    <a:pt x="0" y="190500"/>
                  </a:lnTo>
                  <a:cubicBezTo>
                    <a:pt x="0" y="63500"/>
                    <a:pt x="66675" y="0"/>
                    <a:pt x="200025" y="0"/>
                  </a:cubicBezTo>
                  <a:lnTo>
                    <a:pt x="485775" y="0"/>
                  </a:lnTo>
                  <a:cubicBezTo>
                    <a:pt x="619125" y="0"/>
                    <a:pt x="685800" y="63500"/>
                    <a:pt x="685800" y="190500"/>
                  </a:cubicBezTo>
                  <a:lnTo>
                    <a:pt x="685800" y="333375"/>
                  </a:lnTo>
                </a:path>
              </a:pathLst>
            </a:custGeom>
            <a:noFill/>
            <a:ln w="47625">
              <a:solidFill>
                <a:schemeClr val="accent1"/>
              </a:solidFill>
            </a:ln>
          </p:spPr>
        </p:sp>
        <p:sp>
          <p:nvSpPr>
            <p:cNvPr id="8" name="TextBox 8"/>
            <p:cNvSpPr txBox="1"/>
            <p:nvPr/>
          </p:nvSpPr>
          <p:spPr>
            <a:xfrm>
              <a:off x="445008" y="3775075"/>
              <a:ext cx="487070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例如：一位中国公民，同时是儿童</a:t>
              </a:r>
            </a:p>
          </p:txBody>
        </p:sp>
      </p:grpSp>
      <p:grpSp>
        <p:nvGrpSpPr>
          <p:cNvPr id="16" name="p24-addition"/>
          <p:cNvGrpSpPr/>
          <p:nvPr/>
        </p:nvGrpSpPr>
        <p:grpSpPr>
          <a:xfrm>
            <a:off x="5393436" y="1955800"/>
            <a:ext cx="4382262" cy="2543683"/>
            <a:chOff x="5393436" y="1955800"/>
            <a:chExt cx="4382262" cy="2543683"/>
          </a:xfrm>
        </p:grpSpPr>
        <p:sp>
          <p:nvSpPr>
            <p:cNvPr id="10" name="TextBox 10"/>
            <p:cNvSpPr txBox="1"/>
            <p:nvPr/>
          </p:nvSpPr>
          <p:spPr>
            <a:xfrm>
              <a:off x="5397246" y="1955800"/>
              <a:ext cx="437845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原有的一般／特殊主体地位</a:t>
              </a:r>
            </a:p>
          </p:txBody>
        </p:sp>
        <p:sp>
          <p:nvSpPr>
            <p:cNvPr id="11" name="TextBox 11"/>
            <p:cNvSpPr txBox="1"/>
            <p:nvPr/>
          </p:nvSpPr>
          <p:spPr>
            <a:xfrm>
              <a:off x="5400294" y="25209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依法享有相应权利</a:t>
              </a:r>
            </a:p>
          </p:txBody>
        </p:sp>
        <p:sp>
          <p:nvSpPr>
            <p:cNvPr id="12" name="TextBox 12"/>
            <p:cNvSpPr txBox="1"/>
            <p:nvPr/>
          </p:nvSpPr>
          <p:spPr>
            <a:xfrm>
              <a:off x="5393436" y="2901950"/>
              <a:ext cx="502920" cy="645414"/>
            </a:xfrm>
            <a:prstGeom prst="rect">
              <a:avLst/>
            </a:prstGeom>
            <a:noFill/>
            <a:ln>
              <a:noFill/>
            </a:ln>
          </p:spPr>
          <p:txBody>
            <a:bodyPr wrap="none" lIns="0" tIns="0" rIns="0" bIns="0" anchor="t" anchorCtr="0">
              <a:spAutoFit/>
            </a:bodyPr>
            <a:lstStyle/>
            <a:p>
              <a:pPr algn="l"/>
              <a:r>
                <a:rPr lang="zh-CN" sz="3300" dirty="0">
                  <a:solidFill>
                    <a:schemeClr val="accent2"/>
                  </a:solidFill>
                  <a:latin typeface="+mj-lt"/>
                  <a:ea typeface="+mj-ea"/>
                  <a:cs typeface="+mj-cs"/>
                </a:rPr>
                <a:t>＋</a:t>
              </a:r>
            </a:p>
          </p:txBody>
        </p:sp>
        <p:sp>
          <p:nvSpPr>
            <p:cNvPr id="13" name="TextBox 13"/>
            <p:cNvSpPr txBox="1"/>
            <p:nvPr/>
          </p:nvSpPr>
          <p:spPr>
            <a:xfrm>
              <a:off x="6064758" y="304165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特别身份或处境</a:t>
              </a:r>
            </a:p>
          </p:txBody>
        </p:sp>
        <p:sp>
          <p:nvSpPr>
            <p:cNvPr id="14" name="TextBox 14"/>
            <p:cNvSpPr txBox="1"/>
            <p:nvPr/>
          </p:nvSpPr>
          <p:spPr>
            <a:xfrm>
              <a:off x="6067044" y="36068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增加有针对性的保障</a:t>
              </a:r>
            </a:p>
          </p:txBody>
        </p:sp>
        <p:sp>
          <p:nvSpPr>
            <p:cNvPr id="15" name="TextBox 15"/>
            <p:cNvSpPr txBox="1"/>
            <p:nvPr/>
          </p:nvSpPr>
          <p:spPr>
            <a:xfrm>
              <a:off x="5403342" y="4235450"/>
              <a:ext cx="346671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不是第三个互斥人群，也不是给人分高下。</a:t>
              </a:r>
            </a:p>
          </p:txBody>
        </p:sp>
      </p:grpSp>
      <p:grpSp>
        <p:nvGrpSpPr>
          <p:cNvPr id="20" name="p24-reveal-1"/>
          <p:cNvGrpSpPr/>
          <p:nvPr/>
        </p:nvGrpSpPr>
        <p:grpSpPr>
          <a:xfrm>
            <a:off x="447294" y="5067300"/>
            <a:ext cx="11287506" cy="1035431"/>
            <a:chOff x="447294" y="5067300"/>
            <a:chExt cx="11287506" cy="1035431"/>
          </a:xfrm>
        </p:grpSpPr>
        <p:sp>
          <p:nvSpPr>
            <p:cNvPr id="17" name="Line 17"/>
            <p:cNvSpPr/>
            <p:nvPr/>
          </p:nvSpPr>
          <p:spPr>
            <a:xfrm>
              <a:off x="457200" y="50673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8" name="TextBox 18"/>
            <p:cNvSpPr txBox="1"/>
            <p:nvPr/>
          </p:nvSpPr>
          <p:spPr>
            <a:xfrm>
              <a:off x="447294" y="5264150"/>
              <a:ext cx="789508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妇女、老人、儿童、残疾人、华侨等：回到相应条文辨认保护内容。</a:t>
              </a:r>
            </a:p>
          </p:txBody>
        </p:sp>
        <p:sp>
          <p:nvSpPr>
            <p:cNvPr id="19" name="TextBox 19"/>
            <p:cNvSpPr txBox="1"/>
            <p:nvPr/>
          </p:nvSpPr>
          <p:spPr>
            <a:xfrm>
              <a:off x="447294" y="5721350"/>
              <a:ext cx="815759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因政治原因要求避难的外国人，相关受庇护问题也有特定主体的讨论。</a:t>
              </a:r>
            </a:p>
          </p:txBody>
        </p:sp>
      </p:grpSp>
      <p:grpSp>
        <p:nvGrpSpPr>
          <p:cNvPr id="23" name="p24-footer"/>
          <p:cNvGrpSpPr/>
          <p:nvPr/>
        </p:nvGrpSpPr>
        <p:grpSpPr>
          <a:xfrm>
            <a:off x="451866" y="6502400"/>
            <a:ext cx="11247444" cy="205359"/>
            <a:chOff x="451866" y="6502400"/>
            <a:chExt cx="11247444" cy="205359"/>
          </a:xfrm>
        </p:grpSpPr>
        <p:sp>
          <p:nvSpPr>
            <p:cNvPr id="21" name="TextBox 21"/>
            <p:cNvSpPr txBox="1"/>
            <p:nvPr/>
          </p:nvSpPr>
          <p:spPr>
            <a:xfrm>
              <a:off x="451866" y="6502400"/>
              <a:ext cx="594034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依据：教材及宪法第32、45、48—50条。人物为教学示意；相应保护不意味着无条件一律给付。</a:t>
              </a:r>
            </a:p>
          </p:txBody>
        </p:sp>
        <p:sp>
          <p:nvSpPr>
            <p:cNvPr id="22" name="TextBox 22"/>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24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5-title"/>
          <p:cNvGrpSpPr/>
          <p:nvPr/>
        </p:nvGrpSpPr>
        <p:grpSpPr>
          <a:xfrm>
            <a:off x="440436" y="381000"/>
            <a:ext cx="6135624" cy="918464"/>
            <a:chOff x="440436" y="381000"/>
            <a:chExt cx="6135624" cy="918464"/>
          </a:xfrm>
        </p:grpSpPr>
        <p:sp>
          <p:nvSpPr>
            <p:cNvPr id="2" name="TextBox 2"/>
            <p:cNvSpPr txBox="1"/>
            <p:nvPr/>
          </p:nvSpPr>
          <p:spPr>
            <a:xfrm>
              <a:off x="451104" y="38100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上节收束：两种资格</a:t>
              </a:r>
            </a:p>
          </p:txBody>
        </p:sp>
        <p:sp>
          <p:nvSpPr>
            <p:cNvPr id="3" name="TextBox 3"/>
            <p:cNvSpPr txBox="1"/>
            <p:nvPr/>
          </p:nvSpPr>
          <p:spPr>
            <a:xfrm>
              <a:off x="440436" y="65405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是公民，就已享有选举权吗？</a:t>
              </a:r>
            </a:p>
          </p:txBody>
        </p:sp>
      </p:grpSp>
      <p:grpSp>
        <p:nvGrpSpPr>
          <p:cNvPr id="9" name="p25-seventeen"/>
          <p:cNvGrpSpPr/>
          <p:nvPr/>
        </p:nvGrpSpPr>
        <p:grpSpPr>
          <a:xfrm>
            <a:off x="438150" y="2012950"/>
            <a:ext cx="3441573" cy="2518156"/>
            <a:chOff x="438150" y="2012950"/>
            <a:chExt cx="3441573" cy="2518156"/>
          </a:xfrm>
        </p:grpSpPr>
        <p:sp>
          <p:nvSpPr>
            <p:cNvPr id="5" name="TextBox 5"/>
            <p:cNvSpPr txBox="1"/>
            <p:nvPr/>
          </p:nvSpPr>
          <p:spPr>
            <a:xfrm>
              <a:off x="438150" y="2012950"/>
              <a:ext cx="1651102"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17岁</a:t>
              </a:r>
            </a:p>
          </p:txBody>
        </p:sp>
        <p:sp>
          <p:nvSpPr>
            <p:cNvPr id="6" name="TextBox 6"/>
            <p:cNvSpPr txBox="1"/>
            <p:nvPr/>
          </p:nvSpPr>
          <p:spPr>
            <a:xfrm>
              <a:off x="445008" y="3032125"/>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具有中国国籍</a:t>
              </a:r>
            </a:p>
          </p:txBody>
        </p:sp>
        <p:sp>
          <p:nvSpPr>
            <p:cNvPr id="7" name="TextBox 7"/>
            <p:cNvSpPr txBox="1"/>
            <p:nvPr/>
          </p:nvSpPr>
          <p:spPr>
            <a:xfrm>
              <a:off x="447294" y="3673475"/>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公民资格仍在</a:t>
              </a:r>
            </a:p>
          </p:txBody>
        </p:sp>
        <p:sp>
          <p:nvSpPr>
            <p:cNvPr id="8" name="TextBox 8"/>
            <p:cNvSpPr txBox="1"/>
            <p:nvPr/>
          </p:nvSpPr>
          <p:spPr>
            <a:xfrm>
              <a:off x="447294" y="4149725"/>
              <a:ext cx="343242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尚未达到这项权利的年龄条件</a:t>
              </a:r>
            </a:p>
          </p:txBody>
        </p:sp>
      </p:grpSp>
      <p:grpSp>
        <p:nvGrpSpPr>
          <p:cNvPr id="14" name="p25-eighteen"/>
          <p:cNvGrpSpPr/>
          <p:nvPr/>
        </p:nvGrpSpPr>
        <p:grpSpPr>
          <a:xfrm>
            <a:off x="6496050" y="2012950"/>
            <a:ext cx="3179064" cy="2518156"/>
            <a:chOff x="6496050" y="2012950"/>
            <a:chExt cx="3179064" cy="2518156"/>
          </a:xfrm>
        </p:grpSpPr>
        <p:sp>
          <p:nvSpPr>
            <p:cNvPr id="10" name="TextBox 10"/>
            <p:cNvSpPr txBox="1"/>
            <p:nvPr/>
          </p:nvSpPr>
          <p:spPr>
            <a:xfrm>
              <a:off x="6496050" y="2012950"/>
              <a:ext cx="1651102"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18岁</a:t>
              </a:r>
            </a:p>
          </p:txBody>
        </p:sp>
        <p:sp>
          <p:nvSpPr>
            <p:cNvPr id="11" name="TextBox 11"/>
            <p:cNvSpPr txBox="1"/>
            <p:nvPr/>
          </p:nvSpPr>
          <p:spPr>
            <a:xfrm>
              <a:off x="6502908" y="3032125"/>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年满十八周岁</a:t>
              </a:r>
            </a:p>
          </p:txBody>
        </p:sp>
        <p:sp>
          <p:nvSpPr>
            <p:cNvPr id="12" name="TextBox 12"/>
            <p:cNvSpPr txBox="1"/>
            <p:nvPr/>
          </p:nvSpPr>
          <p:spPr>
            <a:xfrm>
              <a:off x="6505194" y="3673475"/>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达到年龄条件</a:t>
              </a:r>
            </a:p>
          </p:txBody>
        </p:sp>
        <p:sp>
          <p:nvSpPr>
            <p:cNvPr id="13" name="TextBox 13"/>
            <p:cNvSpPr txBox="1"/>
            <p:nvPr/>
          </p:nvSpPr>
          <p:spPr>
            <a:xfrm>
              <a:off x="6505194" y="4149725"/>
              <a:ext cx="3169920"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仍须看其他条件和法定例外</a:t>
              </a:r>
            </a:p>
          </p:txBody>
        </p:sp>
      </p:grpSp>
      <p:grpSp>
        <p:nvGrpSpPr>
          <p:cNvPr id="17" name="p25-reveal-1"/>
          <p:cNvGrpSpPr/>
          <p:nvPr/>
        </p:nvGrpSpPr>
        <p:grpSpPr>
          <a:xfrm>
            <a:off x="445008" y="5337175"/>
            <a:ext cx="7661110" cy="889381"/>
            <a:chOff x="445008" y="5337175"/>
            <a:chExt cx="7661110" cy="889381"/>
          </a:xfrm>
        </p:grpSpPr>
        <p:sp>
          <p:nvSpPr>
            <p:cNvPr id="15" name="TextBox 15"/>
            <p:cNvSpPr txBox="1"/>
            <p:nvPr/>
          </p:nvSpPr>
          <p:spPr>
            <a:xfrm>
              <a:off x="445008" y="5337175"/>
              <a:ext cx="4256837"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不是“已经享有，只等领票”。</a:t>
              </a:r>
            </a:p>
          </p:txBody>
        </p:sp>
        <p:sp>
          <p:nvSpPr>
            <p:cNvPr id="16" name="TextBox 16"/>
            <p:cNvSpPr txBox="1"/>
            <p:nvPr/>
          </p:nvSpPr>
          <p:spPr>
            <a:xfrm>
              <a:off x="447294" y="5845175"/>
              <a:ext cx="765882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不符合这一项，不取消公民资格和其他权利；下节转向“约束谁”。</a:t>
              </a:r>
            </a:p>
          </p:txBody>
        </p:sp>
      </p:grpSp>
      <p:grpSp>
        <p:nvGrpSpPr>
          <p:cNvPr id="20" name="p25-footer"/>
          <p:cNvGrpSpPr/>
          <p:nvPr/>
        </p:nvGrpSpPr>
        <p:grpSpPr>
          <a:xfrm>
            <a:off x="451866" y="6502400"/>
            <a:ext cx="11247444" cy="205359"/>
            <a:chOff x="451866" y="6502400"/>
            <a:chExt cx="11247444" cy="205359"/>
          </a:xfrm>
        </p:grpSpPr>
        <p:sp>
          <p:nvSpPr>
            <p:cNvPr id="18" name="TextBox 18"/>
            <p:cNvSpPr txBox="1"/>
            <p:nvPr/>
          </p:nvSpPr>
          <p:spPr>
            <a:xfrm>
              <a:off x="451866" y="6502400"/>
              <a:ext cx="596154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宪法第34条：含依法被剥夺政治权利者的例外。完整选举资格留下一讲；这里先分开两种资格。</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25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6-title"/>
          <p:cNvGrpSpPr/>
          <p:nvPr/>
        </p:nvGrpSpPr>
        <p:grpSpPr>
          <a:xfrm>
            <a:off x="440436" y="381000"/>
            <a:ext cx="6276442" cy="943864"/>
            <a:chOff x="440436" y="381000"/>
            <a:chExt cx="6276442" cy="943864"/>
          </a:xfrm>
        </p:grpSpPr>
        <p:sp>
          <p:nvSpPr>
            <p:cNvPr id="2" name="TextBox 2"/>
            <p:cNvSpPr txBox="1"/>
            <p:nvPr/>
          </p:nvSpPr>
          <p:spPr>
            <a:xfrm>
              <a:off x="451104" y="38100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下节：效力、保障与限制</a:t>
              </a:r>
            </a:p>
          </p:txBody>
        </p:sp>
        <p:sp>
          <p:nvSpPr>
            <p:cNvPr id="3" name="TextBox 3"/>
            <p:cNvSpPr txBox="1"/>
            <p:nvPr/>
          </p:nvSpPr>
          <p:spPr>
            <a:xfrm>
              <a:off x="440436" y="679450"/>
              <a:ext cx="627644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“有道理”“有拘束力”“做到了”</a:t>
              </a:r>
            </a:p>
          </p:txBody>
        </p:sp>
      </p:grpSp>
      <p:grpSp>
        <p:nvGrpSpPr>
          <p:cNvPr id="7" name="p26-moral"/>
          <p:cNvGrpSpPr/>
          <p:nvPr/>
        </p:nvGrpSpPr>
        <p:grpSpPr>
          <a:xfrm>
            <a:off x="444246" y="2060575"/>
            <a:ext cx="8718804" cy="507492"/>
            <a:chOff x="444246" y="2060575"/>
            <a:chExt cx="8718804" cy="507492"/>
          </a:xfrm>
        </p:grpSpPr>
        <p:sp>
          <p:nvSpPr>
            <p:cNvPr id="5" name="TextBox 5"/>
            <p:cNvSpPr txBox="1"/>
            <p:nvPr/>
          </p:nvSpPr>
          <p:spPr>
            <a:xfrm>
              <a:off x="444246" y="206057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道德效力</a:t>
              </a:r>
            </a:p>
          </p:txBody>
        </p:sp>
        <p:sp>
          <p:nvSpPr>
            <p:cNvPr id="6" name="TextBox 6"/>
            <p:cNvSpPr txBox="1"/>
            <p:nvPr/>
          </p:nvSpPr>
          <p:spPr>
            <a:xfrm>
              <a:off x="3969258" y="2098675"/>
              <a:ext cx="519379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为什么住宅不受非法搜查值得维护？</a:t>
              </a:r>
            </a:p>
          </p:txBody>
        </p:sp>
      </p:grpSp>
      <p:grpSp>
        <p:nvGrpSpPr>
          <p:cNvPr id="11" name="p26-legal"/>
          <p:cNvGrpSpPr/>
          <p:nvPr/>
        </p:nvGrpSpPr>
        <p:grpSpPr>
          <a:xfrm>
            <a:off x="457200" y="3181350"/>
            <a:ext cx="11277600" cy="971550"/>
            <a:chOff x="457200" y="3181350"/>
            <a:chExt cx="11277600" cy="971550"/>
          </a:xfrm>
        </p:grpSpPr>
        <p:sp>
          <p:nvSpPr>
            <p:cNvPr id="8" name="Rectangle 8"/>
            <p:cNvSpPr/>
            <p:nvPr/>
          </p:nvSpPr>
          <p:spPr>
            <a:xfrm>
              <a:off x="457200" y="3181350"/>
              <a:ext cx="11277600" cy="971550"/>
            </a:xfrm>
            <a:prstGeom prst="rect">
              <a:avLst/>
            </a:prstGeom>
            <a:solidFill>
              <a:schemeClr val="lt2"/>
            </a:solidFill>
            <a:ln>
              <a:noFill/>
            </a:ln>
          </p:spPr>
        </p:sp>
        <p:sp>
          <p:nvSpPr>
            <p:cNvPr id="9" name="TextBox 9"/>
            <p:cNvSpPr txBox="1"/>
            <p:nvPr/>
          </p:nvSpPr>
          <p:spPr>
            <a:xfrm>
              <a:off x="710946" y="3422650"/>
              <a:ext cx="1476756"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j-lt"/>
                  <a:ea typeface="+mj-ea"/>
                  <a:cs typeface="+mj-cs"/>
                </a:rPr>
                <a:t>法律效力</a:t>
              </a:r>
            </a:p>
          </p:txBody>
        </p:sp>
        <p:sp>
          <p:nvSpPr>
            <p:cNvPr id="10" name="TextBox 10"/>
            <p:cNvSpPr txBox="1"/>
            <p:nvPr/>
          </p:nvSpPr>
          <p:spPr>
            <a:xfrm>
              <a:off x="3969258" y="3460750"/>
              <a:ext cx="519379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相关规范是否具有法律上的约束力？</a:t>
              </a:r>
            </a:p>
          </p:txBody>
        </p:sp>
      </p:grpSp>
      <p:grpSp>
        <p:nvGrpSpPr>
          <p:cNvPr id="14" name="p26-actual"/>
          <p:cNvGrpSpPr/>
          <p:nvPr/>
        </p:nvGrpSpPr>
        <p:grpSpPr>
          <a:xfrm>
            <a:off x="444246" y="4613275"/>
            <a:ext cx="7426452" cy="507492"/>
            <a:chOff x="444246" y="4613275"/>
            <a:chExt cx="7426452" cy="507492"/>
          </a:xfrm>
        </p:grpSpPr>
        <p:sp>
          <p:nvSpPr>
            <p:cNvPr id="12" name="TextBox 12"/>
            <p:cNvSpPr txBox="1"/>
            <p:nvPr/>
          </p:nvSpPr>
          <p:spPr>
            <a:xfrm>
              <a:off x="444246" y="461327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实际效力</a:t>
              </a:r>
            </a:p>
          </p:txBody>
        </p:sp>
        <p:sp>
          <p:nvSpPr>
            <p:cNvPr id="13" name="TextBox 13"/>
            <p:cNvSpPr txBox="1"/>
            <p:nvPr/>
          </p:nvSpPr>
          <p:spPr>
            <a:xfrm>
              <a:off x="3969258" y="4651375"/>
              <a:ext cx="39014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现实办事时，有没有遵守？</a:t>
              </a:r>
            </a:p>
          </p:txBody>
        </p:sp>
      </p:grpSp>
      <p:grpSp>
        <p:nvGrpSpPr>
          <p:cNvPr id="16" name="p26-conclusion"/>
          <p:cNvGrpSpPr/>
          <p:nvPr/>
        </p:nvGrpSpPr>
        <p:grpSpPr>
          <a:xfrm>
            <a:off x="447294" y="5835650"/>
            <a:ext cx="8157591" cy="381381"/>
            <a:chOff x="447294" y="5835650"/>
            <a:chExt cx="8157591" cy="381381"/>
          </a:xfrm>
        </p:grpSpPr>
        <p:sp>
          <p:nvSpPr>
            <p:cNvPr id="15" name="TextBox 15"/>
            <p:cNvSpPr txBox="1"/>
            <p:nvPr/>
          </p:nvSpPr>
          <p:spPr>
            <a:xfrm>
              <a:off x="447294" y="5835650"/>
              <a:ext cx="8157591"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本讲问法律约束；三种判断可能不一致，也不是自动递进的三个阶段。</a:t>
              </a:r>
            </a:p>
          </p:txBody>
        </p:sp>
      </p:grpSp>
      <p:grpSp>
        <p:nvGrpSpPr>
          <p:cNvPr id="19" name="p26-footer"/>
          <p:cNvGrpSpPr/>
          <p:nvPr/>
        </p:nvGrpSpPr>
        <p:grpSpPr>
          <a:xfrm>
            <a:off x="451866" y="6502400"/>
            <a:ext cx="11247444" cy="205359"/>
            <a:chOff x="451866" y="6502400"/>
            <a:chExt cx="11247444" cy="205359"/>
          </a:xfrm>
        </p:grpSpPr>
        <p:sp>
          <p:nvSpPr>
            <p:cNvPr id="17" name="TextBox 17"/>
            <p:cNvSpPr txBox="1"/>
            <p:nvPr/>
          </p:nvSpPr>
          <p:spPr>
            <a:xfrm>
              <a:off x="451866" y="6502400"/>
              <a:ext cx="538200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依据：教材效力区分。基本权利条款本身是宪法规范，不待普通法律批准才有约束力。</a:t>
              </a:r>
            </a:p>
          </p:txBody>
        </p:sp>
        <p:sp>
          <p:nvSpPr>
            <p:cNvPr id="18" name="TextBox 18"/>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26 / 47</a:t>
              </a:r>
            </a:p>
          </p:txBody>
        </p:sp>
      </p:grpSp>
    </p:spTree>
  </p:cSld>
  <p:clrMapOvr>
    <a:masterClrMapping/>
  </p:clrMapOvr>
  <p:transition xmlns:p14="http://schemas.microsoft.com/office/powerpoint/2010/main" p14:dur="3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7-title"/>
          <p:cNvGrpSpPr/>
          <p:nvPr/>
        </p:nvGrpSpPr>
        <p:grpSpPr>
          <a:xfrm>
            <a:off x="440436" y="381000"/>
            <a:ext cx="6605016" cy="918464"/>
            <a:chOff x="440436" y="381000"/>
            <a:chExt cx="6605016" cy="918464"/>
          </a:xfrm>
        </p:grpSpPr>
        <p:sp>
          <p:nvSpPr>
            <p:cNvPr id="2" name="TextBox 2"/>
            <p:cNvSpPr txBox="1"/>
            <p:nvPr/>
          </p:nvSpPr>
          <p:spPr>
            <a:xfrm>
              <a:off x="451104" y="38100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效力主要落在公权力一侧</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为什么要在根本层次约束国家？</a:t>
              </a:r>
            </a:p>
          </p:txBody>
        </p:sp>
      </p:grpSp>
      <p:grpSp>
        <p:nvGrpSpPr>
          <p:cNvPr id="15" name="p27-power"/>
          <p:cNvGrpSpPr/>
          <p:nvPr/>
        </p:nvGrpSpPr>
        <p:grpSpPr>
          <a:xfrm>
            <a:off x="440436" y="1828800"/>
            <a:ext cx="11275314" cy="2400300"/>
            <a:chOff x="440436" y="1828800"/>
            <a:chExt cx="11275314" cy="2400300"/>
          </a:xfrm>
        </p:grpSpPr>
        <p:sp>
          <p:nvSpPr>
            <p:cNvPr id="5" name="TextBox 5"/>
            <p:cNvSpPr txBox="1"/>
            <p:nvPr/>
          </p:nvSpPr>
          <p:spPr>
            <a:xfrm>
              <a:off x="440436" y="2397125"/>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个人</a:t>
              </a:r>
            </a:p>
          </p:txBody>
        </p:sp>
        <p:sp>
          <p:nvSpPr>
            <p:cNvPr id="6" name="Line 6"/>
            <p:cNvSpPr/>
            <p:nvPr/>
          </p:nvSpPr>
          <p:spPr>
            <a:xfrm>
              <a:off x="2190750" y="2667000"/>
              <a:ext cx="4533900" cy="9525"/>
            </a:xfrm>
            <a:custGeom>
              <a:avLst/>
              <a:gdLst/>
              <a:ahLst/>
              <a:cxnLst/>
              <a:rect l="l" t="t" r="r" b="b"/>
              <a:pathLst>
                <a:path w="4533900" h="9525">
                  <a:moveTo>
                    <a:pt x="0" y="0"/>
                  </a:moveTo>
                  <a:lnTo>
                    <a:pt x="4533900" y="0"/>
                  </a:lnTo>
                </a:path>
              </a:pathLst>
            </a:custGeom>
            <a:noFill/>
            <a:ln w="19050">
              <a:solidFill>
                <a:schemeClr val="accent3"/>
              </a:solidFill>
            </a:ln>
          </p:spPr>
        </p:sp>
        <p:sp>
          <p:nvSpPr>
            <p:cNvPr id="7" name="Freeform 7"/>
            <p:cNvSpPr/>
            <p:nvPr/>
          </p:nvSpPr>
          <p:spPr>
            <a:xfrm>
              <a:off x="2190750" y="2600325"/>
              <a:ext cx="133350" cy="133350"/>
            </a:xfrm>
            <a:custGeom>
              <a:avLst/>
              <a:gdLst/>
              <a:ahLst/>
              <a:cxnLst/>
              <a:rect l="l" t="t" r="r" b="b"/>
              <a:pathLst>
                <a:path w="133350" h="133350">
                  <a:moveTo>
                    <a:pt x="0" y="66675"/>
                  </a:moveTo>
                  <a:lnTo>
                    <a:pt x="133350" y="0"/>
                  </a:lnTo>
                  <a:lnTo>
                    <a:pt x="133350" y="133350"/>
                  </a:lnTo>
                  <a:close/>
                </a:path>
              </a:pathLst>
            </a:custGeom>
            <a:solidFill>
              <a:schemeClr val="accent3"/>
            </a:solidFill>
            <a:ln>
              <a:noFill/>
            </a:ln>
          </p:spPr>
        </p:sp>
        <p:sp>
          <p:nvSpPr>
            <p:cNvPr id="8" name="TextBox 8"/>
            <p:cNvSpPr txBox="1"/>
            <p:nvPr/>
          </p:nvSpPr>
          <p:spPr>
            <a:xfrm>
              <a:off x="2983992" y="2244725"/>
              <a:ext cx="1467612"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受到公共权力影响</a:t>
              </a:r>
            </a:p>
          </p:txBody>
        </p:sp>
        <p:sp>
          <p:nvSpPr>
            <p:cNvPr id="9" name="TextBox 9"/>
            <p:cNvSpPr txBox="1"/>
            <p:nvPr/>
          </p:nvSpPr>
          <p:spPr>
            <a:xfrm>
              <a:off x="447294" y="3340100"/>
              <a:ext cx="3169920"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不能因不愿意，就一概退出</a:t>
              </a:r>
            </a:p>
          </p:txBody>
        </p:sp>
        <p:sp>
          <p:nvSpPr>
            <p:cNvPr id="10" name="Rectangle 10"/>
            <p:cNvSpPr/>
            <p:nvPr/>
          </p:nvSpPr>
          <p:spPr>
            <a:xfrm>
              <a:off x="7143750" y="1828800"/>
              <a:ext cx="4572000" cy="2400300"/>
            </a:xfrm>
            <a:prstGeom prst="rect">
              <a:avLst/>
            </a:prstGeom>
            <a:solidFill>
              <a:schemeClr val="lt2"/>
            </a:solidFill>
            <a:ln w="19050">
              <a:solidFill>
                <a:schemeClr val="accent3"/>
              </a:solidFill>
            </a:ln>
          </p:spPr>
        </p:sp>
        <p:sp>
          <p:nvSpPr>
            <p:cNvPr id="11" name="TextBox 11"/>
            <p:cNvSpPr txBox="1"/>
            <p:nvPr/>
          </p:nvSpPr>
          <p:spPr>
            <a:xfrm>
              <a:off x="7397496" y="197485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国家与公共权力</a:t>
              </a:r>
            </a:p>
          </p:txBody>
        </p:sp>
        <p:sp>
          <p:nvSpPr>
            <p:cNvPr id="12" name="TextBox 12"/>
            <p:cNvSpPr txBox="1"/>
            <p:nvPr/>
          </p:nvSpPr>
          <p:spPr>
            <a:xfrm>
              <a:off x="7400544" y="26162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制定有拘束力的规则</a:t>
              </a:r>
            </a:p>
          </p:txBody>
        </p:sp>
        <p:sp>
          <p:nvSpPr>
            <p:cNvPr id="13" name="TextBox 13"/>
            <p:cNvSpPr txBox="1"/>
            <p:nvPr/>
          </p:nvSpPr>
          <p:spPr>
            <a:xfrm>
              <a:off x="7400544" y="30543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依法作出行政决定</a:t>
              </a:r>
            </a:p>
          </p:txBody>
        </p:sp>
        <p:sp>
          <p:nvSpPr>
            <p:cNvPr id="14" name="TextBox 14"/>
            <p:cNvSpPr txBox="1"/>
            <p:nvPr/>
          </p:nvSpPr>
          <p:spPr>
            <a:xfrm>
              <a:off x="7400544" y="349250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在特定条件下使用强制力量</a:t>
              </a:r>
            </a:p>
          </p:txBody>
        </p:sp>
      </p:grpSp>
      <p:grpSp>
        <p:nvGrpSpPr>
          <p:cNvPr id="19" name="p27-reveal-1"/>
          <p:cNvGrpSpPr/>
          <p:nvPr/>
        </p:nvGrpSpPr>
        <p:grpSpPr>
          <a:xfrm>
            <a:off x="445008" y="4946650"/>
            <a:ext cx="8422386" cy="1324483"/>
            <a:chOff x="445008" y="4946650"/>
            <a:chExt cx="8422386" cy="1324483"/>
          </a:xfrm>
        </p:grpSpPr>
        <p:sp>
          <p:nvSpPr>
            <p:cNvPr id="16" name="TextBox 16"/>
            <p:cNvSpPr txBox="1"/>
            <p:nvPr/>
          </p:nvSpPr>
          <p:spPr>
            <a:xfrm>
              <a:off x="445008" y="4946650"/>
              <a:ext cx="745540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宪法在根本层次限权；具体机关还须有权限和条件。</a:t>
              </a:r>
            </a:p>
          </p:txBody>
        </p:sp>
        <p:sp>
          <p:nvSpPr>
            <p:cNvPr id="17" name="TextBox 17"/>
            <p:cNvSpPr txBox="1"/>
            <p:nvPr/>
          </p:nvSpPr>
          <p:spPr>
            <a:xfrm>
              <a:off x="447294" y="5511800"/>
              <a:ext cx="842010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私人侵害先找普通法律，国家通过立法、保护与司法同样承担保障任务。</a:t>
              </a:r>
            </a:p>
          </p:txBody>
        </p:sp>
        <p:sp>
          <p:nvSpPr>
            <p:cNvPr id="18" name="TextBox 18"/>
            <p:cNvSpPr txBox="1"/>
            <p:nvPr/>
          </p:nvSpPr>
          <p:spPr>
            <a:xfrm>
              <a:off x="450342" y="6007100"/>
              <a:ext cx="455714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私人可能有事实上的支配力，但不因此取得国家强制权。</a:t>
              </a:r>
            </a:p>
          </p:txBody>
        </p:sp>
      </p:grpSp>
      <p:grpSp>
        <p:nvGrpSpPr>
          <p:cNvPr id="22" name="p27-footer"/>
          <p:cNvGrpSpPr/>
          <p:nvPr/>
        </p:nvGrpSpPr>
        <p:grpSpPr>
          <a:xfrm>
            <a:off x="451866" y="6502400"/>
            <a:ext cx="11247444" cy="205359"/>
            <a:chOff x="451866" y="6502400"/>
            <a:chExt cx="11247444" cy="205359"/>
          </a:xfrm>
        </p:grpSpPr>
        <p:sp>
          <p:nvSpPr>
            <p:cNvPr id="20" name="TextBox 20"/>
            <p:cNvSpPr txBox="1"/>
            <p:nvPr/>
          </p:nvSpPr>
          <p:spPr>
            <a:xfrm>
              <a:off x="451866" y="6502400"/>
              <a:ext cx="524065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依据：教材效力对象及本讲理由。图示国家能力的性质，不表示其可以无依据实施。</a:t>
              </a:r>
            </a:p>
          </p:txBody>
        </p:sp>
        <p:sp>
          <p:nvSpPr>
            <p:cNvPr id="21" name="TextBox 21"/>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27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8-title"/>
          <p:cNvGrpSpPr/>
          <p:nvPr/>
        </p:nvGrpSpPr>
        <p:grpSpPr>
          <a:xfrm>
            <a:off x="440436" y="381000"/>
            <a:ext cx="7074408" cy="918464"/>
            <a:chOff x="440436" y="381000"/>
            <a:chExt cx="7074408" cy="918464"/>
          </a:xfrm>
        </p:grpSpPr>
        <p:sp>
          <p:nvSpPr>
            <p:cNvPr id="2" name="TextBox 2"/>
            <p:cNvSpPr txBox="1"/>
            <p:nvPr/>
          </p:nvSpPr>
          <p:spPr>
            <a:xfrm>
              <a:off x="451104" y="38100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私人关系中的两面理由</a:t>
              </a:r>
            </a:p>
          </p:txBody>
        </p:sp>
        <p:sp>
          <p:nvSpPr>
            <p:cNvPr id="3" name="TextBox 3"/>
            <p:cNvSpPr txBox="1"/>
            <p:nvPr/>
          </p:nvSpPr>
          <p:spPr>
            <a:xfrm>
              <a:off x="440436" y="65405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保护弱者，也要说明怎样影响私法</a:t>
              </a:r>
            </a:p>
          </p:txBody>
        </p:sp>
      </p:grpSp>
      <p:grpSp>
        <p:nvGrpSpPr>
          <p:cNvPr id="9" name="p28-person"/>
          <p:cNvGrpSpPr/>
          <p:nvPr/>
        </p:nvGrpSpPr>
        <p:grpSpPr>
          <a:xfrm>
            <a:off x="444246" y="1851025"/>
            <a:ext cx="3697986" cy="1762633"/>
            <a:chOff x="444246" y="1851025"/>
            <a:chExt cx="3697986" cy="1762633"/>
          </a:xfrm>
        </p:grpSpPr>
        <p:sp>
          <p:nvSpPr>
            <p:cNvPr id="5" name="TextBox 5"/>
            <p:cNvSpPr txBox="1"/>
            <p:nvPr/>
          </p:nvSpPr>
          <p:spPr>
            <a:xfrm>
              <a:off x="444246" y="1851025"/>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个人面对强大组织</a:t>
              </a:r>
            </a:p>
          </p:txBody>
        </p:sp>
        <p:sp>
          <p:nvSpPr>
            <p:cNvPr id="6" name="TextBox 6"/>
            <p:cNvSpPr txBox="1"/>
            <p:nvPr/>
          </p:nvSpPr>
          <p:spPr>
            <a:xfrm>
              <a:off x="447294" y="2492375"/>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公司规则影响收入、休息与机会</a:t>
              </a:r>
            </a:p>
          </p:txBody>
        </p:sp>
        <p:sp>
          <p:nvSpPr>
            <p:cNvPr id="7" name="TextBox 7"/>
            <p:cNvSpPr txBox="1"/>
            <p:nvPr/>
          </p:nvSpPr>
          <p:spPr>
            <a:xfrm>
              <a:off x="447294" y="2854325"/>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名义上自愿，可能退出代价很高</a:t>
              </a:r>
            </a:p>
          </p:txBody>
        </p:sp>
        <p:sp>
          <p:nvSpPr>
            <p:cNvPr id="8" name="TextBox 8"/>
            <p:cNvSpPr txBox="1"/>
            <p:nvPr/>
          </p:nvSpPr>
          <p:spPr>
            <a:xfrm>
              <a:off x="450342" y="3349625"/>
              <a:ext cx="255803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事实支配力量，不等于国家职权</a:t>
              </a:r>
            </a:p>
          </p:txBody>
        </p:sp>
      </p:grpSp>
      <p:grpSp>
        <p:nvGrpSpPr>
          <p:cNvPr id="14" name="p28-autonomy"/>
          <p:cNvGrpSpPr/>
          <p:nvPr/>
        </p:nvGrpSpPr>
        <p:grpSpPr>
          <a:xfrm>
            <a:off x="6502146" y="1851025"/>
            <a:ext cx="3960495" cy="1762633"/>
            <a:chOff x="6502146" y="1851025"/>
            <a:chExt cx="3960495" cy="1762633"/>
          </a:xfrm>
        </p:grpSpPr>
        <p:sp>
          <p:nvSpPr>
            <p:cNvPr id="10" name="TextBox 10"/>
            <p:cNvSpPr txBox="1"/>
            <p:nvPr/>
          </p:nvSpPr>
          <p:spPr>
            <a:xfrm>
              <a:off x="6502146" y="1851025"/>
              <a:ext cx="365302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私人自主同样值得保护</a:t>
              </a:r>
            </a:p>
          </p:txBody>
        </p:sp>
        <p:sp>
          <p:nvSpPr>
            <p:cNvPr id="11" name="TextBox 11"/>
            <p:cNvSpPr txBox="1"/>
            <p:nvPr/>
          </p:nvSpPr>
          <p:spPr>
            <a:xfrm>
              <a:off x="6505194" y="2492375"/>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选择合作对象、依法安排财产</a:t>
              </a:r>
            </a:p>
          </p:txBody>
        </p:sp>
        <p:sp>
          <p:nvSpPr>
            <p:cNvPr id="12" name="TextBox 12"/>
            <p:cNvSpPr txBox="1"/>
            <p:nvPr/>
          </p:nvSpPr>
          <p:spPr>
            <a:xfrm>
              <a:off x="6505194" y="2854325"/>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不能由宽泛宪法主张重定一切条件</a:t>
              </a:r>
            </a:p>
          </p:txBody>
        </p:sp>
        <p:sp>
          <p:nvSpPr>
            <p:cNvPr id="13" name="TextBox 13"/>
            <p:cNvSpPr txBox="1"/>
            <p:nvPr/>
          </p:nvSpPr>
          <p:spPr>
            <a:xfrm>
              <a:off x="6508242" y="3349625"/>
              <a:ext cx="237629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普通法律与双方权利不能退出</a:t>
              </a:r>
            </a:p>
          </p:txBody>
        </p:sp>
      </p:grpSp>
      <p:grpSp>
        <p:nvGrpSpPr>
          <p:cNvPr id="22" name="p28-reveal-1"/>
          <p:cNvGrpSpPr/>
          <p:nvPr/>
        </p:nvGrpSpPr>
        <p:grpSpPr>
          <a:xfrm>
            <a:off x="445008" y="3962400"/>
            <a:ext cx="11289792" cy="2264156"/>
            <a:chOff x="445008" y="3962400"/>
            <a:chExt cx="11289792" cy="2264156"/>
          </a:xfrm>
        </p:grpSpPr>
        <p:sp>
          <p:nvSpPr>
            <p:cNvPr id="15" name="Line 15"/>
            <p:cNvSpPr/>
            <p:nvPr/>
          </p:nvSpPr>
          <p:spPr>
            <a:xfrm>
              <a:off x="457200" y="39624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6" name="TextBox 16"/>
            <p:cNvSpPr txBox="1"/>
            <p:nvPr/>
          </p:nvSpPr>
          <p:spPr>
            <a:xfrm>
              <a:off x="445008" y="4117975"/>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直接效力</a:t>
              </a:r>
            </a:p>
          </p:txBody>
        </p:sp>
        <p:sp>
          <p:nvSpPr>
            <p:cNvPr id="17" name="TextBox 17"/>
            <p:cNvSpPr txBox="1"/>
            <p:nvPr/>
          </p:nvSpPr>
          <p:spPr>
            <a:xfrm>
              <a:off x="3057144" y="4168775"/>
              <a:ext cx="579501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在相应条件下，直接以基本权利规范判断私人义务</a:t>
              </a:r>
            </a:p>
          </p:txBody>
        </p:sp>
        <p:sp>
          <p:nvSpPr>
            <p:cNvPr id="18" name="TextBox 18"/>
            <p:cNvSpPr txBox="1"/>
            <p:nvPr/>
          </p:nvSpPr>
          <p:spPr>
            <a:xfrm>
              <a:off x="445008" y="4784725"/>
              <a:ext cx="1316736"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间接效力</a:t>
              </a:r>
            </a:p>
          </p:txBody>
        </p:sp>
        <p:sp>
          <p:nvSpPr>
            <p:cNvPr id="19" name="TextBox 19"/>
            <p:cNvSpPr txBox="1"/>
            <p:nvPr/>
          </p:nvSpPr>
          <p:spPr>
            <a:xfrm>
              <a:off x="3057144" y="4835525"/>
              <a:ext cx="534874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基本权利 → 普通法律的解释 → 私人关系的判断</a:t>
              </a:r>
            </a:p>
          </p:txBody>
        </p:sp>
        <p:sp>
          <p:nvSpPr>
            <p:cNvPr id="20" name="TextBox 20"/>
            <p:cNvSpPr txBox="1"/>
            <p:nvPr/>
          </p:nvSpPr>
          <p:spPr>
            <a:xfrm>
              <a:off x="3060192" y="5349875"/>
              <a:ext cx="3103245"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中间经过什么，正是需要说明的机制。</a:t>
              </a:r>
            </a:p>
          </p:txBody>
        </p:sp>
        <p:sp>
          <p:nvSpPr>
            <p:cNvPr id="21" name="TextBox 21"/>
            <p:cNvSpPr txBox="1"/>
            <p:nvPr/>
          </p:nvSpPr>
          <p:spPr>
            <a:xfrm>
              <a:off x="447294" y="5845175"/>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这是争论中的不同处理路径；不能预先当作我国统一规则。</a:t>
              </a:r>
            </a:p>
          </p:txBody>
        </p:sp>
      </p:grpSp>
      <p:grpSp>
        <p:nvGrpSpPr>
          <p:cNvPr id="25" name="p28-footer"/>
          <p:cNvGrpSpPr/>
          <p:nvPr/>
        </p:nvGrpSpPr>
        <p:grpSpPr>
          <a:xfrm>
            <a:off x="451866" y="6502400"/>
            <a:ext cx="11247444" cy="205359"/>
            <a:chOff x="451866" y="6502400"/>
            <a:chExt cx="11247444" cy="205359"/>
          </a:xfrm>
        </p:grpSpPr>
        <p:sp>
          <p:nvSpPr>
            <p:cNvPr id="23" name="TextBox 23"/>
            <p:cNvSpPr txBox="1"/>
            <p:nvPr/>
          </p:nvSpPr>
          <p:spPr>
            <a:xfrm>
              <a:off x="451866" y="6502400"/>
              <a:ext cx="524065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依据：教材第三人效力争论及本讲解释。下页以德国吕特案展开一种间接影响路径。</a:t>
              </a:r>
            </a:p>
          </p:txBody>
        </p:sp>
        <p:sp>
          <p:nvSpPr>
            <p:cNvPr id="24" name="TextBox 24"/>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28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9-title"/>
          <p:cNvGrpSpPr/>
          <p:nvPr/>
        </p:nvGrpSpPr>
        <p:grpSpPr>
          <a:xfrm>
            <a:off x="440436" y="381000"/>
            <a:ext cx="7543800" cy="918464"/>
            <a:chOff x="440436" y="381000"/>
            <a:chExt cx="7543800" cy="918464"/>
          </a:xfrm>
        </p:grpSpPr>
        <p:sp>
          <p:nvSpPr>
            <p:cNvPr id="2" name="TextBox 2"/>
            <p:cNvSpPr txBox="1"/>
            <p:nvPr/>
          </p:nvSpPr>
          <p:spPr>
            <a:xfrm>
              <a:off x="451104" y="381000"/>
              <a:ext cx="216072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德国吕特案</a:t>
              </a:r>
            </a:p>
          </p:txBody>
        </p:sp>
        <p:sp>
          <p:nvSpPr>
            <p:cNvPr id="3" name="TextBox 3"/>
            <p:cNvSpPr txBox="1"/>
            <p:nvPr/>
          </p:nvSpPr>
          <p:spPr>
            <a:xfrm>
              <a:off x="440436" y="65405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私人争议，怎样带出了国家司法权？</a:t>
              </a:r>
            </a:p>
          </p:txBody>
        </p:sp>
      </p:grpSp>
      <p:grpSp>
        <p:nvGrpSpPr>
          <p:cNvPr id="16" name="p29-events"/>
          <p:cNvGrpSpPr/>
          <p:nvPr/>
        </p:nvGrpSpPr>
        <p:grpSpPr>
          <a:xfrm>
            <a:off x="445008" y="1917700"/>
            <a:ext cx="8485632" cy="2394331"/>
            <a:chOff x="445008" y="1917700"/>
            <a:chExt cx="8485632" cy="2394331"/>
          </a:xfrm>
        </p:grpSpPr>
        <p:sp>
          <p:nvSpPr>
            <p:cNvPr id="5" name="Line 5"/>
            <p:cNvSpPr/>
            <p:nvPr/>
          </p:nvSpPr>
          <p:spPr>
            <a:xfrm>
              <a:off x="1562100" y="1943100"/>
              <a:ext cx="9525" cy="2228850"/>
            </a:xfrm>
            <a:custGeom>
              <a:avLst/>
              <a:gdLst/>
              <a:ahLst/>
              <a:cxnLst/>
              <a:rect l="l" t="t" r="r" b="b"/>
              <a:pathLst>
                <a:path w="9525" h="2228850">
                  <a:moveTo>
                    <a:pt x="0" y="0"/>
                  </a:moveTo>
                  <a:lnTo>
                    <a:pt x="0" y="2228850"/>
                  </a:lnTo>
                </a:path>
              </a:pathLst>
            </a:custGeom>
            <a:noFill/>
            <a:ln w="19050">
              <a:solidFill>
                <a:schemeClr val="accent3"/>
              </a:solidFill>
            </a:ln>
          </p:spPr>
        </p:sp>
        <p:sp>
          <p:nvSpPr>
            <p:cNvPr id="6" name="Ellipse 6"/>
            <p:cNvSpPr/>
            <p:nvPr/>
          </p:nvSpPr>
          <p:spPr>
            <a:xfrm>
              <a:off x="1495425" y="2047875"/>
              <a:ext cx="133350" cy="133350"/>
            </a:xfrm>
            <a:prstGeom prst="ellipse">
              <a:avLst/>
            </a:prstGeom>
            <a:solidFill>
              <a:schemeClr val="accent3"/>
            </a:solidFill>
            <a:ln>
              <a:noFill/>
            </a:ln>
          </p:spPr>
        </p:sp>
        <p:sp>
          <p:nvSpPr>
            <p:cNvPr id="7" name="TextBox 7"/>
            <p:cNvSpPr txBox="1"/>
            <p:nvPr/>
          </p:nvSpPr>
          <p:spPr>
            <a:xfrm>
              <a:off x="445008" y="1917700"/>
              <a:ext cx="73517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1950</a:t>
              </a:r>
            </a:p>
          </p:txBody>
        </p:sp>
        <p:sp>
          <p:nvSpPr>
            <p:cNvPr id="8" name="TextBox 8"/>
            <p:cNvSpPr txBox="1"/>
            <p:nvPr/>
          </p:nvSpPr>
          <p:spPr>
            <a:xfrm>
              <a:off x="2083308" y="1917700"/>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吕特公开号召抵制影片</a:t>
              </a:r>
            </a:p>
          </p:txBody>
        </p:sp>
        <p:sp>
          <p:nvSpPr>
            <p:cNvPr id="9" name="TextBox 9"/>
            <p:cNvSpPr txBox="1"/>
            <p:nvPr/>
          </p:nvSpPr>
          <p:spPr>
            <a:xfrm>
              <a:off x="2085594" y="2406650"/>
              <a:ext cx="526999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反对曾拍摄纳粹反犹电影的导演重返代表位置</a:t>
              </a:r>
            </a:p>
          </p:txBody>
        </p:sp>
        <p:sp>
          <p:nvSpPr>
            <p:cNvPr id="10" name="TextBox 10"/>
            <p:cNvSpPr txBox="1"/>
            <p:nvPr/>
          </p:nvSpPr>
          <p:spPr>
            <a:xfrm>
              <a:off x="2088642" y="2844800"/>
              <a:ext cx="237629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不是发布禁止放映的行政命令</a:t>
              </a:r>
            </a:p>
          </p:txBody>
        </p:sp>
        <p:sp>
          <p:nvSpPr>
            <p:cNvPr id="11" name="Ellipse 11"/>
            <p:cNvSpPr/>
            <p:nvPr/>
          </p:nvSpPr>
          <p:spPr>
            <a:xfrm>
              <a:off x="1495425" y="3209925"/>
              <a:ext cx="133350" cy="133350"/>
            </a:xfrm>
            <a:prstGeom prst="ellipse">
              <a:avLst/>
            </a:prstGeom>
            <a:solidFill>
              <a:schemeClr val="accent3"/>
            </a:solidFill>
            <a:ln>
              <a:noFill/>
            </a:ln>
          </p:spPr>
        </p:sp>
        <p:sp>
          <p:nvSpPr>
            <p:cNvPr id="12" name="TextBox 12"/>
            <p:cNvSpPr txBox="1"/>
            <p:nvPr/>
          </p:nvSpPr>
          <p:spPr>
            <a:xfrm>
              <a:off x="445008" y="3079750"/>
              <a:ext cx="73517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1951</a:t>
              </a:r>
            </a:p>
          </p:txBody>
        </p:sp>
        <p:sp>
          <p:nvSpPr>
            <p:cNvPr id="13" name="TextBox 13"/>
            <p:cNvSpPr txBox="1"/>
            <p:nvPr/>
          </p:nvSpPr>
          <p:spPr>
            <a:xfrm>
              <a:off x="2083308" y="3079750"/>
              <a:ext cx="551688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公司寻求保护，汉堡民事法院下达禁令</a:t>
              </a:r>
            </a:p>
          </p:txBody>
        </p:sp>
        <p:sp>
          <p:nvSpPr>
            <p:cNvPr id="14" name="TextBox 14"/>
            <p:cNvSpPr txBox="1"/>
            <p:nvPr/>
          </p:nvSpPr>
          <p:spPr>
            <a:xfrm>
              <a:off x="2085594" y="353060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依据民法中的善良风俗损害规则</a:t>
              </a:r>
            </a:p>
          </p:txBody>
        </p:sp>
        <p:sp>
          <p:nvSpPr>
            <p:cNvPr id="15" name="TextBox 15"/>
            <p:cNvSpPr txBox="1"/>
            <p:nvPr/>
          </p:nvSpPr>
          <p:spPr>
            <a:xfrm>
              <a:off x="2085594" y="3930650"/>
              <a:ext cx="684504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吕特向联邦宪法法院提出宪法申诉，认为判决侵犯言论自由</a:t>
              </a:r>
            </a:p>
          </p:txBody>
        </p:sp>
      </p:grpSp>
      <p:grpSp>
        <p:nvGrpSpPr>
          <p:cNvPr id="22" name="p29-reveal-1"/>
          <p:cNvGrpSpPr/>
          <p:nvPr/>
        </p:nvGrpSpPr>
        <p:grpSpPr>
          <a:xfrm>
            <a:off x="445008" y="4603750"/>
            <a:ext cx="6910578" cy="1527556"/>
            <a:chOff x="445008" y="4603750"/>
            <a:chExt cx="6910578" cy="1527556"/>
          </a:xfrm>
        </p:grpSpPr>
        <p:sp>
          <p:nvSpPr>
            <p:cNvPr id="17" name="Ellipse 17"/>
            <p:cNvSpPr/>
            <p:nvPr/>
          </p:nvSpPr>
          <p:spPr>
            <a:xfrm>
              <a:off x="1495425" y="4733925"/>
              <a:ext cx="133350" cy="133350"/>
            </a:xfrm>
            <a:prstGeom prst="ellipse">
              <a:avLst/>
            </a:prstGeom>
            <a:solidFill>
              <a:schemeClr val="accent2"/>
            </a:solidFill>
            <a:ln>
              <a:noFill/>
            </a:ln>
          </p:spPr>
        </p:sp>
        <p:sp>
          <p:nvSpPr>
            <p:cNvPr id="18" name="TextBox 18"/>
            <p:cNvSpPr txBox="1"/>
            <p:nvPr/>
          </p:nvSpPr>
          <p:spPr>
            <a:xfrm>
              <a:off x="445008" y="4603750"/>
              <a:ext cx="735178"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1958</a:t>
              </a:r>
            </a:p>
          </p:txBody>
        </p:sp>
        <p:sp>
          <p:nvSpPr>
            <p:cNvPr id="19" name="TextBox 19"/>
            <p:cNvSpPr txBox="1"/>
            <p:nvPr/>
          </p:nvSpPr>
          <p:spPr>
            <a:xfrm>
              <a:off x="2083308" y="4603750"/>
              <a:ext cx="487070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联邦宪法法院撤销判决，发回重审</a:t>
              </a:r>
            </a:p>
          </p:txBody>
        </p:sp>
        <p:sp>
          <p:nvSpPr>
            <p:cNvPr id="20" name="TextBox 20"/>
            <p:cNvSpPr txBox="1"/>
            <p:nvPr/>
          </p:nvSpPr>
          <p:spPr>
            <a:xfrm>
              <a:off x="2085594" y="514985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民事裁判须认真考虑言论自由与对方利益</a:t>
              </a:r>
            </a:p>
          </p:txBody>
        </p:sp>
        <p:sp>
          <p:nvSpPr>
            <p:cNvPr id="21" name="TextBox 21"/>
            <p:cNvSpPr txBox="1"/>
            <p:nvPr/>
          </p:nvSpPr>
          <p:spPr>
            <a:xfrm>
              <a:off x="2085594" y="5749925"/>
              <a:ext cx="5269992"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不是丢掉民法，而是改变对民法规范的解释。</a:t>
              </a:r>
            </a:p>
          </p:txBody>
        </p:sp>
      </p:grpSp>
      <p:grpSp>
        <p:nvGrpSpPr>
          <p:cNvPr id="25" name="p29-footer"/>
          <p:cNvGrpSpPr/>
          <p:nvPr/>
        </p:nvGrpSpPr>
        <p:grpSpPr>
          <a:xfrm>
            <a:off x="451866" y="6502400"/>
            <a:ext cx="11247444" cy="205359"/>
            <a:chOff x="451866" y="6502400"/>
            <a:chExt cx="11247444" cy="205359"/>
          </a:xfrm>
        </p:grpSpPr>
        <p:sp>
          <p:nvSpPr>
            <p:cNvPr id="23" name="TextBox 23"/>
            <p:cNvSpPr txBox="1"/>
            <p:nvPr/>
          </p:nvSpPr>
          <p:spPr>
            <a:xfrm>
              <a:off x="451866" y="6502400"/>
              <a:ext cx="6488811"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德国联邦宪法法院，1958-01-15，1 BvR 400/51。历史时间分开，不把域外申诉制度直接移植到我国。</a:t>
              </a:r>
            </a:p>
          </p:txBody>
        </p:sp>
        <p:sp>
          <p:nvSpPr>
            <p:cNvPr id="24" name="TextBox 24"/>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29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0-title"/>
          <p:cNvGrpSpPr/>
          <p:nvPr/>
        </p:nvGrpSpPr>
        <p:grpSpPr>
          <a:xfrm>
            <a:off x="440436" y="381000"/>
            <a:ext cx="7074408" cy="918464"/>
            <a:chOff x="440436" y="381000"/>
            <a:chExt cx="7074408" cy="918464"/>
          </a:xfrm>
        </p:grpSpPr>
        <p:sp>
          <p:nvSpPr>
            <p:cNvPr id="2" name="TextBox 2"/>
            <p:cNvSpPr txBox="1"/>
            <p:nvPr/>
          </p:nvSpPr>
          <p:spPr>
            <a:xfrm>
              <a:off x="451104" y="38100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间接效力的作用环节</a:t>
              </a:r>
            </a:p>
          </p:txBody>
        </p:sp>
        <p:sp>
          <p:nvSpPr>
            <p:cNvPr id="3" name="TextBox 3"/>
            <p:cNvSpPr txBox="1"/>
            <p:nvPr/>
          </p:nvSpPr>
          <p:spPr>
            <a:xfrm>
              <a:off x="440436" y="65405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普通法律留在场内，解释受到影响</a:t>
              </a:r>
            </a:p>
          </p:txBody>
        </p:sp>
      </p:grpSp>
      <p:grpSp>
        <p:nvGrpSpPr>
          <p:cNvPr id="8" name="p30-document"/>
          <p:cNvGrpSpPr/>
          <p:nvPr/>
        </p:nvGrpSpPr>
        <p:grpSpPr>
          <a:xfrm>
            <a:off x="450342" y="1714500"/>
            <a:ext cx="3150108" cy="4061333"/>
            <a:chOff x="450342" y="1714500"/>
            <a:chExt cx="3150108" cy="4061333"/>
          </a:xfrm>
        </p:grpSpPr>
        <p:pic>
          <p:nvPicPr>
            <p:cNvPr id="5" name="Image 5"/>
            <p:cNvPicPr>
              <a:picLocks noChangeAspect="1"/>
            </p:cNvPicPr>
            <p:nvPr/>
          </p:nvPicPr>
          <p:blipFill>
            <a:blip r:embed="rId2"/>
            <a:stretch>
              <a:fillRect/>
            </a:stretch>
          </p:blipFill>
          <p:spPr>
            <a:xfrm>
              <a:off x="457200" y="1714500"/>
              <a:ext cx="3143250" cy="3381375"/>
            </a:xfrm>
            <a:prstGeom prst="rect">
              <a:avLst/>
            </a:prstGeom>
          </p:spPr>
        </p:pic>
        <p:sp>
          <p:nvSpPr>
            <p:cNvPr id="6" name="TextBox 6"/>
            <p:cNvSpPr txBox="1"/>
            <p:nvPr/>
          </p:nvSpPr>
          <p:spPr>
            <a:xfrm>
              <a:off x="450342" y="5264150"/>
              <a:ext cx="168569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1958年判决档案末页</a:t>
              </a:r>
            </a:p>
          </p:txBody>
        </p:sp>
        <p:sp>
          <p:nvSpPr>
            <p:cNvPr id="7" name="TextBox 7"/>
            <p:cNvSpPr txBox="1"/>
            <p:nvPr/>
          </p:nvSpPr>
          <p:spPr>
            <a:xfrm>
              <a:off x="450342" y="5511800"/>
              <a:ext cx="255803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用以辨认文书，不要求精读德文</a:t>
              </a:r>
            </a:p>
          </p:txBody>
        </p:sp>
      </p:grpSp>
      <p:grpSp>
        <p:nvGrpSpPr>
          <p:cNvPr id="18" name="p30-reveal-1"/>
          <p:cNvGrpSpPr/>
          <p:nvPr/>
        </p:nvGrpSpPr>
        <p:grpSpPr>
          <a:xfrm>
            <a:off x="4273296" y="1803400"/>
            <a:ext cx="7461504" cy="2546731"/>
            <a:chOff x="4273296" y="1803400"/>
            <a:chExt cx="7461504" cy="2546731"/>
          </a:xfrm>
        </p:grpSpPr>
        <p:sp>
          <p:nvSpPr>
            <p:cNvPr id="9" name="TextBox 9"/>
            <p:cNvSpPr txBox="1"/>
            <p:nvPr/>
          </p:nvSpPr>
          <p:spPr>
            <a:xfrm>
              <a:off x="4273296" y="180340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宪法上的言论自由</a:t>
              </a:r>
            </a:p>
          </p:txBody>
        </p:sp>
        <p:sp>
          <p:nvSpPr>
            <p:cNvPr id="10" name="Line 10"/>
            <p:cNvSpPr/>
            <p:nvPr/>
          </p:nvSpPr>
          <p:spPr>
            <a:xfrm>
              <a:off x="4533900" y="2352675"/>
              <a:ext cx="9525" cy="352425"/>
            </a:xfrm>
            <a:custGeom>
              <a:avLst/>
              <a:gdLst/>
              <a:ahLst/>
              <a:cxnLst/>
              <a:rect l="l" t="t" r="r" b="b"/>
              <a:pathLst>
                <a:path w="9525" h="352425">
                  <a:moveTo>
                    <a:pt x="0" y="0"/>
                  </a:moveTo>
                  <a:lnTo>
                    <a:pt x="0" y="352425"/>
                  </a:lnTo>
                </a:path>
              </a:pathLst>
            </a:custGeom>
            <a:noFill/>
            <a:ln w="19050">
              <a:solidFill>
                <a:schemeClr val="accent2"/>
              </a:solidFill>
            </a:ln>
          </p:spPr>
        </p:sp>
        <p:sp>
          <p:nvSpPr>
            <p:cNvPr id="11" name="Freeform 11"/>
            <p:cNvSpPr/>
            <p:nvPr/>
          </p:nvSpPr>
          <p:spPr>
            <a:xfrm>
              <a:off x="4467225" y="2571750"/>
              <a:ext cx="133350" cy="133350"/>
            </a:xfrm>
            <a:custGeom>
              <a:avLst/>
              <a:gdLst/>
              <a:ahLst/>
              <a:cxnLst/>
              <a:rect l="l" t="t" r="r" b="b"/>
              <a:pathLst>
                <a:path w="133350" h="133350">
                  <a:moveTo>
                    <a:pt x="66675" y="133350"/>
                  </a:moveTo>
                  <a:lnTo>
                    <a:pt x="0" y="0"/>
                  </a:lnTo>
                  <a:lnTo>
                    <a:pt x="133350" y="0"/>
                  </a:lnTo>
                  <a:close/>
                </a:path>
              </a:pathLst>
            </a:custGeom>
            <a:solidFill>
              <a:schemeClr val="accent2"/>
            </a:solidFill>
            <a:ln>
              <a:noFill/>
            </a:ln>
          </p:spPr>
        </p:sp>
        <p:sp>
          <p:nvSpPr>
            <p:cNvPr id="12" name="TextBox 12"/>
            <p:cNvSpPr txBox="1"/>
            <p:nvPr/>
          </p:nvSpPr>
          <p:spPr>
            <a:xfrm>
              <a:off x="4831842" y="2482850"/>
              <a:ext cx="1285875"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影响解释和适用</a:t>
              </a:r>
            </a:p>
          </p:txBody>
        </p:sp>
        <p:sp>
          <p:nvSpPr>
            <p:cNvPr id="13" name="Rectangle 13"/>
            <p:cNvSpPr/>
            <p:nvPr/>
          </p:nvSpPr>
          <p:spPr>
            <a:xfrm>
              <a:off x="4286250" y="2914650"/>
              <a:ext cx="7448550" cy="685800"/>
            </a:xfrm>
            <a:prstGeom prst="rect">
              <a:avLst/>
            </a:prstGeom>
            <a:solidFill>
              <a:schemeClr val="lt2"/>
            </a:solidFill>
            <a:ln w="9525">
              <a:solidFill>
                <a:schemeClr val="accent3"/>
              </a:solidFill>
            </a:ln>
          </p:spPr>
        </p:sp>
        <p:sp>
          <p:nvSpPr>
            <p:cNvPr id="14" name="TextBox 14"/>
            <p:cNvSpPr txBox="1"/>
            <p:nvPr/>
          </p:nvSpPr>
          <p:spPr>
            <a:xfrm>
              <a:off x="4540758" y="3070225"/>
              <a:ext cx="519379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普通民法规则：仍是处理争议的规范</a:t>
              </a:r>
            </a:p>
          </p:txBody>
        </p:sp>
        <p:sp>
          <p:nvSpPr>
            <p:cNvPr id="15" name="Line 15"/>
            <p:cNvSpPr/>
            <p:nvPr/>
          </p:nvSpPr>
          <p:spPr>
            <a:xfrm>
              <a:off x="4533900" y="3790950"/>
              <a:ext cx="9525" cy="361950"/>
            </a:xfrm>
            <a:custGeom>
              <a:avLst/>
              <a:gdLst/>
              <a:ahLst/>
              <a:cxnLst/>
              <a:rect l="l" t="t" r="r" b="b"/>
              <a:pathLst>
                <a:path w="9525" h="361950">
                  <a:moveTo>
                    <a:pt x="0" y="0"/>
                  </a:moveTo>
                  <a:lnTo>
                    <a:pt x="0" y="361950"/>
                  </a:lnTo>
                </a:path>
              </a:pathLst>
            </a:custGeom>
            <a:noFill/>
            <a:ln w="19050">
              <a:solidFill>
                <a:schemeClr val="accent3"/>
              </a:solidFill>
            </a:ln>
          </p:spPr>
        </p:sp>
        <p:sp>
          <p:nvSpPr>
            <p:cNvPr id="16" name="Freeform 16"/>
            <p:cNvSpPr/>
            <p:nvPr/>
          </p:nvSpPr>
          <p:spPr>
            <a:xfrm>
              <a:off x="4467225" y="4019550"/>
              <a:ext cx="133350" cy="133350"/>
            </a:xfrm>
            <a:custGeom>
              <a:avLst/>
              <a:gdLst/>
              <a:ahLst/>
              <a:cxnLst/>
              <a:rect l="l" t="t" r="r" b="b"/>
              <a:pathLst>
                <a:path w="133350" h="133350">
                  <a:moveTo>
                    <a:pt x="66675" y="133350"/>
                  </a:moveTo>
                  <a:lnTo>
                    <a:pt x="0" y="0"/>
                  </a:lnTo>
                  <a:lnTo>
                    <a:pt x="133350" y="0"/>
                  </a:lnTo>
                  <a:close/>
                </a:path>
              </a:pathLst>
            </a:custGeom>
            <a:solidFill>
              <a:schemeClr val="accent3"/>
            </a:solidFill>
            <a:ln>
              <a:noFill/>
            </a:ln>
          </p:spPr>
        </p:sp>
        <p:sp>
          <p:nvSpPr>
            <p:cNvPr id="17" name="TextBox 17"/>
            <p:cNvSpPr txBox="1"/>
            <p:nvPr/>
          </p:nvSpPr>
          <p:spPr>
            <a:xfrm>
              <a:off x="4828794" y="396875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民事法院结合具体情形，判断双方利益</a:t>
              </a:r>
            </a:p>
          </p:txBody>
        </p:sp>
      </p:grpSp>
      <p:grpSp>
        <p:nvGrpSpPr>
          <p:cNvPr id="23" name="p30-reveal-2"/>
          <p:cNvGrpSpPr/>
          <p:nvPr/>
        </p:nvGrpSpPr>
        <p:grpSpPr>
          <a:xfrm>
            <a:off x="4274058" y="4876800"/>
            <a:ext cx="7460742" cy="1375283"/>
            <a:chOff x="4274058" y="4876800"/>
            <a:chExt cx="7460742" cy="1375283"/>
          </a:xfrm>
        </p:grpSpPr>
        <p:sp>
          <p:nvSpPr>
            <p:cNvPr id="19" name="Line 19"/>
            <p:cNvSpPr/>
            <p:nvPr/>
          </p:nvSpPr>
          <p:spPr>
            <a:xfrm>
              <a:off x="4286250" y="4876800"/>
              <a:ext cx="7448550" cy="9525"/>
            </a:xfrm>
            <a:custGeom>
              <a:avLst/>
              <a:gdLst/>
              <a:ahLst/>
              <a:cxnLst/>
              <a:rect l="l" t="t" r="r" b="b"/>
              <a:pathLst>
                <a:path w="7448550" h="9525">
                  <a:moveTo>
                    <a:pt x="0" y="0"/>
                  </a:moveTo>
                  <a:lnTo>
                    <a:pt x="7448550" y="0"/>
                  </a:lnTo>
                </a:path>
              </a:pathLst>
            </a:custGeom>
            <a:noFill/>
            <a:ln w="9525">
              <a:solidFill>
                <a:schemeClr val="accent6"/>
              </a:solidFill>
            </a:ln>
          </p:spPr>
        </p:sp>
        <p:sp>
          <p:nvSpPr>
            <p:cNvPr id="20" name="TextBox 20"/>
            <p:cNvSpPr txBox="1"/>
            <p:nvPr/>
          </p:nvSpPr>
          <p:spPr>
            <a:xfrm>
              <a:off x="4274058" y="5022850"/>
              <a:ext cx="551688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撤销并发回，不等于任何抵制都合法。</a:t>
              </a:r>
            </a:p>
          </p:txBody>
        </p:sp>
        <p:sp>
          <p:nvSpPr>
            <p:cNvPr id="21" name="TextBox 21"/>
            <p:cNvSpPr txBox="1"/>
            <p:nvPr/>
          </p:nvSpPr>
          <p:spPr>
            <a:xfrm>
              <a:off x="4276344" y="5530850"/>
              <a:ext cx="526999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借此看清路径，不代替我国规范与制度依据。</a:t>
              </a:r>
            </a:p>
          </p:txBody>
        </p:sp>
        <p:sp>
          <p:nvSpPr>
            <p:cNvPr id="22" name="TextBox 22"/>
            <p:cNvSpPr txBox="1"/>
            <p:nvPr/>
          </p:nvSpPr>
          <p:spPr>
            <a:xfrm>
              <a:off x="4279392" y="5988050"/>
              <a:ext cx="368480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“谁享有”与“约束谁、怎样作用”是不同问题。</a:t>
              </a:r>
            </a:p>
          </p:txBody>
        </p:sp>
      </p:grpSp>
      <p:grpSp>
        <p:nvGrpSpPr>
          <p:cNvPr id="26" name="p30-footer"/>
          <p:cNvGrpSpPr/>
          <p:nvPr/>
        </p:nvGrpSpPr>
        <p:grpSpPr>
          <a:xfrm>
            <a:off x="451866" y="6502400"/>
            <a:ext cx="11247444" cy="205359"/>
            <a:chOff x="451866" y="6502400"/>
            <a:chExt cx="11247444" cy="205359"/>
          </a:xfrm>
        </p:grpSpPr>
        <p:sp>
          <p:nvSpPr>
            <p:cNvPr id="24" name="TextBox 24"/>
            <p:cNvSpPr txBox="1"/>
            <p:nvPr/>
          </p:nvSpPr>
          <p:spPr>
            <a:xfrm>
              <a:off x="451866" y="6502400"/>
              <a:ext cx="607595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图：德国联邦档案馆B 237/106219，1958年判决档案末页；法律解释据联邦宪法法院吕特原判。</a:t>
              </a:r>
            </a:p>
          </p:txBody>
        </p:sp>
        <p:sp>
          <p:nvSpPr>
            <p:cNvPr id="25" name="TextBox 25"/>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30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1-title"/>
          <p:cNvGrpSpPr/>
          <p:nvPr/>
        </p:nvGrpSpPr>
        <p:grpSpPr>
          <a:xfrm>
            <a:off x="440436" y="381000"/>
            <a:ext cx="7074408" cy="918464"/>
            <a:chOff x="440436" y="381000"/>
            <a:chExt cx="7074408" cy="918464"/>
          </a:xfrm>
        </p:grpSpPr>
        <p:sp>
          <p:nvSpPr>
            <p:cNvPr id="2" name="TextBox 2"/>
            <p:cNvSpPr txBox="1"/>
            <p:nvPr/>
          </p:nvSpPr>
          <p:spPr>
            <a:xfrm>
              <a:off x="451104" y="381000"/>
              <a:ext cx="409925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齐玉苓相关批复：内容与今日状态分开</a:t>
              </a:r>
            </a:p>
          </p:txBody>
        </p:sp>
        <p:sp>
          <p:nvSpPr>
            <p:cNvPr id="3" name="TextBox 3"/>
            <p:cNvSpPr txBox="1"/>
            <p:nvPr/>
          </p:nvSpPr>
          <p:spPr>
            <a:xfrm>
              <a:off x="440436" y="65405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理解历史材料，也要标清效力边界</a:t>
              </a:r>
            </a:p>
          </p:txBody>
        </p:sp>
      </p:grpSp>
      <p:grpSp>
        <p:nvGrpSpPr>
          <p:cNvPr id="11" name="p31-original"/>
          <p:cNvGrpSpPr/>
          <p:nvPr/>
        </p:nvGrpSpPr>
        <p:grpSpPr>
          <a:xfrm>
            <a:off x="440436" y="1831975"/>
            <a:ext cx="7806309" cy="2032381"/>
            <a:chOff x="440436" y="1831975"/>
            <a:chExt cx="7806309" cy="2032381"/>
          </a:xfrm>
        </p:grpSpPr>
        <p:sp>
          <p:nvSpPr>
            <p:cNvPr id="5" name="TextBox 5"/>
            <p:cNvSpPr txBox="1"/>
            <p:nvPr/>
          </p:nvSpPr>
          <p:spPr>
            <a:xfrm>
              <a:off x="440436" y="1831975"/>
              <a:ext cx="106619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2001</a:t>
              </a:r>
            </a:p>
          </p:txBody>
        </p:sp>
        <p:sp>
          <p:nvSpPr>
            <p:cNvPr id="6" name="TextBox 6"/>
            <p:cNvSpPr txBox="1"/>
            <p:nvPr/>
          </p:nvSpPr>
          <p:spPr>
            <a:xfrm>
              <a:off x="2711958" y="1841500"/>
              <a:ext cx="357835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相关批复把三者联系起来</a:t>
              </a:r>
            </a:p>
          </p:txBody>
        </p:sp>
        <p:sp>
          <p:nvSpPr>
            <p:cNvPr id="7" name="TextBox 7"/>
            <p:cNvSpPr txBox="1"/>
            <p:nvPr/>
          </p:nvSpPr>
          <p:spPr>
            <a:xfrm>
              <a:off x="2714244" y="2530475"/>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以侵害姓名权为手段</a:t>
              </a:r>
            </a:p>
          </p:txBody>
        </p:sp>
        <p:sp>
          <p:nvSpPr>
            <p:cNvPr id="8" name="TextBox 8"/>
            <p:cNvSpPr txBox="1"/>
            <p:nvPr/>
          </p:nvSpPr>
          <p:spPr>
            <a:xfrm>
              <a:off x="2714244" y="3006725"/>
              <a:ext cx="553250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侵害宪法规定的受教育基本权利，造成具体损害</a:t>
              </a:r>
            </a:p>
          </p:txBody>
        </p:sp>
        <p:sp>
          <p:nvSpPr>
            <p:cNvPr id="9" name="TextBox 9"/>
            <p:cNvSpPr txBox="1"/>
            <p:nvPr/>
          </p:nvSpPr>
          <p:spPr>
            <a:xfrm>
              <a:off x="2714244" y="3482975"/>
              <a:ext cx="2644902"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与承担民事责任相联系</a:t>
              </a:r>
            </a:p>
          </p:txBody>
        </p:sp>
        <p:sp>
          <p:nvSpPr>
            <p:cNvPr id="10" name="Freeform 10"/>
            <p:cNvSpPr/>
            <p:nvPr/>
          </p:nvSpPr>
          <p:spPr>
            <a:xfrm>
              <a:off x="2266950" y="2562225"/>
              <a:ext cx="152400" cy="1190625"/>
            </a:xfrm>
            <a:custGeom>
              <a:avLst/>
              <a:gdLst/>
              <a:ahLst/>
              <a:cxnLst/>
              <a:rect l="l" t="t" r="r" b="b"/>
              <a:pathLst>
                <a:path w="152400" h="1190625">
                  <a:moveTo>
                    <a:pt x="152400" y="0"/>
                  </a:moveTo>
                  <a:lnTo>
                    <a:pt x="0" y="0"/>
                  </a:lnTo>
                  <a:lnTo>
                    <a:pt x="0" y="1190625"/>
                  </a:lnTo>
                  <a:lnTo>
                    <a:pt x="152400" y="1190625"/>
                  </a:lnTo>
                </a:path>
              </a:pathLst>
            </a:custGeom>
            <a:noFill/>
            <a:ln w="19050">
              <a:solidFill>
                <a:schemeClr val="accent3"/>
              </a:solidFill>
            </a:ln>
          </p:spPr>
        </p:sp>
      </p:grpSp>
      <p:grpSp>
        <p:nvGrpSpPr>
          <p:cNvPr id="16" name="p31-reveal-1"/>
          <p:cNvGrpSpPr/>
          <p:nvPr/>
        </p:nvGrpSpPr>
        <p:grpSpPr>
          <a:xfrm>
            <a:off x="440436" y="4305300"/>
            <a:ext cx="11294364" cy="1035431"/>
            <a:chOff x="440436" y="4305300"/>
            <a:chExt cx="11294364" cy="1035431"/>
          </a:xfrm>
        </p:grpSpPr>
        <p:sp>
          <p:nvSpPr>
            <p:cNvPr id="12" name="Line 12"/>
            <p:cNvSpPr/>
            <p:nvPr/>
          </p:nvSpPr>
          <p:spPr>
            <a:xfrm>
              <a:off x="457200" y="43053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3" name="TextBox 13"/>
            <p:cNvSpPr txBox="1"/>
            <p:nvPr/>
          </p:nvSpPr>
          <p:spPr>
            <a:xfrm>
              <a:off x="440436" y="4489450"/>
              <a:ext cx="106619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2008</a:t>
              </a:r>
            </a:p>
          </p:txBody>
        </p:sp>
        <p:sp>
          <p:nvSpPr>
            <p:cNvPr id="14" name="TextBox 14"/>
            <p:cNvSpPr txBox="1"/>
            <p:nvPr/>
          </p:nvSpPr>
          <p:spPr>
            <a:xfrm>
              <a:off x="2711958" y="4451350"/>
              <a:ext cx="551688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批复被废止，不能作为今天的裁判依据</a:t>
              </a:r>
            </a:p>
          </p:txBody>
        </p:sp>
        <p:sp>
          <p:nvSpPr>
            <p:cNvPr id="15" name="TextBox 15"/>
            <p:cNvSpPr txBox="1"/>
            <p:nvPr/>
          </p:nvSpPr>
          <p:spPr>
            <a:xfrm>
              <a:off x="2714244" y="4959350"/>
              <a:ext cx="553250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过去依据相关司法解释作出的判决、裁定仍有效</a:t>
              </a:r>
            </a:p>
          </p:txBody>
        </p:sp>
      </p:grpSp>
      <p:grpSp>
        <p:nvGrpSpPr>
          <p:cNvPr id="18" name="p31-reveal-2"/>
          <p:cNvGrpSpPr/>
          <p:nvPr/>
        </p:nvGrpSpPr>
        <p:grpSpPr>
          <a:xfrm>
            <a:off x="447294" y="5816600"/>
            <a:ext cx="8945118" cy="381381"/>
            <a:chOff x="447294" y="5816600"/>
            <a:chExt cx="8945118" cy="381381"/>
          </a:xfrm>
        </p:grpSpPr>
        <p:sp>
          <p:nvSpPr>
            <p:cNvPr id="17" name="TextBox 17"/>
            <p:cNvSpPr txBox="1"/>
            <p:nvPr/>
          </p:nvSpPr>
          <p:spPr>
            <a:xfrm>
              <a:off x="447294" y="5816600"/>
              <a:ext cx="894511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不能据此宣布我国已经形成某种统一的私人效力模式；具体争议仍须找依据。</a:t>
              </a:r>
            </a:p>
          </p:txBody>
        </p:sp>
      </p:grpSp>
      <p:grpSp>
        <p:nvGrpSpPr>
          <p:cNvPr id="21" name="p31-footer"/>
          <p:cNvGrpSpPr/>
          <p:nvPr/>
        </p:nvGrpSpPr>
        <p:grpSpPr>
          <a:xfrm>
            <a:off x="451866" y="6502400"/>
            <a:ext cx="11247444" cy="205359"/>
            <a:chOff x="451866" y="6502400"/>
            <a:chExt cx="11247444" cy="205359"/>
          </a:xfrm>
        </p:grpSpPr>
        <p:sp>
          <p:nvSpPr>
            <p:cNvPr id="19" name="TextBox 19"/>
            <p:cNvSpPr txBox="1"/>
            <p:nvPr/>
          </p:nvSpPr>
          <p:spPr>
            <a:xfrm>
              <a:off x="451866" y="6502400"/>
              <a:ext cx="618770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依据：法释〔2001〕25号；法释〔2008〕15号及目录26（中国法院网法律库）。非完整案卷分析。</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31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2-title"/>
          <p:cNvGrpSpPr/>
          <p:nvPr/>
        </p:nvGrpSpPr>
        <p:grpSpPr>
          <a:xfrm>
            <a:off x="440436" y="381000"/>
            <a:ext cx="5666232" cy="918464"/>
            <a:chOff x="440436" y="381000"/>
            <a:chExt cx="5666232" cy="918464"/>
          </a:xfrm>
        </p:grpSpPr>
        <p:sp>
          <p:nvSpPr>
            <p:cNvPr id="2" name="TextBox 2"/>
            <p:cNvSpPr txBox="1"/>
            <p:nvPr/>
          </p:nvSpPr>
          <p:spPr>
            <a:xfrm>
              <a:off x="451104" y="381000"/>
              <a:ext cx="232227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国家应做什么</a:t>
              </a:r>
            </a:p>
          </p:txBody>
        </p:sp>
        <p:sp>
          <p:nvSpPr>
            <p:cNvPr id="3" name="TextBox 3"/>
            <p:cNvSpPr txBox="1"/>
            <p:nvPr/>
          </p:nvSpPr>
          <p:spPr>
            <a:xfrm>
              <a:off x="440436" y="65405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保障权利，至少有三种工作</a:t>
              </a:r>
            </a:p>
          </p:txBody>
        </p:sp>
      </p:grpSp>
      <p:grpSp>
        <p:nvGrpSpPr>
          <p:cNvPr id="11" name="p32-noninjury"/>
          <p:cNvGrpSpPr/>
          <p:nvPr/>
        </p:nvGrpSpPr>
        <p:grpSpPr>
          <a:xfrm>
            <a:off x="444246" y="1984375"/>
            <a:ext cx="3518154" cy="3029458"/>
            <a:chOff x="444246" y="1984375"/>
            <a:chExt cx="3518154" cy="3029458"/>
          </a:xfrm>
        </p:grpSpPr>
        <p:sp>
          <p:nvSpPr>
            <p:cNvPr id="5" name="TextBox 5"/>
            <p:cNvSpPr txBox="1"/>
            <p:nvPr/>
          </p:nvSpPr>
          <p:spPr>
            <a:xfrm>
              <a:off x="444246" y="1984375"/>
              <a:ext cx="111404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不侵害</a:t>
              </a:r>
            </a:p>
          </p:txBody>
        </p:sp>
        <p:sp>
          <p:nvSpPr>
            <p:cNvPr id="6" name="Line 6"/>
            <p:cNvSpPr/>
            <p:nvPr/>
          </p:nvSpPr>
          <p:spPr>
            <a:xfrm>
              <a:off x="457200" y="2628900"/>
              <a:ext cx="3505200" cy="9525"/>
            </a:xfrm>
            <a:custGeom>
              <a:avLst/>
              <a:gdLst/>
              <a:ahLst/>
              <a:cxnLst/>
              <a:rect l="l" t="t" r="r" b="b"/>
              <a:pathLst>
                <a:path w="3505200" h="9525">
                  <a:moveTo>
                    <a:pt x="0" y="0"/>
                  </a:moveTo>
                  <a:lnTo>
                    <a:pt x="3505200" y="0"/>
                  </a:lnTo>
                </a:path>
              </a:pathLst>
            </a:custGeom>
            <a:noFill/>
            <a:ln w="19050">
              <a:solidFill>
                <a:schemeClr val="accent2"/>
              </a:solidFill>
            </a:ln>
          </p:spPr>
        </p:sp>
        <p:sp>
          <p:nvSpPr>
            <p:cNvPr id="7" name="TextBox 7"/>
            <p:cNvSpPr txBox="1"/>
            <p:nvPr/>
          </p:nvSpPr>
          <p:spPr>
            <a:xfrm>
              <a:off x="447294" y="29019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不得肆意干涉</a:t>
              </a:r>
            </a:p>
          </p:txBody>
        </p:sp>
        <p:sp>
          <p:nvSpPr>
            <p:cNvPr id="8" name="TextBox 8"/>
            <p:cNvSpPr txBox="1"/>
            <p:nvPr/>
          </p:nvSpPr>
          <p:spPr>
            <a:xfrm>
              <a:off x="447294" y="326390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或违法控制人身、财物</a:t>
              </a:r>
            </a:p>
          </p:txBody>
        </p:sp>
        <p:sp>
          <p:nvSpPr>
            <p:cNvPr id="9" name="TextBox 9"/>
            <p:cNvSpPr txBox="1"/>
            <p:nvPr/>
          </p:nvSpPr>
          <p:spPr>
            <a:xfrm>
              <a:off x="445008" y="405130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守住已有保障</a:t>
              </a:r>
            </a:p>
          </p:txBody>
        </p:sp>
        <p:sp>
          <p:nvSpPr>
            <p:cNvPr id="10" name="TextBox 10"/>
            <p:cNvSpPr txBox="1"/>
            <p:nvPr/>
          </p:nvSpPr>
          <p:spPr>
            <a:xfrm>
              <a:off x="450342" y="4749800"/>
              <a:ext cx="183108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不是只有消极袖手旁观</a:t>
              </a:r>
            </a:p>
          </p:txBody>
        </p:sp>
      </p:grpSp>
      <p:grpSp>
        <p:nvGrpSpPr>
          <p:cNvPr id="18" name="p32-reveal-1"/>
          <p:cNvGrpSpPr/>
          <p:nvPr/>
        </p:nvGrpSpPr>
        <p:grpSpPr>
          <a:xfrm>
            <a:off x="4330446" y="1984375"/>
            <a:ext cx="3518154" cy="3029458"/>
            <a:chOff x="4330446" y="1984375"/>
            <a:chExt cx="3518154" cy="3029458"/>
          </a:xfrm>
        </p:grpSpPr>
        <p:sp>
          <p:nvSpPr>
            <p:cNvPr id="12" name="TextBox 12"/>
            <p:cNvSpPr txBox="1"/>
            <p:nvPr/>
          </p:nvSpPr>
          <p:spPr>
            <a:xfrm>
              <a:off x="4330446" y="1984375"/>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提供实现条件</a:t>
              </a:r>
            </a:p>
          </p:txBody>
        </p:sp>
        <p:sp>
          <p:nvSpPr>
            <p:cNvPr id="13" name="Line 13"/>
            <p:cNvSpPr/>
            <p:nvPr/>
          </p:nvSpPr>
          <p:spPr>
            <a:xfrm>
              <a:off x="4343400" y="2628900"/>
              <a:ext cx="3505200" cy="9525"/>
            </a:xfrm>
            <a:custGeom>
              <a:avLst/>
              <a:gdLst/>
              <a:ahLst/>
              <a:cxnLst/>
              <a:rect l="l" t="t" r="r" b="b"/>
              <a:pathLst>
                <a:path w="3505200" h="9525">
                  <a:moveTo>
                    <a:pt x="0" y="0"/>
                  </a:moveTo>
                  <a:lnTo>
                    <a:pt x="3505200" y="0"/>
                  </a:lnTo>
                </a:path>
              </a:pathLst>
            </a:custGeom>
            <a:noFill/>
            <a:ln w="19050">
              <a:solidFill>
                <a:schemeClr val="accent2"/>
              </a:solidFill>
            </a:ln>
          </p:spPr>
        </p:sp>
        <p:sp>
          <p:nvSpPr>
            <p:cNvPr id="14" name="TextBox 14"/>
            <p:cNvSpPr txBox="1"/>
            <p:nvPr/>
          </p:nvSpPr>
          <p:spPr>
            <a:xfrm>
              <a:off x="4333494" y="29019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孩子上学需要</a:t>
              </a:r>
            </a:p>
          </p:txBody>
        </p:sp>
        <p:sp>
          <p:nvSpPr>
            <p:cNvPr id="15" name="TextBox 15"/>
            <p:cNvSpPr txBox="1"/>
            <p:nvPr/>
          </p:nvSpPr>
          <p:spPr>
            <a:xfrm>
              <a:off x="4333494" y="326390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学校、教师与制度</a:t>
              </a:r>
            </a:p>
          </p:txBody>
        </p:sp>
        <p:sp>
          <p:nvSpPr>
            <p:cNvPr id="16" name="TextBox 16"/>
            <p:cNvSpPr txBox="1"/>
            <p:nvPr/>
          </p:nvSpPr>
          <p:spPr>
            <a:xfrm>
              <a:off x="4331208" y="405130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持续建设条件</a:t>
              </a:r>
            </a:p>
          </p:txBody>
        </p:sp>
        <p:sp>
          <p:nvSpPr>
            <p:cNvPr id="17" name="TextBox 17"/>
            <p:cNvSpPr txBox="1"/>
            <p:nvPr/>
          </p:nvSpPr>
          <p:spPr>
            <a:xfrm>
              <a:off x="4336542" y="4749800"/>
              <a:ext cx="201282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不等权利已受侵害才开展</a:t>
              </a:r>
            </a:p>
          </p:txBody>
        </p:sp>
      </p:grpSp>
      <p:grpSp>
        <p:nvGrpSpPr>
          <p:cNvPr id="27" name="p32-reveal-2"/>
          <p:cNvGrpSpPr/>
          <p:nvPr/>
        </p:nvGrpSpPr>
        <p:grpSpPr>
          <a:xfrm>
            <a:off x="8216646" y="1984375"/>
            <a:ext cx="3518154" cy="4124833"/>
            <a:chOff x="8216646" y="1984375"/>
            <a:chExt cx="3518154" cy="4124833"/>
          </a:xfrm>
        </p:grpSpPr>
        <p:sp>
          <p:nvSpPr>
            <p:cNvPr id="19" name="TextBox 19"/>
            <p:cNvSpPr txBox="1"/>
            <p:nvPr/>
          </p:nvSpPr>
          <p:spPr>
            <a:xfrm>
              <a:off x="8216646" y="198437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纠正侵害</a:t>
              </a:r>
            </a:p>
          </p:txBody>
        </p:sp>
        <p:sp>
          <p:nvSpPr>
            <p:cNvPr id="20" name="Line 20"/>
            <p:cNvSpPr/>
            <p:nvPr/>
          </p:nvSpPr>
          <p:spPr>
            <a:xfrm>
              <a:off x="8229600" y="2628900"/>
              <a:ext cx="3505200" cy="9525"/>
            </a:xfrm>
            <a:custGeom>
              <a:avLst/>
              <a:gdLst/>
              <a:ahLst/>
              <a:cxnLst/>
              <a:rect l="l" t="t" r="r" b="b"/>
              <a:pathLst>
                <a:path w="3505200" h="9525">
                  <a:moveTo>
                    <a:pt x="0" y="0"/>
                  </a:moveTo>
                  <a:lnTo>
                    <a:pt x="3505200" y="0"/>
                  </a:lnTo>
                </a:path>
              </a:pathLst>
            </a:custGeom>
            <a:noFill/>
            <a:ln w="19050">
              <a:solidFill>
                <a:schemeClr val="accent2"/>
              </a:solidFill>
            </a:ln>
          </p:spPr>
        </p:sp>
        <p:sp>
          <p:nvSpPr>
            <p:cNvPr id="21" name="TextBox 21"/>
            <p:cNvSpPr txBox="1"/>
            <p:nvPr/>
          </p:nvSpPr>
          <p:spPr>
            <a:xfrm>
              <a:off x="8219694" y="290195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受理、审查、争议处理</a:t>
              </a:r>
            </a:p>
          </p:txBody>
        </p:sp>
        <p:sp>
          <p:nvSpPr>
            <p:cNvPr id="22" name="TextBox 22"/>
            <p:cNvSpPr txBox="1"/>
            <p:nvPr/>
          </p:nvSpPr>
          <p:spPr>
            <a:xfrm>
              <a:off x="8219694" y="326390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以及实际履行救济</a:t>
              </a:r>
            </a:p>
          </p:txBody>
        </p:sp>
        <p:sp>
          <p:nvSpPr>
            <p:cNvPr id="23" name="TextBox 23"/>
            <p:cNvSpPr txBox="1"/>
            <p:nvPr/>
          </p:nvSpPr>
          <p:spPr>
            <a:xfrm>
              <a:off x="8217408" y="405130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侵害后获得补救</a:t>
              </a:r>
            </a:p>
          </p:txBody>
        </p:sp>
        <p:sp>
          <p:nvSpPr>
            <p:cNvPr id="24" name="TextBox 24"/>
            <p:cNvSpPr txBox="1"/>
            <p:nvPr/>
          </p:nvSpPr>
          <p:spPr>
            <a:xfrm>
              <a:off x="8222742" y="4749800"/>
              <a:ext cx="21945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赔偿仍须符合相应法定条件</a:t>
              </a:r>
            </a:p>
          </p:txBody>
        </p:sp>
        <p:sp>
          <p:nvSpPr>
            <p:cNvPr id="25" name="TextBox 25"/>
            <p:cNvSpPr txBox="1"/>
            <p:nvPr/>
          </p:nvSpPr>
          <p:spPr>
            <a:xfrm>
              <a:off x="8222742" y="5540375"/>
              <a:ext cx="110413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三者会连接，</a:t>
              </a:r>
            </a:p>
          </p:txBody>
        </p:sp>
        <p:sp>
          <p:nvSpPr>
            <p:cNvPr id="26" name="TextBox 26"/>
            <p:cNvSpPr txBox="1"/>
            <p:nvPr/>
          </p:nvSpPr>
          <p:spPr>
            <a:xfrm>
              <a:off x="8222742" y="5845175"/>
              <a:ext cx="183108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不是互斥的权利分类。</a:t>
              </a:r>
            </a:p>
          </p:txBody>
        </p:sp>
      </p:grpSp>
      <p:grpSp>
        <p:nvGrpSpPr>
          <p:cNvPr id="29" name="p32-link"/>
          <p:cNvGrpSpPr/>
          <p:nvPr/>
        </p:nvGrpSpPr>
        <p:grpSpPr>
          <a:xfrm>
            <a:off x="447294" y="5664200"/>
            <a:ext cx="5269992" cy="381381"/>
            <a:chOff x="447294" y="5664200"/>
            <a:chExt cx="5269992" cy="381381"/>
          </a:xfrm>
        </p:grpSpPr>
        <p:sp>
          <p:nvSpPr>
            <p:cNvPr id="28" name="TextBox 28"/>
            <p:cNvSpPr txBox="1"/>
            <p:nvPr/>
          </p:nvSpPr>
          <p:spPr>
            <a:xfrm>
              <a:off x="447294" y="5664200"/>
              <a:ext cx="5269992"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保护自由，也常需要建立程序、条件和救济。</a:t>
              </a:r>
            </a:p>
          </p:txBody>
        </p:sp>
      </p:grpSp>
      <p:grpSp>
        <p:nvGrpSpPr>
          <p:cNvPr id="32" name="p32-footer"/>
          <p:cNvGrpSpPr/>
          <p:nvPr/>
        </p:nvGrpSpPr>
        <p:grpSpPr>
          <a:xfrm>
            <a:off x="451866" y="6502400"/>
            <a:ext cx="11247444" cy="205359"/>
            <a:chOff x="451866" y="6502400"/>
            <a:chExt cx="11247444" cy="205359"/>
          </a:xfrm>
        </p:grpSpPr>
        <p:sp>
          <p:nvSpPr>
            <p:cNvPr id="30" name="TextBox 30"/>
            <p:cNvSpPr txBox="1"/>
            <p:nvPr/>
          </p:nvSpPr>
          <p:spPr>
            <a:xfrm>
              <a:off x="451866" y="6502400"/>
              <a:ext cx="603928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依据：教材保障的三种含义；宪法第33条第3款。此处问工作，不与下页三种保障方式逐项配对。</a:t>
              </a:r>
            </a:p>
          </p:txBody>
        </p:sp>
        <p:sp>
          <p:nvSpPr>
            <p:cNvPr id="31" name="TextBox 31"/>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32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2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3-title"/>
          <p:cNvGrpSpPr/>
          <p:nvPr/>
        </p:nvGrpSpPr>
        <p:grpSpPr>
          <a:xfrm>
            <a:off x="440436" y="381000"/>
            <a:ext cx="6651955" cy="943864"/>
            <a:chOff x="440436" y="381000"/>
            <a:chExt cx="6651955" cy="943864"/>
          </a:xfrm>
        </p:grpSpPr>
        <p:sp>
          <p:nvSpPr>
            <p:cNvPr id="2" name="TextBox 2"/>
            <p:cNvSpPr txBox="1"/>
            <p:nvPr/>
          </p:nvSpPr>
          <p:spPr>
            <a:xfrm>
              <a:off x="451104" y="381000"/>
              <a:ext cx="409925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另一问：宪法与普通法律怎样安排保障</a:t>
              </a:r>
            </a:p>
          </p:txBody>
        </p:sp>
        <p:sp>
          <p:nvSpPr>
            <p:cNvPr id="3" name="TextBox 3"/>
            <p:cNvSpPr txBox="1"/>
            <p:nvPr/>
          </p:nvSpPr>
          <p:spPr>
            <a:xfrm>
              <a:off x="440436" y="679450"/>
              <a:ext cx="6651955"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三种“保障方式”，区别在哪里？</a:t>
              </a:r>
            </a:p>
          </p:txBody>
        </p:sp>
      </p:grpSp>
      <p:grpSp>
        <p:nvGrpSpPr>
          <p:cNvPr id="16" name="p33-modes"/>
          <p:cNvGrpSpPr/>
          <p:nvPr/>
        </p:nvGrpSpPr>
        <p:grpSpPr>
          <a:xfrm>
            <a:off x="445008" y="1768475"/>
            <a:ext cx="11289792" cy="2759583"/>
            <a:chOff x="445008" y="1768475"/>
            <a:chExt cx="11289792" cy="2759583"/>
          </a:xfrm>
        </p:grpSpPr>
        <p:sp>
          <p:nvSpPr>
            <p:cNvPr id="5" name="TextBox 5"/>
            <p:cNvSpPr txBox="1"/>
            <p:nvPr/>
          </p:nvSpPr>
          <p:spPr>
            <a:xfrm>
              <a:off x="445008" y="1812925"/>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绝对保障方式</a:t>
              </a:r>
            </a:p>
          </p:txBody>
        </p:sp>
        <p:sp>
          <p:nvSpPr>
            <p:cNvPr id="6" name="TextBox 6"/>
            <p:cNvSpPr txBox="1"/>
            <p:nvPr/>
          </p:nvSpPr>
          <p:spPr>
            <a:xfrm>
              <a:off x="3419094" y="1768475"/>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其他规范不能任意限制或另设例外；</a:t>
              </a:r>
            </a:p>
          </p:txBody>
        </p:sp>
        <p:sp>
          <p:nvSpPr>
            <p:cNvPr id="7" name="TextBox 7"/>
            <p:cNvSpPr txBox="1"/>
            <p:nvPr/>
          </p:nvSpPr>
          <p:spPr>
            <a:xfrm>
              <a:off x="3419094" y="2130425"/>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以有实效的合宪性审查排除越界规定。</a:t>
              </a:r>
            </a:p>
          </p:txBody>
        </p:sp>
        <p:sp>
          <p:nvSpPr>
            <p:cNvPr id="8" name="Line 8"/>
            <p:cNvSpPr/>
            <p:nvPr/>
          </p:nvSpPr>
          <p:spPr>
            <a:xfrm>
              <a:off x="457200" y="26479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9" name="TextBox 9"/>
            <p:cNvSpPr txBox="1"/>
            <p:nvPr/>
          </p:nvSpPr>
          <p:spPr>
            <a:xfrm>
              <a:off x="445008" y="2803525"/>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相对保障方式</a:t>
              </a:r>
            </a:p>
          </p:txBody>
        </p:sp>
        <p:sp>
          <p:nvSpPr>
            <p:cNvPr id="10" name="TextBox 10"/>
            <p:cNvSpPr txBox="1"/>
            <p:nvPr/>
          </p:nvSpPr>
          <p:spPr>
            <a:xfrm>
              <a:off x="3419094" y="2759075"/>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法律在宪法确定的范围内，</a:t>
              </a:r>
            </a:p>
          </p:txBody>
        </p:sp>
        <p:sp>
          <p:nvSpPr>
            <p:cNvPr id="11" name="TextBox 11"/>
            <p:cNvSpPr txBox="1"/>
            <p:nvPr/>
          </p:nvSpPr>
          <p:spPr>
            <a:xfrm>
              <a:off x="3419094" y="3121025"/>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安排具体内容、保障方法和限制条件。</a:t>
              </a:r>
            </a:p>
          </p:txBody>
        </p:sp>
        <p:sp>
          <p:nvSpPr>
            <p:cNvPr id="12" name="Line 12"/>
            <p:cNvSpPr/>
            <p:nvPr/>
          </p:nvSpPr>
          <p:spPr>
            <a:xfrm>
              <a:off x="457200" y="36385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3" name="TextBox 13"/>
            <p:cNvSpPr txBox="1"/>
            <p:nvPr/>
          </p:nvSpPr>
          <p:spPr>
            <a:xfrm>
              <a:off x="445008" y="3794125"/>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折中型保障方式</a:t>
              </a:r>
            </a:p>
          </p:txBody>
        </p:sp>
        <p:sp>
          <p:nvSpPr>
            <p:cNvPr id="14" name="TextBox 14"/>
            <p:cNvSpPr txBox="1"/>
            <p:nvPr/>
          </p:nvSpPr>
          <p:spPr>
            <a:xfrm>
              <a:off x="3419094" y="3749675"/>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合宪性审查＋一定范围的法律具体安排。</a:t>
              </a:r>
            </a:p>
          </p:txBody>
        </p:sp>
        <p:sp>
          <p:nvSpPr>
            <p:cNvPr id="15" name="TextBox 15"/>
            <p:cNvSpPr txBox="1"/>
            <p:nvPr/>
          </p:nvSpPr>
          <p:spPr>
            <a:xfrm>
              <a:off x="3422142" y="4264025"/>
              <a:ext cx="21945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教材以德国说明这种结合。</a:t>
              </a:r>
            </a:p>
          </p:txBody>
        </p:sp>
      </p:grpSp>
      <p:grpSp>
        <p:nvGrpSpPr>
          <p:cNvPr id="20" name="p33-reveal-1"/>
          <p:cNvGrpSpPr/>
          <p:nvPr/>
        </p:nvGrpSpPr>
        <p:grpSpPr>
          <a:xfrm>
            <a:off x="445008" y="5003800"/>
            <a:ext cx="7670178" cy="1267333"/>
            <a:chOff x="445008" y="5003800"/>
            <a:chExt cx="7670178" cy="1267333"/>
          </a:xfrm>
        </p:grpSpPr>
        <p:sp>
          <p:nvSpPr>
            <p:cNvPr id="17" name="TextBox 17"/>
            <p:cNvSpPr txBox="1"/>
            <p:nvPr/>
          </p:nvSpPr>
          <p:spPr>
            <a:xfrm>
              <a:off x="445008" y="5003800"/>
              <a:ext cx="522610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教材称我国“类似于相对保障方式”。</a:t>
              </a:r>
            </a:p>
          </p:txBody>
        </p:sp>
        <p:sp>
          <p:nvSpPr>
            <p:cNvPr id="18" name="TextBox 18"/>
            <p:cNvSpPr txBox="1"/>
            <p:nvPr/>
          </p:nvSpPr>
          <p:spPr>
            <a:xfrm>
              <a:off x="447294" y="5511800"/>
              <a:ext cx="632002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普通法律具体化或限制权利，立法本身仍受宪法约束。</a:t>
              </a:r>
            </a:p>
          </p:txBody>
        </p:sp>
        <p:sp>
          <p:nvSpPr>
            <p:cNvPr id="19" name="TextBox 19"/>
            <p:cNvSpPr txBox="1"/>
            <p:nvPr/>
          </p:nvSpPr>
          <p:spPr>
            <a:xfrm>
              <a:off x="450342" y="6007100"/>
              <a:ext cx="766484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类型名不概括全部现行保障机制；“绝对”也不表示任何行使都无边界。完整监督制度留第八讲。</a:t>
              </a:r>
            </a:p>
          </p:txBody>
        </p:sp>
      </p:grpSp>
      <p:grpSp>
        <p:nvGrpSpPr>
          <p:cNvPr id="23" name="p33-footer"/>
          <p:cNvGrpSpPr/>
          <p:nvPr/>
        </p:nvGrpSpPr>
        <p:grpSpPr>
          <a:xfrm>
            <a:off x="451866" y="6502400"/>
            <a:ext cx="11247444" cy="205359"/>
            <a:chOff x="451866" y="6502400"/>
            <a:chExt cx="11247444" cy="205359"/>
          </a:xfrm>
        </p:grpSpPr>
        <p:sp>
          <p:nvSpPr>
            <p:cNvPr id="21" name="TextBox 21"/>
            <p:cNvSpPr txBox="1"/>
            <p:nvPr/>
          </p:nvSpPr>
          <p:spPr>
            <a:xfrm>
              <a:off x="451866" y="6502400"/>
              <a:ext cx="594741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依据：教材保障方式及本讲解释。三类型是制度安排的读法，不是上一页三项工作的一一对应。</a:t>
              </a:r>
            </a:p>
          </p:txBody>
        </p:sp>
        <p:sp>
          <p:nvSpPr>
            <p:cNvPr id="22" name="TextBox 22"/>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33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4-title"/>
          <p:cNvGrpSpPr/>
          <p:nvPr/>
        </p:nvGrpSpPr>
        <p:grpSpPr>
          <a:xfrm>
            <a:off x="440436" y="381000"/>
            <a:ext cx="6605016" cy="918464"/>
            <a:chOff x="440436" y="381000"/>
            <a:chExt cx="6605016" cy="918464"/>
          </a:xfrm>
        </p:grpSpPr>
        <p:sp>
          <p:nvSpPr>
            <p:cNvPr id="2" name="TextBox 2"/>
            <p:cNvSpPr txBox="1"/>
            <p:nvPr/>
          </p:nvSpPr>
          <p:spPr>
            <a:xfrm>
              <a:off x="451104" y="381000"/>
              <a:ext cx="329153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读第五十一条的主语和动作</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一条行使边界，不是一份授权书</a:t>
              </a:r>
            </a:p>
          </p:txBody>
        </p:sp>
      </p:grpSp>
      <p:grpSp>
        <p:nvGrpSpPr>
          <p:cNvPr id="10" name="p34-quote"/>
          <p:cNvGrpSpPr/>
          <p:nvPr/>
        </p:nvGrpSpPr>
        <p:grpSpPr>
          <a:xfrm>
            <a:off x="476250" y="1866900"/>
            <a:ext cx="7082790" cy="2327783"/>
            <a:chOff x="476250" y="1866900"/>
            <a:chExt cx="7082790" cy="2327783"/>
          </a:xfrm>
        </p:grpSpPr>
        <p:sp>
          <p:nvSpPr>
            <p:cNvPr id="5" name="Line 5"/>
            <p:cNvSpPr/>
            <p:nvPr/>
          </p:nvSpPr>
          <p:spPr>
            <a:xfrm>
              <a:off x="476250" y="1866900"/>
              <a:ext cx="9525" cy="2305050"/>
            </a:xfrm>
            <a:custGeom>
              <a:avLst/>
              <a:gdLst/>
              <a:ahLst/>
              <a:cxnLst/>
              <a:rect l="l" t="t" r="r" b="b"/>
              <a:pathLst>
                <a:path w="9525" h="2305050">
                  <a:moveTo>
                    <a:pt x="0" y="0"/>
                  </a:moveTo>
                  <a:lnTo>
                    <a:pt x="0" y="2305050"/>
                  </a:lnTo>
                </a:path>
              </a:pathLst>
            </a:custGeom>
            <a:noFill/>
            <a:ln w="28575">
              <a:solidFill>
                <a:schemeClr val="accent2"/>
              </a:solidFill>
            </a:ln>
          </p:spPr>
        </p:sp>
        <p:sp>
          <p:nvSpPr>
            <p:cNvPr id="6" name="TextBox 6"/>
            <p:cNvSpPr txBox="1"/>
            <p:nvPr/>
          </p:nvSpPr>
          <p:spPr>
            <a:xfrm>
              <a:off x="749808" y="2070100"/>
              <a:ext cx="680923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中华人民共和国公民在行使自由和权利的时候，</a:t>
              </a:r>
            </a:p>
          </p:txBody>
        </p:sp>
        <p:sp>
          <p:nvSpPr>
            <p:cNvPr id="7" name="TextBox 7"/>
            <p:cNvSpPr txBox="1"/>
            <p:nvPr/>
          </p:nvSpPr>
          <p:spPr>
            <a:xfrm>
              <a:off x="749808" y="2679700"/>
              <a:ext cx="551688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不得损害国家的、社会的、集体的利益</a:t>
              </a:r>
            </a:p>
          </p:txBody>
        </p:sp>
        <p:sp>
          <p:nvSpPr>
            <p:cNvPr id="8" name="TextBox 8"/>
            <p:cNvSpPr txBox="1"/>
            <p:nvPr/>
          </p:nvSpPr>
          <p:spPr>
            <a:xfrm>
              <a:off x="749808" y="3289300"/>
              <a:ext cx="487070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和其他公民的合法的自由和权利。</a:t>
              </a:r>
            </a:p>
          </p:txBody>
        </p:sp>
        <p:sp>
          <p:nvSpPr>
            <p:cNvPr id="9" name="TextBox 9"/>
            <p:cNvSpPr txBox="1"/>
            <p:nvPr/>
          </p:nvSpPr>
          <p:spPr>
            <a:xfrm>
              <a:off x="755142" y="3930650"/>
              <a:ext cx="455714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主语是公民；规定的是行使自由和权利时不得损害什么。</a:t>
              </a:r>
            </a:p>
          </p:txBody>
        </p:sp>
      </p:grpSp>
      <p:grpSp>
        <p:nvGrpSpPr>
          <p:cNvPr id="14" name="p34-reveal-1"/>
          <p:cNvGrpSpPr/>
          <p:nvPr/>
        </p:nvGrpSpPr>
        <p:grpSpPr>
          <a:xfrm>
            <a:off x="445008" y="4965700"/>
            <a:ext cx="6847332" cy="1286383"/>
            <a:chOff x="445008" y="4965700"/>
            <a:chExt cx="6847332" cy="1286383"/>
          </a:xfrm>
        </p:grpSpPr>
        <p:sp>
          <p:nvSpPr>
            <p:cNvPr id="11" name="TextBox 11"/>
            <p:cNvSpPr txBox="1"/>
            <p:nvPr/>
          </p:nvSpPr>
          <p:spPr>
            <a:xfrm>
              <a:off x="445008" y="4965700"/>
              <a:ext cx="6841541"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不能直接推出“某机关因此有权采取某种措施”。</a:t>
              </a:r>
            </a:p>
          </p:txBody>
        </p:sp>
        <p:sp>
          <p:nvSpPr>
            <p:cNvPr id="12" name="TextBox 12"/>
            <p:cNvSpPr txBox="1"/>
            <p:nvPr/>
          </p:nvSpPr>
          <p:spPr>
            <a:xfrm>
              <a:off x="447294" y="5511800"/>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主体、依据、目的、限度与审查，是继续展开的分析线索。</a:t>
              </a:r>
            </a:p>
          </p:txBody>
        </p:sp>
        <p:sp>
          <p:nvSpPr>
            <p:cNvPr id="13" name="TextBox 13"/>
            <p:cNvSpPr txBox="1"/>
            <p:nvPr/>
          </p:nvSpPr>
          <p:spPr>
            <a:xfrm>
              <a:off x="450342" y="5988050"/>
              <a:ext cx="423001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“法律保留”“比例原则”等不是这条逐字写出的公式。</a:t>
              </a:r>
            </a:p>
          </p:txBody>
        </p:sp>
      </p:grpSp>
      <p:grpSp>
        <p:nvGrpSpPr>
          <p:cNvPr id="17" name="p34-footer"/>
          <p:cNvGrpSpPr/>
          <p:nvPr/>
        </p:nvGrpSpPr>
        <p:grpSpPr>
          <a:xfrm>
            <a:off x="451866" y="6502400"/>
            <a:ext cx="11247444" cy="205359"/>
            <a:chOff x="451866" y="6502400"/>
            <a:chExt cx="11247444" cy="205359"/>
          </a:xfrm>
        </p:grpSpPr>
        <p:sp>
          <p:nvSpPr>
            <p:cNvPr id="15" name="TextBox 15"/>
            <p:cNvSpPr txBox="1"/>
            <p:nvPr/>
          </p:nvSpPr>
          <p:spPr>
            <a:xfrm>
              <a:off x="451866" y="6502400"/>
              <a:ext cx="567884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宪法第51条原文；下方为本讲凝练说明。公共利益及他人权利的保护仍须具体依据和限度。</a:t>
              </a:r>
            </a:p>
          </p:txBody>
        </p:sp>
        <p:sp>
          <p:nvSpPr>
            <p:cNvPr id="16" name="TextBox 16"/>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34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5-title"/>
          <p:cNvGrpSpPr/>
          <p:nvPr/>
        </p:nvGrpSpPr>
        <p:grpSpPr>
          <a:xfrm>
            <a:off x="440436" y="381000"/>
            <a:ext cx="7543800" cy="918464"/>
            <a:chOff x="440436" y="381000"/>
            <a:chExt cx="7543800" cy="918464"/>
          </a:xfrm>
        </p:grpSpPr>
        <p:sp>
          <p:nvSpPr>
            <p:cNvPr id="2" name="TextBox 2"/>
            <p:cNvSpPr txBox="1"/>
            <p:nvPr/>
          </p:nvSpPr>
          <p:spPr>
            <a:xfrm>
              <a:off x="451104" y="381000"/>
              <a:ext cx="232227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限制来自哪里</a:t>
              </a:r>
            </a:p>
          </p:txBody>
        </p:sp>
        <p:sp>
          <p:nvSpPr>
            <p:cNvPr id="3" name="TextBox 3"/>
            <p:cNvSpPr txBox="1"/>
            <p:nvPr/>
          </p:nvSpPr>
          <p:spPr>
            <a:xfrm>
              <a:off x="440436" y="65405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权利相遇的边界，与公共利益的限制</a:t>
              </a:r>
            </a:p>
          </p:txBody>
        </p:sp>
      </p:grpSp>
      <p:grpSp>
        <p:nvGrpSpPr>
          <p:cNvPr id="12" name="p35-internal"/>
          <p:cNvGrpSpPr/>
          <p:nvPr/>
        </p:nvGrpSpPr>
        <p:grpSpPr>
          <a:xfrm>
            <a:off x="444246" y="1993900"/>
            <a:ext cx="3697986" cy="2375281"/>
            <a:chOff x="444246" y="1993900"/>
            <a:chExt cx="3697986" cy="2375281"/>
          </a:xfrm>
        </p:grpSpPr>
        <p:sp>
          <p:nvSpPr>
            <p:cNvPr id="5" name="TextBox 5"/>
            <p:cNvSpPr txBox="1"/>
            <p:nvPr/>
          </p:nvSpPr>
          <p:spPr>
            <a:xfrm>
              <a:off x="444246" y="199390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内在限制</a:t>
              </a:r>
            </a:p>
          </p:txBody>
        </p:sp>
        <p:sp>
          <p:nvSpPr>
            <p:cNvPr id="6" name="TextBox 6"/>
            <p:cNvSpPr txBox="1"/>
            <p:nvPr/>
          </p:nvSpPr>
          <p:spPr>
            <a:xfrm>
              <a:off x="445008" y="267970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我的言论</a:t>
              </a:r>
            </a:p>
          </p:txBody>
        </p:sp>
        <p:sp>
          <p:nvSpPr>
            <p:cNvPr id="7" name="Line 7"/>
            <p:cNvSpPr/>
            <p:nvPr/>
          </p:nvSpPr>
          <p:spPr>
            <a:xfrm>
              <a:off x="2266950" y="2857500"/>
              <a:ext cx="876300" cy="9525"/>
            </a:xfrm>
            <a:custGeom>
              <a:avLst/>
              <a:gdLst/>
              <a:ahLst/>
              <a:cxnLst/>
              <a:rect l="l" t="t" r="r" b="b"/>
              <a:pathLst>
                <a:path w="876300" h="9525">
                  <a:moveTo>
                    <a:pt x="0" y="0"/>
                  </a:moveTo>
                  <a:lnTo>
                    <a:pt x="876300" y="0"/>
                  </a:lnTo>
                </a:path>
              </a:pathLst>
            </a:custGeom>
            <a:noFill/>
            <a:ln w="19050">
              <a:solidFill>
                <a:schemeClr val="accent3"/>
              </a:solidFill>
            </a:ln>
          </p:spPr>
        </p:sp>
        <p:sp>
          <p:nvSpPr>
            <p:cNvPr id="8" name="Freeform 8"/>
            <p:cNvSpPr/>
            <p:nvPr/>
          </p:nvSpPr>
          <p:spPr>
            <a:xfrm>
              <a:off x="3009900" y="2790825"/>
              <a:ext cx="133350" cy="133350"/>
            </a:xfrm>
            <a:custGeom>
              <a:avLst/>
              <a:gdLst/>
              <a:ahLst/>
              <a:cxnLst/>
              <a:rect l="l" t="t" r="r" b="b"/>
              <a:pathLst>
                <a:path w="133350" h="133350">
                  <a:moveTo>
                    <a:pt x="133350" y="66675"/>
                  </a:moveTo>
                  <a:lnTo>
                    <a:pt x="0" y="0"/>
                  </a:lnTo>
                  <a:lnTo>
                    <a:pt x="0" y="133350"/>
                  </a:lnTo>
                  <a:close/>
                </a:path>
              </a:pathLst>
            </a:custGeom>
            <a:solidFill>
              <a:schemeClr val="accent3"/>
            </a:solidFill>
            <a:ln>
              <a:noFill/>
            </a:ln>
          </p:spPr>
        </p:sp>
        <p:sp>
          <p:nvSpPr>
            <p:cNvPr id="9" name="TextBox 9"/>
            <p:cNvSpPr txBox="1"/>
            <p:nvPr/>
          </p:nvSpPr>
          <p:spPr>
            <a:xfrm>
              <a:off x="3435858" y="267970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他人</a:t>
              </a:r>
            </a:p>
          </p:txBody>
        </p:sp>
        <p:sp>
          <p:nvSpPr>
            <p:cNvPr id="10" name="TextBox 10"/>
            <p:cNvSpPr txBox="1"/>
            <p:nvPr/>
          </p:nvSpPr>
          <p:spPr>
            <a:xfrm>
              <a:off x="447294" y="332105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不能侵害隐私、人格尊严</a:t>
              </a:r>
            </a:p>
          </p:txBody>
        </p:sp>
        <p:sp>
          <p:nvSpPr>
            <p:cNvPr id="11" name="TextBox 11"/>
            <p:cNvSpPr txBox="1"/>
            <p:nvPr/>
          </p:nvSpPr>
          <p:spPr>
            <a:xfrm>
              <a:off x="447294" y="3987800"/>
              <a:ext cx="3694938"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来自权利性质及权利之间的相遇</a:t>
              </a:r>
            </a:p>
          </p:txBody>
        </p:sp>
      </p:grpSp>
      <p:grpSp>
        <p:nvGrpSpPr>
          <p:cNvPr id="20" name="p35-external"/>
          <p:cNvGrpSpPr/>
          <p:nvPr/>
        </p:nvGrpSpPr>
        <p:grpSpPr>
          <a:xfrm>
            <a:off x="6502146" y="1993900"/>
            <a:ext cx="4251198" cy="2375281"/>
            <a:chOff x="6502146" y="1993900"/>
            <a:chExt cx="4251198" cy="2375281"/>
          </a:xfrm>
        </p:grpSpPr>
        <p:sp>
          <p:nvSpPr>
            <p:cNvPr id="13" name="TextBox 13"/>
            <p:cNvSpPr txBox="1"/>
            <p:nvPr/>
          </p:nvSpPr>
          <p:spPr>
            <a:xfrm>
              <a:off x="6502146" y="199390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外在限制</a:t>
              </a:r>
            </a:p>
          </p:txBody>
        </p:sp>
        <p:sp>
          <p:nvSpPr>
            <p:cNvPr id="14" name="TextBox 14"/>
            <p:cNvSpPr txBox="1"/>
            <p:nvPr/>
          </p:nvSpPr>
          <p:spPr>
            <a:xfrm>
              <a:off x="6502908" y="2679700"/>
              <a:ext cx="99364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财产权</a:t>
              </a:r>
            </a:p>
          </p:txBody>
        </p:sp>
        <p:sp>
          <p:nvSpPr>
            <p:cNvPr id="15" name="Line 15"/>
            <p:cNvSpPr/>
            <p:nvPr/>
          </p:nvSpPr>
          <p:spPr>
            <a:xfrm>
              <a:off x="8305800" y="2857500"/>
              <a:ext cx="876300" cy="9525"/>
            </a:xfrm>
            <a:custGeom>
              <a:avLst/>
              <a:gdLst/>
              <a:ahLst/>
              <a:cxnLst/>
              <a:rect l="l" t="t" r="r" b="b"/>
              <a:pathLst>
                <a:path w="876300" h="9525">
                  <a:moveTo>
                    <a:pt x="0" y="0"/>
                  </a:moveTo>
                  <a:lnTo>
                    <a:pt x="876300" y="0"/>
                  </a:lnTo>
                </a:path>
              </a:pathLst>
            </a:custGeom>
            <a:noFill/>
            <a:ln w="19050">
              <a:solidFill>
                <a:schemeClr val="accent3"/>
              </a:solidFill>
            </a:ln>
          </p:spPr>
        </p:sp>
        <p:sp>
          <p:nvSpPr>
            <p:cNvPr id="16" name="Freeform 16"/>
            <p:cNvSpPr/>
            <p:nvPr/>
          </p:nvSpPr>
          <p:spPr>
            <a:xfrm>
              <a:off x="9048750" y="2790825"/>
              <a:ext cx="133350" cy="133350"/>
            </a:xfrm>
            <a:custGeom>
              <a:avLst/>
              <a:gdLst/>
              <a:ahLst/>
              <a:cxnLst/>
              <a:rect l="l" t="t" r="r" b="b"/>
              <a:pathLst>
                <a:path w="133350" h="133350">
                  <a:moveTo>
                    <a:pt x="133350" y="66675"/>
                  </a:moveTo>
                  <a:lnTo>
                    <a:pt x="0" y="0"/>
                  </a:lnTo>
                  <a:lnTo>
                    <a:pt x="0" y="133350"/>
                  </a:lnTo>
                  <a:close/>
                </a:path>
              </a:pathLst>
            </a:custGeom>
            <a:solidFill>
              <a:schemeClr val="accent3"/>
            </a:solidFill>
            <a:ln>
              <a:noFill/>
            </a:ln>
          </p:spPr>
        </p:sp>
        <p:sp>
          <p:nvSpPr>
            <p:cNvPr id="17" name="TextBox 17"/>
            <p:cNvSpPr txBox="1"/>
            <p:nvPr/>
          </p:nvSpPr>
          <p:spPr>
            <a:xfrm>
              <a:off x="9436608" y="267970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公共利益</a:t>
              </a:r>
            </a:p>
          </p:txBody>
        </p:sp>
        <p:sp>
          <p:nvSpPr>
            <p:cNvPr id="18" name="TextBox 18"/>
            <p:cNvSpPr txBox="1"/>
            <p:nvPr/>
          </p:nvSpPr>
          <p:spPr>
            <a:xfrm>
              <a:off x="6505194" y="33210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宪法价值目标容许的适当限制</a:t>
              </a:r>
            </a:p>
          </p:txBody>
        </p:sp>
        <p:sp>
          <p:nvSpPr>
            <p:cNvPr id="19" name="TextBox 19"/>
            <p:cNvSpPr txBox="1"/>
            <p:nvPr/>
          </p:nvSpPr>
          <p:spPr>
            <a:xfrm>
              <a:off x="6505194" y="3987800"/>
              <a:ext cx="3169920"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外加限制也须有依据和界限</a:t>
              </a:r>
            </a:p>
          </p:txBody>
        </p:sp>
      </p:grpSp>
      <p:grpSp>
        <p:nvGrpSpPr>
          <p:cNvPr id="24" name="p35-reveal-1"/>
          <p:cNvGrpSpPr/>
          <p:nvPr/>
        </p:nvGrpSpPr>
        <p:grpSpPr>
          <a:xfrm>
            <a:off x="445008" y="5200650"/>
            <a:ext cx="11289792" cy="1013333"/>
            <a:chOff x="445008" y="5200650"/>
            <a:chExt cx="11289792" cy="1013333"/>
          </a:xfrm>
        </p:grpSpPr>
        <p:sp>
          <p:nvSpPr>
            <p:cNvPr id="21" name="Line 21"/>
            <p:cNvSpPr/>
            <p:nvPr/>
          </p:nvSpPr>
          <p:spPr>
            <a:xfrm>
              <a:off x="457200" y="5200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22" name="TextBox 22"/>
            <p:cNvSpPr txBox="1"/>
            <p:nvPr/>
          </p:nvSpPr>
          <p:spPr>
            <a:xfrm>
              <a:off x="445008" y="5384800"/>
              <a:ext cx="745540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说出限制的类型，还没有回答谁能规定、谁能实施。</a:t>
              </a:r>
            </a:p>
          </p:txBody>
        </p:sp>
        <p:sp>
          <p:nvSpPr>
            <p:cNvPr id="23" name="TextBox 23"/>
            <p:cNvSpPr txBox="1"/>
            <p:nvPr/>
          </p:nvSpPr>
          <p:spPr>
            <a:xfrm>
              <a:off x="450342" y="5949950"/>
              <a:ext cx="41936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两幅示意辨认来源，不宣告眼前任一限制已经合法。</a:t>
              </a:r>
            </a:p>
          </p:txBody>
        </p:sp>
      </p:grpSp>
      <p:grpSp>
        <p:nvGrpSpPr>
          <p:cNvPr id="27" name="p35-footer"/>
          <p:cNvGrpSpPr/>
          <p:nvPr/>
        </p:nvGrpSpPr>
        <p:grpSpPr>
          <a:xfrm>
            <a:off x="451866" y="6502400"/>
            <a:ext cx="11247444" cy="205359"/>
            <a:chOff x="451866" y="6502400"/>
            <a:chExt cx="11247444" cy="205359"/>
          </a:xfrm>
        </p:grpSpPr>
        <p:sp>
          <p:nvSpPr>
            <p:cNvPr id="25" name="TextBox 25"/>
            <p:cNvSpPr txBox="1"/>
            <p:nvPr/>
          </p:nvSpPr>
          <p:spPr>
            <a:xfrm>
              <a:off x="451866" y="6502400"/>
              <a:ext cx="588380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依据：教材内在/外在限制及本讲例子。箭头表示可能影响的对象，不把权利自动化约为侵害。</a:t>
              </a:r>
            </a:p>
          </p:txBody>
        </p:sp>
        <p:sp>
          <p:nvSpPr>
            <p:cNvPr id="26" name="TextBox 26"/>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35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6-title"/>
          <p:cNvGrpSpPr/>
          <p:nvPr/>
        </p:nvGrpSpPr>
        <p:grpSpPr>
          <a:xfrm>
            <a:off x="440436" y="381000"/>
            <a:ext cx="6135624" cy="918464"/>
            <a:chOff x="440436" y="381000"/>
            <a:chExt cx="6135624" cy="918464"/>
          </a:xfrm>
        </p:grpSpPr>
        <p:sp>
          <p:nvSpPr>
            <p:cNvPr id="2" name="TextBox 2"/>
            <p:cNvSpPr txBox="1"/>
            <p:nvPr/>
          </p:nvSpPr>
          <p:spPr>
            <a:xfrm>
              <a:off x="451104" y="381000"/>
              <a:ext cx="329153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管理任务不能自行创造措施</a:t>
              </a:r>
            </a:p>
          </p:txBody>
        </p:sp>
        <p:sp>
          <p:nvSpPr>
            <p:cNvPr id="3" name="TextBox 3"/>
            <p:cNvSpPr txBox="1"/>
            <p:nvPr/>
          </p:nvSpPr>
          <p:spPr>
            <a:xfrm>
              <a:off x="440436" y="65405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谁能规定，与谁能在这里实施</a:t>
              </a:r>
            </a:p>
          </p:txBody>
        </p:sp>
      </p:grpSp>
      <p:grpSp>
        <p:nvGrpSpPr>
          <p:cNvPr id="9" name="p36-two"/>
          <p:cNvGrpSpPr/>
          <p:nvPr/>
        </p:nvGrpSpPr>
        <p:grpSpPr>
          <a:xfrm>
            <a:off x="444246" y="1822450"/>
            <a:ext cx="9493377" cy="1022731"/>
            <a:chOff x="444246" y="1822450"/>
            <a:chExt cx="9493377" cy="1022731"/>
          </a:xfrm>
        </p:grpSpPr>
        <p:sp>
          <p:nvSpPr>
            <p:cNvPr id="5" name="TextBox 5"/>
            <p:cNvSpPr txBox="1"/>
            <p:nvPr/>
          </p:nvSpPr>
          <p:spPr>
            <a:xfrm>
              <a:off x="444246" y="1822450"/>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设定</a:t>
              </a:r>
            </a:p>
          </p:txBody>
        </p:sp>
        <p:sp>
          <p:nvSpPr>
            <p:cNvPr id="6" name="TextBox 6"/>
            <p:cNvSpPr txBox="1"/>
            <p:nvPr/>
          </p:nvSpPr>
          <p:spPr>
            <a:xfrm>
              <a:off x="447294" y="246380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规定可以采取哪一类限制措施</a:t>
              </a:r>
            </a:p>
          </p:txBody>
        </p:sp>
        <p:sp>
          <p:nvSpPr>
            <p:cNvPr id="7" name="TextBox 7"/>
            <p:cNvSpPr txBox="1"/>
            <p:nvPr/>
          </p:nvSpPr>
          <p:spPr>
            <a:xfrm>
              <a:off x="6502146" y="1822450"/>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实施</a:t>
              </a:r>
            </a:p>
          </p:txBody>
        </p:sp>
        <p:sp>
          <p:nvSpPr>
            <p:cNvPr id="8" name="TextBox 8"/>
            <p:cNvSpPr txBox="1"/>
            <p:nvPr/>
          </p:nvSpPr>
          <p:spPr>
            <a:xfrm>
              <a:off x="6505194" y="246380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在具体事项中，由谁依法采取</a:t>
              </a:r>
            </a:p>
          </p:txBody>
        </p:sp>
      </p:grpSp>
      <p:grpSp>
        <p:nvGrpSpPr>
          <p:cNvPr id="14" name="p36-reveal-1"/>
          <p:cNvGrpSpPr/>
          <p:nvPr/>
        </p:nvGrpSpPr>
        <p:grpSpPr>
          <a:xfrm>
            <a:off x="447294" y="3086100"/>
            <a:ext cx="11287506" cy="1394333"/>
            <a:chOff x="447294" y="3086100"/>
            <a:chExt cx="11287506" cy="1394333"/>
          </a:xfrm>
        </p:grpSpPr>
        <p:sp>
          <p:nvSpPr>
            <p:cNvPr id="10" name="Line 10"/>
            <p:cNvSpPr/>
            <p:nvPr/>
          </p:nvSpPr>
          <p:spPr>
            <a:xfrm>
              <a:off x="457200" y="30861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1" name="TextBox 11"/>
            <p:cNvSpPr txBox="1"/>
            <p:nvPr/>
          </p:nvSpPr>
          <p:spPr>
            <a:xfrm>
              <a:off x="447294" y="3292475"/>
              <a:ext cx="868260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限制人身自由的强制措施：只能由法律规定，不能授权先以行政法规规定。</a:t>
              </a:r>
            </a:p>
          </p:txBody>
        </p:sp>
        <p:sp>
          <p:nvSpPr>
            <p:cNvPr id="12" name="TextBox 12"/>
            <p:cNvSpPr txBox="1"/>
            <p:nvPr/>
          </p:nvSpPr>
          <p:spPr>
            <a:xfrm>
              <a:off x="447294" y="3749675"/>
              <a:ext cx="868260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部分财物措施：法规有严格条件下的设定空间；实施仍要另核职权与程序。</a:t>
              </a:r>
            </a:p>
          </p:txBody>
        </p:sp>
        <p:sp>
          <p:nvSpPr>
            <p:cNvPr id="13" name="TextBox 13"/>
            <p:cNvSpPr txBox="1"/>
            <p:nvPr/>
          </p:nvSpPr>
          <p:spPr>
            <a:xfrm>
              <a:off x="450342" y="4216400"/>
              <a:ext cx="512052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不同措施的规范层级有别，不能用一句“有依据”代替逐项核对。</a:t>
              </a:r>
            </a:p>
          </p:txBody>
        </p:sp>
      </p:grpSp>
      <p:grpSp>
        <p:nvGrpSpPr>
          <p:cNvPr id="19" name="p36-reveal-2"/>
          <p:cNvGrpSpPr/>
          <p:nvPr/>
        </p:nvGrpSpPr>
        <p:grpSpPr>
          <a:xfrm>
            <a:off x="447294" y="4806950"/>
            <a:ext cx="7107555" cy="1467231"/>
            <a:chOff x="447294" y="4806950"/>
            <a:chExt cx="7107555" cy="1467231"/>
          </a:xfrm>
        </p:grpSpPr>
        <p:sp>
          <p:nvSpPr>
            <p:cNvPr id="15" name="TextBox 15"/>
            <p:cNvSpPr txBox="1"/>
            <p:nvPr/>
          </p:nvSpPr>
          <p:spPr>
            <a:xfrm>
              <a:off x="447294" y="4806950"/>
              <a:ext cx="7107555"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口头要求、一般工作文件，不能代替应有的设定与实施依据。</a:t>
              </a:r>
            </a:p>
          </p:txBody>
        </p:sp>
        <p:sp>
          <p:nvSpPr>
            <p:cNvPr id="16" name="TextBox 16"/>
            <p:cNvSpPr txBox="1"/>
            <p:nvPr/>
          </p:nvSpPr>
          <p:spPr>
            <a:xfrm>
              <a:off x="447294" y="5168900"/>
              <a:ext cx="660878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不能凭“决定”标题判断，须看主体、职权、程序和事项。</a:t>
              </a:r>
            </a:p>
          </p:txBody>
        </p:sp>
        <p:sp>
          <p:nvSpPr>
            <p:cNvPr id="17" name="TextBox 17"/>
            <p:cNvSpPr txBox="1"/>
            <p:nvPr/>
          </p:nvSpPr>
          <p:spPr>
            <a:xfrm>
              <a:off x="447294" y="5530850"/>
              <a:ext cx="710755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全国人大及其常委会有关法律问题的决定，有相应立法规则。</a:t>
              </a:r>
            </a:p>
          </p:txBody>
        </p:sp>
        <p:sp>
          <p:nvSpPr>
            <p:cNvPr id="18" name="TextBox 18"/>
            <p:cNvSpPr txBox="1"/>
            <p:nvPr/>
          </p:nvSpPr>
          <p:spPr>
            <a:xfrm>
              <a:off x="447294" y="5892800"/>
              <a:ext cx="710755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私人可依法订约安排权利义务；不等于自行取得国家强制权。</a:t>
              </a:r>
            </a:p>
          </p:txBody>
        </p:sp>
      </p:grpSp>
      <p:grpSp>
        <p:nvGrpSpPr>
          <p:cNvPr id="22" name="p36-footer"/>
          <p:cNvGrpSpPr/>
          <p:nvPr/>
        </p:nvGrpSpPr>
        <p:grpSpPr>
          <a:xfrm>
            <a:off x="451866" y="6502400"/>
            <a:ext cx="11247444" cy="205359"/>
            <a:chOff x="451866" y="6502400"/>
            <a:chExt cx="11247444" cy="205359"/>
          </a:xfrm>
        </p:grpSpPr>
        <p:sp>
          <p:nvSpPr>
            <p:cNvPr id="20" name="TextBox 20"/>
            <p:cNvSpPr txBox="1"/>
            <p:nvPr/>
          </p:nvSpPr>
          <p:spPr>
            <a:xfrm>
              <a:off x="451866" y="6502400"/>
              <a:ext cx="481660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依据：立法法及行政强制法。一般工作文件与有权立法决定的身份不可混同。</a:t>
              </a:r>
            </a:p>
          </p:txBody>
        </p:sp>
        <p:sp>
          <p:nvSpPr>
            <p:cNvPr id="21" name="TextBox 21"/>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36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7-title"/>
          <p:cNvGrpSpPr/>
          <p:nvPr/>
        </p:nvGrpSpPr>
        <p:grpSpPr>
          <a:xfrm>
            <a:off x="440436" y="381000"/>
            <a:ext cx="4258056" cy="918464"/>
            <a:chOff x="440436" y="381000"/>
            <a:chExt cx="4258056" cy="918464"/>
          </a:xfrm>
        </p:grpSpPr>
        <p:sp>
          <p:nvSpPr>
            <p:cNvPr id="2" name="TextBox 2"/>
            <p:cNvSpPr txBox="1"/>
            <p:nvPr/>
          </p:nvSpPr>
          <p:spPr>
            <a:xfrm>
              <a:off x="451104" y="381000"/>
              <a:ext cx="345307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有授权，还要问这次为了什么</a:t>
              </a:r>
            </a:p>
          </p:txBody>
        </p:sp>
        <p:sp>
          <p:nvSpPr>
            <p:cNvPr id="3" name="TextBox 3"/>
            <p:cNvSpPr txBox="1"/>
            <p:nvPr/>
          </p:nvSpPr>
          <p:spPr>
            <a:xfrm>
              <a:off x="440436" y="654050"/>
              <a:ext cx="425805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限制目的与限制方式</a:t>
              </a:r>
            </a:p>
          </p:txBody>
        </p:sp>
      </p:grpSp>
      <p:grpSp>
        <p:nvGrpSpPr>
          <p:cNvPr id="9" name="p37-purpose"/>
          <p:cNvGrpSpPr/>
          <p:nvPr/>
        </p:nvGrpSpPr>
        <p:grpSpPr>
          <a:xfrm>
            <a:off x="444246" y="1946275"/>
            <a:ext cx="9009126" cy="1276858"/>
            <a:chOff x="444246" y="1946275"/>
            <a:chExt cx="9009126" cy="1276858"/>
          </a:xfrm>
        </p:grpSpPr>
        <p:sp>
          <p:nvSpPr>
            <p:cNvPr id="5" name="TextBox 5"/>
            <p:cNvSpPr txBox="1"/>
            <p:nvPr/>
          </p:nvSpPr>
          <p:spPr>
            <a:xfrm>
              <a:off x="444246" y="194627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目的</a:t>
              </a:r>
            </a:p>
          </p:txBody>
        </p:sp>
        <p:sp>
          <p:nvSpPr>
            <p:cNvPr id="6" name="TextBox 6"/>
            <p:cNvSpPr txBox="1"/>
            <p:nvPr/>
          </p:nvSpPr>
          <p:spPr>
            <a:xfrm>
              <a:off x="3133344" y="1958975"/>
              <a:ext cx="632002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保护他人合法权利与自由，维护国家、社会、集体利益</a:t>
              </a:r>
            </a:p>
          </p:txBody>
        </p:sp>
        <p:sp>
          <p:nvSpPr>
            <p:cNvPr id="7" name="TextBox 7"/>
            <p:cNvSpPr txBox="1"/>
            <p:nvPr/>
          </p:nvSpPr>
          <p:spPr>
            <a:xfrm>
              <a:off x="3133344" y="2416175"/>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教材还讨论公共秩序、紧急状态等目的</a:t>
              </a:r>
            </a:p>
          </p:txBody>
        </p:sp>
        <p:sp>
          <p:nvSpPr>
            <p:cNvPr id="8" name="TextBox 8"/>
            <p:cNvSpPr txBox="1"/>
            <p:nvPr/>
          </p:nvSpPr>
          <p:spPr>
            <a:xfrm>
              <a:off x="3136392" y="2959100"/>
              <a:ext cx="4011930"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先有权，再核目的；目的正确也不自动补足授权。</a:t>
              </a:r>
            </a:p>
          </p:txBody>
        </p:sp>
      </p:grpSp>
      <p:grpSp>
        <p:nvGrpSpPr>
          <p:cNvPr id="17" name="p37-reveal-1"/>
          <p:cNvGrpSpPr/>
          <p:nvPr/>
        </p:nvGrpSpPr>
        <p:grpSpPr>
          <a:xfrm>
            <a:off x="444246" y="3695700"/>
            <a:ext cx="11290554" cy="2546858"/>
            <a:chOff x="444246" y="3695700"/>
            <a:chExt cx="11290554" cy="2546858"/>
          </a:xfrm>
        </p:grpSpPr>
        <p:sp>
          <p:nvSpPr>
            <p:cNvPr id="10" name="Line 10"/>
            <p:cNvSpPr/>
            <p:nvPr/>
          </p:nvSpPr>
          <p:spPr>
            <a:xfrm>
              <a:off x="457200" y="3695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1" name="TextBox 11"/>
            <p:cNvSpPr txBox="1"/>
            <p:nvPr/>
          </p:nvSpPr>
          <p:spPr>
            <a:xfrm>
              <a:off x="444246" y="387032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方式</a:t>
              </a:r>
            </a:p>
          </p:txBody>
        </p:sp>
        <p:sp>
          <p:nvSpPr>
            <p:cNvPr id="12" name="TextBox 12"/>
            <p:cNvSpPr txBox="1"/>
            <p:nvPr/>
          </p:nvSpPr>
          <p:spPr>
            <a:xfrm>
              <a:off x="3131058" y="3908425"/>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宪法限制／宪法保留</a:t>
              </a:r>
            </a:p>
          </p:txBody>
        </p:sp>
        <p:sp>
          <p:nvSpPr>
            <p:cNvPr id="13" name="TextBox 13"/>
            <p:cNvSpPr txBox="1"/>
            <p:nvPr/>
          </p:nvSpPr>
          <p:spPr>
            <a:xfrm>
              <a:off x="3133344" y="4368800"/>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宪法直接写明某项权利的界限和范围</a:t>
              </a:r>
            </a:p>
          </p:txBody>
        </p:sp>
        <p:sp>
          <p:nvSpPr>
            <p:cNvPr id="14" name="TextBox 14"/>
            <p:cNvSpPr txBox="1"/>
            <p:nvPr/>
          </p:nvSpPr>
          <p:spPr>
            <a:xfrm>
              <a:off x="3131058" y="5013325"/>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法律限制／法律保留</a:t>
              </a:r>
            </a:p>
          </p:txBody>
        </p:sp>
        <p:sp>
          <p:nvSpPr>
            <p:cNvPr id="15" name="TextBox 15"/>
            <p:cNvSpPr txBox="1"/>
            <p:nvPr/>
          </p:nvSpPr>
          <p:spPr>
            <a:xfrm>
              <a:off x="3133344" y="547370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由立法机关按程序，以法律作具体安排</a:t>
              </a:r>
            </a:p>
          </p:txBody>
        </p:sp>
        <p:sp>
          <p:nvSpPr>
            <p:cNvPr id="16" name="TextBox 16"/>
            <p:cNvSpPr txBox="1"/>
            <p:nvPr/>
          </p:nvSpPr>
          <p:spPr>
            <a:xfrm>
              <a:off x="3136392" y="5978525"/>
              <a:ext cx="510235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不是行政机关可以临时决定；两种方式本身仍受宪法界限约束。</a:t>
              </a:r>
            </a:p>
          </p:txBody>
        </p:sp>
      </p:grpSp>
      <p:grpSp>
        <p:nvGrpSpPr>
          <p:cNvPr id="20" name="p37-footer"/>
          <p:cNvGrpSpPr/>
          <p:nvPr/>
        </p:nvGrpSpPr>
        <p:grpSpPr>
          <a:xfrm>
            <a:off x="451866" y="6502400"/>
            <a:ext cx="11247444" cy="205359"/>
            <a:chOff x="451866" y="6502400"/>
            <a:chExt cx="11247444" cy="205359"/>
          </a:xfrm>
        </p:grpSpPr>
        <p:sp>
          <p:nvSpPr>
            <p:cNvPr id="18" name="TextBox 18"/>
            <p:cNvSpPr txBox="1"/>
            <p:nvPr/>
          </p:nvSpPr>
          <p:spPr>
            <a:xfrm>
              <a:off x="451866" y="6502400"/>
              <a:ext cx="538200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依据：教材限制目的与方式。此处是分类说明，不是紧急状态或具体措施的独立授权。</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37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8-title"/>
          <p:cNvGrpSpPr/>
          <p:nvPr/>
        </p:nvGrpSpPr>
        <p:grpSpPr>
          <a:xfrm>
            <a:off x="440436" y="381000"/>
            <a:ext cx="6605016" cy="918464"/>
            <a:chOff x="440436" y="381000"/>
            <a:chExt cx="6605016" cy="918464"/>
          </a:xfrm>
        </p:grpSpPr>
        <p:sp>
          <p:nvSpPr>
            <p:cNvPr id="2" name="TextBox 2"/>
            <p:cNvSpPr txBox="1"/>
            <p:nvPr/>
          </p:nvSpPr>
          <p:spPr>
            <a:xfrm>
              <a:off x="451104" y="381000"/>
              <a:ext cx="232227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对限制的限制</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能规定限制，不表示能无限规定</a:t>
              </a:r>
            </a:p>
          </p:txBody>
        </p:sp>
      </p:grpSp>
      <p:grpSp>
        <p:nvGrpSpPr>
          <p:cNvPr id="10" name="p38-boundary"/>
          <p:cNvGrpSpPr/>
          <p:nvPr/>
        </p:nvGrpSpPr>
        <p:grpSpPr>
          <a:xfrm>
            <a:off x="476250" y="1809750"/>
            <a:ext cx="11239500" cy="2609850"/>
            <a:chOff x="476250" y="1809750"/>
            <a:chExt cx="11239500" cy="2609850"/>
          </a:xfrm>
        </p:grpSpPr>
        <p:sp>
          <p:nvSpPr>
            <p:cNvPr id="5" name="Rectangle 5"/>
            <p:cNvSpPr/>
            <p:nvPr/>
          </p:nvSpPr>
          <p:spPr>
            <a:xfrm>
              <a:off x="476250" y="1809750"/>
              <a:ext cx="11239500" cy="2609850"/>
            </a:xfrm>
            <a:prstGeom prst="rect">
              <a:avLst/>
            </a:prstGeom>
            <a:noFill/>
            <a:ln w="19050">
              <a:solidFill>
                <a:schemeClr val="accent2"/>
              </a:solidFill>
            </a:ln>
          </p:spPr>
        </p:sp>
        <p:sp>
          <p:nvSpPr>
            <p:cNvPr id="6" name="TextBox 6"/>
            <p:cNvSpPr txBox="1"/>
            <p:nvPr/>
          </p:nvSpPr>
          <p:spPr>
            <a:xfrm>
              <a:off x="729996" y="1974850"/>
              <a:ext cx="401574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宪法保障基本权利的界限</a:t>
              </a:r>
            </a:p>
          </p:txBody>
        </p:sp>
        <p:sp>
          <p:nvSpPr>
            <p:cNvPr id="7" name="Rectangle 7"/>
            <p:cNvSpPr/>
            <p:nvPr/>
          </p:nvSpPr>
          <p:spPr>
            <a:xfrm>
              <a:off x="742950" y="2647950"/>
              <a:ext cx="10706100" cy="1447800"/>
            </a:xfrm>
            <a:prstGeom prst="rect">
              <a:avLst/>
            </a:prstGeom>
            <a:solidFill>
              <a:schemeClr val="lt2"/>
            </a:solidFill>
            <a:ln>
              <a:noFill/>
            </a:ln>
          </p:spPr>
        </p:sp>
        <p:sp>
          <p:nvSpPr>
            <p:cNvPr id="8" name="TextBox 8"/>
            <p:cNvSpPr txBox="1"/>
            <p:nvPr/>
          </p:nvSpPr>
          <p:spPr>
            <a:xfrm>
              <a:off x="997458" y="2860675"/>
              <a:ext cx="357835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法律规定、限制具体行使</a:t>
              </a:r>
            </a:p>
          </p:txBody>
        </p:sp>
        <p:sp>
          <p:nvSpPr>
            <p:cNvPr id="9" name="TextBox 9"/>
            <p:cNvSpPr txBox="1"/>
            <p:nvPr/>
          </p:nvSpPr>
          <p:spPr>
            <a:xfrm>
              <a:off x="999744" y="3406775"/>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立法本身也不能越过宪法允许的限度</a:t>
              </a:r>
            </a:p>
          </p:txBody>
        </p:sp>
      </p:grpSp>
      <p:grpSp>
        <p:nvGrpSpPr>
          <p:cNvPr id="14" name="p38-reveal-1"/>
          <p:cNvGrpSpPr/>
          <p:nvPr/>
        </p:nvGrpSpPr>
        <p:grpSpPr>
          <a:xfrm>
            <a:off x="445008" y="5099050"/>
            <a:ext cx="7132320" cy="1210183"/>
            <a:chOff x="445008" y="5099050"/>
            <a:chExt cx="7132320" cy="1210183"/>
          </a:xfrm>
        </p:grpSpPr>
        <p:sp>
          <p:nvSpPr>
            <p:cNvPr id="11" name="TextBox 11"/>
            <p:cNvSpPr txBox="1"/>
            <p:nvPr/>
          </p:nvSpPr>
          <p:spPr>
            <a:xfrm>
              <a:off x="445008" y="5099050"/>
              <a:ext cx="713232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目的与手段放在一起比较，范围和强度也要检验。</a:t>
              </a:r>
            </a:p>
          </p:txBody>
        </p:sp>
        <p:sp>
          <p:nvSpPr>
            <p:cNvPr id="12" name="TextBox 12"/>
            <p:cNvSpPr txBox="1"/>
            <p:nvPr/>
          </p:nvSpPr>
          <p:spPr>
            <a:xfrm>
              <a:off x="447294" y="5635625"/>
              <a:ext cx="421995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限制超出宪法界限，可能构成违宪。</a:t>
              </a:r>
            </a:p>
          </p:txBody>
        </p:sp>
        <p:sp>
          <p:nvSpPr>
            <p:cNvPr id="13" name="TextBox 13"/>
            <p:cNvSpPr txBox="1"/>
            <p:nvPr/>
          </p:nvSpPr>
          <p:spPr>
            <a:xfrm>
              <a:off x="450342" y="6045200"/>
              <a:ext cx="36666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这是分析线索，并非第51条逐字规定的公式。</a:t>
              </a:r>
            </a:p>
          </p:txBody>
        </p:sp>
      </p:grpSp>
      <p:grpSp>
        <p:nvGrpSpPr>
          <p:cNvPr id="17" name="p38-footer"/>
          <p:cNvGrpSpPr/>
          <p:nvPr/>
        </p:nvGrpSpPr>
        <p:grpSpPr>
          <a:xfrm>
            <a:off x="451866" y="6502400"/>
            <a:ext cx="11247444" cy="205359"/>
            <a:chOff x="451866" y="6502400"/>
            <a:chExt cx="11247444" cy="205359"/>
          </a:xfrm>
        </p:grpSpPr>
        <p:sp>
          <p:nvSpPr>
            <p:cNvPr id="15" name="TextBox 15"/>
            <p:cNvSpPr txBox="1"/>
            <p:nvPr/>
          </p:nvSpPr>
          <p:spPr>
            <a:xfrm>
              <a:off x="451866" y="6502400"/>
              <a:ext cx="567884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依据：教材“对限制的限制”。容器表示规范上的约束，不是量化某项权利可被削减的比例。</a:t>
              </a:r>
            </a:p>
          </p:txBody>
        </p:sp>
        <p:sp>
          <p:nvSpPr>
            <p:cNvPr id="16" name="TextBox 16"/>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38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9-title"/>
          <p:cNvGrpSpPr/>
          <p:nvPr/>
        </p:nvGrpSpPr>
        <p:grpSpPr>
          <a:xfrm>
            <a:off x="440436" y="381000"/>
            <a:ext cx="8013192" cy="918464"/>
            <a:chOff x="440436" y="381000"/>
            <a:chExt cx="8013192" cy="918464"/>
          </a:xfrm>
        </p:grpSpPr>
        <p:sp>
          <p:nvSpPr>
            <p:cNvPr id="2" name="TextBox 2"/>
            <p:cNvSpPr txBox="1"/>
            <p:nvPr/>
          </p:nvSpPr>
          <p:spPr>
            <a:xfrm>
              <a:off x="451104" y="38100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审查也须辨认制度接口</a:t>
              </a:r>
            </a:p>
          </p:txBody>
        </p:sp>
        <p:sp>
          <p:nvSpPr>
            <p:cNvPr id="3" name="TextBox 3"/>
            <p:cNvSpPr txBox="1"/>
            <p:nvPr/>
          </p:nvSpPr>
          <p:spPr>
            <a:xfrm>
              <a:off x="440436" y="654050"/>
              <a:ext cx="801319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提出意见，不等于已经进入同一种程序</a:t>
              </a:r>
            </a:p>
          </p:txBody>
        </p:sp>
      </p:grpSp>
      <p:grpSp>
        <p:nvGrpSpPr>
          <p:cNvPr id="13" name="p39-questions"/>
          <p:cNvGrpSpPr/>
          <p:nvPr/>
        </p:nvGrpSpPr>
        <p:grpSpPr>
          <a:xfrm>
            <a:off x="445008" y="2022475"/>
            <a:ext cx="10554462" cy="1216025"/>
            <a:chOff x="445008" y="2022475"/>
            <a:chExt cx="10554462" cy="1216025"/>
          </a:xfrm>
        </p:grpSpPr>
        <p:sp>
          <p:nvSpPr>
            <p:cNvPr id="5" name="TextBox 5"/>
            <p:cNvSpPr txBox="1"/>
            <p:nvPr/>
          </p:nvSpPr>
          <p:spPr>
            <a:xfrm>
              <a:off x="445008" y="2022475"/>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提出意见</a:t>
              </a:r>
            </a:p>
          </p:txBody>
        </p:sp>
        <p:sp>
          <p:nvSpPr>
            <p:cNvPr id="6" name="TextBox 6"/>
            <p:cNvSpPr txBox="1"/>
            <p:nvPr/>
          </p:nvSpPr>
          <p:spPr>
            <a:xfrm>
              <a:off x="4502658" y="2022475"/>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法定审查程序</a:t>
              </a:r>
            </a:p>
          </p:txBody>
        </p:sp>
        <p:sp>
          <p:nvSpPr>
            <p:cNvPr id="7" name="TextBox 7"/>
            <p:cNvSpPr txBox="1"/>
            <p:nvPr/>
          </p:nvSpPr>
          <p:spPr>
            <a:xfrm>
              <a:off x="9036558" y="2022475"/>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有权机关处理</a:t>
              </a:r>
            </a:p>
          </p:txBody>
        </p:sp>
        <p:sp>
          <p:nvSpPr>
            <p:cNvPr id="8" name="TextBox 8"/>
            <p:cNvSpPr txBox="1"/>
            <p:nvPr/>
          </p:nvSpPr>
          <p:spPr>
            <a:xfrm>
              <a:off x="447294" y="26733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表达对限制的异议</a:t>
              </a:r>
            </a:p>
          </p:txBody>
        </p:sp>
        <p:sp>
          <p:nvSpPr>
            <p:cNvPr id="9" name="TextBox 9"/>
            <p:cNvSpPr txBox="1"/>
            <p:nvPr/>
          </p:nvSpPr>
          <p:spPr>
            <a:xfrm>
              <a:off x="4504944" y="26733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有相应条件与渠道</a:t>
              </a:r>
            </a:p>
          </p:txBody>
        </p:sp>
        <p:sp>
          <p:nvSpPr>
            <p:cNvPr id="10" name="TextBox 10"/>
            <p:cNvSpPr txBox="1"/>
            <p:nvPr/>
          </p:nvSpPr>
          <p:spPr>
            <a:xfrm>
              <a:off x="9038844" y="267335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有相应处理权限</a:t>
              </a:r>
            </a:p>
          </p:txBody>
        </p:sp>
        <p:sp>
          <p:nvSpPr>
            <p:cNvPr id="11" name="Line 11"/>
            <p:cNvSpPr/>
            <p:nvPr/>
          </p:nvSpPr>
          <p:spPr>
            <a:xfrm>
              <a:off x="3810000" y="2076450"/>
              <a:ext cx="9525" cy="1162050"/>
            </a:xfrm>
            <a:custGeom>
              <a:avLst/>
              <a:gdLst/>
              <a:ahLst/>
              <a:cxnLst/>
              <a:rect l="l" t="t" r="r" b="b"/>
              <a:pathLst>
                <a:path w="9525" h="1162050">
                  <a:moveTo>
                    <a:pt x="0" y="0"/>
                  </a:moveTo>
                  <a:lnTo>
                    <a:pt x="0" y="1162050"/>
                  </a:lnTo>
                </a:path>
              </a:pathLst>
            </a:custGeom>
            <a:noFill/>
            <a:ln w="9525">
              <a:solidFill>
                <a:schemeClr val="accent6"/>
              </a:solidFill>
            </a:ln>
          </p:spPr>
        </p:sp>
        <p:sp>
          <p:nvSpPr>
            <p:cNvPr id="12" name="Line 12"/>
            <p:cNvSpPr/>
            <p:nvPr/>
          </p:nvSpPr>
          <p:spPr>
            <a:xfrm>
              <a:off x="8343900" y="2076450"/>
              <a:ext cx="9525" cy="1162050"/>
            </a:xfrm>
            <a:custGeom>
              <a:avLst/>
              <a:gdLst/>
              <a:ahLst/>
              <a:cxnLst/>
              <a:rect l="l" t="t" r="r" b="b"/>
              <a:pathLst>
                <a:path w="9525" h="1162050">
                  <a:moveTo>
                    <a:pt x="0" y="0"/>
                  </a:moveTo>
                  <a:lnTo>
                    <a:pt x="0" y="1162050"/>
                  </a:lnTo>
                </a:path>
              </a:pathLst>
            </a:custGeom>
            <a:noFill/>
            <a:ln w="9525">
              <a:solidFill>
                <a:schemeClr val="accent6"/>
              </a:solidFill>
            </a:ln>
          </p:spPr>
        </p:sp>
      </p:grpSp>
      <p:grpSp>
        <p:nvGrpSpPr>
          <p:cNvPr id="18" name="p39-reveal-1"/>
          <p:cNvGrpSpPr/>
          <p:nvPr/>
        </p:nvGrpSpPr>
        <p:grpSpPr>
          <a:xfrm>
            <a:off x="445008" y="4156075"/>
            <a:ext cx="7372350" cy="2029333"/>
            <a:chOff x="445008" y="4156075"/>
            <a:chExt cx="7372350" cy="2029333"/>
          </a:xfrm>
        </p:grpSpPr>
        <p:sp>
          <p:nvSpPr>
            <p:cNvPr id="14" name="TextBox 14"/>
            <p:cNvSpPr txBox="1"/>
            <p:nvPr/>
          </p:nvSpPr>
          <p:spPr>
            <a:xfrm>
              <a:off x="445008" y="4156075"/>
              <a:ext cx="487070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先辨规范种类，再找渠道与权限。</a:t>
              </a:r>
            </a:p>
          </p:txBody>
        </p:sp>
        <p:sp>
          <p:nvSpPr>
            <p:cNvPr id="15" name="TextBox 15"/>
            <p:cNvSpPr txBox="1"/>
            <p:nvPr/>
          </p:nvSpPr>
          <p:spPr>
            <a:xfrm>
              <a:off x="447294" y="4721225"/>
              <a:ext cx="737006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不能把原理读成：我国所有规范都有同一种个人申请审查程序。</a:t>
              </a:r>
            </a:p>
          </p:txBody>
        </p:sp>
        <p:sp>
          <p:nvSpPr>
            <p:cNvPr id="16" name="TextBox 16"/>
            <p:cNvSpPr txBox="1"/>
            <p:nvPr/>
          </p:nvSpPr>
          <p:spPr>
            <a:xfrm>
              <a:off x="447294" y="5254625"/>
              <a:ext cx="6582537"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第八讲以地方性法规，具体说明公民审查建议怎样工作。</a:t>
              </a:r>
            </a:p>
          </p:txBody>
        </p:sp>
        <p:sp>
          <p:nvSpPr>
            <p:cNvPr id="17" name="TextBox 17"/>
            <p:cNvSpPr txBox="1"/>
            <p:nvPr/>
          </p:nvSpPr>
          <p:spPr>
            <a:xfrm>
              <a:off x="450342" y="5921375"/>
              <a:ext cx="637451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主体、依据、目的、手段、限度、审查是一组分析线索；结论须跟着实际材料。</a:t>
              </a:r>
            </a:p>
          </p:txBody>
        </p:sp>
      </p:grpSp>
      <p:grpSp>
        <p:nvGrpSpPr>
          <p:cNvPr id="21" name="p39-footer"/>
          <p:cNvGrpSpPr/>
          <p:nvPr/>
        </p:nvGrpSpPr>
        <p:grpSpPr>
          <a:xfrm>
            <a:off x="451866" y="6502400"/>
            <a:ext cx="11247444" cy="205359"/>
            <a:chOff x="451866" y="6502400"/>
            <a:chExt cx="11247444" cy="205359"/>
          </a:xfrm>
        </p:grpSpPr>
        <p:sp>
          <p:nvSpPr>
            <p:cNvPr id="19" name="TextBox 19"/>
            <p:cNvSpPr txBox="1"/>
            <p:nvPr/>
          </p:nvSpPr>
          <p:spPr>
            <a:xfrm>
              <a:off x="451866" y="6502400"/>
              <a:ext cx="453390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三列区分表达异议、法定程序与处理权限；提出意见不意味着必然受理。</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39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0-title"/>
          <p:cNvGrpSpPr/>
          <p:nvPr/>
        </p:nvGrpSpPr>
        <p:grpSpPr>
          <a:xfrm>
            <a:off x="440436" y="381000"/>
            <a:ext cx="6135624" cy="918464"/>
            <a:chOff x="440436" y="381000"/>
            <a:chExt cx="6135624" cy="918464"/>
          </a:xfrm>
        </p:grpSpPr>
        <p:sp>
          <p:nvSpPr>
            <p:cNvPr id="2" name="TextBox 2"/>
            <p:cNvSpPr txBox="1"/>
            <p:nvPr/>
          </p:nvSpPr>
          <p:spPr>
            <a:xfrm>
              <a:off x="451104" y="381000"/>
              <a:ext cx="275036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独立思考约1—2分钟</a:t>
              </a:r>
            </a:p>
          </p:txBody>
        </p:sp>
        <p:sp>
          <p:nvSpPr>
            <p:cNvPr id="3" name="TextBox 3"/>
            <p:cNvSpPr txBox="1"/>
            <p:nvPr/>
          </p:nvSpPr>
          <p:spPr>
            <a:xfrm>
              <a:off x="440436" y="65405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先把感觉，换成可核对的问题</a:t>
              </a:r>
            </a:p>
          </p:txBody>
        </p:sp>
      </p:grpSp>
      <p:grpSp>
        <p:nvGrpSpPr>
          <p:cNvPr id="7" name="p40-prompt"/>
          <p:cNvGrpSpPr/>
          <p:nvPr/>
        </p:nvGrpSpPr>
        <p:grpSpPr>
          <a:xfrm>
            <a:off x="445008" y="1946275"/>
            <a:ext cx="5839968" cy="937006"/>
            <a:chOff x="445008" y="1946275"/>
            <a:chExt cx="5839968" cy="937006"/>
          </a:xfrm>
        </p:grpSpPr>
        <p:sp>
          <p:nvSpPr>
            <p:cNvPr id="5" name="TextBox 5"/>
            <p:cNvSpPr txBox="1"/>
            <p:nvPr/>
          </p:nvSpPr>
          <p:spPr>
            <a:xfrm>
              <a:off x="445008" y="1946275"/>
              <a:ext cx="583996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某机关拟对占道摊位采取暂时性控制措施</a:t>
              </a:r>
            </a:p>
          </p:txBody>
        </p:sp>
        <p:sp>
          <p:nvSpPr>
            <p:cNvPr id="6" name="TextBox 6"/>
            <p:cNvSpPr txBox="1"/>
            <p:nvPr/>
          </p:nvSpPr>
          <p:spPr>
            <a:xfrm>
              <a:off x="447294" y="2501900"/>
              <a:ext cx="503373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理由：“影响通行”。先不判断合法或违法。</a:t>
              </a:r>
            </a:p>
          </p:txBody>
        </p:sp>
      </p:grpSp>
      <p:grpSp>
        <p:nvGrpSpPr>
          <p:cNvPr id="14" name="p40-three"/>
          <p:cNvGrpSpPr/>
          <p:nvPr/>
        </p:nvGrpSpPr>
        <p:grpSpPr>
          <a:xfrm>
            <a:off x="444246" y="3670300"/>
            <a:ext cx="10870692" cy="924433"/>
            <a:chOff x="444246" y="3670300"/>
            <a:chExt cx="10870692" cy="924433"/>
          </a:xfrm>
        </p:grpSpPr>
        <p:sp>
          <p:nvSpPr>
            <p:cNvPr id="8" name="TextBox 8"/>
            <p:cNvSpPr txBox="1"/>
            <p:nvPr/>
          </p:nvSpPr>
          <p:spPr>
            <a:xfrm>
              <a:off x="444246" y="3670300"/>
              <a:ext cx="183946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谁来决定？</a:t>
              </a:r>
            </a:p>
          </p:txBody>
        </p:sp>
        <p:sp>
          <p:nvSpPr>
            <p:cNvPr id="9" name="TextBox 9"/>
            <p:cNvSpPr txBox="1"/>
            <p:nvPr/>
          </p:nvSpPr>
          <p:spPr>
            <a:xfrm>
              <a:off x="4311396" y="367030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哪一层规范？</a:t>
              </a:r>
            </a:p>
          </p:txBody>
        </p:sp>
        <p:sp>
          <p:nvSpPr>
            <p:cNvPr id="10" name="TextBox 10"/>
            <p:cNvSpPr txBox="1"/>
            <p:nvPr/>
          </p:nvSpPr>
          <p:spPr>
            <a:xfrm>
              <a:off x="8750046" y="367030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解决什么问题？</a:t>
              </a:r>
            </a:p>
          </p:txBody>
        </p:sp>
        <p:sp>
          <p:nvSpPr>
            <p:cNvPr id="11" name="TextBox 11"/>
            <p:cNvSpPr txBox="1"/>
            <p:nvPr/>
          </p:nvSpPr>
          <p:spPr>
            <a:xfrm>
              <a:off x="450342" y="4330700"/>
              <a:ext cx="74066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写清主体</a:t>
              </a:r>
            </a:p>
          </p:txBody>
        </p:sp>
        <p:sp>
          <p:nvSpPr>
            <p:cNvPr id="12" name="TextBox 12"/>
            <p:cNvSpPr txBox="1"/>
            <p:nvPr/>
          </p:nvSpPr>
          <p:spPr>
            <a:xfrm>
              <a:off x="4317492" y="4330700"/>
              <a:ext cx="110413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辨认应有依据</a:t>
              </a:r>
            </a:p>
          </p:txBody>
        </p:sp>
        <p:sp>
          <p:nvSpPr>
            <p:cNvPr id="13" name="TextBox 13"/>
            <p:cNvSpPr txBox="1"/>
            <p:nvPr/>
          </p:nvSpPr>
          <p:spPr>
            <a:xfrm>
              <a:off x="8756142" y="4330700"/>
              <a:ext cx="110413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把目的说具体</a:t>
              </a:r>
            </a:p>
          </p:txBody>
        </p:sp>
      </p:grpSp>
      <p:grpSp>
        <p:nvGrpSpPr>
          <p:cNvPr id="18" name="p40-reveal-1"/>
          <p:cNvGrpSpPr/>
          <p:nvPr/>
        </p:nvGrpSpPr>
        <p:grpSpPr>
          <a:xfrm>
            <a:off x="445008" y="5162550"/>
            <a:ext cx="11289792" cy="1054481"/>
            <a:chOff x="445008" y="5162550"/>
            <a:chExt cx="11289792" cy="1054481"/>
          </a:xfrm>
        </p:grpSpPr>
        <p:sp>
          <p:nvSpPr>
            <p:cNvPr id="15" name="Line 15"/>
            <p:cNvSpPr/>
            <p:nvPr/>
          </p:nvSpPr>
          <p:spPr>
            <a:xfrm>
              <a:off x="457200" y="51625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6" name="TextBox 16"/>
            <p:cNvSpPr txBox="1"/>
            <p:nvPr/>
          </p:nvSpPr>
          <p:spPr>
            <a:xfrm>
              <a:off x="445008" y="5308600"/>
              <a:ext cx="6486144"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答完前三问，还须继续核手段、限度与审查。</a:t>
              </a:r>
            </a:p>
          </p:txBody>
        </p:sp>
        <p:sp>
          <p:nvSpPr>
            <p:cNvPr id="17" name="TextBox 17"/>
            <p:cNvSpPr txBox="1"/>
            <p:nvPr/>
          </p:nvSpPr>
          <p:spPr>
            <a:xfrm>
              <a:off x="447294" y="5835650"/>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问题清单是判断的一部分；它本身不是合法或违法的答案。</a:t>
              </a:r>
            </a:p>
          </p:txBody>
        </p:sp>
      </p:gr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40 / 47</a:t>
            </a:r>
          </a:p>
        </p:txBody>
      </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1-title"/>
          <p:cNvGrpSpPr/>
          <p:nvPr/>
        </p:nvGrpSpPr>
        <p:grpSpPr>
          <a:xfrm>
            <a:off x="440436" y="381000"/>
            <a:ext cx="8998915" cy="943864"/>
            <a:chOff x="440436" y="381000"/>
            <a:chExt cx="8998915" cy="943864"/>
          </a:xfrm>
        </p:grpSpPr>
        <p:sp>
          <p:nvSpPr>
            <p:cNvPr id="2" name="TextBox 2"/>
            <p:cNvSpPr txBox="1"/>
            <p:nvPr/>
          </p:nvSpPr>
          <p:spPr>
            <a:xfrm>
              <a:off x="451104" y="381000"/>
              <a:ext cx="361462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法律是真的，情境是明确设定的</a:t>
              </a:r>
            </a:p>
          </p:txBody>
        </p:sp>
        <p:sp>
          <p:nvSpPr>
            <p:cNvPr id="3" name="TextBox 3"/>
            <p:cNvSpPr txBox="1"/>
            <p:nvPr/>
          </p:nvSpPr>
          <p:spPr>
            <a:xfrm>
              <a:off x="440436" y="679450"/>
              <a:ext cx="8998915"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同样“动了设备”，法律上是同一种行为吗？</a:t>
              </a:r>
            </a:p>
          </p:txBody>
        </p:sp>
      </p:grpSp>
      <p:grpSp>
        <p:nvGrpSpPr>
          <p:cNvPr id="11" name="p41-measure"/>
          <p:cNvGrpSpPr/>
          <p:nvPr/>
        </p:nvGrpSpPr>
        <p:grpSpPr>
          <a:xfrm>
            <a:off x="444246" y="1955800"/>
            <a:ext cx="4223004" cy="2330450"/>
            <a:chOff x="444246" y="1955800"/>
            <a:chExt cx="4223004" cy="2330450"/>
          </a:xfrm>
        </p:grpSpPr>
        <p:sp>
          <p:nvSpPr>
            <p:cNvPr id="5" name="TextBox 5"/>
            <p:cNvSpPr txBox="1"/>
            <p:nvPr/>
          </p:nvSpPr>
          <p:spPr>
            <a:xfrm>
              <a:off x="444246" y="195580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行政强制措施</a:t>
              </a:r>
            </a:p>
          </p:txBody>
        </p:sp>
        <p:sp>
          <p:nvSpPr>
            <p:cNvPr id="6" name="TextBox 6"/>
            <p:cNvSpPr txBox="1"/>
            <p:nvPr/>
          </p:nvSpPr>
          <p:spPr>
            <a:xfrm>
              <a:off x="447294" y="2673350"/>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行政管理中，依法暂时限制人身自由</a:t>
              </a:r>
            </a:p>
          </p:txBody>
        </p:sp>
        <p:sp>
          <p:nvSpPr>
            <p:cNvPr id="7" name="TextBox 7"/>
            <p:cNvSpPr txBox="1"/>
            <p:nvPr/>
          </p:nvSpPr>
          <p:spPr>
            <a:xfrm>
              <a:off x="447294" y="3035300"/>
              <a:ext cx="13323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或控制财物</a:t>
              </a:r>
            </a:p>
          </p:txBody>
        </p:sp>
        <p:sp>
          <p:nvSpPr>
            <p:cNvPr id="8" name="Rectangle 8"/>
            <p:cNvSpPr/>
            <p:nvPr/>
          </p:nvSpPr>
          <p:spPr>
            <a:xfrm>
              <a:off x="476250" y="3619500"/>
              <a:ext cx="1771650" cy="666750"/>
            </a:xfrm>
            <a:prstGeom prst="rect">
              <a:avLst/>
            </a:prstGeom>
            <a:solidFill>
              <a:schemeClr val="lt2"/>
            </a:solidFill>
            <a:ln w="9525">
              <a:solidFill>
                <a:schemeClr val="accent3"/>
              </a:solidFill>
            </a:ln>
          </p:spPr>
        </p:sp>
        <p:sp>
          <p:nvSpPr>
            <p:cNvPr id="9" name="TextBox 9"/>
            <p:cNvSpPr txBox="1"/>
            <p:nvPr/>
          </p:nvSpPr>
          <p:spPr>
            <a:xfrm>
              <a:off x="730758" y="37655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扣押设备</a:t>
              </a:r>
            </a:p>
          </p:txBody>
        </p:sp>
        <p:sp>
          <p:nvSpPr>
            <p:cNvPr id="10" name="TextBox 10"/>
            <p:cNvSpPr txBox="1"/>
            <p:nvPr/>
          </p:nvSpPr>
          <p:spPr>
            <a:xfrm>
              <a:off x="2602992" y="3883025"/>
              <a:ext cx="1649349"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本例始终考察这一项</a:t>
              </a:r>
            </a:p>
          </p:txBody>
        </p:sp>
      </p:grpSp>
      <p:grpSp>
        <p:nvGrpSpPr>
          <p:cNvPr id="16" name="p41-execution"/>
          <p:cNvGrpSpPr/>
          <p:nvPr/>
        </p:nvGrpSpPr>
        <p:grpSpPr>
          <a:xfrm>
            <a:off x="6502146" y="1955800"/>
            <a:ext cx="3902202" cy="2221992"/>
            <a:chOff x="6502146" y="1955800"/>
            <a:chExt cx="3902202" cy="2221992"/>
          </a:xfrm>
        </p:grpSpPr>
        <p:sp>
          <p:nvSpPr>
            <p:cNvPr id="12" name="TextBox 12"/>
            <p:cNvSpPr txBox="1"/>
            <p:nvPr/>
          </p:nvSpPr>
          <p:spPr>
            <a:xfrm>
              <a:off x="6502146" y="195580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行政强制执行</a:t>
              </a:r>
            </a:p>
          </p:txBody>
        </p:sp>
        <p:sp>
          <p:nvSpPr>
            <p:cNvPr id="13" name="TextBox 13"/>
            <p:cNvSpPr txBox="1"/>
            <p:nvPr/>
          </p:nvSpPr>
          <p:spPr>
            <a:xfrm>
              <a:off x="6505194" y="26733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对不履行行政决定者</a:t>
              </a:r>
            </a:p>
          </p:txBody>
        </p:sp>
        <p:sp>
          <p:nvSpPr>
            <p:cNvPr id="14" name="TextBox 14"/>
            <p:cNvSpPr txBox="1"/>
            <p:nvPr/>
          </p:nvSpPr>
          <p:spPr>
            <a:xfrm>
              <a:off x="6505194" y="303530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依法强制履行义务</a:t>
              </a:r>
            </a:p>
          </p:txBody>
        </p:sp>
        <p:sp>
          <p:nvSpPr>
            <p:cNvPr id="15" name="TextBox 15"/>
            <p:cNvSpPr txBox="1"/>
            <p:nvPr/>
          </p:nvSpPr>
          <p:spPr>
            <a:xfrm>
              <a:off x="6502908" y="3708400"/>
              <a:ext cx="39014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例如另行讨论清障的代履行</a:t>
              </a:r>
            </a:p>
          </p:txBody>
        </p:sp>
      </p:grpSp>
      <p:grpSp>
        <p:nvGrpSpPr>
          <p:cNvPr id="21" name="p41-reveal-1"/>
          <p:cNvGrpSpPr/>
          <p:nvPr/>
        </p:nvGrpSpPr>
        <p:grpSpPr>
          <a:xfrm>
            <a:off x="445008" y="4953000"/>
            <a:ext cx="11289792" cy="1375283"/>
            <a:chOff x="445008" y="4953000"/>
            <a:chExt cx="11289792" cy="1375283"/>
          </a:xfrm>
        </p:grpSpPr>
        <p:sp>
          <p:nvSpPr>
            <p:cNvPr id="17" name="Line 17"/>
            <p:cNvSpPr/>
            <p:nvPr/>
          </p:nvSpPr>
          <p:spPr>
            <a:xfrm>
              <a:off x="457200" y="49530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8" name="TextBox 18"/>
            <p:cNvSpPr txBox="1"/>
            <p:nvPr/>
          </p:nvSpPr>
          <p:spPr>
            <a:xfrm>
              <a:off x="445008" y="5118100"/>
              <a:ext cx="7132320"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把设备移开，与把设备扣住，不能混为一项措施。</a:t>
              </a:r>
            </a:p>
          </p:txBody>
        </p:sp>
        <p:sp>
          <p:nvSpPr>
            <p:cNvPr id="19" name="TextBox 19"/>
            <p:cNvSpPr txBox="1"/>
            <p:nvPr/>
          </p:nvSpPr>
          <p:spPr>
            <a:xfrm>
              <a:off x="447294" y="5664200"/>
              <a:ext cx="737006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设定和实施，都须依法核权限、范围、条件和程序；还须适当。</a:t>
              </a:r>
            </a:p>
          </p:txBody>
        </p:sp>
        <p:sp>
          <p:nvSpPr>
            <p:cNvPr id="20" name="TextBox 20"/>
            <p:cNvSpPr txBox="1"/>
            <p:nvPr/>
          </p:nvSpPr>
          <p:spPr>
            <a:xfrm>
              <a:off x="450342" y="6064250"/>
              <a:ext cx="512052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行政强制法第4、5条把要求落实为法律条件，不只是一种建议。</a:t>
              </a:r>
            </a:p>
          </p:txBody>
        </p:sp>
      </p:grpSp>
      <p:grpSp>
        <p:nvGrpSpPr>
          <p:cNvPr id="24" name="p41-footer"/>
          <p:cNvGrpSpPr/>
          <p:nvPr/>
        </p:nvGrpSpPr>
        <p:grpSpPr>
          <a:xfrm>
            <a:off x="451866" y="6502400"/>
            <a:ext cx="11247444" cy="205359"/>
            <a:chOff x="451866" y="6502400"/>
            <a:chExt cx="11247444" cy="205359"/>
          </a:xfrm>
        </p:grpSpPr>
        <p:sp>
          <p:nvSpPr>
            <p:cNvPr id="22" name="TextBox 22"/>
            <p:cNvSpPr txBox="1"/>
            <p:nvPr/>
          </p:nvSpPr>
          <p:spPr>
            <a:xfrm>
              <a:off x="451866" y="6502400"/>
              <a:ext cx="6117031"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行政强制法第2、4、5、9条。以下店铺、通道与设备均为教学设定，非真实案件或执法操作指引。</a:t>
              </a:r>
            </a:p>
          </p:txBody>
        </p:sp>
        <p:sp>
          <p:nvSpPr>
            <p:cNvPr id="23" name="TextBox 23"/>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41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2-title"/>
          <p:cNvGrpSpPr/>
          <p:nvPr/>
        </p:nvGrpSpPr>
        <p:grpSpPr>
          <a:xfrm>
            <a:off x="440436" y="381000"/>
            <a:ext cx="7543800" cy="918464"/>
            <a:chOff x="440436" y="381000"/>
            <a:chExt cx="7543800" cy="918464"/>
          </a:xfrm>
        </p:grpSpPr>
        <p:sp>
          <p:nvSpPr>
            <p:cNvPr id="2" name="TextBox 2"/>
            <p:cNvSpPr txBox="1"/>
            <p:nvPr/>
          </p:nvSpPr>
          <p:spPr>
            <a:xfrm>
              <a:off x="451104" y="38100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甲：非强制手段已经足够</a:t>
              </a:r>
            </a:p>
          </p:txBody>
        </p:sp>
        <p:sp>
          <p:nvSpPr>
            <p:cNvPr id="3" name="TextBox 3"/>
            <p:cNvSpPr txBox="1"/>
            <p:nvPr/>
          </p:nvSpPr>
          <p:spPr>
            <a:xfrm>
              <a:off x="440436" y="65405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通道已恢复，还以疏通为由扣押吗？</a:t>
              </a:r>
            </a:p>
          </p:txBody>
        </p:sp>
      </p:grpSp>
      <p:grpSp>
        <p:nvGrpSpPr>
          <p:cNvPr id="7" name="p42-common"/>
          <p:cNvGrpSpPr/>
          <p:nvPr/>
        </p:nvGrpSpPr>
        <p:grpSpPr>
          <a:xfrm>
            <a:off x="447294" y="1692275"/>
            <a:ext cx="9614516" cy="781431"/>
            <a:chOff x="447294" y="1692275"/>
            <a:chExt cx="9614516" cy="781431"/>
          </a:xfrm>
        </p:grpSpPr>
        <p:sp>
          <p:nvSpPr>
            <p:cNvPr id="5" name="TextBox 5"/>
            <p:cNvSpPr txBox="1"/>
            <p:nvPr/>
          </p:nvSpPr>
          <p:spPr>
            <a:xfrm>
              <a:off x="447294" y="1692275"/>
              <a:ext cx="961451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一般行政管理，非第3条突发事件应急情形；没有保全证据、防止损害等其他需要。</a:t>
              </a:r>
            </a:p>
          </p:txBody>
        </p:sp>
        <p:sp>
          <p:nvSpPr>
            <p:cNvPr id="6" name="TextBox 6"/>
            <p:cNvSpPr txBox="1"/>
            <p:nvPr/>
          </p:nvSpPr>
          <p:spPr>
            <a:xfrm>
              <a:off x="447294" y="2092325"/>
              <a:ext cx="5007483"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目的：疏通通道　　考察的措施：扣押设备</a:t>
              </a:r>
            </a:p>
          </p:txBody>
        </p:sp>
      </p:grpSp>
      <p:grpSp>
        <p:nvGrpSpPr>
          <p:cNvPr id="17" name="p42-scene"/>
          <p:cNvGrpSpPr/>
          <p:nvPr/>
        </p:nvGrpSpPr>
        <p:grpSpPr>
          <a:xfrm>
            <a:off x="447294" y="2892425"/>
            <a:ext cx="5248656" cy="2416683"/>
            <a:chOff x="447294" y="2892425"/>
            <a:chExt cx="5248656" cy="2416683"/>
          </a:xfrm>
        </p:grpSpPr>
        <p:sp>
          <p:nvSpPr>
            <p:cNvPr id="8" name="TextBox 8"/>
            <p:cNvSpPr txBox="1"/>
            <p:nvPr/>
          </p:nvSpPr>
          <p:spPr>
            <a:xfrm>
              <a:off x="447294" y="2892425"/>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安全位置</a:t>
              </a:r>
            </a:p>
          </p:txBody>
        </p:sp>
        <p:sp>
          <p:nvSpPr>
            <p:cNvPr id="9" name="TextBox 9"/>
            <p:cNvSpPr txBox="1"/>
            <p:nvPr/>
          </p:nvSpPr>
          <p:spPr>
            <a:xfrm>
              <a:off x="2466594" y="2892425"/>
              <a:ext cx="268427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公共通道 · 已恢复通行</a:t>
              </a:r>
            </a:p>
          </p:txBody>
        </p:sp>
        <p:sp>
          <p:nvSpPr>
            <p:cNvPr id="10" name="Rectangle 10"/>
            <p:cNvSpPr/>
            <p:nvPr/>
          </p:nvSpPr>
          <p:spPr>
            <a:xfrm>
              <a:off x="476250" y="3371850"/>
              <a:ext cx="1581150" cy="1543050"/>
            </a:xfrm>
            <a:prstGeom prst="rect">
              <a:avLst/>
            </a:prstGeom>
            <a:solidFill>
              <a:schemeClr val="lt2"/>
            </a:solidFill>
            <a:ln w="9525">
              <a:solidFill>
                <a:schemeClr val="accent6"/>
              </a:solidFill>
            </a:ln>
          </p:spPr>
        </p:sp>
        <p:sp>
          <p:nvSpPr>
            <p:cNvPr id="11" name="Rectangle 11"/>
            <p:cNvSpPr/>
            <p:nvPr/>
          </p:nvSpPr>
          <p:spPr>
            <a:xfrm>
              <a:off x="742950" y="3619500"/>
              <a:ext cx="1047750" cy="1047750"/>
            </a:xfrm>
            <a:prstGeom prst="rect">
              <a:avLst/>
            </a:prstGeom>
            <a:noFill/>
            <a:ln w="19050">
              <a:solidFill>
                <a:schemeClr val="accent3"/>
              </a:solidFill>
            </a:ln>
          </p:spPr>
        </p:sp>
        <p:sp>
          <p:nvSpPr>
            <p:cNvPr id="12" name="TextBox 12"/>
            <p:cNvSpPr txBox="1"/>
            <p:nvPr/>
          </p:nvSpPr>
          <p:spPr>
            <a:xfrm>
              <a:off x="883158" y="393700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设备</a:t>
              </a:r>
            </a:p>
          </p:txBody>
        </p:sp>
        <p:sp>
          <p:nvSpPr>
            <p:cNvPr id="13" name="Rectangle 13"/>
            <p:cNvSpPr/>
            <p:nvPr/>
          </p:nvSpPr>
          <p:spPr>
            <a:xfrm>
              <a:off x="2476500" y="3371850"/>
              <a:ext cx="3219450" cy="1543050"/>
            </a:xfrm>
            <a:prstGeom prst="rect">
              <a:avLst/>
            </a:prstGeom>
            <a:noFill/>
            <a:ln w="19050">
              <a:solidFill>
                <a:schemeClr val="accent3"/>
              </a:solidFill>
            </a:ln>
          </p:spPr>
        </p:sp>
        <p:sp>
          <p:nvSpPr>
            <p:cNvPr id="14" name="Line 14"/>
            <p:cNvSpPr/>
            <p:nvPr/>
          </p:nvSpPr>
          <p:spPr>
            <a:xfrm>
              <a:off x="2781300" y="4152900"/>
              <a:ext cx="2609850" cy="9525"/>
            </a:xfrm>
            <a:custGeom>
              <a:avLst/>
              <a:gdLst/>
              <a:ahLst/>
              <a:cxnLst/>
              <a:rect l="l" t="t" r="r" b="b"/>
              <a:pathLst>
                <a:path w="2609850" h="9525">
                  <a:moveTo>
                    <a:pt x="0" y="0"/>
                  </a:moveTo>
                  <a:lnTo>
                    <a:pt x="2609850" y="0"/>
                  </a:lnTo>
                </a:path>
              </a:pathLst>
            </a:custGeom>
            <a:noFill/>
            <a:ln w="28575">
              <a:solidFill>
                <a:schemeClr val="accent3"/>
              </a:solidFill>
            </a:ln>
          </p:spPr>
        </p:sp>
        <p:sp>
          <p:nvSpPr>
            <p:cNvPr id="15" name="Freeform 15"/>
            <p:cNvSpPr/>
            <p:nvPr/>
          </p:nvSpPr>
          <p:spPr>
            <a:xfrm>
              <a:off x="5238750" y="4067175"/>
              <a:ext cx="152400" cy="171450"/>
            </a:xfrm>
            <a:custGeom>
              <a:avLst/>
              <a:gdLst/>
              <a:ahLst/>
              <a:cxnLst/>
              <a:rect l="l" t="t" r="r" b="b"/>
              <a:pathLst>
                <a:path w="152400" h="171450">
                  <a:moveTo>
                    <a:pt x="152400" y="85725"/>
                  </a:moveTo>
                  <a:lnTo>
                    <a:pt x="0" y="0"/>
                  </a:lnTo>
                  <a:lnTo>
                    <a:pt x="0" y="171450"/>
                  </a:lnTo>
                  <a:close/>
                </a:path>
              </a:pathLst>
            </a:custGeom>
            <a:solidFill>
              <a:schemeClr val="accent3"/>
            </a:solidFill>
            <a:ln>
              <a:noFill/>
            </a:ln>
          </p:spPr>
        </p:sp>
        <p:sp>
          <p:nvSpPr>
            <p:cNvPr id="16" name="TextBox 16"/>
            <p:cNvSpPr txBox="1"/>
            <p:nvPr/>
          </p:nvSpPr>
          <p:spPr>
            <a:xfrm>
              <a:off x="2469642" y="5045075"/>
              <a:ext cx="292150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情境示意；经营者已自愿移走设备。</a:t>
              </a:r>
            </a:p>
          </p:txBody>
        </p:sp>
      </p:grpSp>
      <p:grpSp>
        <p:nvGrpSpPr>
          <p:cNvPr id="20" name="p42-sufficient"/>
          <p:cNvGrpSpPr/>
          <p:nvPr/>
        </p:nvGrpSpPr>
        <p:grpSpPr>
          <a:xfrm>
            <a:off x="6236208" y="2803525"/>
            <a:ext cx="4224528" cy="800608"/>
            <a:chOff x="6236208" y="2803525"/>
            <a:chExt cx="4224528" cy="800608"/>
          </a:xfrm>
        </p:grpSpPr>
        <p:sp>
          <p:nvSpPr>
            <p:cNvPr id="18" name="TextBox 18"/>
            <p:cNvSpPr txBox="1"/>
            <p:nvPr/>
          </p:nvSpPr>
          <p:spPr>
            <a:xfrm>
              <a:off x="6236208" y="2803525"/>
              <a:ext cx="422452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非强制手段可以达到疏通目的</a:t>
              </a:r>
            </a:p>
          </p:txBody>
        </p:sp>
        <p:sp>
          <p:nvSpPr>
            <p:cNvPr id="19" name="TextBox 19"/>
            <p:cNvSpPr txBox="1"/>
            <p:nvPr/>
          </p:nvSpPr>
          <p:spPr>
            <a:xfrm>
              <a:off x="6241542" y="3340100"/>
              <a:ext cx="255803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本例对这一事实已有明确设定。</a:t>
              </a:r>
            </a:p>
          </p:txBody>
        </p:sp>
      </p:grpSp>
      <p:grpSp>
        <p:nvGrpSpPr>
          <p:cNvPr id="24" name="p42-reveal-1"/>
          <p:cNvGrpSpPr/>
          <p:nvPr/>
        </p:nvGrpSpPr>
        <p:grpSpPr>
          <a:xfrm>
            <a:off x="6238494" y="4035425"/>
            <a:ext cx="5007483" cy="1152906"/>
            <a:chOff x="6238494" y="4035425"/>
            <a:chExt cx="5007483" cy="1152906"/>
          </a:xfrm>
        </p:grpSpPr>
        <p:sp>
          <p:nvSpPr>
            <p:cNvPr id="21" name="TextBox 21"/>
            <p:cNvSpPr txBox="1"/>
            <p:nvPr/>
          </p:nvSpPr>
          <p:spPr>
            <a:xfrm>
              <a:off x="6241542" y="4035425"/>
              <a:ext cx="1849260"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行政强制法第5条第2句</a:t>
              </a:r>
            </a:p>
          </p:txBody>
        </p:sp>
        <p:sp>
          <p:nvSpPr>
            <p:cNvPr id="22" name="TextBox 22"/>
            <p:cNvSpPr txBox="1"/>
            <p:nvPr/>
          </p:nvSpPr>
          <p:spPr>
            <a:xfrm>
              <a:off x="6238494" y="4387850"/>
              <a:ext cx="500748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采用非强制手段可以达到行政管理目的的，</a:t>
              </a:r>
            </a:p>
          </p:txBody>
        </p:sp>
        <p:sp>
          <p:nvSpPr>
            <p:cNvPr id="23" name="TextBox 23"/>
            <p:cNvSpPr txBox="1"/>
            <p:nvPr/>
          </p:nvSpPr>
          <p:spPr>
            <a:xfrm>
              <a:off x="6238494" y="4806950"/>
              <a:ext cx="3169920"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不得设定和实施行政强制。</a:t>
              </a:r>
            </a:p>
          </p:txBody>
        </p:sp>
      </p:grpSp>
      <p:grpSp>
        <p:nvGrpSpPr>
          <p:cNvPr id="27" name="p42-reveal-2"/>
          <p:cNvGrpSpPr/>
          <p:nvPr/>
        </p:nvGrpSpPr>
        <p:grpSpPr>
          <a:xfrm>
            <a:off x="447294" y="5607050"/>
            <a:ext cx="6741033" cy="692658"/>
            <a:chOff x="447294" y="5607050"/>
            <a:chExt cx="6741033" cy="692658"/>
          </a:xfrm>
        </p:grpSpPr>
        <p:sp>
          <p:nvSpPr>
            <p:cNvPr id="25" name="TextBox 25"/>
            <p:cNvSpPr txBox="1"/>
            <p:nvPr/>
          </p:nvSpPr>
          <p:spPr>
            <a:xfrm>
              <a:off x="447294" y="5607050"/>
              <a:ext cx="5178114"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以“疏通通道”为由继续扣押，不符合第5条。</a:t>
              </a:r>
            </a:p>
          </p:txBody>
        </p:sp>
        <p:sp>
          <p:nvSpPr>
            <p:cNvPr id="26" name="TextBox 26"/>
            <p:cNvSpPr txBox="1"/>
            <p:nvPr/>
          </p:nvSpPr>
          <p:spPr>
            <a:xfrm>
              <a:off x="450342" y="6035675"/>
              <a:ext cx="6737985"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只否定这组事实和理由下的这项措施；不表示店铺行为都合法或机关没有其他职权。</a:t>
              </a:r>
            </a:p>
          </p:txBody>
        </p:sp>
      </p:grpSp>
      <p:grpSp>
        <p:nvGrpSpPr>
          <p:cNvPr id="30" name="p42-footer"/>
          <p:cNvGrpSpPr/>
          <p:nvPr/>
        </p:nvGrpSpPr>
        <p:grpSpPr>
          <a:xfrm>
            <a:off x="451866" y="6502400"/>
            <a:ext cx="11247444" cy="205359"/>
            <a:chOff x="451866" y="6502400"/>
            <a:chExt cx="11247444" cy="205359"/>
          </a:xfrm>
        </p:grpSpPr>
        <p:sp>
          <p:nvSpPr>
            <p:cNvPr id="28" name="TextBox 28"/>
            <p:cNvSpPr txBox="1"/>
            <p:nvPr/>
          </p:nvSpPr>
          <p:spPr>
            <a:xfrm>
              <a:off x="451866" y="6502400"/>
              <a:ext cx="603928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真实条文＋虚构教学情境。行政强制法第3、5、9条；空间不按比例。结论只到依据支持的范围。</a:t>
              </a:r>
            </a:p>
          </p:txBody>
        </p:sp>
        <p:sp>
          <p:nvSpPr>
            <p:cNvPr id="29" name="TextBox 2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42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50"/>
                                        <p:tgtEl>
                                          <p:spTgt spid="24"/>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2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3-title"/>
          <p:cNvGrpSpPr/>
          <p:nvPr/>
        </p:nvGrpSpPr>
        <p:grpSpPr>
          <a:xfrm>
            <a:off x="440436" y="381000"/>
            <a:ext cx="8013192" cy="918464"/>
            <a:chOff x="440436" y="381000"/>
            <a:chExt cx="8013192" cy="918464"/>
          </a:xfrm>
        </p:grpSpPr>
        <p:sp>
          <p:nvSpPr>
            <p:cNvPr id="2" name="TextBox 2"/>
            <p:cNvSpPr txBox="1"/>
            <p:nvPr/>
          </p:nvSpPr>
          <p:spPr>
            <a:xfrm>
              <a:off x="451104" y="381000"/>
              <a:ext cx="361462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乙：以下事实与甲情形分别判断</a:t>
              </a:r>
            </a:p>
          </p:txBody>
        </p:sp>
        <p:sp>
          <p:nvSpPr>
            <p:cNvPr id="3" name="TextBox 3"/>
            <p:cNvSpPr txBox="1"/>
            <p:nvPr/>
          </p:nvSpPr>
          <p:spPr>
            <a:xfrm>
              <a:off x="440436" y="654050"/>
              <a:ext cx="801319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原来的否定理由消失，就可以扣押吗？</a:t>
              </a:r>
            </a:p>
          </p:txBody>
        </p:sp>
      </p:grpSp>
      <p:grpSp>
        <p:nvGrpSpPr>
          <p:cNvPr id="7" name="p43-common"/>
          <p:cNvGrpSpPr/>
          <p:nvPr/>
        </p:nvGrpSpPr>
        <p:grpSpPr>
          <a:xfrm>
            <a:off x="447294" y="1692275"/>
            <a:ext cx="9089498" cy="781431"/>
            <a:chOff x="447294" y="1692275"/>
            <a:chExt cx="9089498" cy="781431"/>
          </a:xfrm>
        </p:grpSpPr>
        <p:sp>
          <p:nvSpPr>
            <p:cNvPr id="5" name="TextBox 5"/>
            <p:cNvSpPr txBox="1"/>
            <p:nvPr/>
          </p:nvSpPr>
          <p:spPr>
            <a:xfrm>
              <a:off x="447294" y="1692275"/>
              <a:ext cx="908949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仍为一般行政管理，非第3条应急情形；仍无保全证据、防止损害等其他目的。</a:t>
              </a:r>
            </a:p>
          </p:txBody>
        </p:sp>
        <p:sp>
          <p:nvSpPr>
            <p:cNvPr id="6" name="TextBox 6"/>
            <p:cNvSpPr txBox="1"/>
            <p:nvPr/>
          </p:nvSpPr>
          <p:spPr>
            <a:xfrm>
              <a:off x="447294" y="2092325"/>
              <a:ext cx="5532501"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目的仍是疏通通道　　考察的措施仍是扣押设备</a:t>
              </a:r>
            </a:p>
          </p:txBody>
        </p:sp>
      </p:grpSp>
      <p:grpSp>
        <p:nvGrpSpPr>
          <p:cNvPr id="17" name="p43-scene"/>
          <p:cNvGrpSpPr/>
          <p:nvPr/>
        </p:nvGrpSpPr>
        <p:grpSpPr>
          <a:xfrm>
            <a:off x="447294" y="2892425"/>
            <a:ext cx="5248656" cy="2416683"/>
            <a:chOff x="447294" y="2892425"/>
            <a:chExt cx="5248656" cy="2416683"/>
          </a:xfrm>
        </p:grpSpPr>
        <p:sp>
          <p:nvSpPr>
            <p:cNvPr id="8" name="TextBox 8"/>
            <p:cNvSpPr txBox="1"/>
            <p:nvPr/>
          </p:nvSpPr>
          <p:spPr>
            <a:xfrm>
              <a:off x="447294" y="2892425"/>
              <a:ext cx="80733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店铺侧</a:t>
              </a:r>
            </a:p>
          </p:txBody>
        </p:sp>
        <p:sp>
          <p:nvSpPr>
            <p:cNvPr id="9" name="TextBox 9"/>
            <p:cNvSpPr txBox="1"/>
            <p:nvPr/>
          </p:nvSpPr>
          <p:spPr>
            <a:xfrm>
              <a:off x="2466594" y="2892425"/>
              <a:ext cx="294678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公共通道 · 通行尚未恢复</a:t>
              </a:r>
            </a:p>
          </p:txBody>
        </p:sp>
        <p:sp>
          <p:nvSpPr>
            <p:cNvPr id="10" name="Rectangle 10"/>
            <p:cNvSpPr/>
            <p:nvPr/>
          </p:nvSpPr>
          <p:spPr>
            <a:xfrm>
              <a:off x="476250" y="3371850"/>
              <a:ext cx="1581150" cy="1543050"/>
            </a:xfrm>
            <a:prstGeom prst="rect">
              <a:avLst/>
            </a:prstGeom>
            <a:solidFill>
              <a:schemeClr val="lt2"/>
            </a:solidFill>
            <a:ln w="9525">
              <a:solidFill>
                <a:schemeClr val="accent6"/>
              </a:solidFill>
            </a:ln>
          </p:spPr>
        </p:sp>
        <p:sp>
          <p:nvSpPr>
            <p:cNvPr id="11" name="Rectangle 11"/>
            <p:cNvSpPr/>
            <p:nvPr/>
          </p:nvSpPr>
          <p:spPr>
            <a:xfrm>
              <a:off x="2476500" y="3371850"/>
              <a:ext cx="3219450" cy="1543050"/>
            </a:xfrm>
            <a:prstGeom prst="rect">
              <a:avLst/>
            </a:prstGeom>
            <a:noFill/>
            <a:ln w="19050">
              <a:solidFill>
                <a:schemeClr val="accent3"/>
              </a:solidFill>
            </a:ln>
          </p:spPr>
        </p:sp>
        <p:sp>
          <p:nvSpPr>
            <p:cNvPr id="12" name="Line 12"/>
            <p:cNvSpPr/>
            <p:nvPr/>
          </p:nvSpPr>
          <p:spPr>
            <a:xfrm>
              <a:off x="2724150" y="4152900"/>
              <a:ext cx="590550" cy="9525"/>
            </a:xfrm>
            <a:custGeom>
              <a:avLst/>
              <a:gdLst/>
              <a:ahLst/>
              <a:cxnLst/>
              <a:rect l="l" t="t" r="r" b="b"/>
              <a:pathLst>
                <a:path w="590550" h="9525">
                  <a:moveTo>
                    <a:pt x="0" y="0"/>
                  </a:moveTo>
                  <a:lnTo>
                    <a:pt x="590550" y="0"/>
                  </a:lnTo>
                </a:path>
              </a:pathLst>
            </a:custGeom>
            <a:noFill/>
            <a:ln w="28575">
              <a:solidFill>
                <a:schemeClr val="accent3"/>
              </a:solidFill>
            </a:ln>
          </p:spPr>
        </p:sp>
        <p:sp>
          <p:nvSpPr>
            <p:cNvPr id="13" name="Freeform 13"/>
            <p:cNvSpPr/>
            <p:nvPr/>
          </p:nvSpPr>
          <p:spPr>
            <a:xfrm>
              <a:off x="3162300" y="4067175"/>
              <a:ext cx="152400" cy="171450"/>
            </a:xfrm>
            <a:custGeom>
              <a:avLst/>
              <a:gdLst/>
              <a:ahLst/>
              <a:cxnLst/>
              <a:rect l="l" t="t" r="r" b="b"/>
              <a:pathLst>
                <a:path w="152400" h="171450">
                  <a:moveTo>
                    <a:pt x="152400" y="85725"/>
                  </a:moveTo>
                  <a:lnTo>
                    <a:pt x="0" y="0"/>
                  </a:lnTo>
                  <a:lnTo>
                    <a:pt x="0" y="171450"/>
                  </a:lnTo>
                  <a:close/>
                </a:path>
              </a:pathLst>
            </a:custGeom>
            <a:solidFill>
              <a:schemeClr val="accent3"/>
            </a:solidFill>
            <a:ln>
              <a:noFill/>
            </a:ln>
          </p:spPr>
        </p:sp>
        <p:sp>
          <p:nvSpPr>
            <p:cNvPr id="14" name="Rectangle 14"/>
            <p:cNvSpPr/>
            <p:nvPr/>
          </p:nvSpPr>
          <p:spPr>
            <a:xfrm>
              <a:off x="3581400" y="3619500"/>
              <a:ext cx="1047750" cy="1047750"/>
            </a:xfrm>
            <a:prstGeom prst="rect">
              <a:avLst/>
            </a:prstGeom>
            <a:solidFill>
              <a:schemeClr val="lt2"/>
            </a:solidFill>
            <a:ln w="19050">
              <a:solidFill>
                <a:schemeClr val="accent2"/>
              </a:solidFill>
            </a:ln>
          </p:spPr>
        </p:sp>
        <p:sp>
          <p:nvSpPr>
            <p:cNvPr id="15" name="TextBox 15"/>
            <p:cNvSpPr txBox="1"/>
            <p:nvPr/>
          </p:nvSpPr>
          <p:spPr>
            <a:xfrm>
              <a:off x="3721608" y="393700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设备</a:t>
              </a:r>
            </a:p>
          </p:txBody>
        </p:sp>
        <p:sp>
          <p:nvSpPr>
            <p:cNvPr id="16" name="TextBox 16"/>
            <p:cNvSpPr txBox="1"/>
            <p:nvPr/>
          </p:nvSpPr>
          <p:spPr>
            <a:xfrm>
              <a:off x="2469642" y="5045075"/>
              <a:ext cx="255803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情境示意；本例设备尚未移走。</a:t>
              </a:r>
            </a:p>
          </p:txBody>
        </p:sp>
      </p:grpSp>
      <p:grpSp>
        <p:nvGrpSpPr>
          <p:cNvPr id="20" name="p43-changed"/>
          <p:cNvGrpSpPr/>
          <p:nvPr/>
        </p:nvGrpSpPr>
        <p:grpSpPr>
          <a:xfrm>
            <a:off x="6238494" y="2825750"/>
            <a:ext cx="4219956" cy="810006"/>
            <a:chOff x="6238494" y="2825750"/>
            <a:chExt cx="4219956" cy="810006"/>
          </a:xfrm>
        </p:grpSpPr>
        <p:sp>
          <p:nvSpPr>
            <p:cNvPr id="18" name="TextBox 18"/>
            <p:cNvSpPr txBox="1"/>
            <p:nvPr/>
          </p:nvSpPr>
          <p:spPr>
            <a:xfrm>
              <a:off x="6238494" y="2825750"/>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设备尚未移走，经营者拒绝配合；</a:t>
              </a:r>
            </a:p>
          </p:txBody>
        </p:sp>
        <p:sp>
          <p:nvSpPr>
            <p:cNvPr id="19" name="TextBox 19"/>
            <p:cNvSpPr txBox="1"/>
            <p:nvPr/>
          </p:nvSpPr>
          <p:spPr>
            <a:xfrm>
              <a:off x="6238494" y="3254375"/>
              <a:ext cx="421995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非强制办法确实不能达到疏通目的。</a:t>
              </a:r>
            </a:p>
          </p:txBody>
        </p:sp>
      </p:grpSp>
      <p:grpSp>
        <p:nvGrpSpPr>
          <p:cNvPr id="24" name="p43-reveal-1"/>
          <p:cNvGrpSpPr/>
          <p:nvPr/>
        </p:nvGrpSpPr>
        <p:grpSpPr>
          <a:xfrm>
            <a:off x="6236208" y="4146550"/>
            <a:ext cx="3432962" cy="1181608"/>
            <a:chOff x="6236208" y="4146550"/>
            <a:chExt cx="3432962" cy="1181608"/>
          </a:xfrm>
        </p:grpSpPr>
        <p:sp>
          <p:nvSpPr>
            <p:cNvPr id="21" name="TextBox 21"/>
            <p:cNvSpPr txBox="1"/>
            <p:nvPr/>
          </p:nvSpPr>
          <p:spPr>
            <a:xfrm>
              <a:off x="6236208" y="4146550"/>
              <a:ext cx="343296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原第5条的这项排除理由</a:t>
              </a:r>
            </a:p>
          </p:txBody>
        </p:sp>
        <p:sp>
          <p:nvSpPr>
            <p:cNvPr id="22" name="TextBox 22"/>
            <p:cNvSpPr txBox="1"/>
            <p:nvPr/>
          </p:nvSpPr>
          <p:spPr>
            <a:xfrm>
              <a:off x="6236208" y="4613275"/>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不再成立。</a:t>
              </a:r>
            </a:p>
          </p:txBody>
        </p:sp>
        <p:sp>
          <p:nvSpPr>
            <p:cNvPr id="23" name="TextBox 23"/>
            <p:cNvSpPr txBox="1"/>
            <p:nvPr/>
          </p:nvSpPr>
          <p:spPr>
            <a:xfrm>
              <a:off x="6241542" y="5064125"/>
              <a:ext cx="292150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非强制手段足够这一前提已经改变。</a:t>
              </a:r>
            </a:p>
          </p:txBody>
        </p:sp>
      </p:grpSp>
      <p:grpSp>
        <p:nvGrpSpPr>
          <p:cNvPr id="27" name="p43-reveal-2"/>
          <p:cNvGrpSpPr/>
          <p:nvPr/>
        </p:nvGrpSpPr>
        <p:grpSpPr>
          <a:xfrm>
            <a:off x="445008" y="5556250"/>
            <a:ext cx="7288530" cy="762508"/>
            <a:chOff x="445008" y="5556250"/>
            <a:chExt cx="7288530" cy="762508"/>
          </a:xfrm>
        </p:grpSpPr>
        <p:sp>
          <p:nvSpPr>
            <p:cNvPr id="25" name="TextBox 25"/>
            <p:cNvSpPr txBox="1"/>
            <p:nvPr/>
          </p:nvSpPr>
          <p:spPr>
            <a:xfrm>
              <a:off x="445008" y="5556250"/>
              <a:ext cx="4256837"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仍不能推出“所以可以扣押”。</a:t>
              </a:r>
            </a:p>
          </p:txBody>
        </p:sp>
        <p:sp>
          <p:nvSpPr>
            <p:cNvPr id="26" name="TextBox 26"/>
            <p:cNvSpPr txBox="1"/>
            <p:nvPr/>
          </p:nvSpPr>
          <p:spPr>
            <a:xfrm>
              <a:off x="450342" y="6054725"/>
              <a:ext cx="7283196"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措施未换成清障代履行；须继续核扣押的设定依据、实施主体、对象、程序、范围与强度。</a:t>
              </a:r>
            </a:p>
          </p:txBody>
        </p:sp>
      </p:grpSp>
      <p:grpSp>
        <p:nvGrpSpPr>
          <p:cNvPr id="30" name="p43-footer"/>
          <p:cNvGrpSpPr/>
          <p:nvPr/>
        </p:nvGrpSpPr>
        <p:grpSpPr>
          <a:xfrm>
            <a:off x="451866" y="6502400"/>
            <a:ext cx="11247444" cy="205359"/>
            <a:chOff x="451866" y="6502400"/>
            <a:chExt cx="11247444" cy="205359"/>
          </a:xfrm>
        </p:grpSpPr>
        <p:sp>
          <p:nvSpPr>
            <p:cNvPr id="28" name="TextBox 28"/>
            <p:cNvSpPr txBox="1"/>
            <p:nvPr/>
          </p:nvSpPr>
          <p:spPr>
            <a:xfrm>
              <a:off x="451866" y="6502400"/>
              <a:ext cx="566470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真实条文＋虚构教学情境。变化只消除原先一项否定理由，不凭疏通需要自动取得扣押权。</a:t>
              </a:r>
            </a:p>
          </p:txBody>
        </p:sp>
        <p:sp>
          <p:nvSpPr>
            <p:cNvPr id="29" name="TextBox 2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43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50"/>
                                        <p:tgtEl>
                                          <p:spTgt spid="24"/>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2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4-title"/>
          <p:cNvGrpSpPr/>
          <p:nvPr/>
        </p:nvGrpSpPr>
        <p:grpSpPr>
          <a:xfrm>
            <a:off x="440436" y="381000"/>
            <a:ext cx="7074408" cy="918464"/>
            <a:chOff x="440436" y="381000"/>
            <a:chExt cx="7074408" cy="918464"/>
          </a:xfrm>
        </p:grpSpPr>
        <p:sp>
          <p:nvSpPr>
            <p:cNvPr id="2" name="TextBox 2"/>
            <p:cNvSpPr txBox="1"/>
            <p:nvPr/>
          </p:nvSpPr>
          <p:spPr>
            <a:xfrm>
              <a:off x="451104" y="38100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沿扣押继续核设定依据</a:t>
              </a:r>
            </a:p>
          </p:txBody>
        </p:sp>
        <p:sp>
          <p:nvSpPr>
            <p:cNvPr id="3" name="TextBox 3"/>
            <p:cNvSpPr txBox="1"/>
            <p:nvPr/>
          </p:nvSpPr>
          <p:spPr>
            <a:xfrm>
              <a:off x="440436" y="65405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有设定空间，但有严格前提与保留</a:t>
              </a:r>
            </a:p>
          </p:txBody>
        </p:sp>
      </p:grpSp>
      <p:grpSp>
        <p:nvGrpSpPr>
          <p:cNvPr id="7" name="p44-principle"/>
          <p:cNvGrpSpPr/>
          <p:nvPr/>
        </p:nvGrpSpPr>
        <p:grpSpPr>
          <a:xfrm>
            <a:off x="445008" y="1727200"/>
            <a:ext cx="10275951" cy="469392"/>
            <a:chOff x="445008" y="1727200"/>
            <a:chExt cx="10275951" cy="469392"/>
          </a:xfrm>
        </p:grpSpPr>
        <p:sp>
          <p:nvSpPr>
            <p:cNvPr id="5" name="TextBox 5"/>
            <p:cNvSpPr txBox="1"/>
            <p:nvPr/>
          </p:nvSpPr>
          <p:spPr>
            <a:xfrm>
              <a:off x="445008" y="1727200"/>
              <a:ext cx="361066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第10条：法律设定为原则</a:t>
              </a:r>
            </a:p>
          </p:txBody>
        </p:sp>
        <p:sp>
          <p:nvSpPr>
            <p:cNvPr id="6" name="TextBox 6"/>
            <p:cNvSpPr txBox="1"/>
            <p:nvPr/>
          </p:nvSpPr>
          <p:spPr>
            <a:xfrm>
              <a:off x="6238494" y="1768475"/>
              <a:ext cx="4482465"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其他规范性文件不得设定行政强制措施</a:t>
              </a:r>
            </a:p>
          </p:txBody>
        </p:sp>
      </p:grpSp>
      <p:grpSp>
        <p:nvGrpSpPr>
          <p:cNvPr id="21" name="p44-reveal-1"/>
          <p:cNvGrpSpPr/>
          <p:nvPr/>
        </p:nvGrpSpPr>
        <p:grpSpPr>
          <a:xfrm>
            <a:off x="445008" y="2654300"/>
            <a:ext cx="11289792" cy="3638931"/>
            <a:chOff x="445008" y="2654300"/>
            <a:chExt cx="11289792" cy="3638931"/>
          </a:xfrm>
        </p:grpSpPr>
        <p:sp>
          <p:nvSpPr>
            <p:cNvPr id="8" name="TextBox 8"/>
            <p:cNvSpPr txBox="1"/>
            <p:nvPr/>
          </p:nvSpPr>
          <p:spPr>
            <a:xfrm>
              <a:off x="445008" y="267970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行政法规</a:t>
              </a:r>
            </a:p>
          </p:txBody>
        </p:sp>
        <p:sp>
          <p:nvSpPr>
            <p:cNvPr id="9" name="TextBox 9"/>
            <p:cNvSpPr txBox="1"/>
            <p:nvPr/>
          </p:nvSpPr>
          <p:spPr>
            <a:xfrm>
              <a:off x="2866644" y="2654300"/>
              <a:ext cx="553250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尚未制定法律，且属国务院行政管理职权事项；</a:t>
              </a:r>
            </a:p>
          </p:txBody>
        </p:sp>
        <p:sp>
          <p:nvSpPr>
            <p:cNvPr id="10" name="TextBox 10"/>
            <p:cNvSpPr txBox="1"/>
            <p:nvPr/>
          </p:nvSpPr>
          <p:spPr>
            <a:xfrm>
              <a:off x="2866644" y="3016250"/>
              <a:ext cx="710755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不得设限制人身自由、冻结存款汇款及应由法律规定的措施。</a:t>
              </a:r>
            </a:p>
          </p:txBody>
        </p:sp>
        <p:sp>
          <p:nvSpPr>
            <p:cNvPr id="11" name="Line 11"/>
            <p:cNvSpPr/>
            <p:nvPr/>
          </p:nvSpPr>
          <p:spPr>
            <a:xfrm>
              <a:off x="457200" y="35242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2" name="TextBox 12"/>
            <p:cNvSpPr txBox="1"/>
            <p:nvPr/>
          </p:nvSpPr>
          <p:spPr>
            <a:xfrm>
              <a:off x="445008" y="367030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地方性法规</a:t>
              </a:r>
            </a:p>
          </p:txBody>
        </p:sp>
        <p:sp>
          <p:nvSpPr>
            <p:cNvPr id="13" name="TextBox 13"/>
            <p:cNvSpPr txBox="1"/>
            <p:nvPr/>
          </p:nvSpPr>
          <p:spPr>
            <a:xfrm>
              <a:off x="2866644" y="364490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尚无法律、行政法规，且属地方性事务；</a:t>
              </a:r>
            </a:p>
          </p:txBody>
        </p:sp>
        <p:sp>
          <p:nvSpPr>
            <p:cNvPr id="14" name="TextBox 14"/>
            <p:cNvSpPr txBox="1"/>
            <p:nvPr/>
          </p:nvSpPr>
          <p:spPr>
            <a:xfrm>
              <a:off x="2866644" y="400685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只可设查封场所设施财物、扣押财物。</a:t>
              </a:r>
            </a:p>
          </p:txBody>
        </p:sp>
        <p:sp>
          <p:nvSpPr>
            <p:cNvPr id="15" name="Line 15"/>
            <p:cNvSpPr/>
            <p:nvPr/>
          </p:nvSpPr>
          <p:spPr>
            <a:xfrm>
              <a:off x="457200" y="45148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6" name="TextBox 16"/>
            <p:cNvSpPr txBox="1"/>
            <p:nvPr/>
          </p:nvSpPr>
          <p:spPr>
            <a:xfrm>
              <a:off x="445008" y="4641850"/>
              <a:ext cx="1025957"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第11条</a:t>
              </a:r>
            </a:p>
          </p:txBody>
        </p:sp>
        <p:sp>
          <p:nvSpPr>
            <p:cNvPr id="17" name="TextBox 17"/>
            <p:cNvSpPr txBox="1"/>
            <p:nvPr/>
          </p:nvSpPr>
          <p:spPr>
            <a:xfrm>
              <a:off x="2866644" y="4635500"/>
              <a:ext cx="526999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法律已定对象、条件、种类：法规不得扩大。</a:t>
              </a:r>
            </a:p>
          </p:txBody>
        </p:sp>
        <p:sp>
          <p:nvSpPr>
            <p:cNvPr id="18" name="TextBox 18"/>
            <p:cNvSpPr txBox="1"/>
            <p:nvPr/>
          </p:nvSpPr>
          <p:spPr>
            <a:xfrm>
              <a:off x="2866644" y="4997450"/>
              <a:ext cx="789508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已有法律未设该措施：法规不得补设；法律交行政法规规定特定事项</a:t>
              </a:r>
            </a:p>
          </p:txBody>
        </p:sp>
        <p:sp>
          <p:nvSpPr>
            <p:cNvPr id="19" name="TextBox 19"/>
            <p:cNvSpPr txBox="1"/>
            <p:nvPr/>
          </p:nvSpPr>
          <p:spPr>
            <a:xfrm>
              <a:off x="2866644" y="5359400"/>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具体管理措施的法定例外，仍不得突破保留给法律的范围。</a:t>
              </a:r>
            </a:p>
          </p:txBody>
        </p:sp>
        <p:sp>
          <p:nvSpPr>
            <p:cNvPr id="20" name="TextBox 20"/>
            <p:cNvSpPr txBox="1"/>
            <p:nvPr/>
          </p:nvSpPr>
          <p:spPr>
            <a:xfrm>
              <a:off x="447294" y="5911850"/>
              <a:ext cx="684504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上位法没有写，不当然留下一个可以自行增加措施的空位。</a:t>
              </a:r>
            </a:p>
          </p:txBody>
        </p:sp>
      </p:grpSp>
      <p:grpSp>
        <p:nvGrpSpPr>
          <p:cNvPr id="24" name="p44-footer"/>
          <p:cNvGrpSpPr/>
          <p:nvPr/>
        </p:nvGrpSpPr>
        <p:grpSpPr>
          <a:xfrm>
            <a:off x="451866" y="6502400"/>
            <a:ext cx="11247444" cy="205359"/>
            <a:chOff x="451866" y="6502400"/>
            <a:chExt cx="11247444" cy="205359"/>
          </a:xfrm>
        </p:grpSpPr>
        <p:sp>
          <p:nvSpPr>
            <p:cNvPr id="22" name="TextBox 22"/>
            <p:cNvSpPr txBox="1"/>
            <p:nvPr/>
          </p:nvSpPr>
          <p:spPr>
            <a:xfrm>
              <a:off x="451866" y="6502400"/>
              <a:ext cx="512757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行政强制法第10、11条，按原文条件凝练。不是给本例某机关确认已有扣押权限。</a:t>
              </a:r>
            </a:p>
          </p:txBody>
        </p:sp>
        <p:sp>
          <p:nvSpPr>
            <p:cNvPr id="23" name="TextBox 23"/>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44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5-title"/>
          <p:cNvGrpSpPr/>
          <p:nvPr/>
        </p:nvGrpSpPr>
        <p:grpSpPr>
          <a:xfrm>
            <a:off x="440436" y="381000"/>
            <a:ext cx="7543800" cy="918464"/>
            <a:chOff x="440436" y="381000"/>
            <a:chExt cx="7543800" cy="918464"/>
          </a:xfrm>
        </p:grpSpPr>
        <p:sp>
          <p:nvSpPr>
            <p:cNvPr id="2" name="TextBox 2"/>
            <p:cNvSpPr txBox="1"/>
            <p:nvPr/>
          </p:nvSpPr>
          <p:spPr>
            <a:xfrm>
              <a:off x="451104" y="381000"/>
              <a:ext cx="361462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有措施依据，仍未核完具体实施</a:t>
              </a:r>
            </a:p>
          </p:txBody>
        </p:sp>
        <p:sp>
          <p:nvSpPr>
            <p:cNvPr id="3" name="TextBox 3"/>
            <p:cNvSpPr txBox="1"/>
            <p:nvPr/>
          </p:nvSpPr>
          <p:spPr>
            <a:xfrm>
              <a:off x="440436" y="65405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谁实施、扣什么、怎样扣、扣多少？</a:t>
              </a:r>
            </a:p>
          </p:txBody>
        </p:sp>
      </p:grpSp>
      <p:grpSp>
        <p:nvGrpSpPr>
          <p:cNvPr id="8" name="p45-agency"/>
          <p:cNvGrpSpPr/>
          <p:nvPr/>
        </p:nvGrpSpPr>
        <p:grpSpPr>
          <a:xfrm>
            <a:off x="445008" y="1889125"/>
            <a:ext cx="3172206" cy="1327531"/>
            <a:chOff x="445008" y="1889125"/>
            <a:chExt cx="3172206" cy="1327531"/>
          </a:xfrm>
        </p:grpSpPr>
        <p:sp>
          <p:nvSpPr>
            <p:cNvPr id="5" name="TextBox 5"/>
            <p:cNvSpPr txBox="1"/>
            <p:nvPr/>
          </p:nvSpPr>
          <p:spPr>
            <a:xfrm>
              <a:off x="445008" y="1889125"/>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实施主体与职权</a:t>
              </a:r>
            </a:p>
          </p:txBody>
        </p:sp>
        <p:sp>
          <p:nvSpPr>
            <p:cNvPr id="6" name="TextBox 6"/>
            <p:cNvSpPr txBox="1"/>
            <p:nvPr/>
          </p:nvSpPr>
          <p:spPr>
            <a:xfrm>
              <a:off x="447294" y="2473325"/>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相应法律、法规规定的机关</a:t>
              </a:r>
            </a:p>
          </p:txBody>
        </p:sp>
        <p:sp>
          <p:nvSpPr>
            <p:cNvPr id="7" name="TextBox 7"/>
            <p:cNvSpPr txBox="1"/>
            <p:nvPr/>
          </p:nvSpPr>
          <p:spPr>
            <a:xfrm>
              <a:off x="447294" y="2835275"/>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在法定职权范围内实施</a:t>
              </a:r>
            </a:p>
          </p:txBody>
        </p:sp>
      </p:grpSp>
      <p:grpSp>
        <p:nvGrpSpPr>
          <p:cNvPr id="12" name="p45-object"/>
          <p:cNvGrpSpPr/>
          <p:nvPr/>
        </p:nvGrpSpPr>
        <p:grpSpPr>
          <a:xfrm>
            <a:off x="6502908" y="1889125"/>
            <a:ext cx="3959733" cy="1327531"/>
            <a:chOff x="6502908" y="1889125"/>
            <a:chExt cx="3959733" cy="1327531"/>
          </a:xfrm>
        </p:grpSpPr>
        <p:sp>
          <p:nvSpPr>
            <p:cNvPr id="9" name="TextBox 9"/>
            <p:cNvSpPr txBox="1"/>
            <p:nvPr/>
          </p:nvSpPr>
          <p:spPr>
            <a:xfrm>
              <a:off x="6502908" y="1889125"/>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对象范围</a:t>
              </a:r>
            </a:p>
          </p:txBody>
        </p:sp>
        <p:sp>
          <p:nvSpPr>
            <p:cNvPr id="10" name="TextBox 10"/>
            <p:cNvSpPr txBox="1"/>
            <p:nvPr/>
          </p:nvSpPr>
          <p:spPr>
            <a:xfrm>
              <a:off x="6505194" y="2473325"/>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限于涉案财物；排除无关财物</a:t>
              </a:r>
            </a:p>
          </p:txBody>
        </p:sp>
        <p:sp>
          <p:nvSpPr>
            <p:cNvPr id="11" name="TextBox 11"/>
            <p:cNvSpPr txBox="1"/>
            <p:nvPr/>
          </p:nvSpPr>
          <p:spPr>
            <a:xfrm>
              <a:off x="6505194" y="2835275"/>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及本人、所扶养家属的生活必需品</a:t>
              </a:r>
            </a:p>
          </p:txBody>
        </p:sp>
      </p:grpSp>
      <p:grpSp>
        <p:nvGrpSpPr>
          <p:cNvPr id="17" name="p45-procedure"/>
          <p:cNvGrpSpPr/>
          <p:nvPr/>
        </p:nvGrpSpPr>
        <p:grpSpPr>
          <a:xfrm>
            <a:off x="445008" y="3733800"/>
            <a:ext cx="5231892" cy="1441958"/>
            <a:chOff x="445008" y="3733800"/>
            <a:chExt cx="5231892" cy="1441958"/>
          </a:xfrm>
        </p:grpSpPr>
        <p:sp>
          <p:nvSpPr>
            <p:cNvPr id="13" name="Line 13"/>
            <p:cNvSpPr/>
            <p:nvPr/>
          </p:nvSpPr>
          <p:spPr>
            <a:xfrm>
              <a:off x="457200" y="3733800"/>
              <a:ext cx="5219700" cy="9525"/>
            </a:xfrm>
            <a:custGeom>
              <a:avLst/>
              <a:gdLst/>
              <a:ahLst/>
              <a:cxnLst/>
              <a:rect l="l" t="t" r="r" b="b"/>
              <a:pathLst>
                <a:path w="5219700" h="9525">
                  <a:moveTo>
                    <a:pt x="0" y="0"/>
                  </a:moveTo>
                  <a:lnTo>
                    <a:pt x="5219700" y="0"/>
                  </a:lnTo>
                </a:path>
              </a:pathLst>
            </a:custGeom>
            <a:noFill/>
            <a:ln w="9525">
              <a:solidFill>
                <a:schemeClr val="accent6"/>
              </a:solidFill>
            </a:ln>
          </p:spPr>
        </p:sp>
        <p:sp>
          <p:nvSpPr>
            <p:cNvPr id="14" name="TextBox 14"/>
            <p:cNvSpPr txBox="1"/>
            <p:nvPr/>
          </p:nvSpPr>
          <p:spPr>
            <a:xfrm>
              <a:off x="445008" y="3889375"/>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程序要求</a:t>
              </a:r>
            </a:p>
          </p:txBody>
        </p:sp>
        <p:sp>
          <p:nvSpPr>
            <p:cNvPr id="15" name="TextBox 15"/>
            <p:cNvSpPr txBox="1"/>
            <p:nvPr/>
          </p:nvSpPr>
          <p:spPr>
            <a:xfrm>
              <a:off x="447294" y="4473575"/>
              <a:ext cx="293366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按第18条等履行相应程序</a:t>
              </a:r>
            </a:p>
          </p:txBody>
        </p:sp>
        <p:sp>
          <p:nvSpPr>
            <p:cNvPr id="16" name="TextBox 16"/>
            <p:cNvSpPr txBox="1"/>
            <p:nvPr/>
          </p:nvSpPr>
          <p:spPr>
            <a:xfrm>
              <a:off x="450342" y="4911725"/>
              <a:ext cx="273977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目的紧迫不能自行省掉根据与程序</a:t>
              </a:r>
            </a:p>
          </p:txBody>
        </p:sp>
      </p:grpSp>
      <p:grpSp>
        <p:nvGrpSpPr>
          <p:cNvPr id="22" name="p45-intensity"/>
          <p:cNvGrpSpPr/>
          <p:nvPr/>
        </p:nvGrpSpPr>
        <p:grpSpPr>
          <a:xfrm>
            <a:off x="6502908" y="3733800"/>
            <a:ext cx="5231892" cy="1441958"/>
            <a:chOff x="6502908" y="3733800"/>
            <a:chExt cx="5231892" cy="1441958"/>
          </a:xfrm>
        </p:grpSpPr>
        <p:sp>
          <p:nvSpPr>
            <p:cNvPr id="18" name="Line 18"/>
            <p:cNvSpPr/>
            <p:nvPr/>
          </p:nvSpPr>
          <p:spPr>
            <a:xfrm>
              <a:off x="6515100" y="3733800"/>
              <a:ext cx="5219700" cy="9525"/>
            </a:xfrm>
            <a:custGeom>
              <a:avLst/>
              <a:gdLst/>
              <a:ahLst/>
              <a:cxnLst/>
              <a:rect l="l" t="t" r="r" b="b"/>
              <a:pathLst>
                <a:path w="5219700" h="9525">
                  <a:moveTo>
                    <a:pt x="0" y="0"/>
                  </a:moveTo>
                  <a:lnTo>
                    <a:pt x="5219700" y="0"/>
                  </a:lnTo>
                </a:path>
              </a:pathLst>
            </a:custGeom>
            <a:noFill/>
            <a:ln w="9525">
              <a:solidFill>
                <a:schemeClr val="accent6"/>
              </a:solidFill>
            </a:ln>
          </p:spPr>
        </p:sp>
        <p:sp>
          <p:nvSpPr>
            <p:cNvPr id="19" name="TextBox 19"/>
            <p:cNvSpPr txBox="1"/>
            <p:nvPr/>
          </p:nvSpPr>
          <p:spPr>
            <a:xfrm>
              <a:off x="6502908" y="3889375"/>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范围、强度与效果</a:t>
              </a:r>
            </a:p>
          </p:txBody>
        </p:sp>
        <p:sp>
          <p:nvSpPr>
            <p:cNvPr id="20" name="TextBox 20"/>
            <p:cNvSpPr txBox="1"/>
            <p:nvPr/>
          </p:nvSpPr>
          <p:spPr>
            <a:xfrm>
              <a:off x="6505194" y="4473575"/>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具体办法仍要比较和检验</a:t>
              </a:r>
            </a:p>
          </p:txBody>
        </p:sp>
        <p:sp>
          <p:nvSpPr>
            <p:cNvPr id="21" name="TextBox 21"/>
            <p:cNvSpPr txBox="1"/>
            <p:nvPr/>
          </p:nvSpPr>
          <p:spPr>
            <a:xfrm>
              <a:off x="6508242" y="4911725"/>
              <a:ext cx="346671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并非不能完全不用强制，就可扣押全部设备</a:t>
              </a:r>
            </a:p>
          </p:txBody>
        </p:sp>
      </p:grpSp>
      <p:grpSp>
        <p:nvGrpSpPr>
          <p:cNvPr id="24" name="p45-reveal-1"/>
          <p:cNvGrpSpPr/>
          <p:nvPr/>
        </p:nvGrpSpPr>
        <p:grpSpPr>
          <a:xfrm>
            <a:off x="445008" y="5727700"/>
            <a:ext cx="7455408" cy="469392"/>
            <a:chOff x="445008" y="5727700"/>
            <a:chExt cx="7455408" cy="469392"/>
          </a:xfrm>
        </p:grpSpPr>
        <p:sp>
          <p:nvSpPr>
            <p:cNvPr id="23" name="TextBox 23"/>
            <p:cNvSpPr txBox="1"/>
            <p:nvPr/>
          </p:nvSpPr>
          <p:spPr>
            <a:xfrm>
              <a:off x="445008" y="5727700"/>
              <a:ext cx="7455408"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这些条件尚未确定，所以本例还不能肯定许可扣押。</a:t>
              </a:r>
            </a:p>
          </p:txBody>
        </p:sp>
      </p:grpSp>
      <p:grpSp>
        <p:nvGrpSpPr>
          <p:cNvPr id="27" name="p45-footer"/>
          <p:cNvGrpSpPr/>
          <p:nvPr/>
        </p:nvGrpSpPr>
        <p:grpSpPr>
          <a:xfrm>
            <a:off x="451866" y="6502400"/>
            <a:ext cx="11247444" cy="205359"/>
            <a:chOff x="451866" y="6502400"/>
            <a:chExt cx="11247444" cy="205359"/>
          </a:xfrm>
        </p:grpSpPr>
        <p:sp>
          <p:nvSpPr>
            <p:cNvPr id="25" name="TextBox 25"/>
            <p:cNvSpPr txBox="1"/>
            <p:nvPr/>
          </p:nvSpPr>
          <p:spPr>
            <a:xfrm>
              <a:off x="451866" y="6502400"/>
              <a:ext cx="606755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行政强制法第17、18、23条及第5条。这里只标核对方向，不以部分程序条目替代完整适用要求。</a:t>
              </a:r>
            </a:p>
          </p:txBody>
        </p:sp>
        <p:sp>
          <p:nvSpPr>
            <p:cNvPr id="26" name="TextBox 26"/>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45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6-title"/>
          <p:cNvGrpSpPr/>
          <p:nvPr/>
        </p:nvGrpSpPr>
        <p:grpSpPr>
          <a:xfrm>
            <a:off x="440436" y="381000"/>
            <a:ext cx="7074408" cy="918464"/>
            <a:chOff x="440436" y="381000"/>
            <a:chExt cx="7074408" cy="918464"/>
          </a:xfrm>
        </p:grpSpPr>
        <p:sp>
          <p:nvSpPr>
            <p:cNvPr id="2" name="TextBox 2"/>
            <p:cNvSpPr txBox="1"/>
            <p:nvPr/>
          </p:nvSpPr>
          <p:spPr>
            <a:xfrm>
              <a:off x="451104" y="38100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两次判断为什么不矛盾</a:t>
              </a:r>
            </a:p>
          </p:txBody>
        </p:sp>
        <p:sp>
          <p:nvSpPr>
            <p:cNvPr id="3" name="TextBox 3"/>
            <p:cNvSpPr txBox="1"/>
            <p:nvPr/>
          </p:nvSpPr>
          <p:spPr>
            <a:xfrm>
              <a:off x="440436" y="65405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条件改变，可能只改变原来的理由</a:t>
              </a:r>
            </a:p>
          </p:txBody>
        </p:sp>
      </p:grpSp>
      <p:grpSp>
        <p:nvGrpSpPr>
          <p:cNvPr id="11" name="p46-a"/>
          <p:cNvGrpSpPr/>
          <p:nvPr/>
        </p:nvGrpSpPr>
        <p:grpSpPr>
          <a:xfrm>
            <a:off x="440436" y="1844675"/>
            <a:ext cx="10204856" cy="1095756"/>
            <a:chOff x="440436" y="1844675"/>
            <a:chExt cx="10204856" cy="1095756"/>
          </a:xfrm>
        </p:grpSpPr>
        <p:sp>
          <p:nvSpPr>
            <p:cNvPr id="5" name="TextBox 5"/>
            <p:cNvSpPr txBox="1"/>
            <p:nvPr/>
          </p:nvSpPr>
          <p:spPr>
            <a:xfrm>
              <a:off x="440436" y="1844675"/>
              <a:ext cx="50292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甲</a:t>
              </a:r>
            </a:p>
          </p:txBody>
        </p:sp>
        <p:sp>
          <p:nvSpPr>
            <p:cNvPr id="6" name="TextBox 6"/>
            <p:cNvSpPr txBox="1"/>
            <p:nvPr/>
          </p:nvSpPr>
          <p:spPr>
            <a:xfrm>
              <a:off x="1873758" y="1898650"/>
              <a:ext cx="422452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非强制手段足够，通道已恢复</a:t>
              </a:r>
            </a:p>
          </p:txBody>
        </p:sp>
        <p:sp>
          <p:nvSpPr>
            <p:cNvPr id="7" name="Line 7"/>
            <p:cNvSpPr/>
            <p:nvPr/>
          </p:nvSpPr>
          <p:spPr>
            <a:xfrm>
              <a:off x="7658100" y="2095500"/>
              <a:ext cx="1123950" cy="9525"/>
            </a:xfrm>
            <a:custGeom>
              <a:avLst/>
              <a:gdLst/>
              <a:ahLst/>
              <a:cxnLst/>
              <a:rect l="l" t="t" r="r" b="b"/>
              <a:pathLst>
                <a:path w="1123950" h="9525">
                  <a:moveTo>
                    <a:pt x="0" y="0"/>
                  </a:moveTo>
                  <a:lnTo>
                    <a:pt x="1123950" y="0"/>
                  </a:lnTo>
                </a:path>
              </a:pathLst>
            </a:custGeom>
            <a:noFill/>
            <a:ln w="19050">
              <a:solidFill>
                <a:schemeClr val="accent3"/>
              </a:solidFill>
            </a:ln>
          </p:spPr>
        </p:sp>
        <p:sp>
          <p:nvSpPr>
            <p:cNvPr id="8" name="Freeform 8"/>
            <p:cNvSpPr/>
            <p:nvPr/>
          </p:nvSpPr>
          <p:spPr>
            <a:xfrm>
              <a:off x="8648700" y="2028825"/>
              <a:ext cx="133350" cy="133350"/>
            </a:xfrm>
            <a:custGeom>
              <a:avLst/>
              <a:gdLst/>
              <a:ahLst/>
              <a:cxnLst/>
              <a:rect l="l" t="t" r="r" b="b"/>
              <a:pathLst>
                <a:path w="133350" h="133350">
                  <a:moveTo>
                    <a:pt x="133350" y="66675"/>
                  </a:moveTo>
                  <a:lnTo>
                    <a:pt x="0" y="0"/>
                  </a:lnTo>
                  <a:lnTo>
                    <a:pt x="0" y="133350"/>
                  </a:lnTo>
                  <a:close/>
                </a:path>
              </a:pathLst>
            </a:custGeom>
            <a:solidFill>
              <a:schemeClr val="accent3"/>
            </a:solidFill>
            <a:ln>
              <a:noFill/>
            </a:ln>
          </p:spPr>
        </p:sp>
        <p:sp>
          <p:nvSpPr>
            <p:cNvPr id="9" name="TextBox 9"/>
            <p:cNvSpPr txBox="1"/>
            <p:nvPr/>
          </p:nvSpPr>
          <p:spPr>
            <a:xfrm>
              <a:off x="9150858" y="1898650"/>
              <a:ext cx="149443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第5条排除</a:t>
              </a:r>
            </a:p>
          </p:txBody>
        </p:sp>
        <p:sp>
          <p:nvSpPr>
            <p:cNvPr id="10" name="TextBox 10"/>
            <p:cNvSpPr txBox="1"/>
            <p:nvPr/>
          </p:nvSpPr>
          <p:spPr>
            <a:xfrm>
              <a:off x="1876044" y="2559050"/>
              <a:ext cx="658253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据此可明确否定：以疏通为由，在这组事实下继续扣押。</a:t>
              </a:r>
            </a:p>
          </p:txBody>
        </p:sp>
      </p:grpSp>
      <p:grpSp>
        <p:nvGrpSpPr>
          <p:cNvPr id="19" name="p46-b"/>
          <p:cNvGrpSpPr/>
          <p:nvPr/>
        </p:nvGrpSpPr>
        <p:grpSpPr>
          <a:xfrm>
            <a:off x="440436" y="3657600"/>
            <a:ext cx="11294364" cy="1225931"/>
            <a:chOff x="440436" y="3657600"/>
            <a:chExt cx="11294364" cy="1225931"/>
          </a:xfrm>
        </p:grpSpPr>
        <p:sp>
          <p:nvSpPr>
            <p:cNvPr id="12" name="Line 12"/>
            <p:cNvSpPr/>
            <p:nvPr/>
          </p:nvSpPr>
          <p:spPr>
            <a:xfrm>
              <a:off x="457200" y="36576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3" name="TextBox 13"/>
            <p:cNvSpPr txBox="1"/>
            <p:nvPr/>
          </p:nvSpPr>
          <p:spPr>
            <a:xfrm>
              <a:off x="440436" y="3787775"/>
              <a:ext cx="50292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乙</a:t>
              </a:r>
            </a:p>
          </p:txBody>
        </p:sp>
        <p:sp>
          <p:nvSpPr>
            <p:cNvPr id="14" name="TextBox 14"/>
            <p:cNvSpPr txBox="1"/>
            <p:nvPr/>
          </p:nvSpPr>
          <p:spPr>
            <a:xfrm>
              <a:off x="1873758" y="3841750"/>
              <a:ext cx="487070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非强制手段确实不足，通道未恢复</a:t>
              </a:r>
            </a:p>
          </p:txBody>
        </p:sp>
        <p:sp>
          <p:nvSpPr>
            <p:cNvPr id="15" name="Line 15"/>
            <p:cNvSpPr/>
            <p:nvPr/>
          </p:nvSpPr>
          <p:spPr>
            <a:xfrm>
              <a:off x="8096250" y="4038600"/>
              <a:ext cx="685800" cy="9525"/>
            </a:xfrm>
            <a:custGeom>
              <a:avLst/>
              <a:gdLst/>
              <a:ahLst/>
              <a:cxnLst/>
              <a:rect l="l" t="t" r="r" b="b"/>
              <a:pathLst>
                <a:path w="685800" h="9525">
                  <a:moveTo>
                    <a:pt x="0" y="0"/>
                  </a:moveTo>
                  <a:lnTo>
                    <a:pt x="685800" y="0"/>
                  </a:lnTo>
                </a:path>
              </a:pathLst>
            </a:custGeom>
            <a:noFill/>
            <a:ln w="19050">
              <a:solidFill>
                <a:schemeClr val="accent3"/>
              </a:solidFill>
            </a:ln>
          </p:spPr>
        </p:sp>
        <p:sp>
          <p:nvSpPr>
            <p:cNvPr id="16" name="Freeform 16"/>
            <p:cNvSpPr/>
            <p:nvPr/>
          </p:nvSpPr>
          <p:spPr>
            <a:xfrm>
              <a:off x="8648700" y="3971925"/>
              <a:ext cx="133350" cy="133350"/>
            </a:xfrm>
            <a:custGeom>
              <a:avLst/>
              <a:gdLst/>
              <a:ahLst/>
              <a:cxnLst/>
              <a:rect l="l" t="t" r="r" b="b"/>
              <a:pathLst>
                <a:path w="133350" h="133350">
                  <a:moveTo>
                    <a:pt x="133350" y="66675"/>
                  </a:moveTo>
                  <a:lnTo>
                    <a:pt x="0" y="0"/>
                  </a:lnTo>
                  <a:lnTo>
                    <a:pt x="0" y="133350"/>
                  </a:lnTo>
                  <a:close/>
                </a:path>
              </a:pathLst>
            </a:custGeom>
            <a:solidFill>
              <a:schemeClr val="accent3"/>
            </a:solidFill>
            <a:ln>
              <a:noFill/>
            </a:ln>
          </p:spPr>
        </p:sp>
        <p:sp>
          <p:nvSpPr>
            <p:cNvPr id="17" name="TextBox 17"/>
            <p:cNvSpPr txBox="1"/>
            <p:nvPr/>
          </p:nvSpPr>
          <p:spPr>
            <a:xfrm>
              <a:off x="9150858" y="384175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继续核条件</a:t>
              </a:r>
            </a:p>
          </p:txBody>
        </p:sp>
        <p:sp>
          <p:nvSpPr>
            <p:cNvPr id="18" name="TextBox 18"/>
            <p:cNvSpPr txBox="1"/>
            <p:nvPr/>
          </p:nvSpPr>
          <p:spPr>
            <a:xfrm>
              <a:off x="1876044" y="4502150"/>
              <a:ext cx="737006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原排除理由消失；扣押的其他条件尚未确定，不等于已经许可。</a:t>
              </a:r>
            </a:p>
          </p:txBody>
        </p:sp>
      </p:grpSp>
      <p:grpSp>
        <p:nvGrpSpPr>
          <p:cNvPr id="22" name="p46-reveal-1"/>
          <p:cNvGrpSpPr/>
          <p:nvPr/>
        </p:nvGrpSpPr>
        <p:grpSpPr>
          <a:xfrm>
            <a:off x="445008" y="5603875"/>
            <a:ext cx="5839968" cy="733933"/>
            <a:chOff x="445008" y="5603875"/>
            <a:chExt cx="5839968" cy="733933"/>
          </a:xfrm>
        </p:grpSpPr>
        <p:sp>
          <p:nvSpPr>
            <p:cNvPr id="20" name="TextBox 20"/>
            <p:cNvSpPr txBox="1"/>
            <p:nvPr/>
          </p:nvSpPr>
          <p:spPr>
            <a:xfrm>
              <a:off x="445008" y="5603875"/>
              <a:ext cx="5839968"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材料充分，就判断到它能支持的那一步。</a:t>
              </a:r>
            </a:p>
          </p:txBody>
        </p:sp>
        <p:sp>
          <p:nvSpPr>
            <p:cNvPr id="21" name="TextBox 21"/>
            <p:cNvSpPr txBox="1"/>
            <p:nvPr/>
          </p:nvSpPr>
          <p:spPr>
            <a:xfrm>
              <a:off x="450342" y="6073775"/>
              <a:ext cx="530226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既不一律回答“还要查资料”，也不由一个理由消失跳到最终结论。</a:t>
              </a:r>
            </a:p>
          </p:txBody>
        </p:sp>
      </p:grpSp>
      <p:grpSp>
        <p:nvGrpSpPr>
          <p:cNvPr id="25" name="p46-footer"/>
          <p:cNvGrpSpPr/>
          <p:nvPr/>
        </p:nvGrpSpPr>
        <p:grpSpPr>
          <a:xfrm>
            <a:off x="451866" y="6502400"/>
            <a:ext cx="11247444" cy="205359"/>
            <a:chOff x="451866" y="6502400"/>
            <a:chExt cx="11247444" cy="205359"/>
          </a:xfrm>
        </p:grpSpPr>
        <p:sp>
          <p:nvSpPr>
            <p:cNvPr id="23" name="TextBox 23"/>
            <p:cNvSpPr txBox="1"/>
            <p:nvPr/>
          </p:nvSpPr>
          <p:spPr>
            <a:xfrm>
              <a:off x="451866" y="6502400"/>
              <a:ext cx="269633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甲乙沿用同一扣押措施，但各自前提分开。</a:t>
              </a:r>
            </a:p>
          </p:txBody>
        </p:sp>
        <p:sp>
          <p:nvSpPr>
            <p:cNvPr id="24" name="TextBox 24"/>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46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7-title"/>
          <p:cNvGrpSpPr/>
          <p:nvPr/>
        </p:nvGrpSpPr>
        <p:grpSpPr>
          <a:xfrm>
            <a:off x="440436" y="381000"/>
            <a:ext cx="5666232" cy="918464"/>
            <a:chOff x="440436" y="381000"/>
            <a:chExt cx="5666232" cy="918464"/>
          </a:xfrm>
        </p:grpSpPr>
        <p:sp>
          <p:nvSpPr>
            <p:cNvPr id="2" name="TextBox 2"/>
            <p:cNvSpPr txBox="1"/>
            <p:nvPr/>
          </p:nvSpPr>
          <p:spPr>
            <a:xfrm>
              <a:off x="451104" y="38100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第五讲 / 从一般原理走向具体权利</a:t>
              </a:r>
            </a:p>
          </p:txBody>
        </p:sp>
        <p:sp>
          <p:nvSpPr>
            <p:cNvPr id="3" name="TextBox 3"/>
            <p:cNvSpPr txBox="1"/>
            <p:nvPr/>
          </p:nvSpPr>
          <p:spPr>
            <a:xfrm>
              <a:off x="440436" y="65405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权利与管理，两半都要当真</a:t>
              </a:r>
            </a:p>
          </p:txBody>
        </p:sp>
      </p:grpSp>
      <p:grpSp>
        <p:nvGrpSpPr>
          <p:cNvPr id="8" name="p47-summary"/>
          <p:cNvGrpSpPr/>
          <p:nvPr/>
        </p:nvGrpSpPr>
        <p:grpSpPr>
          <a:xfrm>
            <a:off x="447294" y="1958975"/>
            <a:ext cx="6398781" cy="1467231"/>
            <a:chOff x="447294" y="1958975"/>
            <a:chExt cx="6398781" cy="1467231"/>
          </a:xfrm>
        </p:grpSpPr>
        <p:sp>
          <p:nvSpPr>
            <p:cNvPr id="5" name="TextBox 5"/>
            <p:cNvSpPr txBox="1"/>
            <p:nvPr/>
          </p:nvSpPr>
          <p:spPr>
            <a:xfrm>
              <a:off x="447294" y="1958975"/>
              <a:ext cx="639878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应受怎样的对待 → 法律确认了什么 → 规范层次怎样区分</a:t>
              </a:r>
            </a:p>
          </p:txBody>
        </p:sp>
        <p:sp>
          <p:nvSpPr>
            <p:cNvPr id="6" name="TextBox 6"/>
            <p:cNvSpPr txBox="1"/>
            <p:nvPr/>
          </p:nvSpPr>
          <p:spPr>
            <a:xfrm>
              <a:off x="447294" y="2501900"/>
              <a:ext cx="632002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谁能主张　／　约束谁、怎样作用　／　国家须做什么</a:t>
              </a:r>
            </a:p>
          </p:txBody>
        </p:sp>
        <p:sp>
          <p:nvSpPr>
            <p:cNvPr id="7" name="TextBox 7"/>
            <p:cNvSpPr txBox="1"/>
            <p:nvPr/>
          </p:nvSpPr>
          <p:spPr>
            <a:xfrm>
              <a:off x="447294" y="3044825"/>
              <a:ext cx="579501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限制有权有据、有目的与界限，限制本身也受检验</a:t>
              </a:r>
            </a:p>
          </p:txBody>
        </p:sp>
      </p:grpSp>
      <p:grpSp>
        <p:nvGrpSpPr>
          <p:cNvPr id="12" name="p47-last"/>
          <p:cNvGrpSpPr/>
          <p:nvPr/>
        </p:nvGrpSpPr>
        <p:grpSpPr>
          <a:xfrm>
            <a:off x="440436" y="3962400"/>
            <a:ext cx="8482584" cy="1375664"/>
            <a:chOff x="440436" y="3962400"/>
            <a:chExt cx="8482584" cy="1375664"/>
          </a:xfrm>
        </p:grpSpPr>
        <p:sp>
          <p:nvSpPr>
            <p:cNvPr id="9" name="Line 9"/>
            <p:cNvSpPr/>
            <p:nvPr/>
          </p:nvSpPr>
          <p:spPr>
            <a:xfrm>
              <a:off x="457200" y="3962400"/>
              <a:ext cx="914400" cy="9525"/>
            </a:xfrm>
            <a:custGeom>
              <a:avLst/>
              <a:gdLst/>
              <a:ahLst/>
              <a:cxnLst/>
              <a:rect l="l" t="t" r="r" b="b"/>
              <a:pathLst>
                <a:path w="914400" h="9525">
                  <a:moveTo>
                    <a:pt x="0" y="0"/>
                  </a:moveTo>
                  <a:lnTo>
                    <a:pt x="914400" y="0"/>
                  </a:lnTo>
                </a:path>
              </a:pathLst>
            </a:custGeom>
            <a:noFill/>
            <a:ln w="28575">
              <a:solidFill>
                <a:schemeClr val="accent2"/>
              </a:solidFill>
            </a:ln>
          </p:spPr>
        </p:sp>
        <p:sp>
          <p:nvSpPr>
            <p:cNvPr id="10" name="TextBox 10"/>
            <p:cNvSpPr txBox="1"/>
            <p:nvPr/>
          </p:nvSpPr>
          <p:spPr>
            <a:xfrm>
              <a:off x="440436" y="410210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权利不自动排除任何管理，</a:t>
              </a:r>
            </a:p>
          </p:txBody>
        </p:sp>
        <p:sp>
          <p:nvSpPr>
            <p:cNvPr id="11" name="TextBox 11"/>
            <p:cNvSpPr txBox="1"/>
            <p:nvPr/>
          </p:nvSpPr>
          <p:spPr>
            <a:xfrm>
              <a:off x="440436" y="4692650"/>
              <a:ext cx="848258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管理目的也不自动证明任何限制都适当。</a:t>
              </a:r>
            </a:p>
          </p:txBody>
        </p:sp>
      </p:grpSp>
      <p:grpSp>
        <p:nvGrpSpPr>
          <p:cNvPr id="14" name="p47-reveal-1"/>
          <p:cNvGrpSpPr/>
          <p:nvPr/>
        </p:nvGrpSpPr>
        <p:grpSpPr>
          <a:xfrm>
            <a:off x="445008" y="5775325"/>
            <a:ext cx="9070848" cy="469392"/>
            <a:chOff x="445008" y="5775325"/>
            <a:chExt cx="9070848" cy="469392"/>
          </a:xfrm>
        </p:grpSpPr>
        <p:sp>
          <p:nvSpPr>
            <p:cNvPr id="13" name="TextBox 13"/>
            <p:cNvSpPr txBox="1"/>
            <p:nvPr/>
          </p:nvSpPr>
          <p:spPr>
            <a:xfrm>
              <a:off x="445008" y="5775325"/>
              <a:ext cx="9070848"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下一讲：平等、人身自由等具体保护对象，以及公民基本义务。</a:t>
              </a:r>
            </a:p>
          </p:txBody>
        </p:sp>
      </p:grpSp>
      <p:grpSp>
        <p:nvGrpSpPr>
          <p:cNvPr id="17" name="p47-footer"/>
          <p:cNvGrpSpPr/>
          <p:nvPr/>
        </p:nvGrpSpPr>
        <p:grpSpPr>
          <a:xfrm>
            <a:off x="451866" y="6502400"/>
            <a:ext cx="11247444" cy="205359"/>
            <a:chOff x="451866" y="6502400"/>
            <a:chExt cx="11247444" cy="205359"/>
          </a:xfrm>
        </p:grpSpPr>
        <p:sp>
          <p:nvSpPr>
            <p:cNvPr id="15" name="TextBox 15"/>
            <p:cNvSpPr txBox="1"/>
            <p:nvPr/>
          </p:nvSpPr>
          <p:spPr>
            <a:xfrm>
              <a:off x="451866" y="6502400"/>
              <a:ext cx="213093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第五讲《基本权利的一般原理》。</a:t>
              </a:r>
            </a:p>
          </p:txBody>
        </p:sp>
        <p:sp>
          <p:nvSpPr>
            <p:cNvPr id="16" name="TextBox 16"/>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47 / 47</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lecture-05-20261015-student-ready">
  <a:themeElements>
    <a:clrScheme name="lecture-05-20261015-student-ready">
      <a:dk1>
        <a:srgbClr val="2F2D29"/>
      </a:dk1>
      <a:lt1>
        <a:srgbClr val="F7F3EA"/>
      </a:lt1>
      <a:dk2>
        <a:srgbClr val="1F497D"/>
      </a:dk2>
      <a:lt2>
        <a:srgbClr val="ECE5D6"/>
      </a:lt2>
      <a:accent1>
        <a:srgbClr val="202C35"/>
      </a:accent1>
      <a:accent2>
        <a:srgbClr val="A02B2D"/>
      </a:accent2>
      <a:accent3>
        <a:srgbClr val="526774"/>
      </a:accent3>
      <a:accent4>
        <a:srgbClr val="202C35"/>
      </a:accent4>
      <a:accent5>
        <a:srgbClr val="6A645C"/>
      </a:accent5>
      <a:accent6>
        <a:srgbClr val="C7BFB1"/>
      </a:accent6>
      <a:hlink>
        <a:srgbClr val="A02B2D"/>
      </a:hlink>
      <a:folHlink>
        <a:srgbClr val="526774"/>
      </a:folHlink>
    </a:clrScheme>
    <a:fontScheme name="lecture-05-20261015-student-rea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cture-05-20261015-student-rea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ecture-05-20261015-student-ready">
  <a:themeElements>
    <a:clrScheme name="lecture-05-20261015-student-ready">
      <a:dk1>
        <a:srgbClr val="2F2D29"/>
      </a:dk1>
      <a:lt1>
        <a:srgbClr val="F7F3EA"/>
      </a:lt1>
      <a:dk2>
        <a:srgbClr val="1F497D"/>
      </a:dk2>
      <a:lt2>
        <a:srgbClr val="ECE5D6"/>
      </a:lt2>
      <a:accent1>
        <a:srgbClr val="202C35"/>
      </a:accent1>
      <a:accent2>
        <a:srgbClr val="A02B2D"/>
      </a:accent2>
      <a:accent3>
        <a:srgbClr val="526774"/>
      </a:accent3>
      <a:accent4>
        <a:srgbClr val="202C35"/>
      </a:accent4>
      <a:accent5>
        <a:srgbClr val="6A645C"/>
      </a:accent5>
      <a:accent6>
        <a:srgbClr val="C7BFB1"/>
      </a:accent6>
      <a:hlink>
        <a:srgbClr val="A02B2D"/>
      </a:hlink>
      <a:folHlink>
        <a:srgbClr val="526774"/>
      </a:folHlink>
    </a:clrScheme>
    <a:fontScheme name="lecture-05-20261015-student-rea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cture-05-20261015-student-rea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47</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2026-10-15T13:11:04Z</dcterms:created>
  <dcterms:modified xsi:type="dcterms:W3CDTF">2026-10-15T13:11:04Z</dcterms:modified>
  <cp:category/>
  <cp:contentStatus/>
</cp:coreProperties>
</file>