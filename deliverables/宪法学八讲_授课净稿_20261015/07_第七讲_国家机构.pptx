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6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  <Relationship Id="rId6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第七讲　国家机构</a:t>
            </a:r>
          </a:p>
          <a:p>
            <a:pPr/>
            <a:endParaRPr lang="zh-CN" dirty="0"/>
          </a:p>
          <a:p>
            <a:pPr/>
            <a:r>
              <a:rPr lang="zh-CN" dirty="0"/>
              <a:t>&gt; 公安专业一年级；上下两节各45分钟，课间另计。小标题供定位；方括号为简短课堂提示。</a:t>
            </a:r>
          </a:p>
          <a:p>
            <a:pPr/>
            <a:endParaRPr lang="zh-CN" dirty="0"/>
          </a:p>
          <a:p>
            <a:pPr/>
            <a:r>
              <a:rPr lang="zh-CN" dirty="0"/>
              <a:t>上节｜国家权力机关与其组织关系</a:t>
            </a:r>
          </a:p>
          <a:p>
            <a:pPr/>
            <a:endParaRPr lang="zh-CN" dirty="0"/>
          </a:p>
          <a:p>
            <a:pPr/>
            <a:r>
              <a:rPr lang="zh-CN" dirty="0"/>
              <a:t>一、国家机构的含义和组织活动原则</a:t>
            </a:r>
          </a:p>
          <a:p>
            <a:pPr/>
            <a:endParaRPr lang="zh-CN" dirty="0"/>
          </a:p>
          <a:p>
            <a:pPr/>
            <a:r>
              <a:rPr lang="zh-CN" dirty="0"/>
              <a:t>前两讲我们看的是权利和义务。第五讲讲的是权利为什么可以要求、什么时候可以被限制；第六讲讲的是具体权利各保护什么、义务又有哪些。这两讲里反复出现一句话——“国家要保障”“机关要依法办”。这些保障任务要通过具体的国家机关承担，不能只停在抽象的“国家”二字；“依法办”也要落到谁有权办、按什么关系办上。所以从这一讲开始，我们回答一个更具体的问题：这些工作究竟由哪些机关、按照什么关系承担。</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分清两个词。按教材在这里的用法，国家机构指全部国家机关组成的体系，国家机关则可指其中一个具体成员。说全国人民代表大会是一个国家机关，是在辨认体系中的成员；说国家机构，是在看这些成员怎样组成整体。本讲先把这两个用法分开，避免一会儿谈整体、一会儿谈成员，自己没有察觉。</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区分不是咬文嚼字，它有来历。1954年制定宪法时，草案初稿曾经用过另一个说法，叫“国家权力的组织”。后来发现这个说法不好用——宪法里本来就有“权力机关”“国家权力机关”这样的词，几个说法只差一两个字，写进条文容易混；最后改用了“国家机构”。这个词是反复比较之后选定的，不是随手起的名字。</a:t>
            </a:r>
          </a:p>
          <a:p>
            <a:pPr/>
            <a:endParaRPr lang="zh-CN" dirty="0"/>
          </a:p>
          <a:p>
            <a:pPr/>
            <a:r>
              <a:rPr lang="zh-CN" dirty="0"/>
              <a:t>再看它的分量。我国现行宪法共一百四十三条，第三章“国家机构”从第五十七条到第一百四十条，共八十四条，超过正文的一半。条数说明这一部分很重要，却不是说权利的分量更轻。恰恰是为了让保障权利有组织上的落实，才要认真安排谁掌握权力、怎样行使、怎样受到约束。</a:t>
            </a:r>
          </a:p>
          <a:p>
            <a:pPr/>
            <a:endParaRPr lang="zh-CN" dirty="0"/>
          </a:p>
          <a:p>
            <a:pPr/>
            <a:r>
              <a:rPr lang="zh-CN" dirty="0"/>
              <a:t>教材从词源谈到，宪法一词有构成、组织的意味。这能帮助我们理解它为什么重视国家组织，但一个词的来历，并不能替今天的机关授予职权。真正要由规范回答的是：机关怎么产生，有哪些权限，按什么程序工作，违法行权怎样纠正。</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试想，只写“公民的自由受保障”，却不说明谁能限制自由、谁审查、谁负责纠错，保障就缺少具体承担者。因此，教材强调宪法不能回避国家组织的问题；即使没有单列权利清单，也不能跳过权力由谁、怎样行使的问题。这不是说权利可以不要，而是说明权利保障与权力组织相互联系。</a:t>
            </a:r>
          </a:p>
          <a:p>
            <a:pPr/>
            <a:endParaRPr lang="zh-CN" dirty="0"/>
          </a:p>
          <a:p>
            <a:pPr/>
            <a:r>
              <a:rPr lang="zh-CN" dirty="0"/>
              <a:t>那么，国家机构和一般企业、社会组织有什么不同？教材从四方面说明：它的性质与国家性质相适应，具有鲜明的阶级性；它由实现国家职能的各类国家机关组成；它依法行使立法、行政、审判等国家权力，管理事务、提供公共服务；不同国家的机构形式又有某些相似之处。这里不能只凭一个组织也提供公共服务，就把它认定为国家机关，仍要看法律确定的性质和职权。</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这一单元的真正重点：我国国家机构的组织和活动原则。教材归纳了六项——党的领导、民主集中制、为人民服务、权责统一、精简和效率、法治。六项不是并列的六句话，它们各自管一段：党的领导管方向，民主集中制管组织，为人民服务管目的，权责统一和精简效率管运行，法治管依据。我们不平均用力，重点说两项，其余四项各点一句。</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第一项是民主集中制。 第三讲已经建立它的基本认识，本讲看它怎样落实到机关关系。民主的一面，包括代表经民主选举产生，对人民负责、受人民监督，国家工作应当体现人民的利益和要求。集中的一面，是人民通过人民代表大会统一行使国家权力，其他国家机关由它产生，对它负责、受它监督。</a:t>
            </a:r>
          </a:p>
          <a:p>
            <a:pPr/>
            <a:endParaRPr lang="zh-CN" dirty="0"/>
          </a:p>
          <a:p>
            <a:pPr/>
            <a:r>
              <a:rPr lang="zh-CN" dirty="0"/>
              <a:t>教材以西方国家的分权安排作对照。本讲不重讲思想史，只辨认一项组织上的区别：我国不是把人大、政府、法院等安排成地位平等、彼此分立的最高权力中心，而是以人民代表大会制度组织国家权力，再由不同机关依法分工。</a:t>
            </a:r>
          </a:p>
          <a:p>
            <a:pPr/>
            <a:endParaRPr lang="zh-CN" dirty="0"/>
          </a:p>
          <a:p>
            <a:pPr/>
            <a:r>
              <a:rPr lang="zh-CN" dirty="0"/>
              <a:t>统一行使与专业分工怎样同时成立？制定法律、进行行政管理、审理案件，需要不同的工作组织和程序，不能都由同一个会议亲自办理。人大依法作出决定、监督工作，其他机关在各自权限内履职并承担责任。统一的是国家权力的制度基础和法定组织关系，不是取消全部分工，也不是把所有决定交给一个人。</a:t>
            </a:r>
          </a:p>
          <a:p>
            <a:pPr/>
            <a:endParaRPr lang="zh-CN" dirty="0"/>
          </a:p>
          <a:p>
            <a:pPr/>
            <a:r>
              <a:rPr lang="zh-CN" dirty="0"/>
              <a:t>教材说人大与其产生的其他机关不是各自分立、平等分权的关系，要把这个比较对象记住。它不表示所有国家机关之间都没有制约。后面第一百四十条还会明确规定公检法办案互相制约。人大同其他机关的产生监督关系，与办案机关之间的程序制约，是不同问题，不能用一句“统一”抹掉后一种关系。</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第二项是权责统一。 我国国家机构行使宪法和法律规定的管理职权；同时，一切国家机关实行工作责任制，国家机关如果违法或者不当行使职权，应当承担相应的法律责任。教材在这里用了一句很重的话，我念原话给大家听。它先要求各级机关和工作人员带头尊法学法守法用法，接着说了两个“不得”——不得有超越宪法法律的特权；绝不允许以言代法、以权压法、逐利违法、徇私枉法。</a:t>
            </a:r>
          </a:p>
          <a:p>
            <a:pPr/>
            <a:endParaRPr lang="zh-CN" dirty="0"/>
          </a:p>
          <a:p>
            <a:pPr/>
            <a:r>
              <a:rPr lang="zh-CN" dirty="0"/>
              <a:t>这句话对我们公安专业尤其要紧。职权是法定的，行使要按法定方式，越界要承担责任。有职权，就有责任；有权力运行的地方，就要有对权力的监督。 教材同时提醒，要健全党和国家监督体系，完善对权力运行的监督制约机制——这一点第八讲还要专门讲。</a:t>
            </a:r>
          </a:p>
          <a:p>
            <a:pPr/>
            <a:endParaRPr lang="zh-CN" dirty="0"/>
          </a:p>
          <a:p>
            <a:pPr/>
            <a:r>
              <a:rPr lang="zh-CN" dirty="0"/>
              <a:t>其余四项也各有一句要记住。为人民服务：宪法第二条规定，国家的一切权力属于人民；所以一切国家机关和国家机关工作人员都要依靠人民的支持，同人民保持密切联系，倾听意见，自觉接受监督。精简和效率：一切国家机关实行精简的原则，要克服机构重叠、职责交叉、权责脱节等问题。法治：依法治国、依法执政、依法行政共同推进，法治国家、法治政府、法治社会一体建设，重大改革要于法有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党的领导原则也有两面要一起理解。人大、政府、监察、审判、检察等国家机关，要在党的领导下依法行使权力、履行职责；中国共产党在宪法和法律的范围内活动，并保证国家立法、司法、行政、监察机关积极主动地、独立负责地、协调一致地工作。不能只保留领导两个字，却省去依法履职和各自负责的要求。</a:t>
            </a:r>
          </a:p>
          <a:p>
            <a:pPr/>
            <a:endParaRPr lang="zh-CN" dirty="0"/>
          </a:p>
          <a:p>
            <a:pPr/>
            <a:r>
              <a:rPr lang="zh-CN" dirty="0"/>
              <a:t>这里还有一个区分，对我们理解后面整讲都有用。教材专门说明：全国人民代表大会与党的全国代表大会、党的中央委员会，是性质不同的两种组织——一边是全国人民行使国家权力的最高政权组织，属于国家机构；另一边是党的中央组织和党的最高领导机关。两种组织的性质不同，不等于关系对立，而是说：当我们讨论“最高国家权力机关”的时候，讨论的是国家机构这一侧的宪法地位和职权。这一层分清了，后面每讲一个机关，我们都不会把政治地位和宪法职权混在一起。</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所以从这一讲开始，每遇到一个机关，我们都要分别问三件事：它是什么机关？它能做什么？它和谁是什么关系？ 这三件事各自有各自的条文依据，不能互相顶替。比如“重要”“核心”“领导”这些词，讲的是地位，不是权限清单；地位高，不等于什么都能管。</a:t>
            </a:r>
          </a:p>
          <a:p>
            <a:pPr/>
            <a:endParaRPr lang="zh-CN" dirty="0"/>
          </a:p>
          <a:p>
            <a:pPr/>
            <a:r>
              <a:rPr lang="zh-CN" dirty="0"/>
              <a:t>这三个问题先带在身边，遇到具体工作再用它们判断，而不是只把机关名称填进表格。</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补一处规范变动。宪法第三条第三款原来点的是三类机关——行政机关、审判机关、检察机关，都由人民代表大会产生，对它负责、受它监督。2018年《宪法修正案》在这个句子里多加了一个机关：监察机关。一处添加，就把一个新机关接进了原有的产生与监督关系。 我们后面的内容，正是在这张已经更新过的关系图上展开。</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二、全国人民代表大会及其常务委员会</a:t>
            </a:r>
          </a:p>
          <a:p>
            <a:pPr/>
            <a:endParaRPr lang="zh-CN" dirty="0"/>
          </a:p>
          <a:p>
            <a:pPr/>
            <a:r>
              <a:rPr lang="zh-CN" dirty="0"/>
              <a:t>（一）地位与代表性职权</a:t>
            </a:r>
          </a:p>
          <a:p>
            <a:pPr/>
            <a:endParaRPr lang="zh-CN" dirty="0"/>
          </a:p>
          <a:p>
            <a:pPr/>
            <a:r>
              <a:rPr lang="zh-CN" dirty="0"/>
              <a:t>进入具体机关。先从整个体系里地位最高的那个开始。</a:t>
            </a:r>
          </a:p>
          <a:p>
            <a:pPr/>
            <a:endParaRPr lang="zh-CN" dirty="0"/>
          </a:p>
          <a:p>
            <a:pPr/>
            <a:r>
              <a:rPr lang="zh-CN" dirty="0"/>
              <a:t>宪法第五十七条规定：中华人民共和国全国人民代表大会是最高国家权力机关，它的常设机关是全国人民代表大会常务委员会。第五十八条接着规定：全国人民代表大会和全国人民代表大会常务委员会行使国家立法权。两条一起读，地位和职权就都有了落点。</a:t>
            </a:r>
          </a:p>
          <a:p>
            <a:pPr/>
            <a:endParaRPr lang="zh-CN" dirty="0"/>
          </a:p>
          <a:p>
            <a:pPr/>
            <a:r>
              <a:rPr lang="zh-CN" dirty="0"/>
              <a:t>“最高国家权力机关”这个说法，教材分三层解释。第一，全国人大具有广泛代表性，代表来自省、自治区、直辖市、特别行政区和军队，各少数民族都应当有适当名额。第二，它统一行使国家权力。第三，它在国家机构体系中居于最高地位，国务院、中央军委、国家监委和最高两院等中央机关由它产生，依法同它形成负责、监督等关系，不是与它地位平等的另一套最高国家权力机关。</a:t>
            </a:r>
          </a:p>
          <a:p>
            <a:pPr/>
            <a:endParaRPr lang="zh-CN" dirty="0"/>
          </a:p>
          <a:p>
            <a:pPr/>
            <a:r>
              <a:rPr lang="zh-CN" dirty="0"/>
              <a:t>最高地位仍须同权限一起理解。全国人大能修改宪法，不等于可以跳过修宪程序；能监督法院，也不等于代替法院审理每个案件。宪法第五条要求一切国家机关遵守宪法和法律，不允许超越宪法法律的特权。最高机关同样在这个要求之内，不能把“最高”读成“任何事都能任意处理”。</a:t>
            </a:r>
          </a:p>
          <a:p>
            <a:pPr/>
            <a:endParaRPr lang="zh-CN" dirty="0"/>
          </a:p>
          <a:p>
            <a:pPr/>
            <a:r>
              <a:rPr lang="zh-CN" dirty="0"/>
              <a:t>关于组成和任期，教材说明代表名额不超过三千人，每届任期五年。这样大规模的会议体实行定期会议制度，同时还需要持续处理立法、监督等工作。这个组织上的需要，与后面要讲的常设机关相联系；但不能因此说全国人大一年只能开一次会。</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那么它到底能做什么？宪法第六十二条给全国人民代表大会列了十六项职权。十六项不必一条条背，教材把它们归纳成六个方面，我们逐项看。</a:t>
            </a:r>
          </a:p>
          <a:p>
            <a:pPr/>
            <a:endParaRPr lang="zh-CN" dirty="0"/>
          </a:p>
          <a:p>
            <a:pPr/>
            <a:r>
              <a:rPr lang="zh-CN" dirty="0"/>
              <a:t>第一，修改宪法和监督宪法实施。修宪由全国人大常委会或者五分之一以上的全国人大代表提议，由全国人大全体代表三分之二以上多数通过。普通法律和其他议案的通过，通常要求全体代表过半数。第二讲已讲程序背景，本讲用这一区别确认：谁能提出、谁能通过，是两个不同的权限问题。</a:t>
            </a:r>
          </a:p>
          <a:p>
            <a:pPr/>
            <a:endParaRPr lang="zh-CN" dirty="0"/>
          </a:p>
          <a:p>
            <a:pPr/>
            <a:r>
              <a:rPr lang="zh-CN" dirty="0"/>
              <a:t>第二，制定和修改基本法律——包括有关刑事、民事、国家机构的法律和其他基本法律。这里和第六十七条要对照着看，我们放到后面统一说。</a:t>
            </a:r>
          </a:p>
          <a:p>
            <a:pPr/>
            <a:endParaRPr lang="zh-CN" dirty="0"/>
          </a:p>
          <a:p>
            <a:pPr/>
            <a:r>
              <a:rPr lang="zh-CN" dirty="0"/>
              <a:t>第三，对中央国家机关组成人员的选举、决定人选和罢免。教材这一项展开得最具体，我们第三个单元专门读它。</a:t>
            </a:r>
          </a:p>
          <a:p>
            <a:pPr/>
            <a:endParaRPr lang="zh-CN" dirty="0"/>
          </a:p>
          <a:p>
            <a:pPr/>
            <a:r>
              <a:rPr lang="zh-CN" dirty="0"/>
              <a:t>第四，决定重大国家事项：审查批准国民经济和社会发展计划、国家的预算；批准省级建置；决定特别行政区的设立和制度；决定战争与和平的问题。</a:t>
            </a:r>
          </a:p>
          <a:p>
            <a:pPr/>
            <a:endParaRPr lang="zh-CN" dirty="0"/>
          </a:p>
          <a:p>
            <a:pPr/>
            <a:r>
              <a:rPr lang="zh-CN" dirty="0"/>
              <a:t>第五，监督其他中央国家机关。</a:t>
            </a:r>
          </a:p>
          <a:p>
            <a:pPr/>
            <a:endParaRPr lang="zh-CN" dirty="0"/>
          </a:p>
          <a:p>
            <a:pPr/>
            <a:r>
              <a:rPr lang="zh-CN" dirty="0"/>
              <a:t>第六，应当由最高国家权力机关行使的其他职权。</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六项是兜底规定，但请读出“应当由”三个字。它为宪法未能逐项列尽、但依整个宪法安排应由最高国家权力机关处理的事项留下空间，不是只要自称重大，任何工作都归全国人大。判断还要看事项的性质、宪法已经作出的职责分配和应走的程序。不能拿兜底规定绕开修宪门槛，也不能因此抹去其他机关的法定职责。它补充列举，不取消已经明确的分工。</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常委会。教材说，根据现行宪法和有关法律的规定，常委会的职权可以归纳为七个方面：解释宪法和监督宪法实施、立法、法律解释、监督、重大国家事项决定、人事任免，再加一项全国人大授予的其他职权。</a:t>
            </a:r>
          </a:p>
          <a:p>
            <a:pPr/>
            <a:endParaRPr lang="zh-CN" dirty="0"/>
          </a:p>
          <a:p>
            <a:pPr/>
            <a:r>
              <a:rPr lang="zh-CN" dirty="0"/>
              <a:t>我们挑几项读准。立法权这一项分两层：属于全国人大制定的法律之外的其他法律，常委会可以制定和修改；全国人大闭会期间，常委会还可以对全国人大的法律作部分补充和修改——但有一条硬约束，不得同该法律的基本原则相抵触。法律解释权也有限定，两种情形才由常委会解释：一是条文本身需要进一步明确具体含义；二是法律制定后出现新情况，需要明确适用法律的依据。人事任免权则要按不同职位，分别核对谁提名或提请、哪些须在大会闭会期间决定。</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监督权也有具体工作。听取审议专项工作报告、检查法律实施情况，是了解和检查工作；询问、质询、特定问题调查，是依法追问和查明问题；对有关规范进行审查、依法纠正，则要区分文件种类和处理权限。监督不能只说态度，也不能把听取报告、发现问题与最后撤销某项规定合成一个动作。</a:t>
            </a:r>
          </a:p>
          <a:p>
            <a:pPr/>
            <a:endParaRPr lang="zh-CN" dirty="0"/>
          </a:p>
          <a:p>
            <a:pPr/>
            <a:r>
              <a:rPr lang="zh-CN" dirty="0"/>
              <a:t>以备案审查为例。行政法规报全国人大常委会备案，地方政府规章还要报本级人大常委会备案；不同文件向法律指定的机关报送，并不是所有文件一律往某个上级交。报送让有关机关取得审查对象，不等于报来的文件已经违法，更不等于马上撤销。</a:t>
            </a:r>
          </a:p>
          <a:p>
            <a:pPr/>
            <a:endParaRPr lang="zh-CN" dirty="0"/>
          </a:p>
          <a:p>
            <a:pPr/>
            <a:r>
              <a:rPr lang="zh-CN" dirty="0"/>
              <a:t>发现问题以后，还要审查依据、同制定机关沟通，依法推动修改或者废止，必要时由有权机关作出相应处理。比如，国务院接收地方性法规备案，并不能因此就取得撤销地方性法规的权力。收到了文件、发现了问题、有权作何种处理，是三件要分别回答的事。 完整审查制度留到第八讲，这里先分清主体和权限。</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两组职权放在一起看，一个规律就出来了：全国人大修改宪法，常委会解释宪法、监督实施；全国人大制定和修改基本法律，常委会制定和修改其他法律；闭会期间常委会可以对全国人大的法律作部分补充和修改，而且有“不得抵触基本原则”这条硬约束。常委会做的是持续性的、经常性的工作，但它的边界是清楚的。</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常委会的地位怎么理解？第一，它是全国人大的常设机关，组成人员由全国人大从代表中选出，每届任期相同。第二，现行宪法明确全国人大和常委会依法行使国家立法权，再分别划定权限，不能把常委会当作只办理日常杂务的机构。第三，它产生于全国人大，并不是独立于全国人大之外的另一最高国家权力机关。</a:t>
            </a:r>
          </a:p>
          <a:p>
            <a:pPr/>
            <a:endParaRPr lang="zh-CN" dirty="0"/>
          </a:p>
          <a:p>
            <a:pPr/>
            <a:r>
              <a:rPr lang="zh-CN" dirty="0"/>
              <a:t>第三点由宪法第六十九条落定：全国人民代表大会常务委员会对全国人民代表大会负责并报告工作。 加上全国人大有权改变或者撤销常委会不适当的决定，有权依照法定程序罢免常委会的组成人员，这条“产生它的机关管着它”的链条就完整了。</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关于常委会的组成和会议，教材交代的细节都服务于“常设”这两个字，我们只取结论：常委会由委员长、副委员长、秘书长和委员组成；组成人员有个限制：不能在行政机关、监察机关、审判机关和检察机关任职；委员长、副委员长连续任职不得超过两届。常委会集体行使职权，必须通过召集和举行会议、依照法定程序作出决定；会议一般每两个月举行一次，有特殊需要可以临时召集；举行会议必须有常委会全体组成人员过半数出席。</a:t>
            </a:r>
          </a:p>
          <a:p>
            <a:pPr/>
            <a:endParaRPr lang="zh-CN" dirty="0"/>
          </a:p>
          <a:p>
            <a:pPr/>
            <a:r>
              <a:rPr lang="zh-CN" dirty="0"/>
              <a:t>这些安排使常委会能够持续开展工作。但全国人大也不是任何情况下都只能一年开一次会：常委会认为必要，或者五分之一以上的全国人大代表提议，可以临时召集全国人大会议。因此，常设机关的意义不能只从两个会期数字相减得出。</a:t>
            </a:r>
          </a:p>
          <a:p>
            <a:pPr/>
            <a:endParaRPr lang="zh-CN" dirty="0"/>
          </a:p>
          <a:p>
            <a:pPr/>
            <a:r>
              <a:rPr lang="zh-CN" dirty="0"/>
              <a:t>有了全国人大，为什么还要常委会？法律的补充修改、预算执行监督、有关任免等事务持续发生，不宜每办一项都召集整个大会。宪法设置较为精干的常设机关，明确它的立法、监督和决定权限，承接经常性工作。这是持续工作的组织安排，不是从“方便”推导出无限权限；有些事项仍须由全国人大处理，必要时就应依程序开会，不能让常委会越过界限。</a:t>
            </a:r>
          </a:p>
          <a:p>
            <a:pPr/>
            <a:endParaRPr lang="zh-CN" dirty="0"/>
          </a:p>
          <a:p>
            <a:pPr/>
            <a:r>
              <a:rPr lang="zh-CN" dirty="0"/>
              <a:t>所以，关于常委会，请大家记住一句话：常设地位体现的是持续工作的组织安排，不是复制了全国人大的全部权限。 它能经常性地工作，这个“经常”是制度优势；但它的权限边界由宪法划好，不能拿“方便”去替代宪法分工。</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用一个假设检查这条界限。全国人大闭会期间，有项改革确实需要先修改宪法。有人主张，事情急，常委会又能持续工作，不如直接由常委会通过修宪文本。请依据刚才讲的提议、通过和临时开会规定，说明这个主张哪一部分理由有道理，哪一步不能由此推出，以及还有什么法定路径。</a:t>
            </a:r>
          </a:p>
          <a:p>
            <a:pPr/>
            <a:endParaRPr lang="zh-CN" dirty="0"/>
          </a:p>
          <a:p>
            <a:pPr/>
            <a:r>
              <a:rPr lang="zh-CN" dirty="0"/>
              <a:t>【独立思考约一至两分钟：分别写出工作需要、权限界限和可行程序。教师暂停讲述。】</a:t>
            </a:r>
          </a:p>
          <a:p>
            <a:pPr/>
            <a:endParaRPr lang="zh-CN" dirty="0"/>
          </a:p>
          <a:p>
            <a:pPr/>
            <a:r>
              <a:rPr lang="zh-CN" dirty="0"/>
              <a:t>及时处理事务确实是需要，但需要及时，不等于常委会因此取得修改宪法的权力。常委会可以依法提出修宪议案，必要时可以临时召集全国人大会议，再由大会依修宪程序决定。这个例子也不是说改革都要修宪；我们明确给定了确需修宪的情形。工作需要说明为什么要行动，法定权限和程序决定怎样行动，两者不能互相顶替。</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补一处组织安排上的结论。全国人民代表大会和它的常委会下面，另设专门委员会和调查委员会两类机构。专门委员会是在全国人大及其常委会领导下研究、审议和拟订有关议案的常设工作机构；调查委员会则是依照法定程序成立、就特定问题进行调查的组织。这里只要记住一句话：这两类都是工作机构和调查组织，它们本身不是国家权力机关，手中的职权仍然来自全国人大。 具体的设置沿革和各专门委员会的名称，属于备查内容，我们课上不逐项展开。</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（二）常设机关与执行机关的区别</a:t>
            </a:r>
          </a:p>
          <a:p>
            <a:pPr/>
            <a:endParaRPr lang="zh-CN" dirty="0"/>
          </a:p>
          <a:p>
            <a:pPr/>
            <a:r>
              <a:rPr lang="zh-CN" dirty="0"/>
              <a:t>现在把这个区分钉死，因为这是一个很容易说漏的坑。</a:t>
            </a:r>
          </a:p>
          <a:p>
            <a:pPr/>
            <a:endParaRPr lang="zh-CN" dirty="0"/>
          </a:p>
          <a:p>
            <a:pPr/>
            <a:r>
              <a:rPr lang="zh-CN" dirty="0"/>
              <a:t>宪法第八十五条规定：中华人民共和国国务院，即中央人民政府；它是最高国家权力机关的执行机关；也是最高国家行政机关。</a:t>
            </a:r>
          </a:p>
          <a:p>
            <a:pPr/>
            <a:endParaRPr lang="zh-CN" dirty="0"/>
          </a:p>
          <a:p>
            <a:pPr/>
            <a:r>
              <a:rPr lang="zh-CN" dirty="0"/>
              <a:t>注意这个说法的结构。国务院有三个身份，其中一个是“最高国家权力机关的执行机关”——它执行的是最高国家权力机关制定的法律和决议。反过来说，宪法和法律没有规定的职权，它不能自己行使。 这就是“执行机关”这几个字的分量。国务院和最高国家权力机关的关系，宪法第九十二条写得很清楚：国务院要对全国人大负责并报告工作；全国人大闭会期间，对常委会负责并报告工作。</a:t>
            </a:r>
          </a:p>
          <a:p>
            <a:pPr/>
            <a:endParaRPr lang="zh-CN" dirty="0"/>
          </a:p>
          <a:p>
            <a:pPr/>
            <a:r>
              <a:rPr lang="zh-CN" dirty="0"/>
              <a:t>而常委会是最高国家权力机关的常设机关，它是在闭会期间“部分行使最高国家权力”的那个组成部分。</a:t>
            </a:r>
          </a:p>
          <a:p>
            <a:pPr/>
            <a:endParaRPr lang="zh-CN" dirty="0"/>
          </a:p>
          <a:p>
            <a:pPr/>
            <a:r>
              <a:rPr lang="zh-CN" dirty="0"/>
              <a:t>一边是“常设”，一边是“执行”；一边是权力机关自己的一部分，一边是由权力机关产生、对它负责的行政机关。这两种身份不能互换。</a:t>
            </a:r>
          </a:p>
          <a:p>
            <a:pPr/>
            <a:endParaRPr lang="zh-CN" dirty="0"/>
          </a:p>
          <a:p>
            <a:pPr/>
            <a:r>
              <a:rPr lang="zh-CN" dirty="0"/>
              <a:t>区别具体在哪里？我们把两个词各自展开。“常设”说的是时间上的接续：全国人大一年集中开一次会，闭会期间谁来持续行使最高国家权力？由它自己的常设机关来做，而且做的是宪法规定范围内的部分工作。“执行”说的是内容上的下落：法律和决议作出之后，谁来把它变成行政管理上的具体措施？由国务院来做，而且做的时候必须有法律依据或宪法授权。</a:t>
            </a:r>
          </a:p>
          <a:p>
            <a:pPr/>
            <a:endParaRPr lang="zh-CN" dirty="0"/>
          </a:p>
          <a:p>
            <a:pPr/>
            <a:r>
              <a:rPr lang="zh-CN" dirty="0"/>
              <a:t>所以，把常委会说成全国人大的执行机构，会混淆两类机关。常委会依法行使国家立法、监督等职权；国务院承担行政执行和管理，也依法制定行政法规。不能简单说成一边制定规则、另一边不制定规则。国务院能制定行政法规，不使它变成国家权力机关；行政法规的权限、内容与法律的关系，仍须按宪法和法律判断。</a:t>
            </a:r>
          </a:p>
          <a:p>
            <a:pPr/>
            <a:endParaRPr lang="zh-CN" dirty="0"/>
          </a:p>
          <a:p>
            <a:pPr/>
            <a:r>
              <a:rPr lang="zh-CN" dirty="0"/>
              <a:t>讲到这里，可以把这一单元的内容合起来收一下。常委会不是全国人大的“缩小版”，国务院也不是全国人大的“办事机构”。 每一个机关都有自己的性质、自己的权限来源和自己的关系位置。这一单元的两个词——常设、执行——正好是检验有没有真读条文的试金石。</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三、国家机关的产生、负责与监督</a:t>
            </a:r>
          </a:p>
          <a:p>
            <a:pPr/>
            <a:endParaRPr lang="zh-CN" dirty="0"/>
          </a:p>
          <a:p>
            <a:pPr/>
            <a:r>
              <a:rPr lang="zh-CN" dirty="0"/>
              <a:t>第三个单元，把“关系”这件抽象的事落到宪法行为上。</a:t>
            </a:r>
          </a:p>
          <a:p>
            <a:pPr/>
            <a:endParaRPr lang="zh-CN" dirty="0"/>
          </a:p>
          <a:p>
            <a:pPr/>
            <a:r>
              <a:rPr lang="zh-CN" dirty="0"/>
              <a:t>宪法第三条规定了国家机构的组织活动原则。其中有一句是概括：行政机关、监察机关、审判机关、检察机关，都由人民代表大会产生；产生之后，对它负责，受它监督。这句话读起来很顺，但它是一句概括；概括要落到实处，必须找到具体的宪法行为。</a:t>
            </a:r>
          </a:p>
          <a:p>
            <a:pPr/>
            <a:endParaRPr lang="zh-CN" dirty="0"/>
          </a:p>
          <a:p>
            <a:pPr/>
            <a:r>
              <a:rPr lang="zh-CN" dirty="0"/>
              <a:t>教材提示了落点：选举和决定人选不是同一个动作。 我们把它读准。</a:t>
            </a:r>
          </a:p>
          <a:p>
            <a:pPr/>
            <a:endParaRPr lang="zh-CN" dirty="0"/>
          </a:p>
          <a:p>
            <a:pPr/>
            <a:r>
              <a:rPr lang="zh-CN" dirty="0"/>
              <a:t>先看选举。宪法第六十二条规定，全国人民代表大会选举国家主席和副主席，选举中央军委主席、国家监察委员会主任、最高人民法院院长、最高人民检察院检察长；常委会的委员长、副委员长、秘书长和委员，也是由全国人大选举产生的。这些人的产生方式是选举：由主席团提名，经各代表团酝酿协商后，主席团根据多数代表的意见确定正式候选人名单，交大会由全体代表选举产生。</a:t>
            </a:r>
          </a:p>
          <a:p>
            <a:pPr/>
            <a:endParaRPr lang="zh-CN" dirty="0"/>
          </a:p>
          <a:p>
            <a:pPr/>
            <a:r>
              <a:rPr lang="zh-CN" dirty="0"/>
              <a:t>再看决定人选。同样是第六十二条，但程序不同：国务院总理人选由国家主席提名，国务院其他组成人员由总理提名，中央军委其他组成人员由军委主席提名，再由全国人大决定。提名来源不同，决定机关却同为全国人大。比如国家主席由大会选举，总理人选则由国家主席提出、交大会决定。谁选举、谁提名、谁决定，是可以分别回答的问题，不能用一个“人大产生”打包带过。</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什么要分成不同动作？议事规则要求提名人介绍人选基本情况，对代表的问题作必要说明；代表在了解人选后，以无记名投票作出集体决定，须超过全体代表半数才通过。国务院有关人员还须由国家主席依法任命。提出并说明人选，不等于自己决定人选；大会作了决定，也不等于省去了后续法定任命。不能因此推成两方签字、任职者以后出了任何问题就一概共同承担法律责任；具体责任须依各自行为和适用规范判断。</a:t>
            </a:r>
          </a:p>
          <a:p>
            <a:pPr/>
            <a:endParaRPr lang="zh-CN" dirty="0"/>
          </a:p>
          <a:p>
            <a:pPr/>
            <a:r>
              <a:rPr lang="zh-CN" dirty="0"/>
              <a:t>回头再说一次：国家主席由全国人大选举；国务院总理人选由国家主席提名、全国人大决定，再依法任命。动词一换，主体和程序也随之变化。</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再看产生的机关和它的关系。选举、决定之后要跟什么？跟负责和监督。</a:t>
            </a:r>
          </a:p>
          <a:p>
            <a:pPr/>
            <a:endParaRPr lang="zh-CN" dirty="0"/>
          </a:p>
          <a:p>
            <a:pPr/>
            <a:r>
              <a:rPr lang="zh-CN" dirty="0"/>
              <a:t>这里要看几条。常委会：第六十九条规定它对全国人大负责并报告工作。国务院：第九十二条规定，对全国人大负责并报告工作；闭会期间对常委会负责并报告工作。中央军委：第九十四条，负责的主体写的是军委主席。法院和检察院：第一百三十三条规定，最高人民法院对全国人大及其常委会负责，地方各级法院对产生它的国家权力机关负责；第一百三十八条规定，最高人民检察院对全国人大及其常委会负责，地方检察院对产生它的国家权力机关和上级检察院负责。产生不是关系的终点，还须分别读清负责、监督及有关报告工作的规定，不能把不同机关一概而论。</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监督怎样展开？大会会议中的审议和表决是重要环节，但不是监督的全部。会前可以调研和检查，会后还要办理审议意见、跟踪有关工作的改进；常委会依法经常开展监督，不能把监督缩成每年开会时听几份报告。</a:t>
            </a:r>
          </a:p>
          <a:p>
            <a:pPr/>
            <a:endParaRPr lang="zh-CN" dirty="0"/>
          </a:p>
          <a:p>
            <a:pPr/>
            <a:r>
              <a:rPr lang="zh-CN" dirty="0"/>
              <a:t>大会的工作程序也要分别理解。一是审议有关工作报告，依法作出相应决议；二是由法定主体按条件提出罢免案；三是询问和质询。审议议案和报告时，有关部门应派负责人员到会回答询问。质询则有另外的提出和答复程序，一个代表团或者三十名以上代表联名，可以书面提出质询案；现行全国人大组织法列出的对象包括国务院及其各部门、国家监察委员会、最高人民法院和最高人民检察院。质询答复可以依法采取口头或者书面形式，不能把两种程序都说成到会回答询问。</a:t>
            </a:r>
          </a:p>
          <a:p>
            <a:pPr/>
            <a:endParaRPr lang="zh-CN" dirty="0"/>
          </a:p>
          <a:p>
            <a:pPr/>
            <a:r>
              <a:rPr lang="zh-CN" dirty="0"/>
              <a:t>但这里必须补一句边界，否则很容易走偏。人大与它产生的机关之间是负责、监督关系，这些机关仍然依法承担自己的工作。 人大的监督，不等于人大亲自去办理行政事务、审判案件和检察工作。行政机关去执法，审判机关去裁判，检察机关去进行法律监督，各司其职。</a:t>
            </a:r>
          </a:p>
          <a:p>
            <a:pPr/>
            <a:endParaRPr lang="zh-CN" dirty="0"/>
          </a:p>
          <a:p>
            <a:pPr/>
            <a:r>
              <a:rPr lang="zh-CN" dirty="0"/>
              <a:t>举个具体的例子就清楚了。大会听取法院院长的工作报告，不等于大会替法院去审案；大会审查国务院的工作报告，也不等于大会替国务院去决定每一项行政措施。 报告经审议后作出的决议，改变的是“要求怎么做”，而具体怎么做，仍然由被监督的机关依法自己去办。监督的是“有没有依法办事、办得怎么样”，不是“替它办”。 一旦这条界线糊掉，决定与执行的分工就没有了，责任制也就无人承担。</a:t>
            </a:r>
          </a:p>
          <a:p>
            <a:pPr/>
            <a:endParaRPr lang="zh-CN" dirty="0"/>
          </a:p>
          <a:p>
            <a:pPr/>
            <a:r>
              <a:rPr lang="zh-CN" dirty="0"/>
              <a:t>所以，对同一个机关，性质、职权、产生及负责关系要分别看相应的规定，不能由一个标签推导出全部制度。</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不能把产生关系概括成全部直接选举。按选举法，省、自治区、直辖市、自治州、设区的市的人大代表，由下一级人大选举；县、自治县、不设区的市、市辖区及乡、民族乡、镇的人大代表，由选民直接选举。代表怎么产生，与国家机关负责人由谁选举或决定，又是不同层次。不能因为都有选举，就说国家主席、总理都由选民直接投票产生；也不能因投票主体不同，就否认公民享有相应的选举权利。</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上节收束。 上节我们把三个问题各自钉在了条文上：机关是什么机关，看第五十七条、第八十五条这样的性质条款；能做什么，看第六十二条、第六十七条这样的职权条款；和谁是什么关系，看第六十九条、第九十二条、第一百三十三条、第一百三十八条这样的负责条款。性质、职权、关系，各自有根据。 下节我们带着这三个问题，去看其他国家机关。</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下节｜不同国家工作与机关关系</a:t>
            </a:r>
          </a:p>
          <a:p>
            <a:pPr/>
            <a:endParaRPr lang="zh-CN" dirty="0"/>
          </a:p>
          <a:p>
            <a:pPr/>
            <a:r>
              <a:rPr lang="zh-CN" dirty="0"/>
              <a:t>四、国家主席与中央军事委员会</a:t>
            </a:r>
          </a:p>
          <a:p>
            <a:pPr/>
            <a:endParaRPr lang="zh-CN" dirty="0"/>
          </a:p>
          <a:p>
            <a:pPr/>
            <a:r>
              <a:rPr lang="zh-CN" dirty="0"/>
              <a:t>上节我们用全国人大及常委会，区分了机关地位、具体权限和组织关系。现在带着这三个问题，继续看其他机关，先从国家主席和中央军委开始。</a:t>
            </a:r>
          </a:p>
          <a:p>
            <a:pPr/>
            <a:endParaRPr lang="zh-CN" dirty="0"/>
          </a:p>
          <a:p>
            <a:pPr/>
            <a:r>
              <a:rPr lang="zh-CN" dirty="0"/>
              <a:t>（一）国家主席</a:t>
            </a:r>
          </a:p>
          <a:p>
            <a:pPr/>
            <a:endParaRPr lang="zh-CN" dirty="0"/>
          </a:p>
          <a:p>
            <a:pPr/>
            <a:r>
              <a:rPr lang="zh-CN" dirty="0"/>
              <a:t>先看国家主席。这个机关我们比较熟悉，但熟悉容易带来一个误解：把日常印象里的“最高”直接当成宪法权限。所以先看它是由谁产生、根据什么行使职权的。</a:t>
            </a:r>
          </a:p>
          <a:p>
            <a:pPr/>
            <a:endParaRPr lang="zh-CN" dirty="0"/>
          </a:p>
          <a:p>
            <a:pPr/>
            <a:r>
              <a:rPr lang="zh-CN" dirty="0"/>
              <a:t>宪法第七十九条讲三件事：第一，主席、副主席由全国人民代表大会选举；第二，年满四十五周岁、有选举权和被选举权的中华人民共和国公民，可以被选为主席、副主席；第三，主席、副主席每届任期同全国人民代表大会每届任期相同。另外，宪法第八十二条规定，副主席协助主席工作，受主席委托可以代行主席的部分职权。</a:t>
            </a:r>
          </a:p>
          <a:p>
            <a:pPr/>
            <a:endParaRPr lang="zh-CN" dirty="0"/>
          </a:p>
          <a:p>
            <a:pPr/>
            <a:r>
              <a:rPr lang="zh-CN" dirty="0"/>
              <a:t>这里有两个概念不能混。2018年修宪删去了国家主席、副主席连续任职不得超过两届的限制，但没有取消每届任期同全国人大相同的规定，也没有取消选举和依法罢免的制度。取消连续届数上限，不等于任期不再届满，更不等于以后无须选举。教材说这不意味着实行终身制，要从这些仍然存在的制度条件去理解，不能只记一句结论。</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再看职权。宪法第八十条、第八十一条把国家主席的职权写在四个方面。</a:t>
            </a:r>
          </a:p>
          <a:p>
            <a:pPr/>
            <a:endParaRPr lang="zh-CN" dirty="0"/>
          </a:p>
          <a:p>
            <a:pPr/>
            <a:r>
              <a:rPr lang="zh-CN" dirty="0"/>
              <a:t>第一，公布法律、发布命令。 第八十条规定，国家主席根据全国人大及其常委会的决定，公布法律，发布特赦令、动员令等。这类行为不能只看谁最后发布，还须看前面由哪个有权机关作出了相应决定。</a:t>
            </a:r>
          </a:p>
          <a:p>
            <a:pPr/>
            <a:endParaRPr lang="zh-CN" dirty="0"/>
          </a:p>
          <a:p>
            <a:pPr/>
            <a:r>
              <a:rPr lang="zh-CN" dirty="0"/>
              <a:t>第二，任免权。 这里请注意一个细节：国务院总理的人选是由国家主席提名的；而任免国务院组成人员，是根据全国人大及其常委会的决定。</a:t>
            </a:r>
          </a:p>
          <a:p>
            <a:pPr/>
            <a:endParaRPr lang="zh-CN" dirty="0"/>
          </a:p>
          <a:p>
            <a:pPr/>
            <a:r>
              <a:rPr lang="zh-CN" dirty="0"/>
              <a:t>第三，外事权。 对外，国家主席代表中华人民共和国，进行国事活动，接受外国使节；而派遣和召回驻外全权代表、批准和废除同外国缔结的条约和重要协定，要根据全国人大常委会的决定。</a:t>
            </a:r>
          </a:p>
          <a:p>
            <a:pPr/>
            <a:endParaRPr lang="zh-CN" dirty="0"/>
          </a:p>
          <a:p>
            <a:pPr/>
            <a:r>
              <a:rPr lang="zh-CN" dirty="0"/>
              <a:t>第四，授予荣誉权。 根据全国人大及其常委会的决定，授予国家的勋章和荣誉称号。</a:t>
            </a:r>
          </a:p>
          <a:p>
            <a:pPr/>
            <a:endParaRPr lang="zh-CN" dirty="0"/>
          </a:p>
          <a:p>
            <a:pPr/>
            <a:r>
              <a:rPr lang="zh-CN" dirty="0"/>
              <a:t>这几类职权不能全压进同一种程序。根据有关决定任免人员，与提出总理人选，是不同动作；第八十一条还直接规定主席代表国家进行国事活动、接受外国使节，不能把这一部分也说成每次都须先有一个人大决定。具体行为的依据要逐项辨认，不能用象征性之类的标签代替条文。</a:t>
            </a:r>
          </a:p>
          <a:p>
            <a:pPr/>
            <a:endParaRPr lang="zh-CN" dirty="0"/>
          </a:p>
          <a:p>
            <a:pPr/>
            <a:r>
              <a:rPr lang="zh-CN" dirty="0"/>
              <a:t>所以这一单元的落点很清楚：国家主席制度不能只理解成机构图上的一格，也不能从日常“最高领导”这样的称谓，反推出它拥有其他机关的全部权限。 相关的政治身份与宪法机关职权，不互相代替。要问的是它根据什么、由谁决定、做什么，而不是它“大不大”。</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（二）中央军事委员会</a:t>
            </a:r>
          </a:p>
          <a:p>
            <a:pPr/>
            <a:endParaRPr lang="zh-CN" dirty="0"/>
          </a:p>
          <a:p>
            <a:pPr/>
            <a:r>
              <a:rPr lang="zh-CN" dirty="0"/>
              <a:t>再看中央军事委员会。宪法第九十三条第一款规定：中华人民共和国中央军事委员会领导全国武装力量。这一规定表明，中央军事委员会是国家最高军事指挥机关。</a:t>
            </a:r>
          </a:p>
          <a:p>
            <a:pPr/>
            <a:endParaRPr lang="zh-CN" dirty="0"/>
          </a:p>
          <a:p>
            <a:pPr/>
            <a:r>
              <a:rPr lang="zh-CN" dirty="0"/>
              <a:t>要理解它，先看工作对象。我国武装力量由中国人民解放军、中国人民武装警察部队和民兵组成，解放军又包括现役部队和预备役部队，不能把总类和其中的部分并列。领导全国武装力量，是军事领导工作；国务院领导和管理国防建设事业，则有行政管理上的职责。都涉及国防，不等于两类机关的权限可以互相替代。</a:t>
            </a:r>
          </a:p>
          <a:p>
            <a:pPr/>
            <a:endParaRPr lang="zh-CN" dirty="0"/>
          </a:p>
          <a:p>
            <a:pPr/>
            <a:r>
              <a:rPr lang="zh-CN" dirty="0"/>
              <a:t>教材还交代了一个机构身份上的事实：中华人民共和国中央军事委员会和中共中央军事委员会——前者是国家的机关，后者是党中央的军事领导机关——两者的组成人员和领导机构相同，日常都简称“中央军委”。这正是它们最容易被听混的地方。 所以下面提到“中央军委”，如果没有特别说明，我们指的是宪法上那个国家军事领导机关。教材对这个安排的说明是：这样的机制，既有保证党对军队领导的一面，也有加强军队各方面工作的一面。</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领导体制。宪法第九十三条规定军委实行主席负责制。教材同时说明它由多人组成，重大问题经委员会讨论；这两件事并不矛盾。多人参与讨论，不表示主席的统一领导指挥和决策责任被分散掉。军委主席负责制的制度说明强调，主席负责全面工作，对重大问题作出决策决定。我们须把组织形式、讨论程序和领导责任分开，不能仅因开了会，就认定所有机关都实行同一种表决和负责方式。</a:t>
            </a:r>
          </a:p>
          <a:p>
            <a:pPr/>
            <a:endParaRPr lang="zh-CN" dirty="0"/>
          </a:p>
          <a:p>
            <a:pPr/>
            <a:r>
              <a:rPr lang="zh-CN" dirty="0"/>
              <a:t>最后是负责关系。宪法第九十四条规定：负责的主体是中央军事委员会主席——他对全国人民代表大会负责，也对全国人民代表大会常务委员会负责。请留意，负责的主体写的是主席，这和“实行主席负责制”是同一件事的两个面。责任落在谁身上，制度上写得很明确，不要含糊过去。</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五、国务院与地方各级国家机关</a:t>
            </a:r>
          </a:p>
          <a:p>
            <a:pPr/>
            <a:endParaRPr lang="zh-CN" dirty="0"/>
          </a:p>
          <a:p>
            <a:pPr/>
            <a:r>
              <a:rPr lang="zh-CN" dirty="0"/>
              <a:t>第五个单元。</a:t>
            </a:r>
          </a:p>
          <a:p>
            <a:pPr/>
            <a:endParaRPr lang="zh-CN" dirty="0"/>
          </a:p>
          <a:p>
            <a:pPr/>
            <a:r>
              <a:rPr lang="zh-CN" dirty="0"/>
              <a:t>（一）国务院</a:t>
            </a:r>
          </a:p>
          <a:p>
            <a:pPr/>
            <a:endParaRPr lang="zh-CN" dirty="0"/>
          </a:p>
          <a:p>
            <a:pPr/>
            <a:r>
              <a:rPr lang="zh-CN" dirty="0"/>
              <a:t>国务院的三个身份，上节已经辨明：中央人民政府、最高国家权力机关的执行机关、最高国家行政机关。这里看它们怎样落实到工作中。</a:t>
            </a:r>
          </a:p>
          <a:p>
            <a:pPr/>
            <a:endParaRPr lang="zh-CN" dirty="0"/>
          </a:p>
          <a:p>
            <a:pPr/>
            <a:r>
              <a:rPr lang="zh-CN" dirty="0"/>
              <a:t>中央人民政府只有一个，即国务院；它同地方各级政府组成行政机关体系，在其中居于最高地位，统一领导各部门和地方行政机关的工作。这说明它的全国性行政管理职责，不是全国人大常委会的另一种叫法。</a:t>
            </a:r>
          </a:p>
          <a:p>
            <a:pPr/>
            <a:endParaRPr lang="zh-CN" dirty="0"/>
          </a:p>
          <a:p>
            <a:pPr/>
            <a:r>
              <a:rPr lang="zh-CN" dirty="0"/>
              <a:t>执行机关这个身份又限定它不能违反最高国家权力机关制定的法律和通过的决议，不能自取未经宪法法律规定或者授予的职权。统一领导行政工作与向人大负责，须同时成立。</a:t>
            </a:r>
          </a:p>
          <a:p>
            <a:pPr/>
            <a:endParaRPr lang="zh-CN" dirty="0"/>
          </a:p>
          <a:p>
            <a:pPr/>
            <a:r>
              <a:rPr lang="zh-CN" dirty="0"/>
              <a:t>那么它做什么？宪法第八十九条列了十八项职权。我们挑几项有代表性的。</a:t>
            </a:r>
          </a:p>
          <a:p>
            <a:pPr/>
            <a:endParaRPr lang="zh-CN" dirty="0"/>
          </a:p>
          <a:p>
            <a:pPr/>
            <a:r>
              <a:rPr lang="zh-CN" dirty="0"/>
              <a:t>第一项是根据宪法和法律规定行政措施、制定行政法规、发布决定和命令。行政法规可以为执行法律作具体规定，也可以在宪法规定的行政管理职权范围内作规定；需要授权的事项，还须有合法授权。文件叫什么，只能帮助辨认，不能仅凭标题里有暂行、条例几个字，就认定它已有全部权限。</a:t>
            </a:r>
          </a:p>
          <a:p>
            <a:pPr/>
            <a:endParaRPr lang="zh-CN" dirty="0"/>
          </a:p>
          <a:p>
            <a:pPr/>
            <a:r>
              <a:rPr lang="zh-CN" dirty="0"/>
              <a:t>第八项是领导和管理民政、公安、司法行政等工作。这一项和我们后面的内容直接相关——公安工作中的行政管理部分，落点就在这里。 请记住它，第九个单元还要用。</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还有一项得单独说，就是授权立法。照一般分工，有些事项本该由法律来规定，但法律一时还没制定出来。这时候，全国人大及其常委会可以作出一个决定，授权国务院先制定行政法规。但有几类事项不能授权：犯罪和刑罚，剥夺政治权利、限制人身自由的强制措施和处罚，还有司法制度。</a:t>
            </a:r>
          </a:p>
          <a:p>
            <a:pPr/>
            <a:endParaRPr lang="zh-CN" dirty="0"/>
          </a:p>
          <a:p>
            <a:pPr/>
            <a:r>
              <a:rPr lang="zh-CN" dirty="0"/>
              <a:t>这个除外，要按法律列明的事项掌握，不能由我们凭感觉给权利排个重要程度，再自行决定能否授权。授权决定还须明确目的、事项、范围、期限等，被授权机关不能转授别人。授权是允许在确定边界内先作规定，不是把原有立法分工永久取消。第五、六讲所讲的依据与界限，在这里有了具体的机关安排。</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领导体制。国务院实行总理负责制，总理领导国务院工作；副总理、国务委员按分工协助，发布的决定、命令和行政法规由总理签署。但首长负责不等于首长可以省去法定会议。国务院组织法同时要求，工作中的重大问题必须经常务会议或者全体会议讨论决定。</a:t>
            </a:r>
          </a:p>
          <a:p>
            <a:pPr/>
            <a:endParaRPr lang="zh-CN" dirty="0"/>
          </a:p>
          <a:p>
            <a:pPr/>
            <a:r>
              <a:rPr lang="zh-CN" dirty="0"/>
              <a:t>这才是与常委会对照时要把握的区别。常委会作为会议体，由组成人员依法审议、表决，法律和其他议案通常须经全体组成人员过半数通过。国务院则在总理领导下组织行政工作，重大问题依法集体讨论，总理承担相应的领导责任。前者不能由委员长个人代替表决，后者也不能由开过会便推说没有首长负责。地方政府同样把行政首长负责与重大问题集体讨论结合起来。是否开会、怎样形成决定、谁承担何种责任，是相关却不相同的问题。</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（二）地方各级人民代表大会和地方各级人民政府</a:t>
            </a:r>
          </a:p>
          <a:p>
            <a:pPr/>
            <a:endParaRPr lang="zh-CN" dirty="0"/>
          </a:p>
          <a:p>
            <a:pPr/>
            <a:r>
              <a:rPr lang="zh-CN" dirty="0"/>
              <a:t>再看地方。这里最常见的误解，是把“地方国家权力机关”和“地方国家行政机关”当成同一个组织的两个叫法。</a:t>
            </a:r>
          </a:p>
          <a:p>
            <a:pPr/>
            <a:endParaRPr lang="zh-CN" dirty="0"/>
          </a:p>
          <a:p>
            <a:pPr/>
            <a:r>
              <a:rPr lang="zh-CN" dirty="0"/>
              <a:t>先看宪法条文。第九十六条：地方各级人民代表大会是地方国家权力机关；县级以上这一级还要设立常委会。第一百零五条：地方各级人民政府，是地方各级国家权力机关的执行机关；同时它又是地方各级国家行政机关。</a:t>
            </a:r>
          </a:p>
          <a:p>
            <a:pPr/>
            <a:endParaRPr lang="zh-CN" dirty="0"/>
          </a:p>
          <a:p>
            <a:pPr/>
            <a:r>
              <a:rPr lang="zh-CN" dirty="0"/>
              <a:t>两个条文，两个不同的机关，同一片地域。一个地方既有权力机关，也有行政机关，它们不是一回事。</a:t>
            </a:r>
          </a:p>
          <a:p>
            <a:pPr/>
            <a:endParaRPr lang="zh-CN" dirty="0"/>
          </a:p>
          <a:p>
            <a:pPr/>
            <a:r>
              <a:rPr lang="zh-CN" dirty="0"/>
              <a:t>那它们之间是什么关系？宪法第一百一十条写了两条线。第一条线连着本级权力机关：地方各级人民政府，要对本级人民代表大会负责并报告工作；县级以上这一级，在人大闭会期间，还要对本级人大常委会负责并报告工作。第二条线连着上一级行政机关：地方各级人民政府，也要对上一级国家行政机关负责并报告工作；而全国地方各级人民政府，都在国务院统一领导之下，都要服从国务院。</a:t>
            </a:r>
          </a:p>
          <a:p>
            <a:pPr/>
            <a:endParaRPr lang="zh-CN" dirty="0"/>
          </a:p>
          <a:p>
            <a:pPr/>
            <a:r>
              <a:rPr lang="zh-CN" dirty="0"/>
              <a:t>两条线都要落实，但不是同一种关系。本级人大依法决定地方重大事项、监督政府工作；政府执行人大及其常委会的有关决议，不表示人大成了政府日常行政业务的上级部门。上一级政府则在行政系统内依法领导下级政府工作，下级执行其合法决定和命令。不能把人大监督与行政系统的上下领导画成同一种箭头。</a:t>
            </a:r>
          </a:p>
          <a:p>
            <a:pPr/>
            <a:endParaRPr lang="zh-CN" dirty="0"/>
          </a:p>
          <a:p>
            <a:pPr/>
            <a:r>
              <a:rPr lang="zh-CN" dirty="0"/>
              <a:t>地方政府因此既依法办理本地事务，又处在全国行政组织之中。本地情况需要它积极工作，不能成为拒绝合法上级决定的理由；接受上级领导，也不能省去向本级人大负责、报告和受监督的要求。</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按地域和层级，还要再辨一层。宪法第九十五条规定一般地方设人大和政府，并对自治区、自治州、自治县的自治机关作专门规定。这些民族自治地方也有人大和政府，这两类机关本身就是自治机关，不是在它们之外再加一套机关。下一单元具体看这种双重身份。</a:t>
            </a:r>
          </a:p>
          <a:p>
            <a:pPr/>
            <a:endParaRPr lang="zh-CN" dirty="0"/>
          </a:p>
          <a:p>
            <a:pPr/>
            <a:r>
              <a:rPr lang="zh-CN" dirty="0"/>
              <a:t>而且不同层级并不完全同构：县级以上的地方各级人民代表大会设立常务委员会，乡、民族乡、镇不设；县级以上地方各级人民政府设立审计机关，乡镇也没有这一层。地域层级、机关性质、上下级关系需要并读，不能从一张地图的位置自动推出职权。</a:t>
            </a:r>
          </a:p>
          <a:p>
            <a:pPr/>
            <a:endParaRPr lang="zh-CN" dirty="0"/>
          </a:p>
          <a:p>
            <a:pPr/>
            <a:r>
              <a:rPr lang="zh-CN" dirty="0"/>
              <a:t>落到乡镇就能检查理解。乡镇人大是权力机关，由选民直接选出的代表组成，对人民负责、受人民监督；乡镇政府则对本级人大和上一级政府负责并报告工作。乡镇人大没有常委会，不能为了画图整齐，给每一级都补上一套同样的机构。</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六、民族自治地方的自治机关</a:t>
            </a:r>
          </a:p>
          <a:p>
            <a:pPr/>
            <a:endParaRPr lang="zh-CN" dirty="0"/>
          </a:p>
          <a:p>
            <a:pPr/>
            <a:r>
              <a:rPr lang="zh-CN" dirty="0"/>
              <a:t>第六个单元。这一单元的关键词是“自治”，但它的入口是另外一件更容易搞混的事：自治机关到底是谁。</a:t>
            </a:r>
          </a:p>
          <a:p>
            <a:pPr/>
            <a:endParaRPr lang="zh-CN" dirty="0"/>
          </a:p>
          <a:p>
            <a:pPr/>
            <a:r>
              <a:rPr lang="zh-CN" dirty="0"/>
              <a:t>第四讲我们已经建立了“民族区域自治制度”这个认识，第三讲也讲过民族自治地方这个地域。这一讲要接着问的是：谁行使、行使什么。</a:t>
            </a:r>
          </a:p>
          <a:p>
            <a:pPr/>
            <a:endParaRPr lang="zh-CN" dirty="0"/>
          </a:p>
          <a:p>
            <a:pPr/>
            <a:r>
              <a:rPr lang="zh-CN" dirty="0"/>
              <a:t>宪法第一百一十二条规定：民族自治地方的自治机关是自治区、自治州、自治县的人民代表大会和人民政府。</a:t>
            </a:r>
          </a:p>
          <a:p>
            <a:pPr/>
            <a:endParaRPr lang="zh-CN" dirty="0"/>
          </a:p>
          <a:p>
            <a:pPr/>
            <a:r>
              <a:rPr lang="zh-CN" dirty="0"/>
              <a:t>这一句话要读得很小心。第一，民族自治地方分三级：自治区、自治州、自治县。第二，自治机关只有两类：人民代表大会和人民政府。注意，自治机关不包括别的机关——比如自治州的人民法院、人民检察院，并不因为它在自治州内就成为民族自治地方的自治机关。“民族自治地方内的机关”和“民族自治地方的自治机关”，是范围不同的两个说法。</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再看它行使什么。宪法第一百一十五条规定：自治区、自治州、自治县的自治机关，既行使一般地方国家机关的职权，又依法行使自治权，并根据本地方的实际情况贯彻执行国家的法律、政策。</a:t>
            </a:r>
          </a:p>
          <a:p>
            <a:pPr/>
            <a:endParaRPr lang="zh-CN" dirty="0"/>
          </a:p>
          <a:p>
            <a:pPr/>
            <a:r>
              <a:rPr lang="zh-CN" dirty="0"/>
              <a:t>这一条里的关键，是“同时”的关系。 自治机关的职权是双重的：它首先是一级地方国家机关，行使的是其他地方国家机关也有的那些一般职权；在此之外，它依法另外行使自治权。教材把这两层放在一起讲：它们既行使宪法规定的地方国家机关的职权，又依照宪法、民族区域自治法和其他法律规定的权限行使自治权。</a:t>
            </a:r>
          </a:p>
          <a:p>
            <a:pPr/>
            <a:endParaRPr lang="zh-CN" dirty="0"/>
          </a:p>
          <a:p>
            <a:pPr/>
            <a:r>
              <a:rPr lang="zh-CN" dirty="0"/>
              <a:t>可以用两项具体工作理解。自治县政府依法执行预算、管理本地公共事务，是一般地方政府也承担的工作；自治县人大依当地民族的政治、经济、文化特点制定自治条例、单行条例，则是自治权的一项体现。这里的制定主体是人大，不是政府，相应条例还有法定批准要求。</a:t>
            </a:r>
          </a:p>
          <a:p>
            <a:pPr/>
            <a:endParaRPr lang="zh-CN" dirty="0"/>
          </a:p>
          <a:p>
            <a:pPr/>
            <a:r>
              <a:rPr lang="zh-CN" dirty="0"/>
              <a:t>另有一种情形：上级国家机关的决议、决定、命令和指示不适合本地实际，自治机关可以报经作出文件的该上级机关批准，变通执行或者停止执行。这个批准条件针对这类上级文件，不能泛化成所有法律都可找某个上级批一下就不执行。两项工作的对象、主体和程序不同，知道有自治权，并不等于已经知道每一项怎样行使。</a:t>
            </a:r>
          </a:p>
          <a:p>
            <a:pPr/>
            <a:endParaRPr lang="zh-CN" dirty="0"/>
          </a:p>
          <a:p>
            <a:pPr/>
            <a:r>
              <a:rPr lang="zh-CN" dirty="0"/>
              <a:t>民族自治地方的自治机关与居委会、村委会不同。前者是国家的地方政权机关，后者是基层群众性自治组织，不是国家政权机关。地域、制度和行使职权的主体要分开，不能只看到都有自治两个字，就把性质和权限画成一样。</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七、监察机关、人民法院与人民检察院</a:t>
            </a:r>
          </a:p>
          <a:p>
            <a:pPr/>
            <a:endParaRPr lang="zh-CN" dirty="0"/>
          </a:p>
          <a:p>
            <a:pPr/>
            <a:r>
              <a:rPr lang="zh-CN" dirty="0"/>
              <a:t>第七个单元，三个机关，三项分别定位。它们都是人民代表大会下并列的国家机关，但工作性质完全不同，不能合成一句话讲。</a:t>
            </a:r>
          </a:p>
          <a:p>
            <a:pPr/>
            <a:endParaRPr lang="zh-CN" dirty="0"/>
          </a:p>
          <a:p>
            <a:pPr/>
            <a:r>
              <a:rPr lang="zh-CN" dirty="0"/>
              <a:t>（一）监察委员会</a:t>
            </a:r>
          </a:p>
          <a:p>
            <a:pPr/>
            <a:endParaRPr lang="zh-CN" dirty="0"/>
          </a:p>
          <a:p>
            <a:pPr/>
            <a:r>
              <a:rPr lang="zh-CN" dirty="0"/>
              <a:t>宪法第一百二十三条规定：中华人民共和国各级监察委员会是国家的监察机关。</a:t>
            </a:r>
          </a:p>
          <a:p>
            <a:pPr/>
            <a:endParaRPr lang="zh-CN" dirty="0"/>
          </a:p>
          <a:p>
            <a:pPr/>
            <a:r>
              <a:rPr lang="zh-CN" dirty="0"/>
              <a:t>这个身份有三层含义。它是国家机构体系的组成部分：国家监委由全国人大产生，对全国人大及其常委会负责并依法接受监督；地方监委由本级人大产生，对本级人大及其常委会和上一级监委负责并依法接受监督。它又是国家监察的专责机关，依法监察行使公权力的公职人员；教材还从党和国家自我监督角度说明其政治机关性质。国家监委领导地方各级监委，上级监委领导下级监委，不能把这条领导关系同人大监督混为一谈。</a:t>
            </a:r>
          </a:p>
          <a:p>
            <a:pPr/>
            <a:endParaRPr lang="zh-CN" dirty="0"/>
          </a:p>
          <a:p>
            <a:pPr/>
            <a:r>
              <a:rPr lang="zh-CN" dirty="0"/>
              <a:t>教材特别解释了“专责”两个字：它强调的是，行使监察权对监察机关而言不只是可以行使的职权，更是不得不履行的职责和使命担当。</a:t>
            </a:r>
          </a:p>
          <a:p>
            <a:pPr/>
            <a:endParaRPr lang="zh-CN" dirty="0"/>
          </a:p>
          <a:p>
            <a:pPr/>
            <a:r>
              <a:rPr lang="zh-CN" dirty="0"/>
              <a:t>它具体做什么？监督，是检查依法履职、秉公用权、廉洁从政从业等情况；调查，是依法查明涉嫌职务违法和职务犯罪的问题；处置，则包括依法作出政务处分，对符合条件的涉嫌职务犯罪案件移送检察院审查起诉等。移送调查材料，不等于自己已经代替法院作出刑事判决。监察对象有法定范围，不能只因一个人受到关注，就把他纳入监察。</a:t>
            </a:r>
          </a:p>
          <a:p>
            <a:pPr/>
            <a:endParaRPr lang="zh-CN" dirty="0"/>
          </a:p>
          <a:p>
            <a:pPr/>
            <a:r>
              <a:rPr lang="zh-CN" dirty="0"/>
              <a:t>教材依据的是2018年监察法，2024年修改后的法律自2025年6月1日起施行，增加强制到案、责令候查、管护等规定，并调整有关程序。今天不能把旧版措施清单当作现行全表。我们在这里认识监察机关的职责与关系，具体措施另有法定条件，不能由机关名称直接推出。</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（二）人民法院</a:t>
            </a:r>
          </a:p>
          <a:p>
            <a:pPr/>
            <a:endParaRPr lang="zh-CN" dirty="0"/>
          </a:p>
          <a:p>
            <a:pPr/>
            <a:r>
              <a:rPr lang="zh-CN" dirty="0"/>
              <a:t>宪法第一百二十八条规定人民法院是国家的审判机关。它依法审理刑事、民商事、行政等案件并作出裁判，不因设在某个地方，就变成只为当地利益服务的机关。教材强调地方各级法院是国家设在地方的审判机关，要同组织的产生和案件怎样审理分开理解。</a:t>
            </a:r>
          </a:p>
          <a:p>
            <a:pPr/>
            <a:endParaRPr lang="zh-CN" dirty="0"/>
          </a:p>
          <a:p>
            <a:pPr/>
            <a:r>
              <a:rPr lang="zh-CN" dirty="0"/>
              <a:t>地方人大依法产生有关法院负责人，法院向产生它的国家权力机关负责，并不意味着地方政府可以指挥它怎样判案。设想地方政府成为行政诉讼被告，有管辖权的法院也设在该地区，不能因为地域相同，就按政府希望的结果裁判。地域设置说明服务和管辖的联系，审判性质、组织产生与依法独立行权，则回答另外的问题。</a:t>
            </a:r>
          </a:p>
          <a:p>
            <a:pPr/>
            <a:endParaRPr lang="zh-CN" dirty="0"/>
          </a:p>
          <a:p>
            <a:pPr/>
            <a:r>
              <a:rPr lang="zh-CN" dirty="0"/>
              <a:t>宪法第一百三十一条规定法院依照法律规定独立行使审判权，不受行政机关、社会团体和个人的干涉。这既约束外部干预，也要求把依法两个字落到审判过程。</a:t>
            </a:r>
          </a:p>
          <a:p>
            <a:pPr/>
            <a:endParaRPr lang="zh-CN" dirty="0"/>
          </a:p>
          <a:p>
            <a:pPr/>
            <a:r>
              <a:rPr lang="zh-CN" dirty="0"/>
              <a:t>这里要同时防两种误读。法院独立行权，不等于任何法官都可凭个人好恶决定案件；强调机关名义，也不表示院长可以随意命令审理者改判。案件由法定审判组织依程序审理，审理者裁判、裁判者负责，特定案件的集体讨论也有相应规范。机关的独立地位不能拿来取消具体审判的法定规则。</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（三）人民检察院</a:t>
            </a:r>
          </a:p>
          <a:p>
            <a:pPr/>
            <a:endParaRPr lang="zh-CN" dirty="0"/>
          </a:p>
          <a:p>
            <a:pPr/>
            <a:r>
              <a:rPr lang="zh-CN" dirty="0"/>
              <a:t>宪法第一百三十四条规定人民检察院是国家的法律监督机关。它代表国家，通过行使法定检察职权监督法律实施，与法院通过审判作出裁判的工作不同。</a:t>
            </a:r>
          </a:p>
          <a:p>
            <a:pPr/>
            <a:endParaRPr lang="zh-CN" dirty="0"/>
          </a:p>
          <a:p>
            <a:pPr/>
            <a:r>
              <a:rPr lang="zh-CN" dirty="0"/>
              <a:t>法律监督怎样发生，不能只把检察活动四个字再说一遍。比如，检察院审查公安提请批准逮捕的案件，依法决定是否批准；对刑事案件审查后决定是否起诉；认为符合法定情形的裁判有错误，可以依法抗诉。每一种都有具体对象和法律后果，不是给任何机关发一个检查意见就能代替它办事。下面用提捕与抗诉的过程继续看。</a:t>
            </a:r>
          </a:p>
          <a:p>
            <a:pPr/>
            <a:endParaRPr lang="zh-CN" dirty="0"/>
          </a:p>
          <a:p>
            <a:pPr/>
            <a:r>
              <a:rPr lang="zh-CN" dirty="0"/>
              <a:t>宪法第一百三十六条也规定检察院依法独立行使检察权，不受行政机关、社会团体和个人的干涉。这不排除上级检察院的法定领导，或本级人大及其常委会的监督；不能只拿独立两个字，就删掉条文规定的其他关系。</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现在把三个机关放在一起，辨认两组关系。</a:t>
            </a:r>
          </a:p>
          <a:p>
            <a:pPr/>
            <a:endParaRPr lang="zh-CN" dirty="0"/>
          </a:p>
          <a:p>
            <a:pPr/>
            <a:r>
              <a:rPr lang="zh-CN" dirty="0"/>
              <a:t>第一组是独立与监督。 独立行使监察权、审判权、检察权，是排除相应非法干涉，不是免除法定监督。监委与检察院还有系统内的上下领导，法院之间则有审判工作监督。独立是否受保障，要看发生的是依法履职还是越权干预，不能只看对方是不是另一个机关。</a:t>
            </a:r>
          </a:p>
          <a:p>
            <a:pPr/>
            <a:endParaRPr lang="zh-CN" dirty="0"/>
          </a:p>
          <a:p>
            <a:pPr/>
            <a:r>
              <a:rPr lang="zh-CN" dirty="0"/>
              <a:t>第二组：三种监督。 国家监察侧重依法监督公职人员履职用权，检察机关通过法定检察职权监督法律实施，第八讲则重点讲宪法实施监督及规范审查。这些工作可能面对相关问题，但不因此成为同一种权限。比如公职人员涉嫌职务犯罪，监察调查之后还须依法移送检察院审查起诉，最终定罪量刑由法院依法判断；一个主体发现问题，不表示它可以包办全部程序。</a:t>
            </a:r>
          </a:p>
          <a:p>
            <a:pPr/>
            <a:endParaRPr lang="zh-CN" dirty="0"/>
          </a:p>
          <a:p>
            <a:pPr/>
            <a:r>
              <a:rPr lang="zh-CN" dirty="0"/>
              <a:t>配合与制约这组关系，我们放到下一单元专门讲。</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八、不同纵向关系与刑事办案分工</a:t>
            </a:r>
          </a:p>
          <a:p>
            <a:pPr/>
            <a:endParaRPr lang="zh-CN" dirty="0"/>
          </a:p>
          <a:p>
            <a:pPr/>
            <a:r>
              <a:rPr lang="zh-CN" dirty="0"/>
              <a:t>第八个单元，也是本讲的重点关系对照。前面讲的都是机关“是什么、做什么”，这一单元比的是“谁对谁、什么关系”。</a:t>
            </a:r>
          </a:p>
          <a:p>
            <a:pPr/>
            <a:endParaRPr lang="zh-CN" dirty="0"/>
          </a:p>
          <a:p>
            <a:pPr/>
            <a:r>
              <a:rPr lang="zh-CN" dirty="0"/>
              <a:t>先看两条最容易混淆的条文。</a:t>
            </a:r>
          </a:p>
          <a:p>
            <a:pPr/>
            <a:endParaRPr lang="zh-CN" dirty="0"/>
          </a:p>
          <a:p>
            <a:pPr/>
            <a:r>
              <a:rPr lang="zh-CN" dirty="0"/>
              <a:t>宪法第一百三十二条规定：最高人民法院是最高审判机关，上级人民法院监督下级人民法院的审判工作。</a:t>
            </a:r>
          </a:p>
          <a:p>
            <a:pPr/>
            <a:endParaRPr lang="zh-CN" dirty="0"/>
          </a:p>
          <a:p>
            <a:pPr/>
            <a:r>
              <a:rPr lang="zh-CN" dirty="0"/>
              <a:t>宪法第一百三十七条规定：最高人民检察院是最高检察机关，上级人民检察院领导下级人民检察院的工作。</a:t>
            </a:r>
          </a:p>
          <a:p>
            <a:pPr/>
            <a:endParaRPr lang="zh-CN" dirty="0"/>
          </a:p>
          <a:p>
            <a:pPr/>
            <a:r>
              <a:rPr lang="zh-CN" dirty="0"/>
              <a:t>两条文结构很像，用词差了两个字：一个是“监督”，一个是“领导”。 这两个字不是随便选的。</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用一个刑事案件的法定程序看上级法院怎样监督。基层法院作出一审裁判后，被告人依法上诉，或者检察院依法抗诉，案件进入有权法院的二审。二审法院依法审理，可以维持、改判，或者在法定情形下撤销原判、发回重审。监督并不是绝不改变结果，而是须通过有权机关和法定程序纠错，不能只凭上级一个电话，就让下级直接改掉已作出的裁判。</a:t>
            </a:r>
          </a:p>
          <a:p>
            <a:pPr/>
            <a:endParaRPr lang="zh-CN" dirty="0"/>
          </a:p>
          <a:p>
            <a:pPr/>
            <a:r>
              <a:rPr lang="zh-CN" dirty="0"/>
              <a:t>二审只是这里采用的一项说明，审判监督等另有法定程序。最高人民法院还依法制定审判工作中具体应用法律问题的司法解释、发布指导性案例；这项职权不能泛说成每一级上级法院都有，也不同于全国人大常委会的法律解释权。</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沿抗诉看检察系统。地方检察院认为同级法院的一审判决、裁定确有错误，应当依法向上一级法院抗诉，抗诉书经原审法院送交。上一级检察院认为抗诉不当，可以依法撤回。这不是检察院替法院判案，而是在检察系统内处理下级的诉讼主张，显示法律规定的领导关系。</a:t>
            </a:r>
          </a:p>
          <a:p>
            <a:pPr/>
            <a:endParaRPr lang="zh-CN" dirty="0"/>
          </a:p>
          <a:p>
            <a:pPr/>
            <a:r>
              <a:rPr lang="zh-CN" dirty="0"/>
              <a:t>检察院组织法还规定，上级认为下级的决定错误，可以指令纠正或者依法撤销、变更，相应决定须按要求书面作出。下级有异议，可以在执行的同时报告。这里的领导同样受法律约束，不等于随意一句命令便不必说明依据和程序。</a:t>
            </a:r>
          </a:p>
          <a:p>
            <a:pPr/>
            <a:endParaRPr lang="zh-CN" dirty="0"/>
          </a:p>
          <a:p>
            <a:pPr/>
            <a:r>
              <a:rPr lang="zh-CN" dirty="0"/>
              <a:t>现在再回答，为什么不能用同一种关系理解两套机关。两者都须依法判断，也都追求法律统一，不能只说法院需要判断、检察院不需要判断。现行制度在法院系统以法定审级和审判监督等途径审查裁判，在检察系统又配置了上级依法领导、纠正下级决定的权限。不同工具影响谁能怎样改变结果；独立行权排除非法干涉，不排除这些法定程序。共同目的不能代替具体权限，机关名称也不能直接推出唯一的组织方式。</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两个动作并读：上级法院依法二审改判，上级检察院依法撤回下级的不当抗诉。请分别说明谁对谁、通过什么程序、产生什么结果；如果第一种改成不经过法定程序、只命令下级改变已经作出的判决，判断会不会变化？</a:t>
            </a:r>
          </a:p>
          <a:p>
            <a:pPr/>
            <a:endParaRPr lang="zh-CN" dirty="0"/>
          </a:p>
          <a:p>
            <a:pPr/>
            <a:r>
              <a:rPr lang="zh-CN" dirty="0"/>
              <a:t>【独立思考约一至两分钟：分别辨认监督、领导及依法纠错与指令替代的界限。教师暂停讲述。】</a:t>
            </a:r>
          </a:p>
          <a:p>
            <a:pPr/>
            <a:endParaRPr lang="zh-CN" dirty="0"/>
          </a:p>
          <a:p>
            <a:pPr/>
            <a:r>
              <a:rPr lang="zh-CN" dirty="0"/>
              <a:t>二审法院是在法定审级中作自己的裁判，不是向原承办法官下行政命令；上级检察院依法撤回不当抗诉，则是在检察系统内行使相应领导职权。若绕过法定程序直接改判，便不能拿上级监督四个字当作充分依据。判断关键不只是有没有上级意见，还在于谁有何种职权、走了什么程序。</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人大监督也放进来：人大监督有关机关依法履职，上级法院监督下级审判工作，上级检察院领导下级检察工作。主体、方向和对象不同；同叫监督，不能推出都能代替被监督者作决定，也不能把全部关系统一改叫领导。</a:t>
            </a:r>
          </a:p>
          <a:p>
            <a:pPr/>
            <a:endParaRPr lang="zh-CN" dirty="0"/>
          </a:p>
          <a:p>
            <a:pPr/>
            <a:r>
              <a:rPr lang="zh-CN" dirty="0"/>
              <a:t>第二讲比较过不同职责的理由，本讲进一步给这些职责找到具体的主体和程序。</a:t>
            </a:r>
          </a:p>
          <a:p>
            <a:pPr/>
            <a:endParaRPr lang="zh-CN" dirty="0"/>
          </a:p>
          <a:p>
            <a:pPr/>
            <a:r>
              <a:rPr lang="zh-CN" dirty="0"/>
              <a:t>最后看第三条线，也就是本讲的收束对照：刑事诉讼中的机关分工。</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宪法第一百四十条规定：人民法院、人民检察院和公安机关办理刑事案件，应当分工负责、互相配合、互相制约，以保证准确有效地执行法律。</a:t>
            </a:r>
          </a:p>
          <a:p>
            <a:pPr/>
            <a:endParaRPr lang="zh-CN" dirty="0"/>
          </a:p>
          <a:p>
            <a:pPr/>
            <a:r>
              <a:rPr lang="zh-CN" dirty="0"/>
              <a:t>三个要求，一起看。</a:t>
            </a:r>
          </a:p>
          <a:p>
            <a:pPr/>
            <a:endParaRPr lang="zh-CN" dirty="0"/>
          </a:p>
          <a:p>
            <a:pPr/>
            <a:r>
              <a:rPr lang="zh-CN" dirty="0"/>
              <a:t>先限定一个常见场景：公安机关侦办的公诉案件。公安依法侦查，检察院依法审查逮捕、审查起诉并行使法律监督职权，法院依法审判。它们各负其责，但并不是前一家想怎样处理，后两家就必须照办。</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过程具体到一次提捕。假设公安机关已经依法刑事拘留犯罪嫌疑人，并提请检察院批准逮捕；检察院审查后认为不符合条件，作出不批准逮捕的决定并说明理由。公安收到决定，对被拘留的人必须立即释放；需要继续侦查且符合相应条件的，可以依法采取取保候审或者监视居住。不能仅因侦查还想继续，就把不批捕决定放在一边。这才是制约的实际后果。</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公安如果认为不批捕有错误，法律也给出复议、提请上一级检察院复核的途径，但异议不暂停释放。这使两件事同时成立：办案机关可以依法提出不同意见，又须履行当前决定的法定后果。继续侦查、补充核实、移送审查，各自依法衔接，配合并不要求所有机关始终持相同判断。</a:t>
            </a:r>
          </a:p>
          <a:p>
            <a:pPr/>
            <a:endParaRPr lang="zh-CN" dirty="0"/>
          </a:p>
          <a:p>
            <a:pPr/>
            <a:r>
              <a:rPr lang="zh-CN" dirty="0"/>
              <a:t>这项例子没有让大家判断某个真实嫌疑人究竟应否逮捕，我们给定的是不批捕决定已经作出，再看各方必须或者可以怎样行动。前面的一审抗诉、二审裁判，则展示后续另一阶段的纠错，不能把不同阶段硬接成每案必经的一条路。</a:t>
            </a:r>
          </a:p>
          <a:p>
            <a:pPr/>
            <a:endParaRPr lang="zh-CN" dirty="0"/>
          </a:p>
          <a:p>
            <a:pPr/>
            <a:r>
              <a:rPr lang="zh-CN" dirty="0"/>
              <a:t>第一百四十条规定的是分工配合制约关系，不是保证每个案件都依次走完三家。案件可能在侦查、审查起诉等环节依法终结或分流；本例只展示特定阶段的权限如何衔接，不能把机构关系图当成所有案件的统一程序表。</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九、公安的机构联系与具体措施授权</a:t>
            </a:r>
          </a:p>
          <a:p>
            <a:pPr/>
            <a:endParaRPr lang="zh-CN" dirty="0"/>
          </a:p>
          <a:p>
            <a:pPr/>
            <a:r>
              <a:rPr lang="zh-CN" dirty="0"/>
              <a:t>第九个单元，落到我们自己的专业上。</a:t>
            </a:r>
          </a:p>
          <a:p>
            <a:pPr/>
            <a:endParaRPr lang="zh-CN" dirty="0"/>
          </a:p>
          <a:p>
            <a:pPr/>
            <a:r>
              <a:rPr lang="zh-CN" dirty="0"/>
              <a:t>前面八个单元讲的是整个国家机构体系。现在要问：公安在哪里？</a:t>
            </a:r>
          </a:p>
          <a:p>
            <a:pPr/>
            <a:endParaRPr lang="zh-CN" dirty="0"/>
          </a:p>
          <a:p>
            <a:pPr/>
            <a:r>
              <a:rPr lang="zh-CN" dirty="0"/>
              <a:t>位置可以从两处看。从行政管理这一边看，宪法第八十九条把公安列在国务院“领导和管理民政、公安、司法行政等工作”这一项里；第一百零七条又规定，县级以上地方各级人民政府，依照法律规定的权限管理本行政区域内的各项行政工作——公安就在这一串里。也就是说，行政管理工作中的公安，落在政府这条线上，是行政机关体系的一部分。</a:t>
            </a:r>
          </a:p>
          <a:p>
            <a:pPr/>
            <a:endParaRPr lang="zh-CN" dirty="0"/>
          </a:p>
          <a:p>
            <a:pPr/>
            <a:r>
              <a:rPr lang="zh-CN" dirty="0"/>
              <a:t>从刑事办案这一边看，第一百四十条把公安机关与人民法院、人民检察院并列，规定“办理刑事案件”时的分工负责、互相配合、互相制约。也就是说，刑事办案中的公安，是刑事案件三家关系中的一家。</a:t>
            </a:r>
          </a:p>
          <a:p>
            <a:pPr/>
            <a:endParaRPr lang="zh-CN" dirty="0"/>
          </a:p>
          <a:p>
            <a:pPr/>
            <a:r>
              <a:rPr lang="zh-CN" dirty="0"/>
              <a:t>这不是公安一办刑事案件，就换了组织隶属。以县级以上地方政府公安机关为例，它仍在本级政府领导下依法履职，并依法存在上级公安机关的相应业务领导和执法监督关系；办理刑事案件时，又与检察院、法院发生法定分工和制约。检察院审查批准逮捕，不表示检察院因此成了公安机关的行政上级。同一个机关，可以同时处在不同性质的法定关系中。</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位置讲清以后，还得分辨具体措施。</a:t>
            </a:r>
          </a:p>
          <a:p>
            <a:pPr/>
            <a:endParaRPr lang="zh-CN" dirty="0"/>
          </a:p>
          <a:p>
            <a:pPr/>
            <a:r>
              <a:rPr lang="zh-CN" dirty="0"/>
              <a:t>知道公安是行政机关体系的成员，又参加刑事诉讼，并不能直接得出某次盘查、搜查或者扣押是否合法。</a:t>
            </a:r>
          </a:p>
          <a:p>
            <a:pPr/>
            <a:endParaRPr lang="zh-CN" dirty="0"/>
          </a:p>
          <a:p>
            <a:pPr/>
            <a:r>
              <a:rPr lang="zh-CN" dirty="0"/>
              <a:t>机构地位与具体权限是两回事。第一百四十条没有列出盘查条件、搜查手续或扣押范围；这些须回到刑事诉讼法、治安管理处罚法、人民警察法等相应规范，核实具体事实、权限、审批和时限。不能只说有办案任务，就认为每项措施都有了根据。</a:t>
            </a:r>
          </a:p>
          <a:p>
            <a:pPr/>
            <a:endParaRPr lang="zh-CN" dirty="0"/>
          </a:p>
          <a:p>
            <a:pPr/>
            <a:r>
              <a:rPr lang="zh-CN" dirty="0"/>
              <a:t>第六讲已经把第三十七条和第四十条的条件拆开：逮捕的批准、决定与执行须依法分工，通信检查的特定目的、机关与程序须同时满足。今天的机构关系不能把这些条件冲掉。刚才的提捕情形中，公安有侦查职责，不等于当然具备继续羁押的根据；检察院有审查职责，也须依法判断，不能只凭机关地位代替事实与法律条件。</a:t>
            </a:r>
          </a:p>
          <a:p>
            <a:pPr/>
            <a:endParaRPr lang="zh-CN" dirty="0"/>
          </a:p>
          <a:p>
            <a:pPr/>
            <a:r>
              <a:rPr lang="zh-CN" dirty="0"/>
              <a:t>因此，面对实际任务，应能说出由哪个机关、依什么性质和关系办理，再判断这项措施还须满足什么条件。不是每次只说一句去查法律，也不能从一个机构位置，直接跳到某个具体动作。</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下一讲，我们就用这些有法定职责的主体，去解释宪法怎么实施，出了问题又怎么纠正。</a:t>
            </a:r>
          </a:p>
          <a:p>
            <a:pPr/>
            <a:endParaRPr lang="zh-CN" dirty="0"/>
          </a:p>
          <a:p>
            <a:pPr/>
            <a:r>
              <a:rPr lang="zh-CN" dirty="0"/>
              <a:t>上下两节的认识在这里合拢：上节以全国人大及常委会辨地位、权限与关系，下节用这些问题认识其他机关，再由提捕、抗诉和二审过程，看清不同关系怎样落实为具体行动。</a:t>
            </a:r>
          </a:p>
          <a:p>
            <a:pPr/>
            <a:endParaRPr lang="zh-CN" dirty="0"/>
          </a:p>
          <a:p>
            <a:pPr/>
            <a:r>
              <a:rPr lang="zh-CN" dirty="0"/>
              <a:t>留给各位一句话：机构图能帮助你记住名字，但讲清一个机关，靠的永远是这三样——它的性质、它的职权、它和谁是什么关系。</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cture-07-20261015-student-rea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cture-07-20261015-student-rea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9pPr>
    </p:bodyStyle>
    <p:otherStyle>
      <a:defPPr>
        <a:defRPr lang="zh-CN"/>
      </a:defPPr>
      <a:lvl1pPr marL="0" algn="l" defTabSz="457200" rtl="0" eaLnBrk="1" latinLnBrk="0" hangingPunct="1">
        <a:defRPr sz="1950" kern="1200" lang="zh-CN">
          <a:solidFill>
            <a:schemeClr val="tx1"/>
          </a:solidFill>
          <a:latin typeface="+mn-lt"/>
          <a:ea typeface="+mn-ea"/>
          <a:cs typeface="+mn-cs"/>
        </a:defRPr>
      </a:lvl1pPr>
      <a:lvl2pPr marL="457200" algn="l" defTabSz="457200" rtl="0" eaLnBrk="1" latinLnBrk="0" hangingPunct="1">
        <a:defRPr sz="1850" kern="1200" lang="zh-CN">
          <a:solidFill>
            <a:schemeClr val="tx1"/>
          </a:solidFill>
          <a:latin typeface="+mn-lt"/>
          <a:ea typeface="+mn-ea"/>
          <a:cs typeface="+mn-cs"/>
        </a:defRPr>
      </a:lvl2pPr>
      <a:lvl3pPr marL="914400" algn="l" defTabSz="457200" rtl="0" eaLnBrk="1" latinLnBrk="0" hangingPunct="1">
        <a:defRPr sz="1700" kern="1200" lang="zh-CN">
          <a:solidFill>
            <a:schemeClr val="tx1"/>
          </a:solidFill>
          <a:latin typeface="+mn-lt"/>
          <a:ea typeface="+mn-ea"/>
          <a:cs typeface="+mn-cs"/>
        </a:defRPr>
      </a:lvl3pPr>
      <a:lvl4pPr marL="1371600" algn="l" defTabSz="457200" rtl="0" eaLnBrk="1" latinLnBrk="0" hangingPunct="1">
        <a:defRPr sz="1600" kern="1200" lang="zh-CN">
          <a:solidFill>
            <a:schemeClr val="tx1"/>
          </a:solidFill>
          <a:latin typeface="+mn-lt"/>
          <a:ea typeface="+mn-ea"/>
          <a:cs typeface="+mn-cs"/>
        </a:defRPr>
      </a:lvl4pPr>
      <a:lvl5pPr marL="1828800" algn="l" defTabSz="457200" rtl="0" eaLnBrk="1" latinLnBrk="0" hangingPunct="1">
        <a:defRPr sz="1450" kern="1200" lang="zh-CN">
          <a:solidFill>
            <a:schemeClr val="tx1"/>
          </a:solidFill>
          <a:latin typeface="+mn-lt"/>
          <a:ea typeface="+mn-ea"/>
          <a:cs typeface="+mn-cs"/>
        </a:defRPr>
      </a:lvl5pPr>
      <a:lvl6pPr marL="2286000" algn="l" defTabSz="457200" rtl="0" eaLnBrk="1" latinLnBrk="0" hangingPunct="1">
        <a:defRPr sz="1350" kern="1200" lang="zh-CN">
          <a:solidFill>
            <a:schemeClr val="tx1"/>
          </a:solidFill>
          <a:latin typeface="+mn-lt"/>
          <a:ea typeface="+mn-ea"/>
          <a:cs typeface="+mn-cs"/>
        </a:defRPr>
      </a:lvl6pPr>
      <a:lvl7pPr marL="2743200" algn="l" defTabSz="457200" rtl="0" eaLnBrk="1" latinLnBrk="0" hangingPunct="1">
        <a:defRPr sz="1200" kern="1200" lang="zh-CN">
          <a:solidFill>
            <a:schemeClr val="tx1"/>
          </a:solidFill>
          <a:latin typeface="+mn-lt"/>
          <a:ea typeface="+mn-ea"/>
          <a:cs typeface="+mn-cs"/>
        </a:defRPr>
      </a:lvl7pPr>
      <a:lvl8pPr marL="3200400" algn="l" defTabSz="457200" rtl="0" eaLnBrk="1" latinLnBrk="0" hangingPunct="1">
        <a:defRPr sz="1100" kern="1200" lang="zh-CN">
          <a:solidFill>
            <a:schemeClr val="tx1"/>
          </a:solidFill>
          <a:latin typeface="+mn-lt"/>
          <a:ea typeface="+mn-ea"/>
          <a:cs typeface="+mn-cs"/>
        </a:defRPr>
      </a:lvl8pPr>
      <a:lvl9pPr marL="3657600" algn="l" defTabSz="457200" rtl="0" eaLnBrk="1" latinLnBrk="0" hangingPunct="1">
        <a:defRPr sz="10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e1b09835ae6634f.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577147aff04281d.jpg"/>
  <Relationship Id="rId3"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over-title"/>
          <p:cNvGrpSpPr/>
          <p:nvPr/>
        </p:nvGrpSpPr>
        <p:grpSpPr>
          <a:xfrm>
            <a:off x="592836" y="577850"/>
            <a:ext cx="1911096" cy="1045464"/>
            <a:chOff x="592836" y="577850"/>
            <a:chExt cx="1911096" cy="1045464"/>
          </a:xfrm>
        </p:grpSpPr>
        <p:sp>
          <p:nvSpPr>
            <p:cNvPr id="2" name="TextBox 2"/>
            <p:cNvSpPr txBox="1"/>
            <p:nvPr/>
          </p:nvSpPr>
          <p:spPr>
            <a:xfrm>
              <a:off x="602742" y="577850"/>
              <a:ext cx="138668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j-lt"/>
                  <a:ea typeface="+mj-ea"/>
                  <a:cs typeface="+mj-cs"/>
                </a:rPr>
                <a:t>宪法学 · 第七讲</a:t>
              </a:r>
            </a:p>
          </p:txBody>
        </p:sp>
        <p:sp>
          <p:nvSpPr>
            <p:cNvPr id="3" name="TextBox 3"/>
            <p:cNvSpPr txBox="1"/>
            <p:nvPr/>
          </p:nvSpPr>
          <p:spPr>
            <a:xfrm>
              <a:off x="592836" y="97790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国家机构</a:t>
              </a:r>
            </a:p>
          </p:txBody>
        </p:sp>
      </p:grpSp>
      <p:grpSp>
        <p:nvGrpSpPr>
          <p:cNvPr id="9" name="cover-question"/>
          <p:cNvGrpSpPr/>
          <p:nvPr/>
        </p:nvGrpSpPr>
        <p:grpSpPr>
          <a:xfrm>
            <a:off x="590550" y="2089150"/>
            <a:ext cx="5414772" cy="2927731"/>
            <a:chOff x="590550" y="2089150"/>
            <a:chExt cx="5414772" cy="2927731"/>
          </a:xfrm>
        </p:grpSpPr>
        <p:sp>
          <p:nvSpPr>
            <p:cNvPr id="5" name="TextBox 5"/>
            <p:cNvSpPr txBox="1"/>
            <p:nvPr/>
          </p:nvSpPr>
          <p:spPr>
            <a:xfrm>
              <a:off x="590550" y="2089150"/>
              <a:ext cx="3878580"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这些工作，</a:t>
              </a:r>
            </a:p>
          </p:txBody>
        </p:sp>
        <p:sp>
          <p:nvSpPr>
            <p:cNvPr id="6" name="TextBox 6"/>
            <p:cNvSpPr txBox="1"/>
            <p:nvPr/>
          </p:nvSpPr>
          <p:spPr>
            <a:xfrm>
              <a:off x="590550" y="3003550"/>
              <a:ext cx="541477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究竟由谁承担？</a:t>
              </a:r>
            </a:p>
          </p:txBody>
        </p:sp>
        <p:sp>
          <p:nvSpPr>
            <p:cNvPr id="7" name="Line 7"/>
            <p:cNvSpPr/>
            <p:nvPr/>
          </p:nvSpPr>
          <p:spPr>
            <a:xfrm>
              <a:off x="647700" y="4229100"/>
              <a:ext cx="1447800" cy="9525"/>
            </a:xfrm>
            <a:custGeom>
              <a:avLst/>
              <a:gdLst/>
              <a:ahLst/>
              <a:cxnLst/>
              <a:rect l="l" t="t" r="r" b="b"/>
              <a:pathLst>
                <a:path w="1447800" h="9525">
                  <a:moveTo>
                    <a:pt x="0" y="0"/>
                  </a:moveTo>
                  <a:lnTo>
                    <a:pt x="1447800" y="0"/>
                  </a:lnTo>
                </a:path>
              </a:pathLst>
            </a:custGeom>
            <a:noFill/>
            <a:ln w="28575">
              <a:solidFill>
                <a:schemeClr val="accent2"/>
              </a:solidFill>
            </a:ln>
          </p:spPr>
        </p:sp>
        <p:sp>
          <p:nvSpPr>
            <p:cNvPr id="8" name="TextBox 8"/>
            <p:cNvSpPr txBox="1"/>
            <p:nvPr/>
          </p:nvSpPr>
          <p:spPr>
            <a:xfrm>
              <a:off x="599694" y="46355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从权利保障，进入机关的职权与关系。</a:t>
              </a:r>
            </a:p>
          </p:txBody>
        </p:sp>
      </p:grpSp>
      <p:grpSp>
        <p:nvGrpSpPr>
          <p:cNvPr id="16" name="cover-connection"/>
          <p:cNvGrpSpPr/>
          <p:nvPr/>
        </p:nvGrpSpPr>
        <p:grpSpPr>
          <a:xfrm>
            <a:off x="8753094" y="2387600"/>
            <a:ext cx="1857375" cy="2572131"/>
            <a:chOff x="8753094" y="2387600"/>
            <a:chExt cx="1857375" cy="2572131"/>
          </a:xfrm>
        </p:grpSpPr>
        <p:sp>
          <p:nvSpPr>
            <p:cNvPr id="10" name="TextBox 10"/>
            <p:cNvSpPr txBox="1"/>
            <p:nvPr/>
          </p:nvSpPr>
          <p:spPr>
            <a:xfrm>
              <a:off x="8905494" y="23876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保障任务</a:t>
              </a:r>
            </a:p>
          </p:txBody>
        </p:sp>
        <p:sp>
          <p:nvSpPr>
            <p:cNvPr id="11" name="Line 11"/>
            <p:cNvSpPr/>
            <p:nvPr/>
          </p:nvSpPr>
          <p:spPr>
            <a:xfrm>
              <a:off x="9525000" y="2895600"/>
              <a:ext cx="9525" cy="590550"/>
            </a:xfrm>
            <a:custGeom>
              <a:avLst/>
              <a:gdLst/>
              <a:ahLst/>
              <a:cxnLst/>
              <a:rect l="l" t="t" r="r" b="b"/>
              <a:pathLst>
                <a:path w="9525" h="590550">
                  <a:moveTo>
                    <a:pt x="0" y="0"/>
                  </a:moveTo>
                  <a:lnTo>
                    <a:pt x="0" y="590550"/>
                  </a:lnTo>
                </a:path>
              </a:pathLst>
            </a:custGeom>
            <a:noFill/>
            <a:ln w="19050">
              <a:solidFill>
                <a:schemeClr val="accent3"/>
              </a:solidFill>
            </a:ln>
          </p:spPr>
        </p:sp>
        <p:sp>
          <p:nvSpPr>
            <p:cNvPr id="12" name="Freeform 12"/>
            <p:cNvSpPr/>
            <p:nvPr/>
          </p:nvSpPr>
          <p:spPr>
            <a:xfrm>
              <a:off x="9458325" y="3409950"/>
              <a:ext cx="133350" cy="95250"/>
            </a:xfrm>
            <a:custGeom>
              <a:avLst/>
              <a:gdLst/>
              <a:ahLst/>
              <a:cxnLst/>
              <a:rect l="l" t="t" r="r" b="b"/>
              <a:pathLst>
                <a:path w="133350" h="95250">
                  <a:moveTo>
                    <a:pt x="0" y="0"/>
                  </a:moveTo>
                  <a:lnTo>
                    <a:pt x="66675" y="95250"/>
                  </a:lnTo>
                  <a:lnTo>
                    <a:pt x="133350" y="0"/>
                  </a:lnTo>
                </a:path>
              </a:pathLst>
            </a:custGeom>
            <a:noFill/>
            <a:ln w="19050">
              <a:solidFill>
                <a:schemeClr val="accent3"/>
              </a:solidFill>
            </a:ln>
          </p:spPr>
        </p:sp>
        <p:sp>
          <p:nvSpPr>
            <p:cNvPr id="13" name="TextBox 13"/>
            <p:cNvSpPr txBox="1"/>
            <p:nvPr/>
          </p:nvSpPr>
          <p:spPr>
            <a:xfrm>
              <a:off x="8903208" y="36131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具体机关</a:t>
              </a:r>
            </a:p>
          </p:txBody>
        </p:sp>
        <p:sp>
          <p:nvSpPr>
            <p:cNvPr id="14" name="TextBox 14"/>
            <p:cNvSpPr txBox="1"/>
            <p:nvPr/>
          </p:nvSpPr>
          <p:spPr>
            <a:xfrm>
              <a:off x="8753094" y="42164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依法定职权工作</a:t>
              </a:r>
            </a:p>
          </p:txBody>
        </p:sp>
        <p:sp>
          <p:nvSpPr>
            <p:cNvPr id="15" name="TextBox 15"/>
            <p:cNvSpPr txBox="1"/>
            <p:nvPr/>
          </p:nvSpPr>
          <p:spPr>
            <a:xfrm>
              <a:off x="8753094" y="45783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按法定关系承担</a:t>
              </a:r>
            </a:p>
          </p:txBody>
        </p:sp>
      </p:grpSp>
      <p:sp>
        <p:nvSpPr>
          <p:cNvPr id="17" name="TextBox 17"/>
          <p:cNvSpPr txBox="1"/>
          <p:nvPr/>
        </p:nvSpPr>
        <p:spPr>
          <a:xfrm>
            <a:off x="599694" y="5835650"/>
            <a:ext cx="2198637"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性质 · 职权 · 关系</a:t>
            </a:r>
          </a:p>
        </p:txBody>
      </p:sp>
      <p:sp>
        <p:nvSpPr>
          <p:cNvPr id="18" name="TextBox 18"/>
          <p:cNvSpPr txBox="1"/>
          <p:nvPr/>
        </p:nvSpPr>
        <p:spPr>
          <a:xfrm>
            <a:off x="604266" y="6464300"/>
            <a:ext cx="241363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国家保障任务通过具体国家机关承担。</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01 / 53</a:t>
            </a:r>
          </a:p>
        </p:txBody>
      </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216072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整体与成员</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国家机构与国家机关，看的范围不同</a:t>
              </a:r>
            </a:p>
          </p:txBody>
        </p:sp>
      </p:grpSp>
      <p:grpSp>
        <p:nvGrpSpPr>
          <p:cNvPr id="12" name="system-field"/>
          <p:cNvGrpSpPr/>
          <p:nvPr/>
        </p:nvGrpSpPr>
        <p:grpSpPr>
          <a:xfrm>
            <a:off x="762000" y="1885950"/>
            <a:ext cx="7620000" cy="3524250"/>
            <a:chOff x="762000" y="1885950"/>
            <a:chExt cx="7620000" cy="3524250"/>
          </a:xfrm>
        </p:grpSpPr>
        <p:sp>
          <p:nvSpPr>
            <p:cNvPr id="5" name="Rectangle 5"/>
            <p:cNvSpPr/>
            <p:nvPr/>
          </p:nvSpPr>
          <p:spPr>
            <a:xfrm>
              <a:off x="762000" y="1885950"/>
              <a:ext cx="7620000" cy="3524250"/>
            </a:xfrm>
            <a:prstGeom prst="rect">
              <a:avLst/>
            </a:prstGeom>
            <a:noFill/>
            <a:ln w="19050">
              <a:solidFill>
                <a:schemeClr val="accent3"/>
              </a:solidFill>
            </a:ln>
          </p:spPr>
        </p:sp>
        <p:sp>
          <p:nvSpPr>
            <p:cNvPr id="6" name="TextBox 6"/>
            <p:cNvSpPr txBox="1"/>
            <p:nvPr/>
          </p:nvSpPr>
          <p:spPr>
            <a:xfrm>
              <a:off x="1053846" y="20510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国家机构</a:t>
              </a:r>
            </a:p>
          </p:txBody>
        </p:sp>
        <p:sp>
          <p:nvSpPr>
            <p:cNvPr id="7" name="TextBox 7"/>
            <p:cNvSpPr txBox="1"/>
            <p:nvPr/>
          </p:nvSpPr>
          <p:spPr>
            <a:xfrm>
              <a:off x="1056894" y="25400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全部国家机关组成的体系</a:t>
              </a:r>
            </a:p>
          </p:txBody>
        </p:sp>
        <p:sp>
          <p:nvSpPr>
            <p:cNvPr id="8" name="Ellipse 8"/>
            <p:cNvSpPr/>
            <p:nvPr/>
          </p:nvSpPr>
          <p:spPr>
            <a:xfrm>
              <a:off x="1657350" y="3381375"/>
              <a:ext cx="1295400" cy="1295400"/>
            </a:xfrm>
            <a:prstGeom prst="ellipse">
              <a:avLst/>
            </a:prstGeom>
            <a:solidFill>
              <a:schemeClr val="accent5"/>
            </a:solidFill>
            <a:ln>
              <a:noFill/>
            </a:ln>
          </p:spPr>
        </p:sp>
        <p:sp>
          <p:nvSpPr>
            <p:cNvPr id="9" name="TextBox 9"/>
            <p:cNvSpPr txBox="1"/>
            <p:nvPr/>
          </p:nvSpPr>
          <p:spPr>
            <a:xfrm>
              <a:off x="1799844" y="3883025"/>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a:t>
              </a:r>
            </a:p>
          </p:txBody>
        </p:sp>
        <p:sp>
          <p:nvSpPr>
            <p:cNvPr id="10" name="TextBox 10"/>
            <p:cNvSpPr txBox="1"/>
            <p:nvPr/>
          </p:nvSpPr>
          <p:spPr>
            <a:xfrm>
              <a:off x="3895344" y="37020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其他国家机关</a:t>
              </a:r>
            </a:p>
          </p:txBody>
        </p:sp>
        <p:sp>
          <p:nvSpPr>
            <p:cNvPr id="11" name="TextBox 11"/>
            <p:cNvSpPr txBox="1"/>
            <p:nvPr/>
          </p:nvSpPr>
          <p:spPr>
            <a:xfrm>
              <a:off x="3895344" y="4064000"/>
              <a:ext cx="2382393" cy="381381"/>
            </a:xfrm>
            <a:prstGeom prst="rect">
              <a:avLst/>
            </a:prstGeom>
            <a:noFill/>
            <a:ln>
              <a:noFill/>
            </a:ln>
          </p:spPr>
          <p:txBody>
            <a:bodyPr wrap="none" lIns="0" tIns="0" rIns="0" bIns="0" anchor="t" anchorCtr="0">
              <a:spAutoFit/>
            </a:bodyPr>
            <a:lstStyle/>
            <a:p>
              <a:pPr algn="l"/>
              <a:r>
                <a:rPr lang="zh-CN" sz="1950" dirty="0">
                  <a:solidFill>
                    <a:schemeClr val="accent6"/>
                  </a:solidFill>
                  <a:latin typeface="+mn-lt"/>
                  <a:ea typeface="+mn-ea"/>
                  <a:cs typeface="+mn-cs"/>
                </a:rPr>
                <a:t>依各自职权相互联系</a:t>
              </a:r>
            </a:p>
          </p:txBody>
        </p:sp>
      </p:grpSp>
      <p:sp>
        <p:nvSpPr>
          <p:cNvPr id="13" name="Freeform 13"/>
          <p:cNvSpPr/>
          <p:nvPr/>
        </p:nvSpPr>
        <p:spPr>
          <a:xfrm>
            <a:off x="2990850" y="4019550"/>
            <a:ext cx="6134100" cy="504825"/>
          </a:xfrm>
          <a:custGeom>
            <a:avLst/>
            <a:gdLst/>
            <a:ahLst/>
            <a:cxnLst/>
            <a:rect l="l" t="t" r="r" b="b"/>
            <a:pathLst>
              <a:path w="6134100" h="504825">
                <a:moveTo>
                  <a:pt x="0" y="504825"/>
                </a:moveTo>
                <a:lnTo>
                  <a:pt x="6134100" y="504825"/>
                </a:lnTo>
                <a:lnTo>
                  <a:pt x="6134100" y="0"/>
                </a:lnTo>
              </a:path>
            </a:pathLst>
          </a:custGeom>
          <a:noFill/>
          <a:ln w="19050">
            <a:solidFill>
              <a:schemeClr val="accent2"/>
            </a:solidFill>
          </a:ln>
        </p:spPr>
      </p:sp>
      <p:grpSp>
        <p:nvGrpSpPr>
          <p:cNvPr id="16" name="p02-reveal-1"/>
          <p:cNvGrpSpPr/>
          <p:nvPr/>
        </p:nvGrpSpPr>
        <p:grpSpPr>
          <a:xfrm>
            <a:off x="8769096" y="3117850"/>
            <a:ext cx="1597914" cy="832231"/>
            <a:chOff x="8769096" y="3117850"/>
            <a:chExt cx="1597914" cy="832231"/>
          </a:xfrm>
        </p:grpSpPr>
        <p:sp>
          <p:nvSpPr>
            <p:cNvPr id="14" name="TextBox 14"/>
            <p:cNvSpPr txBox="1"/>
            <p:nvPr/>
          </p:nvSpPr>
          <p:spPr>
            <a:xfrm>
              <a:off x="8769096" y="31178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国家机关</a:t>
              </a:r>
            </a:p>
          </p:txBody>
        </p:sp>
        <p:sp>
          <p:nvSpPr>
            <p:cNvPr id="15" name="TextBox 15"/>
            <p:cNvSpPr txBox="1"/>
            <p:nvPr/>
          </p:nvSpPr>
          <p:spPr>
            <a:xfrm>
              <a:off x="8772144" y="35687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一个具体成员</a:t>
              </a:r>
            </a:p>
          </p:txBody>
        </p:sp>
      </p:grpSp>
      <p:grpSp>
        <p:nvGrpSpPr>
          <p:cNvPr id="18" name="takeaway"/>
          <p:cNvGrpSpPr/>
          <p:nvPr/>
        </p:nvGrpSpPr>
        <p:grpSpPr>
          <a:xfrm>
            <a:off x="752094" y="5740400"/>
            <a:ext cx="6582537" cy="381381"/>
            <a:chOff x="752094" y="5740400"/>
            <a:chExt cx="6582537" cy="381381"/>
          </a:xfrm>
        </p:grpSpPr>
        <p:sp>
          <p:nvSpPr>
            <p:cNvPr id="17" name="TextBox 17"/>
            <p:cNvSpPr txBox="1"/>
            <p:nvPr/>
          </p:nvSpPr>
          <p:spPr>
            <a:xfrm>
              <a:off x="752094" y="5740400"/>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同一个全国人大：可辨认一个成员，也可放回整个体系。</a:t>
              </a:r>
            </a:p>
          </p:txBody>
        </p:sp>
      </p:grpSp>
      <p:sp>
        <p:nvSpPr>
          <p:cNvPr id="19" name="TextBox 19"/>
          <p:cNvSpPr txBox="1"/>
          <p:nvPr/>
        </p:nvSpPr>
        <p:spPr>
          <a:xfrm>
            <a:off x="604266" y="6464300"/>
            <a:ext cx="467525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教材第七章用法；轮廓表示整体与成员，不表示职权高低或精确机构数量。</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02 / 53</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一个名称的取舍</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一个名称，指向组织的安排</a:t>
              </a:r>
            </a:p>
          </p:txBody>
        </p:sp>
      </p:grpSp>
      <p:grpSp>
        <p:nvGrpSpPr>
          <p:cNvPr id="10" name="name-history"/>
          <p:cNvGrpSpPr/>
          <p:nvPr/>
        </p:nvGrpSpPr>
        <p:grpSpPr>
          <a:xfrm>
            <a:off x="592836" y="2139950"/>
            <a:ext cx="9953206" cy="1448181"/>
            <a:chOff x="592836" y="2139950"/>
            <a:chExt cx="9953206" cy="1448181"/>
          </a:xfrm>
        </p:grpSpPr>
        <p:sp>
          <p:nvSpPr>
            <p:cNvPr id="5" name="TextBox 5"/>
            <p:cNvSpPr txBox="1"/>
            <p:nvPr/>
          </p:nvSpPr>
          <p:spPr>
            <a:xfrm>
              <a:off x="602742" y="2139950"/>
              <a:ext cx="277611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教材追述：1954年草案称谓的比较</a:t>
              </a:r>
            </a:p>
          </p:txBody>
        </p:sp>
        <p:sp>
          <p:nvSpPr>
            <p:cNvPr id="6" name="TextBox 6"/>
            <p:cNvSpPr txBox="1"/>
            <p:nvPr/>
          </p:nvSpPr>
          <p:spPr>
            <a:xfrm>
              <a:off x="592836" y="2616200"/>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国家权力的组织</a:t>
              </a:r>
            </a:p>
          </p:txBody>
        </p:sp>
        <p:sp>
          <p:nvSpPr>
            <p:cNvPr id="7" name="Freeform 7"/>
            <p:cNvSpPr/>
            <p:nvPr/>
          </p:nvSpPr>
          <p:spPr>
            <a:xfrm>
              <a:off x="4572000" y="2800350"/>
              <a:ext cx="1390650" cy="152400"/>
            </a:xfrm>
            <a:custGeom>
              <a:avLst/>
              <a:gdLst/>
              <a:ahLst/>
              <a:cxnLst/>
              <a:rect l="l" t="t" r="r" b="b"/>
              <a:pathLst>
                <a:path w="1390650" h="152400">
                  <a:moveTo>
                    <a:pt x="0" y="76200"/>
                  </a:moveTo>
                  <a:lnTo>
                    <a:pt x="1371600" y="76200"/>
                  </a:lnTo>
                  <a:moveTo>
                    <a:pt x="1276350" y="0"/>
                  </a:moveTo>
                  <a:lnTo>
                    <a:pt x="1390650" y="76200"/>
                  </a:lnTo>
                  <a:lnTo>
                    <a:pt x="1276350" y="152400"/>
                  </a:lnTo>
                </a:path>
              </a:pathLst>
            </a:custGeom>
            <a:noFill/>
            <a:ln w="19050">
              <a:solidFill>
                <a:schemeClr val="accent3"/>
              </a:solidFill>
            </a:ln>
          </p:spPr>
        </p:sp>
        <p:sp>
          <p:nvSpPr>
            <p:cNvPr id="8" name="TextBox 8"/>
            <p:cNvSpPr txBox="1"/>
            <p:nvPr/>
          </p:nvSpPr>
          <p:spPr>
            <a:xfrm>
              <a:off x="6555486" y="261620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国家机构</a:t>
              </a:r>
            </a:p>
          </p:txBody>
        </p:sp>
        <p:sp>
          <p:nvSpPr>
            <p:cNvPr id="9" name="TextBox 9"/>
            <p:cNvSpPr txBox="1"/>
            <p:nvPr/>
          </p:nvSpPr>
          <p:spPr>
            <a:xfrm>
              <a:off x="6562344" y="3206750"/>
              <a:ext cx="398369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避开与“国家权力机关”等用语混淆</a:t>
              </a:r>
            </a:p>
          </p:txBody>
        </p:sp>
      </p:grpSp>
      <p:grpSp>
        <p:nvGrpSpPr>
          <p:cNvPr id="18" name="p03-reveal-1"/>
          <p:cNvGrpSpPr/>
          <p:nvPr/>
        </p:nvGrpSpPr>
        <p:grpSpPr>
          <a:xfrm>
            <a:off x="590550" y="4165600"/>
            <a:ext cx="9236964" cy="1937131"/>
            <a:chOff x="590550" y="4165600"/>
            <a:chExt cx="9236964" cy="1937131"/>
          </a:xfrm>
        </p:grpSpPr>
        <p:sp>
          <p:nvSpPr>
            <p:cNvPr id="11" name="TextBox 11"/>
            <p:cNvSpPr txBox="1"/>
            <p:nvPr/>
          </p:nvSpPr>
          <p:spPr>
            <a:xfrm>
              <a:off x="590550" y="4165600"/>
              <a:ext cx="883006"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84</a:t>
              </a:r>
            </a:p>
          </p:txBody>
        </p:sp>
        <p:sp>
          <p:nvSpPr>
            <p:cNvPr id="12" name="TextBox 12"/>
            <p:cNvSpPr txBox="1"/>
            <p:nvPr/>
          </p:nvSpPr>
          <p:spPr>
            <a:xfrm>
              <a:off x="1933194" y="4330700"/>
              <a:ext cx="355055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现行宪法第三章 · 第57—140条</a:t>
              </a:r>
            </a:p>
          </p:txBody>
        </p:sp>
        <p:sp>
          <p:nvSpPr>
            <p:cNvPr id="13" name="TextBox 13"/>
            <p:cNvSpPr txBox="1"/>
            <p:nvPr/>
          </p:nvSpPr>
          <p:spPr>
            <a:xfrm>
              <a:off x="1933194" y="4711700"/>
              <a:ext cx="255302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超过143条正文的一半</a:t>
              </a:r>
            </a:p>
          </p:txBody>
        </p:sp>
        <p:sp>
          <p:nvSpPr>
            <p:cNvPr id="14" name="Line 14"/>
            <p:cNvSpPr/>
            <p:nvPr/>
          </p:nvSpPr>
          <p:spPr>
            <a:xfrm>
              <a:off x="6191250" y="4191000"/>
              <a:ext cx="9525" cy="1047750"/>
            </a:xfrm>
            <a:custGeom>
              <a:avLst/>
              <a:gdLst/>
              <a:ahLst/>
              <a:cxnLst/>
              <a:rect l="l" t="t" r="r" b="b"/>
              <a:pathLst>
                <a:path w="9525" h="1047750">
                  <a:moveTo>
                    <a:pt x="0" y="0"/>
                  </a:moveTo>
                  <a:lnTo>
                    <a:pt x="0" y="1047750"/>
                  </a:lnTo>
                </a:path>
              </a:pathLst>
            </a:custGeom>
            <a:noFill/>
            <a:ln w="9525">
              <a:solidFill>
                <a:srgbClr val="C7BFB1"/>
              </a:solidFill>
            </a:ln>
          </p:spPr>
        </p:sp>
        <p:sp>
          <p:nvSpPr>
            <p:cNvPr id="15" name="TextBox 15"/>
            <p:cNvSpPr txBox="1"/>
            <p:nvPr/>
          </p:nvSpPr>
          <p:spPr>
            <a:xfrm>
              <a:off x="6657594" y="4302125"/>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重视组织，是为了落实保障</a:t>
              </a:r>
            </a:p>
          </p:txBody>
        </p:sp>
        <p:sp>
          <p:nvSpPr>
            <p:cNvPr id="16" name="TextBox 16"/>
            <p:cNvSpPr txBox="1"/>
            <p:nvPr/>
          </p:nvSpPr>
          <p:spPr>
            <a:xfrm>
              <a:off x="6657594" y="4711700"/>
              <a:ext cx="242176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条数多少 ≠ 权利轻重</a:t>
              </a:r>
            </a:p>
          </p:txBody>
        </p:sp>
        <p:sp>
          <p:nvSpPr>
            <p:cNvPr id="17" name="TextBox 17"/>
            <p:cNvSpPr txBox="1"/>
            <p:nvPr/>
          </p:nvSpPr>
          <p:spPr>
            <a:xfrm>
              <a:off x="599694" y="572135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词源帮助理解；具体职权，仍须由现行规范规定。</a:t>
              </a:r>
            </a:p>
          </p:txBody>
        </p:sp>
      </p:grpSp>
      <p:sp>
        <p:nvSpPr>
          <p:cNvPr id="19" name="TextBox 19"/>
          <p:cNvSpPr txBox="1"/>
          <p:nvPr/>
        </p:nvSpPr>
        <p:spPr>
          <a:xfrm>
            <a:off x="604266" y="6464300"/>
            <a:ext cx="485194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教材第七章历史说明；现行宪法第三章第57—140条，共84条（140−57＋1）。</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03 / 53</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4727448" cy="918464"/>
            <a:chOff x="592836" y="438150"/>
            <a:chExt cx="4727448"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国家组织为何不能缺席</a:t>
              </a:r>
            </a:p>
          </p:txBody>
        </p:sp>
        <p:sp>
          <p:nvSpPr>
            <p:cNvPr id="3" name="TextBox 3"/>
            <p:cNvSpPr txBox="1"/>
            <p:nvPr/>
          </p:nvSpPr>
          <p:spPr>
            <a:xfrm>
              <a:off x="592836" y="71120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保障，需要具体承担者</a:t>
              </a:r>
            </a:p>
          </p:txBody>
        </p:sp>
      </p:grpSp>
      <p:grpSp>
        <p:nvGrpSpPr>
          <p:cNvPr id="10" name="responsibility"/>
          <p:cNvGrpSpPr/>
          <p:nvPr/>
        </p:nvGrpSpPr>
        <p:grpSpPr>
          <a:xfrm>
            <a:off x="596646" y="1974850"/>
            <a:ext cx="8578977" cy="1594231"/>
            <a:chOff x="596646" y="1974850"/>
            <a:chExt cx="8578977" cy="1594231"/>
          </a:xfrm>
        </p:grpSpPr>
        <p:sp>
          <p:nvSpPr>
            <p:cNvPr id="5" name="TextBox 5"/>
            <p:cNvSpPr txBox="1"/>
            <p:nvPr/>
          </p:nvSpPr>
          <p:spPr>
            <a:xfrm>
              <a:off x="596646" y="2254250"/>
              <a:ext cx="3326587"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“公民的自由受保障”</a:t>
              </a:r>
            </a:p>
          </p:txBody>
        </p:sp>
        <p:sp>
          <p:nvSpPr>
            <p:cNvPr id="6" name="Freeform 6"/>
            <p:cNvSpPr/>
            <p:nvPr/>
          </p:nvSpPr>
          <p:spPr>
            <a:xfrm>
              <a:off x="4229100" y="2343150"/>
              <a:ext cx="1009650" cy="152400"/>
            </a:xfrm>
            <a:custGeom>
              <a:avLst/>
              <a:gdLst/>
              <a:ahLst/>
              <a:cxnLst/>
              <a:rect l="l" t="t" r="r" b="b"/>
              <a:pathLst>
                <a:path w="1009650" h="152400">
                  <a:moveTo>
                    <a:pt x="0" y="76200"/>
                  </a:moveTo>
                  <a:lnTo>
                    <a:pt x="990600" y="76200"/>
                  </a:lnTo>
                  <a:moveTo>
                    <a:pt x="895350" y="0"/>
                  </a:moveTo>
                  <a:lnTo>
                    <a:pt x="1009650" y="76200"/>
                  </a:lnTo>
                  <a:lnTo>
                    <a:pt x="895350" y="152400"/>
                  </a:lnTo>
                </a:path>
              </a:pathLst>
            </a:custGeom>
            <a:noFill/>
            <a:ln w="19050">
              <a:solidFill>
                <a:schemeClr val="accent3"/>
              </a:solidFill>
            </a:ln>
          </p:spPr>
        </p:sp>
        <p:sp>
          <p:nvSpPr>
            <p:cNvPr id="7" name="TextBox 7"/>
            <p:cNvSpPr txBox="1"/>
            <p:nvPr/>
          </p:nvSpPr>
          <p:spPr>
            <a:xfrm>
              <a:off x="5740908" y="19748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谁能依法限制？</a:t>
              </a:r>
            </a:p>
          </p:txBody>
        </p:sp>
        <p:sp>
          <p:nvSpPr>
            <p:cNvPr id="8" name="TextBox 8"/>
            <p:cNvSpPr txBox="1"/>
            <p:nvPr/>
          </p:nvSpPr>
          <p:spPr>
            <a:xfrm>
              <a:off x="5740908" y="250825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谁审查？谁纠错？</a:t>
              </a:r>
            </a:p>
          </p:txBody>
        </p:sp>
        <p:sp>
          <p:nvSpPr>
            <p:cNvPr id="9" name="TextBox 9"/>
            <p:cNvSpPr txBox="1"/>
            <p:nvPr/>
          </p:nvSpPr>
          <p:spPr>
            <a:xfrm>
              <a:off x="5743194" y="318770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保障任务，要有法定承担者。</a:t>
              </a:r>
            </a:p>
          </p:txBody>
        </p:sp>
      </p:grpSp>
      <p:grpSp>
        <p:nvGrpSpPr>
          <p:cNvPr id="18" name="p04-reveal-1"/>
          <p:cNvGrpSpPr/>
          <p:nvPr/>
        </p:nvGrpSpPr>
        <p:grpSpPr>
          <a:xfrm>
            <a:off x="599694" y="4191000"/>
            <a:ext cx="10830306" cy="1908683"/>
            <a:chOff x="599694" y="4191000"/>
            <a:chExt cx="10830306" cy="1908683"/>
          </a:xfrm>
        </p:grpSpPr>
        <p:sp>
          <p:nvSpPr>
            <p:cNvPr id="11" name="Line 11"/>
            <p:cNvSpPr/>
            <p:nvPr/>
          </p:nvSpPr>
          <p:spPr>
            <a:xfrm>
              <a:off x="609600" y="4191000"/>
              <a:ext cx="10820400" cy="9525"/>
            </a:xfrm>
            <a:custGeom>
              <a:avLst/>
              <a:gdLst/>
              <a:ahLst/>
              <a:cxnLst/>
              <a:rect l="l" t="t" r="r" b="b"/>
              <a:pathLst>
                <a:path w="10820400" h="9525">
                  <a:moveTo>
                    <a:pt x="0" y="0"/>
                  </a:moveTo>
                  <a:lnTo>
                    <a:pt x="10820400" y="0"/>
                  </a:lnTo>
                </a:path>
              </a:pathLst>
            </a:custGeom>
            <a:noFill/>
            <a:ln w="9525">
              <a:solidFill>
                <a:srgbClr val="C7BFB1"/>
              </a:solidFill>
            </a:ln>
          </p:spPr>
        </p:sp>
        <p:sp>
          <p:nvSpPr>
            <p:cNvPr id="12" name="TextBox 12"/>
            <p:cNvSpPr txBox="1"/>
            <p:nvPr/>
          </p:nvSpPr>
          <p:spPr>
            <a:xfrm>
              <a:off x="599694" y="44259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识别国家机构，看性质、组成和法定职能</a:t>
              </a:r>
            </a:p>
          </p:txBody>
        </p:sp>
        <p:sp>
          <p:nvSpPr>
            <p:cNvPr id="13" name="TextBox 13"/>
            <p:cNvSpPr txBox="1"/>
            <p:nvPr/>
          </p:nvSpPr>
          <p:spPr>
            <a:xfrm>
              <a:off x="599694" y="4864100"/>
              <a:ext cx="526999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性质与国家性质相适应；由各类国家机关组成</a:t>
              </a:r>
            </a:p>
          </p:txBody>
        </p:sp>
        <p:sp>
          <p:nvSpPr>
            <p:cNvPr id="14" name="TextBox 14"/>
            <p:cNvSpPr txBox="1"/>
            <p:nvPr/>
          </p:nvSpPr>
          <p:spPr>
            <a:xfrm>
              <a:off x="599694" y="52260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依法行使国家权力、管理事务并提供服务</a:t>
              </a:r>
            </a:p>
          </p:txBody>
        </p:sp>
        <p:sp>
          <p:nvSpPr>
            <p:cNvPr id="15" name="TextBox 15"/>
            <p:cNvSpPr txBox="1"/>
            <p:nvPr/>
          </p:nvSpPr>
          <p:spPr>
            <a:xfrm>
              <a:off x="7800594" y="48641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提供公共服务</a:t>
              </a:r>
            </a:p>
          </p:txBody>
        </p:sp>
        <p:sp>
          <p:nvSpPr>
            <p:cNvPr id="16" name="TextBox 16"/>
            <p:cNvSpPr txBox="1"/>
            <p:nvPr/>
          </p:nvSpPr>
          <p:spPr>
            <a:xfrm>
              <a:off x="7800594" y="52260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不足以认定是国家机关</a:t>
              </a:r>
            </a:p>
          </p:txBody>
        </p:sp>
        <p:sp>
          <p:nvSpPr>
            <p:cNvPr id="17" name="TextBox 17"/>
            <p:cNvSpPr txBox="1"/>
            <p:nvPr/>
          </p:nvSpPr>
          <p:spPr>
            <a:xfrm>
              <a:off x="602742" y="5835650"/>
              <a:ext cx="637451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教材还指出不同国家机构形式有相似之处；形式相似并不抹去性质、职权差别。</a:t>
              </a:r>
            </a:p>
          </p:txBody>
        </p:sp>
      </p:grpSp>
      <p:sp>
        <p:nvSpPr>
          <p:cNvPr id="19" name="TextBox 19"/>
          <p:cNvSpPr txBox="1"/>
          <p:nvPr/>
        </p:nvSpPr>
        <p:spPr>
          <a:xfrm>
            <a:off x="604266" y="6464300"/>
            <a:ext cx="495795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教材第七章机构特征与权利保障联系；图中问题是制度认识，不判断特定措施。</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04 / 53</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教材归纳的六项原则</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六项原则，各自约束一段工作</a:t>
              </a:r>
            </a:p>
          </p:txBody>
        </p:sp>
      </p:grpSp>
      <p:grpSp>
        <p:nvGrpSpPr>
          <p:cNvPr id="17" name="principles"/>
          <p:cNvGrpSpPr/>
          <p:nvPr/>
        </p:nvGrpSpPr>
        <p:grpSpPr>
          <a:xfrm>
            <a:off x="1228344" y="1790700"/>
            <a:ext cx="3828288" cy="3790950"/>
            <a:chOff x="1228344" y="1790700"/>
            <a:chExt cx="3828288" cy="3790950"/>
          </a:xfrm>
        </p:grpSpPr>
        <p:sp>
          <p:nvSpPr>
            <p:cNvPr id="5" name="TextBox 5"/>
            <p:cNvSpPr txBox="1"/>
            <p:nvPr/>
          </p:nvSpPr>
          <p:spPr>
            <a:xfrm>
              <a:off x="1228344" y="1892300"/>
              <a:ext cx="54483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方向</a:t>
              </a:r>
            </a:p>
          </p:txBody>
        </p:sp>
        <p:sp>
          <p:nvSpPr>
            <p:cNvPr id="6" name="TextBox 6"/>
            <p:cNvSpPr txBox="1"/>
            <p:nvPr/>
          </p:nvSpPr>
          <p:spPr>
            <a:xfrm>
              <a:off x="3416808" y="18415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党的领导</a:t>
              </a:r>
            </a:p>
          </p:txBody>
        </p:sp>
        <p:sp>
          <p:nvSpPr>
            <p:cNvPr id="7" name="TextBox 7"/>
            <p:cNvSpPr txBox="1"/>
            <p:nvPr/>
          </p:nvSpPr>
          <p:spPr>
            <a:xfrm>
              <a:off x="1228344" y="2540000"/>
              <a:ext cx="54483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组织</a:t>
              </a:r>
            </a:p>
          </p:txBody>
        </p:sp>
        <p:sp>
          <p:nvSpPr>
            <p:cNvPr id="8" name="TextBox 8"/>
            <p:cNvSpPr txBox="1"/>
            <p:nvPr/>
          </p:nvSpPr>
          <p:spPr>
            <a:xfrm>
              <a:off x="3416808" y="248920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民主集中制</a:t>
              </a:r>
            </a:p>
          </p:txBody>
        </p:sp>
        <p:sp>
          <p:nvSpPr>
            <p:cNvPr id="9" name="TextBox 9"/>
            <p:cNvSpPr txBox="1"/>
            <p:nvPr/>
          </p:nvSpPr>
          <p:spPr>
            <a:xfrm>
              <a:off x="1228344" y="3187700"/>
              <a:ext cx="54483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目的</a:t>
              </a:r>
            </a:p>
          </p:txBody>
        </p:sp>
        <p:sp>
          <p:nvSpPr>
            <p:cNvPr id="10" name="TextBox 10"/>
            <p:cNvSpPr txBox="1"/>
            <p:nvPr/>
          </p:nvSpPr>
          <p:spPr>
            <a:xfrm>
              <a:off x="3416808" y="313690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为人民服务</a:t>
              </a:r>
            </a:p>
          </p:txBody>
        </p:sp>
        <p:sp>
          <p:nvSpPr>
            <p:cNvPr id="11" name="TextBox 11"/>
            <p:cNvSpPr txBox="1"/>
            <p:nvPr/>
          </p:nvSpPr>
          <p:spPr>
            <a:xfrm>
              <a:off x="1228344" y="3835400"/>
              <a:ext cx="54483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运行</a:t>
              </a:r>
            </a:p>
          </p:txBody>
        </p:sp>
        <p:sp>
          <p:nvSpPr>
            <p:cNvPr id="12" name="TextBox 12"/>
            <p:cNvSpPr txBox="1"/>
            <p:nvPr/>
          </p:nvSpPr>
          <p:spPr>
            <a:xfrm>
              <a:off x="3416808" y="37846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权责统一</a:t>
              </a:r>
            </a:p>
          </p:txBody>
        </p:sp>
        <p:sp>
          <p:nvSpPr>
            <p:cNvPr id="13" name="TextBox 13"/>
            <p:cNvSpPr txBox="1"/>
            <p:nvPr/>
          </p:nvSpPr>
          <p:spPr>
            <a:xfrm>
              <a:off x="3416808" y="431800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精简和效率</a:t>
              </a:r>
            </a:p>
          </p:txBody>
        </p:sp>
        <p:sp>
          <p:nvSpPr>
            <p:cNvPr id="14" name="TextBox 14"/>
            <p:cNvSpPr txBox="1"/>
            <p:nvPr/>
          </p:nvSpPr>
          <p:spPr>
            <a:xfrm>
              <a:off x="1228344" y="5130800"/>
              <a:ext cx="544830"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依据</a:t>
              </a:r>
            </a:p>
          </p:txBody>
        </p:sp>
        <p:sp>
          <p:nvSpPr>
            <p:cNvPr id="15" name="TextBox 15"/>
            <p:cNvSpPr txBox="1"/>
            <p:nvPr/>
          </p:nvSpPr>
          <p:spPr>
            <a:xfrm>
              <a:off x="3416808" y="508000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法治</a:t>
              </a:r>
            </a:p>
          </p:txBody>
        </p:sp>
        <p:sp>
          <p:nvSpPr>
            <p:cNvPr id="16" name="Line 16"/>
            <p:cNvSpPr/>
            <p:nvPr/>
          </p:nvSpPr>
          <p:spPr>
            <a:xfrm>
              <a:off x="2762250" y="1790700"/>
              <a:ext cx="9525" cy="3790950"/>
            </a:xfrm>
            <a:custGeom>
              <a:avLst/>
              <a:gdLst/>
              <a:ahLst/>
              <a:cxnLst/>
              <a:rect l="l" t="t" r="r" b="b"/>
              <a:pathLst>
                <a:path w="9525" h="3790950">
                  <a:moveTo>
                    <a:pt x="0" y="0"/>
                  </a:moveTo>
                  <a:lnTo>
                    <a:pt x="0" y="3790950"/>
                  </a:lnTo>
                </a:path>
              </a:pathLst>
            </a:custGeom>
            <a:noFill/>
            <a:ln w="9525">
              <a:solidFill>
                <a:srgbClr val="C7BFB1"/>
              </a:solidFill>
            </a:ln>
          </p:spPr>
        </p:sp>
      </p:grpSp>
      <p:grpSp>
        <p:nvGrpSpPr>
          <p:cNvPr id="24" name="p05-reveal-1"/>
          <p:cNvGrpSpPr/>
          <p:nvPr/>
        </p:nvGrpSpPr>
        <p:grpSpPr>
          <a:xfrm>
            <a:off x="6515100" y="2540000"/>
            <a:ext cx="2842260" cy="2514981"/>
            <a:chOff x="6515100" y="2540000"/>
            <a:chExt cx="2842260" cy="2514981"/>
          </a:xfrm>
        </p:grpSpPr>
        <p:sp>
          <p:nvSpPr>
            <p:cNvPr id="18" name="Line 18"/>
            <p:cNvSpPr/>
            <p:nvPr/>
          </p:nvSpPr>
          <p:spPr>
            <a:xfrm>
              <a:off x="6515100" y="2686050"/>
              <a:ext cx="1028700" cy="9525"/>
            </a:xfrm>
            <a:custGeom>
              <a:avLst/>
              <a:gdLst/>
              <a:ahLst/>
              <a:cxnLst/>
              <a:rect l="l" t="t" r="r" b="b"/>
              <a:pathLst>
                <a:path w="1028700" h="9525">
                  <a:moveTo>
                    <a:pt x="0" y="0"/>
                  </a:moveTo>
                  <a:lnTo>
                    <a:pt x="1028700" y="0"/>
                  </a:lnTo>
                </a:path>
              </a:pathLst>
            </a:custGeom>
            <a:noFill/>
            <a:ln w="19050">
              <a:solidFill>
                <a:schemeClr val="accent2"/>
              </a:solidFill>
            </a:ln>
          </p:spPr>
        </p:sp>
        <p:sp>
          <p:nvSpPr>
            <p:cNvPr id="19" name="TextBox 19"/>
            <p:cNvSpPr txBox="1"/>
            <p:nvPr/>
          </p:nvSpPr>
          <p:spPr>
            <a:xfrm>
              <a:off x="7762494" y="25400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怎样组织权力</a:t>
              </a:r>
            </a:p>
          </p:txBody>
        </p:sp>
        <p:sp>
          <p:nvSpPr>
            <p:cNvPr id="20" name="Line 20"/>
            <p:cNvSpPr/>
            <p:nvPr/>
          </p:nvSpPr>
          <p:spPr>
            <a:xfrm>
              <a:off x="6515100" y="3981450"/>
              <a:ext cx="1028700" cy="9525"/>
            </a:xfrm>
            <a:custGeom>
              <a:avLst/>
              <a:gdLst/>
              <a:ahLst/>
              <a:cxnLst/>
              <a:rect l="l" t="t" r="r" b="b"/>
              <a:pathLst>
                <a:path w="1028700" h="9525">
                  <a:moveTo>
                    <a:pt x="0" y="0"/>
                  </a:moveTo>
                  <a:lnTo>
                    <a:pt x="1028700" y="0"/>
                  </a:lnTo>
                </a:path>
              </a:pathLst>
            </a:custGeom>
            <a:noFill/>
            <a:ln w="19050">
              <a:solidFill>
                <a:schemeClr val="accent2"/>
              </a:solidFill>
            </a:ln>
          </p:spPr>
        </p:sp>
        <p:sp>
          <p:nvSpPr>
            <p:cNvPr id="21" name="TextBox 21"/>
            <p:cNvSpPr txBox="1"/>
            <p:nvPr/>
          </p:nvSpPr>
          <p:spPr>
            <a:xfrm>
              <a:off x="7762494" y="38354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怎样承担责任</a:t>
              </a:r>
            </a:p>
          </p:txBody>
        </p:sp>
        <p:sp>
          <p:nvSpPr>
            <p:cNvPr id="22" name="TextBox 22"/>
            <p:cNvSpPr txBox="1"/>
            <p:nvPr/>
          </p:nvSpPr>
          <p:spPr>
            <a:xfrm>
              <a:off x="7762494" y="43116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本讲重点落到</a:t>
              </a:r>
            </a:p>
          </p:txBody>
        </p:sp>
        <p:sp>
          <p:nvSpPr>
            <p:cNvPr id="23" name="TextBox 23"/>
            <p:cNvSpPr txBox="1"/>
            <p:nvPr/>
          </p:nvSpPr>
          <p:spPr>
            <a:xfrm>
              <a:off x="7762494" y="46736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具体机关关系</a:t>
              </a:r>
            </a:p>
          </p:txBody>
        </p:sp>
      </p:grpSp>
      <p:sp>
        <p:nvSpPr>
          <p:cNvPr id="25" name="TextBox 25"/>
          <p:cNvSpPr txBox="1"/>
          <p:nvPr/>
        </p:nvSpPr>
        <p:spPr>
          <a:xfrm>
            <a:off x="1231392" y="5835650"/>
            <a:ext cx="655624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左侧是帮助理解的归纳；六项原则共同适用，不是互斥分类，也不表示工作先后。</a:t>
            </a:r>
          </a:p>
        </p:txBody>
      </p:sp>
      <p:sp>
        <p:nvSpPr>
          <p:cNvPr id="26" name="TextBox 26"/>
          <p:cNvSpPr txBox="1"/>
          <p:nvPr/>
        </p:nvSpPr>
        <p:spPr>
          <a:xfrm>
            <a:off x="604266" y="6464300"/>
            <a:ext cx="439254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教材第七章六项组织活动原则；本讲重点解释民主集中制与权责统一。</a:t>
            </a:r>
          </a:p>
        </p:txBody>
      </p:sp>
      <p:sp>
        <p:nvSpPr>
          <p:cNvPr id="27" name="TextBox 2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05 / 53</a:t>
            </a:r>
          </a:p>
        </p:txBody>
      </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196840" cy="918464"/>
            <a:chOff x="592836" y="438150"/>
            <a:chExt cx="5196840"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民主集中制的组织落实</a:t>
              </a:r>
            </a:p>
          </p:txBody>
        </p:sp>
        <p:sp>
          <p:nvSpPr>
            <p:cNvPr id="3" name="TextBox 3"/>
            <p:cNvSpPr txBox="1"/>
            <p:nvPr/>
          </p:nvSpPr>
          <p:spPr>
            <a:xfrm>
              <a:off x="592836" y="71120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统一组织，仍然依法分工</a:t>
              </a:r>
            </a:p>
          </p:txBody>
        </p:sp>
      </p:grpSp>
      <p:grpSp>
        <p:nvGrpSpPr>
          <p:cNvPr id="17" name="relations"/>
          <p:cNvGrpSpPr/>
          <p:nvPr/>
        </p:nvGrpSpPr>
        <p:grpSpPr>
          <a:xfrm>
            <a:off x="844296" y="1987550"/>
            <a:ext cx="9313164" cy="2626233"/>
            <a:chOff x="844296" y="1987550"/>
            <a:chExt cx="9313164" cy="2626233"/>
          </a:xfrm>
        </p:grpSpPr>
        <p:sp>
          <p:nvSpPr>
            <p:cNvPr id="5" name="TextBox 5"/>
            <p:cNvSpPr txBox="1"/>
            <p:nvPr/>
          </p:nvSpPr>
          <p:spPr>
            <a:xfrm>
              <a:off x="844296" y="214630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a:t>
              </a:r>
            </a:p>
          </p:txBody>
        </p:sp>
        <p:sp>
          <p:nvSpPr>
            <p:cNvPr id="6" name="Freeform 6"/>
            <p:cNvSpPr/>
            <p:nvPr/>
          </p:nvSpPr>
          <p:spPr>
            <a:xfrm>
              <a:off x="1866900" y="2266950"/>
              <a:ext cx="1943100" cy="152400"/>
            </a:xfrm>
            <a:custGeom>
              <a:avLst/>
              <a:gdLst/>
              <a:ahLst/>
              <a:cxnLst/>
              <a:rect l="l" t="t" r="r" b="b"/>
              <a:pathLst>
                <a:path w="1943100" h="152400">
                  <a:moveTo>
                    <a:pt x="0" y="76200"/>
                  </a:moveTo>
                  <a:lnTo>
                    <a:pt x="1924050" y="76200"/>
                  </a:lnTo>
                  <a:moveTo>
                    <a:pt x="1828800" y="0"/>
                  </a:moveTo>
                  <a:lnTo>
                    <a:pt x="1943100" y="76200"/>
                  </a:lnTo>
                  <a:lnTo>
                    <a:pt x="1828800" y="152400"/>
                  </a:lnTo>
                </a:path>
              </a:pathLst>
            </a:custGeom>
            <a:noFill/>
            <a:ln w="19050">
              <a:solidFill>
                <a:schemeClr val="accent3"/>
              </a:solidFill>
            </a:ln>
          </p:spPr>
        </p:sp>
        <p:sp>
          <p:nvSpPr>
            <p:cNvPr id="7" name="TextBox 7"/>
            <p:cNvSpPr txBox="1"/>
            <p:nvPr/>
          </p:nvSpPr>
          <p:spPr>
            <a:xfrm>
              <a:off x="2136267" y="1987550"/>
              <a:ext cx="110413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民主选举代表</a:t>
              </a:r>
            </a:p>
          </p:txBody>
        </p:sp>
        <p:sp>
          <p:nvSpPr>
            <p:cNvPr id="8" name="TextBox 8"/>
            <p:cNvSpPr txBox="1"/>
            <p:nvPr/>
          </p:nvSpPr>
          <p:spPr>
            <a:xfrm>
              <a:off x="4120896" y="21463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人民代表大会</a:t>
              </a:r>
            </a:p>
          </p:txBody>
        </p:sp>
        <p:sp>
          <p:nvSpPr>
            <p:cNvPr id="9" name="TextBox 9"/>
            <p:cNvSpPr txBox="1"/>
            <p:nvPr/>
          </p:nvSpPr>
          <p:spPr>
            <a:xfrm>
              <a:off x="4123944" y="26543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统一行使国家权力</a:t>
              </a:r>
            </a:p>
          </p:txBody>
        </p:sp>
        <p:sp>
          <p:nvSpPr>
            <p:cNvPr id="10" name="Freeform 10"/>
            <p:cNvSpPr/>
            <p:nvPr/>
          </p:nvSpPr>
          <p:spPr>
            <a:xfrm>
              <a:off x="6210300" y="2305050"/>
              <a:ext cx="1885950" cy="152400"/>
            </a:xfrm>
            <a:custGeom>
              <a:avLst/>
              <a:gdLst/>
              <a:ahLst/>
              <a:cxnLst/>
              <a:rect l="l" t="t" r="r" b="b"/>
              <a:pathLst>
                <a:path w="1885950" h="152400">
                  <a:moveTo>
                    <a:pt x="0" y="76200"/>
                  </a:moveTo>
                  <a:lnTo>
                    <a:pt x="1866900" y="76200"/>
                  </a:lnTo>
                  <a:moveTo>
                    <a:pt x="1771650" y="0"/>
                  </a:moveTo>
                  <a:lnTo>
                    <a:pt x="1885950" y="76200"/>
                  </a:lnTo>
                  <a:lnTo>
                    <a:pt x="1771650" y="152400"/>
                  </a:lnTo>
                </a:path>
              </a:pathLst>
            </a:custGeom>
            <a:noFill/>
            <a:ln w="19050">
              <a:solidFill>
                <a:schemeClr val="accent3"/>
              </a:solidFill>
            </a:ln>
          </p:spPr>
        </p:sp>
        <p:sp>
          <p:nvSpPr>
            <p:cNvPr id="11" name="TextBox 11"/>
            <p:cNvSpPr txBox="1"/>
            <p:nvPr/>
          </p:nvSpPr>
          <p:spPr>
            <a:xfrm>
              <a:off x="6565392" y="2006600"/>
              <a:ext cx="74066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依法产生</a:t>
              </a:r>
            </a:p>
          </p:txBody>
        </p:sp>
        <p:sp>
          <p:nvSpPr>
            <p:cNvPr id="12" name="TextBox 12"/>
            <p:cNvSpPr txBox="1"/>
            <p:nvPr/>
          </p:nvSpPr>
          <p:spPr>
            <a:xfrm>
              <a:off x="8562594" y="22352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相关国家机关</a:t>
              </a:r>
            </a:p>
          </p:txBody>
        </p:sp>
        <p:sp>
          <p:nvSpPr>
            <p:cNvPr id="13" name="TextBox 13"/>
            <p:cNvSpPr txBox="1"/>
            <p:nvPr/>
          </p:nvSpPr>
          <p:spPr>
            <a:xfrm>
              <a:off x="8562594" y="26352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依法专业分工</a:t>
              </a:r>
            </a:p>
          </p:txBody>
        </p:sp>
        <p:sp>
          <p:nvSpPr>
            <p:cNvPr id="14" name="Freeform 14"/>
            <p:cNvSpPr/>
            <p:nvPr/>
          </p:nvSpPr>
          <p:spPr>
            <a:xfrm>
              <a:off x="5181600" y="3200400"/>
              <a:ext cx="4343400" cy="685800"/>
            </a:xfrm>
            <a:custGeom>
              <a:avLst/>
              <a:gdLst/>
              <a:ahLst/>
              <a:cxnLst/>
              <a:rect l="l" t="t" r="r" b="b"/>
              <a:pathLst>
                <a:path w="4343400" h="685800">
                  <a:moveTo>
                    <a:pt x="4343400" y="0"/>
                  </a:moveTo>
                  <a:lnTo>
                    <a:pt x="4343400" y="685800"/>
                  </a:lnTo>
                  <a:lnTo>
                    <a:pt x="76200" y="685800"/>
                  </a:lnTo>
                  <a:lnTo>
                    <a:pt x="76200" y="76200"/>
                  </a:lnTo>
                  <a:moveTo>
                    <a:pt x="0" y="171450"/>
                  </a:moveTo>
                  <a:lnTo>
                    <a:pt x="76200" y="57150"/>
                  </a:lnTo>
                  <a:lnTo>
                    <a:pt x="152400" y="171450"/>
                  </a:lnTo>
                </a:path>
              </a:pathLst>
            </a:custGeom>
            <a:noFill/>
            <a:ln w="19050">
              <a:solidFill>
                <a:schemeClr val="accent2"/>
              </a:solidFill>
            </a:ln>
          </p:spPr>
        </p:sp>
        <p:sp>
          <p:nvSpPr>
            <p:cNvPr id="15" name="TextBox 15"/>
            <p:cNvSpPr txBox="1"/>
            <p:nvPr/>
          </p:nvSpPr>
          <p:spPr>
            <a:xfrm>
              <a:off x="6562344" y="4025900"/>
              <a:ext cx="290741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对人大负责，受人大监督</a:t>
              </a:r>
            </a:p>
          </p:txBody>
        </p:sp>
        <p:sp>
          <p:nvSpPr>
            <p:cNvPr id="16" name="TextBox 16"/>
            <p:cNvSpPr txBox="1"/>
            <p:nvPr/>
          </p:nvSpPr>
          <p:spPr>
            <a:xfrm>
              <a:off x="850392" y="4349750"/>
              <a:ext cx="473887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代表对人民负责、受人民监督；示意仅呈现本页组织关系。</a:t>
              </a:r>
            </a:p>
          </p:txBody>
        </p:sp>
      </p:grpSp>
      <p:grpSp>
        <p:nvGrpSpPr>
          <p:cNvPr id="21" name="p06-reveal-1"/>
          <p:cNvGrpSpPr/>
          <p:nvPr/>
        </p:nvGrpSpPr>
        <p:grpSpPr>
          <a:xfrm>
            <a:off x="847344" y="4953000"/>
            <a:ext cx="10487406" cy="1035431"/>
            <a:chOff x="847344" y="4953000"/>
            <a:chExt cx="10487406" cy="1035431"/>
          </a:xfrm>
        </p:grpSpPr>
        <p:sp>
          <p:nvSpPr>
            <p:cNvPr id="18" name="Line 18"/>
            <p:cNvSpPr/>
            <p:nvPr/>
          </p:nvSpPr>
          <p:spPr>
            <a:xfrm>
              <a:off x="857250" y="4953000"/>
              <a:ext cx="10477500" cy="9525"/>
            </a:xfrm>
            <a:custGeom>
              <a:avLst/>
              <a:gdLst/>
              <a:ahLst/>
              <a:cxnLst/>
              <a:rect l="l" t="t" r="r" b="b"/>
              <a:pathLst>
                <a:path w="10477500" h="9525">
                  <a:moveTo>
                    <a:pt x="0" y="0"/>
                  </a:moveTo>
                  <a:lnTo>
                    <a:pt x="10477500" y="0"/>
                  </a:lnTo>
                </a:path>
              </a:pathLst>
            </a:custGeom>
            <a:noFill/>
            <a:ln w="9525">
              <a:solidFill>
                <a:srgbClr val="C7BFB1"/>
              </a:solidFill>
            </a:ln>
          </p:spPr>
        </p:sp>
        <p:sp>
          <p:nvSpPr>
            <p:cNvPr id="19" name="TextBox 19"/>
            <p:cNvSpPr txBox="1"/>
            <p:nvPr/>
          </p:nvSpPr>
          <p:spPr>
            <a:xfrm>
              <a:off x="847344" y="514985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统一组织，不要求同一个会议亲自办完全部工作。</a:t>
              </a:r>
            </a:p>
          </p:txBody>
        </p:sp>
        <p:sp>
          <p:nvSpPr>
            <p:cNvPr id="20" name="TextBox 20"/>
            <p:cNvSpPr txBox="1"/>
            <p:nvPr/>
          </p:nvSpPr>
          <p:spPr>
            <a:xfrm>
              <a:off x="847344" y="5607050"/>
              <a:ext cx="789508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人大与其他机关的产生监督关系，不能抹去公检法办案的程序制约。</a:t>
              </a:r>
            </a:p>
          </p:txBody>
        </p:sp>
      </p:grpSp>
      <p:grpSp>
        <p:nvGrpSpPr>
          <p:cNvPr id="24" name="footer"/>
          <p:cNvGrpSpPr/>
          <p:nvPr/>
        </p:nvGrpSpPr>
        <p:grpSpPr>
          <a:xfrm>
            <a:off x="604266" y="6464300"/>
            <a:ext cx="10828344" cy="205359"/>
            <a:chOff x="604266" y="6464300"/>
            <a:chExt cx="10828344" cy="205359"/>
          </a:xfrm>
        </p:grpSpPr>
        <p:sp>
          <p:nvSpPr>
            <p:cNvPr id="22" name="TextBox 22"/>
            <p:cNvSpPr txBox="1"/>
            <p:nvPr/>
          </p:nvSpPr>
          <p:spPr>
            <a:xfrm>
              <a:off x="604266" y="6464300"/>
              <a:ext cx="308505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宪法第2、3、140条；不同性质的关系分别理解。</a:t>
              </a:r>
            </a:p>
          </p:txBody>
        </p:sp>
        <p:sp>
          <p:nvSpPr>
            <p:cNvPr id="23" name="TextBox 23"/>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06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199918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权责统一</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职权与责任，必须一起出现</a:t>
              </a:r>
            </a:p>
          </p:txBody>
        </p:sp>
      </p:grpSp>
      <p:grpSp>
        <p:nvGrpSpPr>
          <p:cNvPr id="12" name="power-chain"/>
          <p:cNvGrpSpPr/>
          <p:nvPr/>
        </p:nvGrpSpPr>
        <p:grpSpPr>
          <a:xfrm>
            <a:off x="749046" y="2279650"/>
            <a:ext cx="9442704" cy="1918081"/>
            <a:chOff x="749046" y="2279650"/>
            <a:chExt cx="9442704" cy="1918081"/>
          </a:xfrm>
        </p:grpSpPr>
        <p:sp>
          <p:nvSpPr>
            <p:cNvPr id="5" name="TextBox 5"/>
            <p:cNvSpPr txBox="1"/>
            <p:nvPr/>
          </p:nvSpPr>
          <p:spPr>
            <a:xfrm>
              <a:off x="749046" y="22796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法定职权</a:t>
              </a:r>
            </a:p>
          </p:txBody>
        </p:sp>
        <p:sp>
          <p:nvSpPr>
            <p:cNvPr id="6" name="Freeform 6"/>
            <p:cNvSpPr/>
            <p:nvPr/>
          </p:nvSpPr>
          <p:spPr>
            <a:xfrm>
              <a:off x="2514600" y="2400300"/>
              <a:ext cx="1485900" cy="152400"/>
            </a:xfrm>
            <a:custGeom>
              <a:avLst/>
              <a:gdLst/>
              <a:ahLst/>
              <a:cxnLst/>
              <a:rect l="l" t="t" r="r" b="b"/>
              <a:pathLst>
                <a:path w="1485900" h="152400">
                  <a:moveTo>
                    <a:pt x="0" y="76200"/>
                  </a:moveTo>
                  <a:lnTo>
                    <a:pt x="1466850" y="76200"/>
                  </a:lnTo>
                  <a:moveTo>
                    <a:pt x="1371600" y="0"/>
                  </a:moveTo>
                  <a:lnTo>
                    <a:pt x="1485900" y="76200"/>
                  </a:lnTo>
                  <a:lnTo>
                    <a:pt x="1371600" y="152400"/>
                  </a:lnTo>
                </a:path>
              </a:pathLst>
            </a:custGeom>
            <a:noFill/>
            <a:ln w="19050">
              <a:solidFill>
                <a:schemeClr val="accent3"/>
              </a:solidFill>
            </a:ln>
          </p:spPr>
        </p:sp>
        <p:sp>
          <p:nvSpPr>
            <p:cNvPr id="7" name="TextBox 7"/>
            <p:cNvSpPr txBox="1"/>
            <p:nvPr/>
          </p:nvSpPr>
          <p:spPr>
            <a:xfrm>
              <a:off x="4463796" y="22796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依法行使</a:t>
              </a:r>
            </a:p>
          </p:txBody>
        </p:sp>
        <p:sp>
          <p:nvSpPr>
            <p:cNvPr id="8" name="Freeform 8"/>
            <p:cNvSpPr/>
            <p:nvPr/>
          </p:nvSpPr>
          <p:spPr>
            <a:xfrm>
              <a:off x="6305550" y="2400300"/>
              <a:ext cx="1524000" cy="152400"/>
            </a:xfrm>
            <a:custGeom>
              <a:avLst/>
              <a:gdLst/>
              <a:ahLst/>
              <a:cxnLst/>
              <a:rect l="l" t="t" r="r" b="b"/>
              <a:pathLst>
                <a:path w="1524000" h="152400">
                  <a:moveTo>
                    <a:pt x="0" y="76200"/>
                  </a:moveTo>
                  <a:lnTo>
                    <a:pt x="1504950" y="76200"/>
                  </a:lnTo>
                  <a:moveTo>
                    <a:pt x="1409700" y="0"/>
                  </a:moveTo>
                  <a:lnTo>
                    <a:pt x="1524000" y="76200"/>
                  </a:lnTo>
                  <a:lnTo>
                    <a:pt x="1409700" y="152400"/>
                  </a:lnTo>
                </a:path>
              </a:pathLst>
            </a:custGeom>
            <a:noFill/>
            <a:ln w="19050">
              <a:solidFill>
                <a:schemeClr val="accent3"/>
              </a:solidFill>
            </a:ln>
          </p:spPr>
        </p:sp>
        <p:sp>
          <p:nvSpPr>
            <p:cNvPr id="9" name="TextBox 9"/>
            <p:cNvSpPr txBox="1"/>
            <p:nvPr/>
          </p:nvSpPr>
          <p:spPr>
            <a:xfrm>
              <a:off x="8311896" y="22796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承担责任</a:t>
              </a:r>
            </a:p>
          </p:txBody>
        </p:sp>
        <p:sp>
          <p:nvSpPr>
            <p:cNvPr id="10" name="Freeform 10"/>
            <p:cNvSpPr/>
            <p:nvPr/>
          </p:nvSpPr>
          <p:spPr>
            <a:xfrm>
              <a:off x="1333500" y="3200400"/>
              <a:ext cx="8858250" cy="400050"/>
            </a:xfrm>
            <a:custGeom>
              <a:avLst/>
              <a:gdLst/>
              <a:ahLst/>
              <a:cxnLst/>
              <a:rect l="l" t="t" r="r" b="b"/>
              <a:pathLst>
                <a:path w="8858250" h="400050">
                  <a:moveTo>
                    <a:pt x="0" y="0"/>
                  </a:moveTo>
                  <a:lnTo>
                    <a:pt x="0" y="400050"/>
                  </a:lnTo>
                  <a:lnTo>
                    <a:pt x="8858250" y="400050"/>
                  </a:lnTo>
                  <a:lnTo>
                    <a:pt x="8858250" y="0"/>
                  </a:lnTo>
                </a:path>
              </a:pathLst>
            </a:custGeom>
            <a:noFill/>
            <a:ln w="19050">
              <a:solidFill>
                <a:schemeClr val="accent2"/>
              </a:solidFill>
            </a:ln>
          </p:spPr>
        </p:sp>
        <p:sp>
          <p:nvSpPr>
            <p:cNvPr id="11" name="TextBox 11"/>
            <p:cNvSpPr txBox="1"/>
            <p:nvPr/>
          </p:nvSpPr>
          <p:spPr>
            <a:xfrm>
              <a:off x="3552444" y="3816350"/>
              <a:ext cx="395744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有权力运行的地方，就要有监督。</a:t>
              </a:r>
            </a:p>
          </p:txBody>
        </p:sp>
      </p:grpSp>
      <p:grpSp>
        <p:nvGrpSpPr>
          <p:cNvPr id="16" name="p07-reveal-1"/>
          <p:cNvGrpSpPr/>
          <p:nvPr/>
        </p:nvGrpSpPr>
        <p:grpSpPr>
          <a:xfrm>
            <a:off x="752094" y="4768850"/>
            <a:ext cx="7286244" cy="1311783"/>
            <a:chOff x="752094" y="4768850"/>
            <a:chExt cx="7286244" cy="1311783"/>
          </a:xfrm>
        </p:grpSpPr>
        <p:sp>
          <p:nvSpPr>
            <p:cNvPr id="13" name="TextBox 13"/>
            <p:cNvSpPr txBox="1"/>
            <p:nvPr/>
          </p:nvSpPr>
          <p:spPr>
            <a:xfrm>
              <a:off x="752094" y="47688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不得有超越宪法法律的特权</a:t>
              </a:r>
            </a:p>
          </p:txBody>
        </p:sp>
        <p:sp>
          <p:nvSpPr>
            <p:cNvPr id="14" name="TextBox 14"/>
            <p:cNvSpPr txBox="1"/>
            <p:nvPr/>
          </p:nvSpPr>
          <p:spPr>
            <a:xfrm>
              <a:off x="752094" y="516890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绝不允许以言代法、以权压法、逐利违法、徇私枉法</a:t>
              </a:r>
            </a:p>
          </p:txBody>
        </p:sp>
        <p:sp>
          <p:nvSpPr>
            <p:cNvPr id="15" name="TextBox 15"/>
            <p:cNvSpPr txBox="1"/>
            <p:nvPr/>
          </p:nvSpPr>
          <p:spPr>
            <a:xfrm>
              <a:off x="755142" y="5816600"/>
              <a:ext cx="728319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为人民服务：联系人民、倾听意见；精简效率：克服重叠交叉；法治：重大改革于法有据。</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343136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教材第七章权责统一及其他原则；宪法第2、5、27条。</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07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党的领导与机关性质</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组织性质要分清，依法履职要保留</a:t>
              </a:r>
            </a:p>
          </p:txBody>
        </p:sp>
      </p:grpSp>
      <p:grpSp>
        <p:nvGrpSpPr>
          <p:cNvPr id="12" name="organization-types"/>
          <p:cNvGrpSpPr/>
          <p:nvPr/>
        </p:nvGrpSpPr>
        <p:grpSpPr>
          <a:xfrm>
            <a:off x="844296" y="2133600"/>
            <a:ext cx="8928354" cy="1943100"/>
            <a:chOff x="844296" y="2133600"/>
            <a:chExt cx="8928354" cy="1943100"/>
          </a:xfrm>
        </p:grpSpPr>
        <p:sp>
          <p:nvSpPr>
            <p:cNvPr id="5" name="TextBox 5"/>
            <p:cNvSpPr txBox="1"/>
            <p:nvPr/>
          </p:nvSpPr>
          <p:spPr>
            <a:xfrm>
              <a:off x="850392" y="2311400"/>
              <a:ext cx="128587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国家机构这一侧</a:t>
              </a:r>
            </a:p>
          </p:txBody>
        </p:sp>
        <p:sp>
          <p:nvSpPr>
            <p:cNvPr id="6" name="TextBox 6"/>
            <p:cNvSpPr txBox="1"/>
            <p:nvPr/>
          </p:nvSpPr>
          <p:spPr>
            <a:xfrm>
              <a:off x="844296" y="27559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全国人民代表大会</a:t>
              </a:r>
            </a:p>
          </p:txBody>
        </p:sp>
        <p:sp>
          <p:nvSpPr>
            <p:cNvPr id="7" name="TextBox 7"/>
            <p:cNvSpPr txBox="1"/>
            <p:nvPr/>
          </p:nvSpPr>
          <p:spPr>
            <a:xfrm>
              <a:off x="847344" y="33210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最高国家权力机关</a:t>
              </a:r>
            </a:p>
          </p:txBody>
        </p:sp>
        <p:sp>
          <p:nvSpPr>
            <p:cNvPr id="8" name="Line 8"/>
            <p:cNvSpPr/>
            <p:nvPr/>
          </p:nvSpPr>
          <p:spPr>
            <a:xfrm>
              <a:off x="6019800" y="2133600"/>
              <a:ext cx="9525" cy="1943100"/>
            </a:xfrm>
            <a:custGeom>
              <a:avLst/>
              <a:gdLst/>
              <a:ahLst/>
              <a:cxnLst/>
              <a:rect l="l" t="t" r="r" b="b"/>
              <a:pathLst>
                <a:path w="9525" h="1943100">
                  <a:moveTo>
                    <a:pt x="0" y="0"/>
                  </a:moveTo>
                  <a:lnTo>
                    <a:pt x="0" y="1943100"/>
                  </a:lnTo>
                </a:path>
              </a:pathLst>
            </a:custGeom>
            <a:noFill/>
            <a:ln w="9525">
              <a:solidFill>
                <a:srgbClr val="C7BFB1"/>
              </a:solidFill>
            </a:ln>
          </p:spPr>
        </p:sp>
        <p:sp>
          <p:nvSpPr>
            <p:cNvPr id="9" name="TextBox 9"/>
            <p:cNvSpPr txBox="1"/>
            <p:nvPr/>
          </p:nvSpPr>
          <p:spPr>
            <a:xfrm>
              <a:off x="6851142" y="231140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党的中央组织</a:t>
              </a:r>
            </a:p>
          </p:txBody>
        </p:sp>
        <p:sp>
          <p:nvSpPr>
            <p:cNvPr id="10" name="TextBox 10"/>
            <p:cNvSpPr txBox="1"/>
            <p:nvPr/>
          </p:nvSpPr>
          <p:spPr>
            <a:xfrm>
              <a:off x="6845046" y="27559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党的全国代表大会</a:t>
              </a:r>
            </a:p>
          </p:txBody>
        </p:sp>
        <p:sp>
          <p:nvSpPr>
            <p:cNvPr id="11" name="TextBox 11"/>
            <p:cNvSpPr txBox="1"/>
            <p:nvPr/>
          </p:nvSpPr>
          <p:spPr>
            <a:xfrm>
              <a:off x="6848094" y="33210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党的中央委员会</a:t>
              </a:r>
            </a:p>
          </p:txBody>
        </p:sp>
      </p:grpSp>
      <p:grpSp>
        <p:nvGrpSpPr>
          <p:cNvPr id="16" name="p08-reveal-1"/>
          <p:cNvGrpSpPr/>
          <p:nvPr/>
        </p:nvGrpSpPr>
        <p:grpSpPr>
          <a:xfrm>
            <a:off x="847344" y="4826000"/>
            <a:ext cx="6845046" cy="1254633"/>
            <a:chOff x="847344" y="4826000"/>
            <a:chExt cx="6845046" cy="1254633"/>
          </a:xfrm>
        </p:grpSpPr>
        <p:sp>
          <p:nvSpPr>
            <p:cNvPr id="13" name="TextBox 13"/>
            <p:cNvSpPr txBox="1"/>
            <p:nvPr/>
          </p:nvSpPr>
          <p:spPr>
            <a:xfrm>
              <a:off x="847344" y="482600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性质不同，不等于关系对立。</a:t>
              </a:r>
            </a:p>
          </p:txBody>
        </p:sp>
        <p:sp>
          <p:nvSpPr>
            <p:cNvPr id="14" name="TextBox 14"/>
            <p:cNvSpPr txBox="1"/>
            <p:nvPr/>
          </p:nvSpPr>
          <p:spPr>
            <a:xfrm>
              <a:off x="847344" y="535940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在党的领导下，国家机关依法行权、各自负责、协调工作。</a:t>
              </a:r>
            </a:p>
          </p:txBody>
        </p:sp>
        <p:sp>
          <p:nvSpPr>
            <p:cNvPr id="15" name="TextBox 15"/>
            <p:cNvSpPr txBox="1"/>
            <p:nvPr/>
          </p:nvSpPr>
          <p:spPr>
            <a:xfrm>
              <a:off x="850392" y="5816600"/>
              <a:ext cx="5829300"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中国共产党在宪法和法律范围内活动；政治地位不能替代具体宪法职权。</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81660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教材第七章组织性质与党的领导原则；两侧不是对立或同级国家机关的示意。</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08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贯穿本讲的读法</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认识一个机关，分别问三件事</a:t>
              </a:r>
            </a:p>
          </p:txBody>
        </p:sp>
      </p:grpSp>
      <p:grpSp>
        <p:nvGrpSpPr>
          <p:cNvPr id="13" name="three-questions"/>
          <p:cNvGrpSpPr/>
          <p:nvPr/>
        </p:nvGrpSpPr>
        <p:grpSpPr>
          <a:xfrm>
            <a:off x="973836" y="2235200"/>
            <a:ext cx="10303764" cy="2740914"/>
            <a:chOff x="973836" y="2235200"/>
            <a:chExt cx="10303764" cy="2740914"/>
          </a:xfrm>
        </p:grpSpPr>
        <p:sp>
          <p:nvSpPr>
            <p:cNvPr id="5" name="TextBox 5"/>
            <p:cNvSpPr txBox="1"/>
            <p:nvPr/>
          </p:nvSpPr>
          <p:spPr>
            <a:xfrm>
              <a:off x="973836" y="2235200"/>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它是什么机关？</a:t>
              </a:r>
            </a:p>
          </p:txBody>
        </p:sp>
        <p:sp>
          <p:nvSpPr>
            <p:cNvPr id="6" name="TextBox 6"/>
            <p:cNvSpPr txBox="1"/>
            <p:nvPr/>
          </p:nvSpPr>
          <p:spPr>
            <a:xfrm>
              <a:off x="8750808" y="2374900"/>
              <a:ext cx="670560"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性质</a:t>
              </a:r>
            </a:p>
          </p:txBody>
        </p:sp>
        <p:sp>
          <p:nvSpPr>
            <p:cNvPr id="7" name="Line 7"/>
            <p:cNvSpPr/>
            <p:nvPr/>
          </p:nvSpPr>
          <p:spPr>
            <a:xfrm>
              <a:off x="990600" y="3009900"/>
              <a:ext cx="10287000" cy="9525"/>
            </a:xfrm>
            <a:custGeom>
              <a:avLst/>
              <a:gdLst/>
              <a:ahLst/>
              <a:cxnLst/>
              <a:rect l="l" t="t" r="r" b="b"/>
              <a:pathLst>
                <a:path w="10287000" h="9525">
                  <a:moveTo>
                    <a:pt x="0" y="0"/>
                  </a:moveTo>
                  <a:lnTo>
                    <a:pt x="10287000" y="0"/>
                  </a:lnTo>
                </a:path>
              </a:pathLst>
            </a:custGeom>
            <a:noFill/>
            <a:ln w="9525">
              <a:solidFill>
                <a:srgbClr val="C7BFB1"/>
              </a:solidFill>
            </a:ln>
          </p:spPr>
        </p:sp>
        <p:sp>
          <p:nvSpPr>
            <p:cNvPr id="8" name="TextBox 8"/>
            <p:cNvSpPr txBox="1"/>
            <p:nvPr/>
          </p:nvSpPr>
          <p:spPr>
            <a:xfrm>
              <a:off x="973836" y="3282950"/>
              <a:ext cx="284988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它能做什么？</a:t>
              </a:r>
            </a:p>
          </p:txBody>
        </p:sp>
        <p:sp>
          <p:nvSpPr>
            <p:cNvPr id="9" name="TextBox 9"/>
            <p:cNvSpPr txBox="1"/>
            <p:nvPr/>
          </p:nvSpPr>
          <p:spPr>
            <a:xfrm>
              <a:off x="8750808" y="3422650"/>
              <a:ext cx="670560"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职权</a:t>
              </a:r>
            </a:p>
          </p:txBody>
        </p:sp>
        <p:sp>
          <p:nvSpPr>
            <p:cNvPr id="10" name="Line 10"/>
            <p:cNvSpPr/>
            <p:nvPr/>
          </p:nvSpPr>
          <p:spPr>
            <a:xfrm>
              <a:off x="990600" y="4057650"/>
              <a:ext cx="10287000" cy="9525"/>
            </a:xfrm>
            <a:custGeom>
              <a:avLst/>
              <a:gdLst/>
              <a:ahLst/>
              <a:cxnLst/>
              <a:rect l="l" t="t" r="r" b="b"/>
              <a:pathLst>
                <a:path w="10287000" h="9525">
                  <a:moveTo>
                    <a:pt x="0" y="0"/>
                  </a:moveTo>
                  <a:lnTo>
                    <a:pt x="10287000" y="0"/>
                  </a:lnTo>
                </a:path>
              </a:pathLst>
            </a:custGeom>
            <a:noFill/>
            <a:ln w="9525">
              <a:solidFill>
                <a:srgbClr val="C7BFB1"/>
              </a:solidFill>
            </a:ln>
          </p:spPr>
        </p:sp>
        <p:sp>
          <p:nvSpPr>
            <p:cNvPr id="11" name="TextBox 11"/>
            <p:cNvSpPr txBox="1"/>
            <p:nvPr/>
          </p:nvSpPr>
          <p:spPr>
            <a:xfrm>
              <a:off x="973836" y="4330700"/>
              <a:ext cx="425805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它和谁是什么关系？</a:t>
              </a:r>
            </a:p>
          </p:txBody>
        </p:sp>
        <p:sp>
          <p:nvSpPr>
            <p:cNvPr id="12" name="TextBox 12"/>
            <p:cNvSpPr txBox="1"/>
            <p:nvPr/>
          </p:nvSpPr>
          <p:spPr>
            <a:xfrm>
              <a:off x="8750808" y="4470400"/>
              <a:ext cx="670560"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关系</a:t>
              </a:r>
            </a:p>
          </p:txBody>
        </p:sp>
      </p:grpSp>
      <p:sp>
        <p:nvSpPr>
          <p:cNvPr id="14" name="TextBox 14"/>
          <p:cNvSpPr txBox="1"/>
          <p:nvPr/>
        </p:nvSpPr>
        <p:spPr>
          <a:xfrm>
            <a:off x="980694" y="5683250"/>
            <a:ext cx="613627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“重要”“核心”“领导”这些标签，不是一份权限清单。</a:t>
            </a:r>
          </a:p>
        </p:txBody>
      </p:sp>
      <p:grpSp>
        <p:nvGrpSpPr>
          <p:cNvPr id="17" name="footer"/>
          <p:cNvGrpSpPr/>
          <p:nvPr/>
        </p:nvGrpSpPr>
        <p:grpSpPr>
          <a:xfrm>
            <a:off x="604266" y="6464300"/>
            <a:ext cx="10828344" cy="205359"/>
            <a:chOff x="604266" y="6464300"/>
            <a:chExt cx="10828344" cy="205359"/>
          </a:xfrm>
        </p:grpSpPr>
        <p:sp>
          <p:nvSpPr>
            <p:cNvPr id="15" name="TextBox 15"/>
            <p:cNvSpPr txBox="1"/>
            <p:nvPr/>
          </p:nvSpPr>
          <p:spPr>
            <a:xfrm>
              <a:off x="604266" y="6464300"/>
              <a:ext cx="396849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这三个问题用于阅读具体条文，判断机关的性质、职权与关系。</a:t>
              </a:r>
            </a:p>
          </p:txBody>
        </p:sp>
        <p:sp>
          <p:nvSpPr>
            <p:cNvPr id="16" name="TextBox 1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09 / 53</a:t>
              </a:r>
            </a:p>
          </p:txBody>
        </p:sp>
      </p:grpSp>
    </p:spTree>
  </p:cSld>
  <p:clrMapOvr>
    <a:masterClrMapping/>
  </p:clrMapOvr>
  <p:transition xmlns:p14="http://schemas.microsoft.com/office/powerpoint/2010/main" p14:dur="3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08960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2018年宪法第3条的添加</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监察机关，接入产生与监督关系</a:t>
              </a:r>
            </a:p>
          </p:txBody>
        </p:sp>
      </p:grpSp>
      <p:grpSp>
        <p:nvGrpSpPr>
          <p:cNvPr id="13" name="article3-relations"/>
          <p:cNvGrpSpPr/>
          <p:nvPr/>
        </p:nvGrpSpPr>
        <p:grpSpPr>
          <a:xfrm>
            <a:off x="1247394" y="1974850"/>
            <a:ext cx="8080248" cy="2334133"/>
            <a:chOff x="1247394" y="1974850"/>
            <a:chExt cx="8080248" cy="2334133"/>
          </a:xfrm>
        </p:grpSpPr>
        <p:sp>
          <p:nvSpPr>
            <p:cNvPr id="5" name="TextBox 5"/>
            <p:cNvSpPr txBox="1"/>
            <p:nvPr/>
          </p:nvSpPr>
          <p:spPr>
            <a:xfrm>
              <a:off x="4178046" y="19748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人民代表大会</a:t>
              </a:r>
            </a:p>
          </p:txBody>
        </p:sp>
        <p:sp>
          <p:nvSpPr>
            <p:cNvPr id="6" name="Freeform 6"/>
            <p:cNvSpPr/>
            <p:nvPr/>
          </p:nvSpPr>
          <p:spPr>
            <a:xfrm>
              <a:off x="1809750" y="2533650"/>
              <a:ext cx="7029450" cy="838200"/>
            </a:xfrm>
            <a:custGeom>
              <a:avLst/>
              <a:gdLst/>
              <a:ahLst/>
              <a:cxnLst/>
              <a:rect l="l" t="t" r="r" b="b"/>
              <a:pathLst>
                <a:path w="7029450" h="838200">
                  <a:moveTo>
                    <a:pt x="3448050" y="0"/>
                  </a:moveTo>
                  <a:lnTo>
                    <a:pt x="3448050" y="476250"/>
                  </a:lnTo>
                  <a:lnTo>
                    <a:pt x="0" y="476250"/>
                  </a:lnTo>
                  <a:lnTo>
                    <a:pt x="0" y="838200"/>
                  </a:lnTo>
                  <a:moveTo>
                    <a:pt x="3448050" y="476250"/>
                  </a:moveTo>
                  <a:lnTo>
                    <a:pt x="7029450" y="476250"/>
                  </a:lnTo>
                  <a:lnTo>
                    <a:pt x="7029450" y="838200"/>
                  </a:lnTo>
                  <a:moveTo>
                    <a:pt x="2286000" y="476250"/>
                  </a:moveTo>
                  <a:lnTo>
                    <a:pt x="2286000" y="838200"/>
                  </a:lnTo>
                  <a:moveTo>
                    <a:pt x="4705350" y="476250"/>
                  </a:moveTo>
                  <a:lnTo>
                    <a:pt x="4705350" y="838200"/>
                  </a:lnTo>
                </a:path>
              </a:pathLst>
            </a:custGeom>
            <a:noFill/>
            <a:ln w="19050">
              <a:solidFill>
                <a:schemeClr val="accent3"/>
              </a:solidFill>
            </a:ln>
          </p:spPr>
        </p:sp>
        <p:sp>
          <p:nvSpPr>
            <p:cNvPr id="7" name="TextBox 7"/>
            <p:cNvSpPr txBox="1"/>
            <p:nvPr/>
          </p:nvSpPr>
          <p:spPr>
            <a:xfrm>
              <a:off x="1247394" y="35306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行政机关</a:t>
              </a:r>
            </a:p>
          </p:txBody>
        </p:sp>
        <p:sp>
          <p:nvSpPr>
            <p:cNvPr id="8" name="TextBox 8"/>
            <p:cNvSpPr txBox="1"/>
            <p:nvPr/>
          </p:nvSpPr>
          <p:spPr>
            <a:xfrm>
              <a:off x="3514344" y="353060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监察机关</a:t>
              </a:r>
            </a:p>
          </p:txBody>
        </p:sp>
        <p:sp>
          <p:nvSpPr>
            <p:cNvPr id="9" name="TextBox 9"/>
            <p:cNvSpPr txBox="1"/>
            <p:nvPr/>
          </p:nvSpPr>
          <p:spPr>
            <a:xfrm>
              <a:off x="5933694" y="35306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审判机关</a:t>
              </a:r>
            </a:p>
          </p:txBody>
        </p:sp>
        <p:sp>
          <p:nvSpPr>
            <p:cNvPr id="10" name="TextBox 10"/>
            <p:cNvSpPr txBox="1"/>
            <p:nvPr/>
          </p:nvSpPr>
          <p:spPr>
            <a:xfrm>
              <a:off x="8257794" y="35306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检察机关</a:t>
              </a:r>
            </a:p>
          </p:txBody>
        </p:sp>
        <p:sp>
          <p:nvSpPr>
            <p:cNvPr id="11" name="TextBox 11"/>
            <p:cNvSpPr txBox="1"/>
            <p:nvPr/>
          </p:nvSpPr>
          <p:spPr>
            <a:xfrm>
              <a:off x="5689092" y="2673350"/>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依法产生</a:t>
              </a:r>
            </a:p>
          </p:txBody>
        </p:sp>
        <p:sp>
          <p:nvSpPr>
            <p:cNvPr id="12" name="TextBox 12"/>
            <p:cNvSpPr txBox="1"/>
            <p:nvPr/>
          </p:nvSpPr>
          <p:spPr>
            <a:xfrm>
              <a:off x="3517392" y="4044950"/>
              <a:ext cx="95874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2018年加入</a:t>
              </a:r>
            </a:p>
          </p:txBody>
        </p:sp>
      </p:grpSp>
      <p:grpSp>
        <p:nvGrpSpPr>
          <p:cNvPr id="17" name="p10-reveal-1"/>
          <p:cNvGrpSpPr/>
          <p:nvPr/>
        </p:nvGrpSpPr>
        <p:grpSpPr>
          <a:xfrm>
            <a:off x="1416558" y="4895850"/>
            <a:ext cx="8108442" cy="1130681"/>
            <a:chOff x="1416558" y="4895850"/>
            <a:chExt cx="8108442" cy="1130681"/>
          </a:xfrm>
        </p:grpSpPr>
        <p:sp>
          <p:nvSpPr>
            <p:cNvPr id="14" name="Freeform 14"/>
            <p:cNvSpPr/>
            <p:nvPr/>
          </p:nvSpPr>
          <p:spPr>
            <a:xfrm>
              <a:off x="1428750" y="4895850"/>
              <a:ext cx="8096250" cy="9525"/>
            </a:xfrm>
            <a:custGeom>
              <a:avLst/>
              <a:gdLst/>
              <a:ahLst/>
              <a:cxnLst/>
              <a:rect l="l" t="t" r="r" b="b"/>
              <a:pathLst>
                <a:path w="8096250" h="9525">
                  <a:moveTo>
                    <a:pt x="0" y="0"/>
                  </a:moveTo>
                  <a:lnTo>
                    <a:pt x="8096250" y="0"/>
                  </a:lnTo>
                </a:path>
              </a:pathLst>
            </a:custGeom>
            <a:noFill/>
            <a:ln w="19050">
              <a:solidFill>
                <a:schemeClr val="accent2"/>
              </a:solidFill>
            </a:ln>
          </p:spPr>
        </p:sp>
        <p:sp>
          <p:nvSpPr>
            <p:cNvPr id="15" name="TextBox 15"/>
            <p:cNvSpPr txBox="1"/>
            <p:nvPr/>
          </p:nvSpPr>
          <p:spPr>
            <a:xfrm>
              <a:off x="1416558" y="5060950"/>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对人大负责，受人大监督</a:t>
              </a:r>
            </a:p>
          </p:txBody>
        </p:sp>
        <p:sp>
          <p:nvSpPr>
            <p:cNvPr id="16" name="TextBox 16"/>
            <p:cNvSpPr txBox="1"/>
            <p:nvPr/>
          </p:nvSpPr>
          <p:spPr>
            <a:xfrm>
              <a:off x="1418844" y="564515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新机关进入原有组织关系，原有三类机关并未被替代。</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492261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宪法第3条第三款及2018年宪法修正案；具体产生与负责方式后续分别读条文。</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10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19303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第57、58条</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最高地位，仍须与法定权限同读</a:t>
              </a:r>
            </a:p>
          </p:txBody>
        </p:sp>
      </p:grpSp>
      <p:grpSp>
        <p:nvGrpSpPr>
          <p:cNvPr id="7" name="npc-photo"/>
          <p:cNvGrpSpPr/>
          <p:nvPr/>
        </p:nvGrpSpPr>
        <p:grpSpPr>
          <a:xfrm>
            <a:off x="602742" y="1828800"/>
            <a:ext cx="5912358" cy="4270883"/>
            <a:chOff x="602742" y="1828800"/>
            <a:chExt cx="5912358" cy="4270883"/>
          </a:xfrm>
        </p:grpSpPr>
        <p:pic>
          <p:nvPicPr>
            <p:cNvPr id="5" name="Image 5"/>
            <p:cNvPicPr>
              <a:picLocks noChangeAspect="1"/>
            </p:cNvPicPr>
            <p:nvPr/>
          </p:nvPicPr>
          <p:blipFill>
            <a:blip r:embed="rId2"/>
            <a:stretch>
              <a:fillRect/>
            </a:stretch>
          </p:blipFill>
          <p:spPr>
            <a:xfrm>
              <a:off x="609600" y="1828800"/>
              <a:ext cx="5905500" cy="3895725"/>
            </a:xfrm>
            <a:prstGeom prst="rect">
              <a:avLst/>
            </a:prstGeom>
          </p:spPr>
        </p:pic>
        <p:sp>
          <p:nvSpPr>
            <p:cNvPr id="6" name="TextBox 6"/>
            <p:cNvSpPr txBox="1"/>
            <p:nvPr/>
          </p:nvSpPr>
          <p:spPr>
            <a:xfrm>
              <a:off x="602742" y="5835650"/>
              <a:ext cx="362119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2025年3月11日，全国人大闭幕会议主席台。</a:t>
              </a:r>
            </a:p>
          </p:txBody>
        </p:sp>
      </p:grpSp>
      <p:grpSp>
        <p:nvGrpSpPr>
          <p:cNvPr id="12" name="npc-identity"/>
          <p:cNvGrpSpPr/>
          <p:nvPr/>
        </p:nvGrpSpPr>
        <p:grpSpPr>
          <a:xfrm>
            <a:off x="7016496" y="1936750"/>
            <a:ext cx="2927604" cy="1879981"/>
            <a:chOff x="7016496" y="1936750"/>
            <a:chExt cx="2927604" cy="1879981"/>
          </a:xfrm>
        </p:grpSpPr>
        <p:sp>
          <p:nvSpPr>
            <p:cNvPr id="8" name="TextBox 8"/>
            <p:cNvSpPr txBox="1"/>
            <p:nvPr/>
          </p:nvSpPr>
          <p:spPr>
            <a:xfrm>
              <a:off x="7016496" y="19367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全国人民代表大会</a:t>
              </a:r>
            </a:p>
          </p:txBody>
        </p:sp>
        <p:sp>
          <p:nvSpPr>
            <p:cNvPr id="9" name="TextBox 9"/>
            <p:cNvSpPr txBox="1"/>
            <p:nvPr/>
          </p:nvSpPr>
          <p:spPr>
            <a:xfrm>
              <a:off x="7019544" y="24828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最高国家权力机关</a:t>
              </a:r>
            </a:p>
          </p:txBody>
        </p:sp>
        <p:sp>
          <p:nvSpPr>
            <p:cNvPr id="10" name="TextBox 10"/>
            <p:cNvSpPr txBox="1"/>
            <p:nvPr/>
          </p:nvSpPr>
          <p:spPr>
            <a:xfrm>
              <a:off x="7019544" y="29781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常委会：它的常设机关</a:t>
              </a:r>
            </a:p>
          </p:txBody>
        </p:sp>
        <p:sp>
          <p:nvSpPr>
            <p:cNvPr id="11" name="TextBox 11"/>
            <p:cNvSpPr txBox="1"/>
            <p:nvPr/>
          </p:nvSpPr>
          <p:spPr>
            <a:xfrm>
              <a:off x="7019544" y="34353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二者依法行使国家立法权</a:t>
              </a:r>
            </a:p>
          </p:txBody>
        </p:sp>
      </p:grpSp>
      <p:grpSp>
        <p:nvGrpSpPr>
          <p:cNvPr id="17" name="p11-reveal-1"/>
          <p:cNvGrpSpPr/>
          <p:nvPr/>
        </p:nvGrpSpPr>
        <p:grpSpPr>
          <a:xfrm>
            <a:off x="7019544" y="4152900"/>
            <a:ext cx="4486656" cy="1889633"/>
            <a:chOff x="7019544" y="4152900"/>
            <a:chExt cx="4486656" cy="1889633"/>
          </a:xfrm>
        </p:grpSpPr>
        <p:sp>
          <p:nvSpPr>
            <p:cNvPr id="13" name="Line 13"/>
            <p:cNvSpPr/>
            <p:nvPr/>
          </p:nvSpPr>
          <p:spPr>
            <a:xfrm>
              <a:off x="7029450" y="4152900"/>
              <a:ext cx="4476750" cy="9525"/>
            </a:xfrm>
            <a:custGeom>
              <a:avLst/>
              <a:gdLst/>
              <a:ahLst/>
              <a:cxnLst/>
              <a:rect l="l" t="t" r="r" b="b"/>
              <a:pathLst>
                <a:path w="4476750" h="9525">
                  <a:moveTo>
                    <a:pt x="0" y="0"/>
                  </a:moveTo>
                  <a:lnTo>
                    <a:pt x="4476750" y="0"/>
                  </a:lnTo>
                </a:path>
              </a:pathLst>
            </a:custGeom>
            <a:noFill/>
            <a:ln w="9525">
              <a:solidFill>
                <a:srgbClr val="C7BFB1"/>
              </a:solidFill>
            </a:ln>
          </p:spPr>
        </p:sp>
        <p:sp>
          <p:nvSpPr>
            <p:cNvPr id="14" name="TextBox 14"/>
            <p:cNvSpPr txBox="1"/>
            <p:nvPr/>
          </p:nvSpPr>
          <p:spPr>
            <a:xfrm>
              <a:off x="7019544" y="4330700"/>
              <a:ext cx="343242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最高，不等于不受宪法约束。</a:t>
              </a:r>
            </a:p>
          </p:txBody>
        </p:sp>
        <p:sp>
          <p:nvSpPr>
            <p:cNvPr id="15" name="TextBox 15"/>
            <p:cNvSpPr txBox="1"/>
            <p:nvPr/>
          </p:nvSpPr>
          <p:spPr>
            <a:xfrm>
              <a:off x="7019544" y="4730750"/>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广泛代表性、统一行使权力，</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都须与具体权限、程序同读。</a:t>
              </a:r>
            </a:p>
          </p:txBody>
        </p:sp>
        <p:sp>
          <p:nvSpPr>
            <p:cNvPr id="16" name="TextBox 16"/>
            <p:cNvSpPr txBox="1"/>
            <p:nvPr/>
          </p:nvSpPr>
          <p:spPr>
            <a:xfrm>
              <a:off x="7022592" y="5778500"/>
              <a:ext cx="383019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代表规模与五年任期，说明会议体的组织需要。</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78485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宪法第5、57、58、60条；图：新华社李学仁，国家新闻出版署转载。照片不证明职权边界。</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11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14614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第62条，教材六方面归纳</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最高国家权力，落实为具体工作</a:t>
              </a:r>
            </a:p>
          </p:txBody>
        </p:sp>
      </p:grpSp>
      <p:grpSp>
        <p:nvGrpSpPr>
          <p:cNvPr id="12" name="npc-functions"/>
          <p:cNvGrpSpPr/>
          <p:nvPr/>
        </p:nvGrpSpPr>
        <p:grpSpPr>
          <a:xfrm>
            <a:off x="749808" y="1917700"/>
            <a:ext cx="9931527" cy="2143633"/>
            <a:chOff x="749808" y="1917700"/>
            <a:chExt cx="9931527" cy="2143633"/>
          </a:xfrm>
        </p:grpSpPr>
        <p:sp>
          <p:nvSpPr>
            <p:cNvPr id="5" name="TextBox 5"/>
            <p:cNvSpPr txBox="1"/>
            <p:nvPr/>
          </p:nvSpPr>
          <p:spPr>
            <a:xfrm>
              <a:off x="749808" y="19177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修改宪法、监督实施</a:t>
              </a:r>
            </a:p>
          </p:txBody>
        </p:sp>
        <p:sp>
          <p:nvSpPr>
            <p:cNvPr id="6" name="TextBox 6"/>
            <p:cNvSpPr txBox="1"/>
            <p:nvPr/>
          </p:nvSpPr>
          <p:spPr>
            <a:xfrm>
              <a:off x="749808" y="25654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制定和修改基本法律</a:t>
              </a:r>
            </a:p>
          </p:txBody>
        </p:sp>
        <p:sp>
          <p:nvSpPr>
            <p:cNvPr id="7" name="TextBox 7"/>
            <p:cNvSpPr txBox="1"/>
            <p:nvPr/>
          </p:nvSpPr>
          <p:spPr>
            <a:xfrm>
              <a:off x="749808" y="321310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选举、决定人选、罢免</a:t>
              </a:r>
            </a:p>
          </p:txBody>
        </p:sp>
        <p:sp>
          <p:nvSpPr>
            <p:cNvPr id="8" name="TextBox 8"/>
            <p:cNvSpPr txBox="1"/>
            <p:nvPr/>
          </p:nvSpPr>
          <p:spPr>
            <a:xfrm>
              <a:off x="6845808" y="191770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决定重大国家事项</a:t>
              </a:r>
            </a:p>
          </p:txBody>
        </p:sp>
        <p:sp>
          <p:nvSpPr>
            <p:cNvPr id="9" name="TextBox 9"/>
            <p:cNvSpPr txBox="1"/>
            <p:nvPr/>
          </p:nvSpPr>
          <p:spPr>
            <a:xfrm>
              <a:off x="6845808" y="256540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监督其他中央国家机关</a:t>
              </a:r>
            </a:p>
          </p:txBody>
        </p:sp>
        <p:sp>
          <p:nvSpPr>
            <p:cNvPr id="10" name="TextBox 10"/>
            <p:cNvSpPr txBox="1"/>
            <p:nvPr/>
          </p:nvSpPr>
          <p:spPr>
            <a:xfrm>
              <a:off x="6845808" y="3213100"/>
              <a:ext cx="357835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应当由其行使的其他职权</a:t>
              </a:r>
            </a:p>
          </p:txBody>
        </p:sp>
        <p:sp>
          <p:nvSpPr>
            <p:cNvPr id="11" name="TextBox 11"/>
            <p:cNvSpPr txBox="1"/>
            <p:nvPr/>
          </p:nvSpPr>
          <p:spPr>
            <a:xfrm>
              <a:off x="6851142" y="3797300"/>
              <a:ext cx="383019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如计划预算、省级建置、特区设立、战争和平。</a:t>
              </a:r>
            </a:p>
          </p:txBody>
        </p:sp>
      </p:grpSp>
      <p:grpSp>
        <p:nvGrpSpPr>
          <p:cNvPr id="18" name="p12-reveal-1"/>
          <p:cNvGrpSpPr/>
          <p:nvPr/>
        </p:nvGrpSpPr>
        <p:grpSpPr>
          <a:xfrm>
            <a:off x="752094" y="4845050"/>
            <a:ext cx="9073134" cy="1162431"/>
            <a:chOff x="752094" y="4845050"/>
            <a:chExt cx="9073134" cy="1162431"/>
          </a:xfrm>
        </p:grpSpPr>
        <p:sp>
          <p:nvSpPr>
            <p:cNvPr id="13" name="TextBox 13"/>
            <p:cNvSpPr txBox="1"/>
            <p:nvPr/>
          </p:nvSpPr>
          <p:spPr>
            <a:xfrm>
              <a:off x="752094" y="4845050"/>
              <a:ext cx="448246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修宪：提议权与通过权，是两个问题。</a:t>
              </a:r>
            </a:p>
          </p:txBody>
        </p:sp>
        <p:sp>
          <p:nvSpPr>
            <p:cNvPr id="14" name="TextBox 14"/>
            <p:cNvSpPr txBox="1"/>
            <p:nvPr/>
          </p:nvSpPr>
          <p:spPr>
            <a:xfrm>
              <a:off x="752094" y="526415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常委会或五分之一以上全国人大代表提议</a:t>
              </a:r>
            </a:p>
          </p:txBody>
        </p:sp>
        <p:sp>
          <p:nvSpPr>
            <p:cNvPr id="15" name="TextBox 15"/>
            <p:cNvSpPr txBox="1"/>
            <p:nvPr/>
          </p:nvSpPr>
          <p:spPr>
            <a:xfrm>
              <a:off x="752094" y="56261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全国人大全体代表三分之二以上多数通过</a:t>
              </a:r>
            </a:p>
          </p:txBody>
        </p:sp>
        <p:sp>
          <p:nvSpPr>
            <p:cNvPr id="16" name="TextBox 16"/>
            <p:cNvSpPr txBox="1"/>
            <p:nvPr/>
          </p:nvSpPr>
          <p:spPr>
            <a:xfrm>
              <a:off x="7994142" y="5340350"/>
              <a:ext cx="164934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普通法律及其他议案</a:t>
              </a:r>
            </a:p>
          </p:txBody>
        </p:sp>
        <p:sp>
          <p:nvSpPr>
            <p:cNvPr id="17" name="TextBox 17"/>
            <p:cNvSpPr txBox="1"/>
            <p:nvPr/>
          </p:nvSpPr>
          <p:spPr>
            <a:xfrm>
              <a:off x="7994142" y="5702300"/>
              <a:ext cx="183108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通常须全体代表过半数</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371406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宪法第62、64条；六方面为教材归纳，不是各类权力份额。</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12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713171" cy="943864"/>
            <a:chOff x="592836" y="438150"/>
            <a:chExt cx="5713171" cy="943864"/>
          </a:xfrm>
        </p:grpSpPr>
        <p:sp>
          <p:nvSpPr>
            <p:cNvPr id="2" name="TextBox 2"/>
            <p:cNvSpPr txBox="1"/>
            <p:nvPr/>
          </p:nvSpPr>
          <p:spPr>
            <a:xfrm>
              <a:off x="603504" y="438150"/>
              <a:ext cx="2354580"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第62条第16项</a:t>
              </a:r>
            </a:p>
          </p:txBody>
        </p:sp>
        <p:sp>
          <p:nvSpPr>
            <p:cNvPr id="3" name="TextBox 3"/>
            <p:cNvSpPr txBox="1"/>
            <p:nvPr/>
          </p:nvSpPr>
          <p:spPr>
            <a:xfrm>
              <a:off x="592836" y="736600"/>
              <a:ext cx="5713171"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“应当由”，给兜底留下边界</a:t>
              </a:r>
            </a:p>
          </p:txBody>
        </p:sp>
      </p:grpSp>
      <p:grpSp>
        <p:nvGrpSpPr>
          <p:cNvPr id="7" name="residual-text"/>
          <p:cNvGrpSpPr/>
          <p:nvPr/>
        </p:nvGrpSpPr>
        <p:grpSpPr>
          <a:xfrm>
            <a:off x="973836" y="2146300"/>
            <a:ext cx="4643628" cy="1444625"/>
            <a:chOff x="973836" y="2146300"/>
            <a:chExt cx="4643628" cy="1444625"/>
          </a:xfrm>
        </p:grpSpPr>
        <p:sp>
          <p:nvSpPr>
            <p:cNvPr id="5" name="TextBox 5"/>
            <p:cNvSpPr txBox="1"/>
            <p:nvPr/>
          </p:nvSpPr>
          <p:spPr>
            <a:xfrm>
              <a:off x="973836" y="2146300"/>
              <a:ext cx="4643628" cy="1331214"/>
            </a:xfrm>
            <a:prstGeom prst="rect">
              <a:avLst/>
            </a:prstGeom>
            <a:noFill/>
            <a:ln>
              <a:noFill/>
            </a:ln>
          </p:spPr>
          <p:txBody>
            <a:bodyPr wrap="none" lIns="0" tIns="0" rIns="0" bIns="0" anchor="t" anchorCtr="0">
              <a:spAutoFit/>
            </a:bodyPr>
            <a:lstStyle/>
            <a:p>
              <a:pPr algn="l">
                <a:lnSpc>
                  <a:spcPts val="5400"/>
                </a:lnSpc>
              </a:pPr>
              <a:r>
                <a:rPr lang="zh-CN" sz="3300" dirty="0">
                  <a:solidFill>
                    <a:schemeClr val="accent1"/>
                  </a:solidFill>
                  <a:latin typeface="+mj-lt"/>
                  <a:ea typeface="+mj-ea"/>
                  <a:cs typeface="+mj-cs"/>
                </a:rPr>
                <a:t>应当由最高国家权力机关</a:t>
              </a:r>
              <a:br>
                <a:rPr lang="zh-CN" sz="3300" dirty="0">
                  <a:solidFill>
                    <a:schemeClr val="accent1"/>
                  </a:solidFill>
                  <a:latin typeface="+mj-lt"/>
                  <a:ea typeface="+mj-ea"/>
                  <a:cs typeface="+mj-cs"/>
                </a:rPr>
              </a:br>
              <a:r>
                <a:rPr lang="zh-CN" sz="3300" dirty="0">
                  <a:solidFill>
                    <a:schemeClr val="accent1"/>
                  </a:solidFill>
                  <a:latin typeface="+mj-lt"/>
                  <a:ea typeface="+mj-ea"/>
                  <a:cs typeface="+mj-cs"/>
                </a:rPr>
                <a:t>行使的其他职权</a:t>
              </a:r>
            </a:p>
          </p:txBody>
        </p:sp>
        <p:sp>
          <p:nvSpPr>
            <p:cNvPr id="6" name="Line 6"/>
            <p:cNvSpPr/>
            <p:nvPr/>
          </p:nvSpPr>
          <p:spPr>
            <a:xfrm>
              <a:off x="990600" y="3581400"/>
              <a:ext cx="1657350" cy="9525"/>
            </a:xfrm>
            <a:custGeom>
              <a:avLst/>
              <a:gdLst/>
              <a:ahLst/>
              <a:cxnLst/>
              <a:rect l="l" t="t" r="r" b="b"/>
              <a:pathLst>
                <a:path w="1657350" h="9525">
                  <a:moveTo>
                    <a:pt x="0" y="0"/>
                  </a:moveTo>
                  <a:lnTo>
                    <a:pt x="1657350" y="0"/>
                  </a:lnTo>
                </a:path>
              </a:pathLst>
            </a:custGeom>
            <a:noFill/>
            <a:ln w="28575">
              <a:solidFill>
                <a:schemeClr val="accent2"/>
              </a:solidFill>
            </a:ln>
          </p:spPr>
        </p:sp>
      </p:grpSp>
      <p:grpSp>
        <p:nvGrpSpPr>
          <p:cNvPr id="11" name="p13-reveal-1"/>
          <p:cNvGrpSpPr/>
          <p:nvPr/>
        </p:nvGrpSpPr>
        <p:grpSpPr>
          <a:xfrm>
            <a:off x="980694" y="4597400"/>
            <a:ext cx="7160057" cy="1448181"/>
            <a:chOff x="980694" y="4597400"/>
            <a:chExt cx="7160057" cy="1448181"/>
          </a:xfrm>
        </p:grpSpPr>
        <p:sp>
          <p:nvSpPr>
            <p:cNvPr id="8" name="TextBox 8"/>
            <p:cNvSpPr txBox="1"/>
            <p:nvPr/>
          </p:nvSpPr>
          <p:spPr>
            <a:xfrm>
              <a:off x="980694" y="4597400"/>
              <a:ext cx="508623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看事项性质 · 看宪法职责分配 · 看法定程序</a:t>
              </a:r>
            </a:p>
          </p:txBody>
        </p:sp>
        <p:sp>
          <p:nvSpPr>
            <p:cNvPr id="9" name="TextBox 9"/>
            <p:cNvSpPr txBox="1"/>
            <p:nvPr/>
          </p:nvSpPr>
          <p:spPr>
            <a:xfrm>
              <a:off x="980694" y="5130800"/>
              <a:ext cx="421995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补充列举，不取消已经明确的分工。</a:t>
              </a:r>
            </a:p>
          </p:txBody>
        </p:sp>
        <p:sp>
          <p:nvSpPr>
            <p:cNvPr id="10" name="TextBox 10"/>
            <p:cNvSpPr txBox="1"/>
            <p:nvPr/>
          </p:nvSpPr>
          <p:spPr>
            <a:xfrm>
              <a:off x="980694" y="5664200"/>
              <a:ext cx="71600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不能因“重大”或“急迫”，绕过修宪门槛、吞并其他机关职责。</a:t>
              </a:r>
            </a:p>
          </p:txBody>
        </p:sp>
      </p:grpSp>
      <p:grpSp>
        <p:nvGrpSpPr>
          <p:cNvPr id="14" name="footer"/>
          <p:cNvGrpSpPr/>
          <p:nvPr/>
        </p:nvGrpSpPr>
        <p:grpSpPr>
          <a:xfrm>
            <a:off x="604266" y="6464300"/>
            <a:ext cx="10828344" cy="205359"/>
            <a:chOff x="604266" y="6464300"/>
            <a:chExt cx="10828344" cy="205359"/>
          </a:xfrm>
        </p:grpSpPr>
        <p:sp>
          <p:nvSpPr>
            <p:cNvPr id="12" name="TextBox 12"/>
            <p:cNvSpPr txBox="1"/>
            <p:nvPr/>
          </p:nvSpPr>
          <p:spPr>
            <a:xfrm>
              <a:off x="604266" y="6464300"/>
              <a:ext cx="413811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宪法第62条第16项原文分行；下方为结合全宪法安排的课堂解释。</a:t>
              </a:r>
            </a:p>
          </p:txBody>
        </p:sp>
        <p:sp>
          <p:nvSpPr>
            <p:cNvPr id="13" name="TextBox 13"/>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13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196840" cy="918464"/>
            <a:chOff x="592836" y="438150"/>
            <a:chExt cx="5196840"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常委会的经常性工作</a:t>
              </a:r>
            </a:p>
          </p:txBody>
        </p:sp>
        <p:sp>
          <p:nvSpPr>
            <p:cNvPr id="3" name="TextBox 3"/>
            <p:cNvSpPr txBox="1"/>
            <p:nvPr/>
          </p:nvSpPr>
          <p:spPr>
            <a:xfrm>
              <a:off x="592836" y="711200"/>
              <a:ext cx="519684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持续立法，也有明确边界</a:t>
              </a:r>
            </a:p>
          </p:txBody>
        </p:sp>
      </p:grpSp>
      <p:grpSp>
        <p:nvGrpSpPr>
          <p:cNvPr id="12" name="sc-legislation"/>
          <p:cNvGrpSpPr/>
          <p:nvPr/>
        </p:nvGrpSpPr>
        <p:grpSpPr>
          <a:xfrm>
            <a:off x="597408" y="1841500"/>
            <a:ext cx="9352026" cy="2241931"/>
            <a:chOff x="597408" y="1841500"/>
            <a:chExt cx="9352026" cy="2241931"/>
          </a:xfrm>
        </p:grpSpPr>
        <p:sp>
          <p:nvSpPr>
            <p:cNvPr id="5" name="TextBox 5"/>
            <p:cNvSpPr txBox="1"/>
            <p:nvPr/>
          </p:nvSpPr>
          <p:spPr>
            <a:xfrm>
              <a:off x="597408" y="18415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制定、修改其他法律</a:t>
              </a:r>
            </a:p>
          </p:txBody>
        </p:sp>
        <p:sp>
          <p:nvSpPr>
            <p:cNvPr id="6" name="TextBox 6"/>
            <p:cNvSpPr txBox="1"/>
            <p:nvPr/>
          </p:nvSpPr>
          <p:spPr>
            <a:xfrm>
              <a:off x="599694" y="24638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全国人大闭会期间：</a:t>
              </a:r>
            </a:p>
          </p:txBody>
        </p:sp>
        <p:sp>
          <p:nvSpPr>
            <p:cNvPr id="7" name="TextBox 7"/>
            <p:cNvSpPr txBox="1"/>
            <p:nvPr/>
          </p:nvSpPr>
          <p:spPr>
            <a:xfrm>
              <a:off x="599694" y="28829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对全国人大制定的法律作部分补充、修改</a:t>
              </a:r>
            </a:p>
          </p:txBody>
        </p:sp>
        <p:sp>
          <p:nvSpPr>
            <p:cNvPr id="8" name="TextBox 8"/>
            <p:cNvSpPr txBox="1"/>
            <p:nvPr/>
          </p:nvSpPr>
          <p:spPr>
            <a:xfrm>
              <a:off x="599694" y="3378200"/>
              <a:ext cx="369493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不得同该法律的基本原则相抵触</a:t>
              </a:r>
            </a:p>
          </p:txBody>
        </p:sp>
        <p:sp>
          <p:nvSpPr>
            <p:cNvPr id="9" name="TextBox 9"/>
            <p:cNvSpPr txBox="1"/>
            <p:nvPr/>
          </p:nvSpPr>
          <p:spPr>
            <a:xfrm>
              <a:off x="7017258" y="18415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法律解释的两种情形</a:t>
              </a:r>
            </a:p>
          </p:txBody>
        </p:sp>
        <p:sp>
          <p:nvSpPr>
            <p:cNvPr id="10" name="TextBox 10"/>
            <p:cNvSpPr txBox="1"/>
            <p:nvPr/>
          </p:nvSpPr>
          <p:spPr>
            <a:xfrm>
              <a:off x="7019544" y="242570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条文本身需要进一步</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明确具体含义</a:t>
              </a:r>
            </a:p>
          </p:txBody>
        </p:sp>
        <p:sp>
          <p:nvSpPr>
            <p:cNvPr id="11" name="TextBox 11"/>
            <p:cNvSpPr txBox="1"/>
            <p:nvPr/>
          </p:nvSpPr>
          <p:spPr>
            <a:xfrm>
              <a:off x="7019544" y="3340100"/>
              <a:ext cx="27439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制定后出现新情况，</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需要明确适用法律的依据</a:t>
              </a:r>
            </a:p>
          </p:txBody>
        </p:sp>
      </p:grpSp>
      <p:grpSp>
        <p:nvGrpSpPr>
          <p:cNvPr id="16" name="p14-reveal-1"/>
          <p:cNvGrpSpPr/>
          <p:nvPr/>
        </p:nvGrpSpPr>
        <p:grpSpPr>
          <a:xfrm>
            <a:off x="599694" y="4857750"/>
            <a:ext cx="10982706" cy="1251331"/>
            <a:chOff x="599694" y="4857750"/>
            <a:chExt cx="10982706" cy="1251331"/>
          </a:xfrm>
        </p:grpSpPr>
        <p:sp>
          <p:nvSpPr>
            <p:cNvPr id="13" name="Line 13"/>
            <p:cNvSpPr/>
            <p:nvPr/>
          </p:nvSpPr>
          <p:spPr>
            <a:xfrm>
              <a:off x="609600" y="4857750"/>
              <a:ext cx="10972800" cy="9525"/>
            </a:xfrm>
            <a:custGeom>
              <a:avLst/>
              <a:gdLst/>
              <a:ahLst/>
              <a:cxnLst/>
              <a:rect l="l" t="t" r="r" b="b"/>
              <a:pathLst>
                <a:path w="10972800" h="9525">
                  <a:moveTo>
                    <a:pt x="0" y="0"/>
                  </a:moveTo>
                  <a:lnTo>
                    <a:pt x="10972800" y="0"/>
                  </a:lnTo>
                </a:path>
              </a:pathLst>
            </a:custGeom>
            <a:noFill/>
            <a:ln w="9525">
              <a:solidFill>
                <a:srgbClr val="C7BFB1"/>
              </a:solidFill>
            </a:ln>
          </p:spPr>
        </p:sp>
        <p:sp>
          <p:nvSpPr>
            <p:cNvPr id="14" name="TextBox 14"/>
            <p:cNvSpPr txBox="1"/>
            <p:nvPr/>
          </p:nvSpPr>
          <p:spPr>
            <a:xfrm>
              <a:off x="602742" y="5092700"/>
              <a:ext cx="18310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教材归纳的七方面职权</a:t>
              </a:r>
            </a:p>
          </p:txBody>
        </p:sp>
        <p:sp>
          <p:nvSpPr>
            <p:cNvPr id="15" name="TextBox 15"/>
            <p:cNvSpPr txBox="1"/>
            <p:nvPr/>
          </p:nvSpPr>
          <p:spPr>
            <a:xfrm>
              <a:off x="599694" y="5346700"/>
              <a:ext cx="6285357" cy="762381"/>
            </a:xfrm>
            <a:prstGeom prst="rect">
              <a:avLst/>
            </a:prstGeom>
            <a:noFill/>
            <a:ln>
              <a:noFill/>
            </a:ln>
          </p:spPr>
          <p:txBody>
            <a:bodyPr wrap="none" lIns="0" tIns="0" rIns="0" bIns="0" anchor="t" anchorCtr="0">
              <a:spAutoFit/>
            </a:bodyPr>
            <a:lstStyle/>
            <a:p>
              <a:pPr algn="l">
                <a:lnSpc>
                  <a:spcPts val="3000"/>
                </a:lnSpc>
              </a:pPr>
              <a:r>
                <a:rPr lang="zh-CN" sz="1950" dirty="0">
                  <a:solidFill>
                    <a:schemeClr val="accent1"/>
                  </a:solidFill>
                  <a:latin typeface="+mn-lt"/>
                  <a:ea typeface="+mn-ea"/>
                  <a:cs typeface="+mn-cs"/>
                </a:rPr>
                <a:t>解释宪法与监督实施 · 立法 · 法律解释 · 监督</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重大国家事项决定 · 人事任免 · 全国人大授予的其他职权</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41027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宪法第67条；立法法第48条法律解释条件。具体人事任免另核提名主体、职位和期间。</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14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监督中的不同工作</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收到文件、审查问题、依法处理</a:t>
              </a:r>
            </a:p>
          </p:txBody>
        </p:sp>
      </p:grpSp>
      <p:grpSp>
        <p:nvGrpSpPr>
          <p:cNvPr id="9" name="filing"/>
          <p:cNvGrpSpPr/>
          <p:nvPr/>
        </p:nvGrpSpPr>
        <p:grpSpPr>
          <a:xfrm>
            <a:off x="749808" y="1936750"/>
            <a:ext cx="6594100" cy="1153033"/>
            <a:chOff x="749808" y="1936750"/>
            <a:chExt cx="6594100" cy="1153033"/>
          </a:xfrm>
        </p:grpSpPr>
        <p:sp>
          <p:nvSpPr>
            <p:cNvPr id="5" name="TextBox 5"/>
            <p:cNvSpPr txBox="1"/>
            <p:nvPr/>
          </p:nvSpPr>
          <p:spPr>
            <a:xfrm>
              <a:off x="749808" y="19367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报送备案</a:t>
              </a:r>
            </a:p>
          </p:txBody>
        </p:sp>
        <p:sp>
          <p:nvSpPr>
            <p:cNvPr id="6" name="TextBox 6"/>
            <p:cNvSpPr txBox="1"/>
            <p:nvPr/>
          </p:nvSpPr>
          <p:spPr>
            <a:xfrm>
              <a:off x="3609594" y="1949450"/>
              <a:ext cx="320929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行政法规 → 全国人大常委会</a:t>
              </a:r>
            </a:p>
          </p:txBody>
        </p:sp>
        <p:sp>
          <p:nvSpPr>
            <p:cNvPr id="7" name="TextBox 7"/>
            <p:cNvSpPr txBox="1"/>
            <p:nvPr/>
          </p:nvSpPr>
          <p:spPr>
            <a:xfrm>
              <a:off x="3609594" y="2444750"/>
              <a:ext cx="373431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地方政府规章 → 本级人大常委会</a:t>
              </a:r>
            </a:p>
          </p:txBody>
        </p:sp>
        <p:sp>
          <p:nvSpPr>
            <p:cNvPr id="8" name="TextBox 8"/>
            <p:cNvSpPr txBox="1"/>
            <p:nvPr/>
          </p:nvSpPr>
          <p:spPr>
            <a:xfrm>
              <a:off x="755142" y="2825750"/>
              <a:ext cx="475705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不同文件向法律指定机关报送；并非都交给同一个“上级”。</a:t>
              </a:r>
            </a:p>
          </p:txBody>
        </p:sp>
      </p:grpSp>
      <p:grpSp>
        <p:nvGrpSpPr>
          <p:cNvPr id="13" name="p15-reveal-1"/>
          <p:cNvGrpSpPr/>
          <p:nvPr/>
        </p:nvGrpSpPr>
        <p:grpSpPr>
          <a:xfrm>
            <a:off x="749808" y="3575050"/>
            <a:ext cx="6029706" cy="851281"/>
            <a:chOff x="749808" y="3575050"/>
            <a:chExt cx="6029706" cy="851281"/>
          </a:xfrm>
        </p:grpSpPr>
        <p:sp>
          <p:nvSpPr>
            <p:cNvPr id="10" name="TextBox 10"/>
            <p:cNvSpPr txBox="1"/>
            <p:nvPr/>
          </p:nvSpPr>
          <p:spPr>
            <a:xfrm>
              <a:off x="749808" y="35750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审查研究</a:t>
              </a:r>
            </a:p>
          </p:txBody>
        </p:sp>
        <p:sp>
          <p:nvSpPr>
            <p:cNvPr id="11" name="TextBox 11"/>
            <p:cNvSpPr txBox="1"/>
            <p:nvPr/>
          </p:nvSpPr>
          <p:spPr>
            <a:xfrm>
              <a:off x="3609594" y="36258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审查依据，与制定机关沟通</a:t>
              </a:r>
            </a:p>
          </p:txBody>
        </p:sp>
        <p:sp>
          <p:nvSpPr>
            <p:cNvPr id="12" name="TextBox 12"/>
            <p:cNvSpPr txBox="1"/>
            <p:nvPr/>
          </p:nvSpPr>
          <p:spPr>
            <a:xfrm>
              <a:off x="3609594" y="4044950"/>
              <a:ext cx="268427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收到文件 ≠ 已认定违法</a:t>
              </a:r>
            </a:p>
          </p:txBody>
        </p:sp>
      </p:grpSp>
      <p:grpSp>
        <p:nvGrpSpPr>
          <p:cNvPr id="18" name="p15-reveal-2"/>
          <p:cNvGrpSpPr/>
          <p:nvPr/>
        </p:nvGrpSpPr>
        <p:grpSpPr>
          <a:xfrm>
            <a:off x="749808" y="4889500"/>
            <a:ext cx="8742426" cy="1248283"/>
            <a:chOff x="749808" y="4889500"/>
            <a:chExt cx="8742426" cy="1248283"/>
          </a:xfrm>
        </p:grpSpPr>
        <p:sp>
          <p:nvSpPr>
            <p:cNvPr id="14" name="TextBox 14"/>
            <p:cNvSpPr txBox="1"/>
            <p:nvPr/>
          </p:nvSpPr>
          <p:spPr>
            <a:xfrm>
              <a:off x="749808" y="48895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依法纠正</a:t>
              </a:r>
            </a:p>
          </p:txBody>
        </p:sp>
        <p:sp>
          <p:nvSpPr>
            <p:cNvPr id="15" name="TextBox 15"/>
            <p:cNvSpPr txBox="1"/>
            <p:nvPr/>
          </p:nvSpPr>
          <p:spPr>
            <a:xfrm>
              <a:off x="3609594" y="49403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推动修改、废止；必要时由有权机关处理</a:t>
              </a:r>
            </a:p>
          </p:txBody>
        </p:sp>
        <p:sp>
          <p:nvSpPr>
            <p:cNvPr id="16" name="TextBox 16"/>
            <p:cNvSpPr txBox="1"/>
            <p:nvPr/>
          </p:nvSpPr>
          <p:spPr>
            <a:xfrm>
              <a:off x="3609594" y="5359400"/>
              <a:ext cx="500748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备案不是自动撤销，也不自动增加撤销权。</a:t>
              </a:r>
            </a:p>
          </p:txBody>
        </p:sp>
        <p:sp>
          <p:nvSpPr>
            <p:cNvPr id="17" name="TextBox 17"/>
            <p:cNvSpPr txBox="1"/>
            <p:nvPr/>
          </p:nvSpPr>
          <p:spPr>
            <a:xfrm>
              <a:off x="755142" y="5873750"/>
              <a:ext cx="873709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例：国务院收到地方性法规备案，不因此有权撤销地方性法规。报告、执法检查、询问质询等也是监督工作。</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493675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立法法第108—112条及备案审查决定；此处辨工作与权限，完整制度留第八讲。</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15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267766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将第62、67条并读</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同有立法权，权限并非复制</a:t>
              </a:r>
            </a:p>
          </p:txBody>
        </p:sp>
      </p:grpSp>
      <p:grpSp>
        <p:nvGrpSpPr>
          <p:cNvPr id="12" name="different-competence"/>
          <p:cNvGrpSpPr/>
          <p:nvPr/>
        </p:nvGrpSpPr>
        <p:grpSpPr>
          <a:xfrm>
            <a:off x="749046" y="1917700"/>
            <a:ext cx="9932289" cy="2296033"/>
            <a:chOff x="749046" y="1917700"/>
            <a:chExt cx="9932289" cy="2296033"/>
          </a:xfrm>
        </p:grpSpPr>
        <p:sp>
          <p:nvSpPr>
            <p:cNvPr id="5" name="TextBox 5"/>
            <p:cNvSpPr txBox="1"/>
            <p:nvPr/>
          </p:nvSpPr>
          <p:spPr>
            <a:xfrm>
              <a:off x="749046" y="19177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全国人民代表大会</a:t>
              </a:r>
            </a:p>
          </p:txBody>
        </p:sp>
        <p:sp>
          <p:nvSpPr>
            <p:cNvPr id="6" name="TextBox 6"/>
            <p:cNvSpPr txBox="1"/>
            <p:nvPr/>
          </p:nvSpPr>
          <p:spPr>
            <a:xfrm>
              <a:off x="752094" y="27114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修改宪法</a:t>
              </a:r>
            </a:p>
          </p:txBody>
        </p:sp>
        <p:sp>
          <p:nvSpPr>
            <p:cNvPr id="7" name="TextBox 7"/>
            <p:cNvSpPr txBox="1"/>
            <p:nvPr/>
          </p:nvSpPr>
          <p:spPr>
            <a:xfrm>
              <a:off x="752094" y="32448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制定和修改基本法律</a:t>
              </a:r>
            </a:p>
          </p:txBody>
        </p:sp>
        <p:sp>
          <p:nvSpPr>
            <p:cNvPr id="8" name="TextBox 8"/>
            <p:cNvSpPr txBox="1"/>
            <p:nvPr/>
          </p:nvSpPr>
          <p:spPr>
            <a:xfrm>
              <a:off x="6845046" y="19177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全国人大常委会</a:t>
              </a:r>
            </a:p>
          </p:txBody>
        </p:sp>
        <p:sp>
          <p:nvSpPr>
            <p:cNvPr id="9" name="TextBox 9"/>
            <p:cNvSpPr txBox="1"/>
            <p:nvPr/>
          </p:nvSpPr>
          <p:spPr>
            <a:xfrm>
              <a:off x="6848094" y="27114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解释宪法</a:t>
              </a:r>
            </a:p>
          </p:txBody>
        </p:sp>
        <p:sp>
          <p:nvSpPr>
            <p:cNvPr id="10" name="TextBox 10"/>
            <p:cNvSpPr txBox="1"/>
            <p:nvPr/>
          </p:nvSpPr>
          <p:spPr>
            <a:xfrm>
              <a:off x="6848094" y="32448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制定和修改其他法律</a:t>
              </a:r>
            </a:p>
          </p:txBody>
        </p:sp>
        <p:sp>
          <p:nvSpPr>
            <p:cNvPr id="11" name="TextBox 11"/>
            <p:cNvSpPr txBox="1"/>
            <p:nvPr/>
          </p:nvSpPr>
          <p:spPr>
            <a:xfrm>
              <a:off x="6851142" y="3949700"/>
              <a:ext cx="383019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两者都监督宪法实施；不是把监督只分给一方。</a:t>
              </a:r>
            </a:p>
          </p:txBody>
        </p:sp>
      </p:grpSp>
      <p:grpSp>
        <p:nvGrpSpPr>
          <p:cNvPr id="16" name="p16-reveal-1"/>
          <p:cNvGrpSpPr/>
          <p:nvPr/>
        </p:nvGrpSpPr>
        <p:grpSpPr>
          <a:xfrm>
            <a:off x="752094" y="4876800"/>
            <a:ext cx="10582656" cy="1130681"/>
            <a:chOff x="752094" y="4876800"/>
            <a:chExt cx="10582656" cy="1130681"/>
          </a:xfrm>
        </p:grpSpPr>
        <p:sp>
          <p:nvSpPr>
            <p:cNvPr id="13" name="Freeform 13"/>
            <p:cNvSpPr/>
            <p:nvPr/>
          </p:nvSpPr>
          <p:spPr>
            <a:xfrm>
              <a:off x="857250" y="4876800"/>
              <a:ext cx="10477500" cy="9525"/>
            </a:xfrm>
            <a:custGeom>
              <a:avLst/>
              <a:gdLst/>
              <a:ahLst/>
              <a:cxnLst/>
              <a:rect l="l" t="t" r="r" b="b"/>
              <a:pathLst>
                <a:path w="10477500" h="9525">
                  <a:moveTo>
                    <a:pt x="0" y="0"/>
                  </a:moveTo>
                  <a:lnTo>
                    <a:pt x="10477500" y="0"/>
                  </a:lnTo>
                </a:path>
              </a:pathLst>
            </a:custGeom>
            <a:noFill/>
            <a:ln w="9525">
              <a:solidFill>
                <a:srgbClr val="C7BFB1"/>
              </a:solidFill>
            </a:ln>
          </p:spPr>
        </p:sp>
        <p:sp>
          <p:nvSpPr>
            <p:cNvPr id="14" name="TextBox 14"/>
            <p:cNvSpPr txBox="1"/>
            <p:nvPr/>
          </p:nvSpPr>
          <p:spPr>
            <a:xfrm>
              <a:off x="752094" y="509270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闭会期间，常委会可对全国人大法律作部分补充、修改</a:t>
              </a:r>
            </a:p>
          </p:txBody>
        </p:sp>
        <p:sp>
          <p:nvSpPr>
            <p:cNvPr id="15" name="TextBox 15"/>
            <p:cNvSpPr txBox="1"/>
            <p:nvPr/>
          </p:nvSpPr>
          <p:spPr>
            <a:xfrm>
              <a:off x="752094" y="5626100"/>
              <a:ext cx="611002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“部分”与“不得抵触基本原则”，同时限定这项职权。</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59044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宪法第58、62、67条；按法定动作和范围比较，不以“大小版”推算权限。</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16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产生之后的持续关系</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常设机关，仍对产生它的机关负责</a:t>
              </a:r>
            </a:p>
          </p:txBody>
        </p:sp>
      </p:grpSp>
      <p:grpSp>
        <p:nvGrpSpPr>
          <p:cNvPr id="11" name="continuing-relationship"/>
          <p:cNvGrpSpPr/>
          <p:nvPr/>
        </p:nvGrpSpPr>
        <p:grpSpPr>
          <a:xfrm>
            <a:off x="844296" y="2006600"/>
            <a:ext cx="9327642" cy="2610231"/>
            <a:chOff x="844296" y="2006600"/>
            <a:chExt cx="9327642" cy="2610231"/>
          </a:xfrm>
        </p:grpSpPr>
        <p:sp>
          <p:nvSpPr>
            <p:cNvPr id="5" name="TextBox 5"/>
            <p:cNvSpPr txBox="1"/>
            <p:nvPr/>
          </p:nvSpPr>
          <p:spPr>
            <a:xfrm>
              <a:off x="844296" y="26225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全国人民代表大会</a:t>
              </a:r>
            </a:p>
          </p:txBody>
        </p:sp>
        <p:sp>
          <p:nvSpPr>
            <p:cNvPr id="6" name="TextBox 6"/>
            <p:cNvSpPr txBox="1"/>
            <p:nvPr/>
          </p:nvSpPr>
          <p:spPr>
            <a:xfrm>
              <a:off x="7607046" y="26225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全国人大常委会</a:t>
              </a:r>
            </a:p>
          </p:txBody>
        </p:sp>
        <p:sp>
          <p:nvSpPr>
            <p:cNvPr id="7" name="Freeform 7"/>
            <p:cNvSpPr/>
            <p:nvPr/>
          </p:nvSpPr>
          <p:spPr>
            <a:xfrm>
              <a:off x="3352800" y="2438400"/>
              <a:ext cx="5581650" cy="266700"/>
            </a:xfrm>
            <a:custGeom>
              <a:avLst/>
              <a:gdLst/>
              <a:ahLst/>
              <a:cxnLst/>
              <a:rect l="l" t="t" r="r" b="b"/>
              <a:pathLst>
                <a:path w="5581650" h="266700">
                  <a:moveTo>
                    <a:pt x="0" y="0"/>
                  </a:moveTo>
                  <a:lnTo>
                    <a:pt x="5505450" y="0"/>
                  </a:lnTo>
                  <a:lnTo>
                    <a:pt x="5505450" y="247650"/>
                  </a:lnTo>
                  <a:moveTo>
                    <a:pt x="5429250" y="152400"/>
                  </a:moveTo>
                  <a:lnTo>
                    <a:pt x="5505450" y="266700"/>
                  </a:lnTo>
                  <a:lnTo>
                    <a:pt x="5581650" y="152400"/>
                  </a:lnTo>
                </a:path>
              </a:pathLst>
            </a:custGeom>
            <a:noFill/>
            <a:ln w="19050">
              <a:solidFill>
                <a:schemeClr val="accent3"/>
              </a:solidFill>
            </a:ln>
          </p:spPr>
        </p:sp>
        <p:sp>
          <p:nvSpPr>
            <p:cNvPr id="8" name="TextBox 8"/>
            <p:cNvSpPr txBox="1"/>
            <p:nvPr/>
          </p:nvSpPr>
          <p:spPr>
            <a:xfrm>
              <a:off x="4676394" y="20066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从代表中选出组成人员</a:t>
              </a:r>
            </a:p>
          </p:txBody>
        </p:sp>
        <p:sp>
          <p:nvSpPr>
            <p:cNvPr id="9" name="Freeform 9"/>
            <p:cNvSpPr/>
            <p:nvPr/>
          </p:nvSpPr>
          <p:spPr>
            <a:xfrm>
              <a:off x="2438400" y="3333750"/>
              <a:ext cx="6419850" cy="685800"/>
            </a:xfrm>
            <a:custGeom>
              <a:avLst/>
              <a:gdLst/>
              <a:ahLst/>
              <a:cxnLst/>
              <a:rect l="l" t="t" r="r" b="b"/>
              <a:pathLst>
                <a:path w="6419850" h="685800">
                  <a:moveTo>
                    <a:pt x="6419850" y="19050"/>
                  </a:moveTo>
                  <a:lnTo>
                    <a:pt x="6419850" y="685800"/>
                  </a:lnTo>
                  <a:lnTo>
                    <a:pt x="76200" y="685800"/>
                  </a:lnTo>
                  <a:lnTo>
                    <a:pt x="76200" y="19050"/>
                  </a:lnTo>
                  <a:moveTo>
                    <a:pt x="0" y="114300"/>
                  </a:moveTo>
                  <a:lnTo>
                    <a:pt x="76200" y="0"/>
                  </a:lnTo>
                  <a:lnTo>
                    <a:pt x="152400" y="114300"/>
                  </a:lnTo>
                </a:path>
              </a:pathLst>
            </a:custGeom>
            <a:noFill/>
            <a:ln w="19050">
              <a:solidFill>
                <a:schemeClr val="accent2"/>
              </a:solidFill>
            </a:ln>
          </p:spPr>
        </p:sp>
        <p:sp>
          <p:nvSpPr>
            <p:cNvPr id="10" name="TextBox 10"/>
            <p:cNvSpPr txBox="1"/>
            <p:nvPr/>
          </p:nvSpPr>
          <p:spPr>
            <a:xfrm>
              <a:off x="4600194" y="4235450"/>
              <a:ext cx="185737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负责并报告工作</a:t>
              </a:r>
            </a:p>
          </p:txBody>
        </p:sp>
      </p:grpSp>
      <p:grpSp>
        <p:nvGrpSpPr>
          <p:cNvPr id="14" name="p17-reveal-1"/>
          <p:cNvGrpSpPr/>
          <p:nvPr/>
        </p:nvGrpSpPr>
        <p:grpSpPr>
          <a:xfrm>
            <a:off x="847344" y="5283200"/>
            <a:ext cx="8157591" cy="838581"/>
            <a:chOff x="847344" y="5283200"/>
            <a:chExt cx="8157591" cy="838581"/>
          </a:xfrm>
        </p:grpSpPr>
        <p:sp>
          <p:nvSpPr>
            <p:cNvPr id="12" name="TextBox 12"/>
            <p:cNvSpPr txBox="1"/>
            <p:nvPr/>
          </p:nvSpPr>
          <p:spPr>
            <a:xfrm>
              <a:off x="847344" y="528320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全国人大依法改变、撤销常委会不适当的决定，依法罢免其组成人员。</a:t>
              </a:r>
            </a:p>
          </p:txBody>
        </p:sp>
        <p:sp>
          <p:nvSpPr>
            <p:cNvPr id="13" name="TextBox 13"/>
            <p:cNvSpPr txBox="1"/>
            <p:nvPr/>
          </p:nvSpPr>
          <p:spPr>
            <a:xfrm>
              <a:off x="847344" y="5740400"/>
              <a:ext cx="474497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常设，不成为另一个最高国家权力机关。</a:t>
              </a:r>
            </a:p>
          </p:txBody>
        </p:sp>
      </p:grpSp>
      <p:grpSp>
        <p:nvGrpSpPr>
          <p:cNvPr id="17" name="footer"/>
          <p:cNvGrpSpPr/>
          <p:nvPr/>
        </p:nvGrpSpPr>
        <p:grpSpPr>
          <a:xfrm>
            <a:off x="604266" y="6464300"/>
            <a:ext cx="10828344" cy="205359"/>
            <a:chOff x="604266" y="6464300"/>
            <a:chExt cx="10828344" cy="205359"/>
          </a:xfrm>
        </p:grpSpPr>
        <p:sp>
          <p:nvSpPr>
            <p:cNvPr id="15" name="TextBox 15"/>
            <p:cNvSpPr txBox="1"/>
            <p:nvPr/>
          </p:nvSpPr>
          <p:spPr>
            <a:xfrm>
              <a:off x="604266" y="6464300"/>
              <a:ext cx="501449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宪法第62、63、65、69条；线条分别表达产生与负责报告，不代表行政上下级。</a:t>
              </a:r>
            </a:p>
          </p:txBody>
        </p:sp>
        <p:sp>
          <p:nvSpPr>
            <p:cNvPr id="16" name="TextBox 1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17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823058"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“常设”不是会期减法</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常设是组织安排，权限来自宪法</a:t>
              </a:r>
            </a:p>
          </p:txBody>
        </p:sp>
      </p:grpSp>
      <p:grpSp>
        <p:nvGrpSpPr>
          <p:cNvPr id="14" name="continuity"/>
          <p:cNvGrpSpPr/>
          <p:nvPr/>
        </p:nvGrpSpPr>
        <p:grpSpPr>
          <a:xfrm>
            <a:off x="749808" y="1917700"/>
            <a:ext cx="9628251" cy="1895983"/>
            <a:chOff x="749808" y="1917700"/>
            <a:chExt cx="9628251" cy="1895983"/>
          </a:xfrm>
        </p:grpSpPr>
        <p:sp>
          <p:nvSpPr>
            <p:cNvPr id="5" name="TextBox 5"/>
            <p:cNvSpPr txBox="1"/>
            <p:nvPr/>
          </p:nvSpPr>
          <p:spPr>
            <a:xfrm>
              <a:off x="749808" y="19177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事务持续发生</a:t>
              </a:r>
            </a:p>
          </p:txBody>
        </p:sp>
        <p:sp>
          <p:nvSpPr>
            <p:cNvPr id="6" name="TextBox 6"/>
            <p:cNvSpPr txBox="1"/>
            <p:nvPr/>
          </p:nvSpPr>
          <p:spPr>
            <a:xfrm>
              <a:off x="752094" y="24828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法律补充修改</a:t>
              </a:r>
            </a:p>
          </p:txBody>
        </p:sp>
        <p:sp>
          <p:nvSpPr>
            <p:cNvPr id="7" name="TextBox 7"/>
            <p:cNvSpPr txBox="1"/>
            <p:nvPr/>
          </p:nvSpPr>
          <p:spPr>
            <a:xfrm>
              <a:off x="752094" y="29400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预算执行监督</a:t>
              </a:r>
            </a:p>
          </p:txBody>
        </p:sp>
        <p:sp>
          <p:nvSpPr>
            <p:cNvPr id="8" name="TextBox 8"/>
            <p:cNvSpPr txBox="1"/>
            <p:nvPr/>
          </p:nvSpPr>
          <p:spPr>
            <a:xfrm>
              <a:off x="752094" y="33972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有关人事任免</a:t>
              </a:r>
            </a:p>
          </p:txBody>
        </p:sp>
        <p:sp>
          <p:nvSpPr>
            <p:cNvPr id="9" name="Freeform 9"/>
            <p:cNvSpPr/>
            <p:nvPr/>
          </p:nvSpPr>
          <p:spPr>
            <a:xfrm>
              <a:off x="3524250" y="2819400"/>
              <a:ext cx="1714500" cy="152400"/>
            </a:xfrm>
            <a:custGeom>
              <a:avLst/>
              <a:gdLst/>
              <a:ahLst/>
              <a:cxnLst/>
              <a:rect l="l" t="t" r="r" b="b"/>
              <a:pathLst>
                <a:path w="1714500" h="152400">
                  <a:moveTo>
                    <a:pt x="0" y="76200"/>
                  </a:moveTo>
                  <a:lnTo>
                    <a:pt x="1695450" y="76200"/>
                  </a:lnTo>
                  <a:moveTo>
                    <a:pt x="1600200" y="0"/>
                  </a:moveTo>
                  <a:lnTo>
                    <a:pt x="1714500" y="76200"/>
                  </a:lnTo>
                  <a:lnTo>
                    <a:pt x="1600200" y="152400"/>
                  </a:lnTo>
                </a:path>
              </a:pathLst>
            </a:custGeom>
            <a:noFill/>
            <a:ln w="19050">
              <a:solidFill>
                <a:schemeClr val="accent3"/>
              </a:solidFill>
            </a:ln>
          </p:spPr>
        </p:sp>
        <p:sp>
          <p:nvSpPr>
            <p:cNvPr id="10" name="TextBox 10"/>
            <p:cNvSpPr txBox="1"/>
            <p:nvPr/>
          </p:nvSpPr>
          <p:spPr>
            <a:xfrm>
              <a:off x="5892546" y="1955800"/>
              <a:ext cx="365302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常设机关持续依法工作</a:t>
              </a:r>
            </a:p>
          </p:txBody>
        </p:sp>
        <p:sp>
          <p:nvSpPr>
            <p:cNvPr id="11" name="TextBox 11"/>
            <p:cNvSpPr txBox="1"/>
            <p:nvPr/>
          </p:nvSpPr>
          <p:spPr>
            <a:xfrm>
              <a:off x="5895594" y="261620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常委会集体行使职权、依程序开会决定</a:t>
              </a:r>
            </a:p>
          </p:txBody>
        </p:sp>
        <p:sp>
          <p:nvSpPr>
            <p:cNvPr id="12" name="TextBox 12"/>
            <p:cNvSpPr txBox="1"/>
            <p:nvPr/>
          </p:nvSpPr>
          <p:spPr>
            <a:xfrm>
              <a:off x="5898642" y="3168650"/>
              <a:ext cx="3830193"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会议一般每两个月一次；有特殊需要可临时召集</a:t>
              </a:r>
            </a:p>
          </p:txBody>
        </p:sp>
        <p:sp>
          <p:nvSpPr>
            <p:cNvPr id="13" name="TextBox 13"/>
            <p:cNvSpPr txBox="1"/>
            <p:nvPr/>
          </p:nvSpPr>
          <p:spPr>
            <a:xfrm>
              <a:off x="5898642" y="3549650"/>
              <a:ext cx="255803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会议须全体组成人员过半数出席</a:t>
              </a:r>
            </a:p>
          </p:txBody>
        </p:sp>
      </p:grpSp>
      <p:grpSp>
        <p:nvGrpSpPr>
          <p:cNvPr id="18" name="p18-reveal-1"/>
          <p:cNvGrpSpPr/>
          <p:nvPr/>
        </p:nvGrpSpPr>
        <p:grpSpPr>
          <a:xfrm>
            <a:off x="752094" y="4749800"/>
            <a:ext cx="7831455" cy="1254633"/>
            <a:chOff x="752094" y="4749800"/>
            <a:chExt cx="7831455" cy="1254633"/>
          </a:xfrm>
        </p:grpSpPr>
        <p:sp>
          <p:nvSpPr>
            <p:cNvPr id="15" name="TextBox 15"/>
            <p:cNvSpPr txBox="1"/>
            <p:nvPr/>
          </p:nvSpPr>
          <p:spPr>
            <a:xfrm>
              <a:off x="752094" y="4749800"/>
              <a:ext cx="369493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全国人大也可以依法临时召集。</a:t>
              </a:r>
            </a:p>
          </p:txBody>
        </p:sp>
        <p:sp>
          <p:nvSpPr>
            <p:cNvPr id="16" name="TextBox 16"/>
            <p:cNvSpPr txBox="1"/>
            <p:nvPr/>
          </p:nvSpPr>
          <p:spPr>
            <a:xfrm>
              <a:off x="752094" y="5168900"/>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常委会认为必要，或者五分之一以上全国人大代表提议。</a:t>
              </a:r>
            </a:p>
          </p:txBody>
        </p:sp>
        <p:sp>
          <p:nvSpPr>
            <p:cNvPr id="17" name="TextBox 17"/>
            <p:cNvSpPr txBox="1"/>
            <p:nvPr/>
          </p:nvSpPr>
          <p:spPr>
            <a:xfrm>
              <a:off x="755142" y="5740400"/>
              <a:ext cx="782840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常委会成员不得兼任行政、监察、审判、检察机关职务；委员长、副委员长连续任职不超过两届。</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642800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宪法第61、65、66、68条；全国人大组织法、常委会议事规则。持续存在不等于只在大会闭会时存在。</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18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独立思考约1—2分钟</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事情很急，常委会能直接修宪吗？</a:t>
              </a:r>
            </a:p>
          </p:txBody>
        </p:sp>
      </p:grpSp>
      <p:grpSp>
        <p:nvGrpSpPr>
          <p:cNvPr id="9" name="scenario"/>
          <p:cNvGrpSpPr/>
          <p:nvPr/>
        </p:nvGrpSpPr>
        <p:grpSpPr>
          <a:xfrm>
            <a:off x="752094" y="1752600"/>
            <a:ext cx="10677906" cy="1721231"/>
            <a:chOff x="752094" y="1752600"/>
            <a:chExt cx="10677906" cy="1721231"/>
          </a:xfrm>
        </p:grpSpPr>
        <p:sp>
          <p:nvSpPr>
            <p:cNvPr id="5" name="Rectangle 5"/>
            <p:cNvSpPr/>
            <p:nvPr/>
          </p:nvSpPr>
          <p:spPr>
            <a:xfrm>
              <a:off x="762000" y="1752600"/>
              <a:ext cx="10668000" cy="1181100"/>
            </a:xfrm>
            <a:prstGeom prst="rect">
              <a:avLst/>
            </a:prstGeom>
            <a:solidFill>
              <a:schemeClr val="accent5"/>
            </a:solidFill>
            <a:ln>
              <a:noFill/>
            </a:ln>
          </p:spPr>
        </p:sp>
        <p:sp>
          <p:nvSpPr>
            <p:cNvPr id="6" name="TextBox 6"/>
            <p:cNvSpPr txBox="1"/>
            <p:nvPr/>
          </p:nvSpPr>
          <p:spPr>
            <a:xfrm>
              <a:off x="1018794" y="191135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设例：全国人大闭会；一项改革确实需要先修改宪法。</a:t>
              </a:r>
            </a:p>
          </p:txBody>
        </p:sp>
        <p:sp>
          <p:nvSpPr>
            <p:cNvPr id="7" name="TextBox 7"/>
            <p:cNvSpPr txBox="1"/>
            <p:nvPr/>
          </p:nvSpPr>
          <p:spPr>
            <a:xfrm>
              <a:off x="1018794" y="23304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有人主张：事情急，常委会能持续工作，就由常委会通过修宪文本。</a:t>
              </a:r>
            </a:p>
          </p:txBody>
        </p:sp>
        <p:sp>
          <p:nvSpPr>
            <p:cNvPr id="8" name="TextBox 8"/>
            <p:cNvSpPr txBox="1"/>
            <p:nvPr/>
          </p:nvSpPr>
          <p:spPr>
            <a:xfrm>
              <a:off x="752094" y="30924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工作需要有何道理？哪一步推不出来？还有什么法定路径？</a:t>
              </a:r>
            </a:p>
          </p:txBody>
        </p:sp>
      </p:grpSp>
      <p:grpSp>
        <p:nvGrpSpPr>
          <p:cNvPr id="11" name="p19-reveal-1"/>
          <p:cNvGrpSpPr/>
          <p:nvPr/>
        </p:nvGrpSpPr>
        <p:grpSpPr>
          <a:xfrm>
            <a:off x="752094" y="3911600"/>
            <a:ext cx="6845046" cy="381381"/>
            <a:chOff x="752094" y="3911600"/>
            <a:chExt cx="6845046" cy="381381"/>
          </a:xfrm>
        </p:grpSpPr>
        <p:sp>
          <p:nvSpPr>
            <p:cNvPr id="10" name="TextBox 10"/>
            <p:cNvSpPr txBox="1"/>
            <p:nvPr/>
          </p:nvSpPr>
          <p:spPr>
            <a:xfrm>
              <a:off x="752094" y="391160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需要及时行动成立；常委会因此取得修宪通过权，不成立。</a:t>
              </a:r>
            </a:p>
          </p:txBody>
        </p:sp>
      </p:grpSp>
      <p:grpSp>
        <p:nvGrpSpPr>
          <p:cNvPr id="15" name="p19-reveal-2"/>
          <p:cNvGrpSpPr/>
          <p:nvPr/>
        </p:nvGrpSpPr>
        <p:grpSpPr>
          <a:xfrm>
            <a:off x="752094" y="4921250"/>
            <a:ext cx="7448817" cy="1181481"/>
            <a:chOff x="752094" y="4921250"/>
            <a:chExt cx="7448817" cy="1181481"/>
          </a:xfrm>
        </p:grpSpPr>
        <p:sp>
          <p:nvSpPr>
            <p:cNvPr id="12" name="TextBox 12"/>
            <p:cNvSpPr txBox="1"/>
            <p:nvPr/>
          </p:nvSpPr>
          <p:spPr>
            <a:xfrm>
              <a:off x="752094" y="4921250"/>
              <a:ext cx="744881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依法提出修宪议案 → 必要时临时召集全国人大 → 大会依程序决定</a:t>
              </a:r>
            </a:p>
          </p:txBody>
        </p:sp>
        <p:sp>
          <p:nvSpPr>
            <p:cNvPr id="13" name="TextBox 13"/>
            <p:cNvSpPr txBox="1"/>
            <p:nvPr/>
          </p:nvSpPr>
          <p:spPr>
            <a:xfrm>
              <a:off x="752094" y="53213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临时召集：常委会认为必要，或五分之一以上全国人大代表提议</a:t>
              </a:r>
            </a:p>
          </p:txBody>
        </p:sp>
        <p:sp>
          <p:nvSpPr>
            <p:cNvPr id="14" name="TextBox 14"/>
            <p:cNvSpPr txBox="1"/>
            <p:nvPr/>
          </p:nvSpPr>
          <p:spPr>
            <a:xfrm>
              <a:off x="752094" y="57213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修宪通过：全国人大全体代表三分之二以上多数</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443495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宪法第61、64条；本设例给定“确需修宪”，不表示所有改革都须修宪。</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19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两类工作安排</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工作机构，不另成为权力机关</a:t>
              </a:r>
            </a:p>
          </p:txBody>
        </p:sp>
      </p:grpSp>
      <p:grpSp>
        <p:nvGrpSpPr>
          <p:cNvPr id="12" name="working-organizations"/>
          <p:cNvGrpSpPr/>
          <p:nvPr/>
        </p:nvGrpSpPr>
        <p:grpSpPr>
          <a:xfrm>
            <a:off x="749046" y="2032000"/>
            <a:ext cx="9338310" cy="2216150"/>
            <a:chOff x="749046" y="2032000"/>
            <a:chExt cx="9338310" cy="2216150"/>
          </a:xfrm>
        </p:grpSpPr>
        <p:sp>
          <p:nvSpPr>
            <p:cNvPr id="5" name="TextBox 5"/>
            <p:cNvSpPr txBox="1"/>
            <p:nvPr/>
          </p:nvSpPr>
          <p:spPr>
            <a:xfrm>
              <a:off x="749046" y="203200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专门委员会</a:t>
              </a:r>
            </a:p>
          </p:txBody>
        </p:sp>
        <p:sp>
          <p:nvSpPr>
            <p:cNvPr id="6" name="TextBox 6"/>
            <p:cNvSpPr txBox="1"/>
            <p:nvPr/>
          </p:nvSpPr>
          <p:spPr>
            <a:xfrm>
              <a:off x="752094" y="26924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常设工作机构</a:t>
              </a:r>
            </a:p>
          </p:txBody>
        </p:sp>
        <p:sp>
          <p:nvSpPr>
            <p:cNvPr id="7" name="TextBox 7"/>
            <p:cNvSpPr txBox="1"/>
            <p:nvPr/>
          </p:nvSpPr>
          <p:spPr>
            <a:xfrm>
              <a:off x="752094" y="3206750"/>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在全国人大及其常委会领导下</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研究、审议、拟订有关议案</a:t>
              </a:r>
            </a:p>
          </p:txBody>
        </p:sp>
        <p:sp>
          <p:nvSpPr>
            <p:cNvPr id="8" name="Line 8"/>
            <p:cNvSpPr/>
            <p:nvPr/>
          </p:nvSpPr>
          <p:spPr>
            <a:xfrm>
              <a:off x="5905500" y="2076450"/>
              <a:ext cx="9525" cy="2171700"/>
            </a:xfrm>
            <a:custGeom>
              <a:avLst/>
              <a:gdLst/>
              <a:ahLst/>
              <a:cxnLst/>
              <a:rect l="l" t="t" r="r" b="b"/>
              <a:pathLst>
                <a:path w="9525" h="2171700">
                  <a:moveTo>
                    <a:pt x="0" y="0"/>
                  </a:moveTo>
                  <a:lnTo>
                    <a:pt x="0" y="2171700"/>
                  </a:lnTo>
                </a:path>
              </a:pathLst>
            </a:custGeom>
            <a:noFill/>
            <a:ln w="9525">
              <a:solidFill>
                <a:srgbClr val="C7BFB1"/>
              </a:solidFill>
            </a:ln>
          </p:spPr>
        </p:sp>
        <p:sp>
          <p:nvSpPr>
            <p:cNvPr id="9" name="TextBox 9"/>
            <p:cNvSpPr txBox="1"/>
            <p:nvPr/>
          </p:nvSpPr>
          <p:spPr>
            <a:xfrm>
              <a:off x="6845046" y="203200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调查委员会</a:t>
              </a:r>
            </a:p>
          </p:txBody>
        </p:sp>
        <p:sp>
          <p:nvSpPr>
            <p:cNvPr id="10" name="TextBox 10"/>
            <p:cNvSpPr txBox="1"/>
            <p:nvPr/>
          </p:nvSpPr>
          <p:spPr>
            <a:xfrm>
              <a:off x="6848094" y="26924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针对特定问题的调查组织</a:t>
              </a:r>
            </a:p>
          </p:txBody>
        </p:sp>
        <p:sp>
          <p:nvSpPr>
            <p:cNvPr id="11" name="TextBox 11"/>
            <p:cNvSpPr txBox="1"/>
            <p:nvPr/>
          </p:nvSpPr>
          <p:spPr>
            <a:xfrm>
              <a:off x="6848094" y="3206750"/>
              <a:ext cx="32392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全国人大及常委会依程序组织</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查明特定问题</a:t>
              </a:r>
            </a:p>
          </p:txBody>
        </p:sp>
      </p:grpSp>
      <p:grpSp>
        <p:nvGrpSpPr>
          <p:cNvPr id="15" name="p20-reveal-1"/>
          <p:cNvGrpSpPr/>
          <p:nvPr/>
        </p:nvGrpSpPr>
        <p:grpSpPr>
          <a:xfrm>
            <a:off x="752094" y="5130800"/>
            <a:ext cx="8183842" cy="914781"/>
            <a:chOff x="752094" y="5130800"/>
            <a:chExt cx="8183842" cy="914781"/>
          </a:xfrm>
        </p:grpSpPr>
        <p:sp>
          <p:nvSpPr>
            <p:cNvPr id="13" name="TextBox 13"/>
            <p:cNvSpPr txBox="1"/>
            <p:nvPr/>
          </p:nvSpPr>
          <p:spPr>
            <a:xfrm>
              <a:off x="752094" y="5130800"/>
              <a:ext cx="421995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两者本身都不是新的国家权力机关。</a:t>
              </a:r>
            </a:p>
          </p:txBody>
        </p:sp>
        <p:sp>
          <p:nvSpPr>
            <p:cNvPr id="14" name="TextBox 14"/>
            <p:cNvSpPr txBox="1"/>
            <p:nvPr/>
          </p:nvSpPr>
          <p:spPr>
            <a:xfrm>
              <a:off x="752094" y="5664200"/>
              <a:ext cx="818384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具体职权依宪法、法律及法定组织安排；不能从“委员会”名称推权限。</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456217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宪法第70、71条及全国人大组织法；专门委员会不等于全国人大常委会。</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20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168286" cy="943864"/>
            <a:chOff x="592836" y="438150"/>
            <a:chExt cx="7168286" cy="943864"/>
          </a:xfrm>
        </p:grpSpPr>
        <p:sp>
          <p:nvSpPr>
            <p:cNvPr id="2" name="TextBox 2"/>
            <p:cNvSpPr txBox="1"/>
            <p:nvPr/>
          </p:nvSpPr>
          <p:spPr>
            <a:xfrm>
              <a:off x="603504" y="438150"/>
              <a:ext cx="251612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第57条与第85条</a:t>
              </a:r>
            </a:p>
          </p:txBody>
        </p:sp>
        <p:sp>
          <p:nvSpPr>
            <p:cNvPr id="3" name="TextBox 3"/>
            <p:cNvSpPr txBox="1"/>
            <p:nvPr/>
          </p:nvSpPr>
          <p:spPr>
            <a:xfrm>
              <a:off x="592836" y="736600"/>
              <a:ext cx="716828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“常设”与“执行”，不是同一种关系</a:t>
              </a:r>
            </a:p>
          </p:txBody>
        </p:sp>
      </p:grpSp>
      <p:grpSp>
        <p:nvGrpSpPr>
          <p:cNvPr id="14" name="different-roles"/>
          <p:cNvGrpSpPr/>
          <p:nvPr/>
        </p:nvGrpSpPr>
        <p:grpSpPr>
          <a:xfrm>
            <a:off x="745236" y="2101850"/>
            <a:ext cx="9916287" cy="2305431"/>
            <a:chOff x="745236" y="2101850"/>
            <a:chExt cx="9916287" cy="2305431"/>
          </a:xfrm>
        </p:grpSpPr>
        <p:sp>
          <p:nvSpPr>
            <p:cNvPr id="5" name="TextBox 5"/>
            <p:cNvSpPr txBox="1"/>
            <p:nvPr/>
          </p:nvSpPr>
          <p:spPr>
            <a:xfrm>
              <a:off x="755142" y="2101850"/>
              <a:ext cx="164934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持续工作的组织安排</a:t>
              </a:r>
            </a:p>
          </p:txBody>
        </p:sp>
        <p:sp>
          <p:nvSpPr>
            <p:cNvPr id="6" name="TextBox 6"/>
            <p:cNvSpPr txBox="1"/>
            <p:nvPr/>
          </p:nvSpPr>
          <p:spPr>
            <a:xfrm>
              <a:off x="745236" y="2444750"/>
              <a:ext cx="331927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全国人大常委会</a:t>
              </a:r>
            </a:p>
          </p:txBody>
        </p:sp>
        <p:sp>
          <p:nvSpPr>
            <p:cNvPr id="7" name="TextBox 7"/>
            <p:cNvSpPr txBox="1"/>
            <p:nvPr/>
          </p:nvSpPr>
          <p:spPr>
            <a:xfrm>
              <a:off x="752094" y="31877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全国人大的常设机关</a:t>
              </a:r>
            </a:p>
          </p:txBody>
        </p:sp>
        <p:sp>
          <p:nvSpPr>
            <p:cNvPr id="8" name="TextBox 8"/>
            <p:cNvSpPr txBox="1"/>
            <p:nvPr/>
          </p:nvSpPr>
          <p:spPr>
            <a:xfrm>
              <a:off x="752094" y="36258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依法进行立法、监督等工作</a:t>
              </a:r>
            </a:p>
          </p:txBody>
        </p:sp>
        <p:sp>
          <p:nvSpPr>
            <p:cNvPr id="9" name="TextBox 9"/>
            <p:cNvSpPr txBox="1"/>
            <p:nvPr/>
          </p:nvSpPr>
          <p:spPr>
            <a:xfrm>
              <a:off x="7232142" y="2101850"/>
              <a:ext cx="128587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行政执行和管理</a:t>
              </a:r>
            </a:p>
          </p:txBody>
        </p:sp>
        <p:sp>
          <p:nvSpPr>
            <p:cNvPr id="10" name="TextBox 10"/>
            <p:cNvSpPr txBox="1"/>
            <p:nvPr/>
          </p:nvSpPr>
          <p:spPr>
            <a:xfrm>
              <a:off x="7222236" y="2444750"/>
              <a:ext cx="144170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国务院</a:t>
              </a:r>
            </a:p>
          </p:txBody>
        </p:sp>
        <p:sp>
          <p:nvSpPr>
            <p:cNvPr id="11" name="TextBox 11"/>
            <p:cNvSpPr txBox="1"/>
            <p:nvPr/>
          </p:nvSpPr>
          <p:spPr>
            <a:xfrm>
              <a:off x="7229094" y="31877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中央人民政府</a:t>
              </a:r>
            </a:p>
          </p:txBody>
        </p:sp>
        <p:sp>
          <p:nvSpPr>
            <p:cNvPr id="12" name="TextBox 12"/>
            <p:cNvSpPr txBox="1"/>
            <p:nvPr/>
          </p:nvSpPr>
          <p:spPr>
            <a:xfrm>
              <a:off x="7229094" y="36258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最高国家权力机关的执行机关</a:t>
              </a:r>
            </a:p>
          </p:txBody>
        </p:sp>
        <p:sp>
          <p:nvSpPr>
            <p:cNvPr id="13" name="TextBox 13"/>
            <p:cNvSpPr txBox="1"/>
            <p:nvPr/>
          </p:nvSpPr>
          <p:spPr>
            <a:xfrm>
              <a:off x="7229094" y="40259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最高国家行政机关</a:t>
              </a:r>
            </a:p>
          </p:txBody>
        </p:sp>
      </p:grpSp>
      <p:grpSp>
        <p:nvGrpSpPr>
          <p:cNvPr id="17" name="p21-reveal-1"/>
          <p:cNvGrpSpPr/>
          <p:nvPr/>
        </p:nvGrpSpPr>
        <p:grpSpPr>
          <a:xfrm>
            <a:off x="752094" y="5035550"/>
            <a:ext cx="6057519" cy="1117981"/>
            <a:chOff x="752094" y="5035550"/>
            <a:chExt cx="6057519" cy="1117981"/>
          </a:xfrm>
        </p:grpSpPr>
        <p:sp>
          <p:nvSpPr>
            <p:cNvPr id="15" name="TextBox 15"/>
            <p:cNvSpPr txBox="1"/>
            <p:nvPr/>
          </p:nvSpPr>
          <p:spPr>
            <a:xfrm>
              <a:off x="752094" y="5035550"/>
              <a:ext cx="605751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常设与执行不能互换；国务院也依法制定行政法规。</a:t>
              </a:r>
            </a:p>
          </p:txBody>
        </p:sp>
        <p:sp>
          <p:nvSpPr>
            <p:cNvPr id="16" name="TextBox 16"/>
            <p:cNvSpPr txBox="1"/>
            <p:nvPr/>
          </p:nvSpPr>
          <p:spPr>
            <a:xfrm>
              <a:off x="752094" y="5372100"/>
              <a:ext cx="5220462" cy="781431"/>
            </a:xfrm>
            <a:prstGeom prst="rect">
              <a:avLst/>
            </a:prstGeom>
            <a:noFill/>
            <a:ln>
              <a:noFill/>
            </a:ln>
          </p:spPr>
          <p:txBody>
            <a:bodyPr wrap="none" lIns="0" tIns="0" rIns="0" bIns="0" anchor="t" anchorCtr="0">
              <a:spAutoFit/>
            </a:bodyPr>
            <a:lstStyle/>
            <a:p>
              <a:pPr algn="l">
                <a:lnSpc>
                  <a:spcPts val="3150"/>
                </a:lnSpc>
              </a:pPr>
              <a:r>
                <a:rPr lang="zh-CN" sz="1950" dirty="0">
                  <a:solidFill>
                    <a:schemeClr val="accent1"/>
                  </a:solidFill>
                  <a:latin typeface="+mn-lt"/>
                  <a:ea typeface="+mn-ea"/>
                  <a:cs typeface="+mn-cs"/>
                </a:rPr>
                <a:t>国务院对全国人大负责并报告工作；</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全国人大闭会期间，对常委会负责并报告工作。</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477419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宪法第57、58、67、85、89、92条；“常设”不表示只在大会闭会时才存在。</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21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66151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第62条的不同动词</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选举，与决定人选，是不同动作</a:t>
              </a:r>
            </a:p>
          </p:txBody>
        </p:sp>
      </p:grpSp>
      <p:grpSp>
        <p:nvGrpSpPr>
          <p:cNvPr id="14" name="election-acts"/>
          <p:cNvGrpSpPr/>
          <p:nvPr/>
        </p:nvGrpSpPr>
        <p:grpSpPr>
          <a:xfrm>
            <a:off x="749046" y="1898650"/>
            <a:ext cx="9023604" cy="2565781"/>
            <a:chOff x="749046" y="1898650"/>
            <a:chExt cx="9023604" cy="2565781"/>
          </a:xfrm>
        </p:grpSpPr>
        <p:sp>
          <p:nvSpPr>
            <p:cNvPr id="5" name="TextBox 5"/>
            <p:cNvSpPr txBox="1"/>
            <p:nvPr/>
          </p:nvSpPr>
          <p:spPr>
            <a:xfrm>
              <a:off x="749046" y="18986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全国人大选举</a:t>
              </a:r>
            </a:p>
          </p:txBody>
        </p:sp>
        <p:sp>
          <p:nvSpPr>
            <p:cNvPr id="6" name="TextBox 6"/>
            <p:cNvSpPr txBox="1"/>
            <p:nvPr/>
          </p:nvSpPr>
          <p:spPr>
            <a:xfrm>
              <a:off x="752094" y="25209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国家主席、副主席</a:t>
              </a:r>
            </a:p>
          </p:txBody>
        </p:sp>
        <p:sp>
          <p:nvSpPr>
            <p:cNvPr id="7" name="TextBox 7"/>
            <p:cNvSpPr txBox="1"/>
            <p:nvPr/>
          </p:nvSpPr>
          <p:spPr>
            <a:xfrm>
              <a:off x="752094" y="29591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中央军委主席、国家监委主任</a:t>
              </a:r>
            </a:p>
          </p:txBody>
        </p:sp>
        <p:sp>
          <p:nvSpPr>
            <p:cNvPr id="8" name="TextBox 8"/>
            <p:cNvSpPr txBox="1"/>
            <p:nvPr/>
          </p:nvSpPr>
          <p:spPr>
            <a:xfrm>
              <a:off x="752094" y="33972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最高人民法院院长</a:t>
              </a:r>
            </a:p>
          </p:txBody>
        </p:sp>
        <p:sp>
          <p:nvSpPr>
            <p:cNvPr id="9" name="TextBox 9"/>
            <p:cNvSpPr txBox="1"/>
            <p:nvPr/>
          </p:nvSpPr>
          <p:spPr>
            <a:xfrm>
              <a:off x="752094" y="38354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最高人民检察院检察长等</a:t>
              </a:r>
            </a:p>
          </p:txBody>
        </p:sp>
        <p:sp>
          <p:nvSpPr>
            <p:cNvPr id="10" name="TextBox 10"/>
            <p:cNvSpPr txBox="1"/>
            <p:nvPr/>
          </p:nvSpPr>
          <p:spPr>
            <a:xfrm>
              <a:off x="6845046" y="18986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全国人大决定人选</a:t>
              </a:r>
            </a:p>
          </p:txBody>
        </p:sp>
        <p:sp>
          <p:nvSpPr>
            <p:cNvPr id="11" name="TextBox 11"/>
            <p:cNvSpPr txBox="1"/>
            <p:nvPr/>
          </p:nvSpPr>
          <p:spPr>
            <a:xfrm>
              <a:off x="6848094" y="2520950"/>
              <a:ext cx="242176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总理 ← 国家主席提名</a:t>
              </a:r>
            </a:p>
          </p:txBody>
        </p:sp>
        <p:sp>
          <p:nvSpPr>
            <p:cNvPr id="12" name="TextBox 12"/>
            <p:cNvSpPr txBox="1"/>
            <p:nvPr/>
          </p:nvSpPr>
          <p:spPr>
            <a:xfrm>
              <a:off x="6848094" y="292100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国务院其他组成人员</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 总理提名</a:t>
              </a:r>
            </a:p>
          </p:txBody>
        </p:sp>
        <p:sp>
          <p:nvSpPr>
            <p:cNvPr id="13" name="TextBox 13"/>
            <p:cNvSpPr txBox="1"/>
            <p:nvPr/>
          </p:nvSpPr>
          <p:spPr>
            <a:xfrm>
              <a:off x="6848094" y="372110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军委其他组成人员</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 军委主席提名</a:t>
              </a:r>
            </a:p>
          </p:txBody>
        </p:sp>
      </p:grpSp>
      <p:grpSp>
        <p:nvGrpSpPr>
          <p:cNvPr id="17" name="p22-reveal-1"/>
          <p:cNvGrpSpPr/>
          <p:nvPr/>
        </p:nvGrpSpPr>
        <p:grpSpPr>
          <a:xfrm>
            <a:off x="752094" y="5092700"/>
            <a:ext cx="7370064" cy="914781"/>
            <a:chOff x="752094" y="5092700"/>
            <a:chExt cx="7370064" cy="914781"/>
          </a:xfrm>
        </p:grpSpPr>
        <p:sp>
          <p:nvSpPr>
            <p:cNvPr id="15" name="TextBox 15"/>
            <p:cNvSpPr txBox="1"/>
            <p:nvPr/>
          </p:nvSpPr>
          <p:spPr>
            <a:xfrm>
              <a:off x="752094" y="50927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选举的候选提名，还须按主席团提名、代表团酝酿等法定程序。</a:t>
              </a:r>
            </a:p>
          </p:txBody>
        </p:sp>
        <p:sp>
          <p:nvSpPr>
            <p:cNvPr id="16" name="TextBox 16"/>
            <p:cNvSpPr txBox="1"/>
            <p:nvPr/>
          </p:nvSpPr>
          <p:spPr>
            <a:xfrm>
              <a:off x="752094" y="5626100"/>
              <a:ext cx="582126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“由人大产生”是概括，不能替代具体的宪法行为。</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613116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宪法第62条；全国人大组织法第18、19条。此处选举的是负责人，不是选民直接选全国人大代表。</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22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329153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同一个总理人选的三个动作</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提名、决定、任命，各有主体</a:t>
              </a:r>
            </a:p>
          </p:txBody>
        </p:sp>
      </p:grpSp>
      <p:grpSp>
        <p:nvGrpSpPr>
          <p:cNvPr id="19" name="three-acts"/>
          <p:cNvGrpSpPr/>
          <p:nvPr/>
        </p:nvGrpSpPr>
        <p:grpSpPr>
          <a:xfrm>
            <a:off x="745236" y="2178050"/>
            <a:ext cx="9553956" cy="1943481"/>
            <a:chOff x="745236" y="2178050"/>
            <a:chExt cx="9553956" cy="1943481"/>
          </a:xfrm>
        </p:grpSpPr>
        <p:sp>
          <p:nvSpPr>
            <p:cNvPr id="5" name="TextBox 5"/>
            <p:cNvSpPr txBox="1"/>
            <p:nvPr/>
          </p:nvSpPr>
          <p:spPr>
            <a:xfrm>
              <a:off x="752094" y="2178050"/>
              <a:ext cx="106984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国家主席</a:t>
              </a:r>
            </a:p>
          </p:txBody>
        </p:sp>
        <p:sp>
          <p:nvSpPr>
            <p:cNvPr id="6" name="TextBox 6"/>
            <p:cNvSpPr txBox="1"/>
            <p:nvPr/>
          </p:nvSpPr>
          <p:spPr>
            <a:xfrm>
              <a:off x="745236" y="26543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提名</a:t>
              </a:r>
            </a:p>
          </p:txBody>
        </p:sp>
        <p:sp>
          <p:nvSpPr>
            <p:cNvPr id="7" name="TextBox 7"/>
            <p:cNvSpPr txBox="1"/>
            <p:nvPr/>
          </p:nvSpPr>
          <p:spPr>
            <a:xfrm>
              <a:off x="752094" y="33782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介绍基本情况</a:t>
              </a:r>
            </a:p>
          </p:txBody>
        </p:sp>
        <p:sp>
          <p:nvSpPr>
            <p:cNvPr id="8" name="TextBox 8"/>
            <p:cNvSpPr txBox="1"/>
            <p:nvPr/>
          </p:nvSpPr>
          <p:spPr>
            <a:xfrm>
              <a:off x="752094" y="37401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作必要说明</a:t>
              </a:r>
            </a:p>
          </p:txBody>
        </p:sp>
        <p:sp>
          <p:nvSpPr>
            <p:cNvPr id="9" name="Freeform 9"/>
            <p:cNvSpPr/>
            <p:nvPr/>
          </p:nvSpPr>
          <p:spPr>
            <a:xfrm>
              <a:off x="2743200" y="2876550"/>
              <a:ext cx="1333500" cy="152400"/>
            </a:xfrm>
            <a:custGeom>
              <a:avLst/>
              <a:gdLst/>
              <a:ahLst/>
              <a:cxnLst/>
              <a:rect l="l" t="t" r="r" b="b"/>
              <a:pathLst>
                <a:path w="1333500" h="152400">
                  <a:moveTo>
                    <a:pt x="0" y="76200"/>
                  </a:moveTo>
                  <a:lnTo>
                    <a:pt x="1314450" y="76200"/>
                  </a:lnTo>
                  <a:moveTo>
                    <a:pt x="1219200" y="0"/>
                  </a:moveTo>
                  <a:lnTo>
                    <a:pt x="1333500" y="76200"/>
                  </a:lnTo>
                  <a:lnTo>
                    <a:pt x="1219200" y="152400"/>
                  </a:lnTo>
                </a:path>
              </a:pathLst>
            </a:custGeom>
            <a:noFill/>
            <a:ln w="19050">
              <a:solidFill>
                <a:schemeClr val="accent3"/>
              </a:solidFill>
            </a:ln>
          </p:spPr>
        </p:sp>
        <p:sp>
          <p:nvSpPr>
            <p:cNvPr id="10" name="TextBox 10"/>
            <p:cNvSpPr txBox="1"/>
            <p:nvPr/>
          </p:nvSpPr>
          <p:spPr>
            <a:xfrm>
              <a:off x="4752594" y="2178050"/>
              <a:ext cx="2119884"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全国人民代表大会</a:t>
              </a:r>
            </a:p>
          </p:txBody>
        </p:sp>
        <p:sp>
          <p:nvSpPr>
            <p:cNvPr id="11" name="TextBox 11"/>
            <p:cNvSpPr txBox="1"/>
            <p:nvPr/>
          </p:nvSpPr>
          <p:spPr>
            <a:xfrm>
              <a:off x="4745736" y="26543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决定</a:t>
              </a:r>
            </a:p>
          </p:txBody>
        </p:sp>
        <p:sp>
          <p:nvSpPr>
            <p:cNvPr id="12" name="TextBox 12"/>
            <p:cNvSpPr txBox="1"/>
            <p:nvPr/>
          </p:nvSpPr>
          <p:spPr>
            <a:xfrm>
              <a:off x="4752594" y="33782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无记名投票</a:t>
              </a:r>
            </a:p>
          </p:txBody>
        </p:sp>
        <p:sp>
          <p:nvSpPr>
            <p:cNvPr id="13" name="TextBox 13"/>
            <p:cNvSpPr txBox="1"/>
            <p:nvPr/>
          </p:nvSpPr>
          <p:spPr>
            <a:xfrm>
              <a:off x="4752594" y="37401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全体代表过半数</a:t>
              </a:r>
            </a:p>
          </p:txBody>
        </p:sp>
        <p:sp>
          <p:nvSpPr>
            <p:cNvPr id="14" name="Freeform 14"/>
            <p:cNvSpPr/>
            <p:nvPr/>
          </p:nvSpPr>
          <p:spPr>
            <a:xfrm>
              <a:off x="7258050" y="2876550"/>
              <a:ext cx="1295400" cy="152400"/>
            </a:xfrm>
            <a:custGeom>
              <a:avLst/>
              <a:gdLst/>
              <a:ahLst/>
              <a:cxnLst/>
              <a:rect l="l" t="t" r="r" b="b"/>
              <a:pathLst>
                <a:path w="1295400" h="152400">
                  <a:moveTo>
                    <a:pt x="0" y="76200"/>
                  </a:moveTo>
                  <a:lnTo>
                    <a:pt x="1276350" y="76200"/>
                  </a:lnTo>
                  <a:moveTo>
                    <a:pt x="1181100" y="0"/>
                  </a:moveTo>
                  <a:lnTo>
                    <a:pt x="1295400" y="76200"/>
                  </a:lnTo>
                  <a:lnTo>
                    <a:pt x="1181100" y="152400"/>
                  </a:lnTo>
                </a:path>
              </a:pathLst>
            </a:custGeom>
            <a:noFill/>
            <a:ln w="19050">
              <a:solidFill>
                <a:schemeClr val="accent3"/>
              </a:solidFill>
            </a:ln>
          </p:spPr>
        </p:sp>
        <p:sp>
          <p:nvSpPr>
            <p:cNvPr id="15" name="TextBox 15"/>
            <p:cNvSpPr txBox="1"/>
            <p:nvPr/>
          </p:nvSpPr>
          <p:spPr>
            <a:xfrm>
              <a:off x="9229344" y="2178050"/>
              <a:ext cx="106984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国家主席</a:t>
              </a:r>
            </a:p>
          </p:txBody>
        </p:sp>
        <p:sp>
          <p:nvSpPr>
            <p:cNvPr id="16" name="TextBox 16"/>
            <p:cNvSpPr txBox="1"/>
            <p:nvPr/>
          </p:nvSpPr>
          <p:spPr>
            <a:xfrm>
              <a:off x="9222486" y="26543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任命</a:t>
              </a:r>
            </a:p>
          </p:txBody>
        </p:sp>
        <p:sp>
          <p:nvSpPr>
            <p:cNvPr id="17" name="TextBox 17"/>
            <p:cNvSpPr txBox="1"/>
            <p:nvPr/>
          </p:nvSpPr>
          <p:spPr>
            <a:xfrm>
              <a:off x="9229344" y="33782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依法签署</a:t>
              </a:r>
            </a:p>
          </p:txBody>
        </p:sp>
        <p:sp>
          <p:nvSpPr>
            <p:cNvPr id="18" name="TextBox 18"/>
            <p:cNvSpPr txBox="1"/>
            <p:nvPr/>
          </p:nvSpPr>
          <p:spPr>
            <a:xfrm>
              <a:off x="9229344" y="37401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任命文件</a:t>
              </a:r>
            </a:p>
          </p:txBody>
        </p:sp>
      </p:grpSp>
      <p:grpSp>
        <p:nvGrpSpPr>
          <p:cNvPr id="22" name="p23-reveal-1"/>
          <p:cNvGrpSpPr/>
          <p:nvPr/>
        </p:nvGrpSpPr>
        <p:grpSpPr>
          <a:xfrm>
            <a:off x="752094" y="5111750"/>
            <a:ext cx="8420100" cy="895731"/>
            <a:chOff x="752094" y="5111750"/>
            <a:chExt cx="8420100" cy="895731"/>
          </a:xfrm>
        </p:grpSpPr>
        <p:sp>
          <p:nvSpPr>
            <p:cNvPr id="20" name="TextBox 20"/>
            <p:cNvSpPr txBox="1"/>
            <p:nvPr/>
          </p:nvSpPr>
          <p:spPr>
            <a:xfrm>
              <a:off x="752094" y="5111750"/>
              <a:ext cx="737006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提出并说明人选，不等于自己决定；大会决定不省略依法任命。</a:t>
              </a:r>
            </a:p>
          </p:txBody>
        </p:sp>
        <p:sp>
          <p:nvSpPr>
            <p:cNvPr id="21" name="TextBox 21"/>
            <p:cNvSpPr txBox="1"/>
            <p:nvPr/>
          </p:nvSpPr>
          <p:spPr>
            <a:xfrm>
              <a:off x="752094" y="562610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具体责任依各自行为与适用规范判断，不推出日后一切行为的共同责任。</a:t>
              </a:r>
            </a:p>
          </p:txBody>
        </p:sp>
      </p:grpSp>
      <p:grpSp>
        <p:nvGrpSpPr>
          <p:cNvPr id="25" name="footer"/>
          <p:cNvGrpSpPr/>
          <p:nvPr/>
        </p:nvGrpSpPr>
        <p:grpSpPr>
          <a:xfrm>
            <a:off x="604266" y="6464300"/>
            <a:ext cx="10828344" cy="205359"/>
            <a:chOff x="604266" y="6464300"/>
            <a:chExt cx="10828344" cy="205359"/>
          </a:xfrm>
        </p:grpSpPr>
        <p:sp>
          <p:nvSpPr>
            <p:cNvPr id="23" name="TextBox 23"/>
            <p:cNvSpPr txBox="1"/>
            <p:nvPr/>
          </p:nvSpPr>
          <p:spPr>
            <a:xfrm>
              <a:off x="604266" y="6464300"/>
              <a:ext cx="587673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宪法第62、80条；全国人大议事规则第39、40、61条。只展示总理人选，不推广到所有职位。</a:t>
              </a:r>
            </a:p>
          </p:txBody>
        </p:sp>
        <p:sp>
          <p:nvSpPr>
            <p:cNvPr id="24" name="TextBox 24"/>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23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产生不是关系的终点</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产生之后，继续读负责关系</a:t>
              </a:r>
            </a:p>
          </p:txBody>
        </p:sp>
      </p:grpSp>
      <p:grpSp>
        <p:nvGrpSpPr>
          <p:cNvPr id="14" name="accountability-objects"/>
          <p:cNvGrpSpPr/>
          <p:nvPr/>
        </p:nvGrpSpPr>
        <p:grpSpPr>
          <a:xfrm>
            <a:off x="752094" y="1930400"/>
            <a:ext cx="8307038" cy="2797683"/>
            <a:chOff x="752094" y="1930400"/>
            <a:chExt cx="8307038" cy="2797683"/>
          </a:xfrm>
        </p:grpSpPr>
        <p:sp>
          <p:nvSpPr>
            <p:cNvPr id="5" name="TextBox 5"/>
            <p:cNvSpPr txBox="1"/>
            <p:nvPr/>
          </p:nvSpPr>
          <p:spPr>
            <a:xfrm>
              <a:off x="752094" y="1930400"/>
              <a:ext cx="215926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常委会 → 全国人大</a:t>
              </a:r>
            </a:p>
          </p:txBody>
        </p:sp>
        <p:sp>
          <p:nvSpPr>
            <p:cNvPr id="6" name="TextBox 6"/>
            <p:cNvSpPr txBox="1"/>
            <p:nvPr/>
          </p:nvSpPr>
          <p:spPr>
            <a:xfrm>
              <a:off x="6086094" y="1930400"/>
              <a:ext cx="297303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负责并报告工作 · 第69条</a:t>
              </a:r>
            </a:p>
          </p:txBody>
        </p:sp>
        <p:sp>
          <p:nvSpPr>
            <p:cNvPr id="7" name="TextBox 7"/>
            <p:cNvSpPr txBox="1"/>
            <p:nvPr/>
          </p:nvSpPr>
          <p:spPr>
            <a:xfrm>
              <a:off x="752094" y="2540000"/>
              <a:ext cx="215926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国务院 → 全国人大</a:t>
              </a:r>
            </a:p>
          </p:txBody>
        </p:sp>
        <p:sp>
          <p:nvSpPr>
            <p:cNvPr id="8" name="TextBox 8"/>
            <p:cNvSpPr txBox="1"/>
            <p:nvPr/>
          </p:nvSpPr>
          <p:spPr>
            <a:xfrm>
              <a:off x="6086094" y="2540000"/>
              <a:ext cx="2973038"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负责并报告工作 · 第92条</a:t>
              </a:r>
            </a:p>
          </p:txBody>
        </p:sp>
        <p:sp>
          <p:nvSpPr>
            <p:cNvPr id="9" name="TextBox 9"/>
            <p:cNvSpPr txBox="1"/>
            <p:nvPr/>
          </p:nvSpPr>
          <p:spPr>
            <a:xfrm>
              <a:off x="755142" y="3016250"/>
              <a:ext cx="2221821"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闭会期间 → 全国人大常委会</a:t>
              </a:r>
            </a:p>
          </p:txBody>
        </p:sp>
        <p:sp>
          <p:nvSpPr>
            <p:cNvPr id="10" name="TextBox 10"/>
            <p:cNvSpPr txBox="1"/>
            <p:nvPr/>
          </p:nvSpPr>
          <p:spPr>
            <a:xfrm>
              <a:off x="752094" y="3549650"/>
              <a:ext cx="425933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中央军委主席 → 全国人大及其常委会</a:t>
              </a:r>
            </a:p>
          </p:txBody>
        </p:sp>
        <p:sp>
          <p:nvSpPr>
            <p:cNvPr id="11" name="TextBox 11"/>
            <p:cNvSpPr txBox="1"/>
            <p:nvPr/>
          </p:nvSpPr>
          <p:spPr>
            <a:xfrm>
              <a:off x="752094" y="4006850"/>
              <a:ext cx="373431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最高两院 → 全国人大及其常委会</a:t>
              </a:r>
            </a:p>
          </p:txBody>
        </p:sp>
        <p:sp>
          <p:nvSpPr>
            <p:cNvPr id="12" name="TextBox 12"/>
            <p:cNvSpPr txBox="1"/>
            <p:nvPr/>
          </p:nvSpPr>
          <p:spPr>
            <a:xfrm>
              <a:off x="6086094" y="4006850"/>
              <a:ext cx="2500522"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负责 · 第133、138条</a:t>
              </a:r>
            </a:p>
          </p:txBody>
        </p:sp>
        <p:sp>
          <p:nvSpPr>
            <p:cNvPr id="13" name="TextBox 13"/>
            <p:cNvSpPr txBox="1"/>
            <p:nvPr/>
          </p:nvSpPr>
          <p:spPr>
            <a:xfrm>
              <a:off x="755142" y="4464050"/>
              <a:ext cx="641085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第94条规定负责的主体是军委主席；不能将其直接等同于“军委集体报告工作”。</a:t>
              </a:r>
            </a:p>
          </p:txBody>
        </p:sp>
      </p:grpSp>
      <p:grpSp>
        <p:nvGrpSpPr>
          <p:cNvPr id="17" name="p24-reveal-1"/>
          <p:cNvGrpSpPr/>
          <p:nvPr/>
        </p:nvGrpSpPr>
        <p:grpSpPr>
          <a:xfrm>
            <a:off x="752094" y="5168900"/>
            <a:ext cx="7041928" cy="819531"/>
            <a:chOff x="752094" y="5168900"/>
            <a:chExt cx="7041928" cy="819531"/>
          </a:xfrm>
        </p:grpSpPr>
        <p:sp>
          <p:nvSpPr>
            <p:cNvPr id="15" name="TextBox 15"/>
            <p:cNvSpPr txBox="1"/>
            <p:nvPr/>
          </p:nvSpPr>
          <p:spPr>
            <a:xfrm>
              <a:off x="752094" y="5168900"/>
              <a:ext cx="452184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地方人民法院 → 产生它的国家权力机关</a:t>
              </a:r>
            </a:p>
          </p:txBody>
        </p:sp>
        <p:sp>
          <p:nvSpPr>
            <p:cNvPr id="16" name="TextBox 16"/>
            <p:cNvSpPr txBox="1"/>
            <p:nvPr/>
          </p:nvSpPr>
          <p:spPr>
            <a:xfrm>
              <a:off x="752094" y="5607050"/>
              <a:ext cx="70419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地方人民检察院 → 产生它的国家权力机关 ＋ 上级人民检察院</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60816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宪法第69、92、94、133、138条；分别辨认负责的主体、对象，以及是否规定报告工作。</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24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负责与监督的持续性</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监督持续发生，工作仍各负其责</a:t>
              </a:r>
            </a:p>
          </p:txBody>
        </p:sp>
      </p:grpSp>
      <p:grpSp>
        <p:nvGrpSpPr>
          <p:cNvPr id="15" name="supervision-continuity"/>
          <p:cNvGrpSpPr/>
          <p:nvPr/>
        </p:nvGrpSpPr>
        <p:grpSpPr>
          <a:xfrm>
            <a:off x="749808" y="1936750"/>
            <a:ext cx="10385679" cy="1422781"/>
            <a:chOff x="749808" y="1936750"/>
            <a:chExt cx="10385679" cy="1422781"/>
          </a:xfrm>
        </p:grpSpPr>
        <p:sp>
          <p:nvSpPr>
            <p:cNvPr id="5" name="Freeform 5"/>
            <p:cNvSpPr/>
            <p:nvPr/>
          </p:nvSpPr>
          <p:spPr>
            <a:xfrm>
              <a:off x="1047750" y="2705100"/>
              <a:ext cx="10001250" cy="9525"/>
            </a:xfrm>
            <a:custGeom>
              <a:avLst/>
              <a:gdLst/>
              <a:ahLst/>
              <a:cxnLst/>
              <a:rect l="l" t="t" r="r" b="b"/>
              <a:pathLst>
                <a:path w="10001250" h="9525">
                  <a:moveTo>
                    <a:pt x="0" y="0"/>
                  </a:moveTo>
                  <a:lnTo>
                    <a:pt x="10001250" y="0"/>
                  </a:lnTo>
                </a:path>
              </a:pathLst>
            </a:custGeom>
            <a:noFill/>
            <a:ln w="19050">
              <a:solidFill>
                <a:schemeClr val="accent3"/>
              </a:solidFill>
            </a:ln>
          </p:spPr>
        </p:sp>
        <p:sp>
          <p:nvSpPr>
            <p:cNvPr id="6" name="Ellipse 6"/>
            <p:cNvSpPr/>
            <p:nvPr/>
          </p:nvSpPr>
          <p:spPr>
            <a:xfrm>
              <a:off x="1171575" y="2638425"/>
              <a:ext cx="133350" cy="133350"/>
            </a:xfrm>
            <a:prstGeom prst="ellipse">
              <a:avLst/>
            </a:prstGeom>
            <a:solidFill>
              <a:schemeClr val="accent3"/>
            </a:solidFill>
            <a:ln>
              <a:noFill/>
            </a:ln>
          </p:spPr>
        </p:sp>
        <p:sp>
          <p:nvSpPr>
            <p:cNvPr id="7" name="Ellipse 7"/>
            <p:cNvSpPr/>
            <p:nvPr/>
          </p:nvSpPr>
          <p:spPr>
            <a:xfrm>
              <a:off x="5743575" y="2638425"/>
              <a:ext cx="133350" cy="133350"/>
            </a:xfrm>
            <a:prstGeom prst="ellipse">
              <a:avLst/>
            </a:prstGeom>
            <a:solidFill>
              <a:schemeClr val="accent3"/>
            </a:solidFill>
            <a:ln>
              <a:noFill/>
            </a:ln>
          </p:spPr>
        </p:sp>
        <p:sp>
          <p:nvSpPr>
            <p:cNvPr id="8" name="Ellipse 8"/>
            <p:cNvSpPr/>
            <p:nvPr/>
          </p:nvSpPr>
          <p:spPr>
            <a:xfrm>
              <a:off x="10410825" y="2638425"/>
              <a:ext cx="133350" cy="133350"/>
            </a:xfrm>
            <a:prstGeom prst="ellipse">
              <a:avLst/>
            </a:prstGeom>
            <a:solidFill>
              <a:schemeClr val="accent3"/>
            </a:solidFill>
            <a:ln>
              <a:noFill/>
            </a:ln>
          </p:spPr>
        </p:sp>
        <p:sp>
          <p:nvSpPr>
            <p:cNvPr id="9" name="TextBox 9"/>
            <p:cNvSpPr txBox="1"/>
            <p:nvPr/>
          </p:nvSpPr>
          <p:spPr>
            <a:xfrm>
              <a:off x="749808" y="19367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会前</a:t>
              </a:r>
            </a:p>
          </p:txBody>
        </p:sp>
        <p:sp>
          <p:nvSpPr>
            <p:cNvPr id="10" name="TextBox 10"/>
            <p:cNvSpPr txBox="1"/>
            <p:nvPr/>
          </p:nvSpPr>
          <p:spPr>
            <a:xfrm>
              <a:off x="5226558" y="19367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会中</a:t>
              </a:r>
            </a:p>
          </p:txBody>
        </p:sp>
        <p:sp>
          <p:nvSpPr>
            <p:cNvPr id="11" name="TextBox 11"/>
            <p:cNvSpPr txBox="1"/>
            <p:nvPr/>
          </p:nvSpPr>
          <p:spPr>
            <a:xfrm>
              <a:off x="9989058" y="19367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会后</a:t>
              </a:r>
            </a:p>
          </p:txBody>
        </p:sp>
        <p:sp>
          <p:nvSpPr>
            <p:cNvPr id="12" name="TextBox 12"/>
            <p:cNvSpPr txBox="1"/>
            <p:nvPr/>
          </p:nvSpPr>
          <p:spPr>
            <a:xfrm>
              <a:off x="752094" y="29781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调研、检查</a:t>
              </a:r>
            </a:p>
          </p:txBody>
        </p:sp>
        <p:sp>
          <p:nvSpPr>
            <p:cNvPr id="13" name="TextBox 13"/>
            <p:cNvSpPr txBox="1"/>
            <p:nvPr/>
          </p:nvSpPr>
          <p:spPr>
            <a:xfrm>
              <a:off x="4562094" y="29781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审议、依法表决</a:t>
              </a:r>
            </a:p>
          </p:txBody>
        </p:sp>
        <p:sp>
          <p:nvSpPr>
            <p:cNvPr id="14" name="TextBox 14"/>
            <p:cNvSpPr txBox="1"/>
            <p:nvPr/>
          </p:nvSpPr>
          <p:spPr>
            <a:xfrm>
              <a:off x="8753094" y="29781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办理意见、跟踪改进</a:t>
              </a:r>
            </a:p>
          </p:txBody>
        </p:sp>
      </p:grpSp>
      <p:grpSp>
        <p:nvGrpSpPr>
          <p:cNvPr id="21" name="p25-reveal-1"/>
          <p:cNvGrpSpPr/>
          <p:nvPr/>
        </p:nvGrpSpPr>
        <p:grpSpPr>
          <a:xfrm>
            <a:off x="749808" y="4032250"/>
            <a:ext cx="8015478" cy="2165731"/>
            <a:chOff x="749808" y="4032250"/>
            <a:chExt cx="8015478" cy="2165731"/>
          </a:xfrm>
        </p:grpSpPr>
        <p:sp>
          <p:nvSpPr>
            <p:cNvPr id="16" name="TextBox 16"/>
            <p:cNvSpPr txBox="1"/>
            <p:nvPr/>
          </p:nvSpPr>
          <p:spPr>
            <a:xfrm>
              <a:off x="749808" y="4032250"/>
              <a:ext cx="390144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询问与质询，另有不同程序</a:t>
              </a:r>
            </a:p>
          </p:txBody>
        </p:sp>
        <p:sp>
          <p:nvSpPr>
            <p:cNvPr id="17" name="TextBox 17"/>
            <p:cNvSpPr txBox="1"/>
            <p:nvPr/>
          </p:nvSpPr>
          <p:spPr>
            <a:xfrm>
              <a:off x="752094" y="45402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审议时：有关部门应派负责人员到会，听取意见、回答询问</a:t>
              </a:r>
            </a:p>
          </p:txBody>
        </p:sp>
        <p:sp>
          <p:nvSpPr>
            <p:cNvPr id="18" name="TextBox 18"/>
            <p:cNvSpPr txBox="1"/>
            <p:nvPr/>
          </p:nvSpPr>
          <p:spPr>
            <a:xfrm>
              <a:off x="752094" y="494030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质询：代表团或三十名以上代表联名书面提出；依法口头或书面答复</a:t>
              </a:r>
            </a:p>
          </p:txBody>
        </p:sp>
        <p:sp>
          <p:nvSpPr>
            <p:cNvPr id="19" name="TextBox 19"/>
            <p:cNvSpPr txBox="1"/>
            <p:nvPr/>
          </p:nvSpPr>
          <p:spPr>
            <a:xfrm>
              <a:off x="755142" y="5435600"/>
              <a:ext cx="801014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质询对象包括国务院及其部门、国家监委、最高法院、最高检察院；罢免案另有主体、条件及程序。</a:t>
              </a:r>
            </a:p>
          </p:txBody>
        </p:sp>
        <p:sp>
          <p:nvSpPr>
            <p:cNvPr id="20" name="TextBox 20"/>
            <p:cNvSpPr txBox="1"/>
            <p:nvPr/>
          </p:nvSpPr>
          <p:spPr>
            <a:xfrm>
              <a:off x="752094" y="5816600"/>
              <a:ext cx="632002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审查工作报告，不等于替行政机关执法、替法院审案。</a:t>
              </a:r>
            </a:p>
          </p:txBody>
        </p:sp>
      </p:grpSp>
      <p:grpSp>
        <p:nvGrpSpPr>
          <p:cNvPr id="24" name="footer"/>
          <p:cNvGrpSpPr/>
          <p:nvPr/>
        </p:nvGrpSpPr>
        <p:grpSpPr>
          <a:xfrm>
            <a:off x="604266" y="6464300"/>
            <a:ext cx="10828344" cy="205359"/>
            <a:chOff x="604266" y="6464300"/>
            <a:chExt cx="10828344" cy="205359"/>
          </a:xfrm>
        </p:grpSpPr>
        <p:sp>
          <p:nvSpPr>
            <p:cNvPr id="22" name="TextBox 22"/>
            <p:cNvSpPr txBox="1"/>
            <p:nvPr/>
          </p:nvSpPr>
          <p:spPr>
            <a:xfrm>
              <a:off x="604266" y="6464300"/>
              <a:ext cx="623011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全国人大组织法、全国人大议事规则、监督法；监督是一项持续工作，图示不表示各阶段时长相等。</a:t>
              </a:r>
            </a:p>
          </p:txBody>
        </p:sp>
        <p:sp>
          <p:nvSpPr>
            <p:cNvPr id="23" name="TextBox 23"/>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25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两种不同的产生问题</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代表怎么产生，负责人由谁产生</a:t>
              </a:r>
            </a:p>
          </p:txBody>
        </p:sp>
      </p:grpSp>
      <p:grpSp>
        <p:nvGrpSpPr>
          <p:cNvPr id="13" name="election-levels"/>
          <p:cNvGrpSpPr/>
          <p:nvPr/>
        </p:nvGrpSpPr>
        <p:grpSpPr>
          <a:xfrm>
            <a:off x="749808" y="1993900"/>
            <a:ext cx="7769733" cy="2184781"/>
            <a:chOff x="749808" y="1993900"/>
            <a:chExt cx="7769733" cy="2184781"/>
          </a:xfrm>
        </p:grpSpPr>
        <p:sp>
          <p:nvSpPr>
            <p:cNvPr id="5" name="TextBox 5"/>
            <p:cNvSpPr txBox="1"/>
            <p:nvPr/>
          </p:nvSpPr>
          <p:spPr>
            <a:xfrm>
              <a:off x="749808" y="19939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选民直接选举</a:t>
              </a:r>
            </a:p>
          </p:txBody>
        </p:sp>
        <p:sp>
          <p:nvSpPr>
            <p:cNvPr id="6" name="Freeform 6"/>
            <p:cNvSpPr/>
            <p:nvPr/>
          </p:nvSpPr>
          <p:spPr>
            <a:xfrm>
              <a:off x="3124200" y="2095500"/>
              <a:ext cx="1009650" cy="152400"/>
            </a:xfrm>
            <a:custGeom>
              <a:avLst/>
              <a:gdLst/>
              <a:ahLst/>
              <a:cxnLst/>
              <a:rect l="l" t="t" r="r" b="b"/>
              <a:pathLst>
                <a:path w="1009650" h="152400">
                  <a:moveTo>
                    <a:pt x="0" y="76200"/>
                  </a:moveTo>
                  <a:lnTo>
                    <a:pt x="990600" y="76200"/>
                  </a:lnTo>
                  <a:moveTo>
                    <a:pt x="895350" y="0"/>
                  </a:moveTo>
                  <a:lnTo>
                    <a:pt x="1009650" y="76200"/>
                  </a:lnTo>
                  <a:lnTo>
                    <a:pt x="895350" y="152400"/>
                  </a:lnTo>
                </a:path>
              </a:pathLst>
            </a:custGeom>
            <a:noFill/>
            <a:ln w="19050">
              <a:solidFill>
                <a:schemeClr val="accent3"/>
              </a:solidFill>
            </a:ln>
          </p:spPr>
        </p:sp>
        <p:sp>
          <p:nvSpPr>
            <p:cNvPr id="7" name="TextBox 7"/>
            <p:cNvSpPr txBox="1"/>
            <p:nvPr/>
          </p:nvSpPr>
          <p:spPr>
            <a:xfrm>
              <a:off x="4562094" y="2044700"/>
              <a:ext cx="395744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县、自治县、不设区的市、市辖区</a:t>
              </a:r>
            </a:p>
          </p:txBody>
        </p:sp>
        <p:sp>
          <p:nvSpPr>
            <p:cNvPr id="8" name="TextBox 8"/>
            <p:cNvSpPr txBox="1"/>
            <p:nvPr/>
          </p:nvSpPr>
          <p:spPr>
            <a:xfrm>
              <a:off x="4562094" y="24447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乡、民族乡、镇的人大代表</a:t>
              </a:r>
            </a:p>
          </p:txBody>
        </p:sp>
        <p:sp>
          <p:nvSpPr>
            <p:cNvPr id="9" name="TextBox 9"/>
            <p:cNvSpPr txBox="1"/>
            <p:nvPr/>
          </p:nvSpPr>
          <p:spPr>
            <a:xfrm>
              <a:off x="749808" y="33464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下一级人大选举</a:t>
              </a:r>
            </a:p>
          </p:txBody>
        </p:sp>
        <p:sp>
          <p:nvSpPr>
            <p:cNvPr id="10" name="Freeform 10"/>
            <p:cNvSpPr/>
            <p:nvPr/>
          </p:nvSpPr>
          <p:spPr>
            <a:xfrm>
              <a:off x="3429000" y="3448050"/>
              <a:ext cx="704850" cy="152400"/>
            </a:xfrm>
            <a:custGeom>
              <a:avLst/>
              <a:gdLst/>
              <a:ahLst/>
              <a:cxnLst/>
              <a:rect l="l" t="t" r="r" b="b"/>
              <a:pathLst>
                <a:path w="704850" h="152400">
                  <a:moveTo>
                    <a:pt x="0" y="76200"/>
                  </a:moveTo>
                  <a:lnTo>
                    <a:pt x="685800" y="76200"/>
                  </a:lnTo>
                  <a:moveTo>
                    <a:pt x="590550" y="0"/>
                  </a:moveTo>
                  <a:lnTo>
                    <a:pt x="704850" y="76200"/>
                  </a:lnTo>
                  <a:lnTo>
                    <a:pt x="590550" y="152400"/>
                  </a:lnTo>
                </a:path>
              </a:pathLst>
            </a:custGeom>
            <a:noFill/>
            <a:ln w="19050">
              <a:solidFill>
                <a:schemeClr val="accent3"/>
              </a:solidFill>
            </a:ln>
          </p:spPr>
        </p:sp>
        <p:sp>
          <p:nvSpPr>
            <p:cNvPr id="11" name="TextBox 11"/>
            <p:cNvSpPr txBox="1"/>
            <p:nvPr/>
          </p:nvSpPr>
          <p:spPr>
            <a:xfrm>
              <a:off x="4562094" y="33972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省、自治区、直辖市、自治州</a:t>
              </a:r>
            </a:p>
          </p:txBody>
        </p:sp>
        <p:sp>
          <p:nvSpPr>
            <p:cNvPr id="12" name="TextBox 12"/>
            <p:cNvSpPr txBox="1"/>
            <p:nvPr/>
          </p:nvSpPr>
          <p:spPr>
            <a:xfrm>
              <a:off x="4562094" y="379730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设区的市的人大代表</a:t>
              </a:r>
            </a:p>
          </p:txBody>
        </p:sp>
      </p:grpSp>
      <p:grpSp>
        <p:nvGrpSpPr>
          <p:cNvPr id="16" name="p26-reveal-1"/>
          <p:cNvGrpSpPr/>
          <p:nvPr/>
        </p:nvGrpSpPr>
        <p:grpSpPr>
          <a:xfrm>
            <a:off x="752094" y="5168900"/>
            <a:ext cx="7658824" cy="876681"/>
            <a:chOff x="752094" y="5168900"/>
            <a:chExt cx="7658824" cy="876681"/>
          </a:xfrm>
        </p:grpSpPr>
        <p:sp>
          <p:nvSpPr>
            <p:cNvPr id="14" name="TextBox 14"/>
            <p:cNvSpPr txBox="1"/>
            <p:nvPr/>
          </p:nvSpPr>
          <p:spPr>
            <a:xfrm>
              <a:off x="752094" y="5168900"/>
              <a:ext cx="710755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代表的产生，与国家机关负责人的选举、决定，是不同层次。</a:t>
              </a:r>
            </a:p>
          </p:txBody>
        </p:sp>
        <p:sp>
          <p:nvSpPr>
            <p:cNvPr id="15" name="TextBox 15"/>
            <p:cNvSpPr txBox="1"/>
            <p:nvPr/>
          </p:nvSpPr>
          <p:spPr>
            <a:xfrm>
              <a:off x="752094" y="5664200"/>
              <a:ext cx="765882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不能由“选举”两字，推出国家主席、总理都由选民直接投票产生。</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63991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选举法第3条及宪法第62、97条；不同投票主体不否定公民相应选举权利。</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26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199918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上节收束</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性质、职权、关系，各自有根据</a:t>
              </a:r>
            </a:p>
          </p:txBody>
        </p:sp>
      </p:grpSp>
      <p:grpSp>
        <p:nvGrpSpPr>
          <p:cNvPr id="13" name="three-anchors"/>
          <p:cNvGrpSpPr/>
          <p:nvPr/>
        </p:nvGrpSpPr>
        <p:grpSpPr>
          <a:xfrm>
            <a:off x="973836" y="2216150"/>
            <a:ext cx="10303764" cy="2740914"/>
            <a:chOff x="973836" y="2216150"/>
            <a:chExt cx="10303764" cy="2740914"/>
          </a:xfrm>
        </p:grpSpPr>
        <p:sp>
          <p:nvSpPr>
            <p:cNvPr id="5" name="TextBox 5"/>
            <p:cNvSpPr txBox="1"/>
            <p:nvPr/>
          </p:nvSpPr>
          <p:spPr>
            <a:xfrm>
              <a:off x="973836" y="22161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性质</a:t>
              </a:r>
            </a:p>
          </p:txBody>
        </p:sp>
        <p:sp>
          <p:nvSpPr>
            <p:cNvPr id="6" name="TextBox 6"/>
            <p:cNvSpPr txBox="1"/>
            <p:nvPr/>
          </p:nvSpPr>
          <p:spPr>
            <a:xfrm>
              <a:off x="3419094" y="2406650"/>
              <a:ext cx="295991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第57、85条：是什么机关</a:t>
              </a:r>
            </a:p>
          </p:txBody>
        </p:sp>
        <p:sp>
          <p:nvSpPr>
            <p:cNvPr id="7" name="Line 7"/>
            <p:cNvSpPr/>
            <p:nvPr/>
          </p:nvSpPr>
          <p:spPr>
            <a:xfrm>
              <a:off x="990600" y="3009900"/>
              <a:ext cx="10287000" cy="9525"/>
            </a:xfrm>
            <a:custGeom>
              <a:avLst/>
              <a:gdLst/>
              <a:ahLst/>
              <a:cxnLst/>
              <a:rect l="l" t="t" r="r" b="b"/>
              <a:pathLst>
                <a:path w="10287000" h="9525">
                  <a:moveTo>
                    <a:pt x="0" y="0"/>
                  </a:moveTo>
                  <a:lnTo>
                    <a:pt x="10287000" y="0"/>
                  </a:lnTo>
                </a:path>
              </a:pathLst>
            </a:custGeom>
            <a:noFill/>
            <a:ln w="9525">
              <a:solidFill>
                <a:srgbClr val="C7BFB1"/>
              </a:solidFill>
            </a:ln>
          </p:spPr>
        </p:sp>
        <p:sp>
          <p:nvSpPr>
            <p:cNvPr id="8" name="TextBox 8"/>
            <p:cNvSpPr txBox="1"/>
            <p:nvPr/>
          </p:nvSpPr>
          <p:spPr>
            <a:xfrm>
              <a:off x="973836" y="326390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职权</a:t>
              </a:r>
            </a:p>
          </p:txBody>
        </p:sp>
        <p:sp>
          <p:nvSpPr>
            <p:cNvPr id="9" name="TextBox 9"/>
            <p:cNvSpPr txBox="1"/>
            <p:nvPr/>
          </p:nvSpPr>
          <p:spPr>
            <a:xfrm>
              <a:off x="3419094" y="3454400"/>
              <a:ext cx="269740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第62、67条：能做什么</a:t>
              </a:r>
            </a:p>
          </p:txBody>
        </p:sp>
        <p:sp>
          <p:nvSpPr>
            <p:cNvPr id="10" name="Line 10"/>
            <p:cNvSpPr/>
            <p:nvPr/>
          </p:nvSpPr>
          <p:spPr>
            <a:xfrm>
              <a:off x="990600" y="4057650"/>
              <a:ext cx="10287000" cy="9525"/>
            </a:xfrm>
            <a:custGeom>
              <a:avLst/>
              <a:gdLst/>
              <a:ahLst/>
              <a:cxnLst/>
              <a:rect l="l" t="t" r="r" b="b"/>
              <a:pathLst>
                <a:path w="10287000" h="9525">
                  <a:moveTo>
                    <a:pt x="0" y="0"/>
                  </a:moveTo>
                  <a:lnTo>
                    <a:pt x="10287000" y="0"/>
                  </a:lnTo>
                </a:path>
              </a:pathLst>
            </a:custGeom>
            <a:noFill/>
            <a:ln w="9525">
              <a:solidFill>
                <a:srgbClr val="C7BFB1"/>
              </a:solidFill>
            </a:ln>
          </p:spPr>
        </p:sp>
        <p:sp>
          <p:nvSpPr>
            <p:cNvPr id="11" name="TextBox 11"/>
            <p:cNvSpPr txBox="1"/>
            <p:nvPr/>
          </p:nvSpPr>
          <p:spPr>
            <a:xfrm>
              <a:off x="973836" y="4311650"/>
              <a:ext cx="97231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关系</a:t>
              </a:r>
            </a:p>
          </p:txBody>
        </p:sp>
        <p:sp>
          <p:nvSpPr>
            <p:cNvPr id="12" name="TextBox 12"/>
            <p:cNvSpPr txBox="1"/>
            <p:nvPr/>
          </p:nvSpPr>
          <p:spPr>
            <a:xfrm>
              <a:off x="3419094" y="4502150"/>
              <a:ext cx="40887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第69、92、133、138条：对谁负责</a:t>
              </a:r>
            </a:p>
          </p:txBody>
        </p:sp>
      </p:grpSp>
      <p:sp>
        <p:nvSpPr>
          <p:cNvPr id="14" name="TextBox 14"/>
          <p:cNvSpPr txBox="1"/>
          <p:nvPr/>
        </p:nvSpPr>
        <p:spPr>
          <a:xfrm>
            <a:off x="980694" y="5683250"/>
            <a:ext cx="579501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下节换主体，仍用这三个问题读具体条文和工作。</a:t>
            </a:r>
          </a:p>
        </p:txBody>
      </p:sp>
      <p:grpSp>
        <p:nvGrpSpPr>
          <p:cNvPr id="17" name="footer"/>
          <p:cNvGrpSpPr/>
          <p:nvPr/>
        </p:nvGrpSpPr>
        <p:grpSpPr>
          <a:xfrm>
            <a:off x="604266" y="6464300"/>
            <a:ext cx="10828344" cy="205359"/>
            <a:chOff x="604266" y="6464300"/>
            <a:chExt cx="10828344" cy="205359"/>
          </a:xfrm>
        </p:grpSpPr>
        <p:sp>
          <p:nvSpPr>
            <p:cNvPr id="15" name="TextBox 15"/>
            <p:cNvSpPr txBox="1"/>
            <p:nvPr/>
          </p:nvSpPr>
          <p:spPr>
            <a:xfrm>
              <a:off x="604266" y="6464300"/>
              <a:ext cx="425119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上节归纳；条文分别承担具体问题，不从单一地位标签推全部制度。</a:t>
              </a:r>
            </a:p>
          </p:txBody>
        </p:sp>
        <p:sp>
          <p:nvSpPr>
            <p:cNvPr id="16" name="TextBox 16"/>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27 / 53</a:t>
              </a:r>
            </a:p>
          </p:txBody>
        </p:sp>
      </p:grpSp>
    </p:spTree>
  </p:cSld>
  <p:clrMapOvr>
    <a:masterClrMapping/>
  </p:clrMapOvr>
  <p:transition xmlns:p14="http://schemas.microsoft.com/office/powerpoint/2010/main" p14:dur="3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下节：先看国家主席</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任期、连续届数、选举，分别理解</a:t>
              </a:r>
            </a:p>
          </p:txBody>
        </p:sp>
      </p:grpSp>
      <p:grpSp>
        <p:nvGrpSpPr>
          <p:cNvPr id="12" name="term-dimensions"/>
          <p:cNvGrpSpPr/>
          <p:nvPr/>
        </p:nvGrpSpPr>
        <p:grpSpPr>
          <a:xfrm>
            <a:off x="742950" y="1943100"/>
            <a:ext cx="9563100" cy="2152650"/>
            <a:chOff x="742950" y="1943100"/>
            <a:chExt cx="9563100" cy="2152650"/>
          </a:xfrm>
        </p:grpSpPr>
        <p:sp>
          <p:nvSpPr>
            <p:cNvPr id="5" name="TextBox 5"/>
            <p:cNvSpPr txBox="1"/>
            <p:nvPr/>
          </p:nvSpPr>
          <p:spPr>
            <a:xfrm>
              <a:off x="755142" y="2139950"/>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每届任期</a:t>
              </a:r>
            </a:p>
          </p:txBody>
        </p:sp>
        <p:sp>
          <p:nvSpPr>
            <p:cNvPr id="6" name="TextBox 6"/>
            <p:cNvSpPr txBox="1"/>
            <p:nvPr/>
          </p:nvSpPr>
          <p:spPr>
            <a:xfrm>
              <a:off x="742950" y="2508250"/>
              <a:ext cx="1574292"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五年</a:t>
              </a:r>
            </a:p>
          </p:txBody>
        </p:sp>
        <p:sp>
          <p:nvSpPr>
            <p:cNvPr id="7" name="TextBox 7"/>
            <p:cNvSpPr txBox="1"/>
            <p:nvPr/>
          </p:nvSpPr>
          <p:spPr>
            <a:xfrm>
              <a:off x="752094" y="35115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同全国人大每届任期相同</a:t>
              </a:r>
            </a:p>
          </p:txBody>
        </p:sp>
        <p:sp>
          <p:nvSpPr>
            <p:cNvPr id="8" name="Line 8"/>
            <p:cNvSpPr/>
            <p:nvPr/>
          </p:nvSpPr>
          <p:spPr>
            <a:xfrm>
              <a:off x="5238750" y="1943100"/>
              <a:ext cx="9525" cy="2152650"/>
            </a:xfrm>
            <a:custGeom>
              <a:avLst/>
              <a:gdLst/>
              <a:ahLst/>
              <a:cxnLst/>
              <a:rect l="l" t="t" r="r" b="b"/>
              <a:pathLst>
                <a:path w="9525" h="2152650">
                  <a:moveTo>
                    <a:pt x="0" y="0"/>
                  </a:moveTo>
                  <a:lnTo>
                    <a:pt x="0" y="2152650"/>
                  </a:lnTo>
                </a:path>
              </a:pathLst>
            </a:custGeom>
            <a:noFill/>
            <a:ln w="9525">
              <a:solidFill>
                <a:srgbClr val="C7BFB1"/>
              </a:solidFill>
            </a:ln>
          </p:spPr>
        </p:sp>
        <p:sp>
          <p:nvSpPr>
            <p:cNvPr id="9" name="TextBox 9"/>
            <p:cNvSpPr txBox="1"/>
            <p:nvPr/>
          </p:nvSpPr>
          <p:spPr>
            <a:xfrm>
              <a:off x="6089142" y="213995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连续任职届数</a:t>
              </a:r>
            </a:p>
          </p:txBody>
        </p:sp>
        <p:sp>
          <p:nvSpPr>
            <p:cNvPr id="10" name="TextBox 10"/>
            <p:cNvSpPr txBox="1"/>
            <p:nvPr/>
          </p:nvSpPr>
          <p:spPr>
            <a:xfrm>
              <a:off x="6083046" y="2654300"/>
              <a:ext cx="408828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2018年删除连续两届上限</a:t>
              </a:r>
            </a:p>
          </p:txBody>
        </p:sp>
        <p:sp>
          <p:nvSpPr>
            <p:cNvPr id="11" name="TextBox 11"/>
            <p:cNvSpPr txBox="1"/>
            <p:nvPr/>
          </p:nvSpPr>
          <p:spPr>
            <a:xfrm>
              <a:off x="6086094" y="3321050"/>
              <a:ext cx="421995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没有删除每届任期、选举与依法罢免</a:t>
              </a:r>
            </a:p>
          </p:txBody>
        </p:sp>
      </p:grpSp>
      <p:grpSp>
        <p:nvGrpSpPr>
          <p:cNvPr id="16" name="p28-reveal-1"/>
          <p:cNvGrpSpPr/>
          <p:nvPr/>
        </p:nvGrpSpPr>
        <p:grpSpPr>
          <a:xfrm>
            <a:off x="752094" y="4845050"/>
            <a:ext cx="7122681" cy="1254633"/>
            <a:chOff x="752094" y="4845050"/>
            <a:chExt cx="7122681" cy="1254633"/>
          </a:xfrm>
        </p:grpSpPr>
        <p:sp>
          <p:nvSpPr>
            <p:cNvPr id="13" name="TextBox 13"/>
            <p:cNvSpPr txBox="1"/>
            <p:nvPr/>
          </p:nvSpPr>
          <p:spPr>
            <a:xfrm>
              <a:off x="752094" y="48450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主席、副主席由全国人大选举。</a:t>
              </a:r>
            </a:p>
          </p:txBody>
        </p:sp>
        <p:sp>
          <p:nvSpPr>
            <p:cNvPr id="14" name="TextBox 14"/>
            <p:cNvSpPr txBox="1"/>
            <p:nvPr/>
          </p:nvSpPr>
          <p:spPr>
            <a:xfrm>
              <a:off x="752094" y="5245100"/>
              <a:ext cx="634627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资格：年满45周岁、有选举权和被选举权的中国公民。</a:t>
              </a:r>
            </a:p>
          </p:txBody>
        </p:sp>
        <p:sp>
          <p:nvSpPr>
            <p:cNvPr id="15" name="TextBox 15"/>
            <p:cNvSpPr txBox="1"/>
            <p:nvPr/>
          </p:nvSpPr>
          <p:spPr>
            <a:xfrm>
              <a:off x="755142" y="5835650"/>
              <a:ext cx="711963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副主席协助主席工作，受主席委托可代行部分职权；不能从日常“最高”称谓推所有权限。</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632905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宪法第60、62、63、79、82条及2018年修正；连续届数限制与每届任期、选举和依法罢免分别理解。</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28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543800" cy="918464"/>
            <a:chOff x="592836" y="438150"/>
            <a:chExt cx="7543800" cy="918464"/>
          </a:xfrm>
        </p:grpSpPr>
        <p:sp>
          <p:nvSpPr>
            <p:cNvPr id="2" name="TextBox 2"/>
            <p:cNvSpPr txBox="1"/>
            <p:nvPr/>
          </p:nvSpPr>
          <p:spPr>
            <a:xfrm>
              <a:off x="603504" y="438150"/>
              <a:ext cx="300075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第80、81条的不同前提</a:t>
              </a:r>
            </a:p>
          </p:txBody>
        </p:sp>
        <p:sp>
          <p:nvSpPr>
            <p:cNvPr id="3" name="TextBox 3"/>
            <p:cNvSpPr txBox="1"/>
            <p:nvPr/>
          </p:nvSpPr>
          <p:spPr>
            <a:xfrm>
              <a:off x="592836" y="711200"/>
              <a:ext cx="7543800"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主席的不同职权，不能共用一套程序</a:t>
              </a:r>
            </a:p>
          </p:txBody>
        </p:sp>
      </p:grpSp>
      <p:grpSp>
        <p:nvGrpSpPr>
          <p:cNvPr id="15" name="president-acts"/>
          <p:cNvGrpSpPr/>
          <p:nvPr/>
        </p:nvGrpSpPr>
        <p:grpSpPr>
          <a:xfrm>
            <a:off x="749808" y="1917700"/>
            <a:ext cx="9530715" cy="2638933"/>
            <a:chOff x="749808" y="1917700"/>
            <a:chExt cx="9530715" cy="2638933"/>
          </a:xfrm>
        </p:grpSpPr>
        <p:sp>
          <p:nvSpPr>
            <p:cNvPr id="5" name="TextBox 5"/>
            <p:cNvSpPr txBox="1"/>
            <p:nvPr/>
          </p:nvSpPr>
          <p:spPr>
            <a:xfrm>
              <a:off x="749808" y="191770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提出人选</a:t>
              </a:r>
            </a:p>
          </p:txBody>
        </p:sp>
        <p:sp>
          <p:nvSpPr>
            <p:cNvPr id="6" name="TextBox 6"/>
            <p:cNvSpPr txBox="1"/>
            <p:nvPr/>
          </p:nvSpPr>
          <p:spPr>
            <a:xfrm>
              <a:off x="752094" y="24638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国家主席提名总理人选</a:t>
              </a:r>
            </a:p>
          </p:txBody>
        </p:sp>
        <p:sp>
          <p:nvSpPr>
            <p:cNvPr id="7" name="TextBox 7"/>
            <p:cNvSpPr txBox="1"/>
            <p:nvPr/>
          </p:nvSpPr>
          <p:spPr>
            <a:xfrm>
              <a:off x="749808" y="32702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代表国家</a:t>
              </a:r>
            </a:p>
          </p:txBody>
        </p:sp>
        <p:sp>
          <p:nvSpPr>
            <p:cNvPr id="8" name="TextBox 8"/>
            <p:cNvSpPr txBox="1"/>
            <p:nvPr/>
          </p:nvSpPr>
          <p:spPr>
            <a:xfrm>
              <a:off x="752094" y="381635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进行国事活动、接受外国使节</a:t>
              </a:r>
            </a:p>
          </p:txBody>
        </p:sp>
        <p:sp>
          <p:nvSpPr>
            <p:cNvPr id="9" name="TextBox 9"/>
            <p:cNvSpPr txBox="1"/>
            <p:nvPr/>
          </p:nvSpPr>
          <p:spPr>
            <a:xfrm>
              <a:off x="755142" y="4292600"/>
              <a:ext cx="33031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第81条直接规定，不一概前置人大决定。</a:t>
              </a:r>
            </a:p>
          </p:txBody>
        </p:sp>
        <p:sp>
          <p:nvSpPr>
            <p:cNvPr id="10" name="TextBox 10"/>
            <p:cNvSpPr txBox="1"/>
            <p:nvPr/>
          </p:nvSpPr>
          <p:spPr>
            <a:xfrm>
              <a:off x="6845808" y="1917700"/>
              <a:ext cx="260908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根据有关决定行权</a:t>
              </a:r>
            </a:p>
          </p:txBody>
        </p:sp>
        <p:sp>
          <p:nvSpPr>
            <p:cNvPr id="11" name="TextBox 11"/>
            <p:cNvSpPr txBox="1"/>
            <p:nvPr/>
          </p:nvSpPr>
          <p:spPr>
            <a:xfrm>
              <a:off x="6848094" y="24638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公布法律、发布特赦令等命令</a:t>
              </a:r>
            </a:p>
          </p:txBody>
        </p:sp>
        <p:sp>
          <p:nvSpPr>
            <p:cNvPr id="12" name="TextBox 12"/>
            <p:cNvSpPr txBox="1"/>
            <p:nvPr/>
          </p:nvSpPr>
          <p:spPr>
            <a:xfrm>
              <a:off x="6848094" y="290195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依法任免国务院组成人员</a:t>
              </a:r>
            </a:p>
          </p:txBody>
        </p:sp>
        <p:sp>
          <p:nvSpPr>
            <p:cNvPr id="13" name="TextBox 13"/>
            <p:cNvSpPr txBox="1"/>
            <p:nvPr/>
          </p:nvSpPr>
          <p:spPr>
            <a:xfrm>
              <a:off x="6848094" y="3340100"/>
              <a:ext cx="290741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授予国家勋章与荣誉称号</a:t>
              </a:r>
            </a:p>
          </p:txBody>
        </p:sp>
        <p:sp>
          <p:nvSpPr>
            <p:cNvPr id="14" name="TextBox 14"/>
            <p:cNvSpPr txBox="1"/>
            <p:nvPr/>
          </p:nvSpPr>
          <p:spPr>
            <a:xfrm>
              <a:off x="6851142" y="3854450"/>
              <a:ext cx="273977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依全国人大或常委会的相应决定。</a:t>
              </a:r>
            </a:p>
          </p:txBody>
        </p:sp>
      </p:grpSp>
      <p:grpSp>
        <p:nvGrpSpPr>
          <p:cNvPr id="19" name="p29-reveal-1"/>
          <p:cNvGrpSpPr/>
          <p:nvPr/>
        </p:nvGrpSpPr>
        <p:grpSpPr>
          <a:xfrm>
            <a:off x="752094" y="5054600"/>
            <a:ext cx="8157591" cy="1178433"/>
            <a:chOff x="752094" y="5054600"/>
            <a:chExt cx="8157591" cy="1178433"/>
          </a:xfrm>
        </p:grpSpPr>
        <p:sp>
          <p:nvSpPr>
            <p:cNvPr id="16" name="TextBox 16"/>
            <p:cNvSpPr txBox="1"/>
            <p:nvPr/>
          </p:nvSpPr>
          <p:spPr>
            <a:xfrm>
              <a:off x="752094" y="5054600"/>
              <a:ext cx="553250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下列外事行为，须根据全国人大常委会的决定：</a:t>
              </a:r>
            </a:p>
          </p:txBody>
        </p:sp>
        <p:sp>
          <p:nvSpPr>
            <p:cNvPr id="17" name="TextBox 17"/>
            <p:cNvSpPr txBox="1"/>
            <p:nvPr/>
          </p:nvSpPr>
          <p:spPr>
            <a:xfrm>
              <a:off x="752094" y="549275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派遣、召回驻外全权代表；批准、废除同外国缔结的条约和重要协定。</a:t>
              </a:r>
            </a:p>
          </p:txBody>
        </p:sp>
        <p:sp>
          <p:nvSpPr>
            <p:cNvPr id="18" name="TextBox 18"/>
            <p:cNvSpPr txBox="1"/>
            <p:nvPr/>
          </p:nvSpPr>
          <p:spPr>
            <a:xfrm>
              <a:off x="755142" y="5969000"/>
              <a:ext cx="657442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先辨具体动作，再找其依据和决定主体；不能把“其他外事”一概归入同一种程序。</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415225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宪法第62、80、81条；工作分组为课堂读法，不是新增权限类别。</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29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中央军事委员会</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军委领导的，是全国武装力量</a:t>
              </a:r>
            </a:p>
          </p:txBody>
        </p:sp>
      </p:grpSp>
      <p:grpSp>
        <p:nvGrpSpPr>
          <p:cNvPr id="15" name="armed-forces"/>
          <p:cNvGrpSpPr/>
          <p:nvPr/>
        </p:nvGrpSpPr>
        <p:grpSpPr>
          <a:xfrm>
            <a:off x="749046" y="1879600"/>
            <a:ext cx="9920478" cy="2429383"/>
            <a:chOff x="749046" y="1879600"/>
            <a:chExt cx="9920478" cy="2429383"/>
          </a:xfrm>
        </p:grpSpPr>
        <p:sp>
          <p:nvSpPr>
            <p:cNvPr id="5" name="TextBox 5"/>
            <p:cNvSpPr txBox="1"/>
            <p:nvPr/>
          </p:nvSpPr>
          <p:spPr>
            <a:xfrm>
              <a:off x="749046" y="187960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国家中央军事委员会</a:t>
              </a:r>
            </a:p>
          </p:txBody>
        </p:sp>
        <p:sp>
          <p:nvSpPr>
            <p:cNvPr id="6" name="TextBox 6"/>
            <p:cNvSpPr txBox="1"/>
            <p:nvPr/>
          </p:nvSpPr>
          <p:spPr>
            <a:xfrm>
              <a:off x="752094" y="24066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最高军事指挥机关</a:t>
              </a:r>
            </a:p>
          </p:txBody>
        </p:sp>
        <p:sp>
          <p:nvSpPr>
            <p:cNvPr id="7" name="Freeform 7"/>
            <p:cNvSpPr/>
            <p:nvPr/>
          </p:nvSpPr>
          <p:spPr>
            <a:xfrm>
              <a:off x="3619500" y="2305050"/>
              <a:ext cx="1885950" cy="152400"/>
            </a:xfrm>
            <a:custGeom>
              <a:avLst/>
              <a:gdLst/>
              <a:ahLst/>
              <a:cxnLst/>
              <a:rect l="l" t="t" r="r" b="b"/>
              <a:pathLst>
                <a:path w="1885950" h="152400">
                  <a:moveTo>
                    <a:pt x="0" y="76200"/>
                  </a:moveTo>
                  <a:lnTo>
                    <a:pt x="1866900" y="76200"/>
                  </a:lnTo>
                  <a:moveTo>
                    <a:pt x="1771650" y="0"/>
                  </a:moveTo>
                  <a:lnTo>
                    <a:pt x="1885950" y="76200"/>
                  </a:lnTo>
                  <a:lnTo>
                    <a:pt x="1771650" y="152400"/>
                  </a:lnTo>
                </a:path>
              </a:pathLst>
            </a:custGeom>
            <a:noFill/>
            <a:ln w="19050">
              <a:solidFill>
                <a:schemeClr val="accent3"/>
              </a:solidFill>
            </a:ln>
          </p:spPr>
        </p:sp>
        <p:sp>
          <p:nvSpPr>
            <p:cNvPr id="8" name="TextBox 8"/>
            <p:cNvSpPr txBox="1"/>
            <p:nvPr/>
          </p:nvSpPr>
          <p:spPr>
            <a:xfrm>
              <a:off x="4088892" y="1968500"/>
              <a:ext cx="37719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领导</a:t>
              </a:r>
            </a:p>
          </p:txBody>
        </p:sp>
        <p:sp>
          <p:nvSpPr>
            <p:cNvPr id="9" name="TextBox 9"/>
            <p:cNvSpPr txBox="1"/>
            <p:nvPr/>
          </p:nvSpPr>
          <p:spPr>
            <a:xfrm>
              <a:off x="6063996" y="19939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全国武装力量</a:t>
              </a:r>
            </a:p>
          </p:txBody>
        </p:sp>
        <p:sp>
          <p:nvSpPr>
            <p:cNvPr id="10" name="Freeform 10"/>
            <p:cNvSpPr/>
            <p:nvPr/>
          </p:nvSpPr>
          <p:spPr>
            <a:xfrm>
              <a:off x="6096000" y="2590800"/>
              <a:ext cx="4381500" cy="685800"/>
            </a:xfrm>
            <a:custGeom>
              <a:avLst/>
              <a:gdLst/>
              <a:ahLst/>
              <a:cxnLst/>
              <a:rect l="l" t="t" r="r" b="b"/>
              <a:pathLst>
                <a:path w="4381500" h="685800">
                  <a:moveTo>
                    <a:pt x="1333500" y="0"/>
                  </a:moveTo>
                  <a:lnTo>
                    <a:pt x="1333500" y="400050"/>
                  </a:lnTo>
                  <a:lnTo>
                    <a:pt x="0" y="400050"/>
                  </a:lnTo>
                  <a:lnTo>
                    <a:pt x="0" y="685800"/>
                  </a:lnTo>
                  <a:moveTo>
                    <a:pt x="1333500" y="400050"/>
                  </a:moveTo>
                  <a:lnTo>
                    <a:pt x="4381500" y="400050"/>
                  </a:lnTo>
                  <a:lnTo>
                    <a:pt x="4381500" y="685800"/>
                  </a:lnTo>
                  <a:moveTo>
                    <a:pt x="2190750" y="400050"/>
                  </a:moveTo>
                  <a:lnTo>
                    <a:pt x="2190750" y="685800"/>
                  </a:lnTo>
                </a:path>
              </a:pathLst>
            </a:custGeom>
            <a:noFill/>
            <a:ln w="19050">
              <a:solidFill>
                <a:schemeClr val="accent3"/>
              </a:solidFill>
            </a:ln>
          </p:spPr>
        </p:sp>
        <p:sp>
          <p:nvSpPr>
            <p:cNvPr id="11" name="TextBox 11"/>
            <p:cNvSpPr txBox="1"/>
            <p:nvPr/>
          </p:nvSpPr>
          <p:spPr>
            <a:xfrm>
              <a:off x="5419344" y="3397250"/>
              <a:ext cx="80733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解放军</a:t>
              </a:r>
            </a:p>
          </p:txBody>
        </p:sp>
        <p:sp>
          <p:nvSpPr>
            <p:cNvPr id="12" name="TextBox 12"/>
            <p:cNvSpPr txBox="1"/>
            <p:nvPr/>
          </p:nvSpPr>
          <p:spPr>
            <a:xfrm>
              <a:off x="7781544" y="33972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武警部队</a:t>
              </a:r>
            </a:p>
          </p:txBody>
        </p:sp>
        <p:sp>
          <p:nvSpPr>
            <p:cNvPr id="13" name="TextBox 13"/>
            <p:cNvSpPr txBox="1"/>
            <p:nvPr/>
          </p:nvSpPr>
          <p:spPr>
            <a:xfrm>
              <a:off x="10124694" y="33972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民兵</a:t>
              </a:r>
            </a:p>
          </p:txBody>
        </p:sp>
        <p:sp>
          <p:nvSpPr>
            <p:cNvPr id="14" name="TextBox 14"/>
            <p:cNvSpPr txBox="1"/>
            <p:nvPr/>
          </p:nvSpPr>
          <p:spPr>
            <a:xfrm>
              <a:off x="5136642" y="4044950"/>
              <a:ext cx="2012823"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含现役部队、预备役部队</a:t>
              </a:r>
            </a:p>
          </p:txBody>
        </p:sp>
      </p:grpSp>
      <p:grpSp>
        <p:nvGrpSpPr>
          <p:cNvPr id="19" name="p30-reveal-1"/>
          <p:cNvGrpSpPr/>
          <p:nvPr/>
        </p:nvGrpSpPr>
        <p:grpSpPr>
          <a:xfrm>
            <a:off x="752094" y="5073650"/>
            <a:ext cx="7831455" cy="1178433"/>
            <a:chOff x="752094" y="5073650"/>
            <a:chExt cx="7831455" cy="1178433"/>
          </a:xfrm>
        </p:grpSpPr>
        <p:sp>
          <p:nvSpPr>
            <p:cNvPr id="16" name="TextBox 16"/>
            <p:cNvSpPr txBox="1"/>
            <p:nvPr/>
          </p:nvSpPr>
          <p:spPr>
            <a:xfrm>
              <a:off x="752094" y="507365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国务院领导和管理国防建设事业，是行政管理职责。</a:t>
              </a:r>
            </a:p>
          </p:txBody>
        </p:sp>
        <p:sp>
          <p:nvSpPr>
            <p:cNvPr id="17" name="TextBox 17"/>
            <p:cNvSpPr txBox="1"/>
            <p:nvPr/>
          </p:nvSpPr>
          <p:spPr>
            <a:xfrm>
              <a:off x="752094" y="5530850"/>
              <a:ext cx="605751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都涉及国防，不等于军事领导与行政管理权限互换。</a:t>
              </a:r>
            </a:p>
          </p:txBody>
        </p:sp>
        <p:sp>
          <p:nvSpPr>
            <p:cNvPr id="18" name="TextBox 18"/>
            <p:cNvSpPr txBox="1"/>
            <p:nvPr/>
          </p:nvSpPr>
          <p:spPr>
            <a:xfrm>
              <a:off x="755142" y="5988050"/>
              <a:ext cx="782840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教材说明国家军委与党中央军委组成人员、领导机构相同；组织身份不同，本讲简称指国家军委。</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579899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宪法第93条、国防法第14—17、22条；图示区分武装力量的总类与子类，不反映各部分规模。</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30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000756"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第93、94条的责任主语</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参加讨论，与由谁负责，不相同</a:t>
              </a:r>
            </a:p>
          </p:txBody>
        </p:sp>
      </p:grpSp>
      <p:grpSp>
        <p:nvGrpSpPr>
          <p:cNvPr id="10" name="chair-responsibility"/>
          <p:cNvGrpSpPr/>
          <p:nvPr/>
        </p:nvGrpSpPr>
        <p:grpSpPr>
          <a:xfrm>
            <a:off x="749046" y="2038350"/>
            <a:ext cx="8938260" cy="2000250"/>
            <a:chOff x="749046" y="2038350"/>
            <a:chExt cx="8938260" cy="2000250"/>
          </a:xfrm>
        </p:grpSpPr>
        <p:sp>
          <p:nvSpPr>
            <p:cNvPr id="5" name="TextBox 5"/>
            <p:cNvSpPr txBox="1"/>
            <p:nvPr/>
          </p:nvSpPr>
          <p:spPr>
            <a:xfrm>
              <a:off x="749046" y="2241550"/>
              <a:ext cx="329031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委员会讨论重大问题</a:t>
              </a:r>
            </a:p>
          </p:txBody>
        </p:sp>
        <p:sp>
          <p:nvSpPr>
            <p:cNvPr id="6" name="TextBox 6"/>
            <p:cNvSpPr txBox="1"/>
            <p:nvPr/>
          </p:nvSpPr>
          <p:spPr>
            <a:xfrm>
              <a:off x="752094" y="28257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组织形式与讨论程序</a:t>
              </a:r>
            </a:p>
          </p:txBody>
        </p:sp>
        <p:sp>
          <p:nvSpPr>
            <p:cNvPr id="7" name="Line 7"/>
            <p:cNvSpPr/>
            <p:nvPr/>
          </p:nvSpPr>
          <p:spPr>
            <a:xfrm>
              <a:off x="6000750" y="2038350"/>
              <a:ext cx="9525" cy="2000250"/>
            </a:xfrm>
            <a:custGeom>
              <a:avLst/>
              <a:gdLst/>
              <a:ahLst/>
              <a:cxnLst/>
              <a:rect l="l" t="t" r="r" b="b"/>
              <a:pathLst>
                <a:path w="9525" h="2000250">
                  <a:moveTo>
                    <a:pt x="0" y="0"/>
                  </a:moveTo>
                  <a:lnTo>
                    <a:pt x="0" y="2000250"/>
                  </a:lnTo>
                </a:path>
              </a:pathLst>
            </a:custGeom>
            <a:noFill/>
            <a:ln w="9525">
              <a:solidFill>
                <a:srgbClr val="C7BFB1"/>
              </a:solidFill>
            </a:ln>
          </p:spPr>
        </p:sp>
        <p:sp>
          <p:nvSpPr>
            <p:cNvPr id="8" name="TextBox 8"/>
            <p:cNvSpPr txBox="1"/>
            <p:nvPr/>
          </p:nvSpPr>
          <p:spPr>
            <a:xfrm>
              <a:off x="6940296" y="22415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军委主席负责制</a:t>
              </a:r>
            </a:p>
          </p:txBody>
        </p:sp>
        <p:sp>
          <p:nvSpPr>
            <p:cNvPr id="9" name="TextBox 9"/>
            <p:cNvSpPr txBox="1"/>
            <p:nvPr/>
          </p:nvSpPr>
          <p:spPr>
            <a:xfrm>
              <a:off x="6943344" y="2724150"/>
              <a:ext cx="2743962" cy="838581"/>
            </a:xfrm>
            <a:prstGeom prst="rect">
              <a:avLst/>
            </a:prstGeom>
            <a:noFill/>
            <a:ln>
              <a:noFill/>
            </a:ln>
          </p:spPr>
          <p:txBody>
            <a:bodyPr wrap="none" lIns="0" tIns="0" rIns="0" bIns="0" anchor="t" anchorCtr="0">
              <a:spAutoFit/>
            </a:bodyPr>
            <a:lstStyle/>
            <a:p>
              <a:pPr algn="l">
                <a:lnSpc>
                  <a:spcPts val="3600"/>
                </a:lnSpc>
              </a:pPr>
              <a:r>
                <a:rPr lang="zh-CN" sz="1950" dirty="0">
                  <a:solidFill>
                    <a:schemeClr val="accent1"/>
                  </a:solidFill>
                  <a:latin typeface="+mn-lt"/>
                  <a:ea typeface="+mn-ea"/>
                  <a:cs typeface="+mn-cs"/>
                </a:rPr>
                <a:t>主席负责全面工作</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对重大问题作出决策决定</a:t>
              </a:r>
            </a:p>
          </p:txBody>
        </p:sp>
      </p:grpSp>
      <p:grpSp>
        <p:nvGrpSpPr>
          <p:cNvPr id="16" name="p31-reveal-1"/>
          <p:cNvGrpSpPr/>
          <p:nvPr/>
        </p:nvGrpSpPr>
        <p:grpSpPr>
          <a:xfrm>
            <a:off x="749808" y="4768850"/>
            <a:ext cx="8696706" cy="1219581"/>
            <a:chOff x="749808" y="4768850"/>
            <a:chExt cx="8696706" cy="1219581"/>
          </a:xfrm>
        </p:grpSpPr>
        <p:sp>
          <p:nvSpPr>
            <p:cNvPr id="11" name="TextBox 11"/>
            <p:cNvSpPr txBox="1"/>
            <p:nvPr/>
          </p:nvSpPr>
          <p:spPr>
            <a:xfrm>
              <a:off x="749808" y="494665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中央军事委员会主席</a:t>
              </a:r>
            </a:p>
          </p:txBody>
        </p:sp>
        <p:sp>
          <p:nvSpPr>
            <p:cNvPr id="12" name="Freeform 12"/>
            <p:cNvSpPr/>
            <p:nvPr/>
          </p:nvSpPr>
          <p:spPr>
            <a:xfrm>
              <a:off x="4286250" y="5067300"/>
              <a:ext cx="1543050" cy="152400"/>
            </a:xfrm>
            <a:custGeom>
              <a:avLst/>
              <a:gdLst/>
              <a:ahLst/>
              <a:cxnLst/>
              <a:rect l="l" t="t" r="r" b="b"/>
              <a:pathLst>
                <a:path w="1543050" h="152400">
                  <a:moveTo>
                    <a:pt x="0" y="76200"/>
                  </a:moveTo>
                  <a:lnTo>
                    <a:pt x="1524000" y="76200"/>
                  </a:lnTo>
                  <a:moveTo>
                    <a:pt x="1428750" y="0"/>
                  </a:moveTo>
                  <a:lnTo>
                    <a:pt x="1543050" y="76200"/>
                  </a:lnTo>
                  <a:lnTo>
                    <a:pt x="1428750" y="152400"/>
                  </a:lnTo>
                </a:path>
              </a:pathLst>
            </a:custGeom>
            <a:noFill/>
            <a:ln w="19050">
              <a:solidFill>
                <a:schemeClr val="accent2"/>
              </a:solidFill>
            </a:ln>
          </p:spPr>
        </p:sp>
        <p:sp>
          <p:nvSpPr>
            <p:cNvPr id="13" name="TextBox 13"/>
            <p:cNvSpPr txBox="1"/>
            <p:nvPr/>
          </p:nvSpPr>
          <p:spPr>
            <a:xfrm>
              <a:off x="4736592" y="4768850"/>
              <a:ext cx="37719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负责</a:t>
              </a:r>
            </a:p>
          </p:txBody>
        </p:sp>
        <p:sp>
          <p:nvSpPr>
            <p:cNvPr id="14" name="TextBox 14"/>
            <p:cNvSpPr txBox="1"/>
            <p:nvPr/>
          </p:nvSpPr>
          <p:spPr>
            <a:xfrm>
              <a:off x="6276594" y="49974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全国人大、全国人大常委会</a:t>
              </a:r>
            </a:p>
          </p:txBody>
        </p:sp>
        <p:sp>
          <p:nvSpPr>
            <p:cNvPr id="15" name="TextBox 15"/>
            <p:cNvSpPr txBox="1"/>
            <p:nvPr/>
          </p:nvSpPr>
          <p:spPr>
            <a:xfrm>
              <a:off x="752094" y="56070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多人参与讨论，不表示主席的统一指挥与决策责任被分散。</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683792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宪法第93、94条及主席负责制公开制度阐释；委员会讨论不改变主席负责，第94条未规定军委集体报告工作。</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31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国务院的代表性工作</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行政管理，仍须明确权限来源</a:t>
              </a:r>
            </a:p>
          </p:txBody>
        </p:sp>
      </p:grpSp>
      <p:grpSp>
        <p:nvGrpSpPr>
          <p:cNvPr id="12" name="government-functions"/>
          <p:cNvGrpSpPr/>
          <p:nvPr/>
        </p:nvGrpSpPr>
        <p:grpSpPr>
          <a:xfrm>
            <a:off x="749046" y="1993900"/>
            <a:ext cx="10177272" cy="2048383"/>
            <a:chOff x="749046" y="1993900"/>
            <a:chExt cx="10177272" cy="2048383"/>
          </a:xfrm>
        </p:grpSpPr>
        <p:sp>
          <p:nvSpPr>
            <p:cNvPr id="5" name="TextBox 5"/>
            <p:cNvSpPr txBox="1"/>
            <p:nvPr/>
          </p:nvSpPr>
          <p:spPr>
            <a:xfrm>
              <a:off x="749046" y="1993900"/>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国务院</a:t>
              </a:r>
            </a:p>
          </p:txBody>
        </p:sp>
        <p:sp>
          <p:nvSpPr>
            <p:cNvPr id="6" name="TextBox 6"/>
            <p:cNvSpPr txBox="1"/>
            <p:nvPr/>
          </p:nvSpPr>
          <p:spPr>
            <a:xfrm>
              <a:off x="752094" y="25209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统一领导行政机关体系</a:t>
              </a:r>
            </a:p>
          </p:txBody>
        </p:sp>
        <p:sp>
          <p:nvSpPr>
            <p:cNvPr id="7" name="Freeform 7"/>
            <p:cNvSpPr/>
            <p:nvPr/>
          </p:nvSpPr>
          <p:spPr>
            <a:xfrm>
              <a:off x="3790950" y="2514600"/>
              <a:ext cx="1790700" cy="152400"/>
            </a:xfrm>
            <a:custGeom>
              <a:avLst/>
              <a:gdLst/>
              <a:ahLst/>
              <a:cxnLst/>
              <a:rect l="l" t="t" r="r" b="b"/>
              <a:pathLst>
                <a:path w="1790700" h="152400">
                  <a:moveTo>
                    <a:pt x="0" y="76200"/>
                  </a:moveTo>
                  <a:lnTo>
                    <a:pt x="1771650" y="76200"/>
                  </a:lnTo>
                  <a:moveTo>
                    <a:pt x="1676400" y="0"/>
                  </a:moveTo>
                  <a:lnTo>
                    <a:pt x="1790700" y="76200"/>
                  </a:lnTo>
                  <a:lnTo>
                    <a:pt x="1676400" y="152400"/>
                  </a:lnTo>
                </a:path>
              </a:pathLst>
            </a:custGeom>
            <a:noFill/>
            <a:ln w="19050">
              <a:solidFill>
                <a:schemeClr val="accent3"/>
              </a:solidFill>
            </a:ln>
          </p:spPr>
        </p:sp>
        <p:sp>
          <p:nvSpPr>
            <p:cNvPr id="8" name="TextBox 8"/>
            <p:cNvSpPr txBox="1"/>
            <p:nvPr/>
          </p:nvSpPr>
          <p:spPr>
            <a:xfrm>
              <a:off x="6181344" y="2006600"/>
              <a:ext cx="343242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规定行政措施，制定行政法规</a:t>
              </a:r>
            </a:p>
          </p:txBody>
        </p:sp>
        <p:sp>
          <p:nvSpPr>
            <p:cNvPr id="9" name="TextBox 9"/>
            <p:cNvSpPr txBox="1"/>
            <p:nvPr/>
          </p:nvSpPr>
          <p:spPr>
            <a:xfrm>
              <a:off x="6181344" y="250190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发布决定和命令</a:t>
              </a:r>
            </a:p>
          </p:txBody>
        </p:sp>
        <p:sp>
          <p:nvSpPr>
            <p:cNvPr id="10" name="TextBox 10"/>
            <p:cNvSpPr txBox="1"/>
            <p:nvPr/>
          </p:nvSpPr>
          <p:spPr>
            <a:xfrm>
              <a:off x="6181344" y="3225800"/>
              <a:ext cx="474497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领导和管理民政、公安、司法行政等工作</a:t>
              </a:r>
            </a:p>
          </p:txBody>
        </p:sp>
        <p:sp>
          <p:nvSpPr>
            <p:cNvPr id="11" name="TextBox 11"/>
            <p:cNvSpPr txBox="1"/>
            <p:nvPr/>
          </p:nvSpPr>
          <p:spPr>
            <a:xfrm>
              <a:off x="6184392" y="3778250"/>
              <a:ext cx="346671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公安的行政管理工作，后面从这里再展开。</a:t>
              </a:r>
            </a:p>
          </p:txBody>
        </p:sp>
      </p:grpSp>
      <p:grpSp>
        <p:nvGrpSpPr>
          <p:cNvPr id="16" name="p32-reveal-1"/>
          <p:cNvGrpSpPr/>
          <p:nvPr/>
        </p:nvGrpSpPr>
        <p:grpSpPr>
          <a:xfrm>
            <a:off x="752094" y="4921250"/>
            <a:ext cx="8420100" cy="1219581"/>
            <a:chOff x="752094" y="4921250"/>
            <a:chExt cx="8420100" cy="1219581"/>
          </a:xfrm>
        </p:grpSpPr>
        <p:sp>
          <p:nvSpPr>
            <p:cNvPr id="13" name="TextBox 13"/>
            <p:cNvSpPr txBox="1"/>
            <p:nvPr/>
          </p:nvSpPr>
          <p:spPr>
            <a:xfrm>
              <a:off x="752094" y="492125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行政法规：执行法律的具体规定；宪法规定的行政管理职权范围内事项。</a:t>
              </a:r>
            </a:p>
          </p:txBody>
        </p:sp>
        <p:sp>
          <p:nvSpPr>
            <p:cNvPr id="14" name="TextBox 14"/>
            <p:cNvSpPr txBox="1"/>
            <p:nvPr/>
          </p:nvSpPr>
          <p:spPr>
            <a:xfrm>
              <a:off x="752094" y="532130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需要授权的事项，还须有合法授权。</a:t>
              </a:r>
            </a:p>
          </p:txBody>
        </p:sp>
        <p:sp>
          <p:nvSpPr>
            <p:cNvPr id="15" name="TextBox 15"/>
            <p:cNvSpPr txBox="1"/>
            <p:nvPr/>
          </p:nvSpPr>
          <p:spPr>
            <a:xfrm>
              <a:off x="752094" y="5759450"/>
              <a:ext cx="663503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文件名里有“条例”“暂行”，不能单独证明已有全部权限。</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29719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宪法第85、89、92条，立法法第72条；统一领导行政工作与对人大负责须同时成立。</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32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立法法的授权边界</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授权立法，是有边界的先行规定</a:t>
              </a:r>
            </a:p>
          </p:txBody>
        </p:sp>
      </p:grpSp>
      <p:grpSp>
        <p:nvGrpSpPr>
          <p:cNvPr id="10" name="delegation"/>
          <p:cNvGrpSpPr/>
          <p:nvPr/>
        </p:nvGrpSpPr>
        <p:grpSpPr>
          <a:xfrm>
            <a:off x="749808" y="1835150"/>
            <a:ext cx="8947404" cy="1295781"/>
            <a:chOff x="749808" y="1835150"/>
            <a:chExt cx="8947404" cy="1295781"/>
          </a:xfrm>
        </p:grpSpPr>
        <p:sp>
          <p:nvSpPr>
            <p:cNvPr id="5" name="TextBox 5"/>
            <p:cNvSpPr txBox="1"/>
            <p:nvPr/>
          </p:nvSpPr>
          <p:spPr>
            <a:xfrm>
              <a:off x="749808" y="199390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全国人大及其常委会</a:t>
              </a:r>
            </a:p>
          </p:txBody>
        </p:sp>
        <p:sp>
          <p:nvSpPr>
            <p:cNvPr id="6" name="Freeform 6"/>
            <p:cNvSpPr/>
            <p:nvPr/>
          </p:nvSpPr>
          <p:spPr>
            <a:xfrm>
              <a:off x="4286250" y="2095500"/>
              <a:ext cx="2400300" cy="152400"/>
            </a:xfrm>
            <a:custGeom>
              <a:avLst/>
              <a:gdLst/>
              <a:ahLst/>
              <a:cxnLst/>
              <a:rect l="l" t="t" r="r" b="b"/>
              <a:pathLst>
                <a:path w="2400300" h="152400">
                  <a:moveTo>
                    <a:pt x="0" y="76200"/>
                  </a:moveTo>
                  <a:lnTo>
                    <a:pt x="2381250" y="76200"/>
                  </a:lnTo>
                  <a:moveTo>
                    <a:pt x="2286000" y="0"/>
                  </a:moveTo>
                  <a:lnTo>
                    <a:pt x="2400300" y="76200"/>
                  </a:lnTo>
                  <a:lnTo>
                    <a:pt x="2286000" y="152400"/>
                  </a:lnTo>
                </a:path>
              </a:pathLst>
            </a:custGeom>
            <a:noFill/>
            <a:ln w="19050">
              <a:solidFill>
                <a:schemeClr val="accent3"/>
              </a:solidFill>
            </a:ln>
          </p:spPr>
        </p:sp>
        <p:sp>
          <p:nvSpPr>
            <p:cNvPr id="7" name="TextBox 7"/>
            <p:cNvSpPr txBox="1"/>
            <p:nvPr/>
          </p:nvSpPr>
          <p:spPr>
            <a:xfrm>
              <a:off x="5022342" y="1835150"/>
              <a:ext cx="740664"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依法授权</a:t>
              </a:r>
            </a:p>
          </p:txBody>
        </p:sp>
        <p:sp>
          <p:nvSpPr>
            <p:cNvPr id="8" name="TextBox 8"/>
            <p:cNvSpPr txBox="1"/>
            <p:nvPr/>
          </p:nvSpPr>
          <p:spPr>
            <a:xfrm>
              <a:off x="7607808" y="1993900"/>
              <a:ext cx="99364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国务院</a:t>
              </a:r>
            </a:p>
          </p:txBody>
        </p:sp>
        <p:sp>
          <p:nvSpPr>
            <p:cNvPr id="9" name="TextBox 9"/>
            <p:cNvSpPr txBox="1"/>
            <p:nvPr/>
          </p:nvSpPr>
          <p:spPr>
            <a:xfrm>
              <a:off x="752094" y="2749550"/>
              <a:ext cx="894511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本应法律规定、尚未制定法律的有关事项，可在授权边界内先制定行政法规。</a:t>
              </a:r>
            </a:p>
          </p:txBody>
        </p:sp>
      </p:grpSp>
      <p:grpSp>
        <p:nvGrpSpPr>
          <p:cNvPr id="19" name="p33-reveal-1"/>
          <p:cNvGrpSpPr/>
          <p:nvPr/>
        </p:nvGrpSpPr>
        <p:grpSpPr>
          <a:xfrm>
            <a:off x="749808" y="3822700"/>
            <a:ext cx="10411206" cy="2296033"/>
            <a:chOff x="749808" y="3822700"/>
            <a:chExt cx="10411206" cy="2296033"/>
          </a:xfrm>
        </p:grpSpPr>
        <p:sp>
          <p:nvSpPr>
            <p:cNvPr id="11" name="TextBox 11"/>
            <p:cNvSpPr txBox="1"/>
            <p:nvPr/>
          </p:nvSpPr>
          <p:spPr>
            <a:xfrm>
              <a:off x="749808" y="382270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有些事项，不得授权</a:t>
              </a:r>
            </a:p>
          </p:txBody>
        </p:sp>
        <p:sp>
          <p:nvSpPr>
            <p:cNvPr id="12" name="TextBox 12"/>
            <p:cNvSpPr txBox="1"/>
            <p:nvPr/>
          </p:nvSpPr>
          <p:spPr>
            <a:xfrm>
              <a:off x="752094" y="43688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犯罪和刑罚</a:t>
              </a:r>
            </a:p>
          </p:txBody>
        </p:sp>
        <p:sp>
          <p:nvSpPr>
            <p:cNvPr id="13" name="TextBox 13"/>
            <p:cNvSpPr txBox="1"/>
            <p:nvPr/>
          </p:nvSpPr>
          <p:spPr>
            <a:xfrm>
              <a:off x="752094" y="4768850"/>
              <a:ext cx="553250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剥夺政治权利；限制人身自由的强制措施和处罚</a:t>
              </a:r>
            </a:p>
          </p:txBody>
        </p:sp>
        <p:sp>
          <p:nvSpPr>
            <p:cNvPr id="14" name="TextBox 14"/>
            <p:cNvSpPr txBox="1"/>
            <p:nvPr/>
          </p:nvSpPr>
          <p:spPr>
            <a:xfrm>
              <a:off x="752094" y="51689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司法制度</a:t>
              </a:r>
            </a:p>
          </p:txBody>
        </p:sp>
        <p:sp>
          <p:nvSpPr>
            <p:cNvPr id="15" name="TextBox 15"/>
            <p:cNvSpPr txBox="1"/>
            <p:nvPr/>
          </p:nvSpPr>
          <p:spPr>
            <a:xfrm>
              <a:off x="7988808" y="38227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授权仍须明确</a:t>
              </a:r>
            </a:p>
          </p:txBody>
        </p:sp>
        <p:sp>
          <p:nvSpPr>
            <p:cNvPr id="16" name="TextBox 16"/>
            <p:cNvSpPr txBox="1"/>
            <p:nvPr/>
          </p:nvSpPr>
          <p:spPr>
            <a:xfrm>
              <a:off x="7991094" y="43688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目的、事项、范围、期限等</a:t>
              </a:r>
            </a:p>
          </p:txBody>
        </p:sp>
        <p:sp>
          <p:nvSpPr>
            <p:cNvPr id="17" name="TextBox 17"/>
            <p:cNvSpPr txBox="1"/>
            <p:nvPr/>
          </p:nvSpPr>
          <p:spPr>
            <a:xfrm>
              <a:off x="7991094" y="4902200"/>
              <a:ext cx="133235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不得转授权</a:t>
              </a:r>
            </a:p>
          </p:txBody>
        </p:sp>
        <p:sp>
          <p:nvSpPr>
            <p:cNvPr id="18" name="TextBox 18"/>
            <p:cNvSpPr txBox="1"/>
            <p:nvPr/>
          </p:nvSpPr>
          <p:spPr>
            <a:xfrm>
              <a:off x="755142" y="5854700"/>
              <a:ext cx="782840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排除范围依法律列明的事项，不能凭感觉给权利重要程度排序；先行规定不永久取消原立法分工。</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449856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立法法第12—16条；先行规定仍受授权目的、事项、范围、期限等限制。</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33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议事程序与负责体制</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开过会，不能抹掉领导责任</a:t>
              </a:r>
            </a:p>
          </p:txBody>
        </p:sp>
      </p:grpSp>
      <p:grpSp>
        <p:nvGrpSpPr>
          <p:cNvPr id="14" name="decision-responsibility"/>
          <p:cNvGrpSpPr/>
          <p:nvPr/>
        </p:nvGrpSpPr>
        <p:grpSpPr>
          <a:xfrm>
            <a:off x="749046" y="2032000"/>
            <a:ext cx="9793986" cy="2197100"/>
            <a:chOff x="749046" y="2032000"/>
            <a:chExt cx="9793986" cy="2197100"/>
          </a:xfrm>
        </p:grpSpPr>
        <p:sp>
          <p:nvSpPr>
            <p:cNvPr id="5" name="TextBox 5"/>
            <p:cNvSpPr txBox="1"/>
            <p:nvPr/>
          </p:nvSpPr>
          <p:spPr>
            <a:xfrm>
              <a:off x="749046" y="20320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全国人大常委会</a:t>
              </a:r>
            </a:p>
          </p:txBody>
        </p:sp>
        <p:sp>
          <p:nvSpPr>
            <p:cNvPr id="6" name="TextBox 6"/>
            <p:cNvSpPr txBox="1"/>
            <p:nvPr/>
          </p:nvSpPr>
          <p:spPr>
            <a:xfrm>
              <a:off x="752094" y="26924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依法集体行使职权</a:t>
              </a:r>
            </a:p>
          </p:txBody>
        </p:sp>
        <p:sp>
          <p:nvSpPr>
            <p:cNvPr id="7" name="TextBox 7"/>
            <p:cNvSpPr txBox="1"/>
            <p:nvPr/>
          </p:nvSpPr>
          <p:spPr>
            <a:xfrm>
              <a:off x="752094" y="31496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召集会议、审议、表决</a:t>
              </a:r>
            </a:p>
          </p:txBody>
        </p:sp>
        <p:sp>
          <p:nvSpPr>
            <p:cNvPr id="8" name="TextBox 8"/>
            <p:cNvSpPr txBox="1"/>
            <p:nvPr/>
          </p:nvSpPr>
          <p:spPr>
            <a:xfrm>
              <a:off x="752094" y="36068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通常须全体组成人员过半数通过</a:t>
              </a:r>
            </a:p>
          </p:txBody>
        </p:sp>
        <p:sp>
          <p:nvSpPr>
            <p:cNvPr id="9" name="Line 9"/>
            <p:cNvSpPr/>
            <p:nvPr/>
          </p:nvSpPr>
          <p:spPr>
            <a:xfrm>
              <a:off x="5981700" y="2057400"/>
              <a:ext cx="9525" cy="2171700"/>
            </a:xfrm>
            <a:custGeom>
              <a:avLst/>
              <a:gdLst/>
              <a:ahLst/>
              <a:cxnLst/>
              <a:rect l="l" t="t" r="r" b="b"/>
              <a:pathLst>
                <a:path w="9525" h="2171700">
                  <a:moveTo>
                    <a:pt x="0" y="0"/>
                  </a:moveTo>
                  <a:lnTo>
                    <a:pt x="0" y="2171700"/>
                  </a:lnTo>
                </a:path>
              </a:pathLst>
            </a:custGeom>
            <a:noFill/>
            <a:ln w="9525">
              <a:solidFill>
                <a:srgbClr val="C7BFB1"/>
              </a:solidFill>
            </a:ln>
          </p:spPr>
        </p:sp>
        <p:sp>
          <p:nvSpPr>
            <p:cNvPr id="10" name="TextBox 10"/>
            <p:cNvSpPr txBox="1"/>
            <p:nvPr/>
          </p:nvSpPr>
          <p:spPr>
            <a:xfrm>
              <a:off x="6845046" y="2032000"/>
              <a:ext cx="111404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国务院</a:t>
              </a:r>
            </a:p>
          </p:txBody>
        </p:sp>
        <p:sp>
          <p:nvSpPr>
            <p:cNvPr id="11" name="TextBox 11"/>
            <p:cNvSpPr txBox="1"/>
            <p:nvPr/>
          </p:nvSpPr>
          <p:spPr>
            <a:xfrm>
              <a:off x="6848094" y="26924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总理负责制</a:t>
              </a:r>
            </a:p>
          </p:txBody>
        </p:sp>
        <p:sp>
          <p:nvSpPr>
            <p:cNvPr id="12" name="TextBox 12"/>
            <p:cNvSpPr txBox="1"/>
            <p:nvPr/>
          </p:nvSpPr>
          <p:spPr>
            <a:xfrm>
              <a:off x="6848094" y="314960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重大问题经常务会议或全体会议</a:t>
              </a:r>
            </a:p>
          </p:txBody>
        </p:sp>
        <p:sp>
          <p:nvSpPr>
            <p:cNvPr id="13" name="TextBox 13"/>
            <p:cNvSpPr txBox="1"/>
            <p:nvPr/>
          </p:nvSpPr>
          <p:spPr>
            <a:xfrm>
              <a:off x="6848094" y="360680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讨论决定</a:t>
              </a:r>
            </a:p>
          </p:txBody>
        </p:sp>
      </p:grpSp>
      <p:grpSp>
        <p:nvGrpSpPr>
          <p:cNvPr id="17" name="p34-reveal-1"/>
          <p:cNvGrpSpPr/>
          <p:nvPr/>
        </p:nvGrpSpPr>
        <p:grpSpPr>
          <a:xfrm>
            <a:off x="752094" y="5092700"/>
            <a:ext cx="8157591" cy="876681"/>
            <a:chOff x="752094" y="5092700"/>
            <a:chExt cx="8157591" cy="876681"/>
          </a:xfrm>
        </p:grpSpPr>
        <p:sp>
          <p:nvSpPr>
            <p:cNvPr id="15" name="TextBox 15"/>
            <p:cNvSpPr txBox="1"/>
            <p:nvPr/>
          </p:nvSpPr>
          <p:spPr>
            <a:xfrm>
              <a:off x="752094" y="5092700"/>
              <a:ext cx="815759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前者不能由委员长个人代替表决；后者不能因开过会就取消首长责任。</a:t>
              </a:r>
            </a:p>
          </p:txBody>
        </p:sp>
        <p:sp>
          <p:nvSpPr>
            <p:cNvPr id="16" name="TextBox 16"/>
            <p:cNvSpPr txBox="1"/>
            <p:nvPr/>
          </p:nvSpPr>
          <p:spPr>
            <a:xfrm>
              <a:off x="752094" y="5588000"/>
              <a:ext cx="737006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地方政府同样实行行政首长负责，重大问题依法集体讨论决定。</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6753111"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宪法第68、86、88条；2024年国务院组织法、2022年地方组织法。决定方式与责任主体须分别依规定判断。</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34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地方政府的两条联系</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同一地方政府，连着两种关系</a:t>
              </a:r>
            </a:p>
          </p:txBody>
        </p:sp>
      </p:grpSp>
      <p:grpSp>
        <p:nvGrpSpPr>
          <p:cNvPr id="16" name="local-relations"/>
          <p:cNvGrpSpPr/>
          <p:nvPr/>
        </p:nvGrpSpPr>
        <p:grpSpPr>
          <a:xfrm>
            <a:off x="749046" y="1822450"/>
            <a:ext cx="10059162" cy="2772283"/>
            <a:chOff x="749046" y="1822450"/>
            <a:chExt cx="10059162" cy="2772283"/>
          </a:xfrm>
        </p:grpSpPr>
        <p:sp>
          <p:nvSpPr>
            <p:cNvPr id="5" name="TextBox 5"/>
            <p:cNvSpPr txBox="1"/>
            <p:nvPr/>
          </p:nvSpPr>
          <p:spPr>
            <a:xfrm>
              <a:off x="6826758" y="182245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上一级行政机关</a:t>
              </a:r>
            </a:p>
          </p:txBody>
        </p:sp>
        <p:sp>
          <p:nvSpPr>
            <p:cNvPr id="6" name="Freeform 6"/>
            <p:cNvSpPr/>
            <p:nvPr/>
          </p:nvSpPr>
          <p:spPr>
            <a:xfrm>
              <a:off x="7353300" y="2343150"/>
              <a:ext cx="152400" cy="876300"/>
            </a:xfrm>
            <a:custGeom>
              <a:avLst/>
              <a:gdLst/>
              <a:ahLst/>
              <a:cxnLst/>
              <a:rect l="l" t="t" r="r" b="b"/>
              <a:pathLst>
                <a:path w="152400" h="876300">
                  <a:moveTo>
                    <a:pt x="76200" y="0"/>
                  </a:moveTo>
                  <a:lnTo>
                    <a:pt x="76200" y="857250"/>
                  </a:lnTo>
                  <a:moveTo>
                    <a:pt x="0" y="762000"/>
                  </a:moveTo>
                  <a:lnTo>
                    <a:pt x="76200" y="876300"/>
                  </a:lnTo>
                  <a:lnTo>
                    <a:pt x="152400" y="762000"/>
                  </a:lnTo>
                </a:path>
              </a:pathLst>
            </a:custGeom>
            <a:noFill/>
            <a:ln w="19050">
              <a:solidFill>
                <a:schemeClr val="accent3"/>
              </a:solidFill>
            </a:ln>
          </p:spPr>
        </p:sp>
        <p:sp>
          <p:nvSpPr>
            <p:cNvPr id="7" name="TextBox 7"/>
            <p:cNvSpPr txBox="1"/>
            <p:nvPr/>
          </p:nvSpPr>
          <p:spPr>
            <a:xfrm>
              <a:off x="7613142" y="2578100"/>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行政领导</a:t>
              </a:r>
            </a:p>
          </p:txBody>
        </p:sp>
        <p:sp>
          <p:nvSpPr>
            <p:cNvPr id="8" name="Freeform 8"/>
            <p:cNvSpPr/>
            <p:nvPr/>
          </p:nvSpPr>
          <p:spPr>
            <a:xfrm>
              <a:off x="9220200" y="2152650"/>
              <a:ext cx="1066800" cy="1485900"/>
            </a:xfrm>
            <a:custGeom>
              <a:avLst/>
              <a:gdLst/>
              <a:ahLst/>
              <a:cxnLst/>
              <a:rect l="l" t="t" r="r" b="b"/>
              <a:pathLst>
                <a:path w="1066800" h="1485900">
                  <a:moveTo>
                    <a:pt x="209550" y="1485900"/>
                  </a:moveTo>
                  <a:lnTo>
                    <a:pt x="1066800" y="1485900"/>
                  </a:lnTo>
                  <a:lnTo>
                    <a:pt x="1066800" y="76200"/>
                  </a:lnTo>
                  <a:lnTo>
                    <a:pt x="19050" y="76200"/>
                  </a:lnTo>
                  <a:moveTo>
                    <a:pt x="114300" y="0"/>
                  </a:moveTo>
                  <a:lnTo>
                    <a:pt x="0" y="76200"/>
                  </a:lnTo>
                  <a:lnTo>
                    <a:pt x="114300" y="152400"/>
                  </a:lnTo>
                </a:path>
              </a:pathLst>
            </a:custGeom>
            <a:noFill/>
            <a:ln w="19050">
              <a:solidFill>
                <a:schemeClr val="accent2"/>
              </a:solidFill>
            </a:ln>
          </p:spPr>
        </p:sp>
        <p:sp>
          <p:nvSpPr>
            <p:cNvPr id="9" name="TextBox 9"/>
            <p:cNvSpPr txBox="1"/>
            <p:nvPr/>
          </p:nvSpPr>
          <p:spPr>
            <a:xfrm>
              <a:off x="10451592" y="2482850"/>
              <a:ext cx="35661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2"/>
                  </a:solidFill>
                  <a:latin typeface="+mn-lt"/>
                  <a:ea typeface="+mn-ea"/>
                  <a:cs typeface="+mn-cs"/>
                </a:rPr>
                <a:t>负责</a:t>
              </a:r>
              <a:br>
                <a:rPr lang="zh-CN" sz="1350" dirty="0">
                  <a:solidFill>
                    <a:schemeClr val="accent2"/>
                  </a:solidFill>
                  <a:latin typeface="+mn-lt"/>
                  <a:ea typeface="+mn-ea"/>
                  <a:cs typeface="+mn-cs"/>
                </a:rPr>
              </a:br>
              <a:r>
                <a:rPr lang="zh-CN" sz="1350" dirty="0">
                  <a:solidFill>
                    <a:schemeClr val="accent2"/>
                  </a:solidFill>
                  <a:latin typeface="+mn-lt"/>
                  <a:ea typeface="+mn-ea"/>
                  <a:cs typeface="+mn-cs"/>
                </a:rPr>
                <a:t>报告</a:t>
              </a:r>
            </a:p>
          </p:txBody>
        </p:sp>
        <p:sp>
          <p:nvSpPr>
            <p:cNvPr id="10" name="TextBox 10"/>
            <p:cNvSpPr txBox="1"/>
            <p:nvPr/>
          </p:nvSpPr>
          <p:spPr>
            <a:xfrm>
              <a:off x="749046" y="33845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本级人大</a:t>
              </a:r>
            </a:p>
          </p:txBody>
        </p:sp>
        <p:sp>
          <p:nvSpPr>
            <p:cNvPr id="11" name="TextBox 11"/>
            <p:cNvSpPr txBox="1"/>
            <p:nvPr/>
          </p:nvSpPr>
          <p:spPr>
            <a:xfrm>
              <a:off x="6749796" y="33845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本级人民政府</a:t>
              </a:r>
            </a:p>
          </p:txBody>
        </p:sp>
        <p:sp>
          <p:nvSpPr>
            <p:cNvPr id="12" name="Freeform 12"/>
            <p:cNvSpPr/>
            <p:nvPr/>
          </p:nvSpPr>
          <p:spPr>
            <a:xfrm>
              <a:off x="2571750" y="3295650"/>
              <a:ext cx="3638550" cy="152400"/>
            </a:xfrm>
            <a:custGeom>
              <a:avLst/>
              <a:gdLst/>
              <a:ahLst/>
              <a:cxnLst/>
              <a:rect l="l" t="t" r="r" b="b"/>
              <a:pathLst>
                <a:path w="3638550" h="152400">
                  <a:moveTo>
                    <a:pt x="0" y="76200"/>
                  </a:moveTo>
                  <a:lnTo>
                    <a:pt x="3619500" y="76200"/>
                  </a:lnTo>
                  <a:moveTo>
                    <a:pt x="3524250" y="0"/>
                  </a:moveTo>
                  <a:lnTo>
                    <a:pt x="3638550" y="76200"/>
                  </a:lnTo>
                  <a:lnTo>
                    <a:pt x="3524250" y="152400"/>
                  </a:lnTo>
                </a:path>
              </a:pathLst>
            </a:custGeom>
            <a:noFill/>
            <a:ln w="19050">
              <a:solidFill>
                <a:schemeClr val="accent3"/>
              </a:solidFill>
            </a:ln>
          </p:spPr>
        </p:sp>
        <p:sp>
          <p:nvSpPr>
            <p:cNvPr id="13" name="TextBox 13"/>
            <p:cNvSpPr txBox="1"/>
            <p:nvPr/>
          </p:nvSpPr>
          <p:spPr>
            <a:xfrm>
              <a:off x="3669792" y="2997200"/>
              <a:ext cx="201282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决定有关重大事项、监督</a:t>
              </a:r>
            </a:p>
          </p:txBody>
        </p:sp>
        <p:sp>
          <p:nvSpPr>
            <p:cNvPr id="14" name="Freeform 14"/>
            <p:cNvSpPr/>
            <p:nvPr/>
          </p:nvSpPr>
          <p:spPr>
            <a:xfrm>
              <a:off x="2552700" y="4019550"/>
              <a:ext cx="3638550" cy="152400"/>
            </a:xfrm>
            <a:custGeom>
              <a:avLst/>
              <a:gdLst/>
              <a:ahLst/>
              <a:cxnLst/>
              <a:rect l="l" t="t" r="r" b="b"/>
              <a:pathLst>
                <a:path w="3638550" h="152400">
                  <a:moveTo>
                    <a:pt x="3638550" y="76200"/>
                  </a:moveTo>
                  <a:lnTo>
                    <a:pt x="19050" y="76200"/>
                  </a:lnTo>
                  <a:moveTo>
                    <a:pt x="114300" y="0"/>
                  </a:moveTo>
                  <a:lnTo>
                    <a:pt x="0" y="76200"/>
                  </a:lnTo>
                  <a:lnTo>
                    <a:pt x="114300" y="152400"/>
                  </a:lnTo>
                </a:path>
              </a:pathLst>
            </a:custGeom>
            <a:noFill/>
            <a:ln w="19050">
              <a:solidFill>
                <a:schemeClr val="accent2"/>
              </a:solidFill>
            </a:ln>
          </p:spPr>
        </p:sp>
        <p:sp>
          <p:nvSpPr>
            <p:cNvPr id="15" name="TextBox 15"/>
            <p:cNvSpPr txBox="1"/>
            <p:nvPr/>
          </p:nvSpPr>
          <p:spPr>
            <a:xfrm>
              <a:off x="3631692" y="4330700"/>
              <a:ext cx="1285875"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负责并报告工作</a:t>
              </a:r>
            </a:p>
          </p:txBody>
        </p:sp>
      </p:grpSp>
      <p:grpSp>
        <p:nvGrpSpPr>
          <p:cNvPr id="19" name="p35-reveal-1"/>
          <p:cNvGrpSpPr/>
          <p:nvPr/>
        </p:nvGrpSpPr>
        <p:grpSpPr>
          <a:xfrm>
            <a:off x="752094" y="5187950"/>
            <a:ext cx="8420100" cy="838581"/>
            <a:chOff x="752094" y="5187950"/>
            <a:chExt cx="8420100" cy="838581"/>
          </a:xfrm>
        </p:grpSpPr>
        <p:sp>
          <p:nvSpPr>
            <p:cNvPr id="17" name="TextBox 17"/>
            <p:cNvSpPr txBox="1"/>
            <p:nvPr/>
          </p:nvSpPr>
          <p:spPr>
            <a:xfrm>
              <a:off x="752094" y="518795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县级以上：人大闭会期间，政府还须向本级人大常委会负责并报告工作。</a:t>
              </a:r>
            </a:p>
          </p:txBody>
        </p:sp>
        <p:sp>
          <p:nvSpPr>
            <p:cNvPr id="18" name="TextBox 18"/>
            <p:cNvSpPr txBox="1"/>
            <p:nvPr/>
          </p:nvSpPr>
          <p:spPr>
            <a:xfrm>
              <a:off x="752094" y="5645150"/>
              <a:ext cx="763257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人大不是政府日常业务的上级部门；行政领导也不省去本级监督。</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609582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宪法第96、105、107、110条；地方各级政府均在国务院统一领导下，须服从合法上级决定命令。</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35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层级不能机械复制</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乡镇这一级，不能补出常委会</a:t>
              </a:r>
            </a:p>
          </p:txBody>
        </p:sp>
      </p:grpSp>
      <p:grpSp>
        <p:nvGrpSpPr>
          <p:cNvPr id="16" name="levels"/>
          <p:cNvGrpSpPr/>
          <p:nvPr/>
        </p:nvGrpSpPr>
        <p:grpSpPr>
          <a:xfrm>
            <a:off x="749046" y="2012950"/>
            <a:ext cx="10219182" cy="2159000"/>
            <a:chOff x="749046" y="2012950"/>
            <a:chExt cx="10219182" cy="2159000"/>
          </a:xfrm>
        </p:grpSpPr>
        <p:sp>
          <p:nvSpPr>
            <p:cNvPr id="5" name="TextBox 5"/>
            <p:cNvSpPr txBox="1"/>
            <p:nvPr/>
          </p:nvSpPr>
          <p:spPr>
            <a:xfrm>
              <a:off x="749046" y="20129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县级以上地方</a:t>
              </a:r>
            </a:p>
          </p:txBody>
        </p:sp>
        <p:sp>
          <p:nvSpPr>
            <p:cNvPr id="6" name="TextBox 6"/>
            <p:cNvSpPr txBox="1"/>
            <p:nvPr/>
          </p:nvSpPr>
          <p:spPr>
            <a:xfrm>
              <a:off x="752094" y="27114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人大</a:t>
              </a:r>
            </a:p>
          </p:txBody>
        </p:sp>
        <p:sp>
          <p:nvSpPr>
            <p:cNvPr id="7" name="TextBox 7"/>
            <p:cNvSpPr txBox="1"/>
            <p:nvPr/>
          </p:nvSpPr>
          <p:spPr>
            <a:xfrm>
              <a:off x="2752344" y="271145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设常委会</a:t>
              </a:r>
            </a:p>
          </p:txBody>
        </p:sp>
        <p:sp>
          <p:nvSpPr>
            <p:cNvPr id="8" name="TextBox 8"/>
            <p:cNvSpPr txBox="1"/>
            <p:nvPr/>
          </p:nvSpPr>
          <p:spPr>
            <a:xfrm>
              <a:off x="752094" y="337820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政府</a:t>
              </a:r>
            </a:p>
          </p:txBody>
        </p:sp>
        <p:sp>
          <p:nvSpPr>
            <p:cNvPr id="9" name="TextBox 9"/>
            <p:cNvSpPr txBox="1"/>
            <p:nvPr/>
          </p:nvSpPr>
          <p:spPr>
            <a:xfrm>
              <a:off x="2752344" y="337820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设审计机关</a:t>
              </a:r>
            </a:p>
          </p:txBody>
        </p:sp>
        <p:sp>
          <p:nvSpPr>
            <p:cNvPr id="10" name="Line 10"/>
            <p:cNvSpPr/>
            <p:nvPr/>
          </p:nvSpPr>
          <p:spPr>
            <a:xfrm>
              <a:off x="5905500" y="2057400"/>
              <a:ext cx="9525" cy="2114550"/>
            </a:xfrm>
            <a:custGeom>
              <a:avLst/>
              <a:gdLst/>
              <a:ahLst/>
              <a:cxnLst/>
              <a:rect l="l" t="t" r="r" b="b"/>
              <a:pathLst>
                <a:path w="9525" h="2114550">
                  <a:moveTo>
                    <a:pt x="0" y="0"/>
                  </a:moveTo>
                  <a:lnTo>
                    <a:pt x="0" y="2114550"/>
                  </a:lnTo>
                </a:path>
              </a:pathLst>
            </a:custGeom>
            <a:noFill/>
            <a:ln w="9525">
              <a:solidFill>
                <a:srgbClr val="C7BFB1"/>
              </a:solidFill>
            </a:ln>
          </p:spPr>
        </p:sp>
        <p:sp>
          <p:nvSpPr>
            <p:cNvPr id="11" name="TextBox 11"/>
            <p:cNvSpPr txBox="1"/>
            <p:nvPr/>
          </p:nvSpPr>
          <p:spPr>
            <a:xfrm>
              <a:off x="6845046" y="20129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乡、民族乡、镇</a:t>
              </a:r>
            </a:p>
          </p:txBody>
        </p:sp>
        <p:sp>
          <p:nvSpPr>
            <p:cNvPr id="12" name="TextBox 12"/>
            <p:cNvSpPr txBox="1"/>
            <p:nvPr/>
          </p:nvSpPr>
          <p:spPr>
            <a:xfrm>
              <a:off x="6848094" y="27114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人大</a:t>
              </a:r>
            </a:p>
          </p:txBody>
        </p:sp>
        <p:sp>
          <p:nvSpPr>
            <p:cNvPr id="13" name="TextBox 13"/>
            <p:cNvSpPr txBox="1"/>
            <p:nvPr/>
          </p:nvSpPr>
          <p:spPr>
            <a:xfrm>
              <a:off x="8848344" y="2711450"/>
              <a:ext cx="133235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不设常委会</a:t>
              </a:r>
            </a:p>
          </p:txBody>
        </p:sp>
        <p:sp>
          <p:nvSpPr>
            <p:cNvPr id="14" name="TextBox 14"/>
            <p:cNvSpPr txBox="1"/>
            <p:nvPr/>
          </p:nvSpPr>
          <p:spPr>
            <a:xfrm>
              <a:off x="6848094" y="337820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政府</a:t>
              </a:r>
            </a:p>
          </p:txBody>
        </p:sp>
        <p:sp>
          <p:nvSpPr>
            <p:cNvPr id="15" name="TextBox 15"/>
            <p:cNvSpPr txBox="1"/>
            <p:nvPr/>
          </p:nvSpPr>
          <p:spPr>
            <a:xfrm>
              <a:off x="8848344" y="33782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不设这层审计机关</a:t>
              </a:r>
            </a:p>
          </p:txBody>
        </p:sp>
      </p:grpSp>
      <p:grpSp>
        <p:nvGrpSpPr>
          <p:cNvPr id="19" name="p36-reveal-1"/>
          <p:cNvGrpSpPr/>
          <p:nvPr/>
        </p:nvGrpSpPr>
        <p:grpSpPr>
          <a:xfrm>
            <a:off x="752094" y="5130800"/>
            <a:ext cx="7632573" cy="838581"/>
            <a:chOff x="752094" y="5130800"/>
            <a:chExt cx="7632573" cy="838581"/>
          </a:xfrm>
        </p:grpSpPr>
        <p:sp>
          <p:nvSpPr>
            <p:cNvPr id="17" name="TextBox 17"/>
            <p:cNvSpPr txBox="1"/>
            <p:nvPr/>
          </p:nvSpPr>
          <p:spPr>
            <a:xfrm>
              <a:off x="752094" y="513080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选民直接选举乡镇人大代表；乡镇人大与乡镇政府仍是不同机关。</a:t>
              </a:r>
            </a:p>
          </p:txBody>
        </p:sp>
        <p:sp>
          <p:nvSpPr>
            <p:cNvPr id="18" name="TextBox 18"/>
            <p:cNvSpPr txBox="1"/>
            <p:nvPr/>
          </p:nvSpPr>
          <p:spPr>
            <a:xfrm>
              <a:off x="752094" y="558800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乡镇政府对本级人大和上一级政府负责并报告工作。</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488727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宪法第95、96、109、110条及选举法；民族自治地方的两类机关下一页另辨。</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36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地域之内与机关资格</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自治机关，是地方内哪两类机关？</a:t>
              </a:r>
            </a:p>
          </p:txBody>
        </p:sp>
      </p:grpSp>
      <p:grpSp>
        <p:nvGrpSpPr>
          <p:cNvPr id="13" name="autonomous-scope"/>
          <p:cNvGrpSpPr/>
          <p:nvPr/>
        </p:nvGrpSpPr>
        <p:grpSpPr>
          <a:xfrm>
            <a:off x="762000" y="1809750"/>
            <a:ext cx="10668000" cy="2552700"/>
            <a:chOff x="762000" y="1809750"/>
            <a:chExt cx="10668000" cy="2552700"/>
          </a:xfrm>
        </p:grpSpPr>
        <p:sp>
          <p:nvSpPr>
            <p:cNvPr id="5" name="Rectangle 5"/>
            <p:cNvSpPr/>
            <p:nvPr/>
          </p:nvSpPr>
          <p:spPr>
            <a:xfrm>
              <a:off x="762000" y="1809750"/>
              <a:ext cx="10668000" cy="2552700"/>
            </a:xfrm>
            <a:prstGeom prst="rect">
              <a:avLst/>
            </a:prstGeom>
            <a:noFill/>
            <a:ln w="19050">
              <a:solidFill>
                <a:schemeClr val="accent3"/>
              </a:solidFill>
            </a:ln>
          </p:spPr>
        </p:sp>
        <p:sp>
          <p:nvSpPr>
            <p:cNvPr id="6" name="TextBox 6"/>
            <p:cNvSpPr txBox="1"/>
            <p:nvPr/>
          </p:nvSpPr>
          <p:spPr>
            <a:xfrm>
              <a:off x="1054608" y="1955800"/>
              <a:ext cx="367527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自治区 · 自治州 · 自治县</a:t>
              </a:r>
            </a:p>
          </p:txBody>
        </p:sp>
        <p:sp>
          <p:nvSpPr>
            <p:cNvPr id="7" name="TextBox 7"/>
            <p:cNvSpPr txBox="1"/>
            <p:nvPr/>
          </p:nvSpPr>
          <p:spPr>
            <a:xfrm>
              <a:off x="1053846" y="27368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人民代表大会</a:t>
              </a:r>
            </a:p>
          </p:txBody>
        </p:sp>
        <p:sp>
          <p:nvSpPr>
            <p:cNvPr id="8" name="TextBox 8"/>
            <p:cNvSpPr txBox="1"/>
            <p:nvPr/>
          </p:nvSpPr>
          <p:spPr>
            <a:xfrm>
              <a:off x="4749546" y="27368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人民政府</a:t>
              </a:r>
            </a:p>
          </p:txBody>
        </p:sp>
        <p:sp>
          <p:nvSpPr>
            <p:cNvPr id="9" name="TextBox 9"/>
            <p:cNvSpPr txBox="1"/>
            <p:nvPr/>
          </p:nvSpPr>
          <p:spPr>
            <a:xfrm>
              <a:off x="1056894" y="3511550"/>
              <a:ext cx="448246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这两类，是民族自治地方的自治机关。</a:t>
              </a:r>
            </a:p>
          </p:txBody>
        </p:sp>
        <p:sp>
          <p:nvSpPr>
            <p:cNvPr id="10" name="TextBox 10"/>
            <p:cNvSpPr txBox="1"/>
            <p:nvPr/>
          </p:nvSpPr>
          <p:spPr>
            <a:xfrm>
              <a:off x="9134094" y="273050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法院</a:t>
              </a:r>
            </a:p>
          </p:txBody>
        </p:sp>
        <p:sp>
          <p:nvSpPr>
            <p:cNvPr id="11" name="TextBox 11"/>
            <p:cNvSpPr txBox="1"/>
            <p:nvPr/>
          </p:nvSpPr>
          <p:spPr>
            <a:xfrm>
              <a:off x="9134094" y="3225800"/>
              <a:ext cx="80733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检察院</a:t>
              </a:r>
            </a:p>
          </p:txBody>
        </p:sp>
        <p:sp>
          <p:nvSpPr>
            <p:cNvPr id="12" name="Line 12"/>
            <p:cNvSpPr/>
            <p:nvPr/>
          </p:nvSpPr>
          <p:spPr>
            <a:xfrm>
              <a:off x="8439150" y="2628900"/>
              <a:ext cx="9525" cy="1371600"/>
            </a:xfrm>
            <a:custGeom>
              <a:avLst/>
              <a:gdLst/>
              <a:ahLst/>
              <a:cxnLst/>
              <a:rect l="l" t="t" r="r" b="b"/>
              <a:pathLst>
                <a:path w="9525" h="1371600">
                  <a:moveTo>
                    <a:pt x="0" y="0"/>
                  </a:moveTo>
                  <a:lnTo>
                    <a:pt x="0" y="1371600"/>
                  </a:lnTo>
                </a:path>
              </a:pathLst>
            </a:custGeom>
            <a:noFill/>
            <a:ln w="9525">
              <a:solidFill>
                <a:srgbClr val="C7BFB1"/>
              </a:solidFill>
            </a:ln>
          </p:spPr>
        </p:sp>
      </p:grpSp>
      <p:grpSp>
        <p:nvGrpSpPr>
          <p:cNvPr id="16" name="p37-reveal-1"/>
          <p:cNvGrpSpPr/>
          <p:nvPr/>
        </p:nvGrpSpPr>
        <p:grpSpPr>
          <a:xfrm>
            <a:off x="752094" y="5016500"/>
            <a:ext cx="7632573" cy="895731"/>
            <a:chOff x="752094" y="5016500"/>
            <a:chExt cx="7632573" cy="895731"/>
          </a:xfrm>
        </p:grpSpPr>
        <p:sp>
          <p:nvSpPr>
            <p:cNvPr id="14" name="TextBox 14"/>
            <p:cNvSpPr txBox="1"/>
            <p:nvPr/>
          </p:nvSpPr>
          <p:spPr>
            <a:xfrm>
              <a:off x="752094" y="5016500"/>
              <a:ext cx="532249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“自治地方内的机关”，不都属于“自治机关”。</a:t>
              </a:r>
            </a:p>
          </p:txBody>
        </p:sp>
        <p:sp>
          <p:nvSpPr>
            <p:cNvPr id="15" name="TextBox 15"/>
            <p:cNvSpPr txBox="1"/>
            <p:nvPr/>
          </p:nvSpPr>
          <p:spPr>
            <a:xfrm>
              <a:off x="752094" y="553085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两类机关本来就是当地的人大与政府，并非在它们之外另添一套。</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48442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宪法第112条；外框表示地域范围，不表示机关间隶属或全部机关数目。</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37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同一主体的双重职权</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同一自治机关，兼有两层职权</a:t>
              </a:r>
            </a:p>
          </p:txBody>
        </p:sp>
      </p:grpSp>
      <p:grpSp>
        <p:nvGrpSpPr>
          <p:cNvPr id="9" name="dual-powers"/>
          <p:cNvGrpSpPr/>
          <p:nvPr/>
        </p:nvGrpSpPr>
        <p:grpSpPr>
          <a:xfrm>
            <a:off x="749808" y="1879600"/>
            <a:ext cx="9793224" cy="1022731"/>
            <a:chOff x="749808" y="1879600"/>
            <a:chExt cx="9793224" cy="1022731"/>
          </a:xfrm>
        </p:grpSpPr>
        <p:sp>
          <p:nvSpPr>
            <p:cNvPr id="5" name="TextBox 5"/>
            <p:cNvSpPr txBox="1"/>
            <p:nvPr/>
          </p:nvSpPr>
          <p:spPr>
            <a:xfrm>
              <a:off x="749808" y="1879600"/>
              <a:ext cx="325526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一般地方国家机关职权</a:t>
              </a:r>
            </a:p>
          </p:txBody>
        </p:sp>
        <p:sp>
          <p:nvSpPr>
            <p:cNvPr id="6" name="TextBox 6"/>
            <p:cNvSpPr txBox="1"/>
            <p:nvPr/>
          </p:nvSpPr>
          <p:spPr>
            <a:xfrm>
              <a:off x="6845808" y="187960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依法行使自治权</a:t>
              </a:r>
            </a:p>
          </p:txBody>
        </p:sp>
        <p:sp>
          <p:nvSpPr>
            <p:cNvPr id="7" name="TextBox 7"/>
            <p:cNvSpPr txBox="1"/>
            <p:nvPr/>
          </p:nvSpPr>
          <p:spPr>
            <a:xfrm>
              <a:off x="752094" y="25209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如自治县政府执行预算、管理公共事务</a:t>
              </a:r>
            </a:p>
          </p:txBody>
        </p:sp>
        <p:sp>
          <p:nvSpPr>
            <p:cNvPr id="8" name="TextBox 8"/>
            <p:cNvSpPr txBox="1"/>
            <p:nvPr/>
          </p:nvSpPr>
          <p:spPr>
            <a:xfrm>
              <a:off x="6848094" y="2520950"/>
              <a:ext cx="369493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联系本地方实际贯彻法律、政策</a:t>
              </a:r>
            </a:p>
          </p:txBody>
        </p:sp>
      </p:grpSp>
      <p:grpSp>
        <p:nvGrpSpPr>
          <p:cNvPr id="12" name="p38-reveal-1"/>
          <p:cNvGrpSpPr/>
          <p:nvPr/>
        </p:nvGrpSpPr>
        <p:grpSpPr>
          <a:xfrm>
            <a:off x="752094" y="3568700"/>
            <a:ext cx="8420100" cy="819531"/>
            <a:chOff x="752094" y="3568700"/>
            <a:chExt cx="8420100" cy="819531"/>
          </a:xfrm>
        </p:grpSpPr>
        <p:sp>
          <p:nvSpPr>
            <p:cNvPr id="10" name="TextBox 10"/>
            <p:cNvSpPr txBox="1"/>
            <p:nvPr/>
          </p:nvSpPr>
          <p:spPr>
            <a:xfrm>
              <a:off x="752094" y="3568700"/>
              <a:ext cx="553250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自治条例、单行条例：由民族自治地方人大制定</a:t>
              </a:r>
            </a:p>
          </p:txBody>
        </p:sp>
        <p:sp>
          <p:nvSpPr>
            <p:cNvPr id="11" name="TextBox 11"/>
            <p:cNvSpPr txBox="1"/>
            <p:nvPr/>
          </p:nvSpPr>
          <p:spPr>
            <a:xfrm>
              <a:off x="752094" y="4006850"/>
              <a:ext cx="842010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自治区报全国人大常委会批准；自治州、自治县报省级人大常委会批准。</a:t>
              </a:r>
            </a:p>
          </p:txBody>
        </p:sp>
      </p:grpSp>
      <p:grpSp>
        <p:nvGrpSpPr>
          <p:cNvPr id="16" name="p38-reveal-2"/>
          <p:cNvGrpSpPr/>
          <p:nvPr/>
        </p:nvGrpSpPr>
        <p:grpSpPr>
          <a:xfrm>
            <a:off x="752094" y="4997450"/>
            <a:ext cx="9470136" cy="1178433"/>
            <a:chOff x="752094" y="4997450"/>
            <a:chExt cx="9470136" cy="1178433"/>
          </a:xfrm>
        </p:grpSpPr>
        <p:sp>
          <p:nvSpPr>
            <p:cNvPr id="13" name="TextBox 13"/>
            <p:cNvSpPr txBox="1"/>
            <p:nvPr/>
          </p:nvSpPr>
          <p:spPr>
            <a:xfrm>
              <a:off x="752094" y="4997450"/>
              <a:ext cx="710755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上级文件不适合本地实际：报作出该文件的上级国家机关批准</a:t>
              </a:r>
            </a:p>
          </p:txBody>
        </p:sp>
        <p:sp>
          <p:nvSpPr>
            <p:cNvPr id="14" name="TextBox 14"/>
            <p:cNvSpPr txBox="1"/>
            <p:nvPr/>
          </p:nvSpPr>
          <p:spPr>
            <a:xfrm>
              <a:off x="752094" y="5397500"/>
              <a:ext cx="947013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才可变通或者停止执行；对象为其决议、决定、命令、指示，不泛化到所有法律。</a:t>
              </a:r>
            </a:p>
          </p:txBody>
        </p:sp>
        <p:sp>
          <p:nvSpPr>
            <p:cNvPr id="15" name="TextBox 15"/>
            <p:cNvSpPr txBox="1"/>
            <p:nvPr/>
          </p:nvSpPr>
          <p:spPr>
            <a:xfrm>
              <a:off x="755142" y="5911850"/>
              <a:ext cx="766484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居委会、村委会是基层群众性自治组织，不是国家政权机关；不能因都有“自治”就画成同一种。</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5827262"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宪法第111、115、116条；民族区域自治法第19、20条。两条批准线的对象和批准机关不同。</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38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国家监察机关</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监察的专责，落在三项具体工作</a:t>
              </a:r>
            </a:p>
          </p:txBody>
        </p:sp>
      </p:grpSp>
      <p:grpSp>
        <p:nvGrpSpPr>
          <p:cNvPr id="13" name="supervisory-jobs"/>
          <p:cNvGrpSpPr/>
          <p:nvPr/>
        </p:nvGrpSpPr>
        <p:grpSpPr>
          <a:xfrm>
            <a:off x="749046" y="1930400"/>
            <a:ext cx="9776460" cy="2781681"/>
            <a:chOff x="749046" y="1930400"/>
            <a:chExt cx="9776460" cy="2781681"/>
          </a:xfrm>
        </p:grpSpPr>
        <p:sp>
          <p:nvSpPr>
            <p:cNvPr id="5" name="TextBox 5"/>
            <p:cNvSpPr txBox="1"/>
            <p:nvPr/>
          </p:nvSpPr>
          <p:spPr>
            <a:xfrm>
              <a:off x="752094" y="1930400"/>
              <a:ext cx="579501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对象有法定范围：依法监察行使公权力的公职人员</a:t>
              </a:r>
            </a:p>
          </p:txBody>
        </p:sp>
        <p:sp>
          <p:nvSpPr>
            <p:cNvPr id="6" name="TextBox 6"/>
            <p:cNvSpPr txBox="1"/>
            <p:nvPr/>
          </p:nvSpPr>
          <p:spPr>
            <a:xfrm>
              <a:off x="749046" y="25844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监督</a:t>
              </a:r>
            </a:p>
          </p:txBody>
        </p:sp>
        <p:sp>
          <p:nvSpPr>
            <p:cNvPr id="7" name="TextBox 7"/>
            <p:cNvSpPr txBox="1"/>
            <p:nvPr/>
          </p:nvSpPr>
          <p:spPr>
            <a:xfrm>
              <a:off x="752094" y="316865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检查依法履职、</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秉公用权、廉洁情况</a:t>
              </a:r>
            </a:p>
          </p:txBody>
        </p:sp>
        <p:sp>
          <p:nvSpPr>
            <p:cNvPr id="8" name="TextBox 8"/>
            <p:cNvSpPr txBox="1"/>
            <p:nvPr/>
          </p:nvSpPr>
          <p:spPr>
            <a:xfrm>
              <a:off x="4635246" y="25844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调查</a:t>
              </a:r>
            </a:p>
          </p:txBody>
        </p:sp>
        <p:sp>
          <p:nvSpPr>
            <p:cNvPr id="9" name="TextBox 9"/>
            <p:cNvSpPr txBox="1"/>
            <p:nvPr/>
          </p:nvSpPr>
          <p:spPr>
            <a:xfrm>
              <a:off x="4638294" y="3168650"/>
              <a:ext cx="22486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查明涉嫌职务违法、</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职务犯罪问题</a:t>
              </a:r>
            </a:p>
          </p:txBody>
        </p:sp>
        <p:sp>
          <p:nvSpPr>
            <p:cNvPr id="10" name="TextBox 10"/>
            <p:cNvSpPr txBox="1"/>
            <p:nvPr/>
          </p:nvSpPr>
          <p:spPr>
            <a:xfrm>
              <a:off x="8521446" y="2584450"/>
              <a:ext cx="75133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处置</a:t>
              </a:r>
            </a:p>
          </p:txBody>
        </p:sp>
        <p:sp>
          <p:nvSpPr>
            <p:cNvPr id="11" name="TextBox 11"/>
            <p:cNvSpPr txBox="1"/>
            <p:nvPr/>
          </p:nvSpPr>
          <p:spPr>
            <a:xfrm>
              <a:off x="8524494" y="3168650"/>
              <a:ext cx="2001012" cy="110528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依法政务处分，</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符合条件的，移送</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检察院审查起诉</a:t>
              </a:r>
            </a:p>
          </p:txBody>
        </p:sp>
        <p:sp>
          <p:nvSpPr>
            <p:cNvPr id="12" name="TextBox 12"/>
            <p:cNvSpPr txBox="1"/>
            <p:nvPr/>
          </p:nvSpPr>
          <p:spPr>
            <a:xfrm>
              <a:off x="752094" y="4330700"/>
              <a:ext cx="579501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监察调查、移送，不等于自己作出刑事定罪判决。</a:t>
              </a:r>
            </a:p>
          </p:txBody>
        </p:sp>
      </p:grpSp>
      <p:grpSp>
        <p:nvGrpSpPr>
          <p:cNvPr id="17" name="p39-reveal-1"/>
          <p:cNvGrpSpPr/>
          <p:nvPr/>
        </p:nvGrpSpPr>
        <p:grpSpPr>
          <a:xfrm>
            <a:off x="752094" y="4997450"/>
            <a:ext cx="8157591" cy="1197483"/>
            <a:chOff x="752094" y="4997450"/>
            <a:chExt cx="8157591" cy="1197483"/>
          </a:xfrm>
        </p:grpSpPr>
        <p:sp>
          <p:nvSpPr>
            <p:cNvPr id="14" name="TextBox 14"/>
            <p:cNvSpPr txBox="1"/>
            <p:nvPr/>
          </p:nvSpPr>
          <p:spPr>
            <a:xfrm>
              <a:off x="752094" y="499745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接受人大及其常委会的法定监督，另有监委系统内的上下级领导关系。</a:t>
              </a:r>
            </a:p>
          </p:txBody>
        </p:sp>
        <p:sp>
          <p:nvSpPr>
            <p:cNvPr id="15" name="TextBox 15"/>
            <p:cNvSpPr txBox="1"/>
            <p:nvPr/>
          </p:nvSpPr>
          <p:spPr>
            <a:xfrm>
              <a:off x="752094" y="5435600"/>
              <a:ext cx="59262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现行监察法：2024年修改，2025年6月1日起施行。</a:t>
              </a:r>
            </a:p>
          </p:txBody>
        </p:sp>
        <p:sp>
          <p:nvSpPr>
            <p:cNvPr id="16" name="TextBox 16"/>
            <p:cNvSpPr txBox="1"/>
            <p:nvPr/>
          </p:nvSpPr>
          <p:spPr>
            <a:xfrm>
              <a:off x="755142" y="5930900"/>
              <a:ext cx="801014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新增强制到案、责令候查、管护等规定；旧教材措施表不代表现行全部措施，具体适用须依现行法。</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590500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宪法第123—127条；现行监察法第3—4、8—11条及修改决定；三项为职责，不是每案必经流程。</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39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232227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国家审判机关</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设在地方，依法行使国家审判权</a:t>
              </a:r>
            </a:p>
          </p:txBody>
        </p:sp>
      </p:grpSp>
      <p:grpSp>
        <p:nvGrpSpPr>
          <p:cNvPr id="8" name="court-scene"/>
          <p:cNvGrpSpPr/>
          <p:nvPr/>
        </p:nvGrpSpPr>
        <p:grpSpPr>
          <a:xfrm>
            <a:off x="602742" y="1924050"/>
            <a:ext cx="4578858" cy="4175633"/>
            <a:chOff x="602742" y="1924050"/>
            <a:chExt cx="4578858" cy="4175633"/>
          </a:xfrm>
        </p:grpSpPr>
        <p:pic>
          <p:nvPicPr>
            <p:cNvPr id="5" name="Image 5"/>
            <p:cNvPicPr>
              <a:picLocks noChangeAspect="1"/>
            </p:cNvPicPr>
            <p:nvPr/>
          </p:nvPicPr>
          <p:blipFill>
            <a:blip r:embed="rId2"/>
            <a:stretch>
              <a:fillRect/>
            </a:stretch>
          </p:blipFill>
          <p:spPr>
            <a:xfrm>
              <a:off x="609600" y="1924050"/>
              <a:ext cx="4572000" cy="3429000"/>
            </a:xfrm>
            <a:prstGeom prst="rect">
              <a:avLst/>
            </a:prstGeom>
          </p:spPr>
        </p:pic>
        <p:sp>
          <p:nvSpPr>
            <p:cNvPr id="6" name="TextBox 6"/>
            <p:cNvSpPr txBox="1"/>
            <p:nvPr/>
          </p:nvSpPr>
          <p:spPr>
            <a:xfrm>
              <a:off x="602742" y="5530850"/>
              <a:ext cx="240355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真实行政庭审场景 · 睢县法院</a:t>
              </a:r>
            </a:p>
          </p:txBody>
        </p:sp>
        <p:sp>
          <p:nvSpPr>
            <p:cNvPr id="7" name="TextBox 7"/>
            <p:cNvSpPr txBox="1"/>
            <p:nvPr/>
          </p:nvSpPr>
          <p:spPr>
            <a:xfrm>
              <a:off x="602742" y="5835650"/>
              <a:ext cx="364845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右侧政府被告为课堂设例，与照片案件无关。</a:t>
              </a:r>
            </a:p>
          </p:txBody>
        </p:sp>
      </p:grpSp>
      <p:grpSp>
        <p:nvGrpSpPr>
          <p:cNvPr id="12" name="court-nature"/>
          <p:cNvGrpSpPr/>
          <p:nvPr/>
        </p:nvGrpSpPr>
        <p:grpSpPr>
          <a:xfrm>
            <a:off x="5797296" y="1917700"/>
            <a:ext cx="4485513" cy="1441831"/>
            <a:chOff x="5797296" y="1917700"/>
            <a:chExt cx="4485513" cy="1441831"/>
          </a:xfrm>
        </p:grpSpPr>
        <p:sp>
          <p:nvSpPr>
            <p:cNvPr id="9" name="TextBox 9"/>
            <p:cNvSpPr txBox="1"/>
            <p:nvPr/>
          </p:nvSpPr>
          <p:spPr>
            <a:xfrm>
              <a:off x="5797296" y="1917700"/>
              <a:ext cx="401574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依法审理案件，作出裁判</a:t>
              </a:r>
            </a:p>
          </p:txBody>
        </p:sp>
        <p:sp>
          <p:nvSpPr>
            <p:cNvPr id="10" name="TextBox 10"/>
            <p:cNvSpPr txBox="1"/>
            <p:nvPr/>
          </p:nvSpPr>
          <p:spPr>
            <a:xfrm>
              <a:off x="5800344" y="25209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刑事、民商事、行政等案件</a:t>
              </a:r>
            </a:p>
          </p:txBody>
        </p:sp>
        <p:sp>
          <p:nvSpPr>
            <p:cNvPr id="11" name="TextBox 11"/>
            <p:cNvSpPr txBox="1"/>
            <p:nvPr/>
          </p:nvSpPr>
          <p:spPr>
            <a:xfrm>
              <a:off x="5800344" y="2978150"/>
              <a:ext cx="448246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地方设置，不等于只为当地利益服务。</a:t>
              </a:r>
            </a:p>
          </p:txBody>
        </p:sp>
      </p:grpSp>
      <p:grpSp>
        <p:nvGrpSpPr>
          <p:cNvPr id="16" name="p40-reveal-1"/>
          <p:cNvGrpSpPr/>
          <p:nvPr/>
        </p:nvGrpSpPr>
        <p:grpSpPr>
          <a:xfrm>
            <a:off x="5800344" y="4025900"/>
            <a:ext cx="3960114" cy="1965833"/>
            <a:chOff x="5800344" y="4025900"/>
            <a:chExt cx="3960114" cy="1965833"/>
          </a:xfrm>
        </p:grpSpPr>
        <p:sp>
          <p:nvSpPr>
            <p:cNvPr id="13" name="TextBox 13"/>
            <p:cNvSpPr txBox="1"/>
            <p:nvPr/>
          </p:nvSpPr>
          <p:spPr>
            <a:xfrm>
              <a:off x="5800344" y="4025900"/>
              <a:ext cx="3957447"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设例：地方政府成为行政诉讼被告</a:t>
              </a:r>
            </a:p>
          </p:txBody>
        </p:sp>
        <p:sp>
          <p:nvSpPr>
            <p:cNvPr id="14" name="TextBox 14"/>
            <p:cNvSpPr txBox="1"/>
            <p:nvPr/>
          </p:nvSpPr>
          <p:spPr>
            <a:xfrm>
              <a:off x="5800344" y="4406900"/>
              <a:ext cx="34869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accent1"/>
                  </a:solidFill>
                  <a:latin typeface="+mn-lt"/>
                  <a:ea typeface="+mn-ea"/>
                  <a:cs typeface="+mn-cs"/>
                </a:rPr>
                <a:t>有管辖权的法院也设在该地区，</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不因此按政府希望的结果裁判。</a:t>
              </a:r>
            </a:p>
          </p:txBody>
        </p:sp>
        <p:sp>
          <p:nvSpPr>
            <p:cNvPr id="15" name="TextBox 15"/>
            <p:cNvSpPr txBox="1"/>
            <p:nvPr/>
          </p:nvSpPr>
          <p:spPr>
            <a:xfrm>
              <a:off x="5803392" y="5441950"/>
              <a:ext cx="3957066" cy="549783"/>
            </a:xfrm>
            <a:prstGeom prst="rect">
              <a:avLst/>
            </a:prstGeom>
            <a:noFill/>
            <a:ln>
              <a:noFill/>
            </a:ln>
          </p:spPr>
          <p:txBody>
            <a:bodyPr wrap="none" lIns="0" tIns="0" rIns="0" bIns="0" anchor="t" anchorCtr="0">
              <a:spAutoFit/>
            </a:bodyPr>
            <a:lstStyle/>
            <a:p>
              <a:pPr algn="l">
                <a:lnSpc>
                  <a:spcPts val="2250"/>
                </a:lnSpc>
              </a:pPr>
              <a:r>
                <a:rPr lang="zh-CN" sz="1350" dirty="0">
                  <a:solidFill>
                    <a:schemeClr val="accent6"/>
                  </a:solidFill>
                  <a:latin typeface="+mn-lt"/>
                  <a:ea typeface="+mn-ea"/>
                  <a:cs typeface="+mn-cs"/>
                </a:rPr>
                <a:t>独立行权仍须法定审判组织、法定程序和司法责任；</a:t>
              </a:r>
              <a:br>
                <a:rPr lang="zh-CN" sz="1350" dirty="0">
                  <a:solidFill>
                    <a:schemeClr val="accent6"/>
                  </a:solidFill>
                  <a:latin typeface="+mn-lt"/>
                  <a:ea typeface="+mn-ea"/>
                  <a:cs typeface="+mn-cs"/>
                </a:rPr>
              </a:br>
              <a:r>
                <a:rPr lang="zh-CN" sz="1350" dirty="0">
                  <a:solidFill>
                    <a:schemeClr val="accent6"/>
                  </a:solidFill>
                  <a:latin typeface="+mn-lt"/>
                  <a:ea typeface="+mn-ea"/>
                  <a:cs typeface="+mn-cs"/>
                </a:rPr>
                <a:t>不等于个人好恶裁判或院长任意命令改判。</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6011018"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宪法第128、131、133条；图片：睢县法院2025-06-12官方报道，署名付力源，未单列摄影者。</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40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64535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国家法律监督机关</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法律监督，要看法定检察动作</a:t>
              </a:r>
            </a:p>
          </p:txBody>
        </p:sp>
      </p:grpSp>
      <p:grpSp>
        <p:nvGrpSpPr>
          <p:cNvPr id="12" name="procuratorial-acts"/>
          <p:cNvGrpSpPr/>
          <p:nvPr/>
        </p:nvGrpSpPr>
        <p:grpSpPr>
          <a:xfrm>
            <a:off x="749046" y="2012950"/>
            <a:ext cx="10024110" cy="2356231"/>
            <a:chOff x="749046" y="2012950"/>
            <a:chExt cx="10024110" cy="2356231"/>
          </a:xfrm>
        </p:grpSpPr>
        <p:sp>
          <p:nvSpPr>
            <p:cNvPr id="5" name="TextBox 5"/>
            <p:cNvSpPr txBox="1"/>
            <p:nvPr/>
          </p:nvSpPr>
          <p:spPr>
            <a:xfrm>
              <a:off x="749046" y="20129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审查逮捕</a:t>
              </a:r>
            </a:p>
          </p:txBody>
        </p:sp>
        <p:sp>
          <p:nvSpPr>
            <p:cNvPr id="6" name="TextBox 6"/>
            <p:cNvSpPr txBox="1"/>
            <p:nvPr/>
          </p:nvSpPr>
          <p:spPr>
            <a:xfrm>
              <a:off x="752094" y="2565400"/>
              <a:ext cx="2496312" cy="876681"/>
            </a:xfrm>
            <a:prstGeom prst="rect">
              <a:avLst/>
            </a:prstGeom>
            <a:noFill/>
            <a:ln>
              <a:noFill/>
            </a:ln>
          </p:spPr>
          <p:txBody>
            <a:bodyPr wrap="none" lIns="0" tIns="0" rIns="0" bIns="0" anchor="t" anchorCtr="0">
              <a:spAutoFit/>
            </a:bodyPr>
            <a:lstStyle/>
            <a:p>
              <a:pPr algn="l">
                <a:lnSpc>
                  <a:spcPts val="3900"/>
                </a:lnSpc>
              </a:pPr>
              <a:r>
                <a:rPr lang="zh-CN" sz="1950" dirty="0">
                  <a:solidFill>
                    <a:schemeClr val="accent1"/>
                  </a:solidFill>
                  <a:latin typeface="+mn-lt"/>
                  <a:ea typeface="+mn-ea"/>
                  <a:cs typeface="+mn-cs"/>
                </a:rPr>
                <a:t>审查公安提捕案件</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依法决定批准或不批准</a:t>
              </a:r>
            </a:p>
          </p:txBody>
        </p:sp>
        <p:sp>
          <p:nvSpPr>
            <p:cNvPr id="7" name="TextBox 7"/>
            <p:cNvSpPr txBox="1"/>
            <p:nvPr/>
          </p:nvSpPr>
          <p:spPr>
            <a:xfrm>
              <a:off x="4635246" y="20129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审查起诉</a:t>
              </a:r>
            </a:p>
          </p:txBody>
        </p:sp>
        <p:sp>
          <p:nvSpPr>
            <p:cNvPr id="8" name="TextBox 8"/>
            <p:cNvSpPr txBox="1"/>
            <p:nvPr/>
          </p:nvSpPr>
          <p:spPr>
            <a:xfrm>
              <a:off x="4638294" y="2565400"/>
              <a:ext cx="2248662" cy="876681"/>
            </a:xfrm>
            <a:prstGeom prst="rect">
              <a:avLst/>
            </a:prstGeom>
            <a:noFill/>
            <a:ln>
              <a:noFill/>
            </a:ln>
          </p:spPr>
          <p:txBody>
            <a:bodyPr wrap="none" lIns="0" tIns="0" rIns="0" bIns="0" anchor="t" anchorCtr="0">
              <a:spAutoFit/>
            </a:bodyPr>
            <a:lstStyle/>
            <a:p>
              <a:pPr algn="l">
                <a:lnSpc>
                  <a:spcPts val="3900"/>
                </a:lnSpc>
              </a:pPr>
              <a:r>
                <a:rPr lang="zh-CN" sz="1950" dirty="0">
                  <a:solidFill>
                    <a:schemeClr val="accent1"/>
                  </a:solidFill>
                  <a:latin typeface="+mn-lt"/>
                  <a:ea typeface="+mn-ea"/>
                  <a:cs typeface="+mn-cs"/>
                </a:rPr>
                <a:t>审查案件与起诉条件</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依法决定是否起诉</a:t>
              </a:r>
            </a:p>
          </p:txBody>
        </p:sp>
        <p:sp>
          <p:nvSpPr>
            <p:cNvPr id="9" name="TextBox 9"/>
            <p:cNvSpPr txBox="1"/>
            <p:nvPr/>
          </p:nvSpPr>
          <p:spPr>
            <a:xfrm>
              <a:off x="8521446" y="201295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依法抗诉</a:t>
              </a:r>
            </a:p>
          </p:txBody>
        </p:sp>
        <p:sp>
          <p:nvSpPr>
            <p:cNvPr id="10" name="TextBox 10"/>
            <p:cNvSpPr txBox="1"/>
            <p:nvPr/>
          </p:nvSpPr>
          <p:spPr>
            <a:xfrm>
              <a:off x="8524494" y="2565400"/>
              <a:ext cx="2248662" cy="876681"/>
            </a:xfrm>
            <a:prstGeom prst="rect">
              <a:avLst/>
            </a:prstGeom>
            <a:noFill/>
            <a:ln>
              <a:noFill/>
            </a:ln>
          </p:spPr>
          <p:txBody>
            <a:bodyPr wrap="none" lIns="0" tIns="0" rIns="0" bIns="0" anchor="t" anchorCtr="0">
              <a:spAutoFit/>
            </a:bodyPr>
            <a:lstStyle/>
            <a:p>
              <a:pPr algn="l">
                <a:lnSpc>
                  <a:spcPts val="3900"/>
                </a:lnSpc>
              </a:pPr>
              <a:r>
                <a:rPr lang="zh-CN" sz="1950" dirty="0">
                  <a:solidFill>
                    <a:schemeClr val="accent1"/>
                  </a:solidFill>
                  <a:latin typeface="+mn-lt"/>
                  <a:ea typeface="+mn-ea"/>
                  <a:cs typeface="+mn-cs"/>
                </a:rPr>
                <a:t>针对符合法定情形的</a:t>
              </a:r>
              <a:br>
                <a:rPr lang="zh-CN" sz="1950" dirty="0">
                  <a:solidFill>
                    <a:schemeClr val="accent1"/>
                  </a:solidFill>
                  <a:latin typeface="+mn-lt"/>
                  <a:ea typeface="+mn-ea"/>
                  <a:cs typeface="+mn-cs"/>
                </a:rPr>
              </a:br>
              <a:r>
                <a:rPr lang="zh-CN" sz="1950" dirty="0">
                  <a:solidFill>
                    <a:schemeClr val="accent1"/>
                  </a:solidFill>
                  <a:latin typeface="+mn-lt"/>
                  <a:ea typeface="+mn-ea"/>
                  <a:cs typeface="+mn-cs"/>
                </a:rPr>
                <a:t>错误裁判提出抗诉</a:t>
              </a:r>
            </a:p>
          </p:txBody>
        </p:sp>
        <p:sp>
          <p:nvSpPr>
            <p:cNvPr id="11" name="TextBox 11"/>
            <p:cNvSpPr txBox="1"/>
            <p:nvPr/>
          </p:nvSpPr>
          <p:spPr>
            <a:xfrm>
              <a:off x="752094" y="3987800"/>
              <a:ext cx="605751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每项有具体对象与法律后果；检察院不替法院判案。</a:t>
              </a:r>
            </a:p>
          </p:txBody>
        </p:sp>
      </p:grpSp>
      <p:grpSp>
        <p:nvGrpSpPr>
          <p:cNvPr id="15" name="p41-reveal-1"/>
          <p:cNvGrpSpPr/>
          <p:nvPr/>
        </p:nvGrpSpPr>
        <p:grpSpPr>
          <a:xfrm>
            <a:off x="752094" y="5111750"/>
            <a:ext cx="7895082" cy="857631"/>
            <a:chOff x="752094" y="5111750"/>
            <a:chExt cx="7895082" cy="857631"/>
          </a:xfrm>
        </p:grpSpPr>
        <p:sp>
          <p:nvSpPr>
            <p:cNvPr id="13" name="TextBox 13"/>
            <p:cNvSpPr txBox="1"/>
            <p:nvPr/>
          </p:nvSpPr>
          <p:spPr>
            <a:xfrm>
              <a:off x="752094" y="511175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依法独立行使检察权，排除行政机关、社会团体和个人的非法干涉。</a:t>
              </a:r>
            </a:p>
          </p:txBody>
        </p:sp>
        <p:sp>
          <p:nvSpPr>
            <p:cNvPr id="14" name="TextBox 14"/>
            <p:cNvSpPr txBox="1"/>
            <p:nvPr/>
          </p:nvSpPr>
          <p:spPr>
            <a:xfrm>
              <a:off x="752094" y="558800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同时接受本级人大及其常委会监督，也有上级检察院的法定领导。</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516998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宪法第134、136—138条；人民检察院组织法、刑事诉讼法。三项仅为代表性工作。</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41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8013192" cy="918464"/>
            <a:chOff x="592836" y="438150"/>
            <a:chExt cx="8013192"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两组同时成立的认识</a:t>
              </a:r>
            </a:p>
          </p:txBody>
        </p:sp>
        <p:sp>
          <p:nvSpPr>
            <p:cNvPr id="3" name="TextBox 3"/>
            <p:cNvSpPr txBox="1"/>
            <p:nvPr/>
          </p:nvSpPr>
          <p:spPr>
            <a:xfrm>
              <a:off x="592836" y="711200"/>
              <a:ext cx="801319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独立行权，与接受法定监督，可以并存</a:t>
              </a:r>
            </a:p>
          </p:txBody>
        </p:sp>
      </p:grpSp>
      <p:grpSp>
        <p:nvGrpSpPr>
          <p:cNvPr id="11" name="independence"/>
          <p:cNvGrpSpPr/>
          <p:nvPr/>
        </p:nvGrpSpPr>
        <p:grpSpPr>
          <a:xfrm>
            <a:off x="749046" y="2203450"/>
            <a:ext cx="9268968" cy="1956181"/>
            <a:chOff x="749046" y="2203450"/>
            <a:chExt cx="9268968" cy="1956181"/>
          </a:xfrm>
        </p:grpSpPr>
        <p:sp>
          <p:nvSpPr>
            <p:cNvPr id="5" name="TextBox 5"/>
            <p:cNvSpPr txBox="1"/>
            <p:nvPr/>
          </p:nvSpPr>
          <p:spPr>
            <a:xfrm>
              <a:off x="749046" y="220345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独立行使相应权力</a:t>
              </a:r>
            </a:p>
          </p:txBody>
        </p:sp>
        <p:sp>
          <p:nvSpPr>
            <p:cNvPr id="6" name="TextBox 6"/>
            <p:cNvSpPr txBox="1"/>
            <p:nvPr/>
          </p:nvSpPr>
          <p:spPr>
            <a:xfrm>
              <a:off x="752094" y="28448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排除非法干涉</a:t>
              </a:r>
            </a:p>
          </p:txBody>
        </p:sp>
        <p:sp>
          <p:nvSpPr>
            <p:cNvPr id="7" name="TextBox 7"/>
            <p:cNvSpPr txBox="1"/>
            <p:nvPr/>
          </p:nvSpPr>
          <p:spPr>
            <a:xfrm>
              <a:off x="6845046" y="22034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接受法定监督</a:t>
              </a:r>
            </a:p>
          </p:txBody>
        </p:sp>
        <p:sp>
          <p:nvSpPr>
            <p:cNvPr id="8" name="TextBox 8"/>
            <p:cNvSpPr txBox="1"/>
            <p:nvPr/>
          </p:nvSpPr>
          <p:spPr>
            <a:xfrm>
              <a:off x="6848094" y="284480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不免除依法履职与承担责任</a:t>
              </a:r>
            </a:p>
          </p:txBody>
        </p:sp>
        <p:sp>
          <p:nvSpPr>
            <p:cNvPr id="9" name="Freeform 9"/>
            <p:cNvSpPr/>
            <p:nvPr/>
          </p:nvSpPr>
          <p:spPr>
            <a:xfrm>
              <a:off x="4171950" y="3619500"/>
              <a:ext cx="4076700" cy="9525"/>
            </a:xfrm>
            <a:custGeom>
              <a:avLst/>
              <a:gdLst/>
              <a:ahLst/>
              <a:cxnLst/>
              <a:rect l="l" t="t" r="r" b="b"/>
              <a:pathLst>
                <a:path w="4076700" h="9525">
                  <a:moveTo>
                    <a:pt x="0" y="0"/>
                  </a:moveTo>
                  <a:lnTo>
                    <a:pt x="4076700" y="0"/>
                  </a:lnTo>
                </a:path>
              </a:pathLst>
            </a:custGeom>
            <a:noFill/>
            <a:ln w="19050">
              <a:solidFill>
                <a:schemeClr val="accent2"/>
              </a:solidFill>
            </a:ln>
          </p:spPr>
        </p:sp>
        <p:sp>
          <p:nvSpPr>
            <p:cNvPr id="10" name="TextBox 10"/>
            <p:cNvSpPr txBox="1"/>
            <p:nvPr/>
          </p:nvSpPr>
          <p:spPr>
            <a:xfrm>
              <a:off x="4828794" y="377825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两者并不抵消</a:t>
              </a:r>
            </a:p>
          </p:txBody>
        </p:sp>
      </p:grpSp>
      <p:grpSp>
        <p:nvGrpSpPr>
          <p:cNvPr id="15" name="p42-reveal-1"/>
          <p:cNvGrpSpPr/>
          <p:nvPr/>
        </p:nvGrpSpPr>
        <p:grpSpPr>
          <a:xfrm>
            <a:off x="752094" y="4711700"/>
            <a:ext cx="7370064" cy="1295781"/>
            <a:chOff x="752094" y="4711700"/>
            <a:chExt cx="7370064" cy="1295781"/>
          </a:xfrm>
        </p:grpSpPr>
        <p:sp>
          <p:nvSpPr>
            <p:cNvPr id="12" name="TextBox 12"/>
            <p:cNvSpPr txBox="1"/>
            <p:nvPr/>
          </p:nvSpPr>
          <p:spPr>
            <a:xfrm>
              <a:off x="752094" y="471170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监委、检察院系统有上下领导；法院系统有审判工作监督。</a:t>
              </a:r>
            </a:p>
          </p:txBody>
        </p:sp>
        <p:sp>
          <p:nvSpPr>
            <p:cNvPr id="13" name="TextBox 13"/>
            <p:cNvSpPr txBox="1"/>
            <p:nvPr/>
          </p:nvSpPr>
          <p:spPr>
            <a:xfrm>
              <a:off x="752094" y="5149850"/>
              <a:ext cx="718630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监察调查 → 依法移送检察院审查起诉 → 法院依法判断定罪量刑</a:t>
              </a:r>
            </a:p>
          </p:txBody>
        </p:sp>
        <p:sp>
          <p:nvSpPr>
            <p:cNvPr id="14" name="TextBox 14"/>
            <p:cNvSpPr txBox="1"/>
            <p:nvPr/>
          </p:nvSpPr>
          <p:spPr>
            <a:xfrm>
              <a:off x="752094" y="5626100"/>
              <a:ext cx="7370064"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发现同一个问题，不表示拥有同一种权限或可以包办全部程序。</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570004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宪法第127、131、132、136、137条；国家监察、检察法律监督与第八讲宪法监督须区分。</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42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693822"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第132、137条对读</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两个纵向关系，动词与对象都不同</a:t>
              </a:r>
            </a:p>
          </p:txBody>
        </p:sp>
      </p:grpSp>
      <p:grpSp>
        <p:nvGrpSpPr>
          <p:cNvPr id="13" name="two-vertical-relations"/>
          <p:cNvGrpSpPr/>
          <p:nvPr/>
        </p:nvGrpSpPr>
        <p:grpSpPr>
          <a:xfrm>
            <a:off x="1130046" y="1974850"/>
            <a:ext cx="8883396" cy="2498979"/>
            <a:chOff x="1130046" y="1974850"/>
            <a:chExt cx="8883396" cy="2498979"/>
          </a:xfrm>
        </p:grpSpPr>
        <p:sp>
          <p:nvSpPr>
            <p:cNvPr id="5" name="TextBox 5"/>
            <p:cNvSpPr txBox="1"/>
            <p:nvPr/>
          </p:nvSpPr>
          <p:spPr>
            <a:xfrm>
              <a:off x="1130046" y="197485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上级人民法院</a:t>
              </a:r>
            </a:p>
          </p:txBody>
        </p:sp>
        <p:sp>
          <p:nvSpPr>
            <p:cNvPr id="6" name="Freeform 6"/>
            <p:cNvSpPr/>
            <p:nvPr/>
          </p:nvSpPr>
          <p:spPr>
            <a:xfrm>
              <a:off x="2209800" y="2571750"/>
              <a:ext cx="152400" cy="1219200"/>
            </a:xfrm>
            <a:custGeom>
              <a:avLst/>
              <a:gdLst/>
              <a:ahLst/>
              <a:cxnLst/>
              <a:rect l="l" t="t" r="r" b="b"/>
              <a:pathLst>
                <a:path w="152400" h="1219200">
                  <a:moveTo>
                    <a:pt x="76200" y="0"/>
                  </a:moveTo>
                  <a:lnTo>
                    <a:pt x="76200" y="1200150"/>
                  </a:lnTo>
                  <a:moveTo>
                    <a:pt x="0" y="1104900"/>
                  </a:moveTo>
                  <a:lnTo>
                    <a:pt x="76200" y="1219200"/>
                  </a:lnTo>
                  <a:lnTo>
                    <a:pt x="152400" y="1104900"/>
                  </a:lnTo>
                </a:path>
              </a:pathLst>
            </a:custGeom>
            <a:noFill/>
            <a:ln w="19050">
              <a:solidFill>
                <a:schemeClr val="accent3"/>
              </a:solidFill>
            </a:ln>
          </p:spPr>
        </p:sp>
        <p:sp>
          <p:nvSpPr>
            <p:cNvPr id="7" name="TextBox 7"/>
            <p:cNvSpPr txBox="1"/>
            <p:nvPr/>
          </p:nvSpPr>
          <p:spPr>
            <a:xfrm>
              <a:off x="2657094" y="2882900"/>
              <a:ext cx="1594866" cy="381381"/>
            </a:xfrm>
            <a:prstGeom prst="rect">
              <a:avLst/>
            </a:prstGeom>
            <a:noFill/>
            <a:ln>
              <a:noFill/>
            </a:ln>
          </p:spPr>
          <p:txBody>
            <a:bodyPr wrap="none" lIns="0" tIns="0" rIns="0" bIns="0" anchor="t" anchorCtr="0">
              <a:spAutoFit/>
            </a:bodyPr>
            <a:lstStyle/>
            <a:p>
              <a:pPr algn="l"/>
              <a:r>
                <a:rPr lang="zh-CN" sz="1950" dirty="0">
                  <a:solidFill>
                    <a:schemeClr val="accent3"/>
                  </a:solidFill>
                  <a:latin typeface="+mn-lt"/>
                  <a:ea typeface="+mn-ea"/>
                  <a:cs typeface="+mn-cs"/>
                </a:rPr>
                <a:t>监督审判工作</a:t>
              </a:r>
            </a:p>
          </p:txBody>
        </p:sp>
        <p:sp>
          <p:nvSpPr>
            <p:cNvPr id="8" name="TextBox 8"/>
            <p:cNvSpPr txBox="1"/>
            <p:nvPr/>
          </p:nvSpPr>
          <p:spPr>
            <a:xfrm>
              <a:off x="1130046" y="3975100"/>
              <a:ext cx="2202180"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下级人民法院</a:t>
              </a:r>
            </a:p>
          </p:txBody>
        </p:sp>
        <p:sp>
          <p:nvSpPr>
            <p:cNvPr id="9" name="TextBox 9"/>
            <p:cNvSpPr txBox="1"/>
            <p:nvPr/>
          </p:nvSpPr>
          <p:spPr>
            <a:xfrm>
              <a:off x="7416546" y="19748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上级人民检察院</a:t>
              </a:r>
            </a:p>
          </p:txBody>
        </p:sp>
        <p:sp>
          <p:nvSpPr>
            <p:cNvPr id="10" name="Freeform 10"/>
            <p:cNvSpPr/>
            <p:nvPr/>
          </p:nvSpPr>
          <p:spPr>
            <a:xfrm>
              <a:off x="8496300" y="2571750"/>
              <a:ext cx="152400" cy="1219200"/>
            </a:xfrm>
            <a:custGeom>
              <a:avLst/>
              <a:gdLst/>
              <a:ahLst/>
              <a:cxnLst/>
              <a:rect l="l" t="t" r="r" b="b"/>
              <a:pathLst>
                <a:path w="152400" h="1219200">
                  <a:moveTo>
                    <a:pt x="76200" y="0"/>
                  </a:moveTo>
                  <a:lnTo>
                    <a:pt x="76200" y="1200150"/>
                  </a:lnTo>
                  <a:moveTo>
                    <a:pt x="0" y="1104900"/>
                  </a:moveTo>
                  <a:lnTo>
                    <a:pt x="76200" y="1219200"/>
                  </a:lnTo>
                  <a:lnTo>
                    <a:pt x="152400" y="1104900"/>
                  </a:lnTo>
                </a:path>
              </a:pathLst>
            </a:custGeom>
            <a:noFill/>
            <a:ln w="19050">
              <a:solidFill>
                <a:schemeClr val="accent2"/>
              </a:solidFill>
            </a:ln>
          </p:spPr>
        </p:sp>
        <p:sp>
          <p:nvSpPr>
            <p:cNvPr id="11" name="TextBox 11"/>
            <p:cNvSpPr txBox="1"/>
            <p:nvPr/>
          </p:nvSpPr>
          <p:spPr>
            <a:xfrm>
              <a:off x="8943594" y="2882900"/>
              <a:ext cx="106984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领导工作</a:t>
              </a:r>
            </a:p>
          </p:txBody>
        </p:sp>
        <p:sp>
          <p:nvSpPr>
            <p:cNvPr id="12" name="TextBox 12"/>
            <p:cNvSpPr txBox="1"/>
            <p:nvPr/>
          </p:nvSpPr>
          <p:spPr>
            <a:xfrm>
              <a:off x="7416546" y="397510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下级人民检察院</a:t>
              </a:r>
            </a:p>
          </p:txBody>
        </p:sp>
      </p:grpSp>
      <p:grpSp>
        <p:nvGrpSpPr>
          <p:cNvPr id="16" name="p43-reveal-1"/>
          <p:cNvGrpSpPr/>
          <p:nvPr/>
        </p:nvGrpSpPr>
        <p:grpSpPr>
          <a:xfrm>
            <a:off x="752094" y="5226050"/>
            <a:ext cx="6845046" cy="876681"/>
            <a:chOff x="752094" y="5226050"/>
            <a:chExt cx="6845046" cy="876681"/>
          </a:xfrm>
        </p:grpSpPr>
        <p:sp>
          <p:nvSpPr>
            <p:cNvPr id="14" name="TextBox 14"/>
            <p:cNvSpPr txBox="1"/>
            <p:nvPr/>
          </p:nvSpPr>
          <p:spPr>
            <a:xfrm>
              <a:off x="752094" y="52260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同样追求依法判断与法律统一，仍须使用各自的法定工具。</a:t>
              </a:r>
            </a:p>
          </p:txBody>
        </p:sp>
        <p:sp>
          <p:nvSpPr>
            <p:cNvPr id="15" name="TextBox 15"/>
            <p:cNvSpPr txBox="1"/>
            <p:nvPr/>
          </p:nvSpPr>
          <p:spPr>
            <a:xfrm>
              <a:off x="752094" y="5721350"/>
              <a:ext cx="634627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不能只说“都有上级”，就把两条关系改写成同一个词。</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859007"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宪法第132、137条；箭头对象和动词均须保留，不由几何位置推出额外权限。</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43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3453079"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用一项刑事程序理解审判监督</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二审纠错，改变的是法定裁判</a:t>
              </a:r>
            </a:p>
          </p:txBody>
        </p:sp>
      </p:grpSp>
      <p:grpSp>
        <p:nvGrpSpPr>
          <p:cNvPr id="14" name="appeal-route"/>
          <p:cNvGrpSpPr/>
          <p:nvPr/>
        </p:nvGrpSpPr>
        <p:grpSpPr>
          <a:xfrm>
            <a:off x="752094" y="1739900"/>
            <a:ext cx="10334625" cy="2645283"/>
            <a:chOff x="752094" y="1739900"/>
            <a:chExt cx="10334625" cy="2645283"/>
          </a:xfrm>
        </p:grpSpPr>
        <p:sp>
          <p:nvSpPr>
            <p:cNvPr id="5" name="TextBox 5"/>
            <p:cNvSpPr txBox="1"/>
            <p:nvPr/>
          </p:nvSpPr>
          <p:spPr>
            <a:xfrm>
              <a:off x="752094" y="202565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基层法院一审裁判</a:t>
              </a:r>
            </a:p>
          </p:txBody>
        </p:sp>
        <p:sp>
          <p:nvSpPr>
            <p:cNvPr id="6" name="Freeform 6"/>
            <p:cNvSpPr/>
            <p:nvPr/>
          </p:nvSpPr>
          <p:spPr>
            <a:xfrm>
              <a:off x="3333750" y="2076450"/>
              <a:ext cx="1638300" cy="152400"/>
            </a:xfrm>
            <a:custGeom>
              <a:avLst/>
              <a:gdLst/>
              <a:ahLst/>
              <a:cxnLst/>
              <a:rect l="l" t="t" r="r" b="b"/>
              <a:pathLst>
                <a:path w="1638300" h="152400">
                  <a:moveTo>
                    <a:pt x="0" y="76200"/>
                  </a:moveTo>
                  <a:lnTo>
                    <a:pt x="1619250" y="76200"/>
                  </a:lnTo>
                  <a:moveTo>
                    <a:pt x="1524000" y="0"/>
                  </a:moveTo>
                  <a:lnTo>
                    <a:pt x="1638300" y="76200"/>
                  </a:lnTo>
                  <a:lnTo>
                    <a:pt x="1524000" y="152400"/>
                  </a:lnTo>
                </a:path>
              </a:pathLst>
            </a:custGeom>
            <a:noFill/>
            <a:ln w="19050">
              <a:solidFill>
                <a:schemeClr val="accent3"/>
              </a:solidFill>
            </a:ln>
          </p:spPr>
        </p:sp>
        <p:sp>
          <p:nvSpPr>
            <p:cNvPr id="7" name="TextBox 7"/>
            <p:cNvSpPr txBox="1"/>
            <p:nvPr/>
          </p:nvSpPr>
          <p:spPr>
            <a:xfrm>
              <a:off x="3574542" y="1739900"/>
              <a:ext cx="1285875"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依法上诉、抗诉</a:t>
              </a:r>
            </a:p>
          </p:txBody>
        </p:sp>
        <p:sp>
          <p:nvSpPr>
            <p:cNvPr id="8" name="TextBox 8"/>
            <p:cNvSpPr txBox="1"/>
            <p:nvPr/>
          </p:nvSpPr>
          <p:spPr>
            <a:xfrm>
              <a:off x="5893308" y="197485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有权法院二审</a:t>
              </a:r>
            </a:p>
          </p:txBody>
        </p:sp>
        <p:sp>
          <p:nvSpPr>
            <p:cNvPr id="9" name="Freeform 9"/>
            <p:cNvSpPr/>
            <p:nvPr/>
          </p:nvSpPr>
          <p:spPr>
            <a:xfrm>
              <a:off x="5867400" y="2609850"/>
              <a:ext cx="4191000" cy="800100"/>
            </a:xfrm>
            <a:custGeom>
              <a:avLst/>
              <a:gdLst/>
              <a:ahLst/>
              <a:cxnLst/>
              <a:rect l="l" t="t" r="r" b="b"/>
              <a:pathLst>
                <a:path w="4191000" h="800100">
                  <a:moveTo>
                    <a:pt x="1371600" y="0"/>
                  </a:moveTo>
                  <a:lnTo>
                    <a:pt x="1371600" y="514350"/>
                  </a:lnTo>
                  <a:lnTo>
                    <a:pt x="0" y="514350"/>
                  </a:lnTo>
                  <a:lnTo>
                    <a:pt x="0" y="800100"/>
                  </a:lnTo>
                  <a:moveTo>
                    <a:pt x="1371600" y="514350"/>
                  </a:moveTo>
                  <a:lnTo>
                    <a:pt x="4191000" y="514350"/>
                  </a:lnTo>
                  <a:lnTo>
                    <a:pt x="4191000" y="800100"/>
                  </a:lnTo>
                  <a:moveTo>
                    <a:pt x="2171700" y="514350"/>
                  </a:moveTo>
                  <a:lnTo>
                    <a:pt x="2171700" y="800100"/>
                  </a:lnTo>
                </a:path>
              </a:pathLst>
            </a:custGeom>
            <a:noFill/>
            <a:ln w="19050">
              <a:solidFill>
                <a:schemeClr val="accent3"/>
              </a:solidFill>
            </a:ln>
          </p:spPr>
        </p:sp>
        <p:sp>
          <p:nvSpPr>
            <p:cNvPr id="10" name="TextBox 10"/>
            <p:cNvSpPr txBox="1"/>
            <p:nvPr/>
          </p:nvSpPr>
          <p:spPr>
            <a:xfrm>
              <a:off x="5419344" y="35877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维持</a:t>
              </a:r>
            </a:p>
          </p:txBody>
        </p:sp>
        <p:sp>
          <p:nvSpPr>
            <p:cNvPr id="11" name="TextBox 11"/>
            <p:cNvSpPr txBox="1"/>
            <p:nvPr/>
          </p:nvSpPr>
          <p:spPr>
            <a:xfrm>
              <a:off x="7591044" y="35877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改判</a:t>
              </a:r>
            </a:p>
          </p:txBody>
        </p:sp>
        <p:sp>
          <p:nvSpPr>
            <p:cNvPr id="12" name="TextBox 12"/>
            <p:cNvSpPr txBox="1"/>
            <p:nvPr/>
          </p:nvSpPr>
          <p:spPr>
            <a:xfrm>
              <a:off x="9229344" y="3587750"/>
              <a:ext cx="1857375"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依法撤销、发回</a:t>
              </a:r>
            </a:p>
          </p:txBody>
        </p:sp>
        <p:sp>
          <p:nvSpPr>
            <p:cNvPr id="13" name="TextBox 13"/>
            <p:cNvSpPr txBox="1"/>
            <p:nvPr/>
          </p:nvSpPr>
          <p:spPr>
            <a:xfrm>
              <a:off x="5898642" y="4121150"/>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结果依案件条件与法定程序，不是任选。</a:t>
              </a:r>
            </a:p>
          </p:txBody>
        </p:sp>
      </p:grpSp>
      <p:grpSp>
        <p:nvGrpSpPr>
          <p:cNvPr id="18" name="p44-reveal-1"/>
          <p:cNvGrpSpPr/>
          <p:nvPr/>
        </p:nvGrpSpPr>
        <p:grpSpPr>
          <a:xfrm>
            <a:off x="752094" y="4921250"/>
            <a:ext cx="8013192" cy="1216533"/>
            <a:chOff x="752094" y="4921250"/>
            <a:chExt cx="8013192" cy="1216533"/>
          </a:xfrm>
        </p:grpSpPr>
        <p:sp>
          <p:nvSpPr>
            <p:cNvPr id="15" name="TextBox 15"/>
            <p:cNvSpPr txBox="1"/>
            <p:nvPr/>
          </p:nvSpPr>
          <p:spPr>
            <a:xfrm>
              <a:off x="752094" y="4921250"/>
              <a:ext cx="684504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有权法院依法作自己的裁判，不是打电话命下级直接改判。</a:t>
              </a:r>
            </a:p>
          </p:txBody>
        </p:sp>
        <p:sp>
          <p:nvSpPr>
            <p:cNvPr id="16" name="TextBox 16"/>
            <p:cNvSpPr txBox="1"/>
            <p:nvPr/>
          </p:nvSpPr>
          <p:spPr>
            <a:xfrm>
              <a:off x="752094" y="53784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审判监督等另有法定程序；二审只是本页采用的一项说明。</a:t>
              </a:r>
            </a:p>
          </p:txBody>
        </p:sp>
        <p:sp>
          <p:nvSpPr>
            <p:cNvPr id="17" name="TextBox 17"/>
            <p:cNvSpPr txBox="1"/>
            <p:nvPr/>
          </p:nvSpPr>
          <p:spPr>
            <a:xfrm>
              <a:off x="755142" y="5873750"/>
              <a:ext cx="801014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最高法院依法制定审判中具体应用法律问题的司法解释、发布指导性案例，不泛给每一级上级法院。</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495088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刑事诉讼法第227—236条、人民法院组织法第18条；不是每案必经的统一过程。</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44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96844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抗诉与撤回的不同主体</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撤回不当抗诉，体现法定领导</a:t>
              </a:r>
            </a:p>
          </p:txBody>
        </p:sp>
      </p:grpSp>
      <p:grpSp>
        <p:nvGrpSpPr>
          <p:cNvPr id="12" name="protest-route"/>
          <p:cNvGrpSpPr/>
          <p:nvPr/>
        </p:nvGrpSpPr>
        <p:grpSpPr>
          <a:xfrm>
            <a:off x="749046" y="1873250"/>
            <a:ext cx="9137142" cy="2264283"/>
            <a:chOff x="749046" y="1873250"/>
            <a:chExt cx="9137142" cy="2264283"/>
          </a:xfrm>
        </p:grpSpPr>
        <p:sp>
          <p:nvSpPr>
            <p:cNvPr id="5" name="TextBox 5"/>
            <p:cNvSpPr txBox="1"/>
            <p:nvPr/>
          </p:nvSpPr>
          <p:spPr>
            <a:xfrm>
              <a:off x="752094" y="187325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前提：地方检察院认为同级法院的一审判决、裁定确有错误</a:t>
              </a:r>
            </a:p>
          </p:txBody>
        </p:sp>
        <p:sp>
          <p:nvSpPr>
            <p:cNvPr id="6" name="TextBox 6"/>
            <p:cNvSpPr txBox="1"/>
            <p:nvPr/>
          </p:nvSpPr>
          <p:spPr>
            <a:xfrm>
              <a:off x="749046" y="262255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地方检察院</a:t>
              </a:r>
            </a:p>
          </p:txBody>
        </p:sp>
        <p:sp>
          <p:nvSpPr>
            <p:cNvPr id="7" name="Freeform 7"/>
            <p:cNvSpPr/>
            <p:nvPr/>
          </p:nvSpPr>
          <p:spPr>
            <a:xfrm>
              <a:off x="3143250" y="2762250"/>
              <a:ext cx="3543300" cy="152400"/>
            </a:xfrm>
            <a:custGeom>
              <a:avLst/>
              <a:gdLst/>
              <a:ahLst/>
              <a:cxnLst/>
              <a:rect l="l" t="t" r="r" b="b"/>
              <a:pathLst>
                <a:path w="3543300" h="152400">
                  <a:moveTo>
                    <a:pt x="0" y="76200"/>
                  </a:moveTo>
                  <a:lnTo>
                    <a:pt x="3524250" y="76200"/>
                  </a:lnTo>
                  <a:moveTo>
                    <a:pt x="3429000" y="0"/>
                  </a:moveTo>
                  <a:lnTo>
                    <a:pt x="3543300" y="76200"/>
                  </a:lnTo>
                  <a:lnTo>
                    <a:pt x="3429000" y="152400"/>
                  </a:lnTo>
                </a:path>
              </a:pathLst>
            </a:custGeom>
            <a:noFill/>
            <a:ln w="19050">
              <a:solidFill>
                <a:schemeClr val="accent3"/>
              </a:solidFill>
            </a:ln>
          </p:spPr>
        </p:sp>
        <p:sp>
          <p:nvSpPr>
            <p:cNvPr id="8" name="TextBox 8"/>
            <p:cNvSpPr txBox="1"/>
            <p:nvPr/>
          </p:nvSpPr>
          <p:spPr>
            <a:xfrm>
              <a:off x="4142994" y="2349500"/>
              <a:ext cx="1594866"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应当依法抗诉</a:t>
              </a:r>
            </a:p>
          </p:txBody>
        </p:sp>
        <p:sp>
          <p:nvSpPr>
            <p:cNvPr id="9" name="TextBox 9"/>
            <p:cNvSpPr txBox="1"/>
            <p:nvPr/>
          </p:nvSpPr>
          <p:spPr>
            <a:xfrm>
              <a:off x="7321296" y="2622550"/>
              <a:ext cx="256489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上一级人民法院</a:t>
              </a:r>
            </a:p>
          </p:txBody>
        </p:sp>
        <p:sp>
          <p:nvSpPr>
            <p:cNvPr id="10" name="TextBox 10"/>
            <p:cNvSpPr txBox="1"/>
            <p:nvPr/>
          </p:nvSpPr>
          <p:spPr>
            <a:xfrm>
              <a:off x="4123944" y="334010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抗诉书经原审法院送交</a:t>
              </a:r>
            </a:p>
          </p:txBody>
        </p:sp>
        <p:sp>
          <p:nvSpPr>
            <p:cNvPr id="11" name="TextBox 11"/>
            <p:cNvSpPr txBox="1"/>
            <p:nvPr/>
          </p:nvSpPr>
          <p:spPr>
            <a:xfrm>
              <a:off x="755142" y="3873500"/>
              <a:ext cx="492061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抗诉的对象是原裁判，不是由检察院代替法院重新作出判决。</a:t>
              </a:r>
            </a:p>
          </p:txBody>
        </p:sp>
      </p:grpSp>
      <p:grpSp>
        <p:nvGrpSpPr>
          <p:cNvPr id="16" name="p45-reveal-1"/>
          <p:cNvGrpSpPr/>
          <p:nvPr/>
        </p:nvGrpSpPr>
        <p:grpSpPr>
          <a:xfrm>
            <a:off x="752094" y="4692650"/>
            <a:ext cx="8157591" cy="1276731"/>
            <a:chOff x="752094" y="4692650"/>
            <a:chExt cx="8157591" cy="1276731"/>
          </a:xfrm>
        </p:grpSpPr>
        <p:sp>
          <p:nvSpPr>
            <p:cNvPr id="13" name="TextBox 13"/>
            <p:cNvSpPr txBox="1"/>
            <p:nvPr/>
          </p:nvSpPr>
          <p:spPr>
            <a:xfrm>
              <a:off x="752094" y="4692650"/>
              <a:ext cx="815759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上一级检察院认为抗诉不当，可向同级法院撤回，并通知下级检察院。</a:t>
              </a:r>
            </a:p>
          </p:txBody>
        </p:sp>
        <p:sp>
          <p:nvSpPr>
            <p:cNvPr id="14" name="TextBox 14"/>
            <p:cNvSpPr txBox="1"/>
            <p:nvPr/>
          </p:nvSpPr>
          <p:spPr>
            <a:xfrm>
              <a:off x="752094" y="513080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上级还可依法书面指令纠正，或依法撤销、变更下级的错误决定。</a:t>
              </a:r>
            </a:p>
          </p:txBody>
        </p:sp>
        <p:sp>
          <p:nvSpPr>
            <p:cNvPr id="15" name="TextBox 15"/>
            <p:cNvSpPr txBox="1"/>
            <p:nvPr/>
          </p:nvSpPr>
          <p:spPr>
            <a:xfrm>
              <a:off x="752094" y="5588000"/>
              <a:ext cx="789508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下级有异议，可以在执行的同时报告；法定领导也须有依据和程序。</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610996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刑事诉讼法第228、231、232条；人民检察院组织法第24、25条。撤回抗诉不等于撤销法院判决。</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45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135624" cy="918464"/>
            <a:chOff x="592836" y="438150"/>
            <a:chExt cx="6135624" cy="918464"/>
          </a:xfrm>
        </p:grpSpPr>
        <p:sp>
          <p:nvSpPr>
            <p:cNvPr id="2" name="TextBox 2"/>
            <p:cNvSpPr txBox="1"/>
            <p:nvPr/>
          </p:nvSpPr>
          <p:spPr>
            <a:xfrm>
              <a:off x="603504" y="438150"/>
              <a:ext cx="275036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独立思考约1—2分钟</a:t>
              </a:r>
            </a:p>
          </p:txBody>
        </p:sp>
        <p:sp>
          <p:nvSpPr>
            <p:cNvPr id="3" name="TextBox 3"/>
            <p:cNvSpPr txBox="1"/>
            <p:nvPr/>
          </p:nvSpPr>
          <p:spPr>
            <a:xfrm>
              <a:off x="592836" y="711200"/>
              <a:ext cx="6135624"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两种纠错，谁对谁、怎样做？</a:t>
              </a:r>
            </a:p>
          </p:txBody>
        </p:sp>
      </p:grpSp>
      <p:grpSp>
        <p:nvGrpSpPr>
          <p:cNvPr id="9" name="two-actions"/>
          <p:cNvGrpSpPr/>
          <p:nvPr/>
        </p:nvGrpSpPr>
        <p:grpSpPr>
          <a:xfrm>
            <a:off x="749808" y="1879600"/>
            <a:ext cx="8574938" cy="1899031"/>
            <a:chOff x="749808" y="1879600"/>
            <a:chExt cx="8574938" cy="1899031"/>
          </a:xfrm>
        </p:grpSpPr>
        <p:sp>
          <p:nvSpPr>
            <p:cNvPr id="5" name="TextBox 5"/>
            <p:cNvSpPr txBox="1"/>
            <p:nvPr/>
          </p:nvSpPr>
          <p:spPr>
            <a:xfrm>
              <a:off x="749808" y="1879600"/>
              <a:ext cx="3835603"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A · 上级法院依法二审改判</a:t>
              </a:r>
            </a:p>
          </p:txBody>
        </p:sp>
        <p:sp>
          <p:nvSpPr>
            <p:cNvPr id="6" name="TextBox 6"/>
            <p:cNvSpPr txBox="1"/>
            <p:nvPr/>
          </p:nvSpPr>
          <p:spPr>
            <a:xfrm>
              <a:off x="749808" y="2413000"/>
              <a:ext cx="577413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B · 上级检察院依法撤回下级的不当抗诉</a:t>
              </a:r>
            </a:p>
          </p:txBody>
        </p:sp>
        <p:sp>
          <p:nvSpPr>
            <p:cNvPr id="7" name="TextBox 7"/>
            <p:cNvSpPr txBox="1"/>
            <p:nvPr/>
          </p:nvSpPr>
          <p:spPr>
            <a:xfrm>
              <a:off x="752094" y="2997200"/>
              <a:ext cx="421995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分别辨认主体、对象、程序和结果。</a:t>
              </a:r>
            </a:p>
          </p:txBody>
        </p:sp>
        <p:sp>
          <p:nvSpPr>
            <p:cNvPr id="8" name="TextBox 8"/>
            <p:cNvSpPr txBox="1"/>
            <p:nvPr/>
          </p:nvSpPr>
          <p:spPr>
            <a:xfrm>
              <a:off x="752094" y="3397250"/>
              <a:ext cx="857265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变式：若A不经法定程序，只命令下级改掉已作出的判决，判断是否变化？</a:t>
              </a:r>
            </a:p>
          </p:txBody>
        </p:sp>
      </p:grpSp>
      <p:grpSp>
        <p:nvGrpSpPr>
          <p:cNvPr id="12" name="p46-reveal-1"/>
          <p:cNvGrpSpPr/>
          <p:nvPr/>
        </p:nvGrpSpPr>
        <p:grpSpPr>
          <a:xfrm>
            <a:off x="752094" y="4159250"/>
            <a:ext cx="8310143" cy="819531"/>
            <a:chOff x="752094" y="4159250"/>
            <a:chExt cx="8310143" cy="819531"/>
          </a:xfrm>
        </p:grpSpPr>
        <p:sp>
          <p:nvSpPr>
            <p:cNvPr id="10" name="TextBox 10"/>
            <p:cNvSpPr txBox="1"/>
            <p:nvPr/>
          </p:nvSpPr>
          <p:spPr>
            <a:xfrm>
              <a:off x="752094" y="4159250"/>
              <a:ext cx="831014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A：有权法院在法定审级中作自己的裁判；是审判工作监督的法定途径。</a:t>
              </a:r>
            </a:p>
          </p:txBody>
        </p:sp>
        <p:sp>
          <p:nvSpPr>
            <p:cNvPr id="11" name="TextBox 11"/>
            <p:cNvSpPr txBox="1"/>
            <p:nvPr/>
          </p:nvSpPr>
          <p:spPr>
            <a:xfrm>
              <a:off x="752094" y="4597400"/>
              <a:ext cx="726010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B：上级检察院处理下级诉讼主张，依法行使系统内领导职权。</a:t>
              </a:r>
            </a:p>
          </p:txBody>
        </p:sp>
      </p:grpSp>
      <p:grpSp>
        <p:nvGrpSpPr>
          <p:cNvPr id="15" name="p46-reveal-2"/>
          <p:cNvGrpSpPr/>
          <p:nvPr/>
        </p:nvGrpSpPr>
        <p:grpSpPr>
          <a:xfrm>
            <a:off x="752094" y="5492750"/>
            <a:ext cx="6608788" cy="740283"/>
            <a:chOff x="752094" y="5492750"/>
            <a:chExt cx="6608788" cy="740283"/>
          </a:xfrm>
        </p:grpSpPr>
        <p:sp>
          <p:nvSpPr>
            <p:cNvPr id="13" name="TextBox 13"/>
            <p:cNvSpPr txBox="1"/>
            <p:nvPr/>
          </p:nvSpPr>
          <p:spPr>
            <a:xfrm>
              <a:off x="752094" y="5492750"/>
              <a:ext cx="6608788"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变式绕开法定程序，不能仅以上级“监督”作为充分依据。</a:t>
              </a:r>
            </a:p>
          </p:txBody>
        </p:sp>
        <p:sp>
          <p:nvSpPr>
            <p:cNvPr id="14" name="TextBox 14"/>
            <p:cNvSpPr txBox="1"/>
            <p:nvPr/>
          </p:nvSpPr>
          <p:spPr>
            <a:xfrm>
              <a:off x="755142" y="5969000"/>
              <a:ext cx="546582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关键不只是有没有上级意见，还在于谁有何种职权、走了什么程序。</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396849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本设例用于区分监督、领导与依法纠错，不涉及真实案件判断。</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46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5666232" cy="918464"/>
            <a:chOff x="592836" y="438150"/>
            <a:chExt cx="5666232" cy="918464"/>
          </a:xfrm>
        </p:grpSpPr>
        <p:sp>
          <p:nvSpPr>
            <p:cNvPr id="2" name="TextBox 2"/>
            <p:cNvSpPr txBox="1"/>
            <p:nvPr/>
          </p:nvSpPr>
          <p:spPr>
            <a:xfrm>
              <a:off x="603504" y="438150"/>
              <a:ext cx="2483815"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三条关系分别读</a:t>
              </a:r>
            </a:p>
          </p:txBody>
        </p:sp>
        <p:sp>
          <p:nvSpPr>
            <p:cNvPr id="3" name="TextBox 3"/>
            <p:cNvSpPr txBox="1"/>
            <p:nvPr/>
          </p:nvSpPr>
          <p:spPr>
            <a:xfrm>
              <a:off x="592836" y="711200"/>
              <a:ext cx="5666232"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同样有上下，不能都叫领导</a:t>
              </a:r>
            </a:p>
          </p:txBody>
        </p:sp>
      </p:grpSp>
      <p:grpSp>
        <p:nvGrpSpPr>
          <p:cNvPr id="17" name="relationship-objects"/>
          <p:cNvGrpSpPr/>
          <p:nvPr/>
        </p:nvGrpSpPr>
        <p:grpSpPr>
          <a:xfrm>
            <a:off x="749808" y="1835150"/>
            <a:ext cx="7693152" cy="2704592"/>
            <a:chOff x="749808" y="1835150"/>
            <a:chExt cx="7693152" cy="2704592"/>
          </a:xfrm>
        </p:grpSpPr>
        <p:sp>
          <p:nvSpPr>
            <p:cNvPr id="5" name="TextBox 5"/>
            <p:cNvSpPr txBox="1"/>
            <p:nvPr/>
          </p:nvSpPr>
          <p:spPr>
            <a:xfrm>
              <a:off x="749808" y="2012950"/>
              <a:ext cx="67056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人大</a:t>
              </a:r>
            </a:p>
          </p:txBody>
        </p:sp>
        <p:sp>
          <p:nvSpPr>
            <p:cNvPr id="6" name="Freeform 6"/>
            <p:cNvSpPr/>
            <p:nvPr/>
          </p:nvSpPr>
          <p:spPr>
            <a:xfrm>
              <a:off x="2190750" y="2114550"/>
              <a:ext cx="3867150" cy="152400"/>
            </a:xfrm>
            <a:custGeom>
              <a:avLst/>
              <a:gdLst/>
              <a:ahLst/>
              <a:cxnLst/>
              <a:rect l="l" t="t" r="r" b="b"/>
              <a:pathLst>
                <a:path w="3867150" h="152400">
                  <a:moveTo>
                    <a:pt x="0" y="76200"/>
                  </a:moveTo>
                  <a:lnTo>
                    <a:pt x="3848100" y="76200"/>
                  </a:lnTo>
                  <a:moveTo>
                    <a:pt x="3752850" y="0"/>
                  </a:moveTo>
                  <a:lnTo>
                    <a:pt x="3867150" y="76200"/>
                  </a:lnTo>
                  <a:lnTo>
                    <a:pt x="3752850" y="152400"/>
                  </a:lnTo>
                </a:path>
              </a:pathLst>
            </a:custGeom>
            <a:noFill/>
            <a:ln w="19050">
              <a:solidFill>
                <a:schemeClr val="accent3"/>
              </a:solidFill>
            </a:ln>
          </p:spPr>
        </p:sp>
        <p:sp>
          <p:nvSpPr>
            <p:cNvPr id="7" name="TextBox 7"/>
            <p:cNvSpPr txBox="1"/>
            <p:nvPr/>
          </p:nvSpPr>
          <p:spPr>
            <a:xfrm>
              <a:off x="3136392" y="183515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依法监督履职</a:t>
              </a:r>
            </a:p>
          </p:txBody>
        </p:sp>
        <p:sp>
          <p:nvSpPr>
            <p:cNvPr id="8" name="TextBox 8"/>
            <p:cNvSpPr txBox="1"/>
            <p:nvPr/>
          </p:nvSpPr>
          <p:spPr>
            <a:xfrm>
              <a:off x="6848094" y="20637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有关国家机关</a:t>
              </a:r>
            </a:p>
          </p:txBody>
        </p:sp>
        <p:sp>
          <p:nvSpPr>
            <p:cNvPr id="9" name="TextBox 9"/>
            <p:cNvSpPr txBox="1"/>
            <p:nvPr/>
          </p:nvSpPr>
          <p:spPr>
            <a:xfrm>
              <a:off x="749808" y="30416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上级法院</a:t>
              </a:r>
            </a:p>
          </p:txBody>
        </p:sp>
        <p:sp>
          <p:nvSpPr>
            <p:cNvPr id="10" name="Freeform 10"/>
            <p:cNvSpPr/>
            <p:nvPr/>
          </p:nvSpPr>
          <p:spPr>
            <a:xfrm>
              <a:off x="2895600" y="3143250"/>
              <a:ext cx="3162300" cy="152400"/>
            </a:xfrm>
            <a:custGeom>
              <a:avLst/>
              <a:gdLst/>
              <a:ahLst/>
              <a:cxnLst/>
              <a:rect l="l" t="t" r="r" b="b"/>
              <a:pathLst>
                <a:path w="3162300" h="152400">
                  <a:moveTo>
                    <a:pt x="0" y="76200"/>
                  </a:moveTo>
                  <a:lnTo>
                    <a:pt x="3143250" y="76200"/>
                  </a:lnTo>
                  <a:moveTo>
                    <a:pt x="3048000" y="0"/>
                  </a:moveTo>
                  <a:lnTo>
                    <a:pt x="3162300" y="76200"/>
                  </a:lnTo>
                  <a:lnTo>
                    <a:pt x="3048000" y="152400"/>
                  </a:lnTo>
                </a:path>
              </a:pathLst>
            </a:custGeom>
            <a:noFill/>
            <a:ln w="19050">
              <a:solidFill>
                <a:schemeClr val="accent3"/>
              </a:solidFill>
            </a:ln>
          </p:spPr>
        </p:sp>
        <p:sp>
          <p:nvSpPr>
            <p:cNvPr id="11" name="TextBox 11"/>
            <p:cNvSpPr txBox="1"/>
            <p:nvPr/>
          </p:nvSpPr>
          <p:spPr>
            <a:xfrm>
              <a:off x="3403092" y="286385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监督审判工作</a:t>
              </a:r>
            </a:p>
          </p:txBody>
        </p:sp>
        <p:sp>
          <p:nvSpPr>
            <p:cNvPr id="12" name="TextBox 12"/>
            <p:cNvSpPr txBox="1"/>
            <p:nvPr/>
          </p:nvSpPr>
          <p:spPr>
            <a:xfrm>
              <a:off x="6848094" y="30924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下级法院</a:t>
              </a:r>
            </a:p>
          </p:txBody>
        </p:sp>
        <p:sp>
          <p:nvSpPr>
            <p:cNvPr id="13" name="TextBox 13"/>
            <p:cNvSpPr txBox="1"/>
            <p:nvPr/>
          </p:nvSpPr>
          <p:spPr>
            <a:xfrm>
              <a:off x="749808" y="407035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上级检察院</a:t>
              </a:r>
            </a:p>
          </p:txBody>
        </p:sp>
        <p:sp>
          <p:nvSpPr>
            <p:cNvPr id="14" name="Freeform 14"/>
            <p:cNvSpPr/>
            <p:nvPr/>
          </p:nvSpPr>
          <p:spPr>
            <a:xfrm>
              <a:off x="3143250" y="4171950"/>
              <a:ext cx="2914650" cy="152400"/>
            </a:xfrm>
            <a:custGeom>
              <a:avLst/>
              <a:gdLst/>
              <a:ahLst/>
              <a:cxnLst/>
              <a:rect l="l" t="t" r="r" b="b"/>
              <a:pathLst>
                <a:path w="2914650" h="152400">
                  <a:moveTo>
                    <a:pt x="0" y="76200"/>
                  </a:moveTo>
                  <a:lnTo>
                    <a:pt x="2895600" y="76200"/>
                  </a:lnTo>
                  <a:moveTo>
                    <a:pt x="2800350" y="0"/>
                  </a:moveTo>
                  <a:lnTo>
                    <a:pt x="2914650" y="76200"/>
                  </a:lnTo>
                  <a:lnTo>
                    <a:pt x="2800350" y="152400"/>
                  </a:lnTo>
                </a:path>
              </a:pathLst>
            </a:custGeom>
            <a:noFill/>
            <a:ln w="19050">
              <a:solidFill>
                <a:schemeClr val="accent2"/>
              </a:solidFill>
            </a:ln>
          </p:spPr>
        </p:sp>
        <p:sp>
          <p:nvSpPr>
            <p:cNvPr id="15" name="TextBox 15"/>
            <p:cNvSpPr txBox="1"/>
            <p:nvPr/>
          </p:nvSpPr>
          <p:spPr>
            <a:xfrm>
              <a:off x="3707892" y="3892550"/>
              <a:ext cx="1104138"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依法领导工作</a:t>
              </a:r>
            </a:p>
          </p:txBody>
        </p:sp>
        <p:sp>
          <p:nvSpPr>
            <p:cNvPr id="16" name="TextBox 16"/>
            <p:cNvSpPr txBox="1"/>
            <p:nvPr/>
          </p:nvSpPr>
          <p:spPr>
            <a:xfrm>
              <a:off x="6848094" y="4121150"/>
              <a:ext cx="133235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下级检察院</a:t>
              </a:r>
            </a:p>
          </p:txBody>
        </p:sp>
      </p:grpSp>
      <p:grpSp>
        <p:nvGrpSpPr>
          <p:cNvPr id="20" name="p47-reveal-1"/>
          <p:cNvGrpSpPr/>
          <p:nvPr/>
        </p:nvGrpSpPr>
        <p:grpSpPr>
          <a:xfrm>
            <a:off x="752094" y="5245100"/>
            <a:ext cx="8708860" cy="876681"/>
            <a:chOff x="752094" y="5245100"/>
            <a:chExt cx="8708860" cy="876681"/>
          </a:xfrm>
        </p:grpSpPr>
        <p:sp>
          <p:nvSpPr>
            <p:cNvPr id="18" name="TextBox 18"/>
            <p:cNvSpPr txBox="1"/>
            <p:nvPr/>
          </p:nvSpPr>
          <p:spPr>
            <a:xfrm>
              <a:off x="752094" y="5245100"/>
              <a:ext cx="870886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主体、方向、对象都不同；同一个“监督”，也不表示可以替被监督者决定。</a:t>
              </a:r>
            </a:p>
          </p:txBody>
        </p:sp>
        <p:sp>
          <p:nvSpPr>
            <p:cNvPr id="19" name="TextBox 19"/>
            <p:cNvSpPr txBox="1"/>
            <p:nvPr/>
          </p:nvSpPr>
          <p:spPr>
            <a:xfrm>
              <a:off x="752094" y="5740400"/>
              <a:ext cx="579501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接下来换一种联系：办理刑事案件时的横向分工。</a:t>
              </a:r>
            </a:p>
          </p:txBody>
        </p:sp>
      </p:grpSp>
      <p:grpSp>
        <p:nvGrpSpPr>
          <p:cNvPr id="23" name="footer"/>
          <p:cNvGrpSpPr/>
          <p:nvPr/>
        </p:nvGrpSpPr>
        <p:grpSpPr>
          <a:xfrm>
            <a:off x="604266" y="6464300"/>
            <a:ext cx="10828344" cy="205359"/>
            <a:chOff x="604266" y="6464300"/>
            <a:chExt cx="10828344" cy="205359"/>
          </a:xfrm>
        </p:grpSpPr>
        <p:sp>
          <p:nvSpPr>
            <p:cNvPr id="21" name="TextBox 21"/>
            <p:cNvSpPr txBox="1"/>
            <p:nvPr/>
          </p:nvSpPr>
          <p:spPr>
            <a:xfrm>
              <a:off x="604266" y="6464300"/>
              <a:ext cx="422999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宪法第3、132、137条；关系表达不是把机关排成一条行政隶属链。</a:t>
              </a:r>
            </a:p>
          </p:txBody>
        </p:sp>
        <p:sp>
          <p:nvSpPr>
            <p:cNvPr id="22" name="TextBox 22"/>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47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07345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第140条与一个限定场景</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办理刑事案件，分工也配合制约</a:t>
              </a:r>
            </a:p>
          </p:txBody>
        </p:sp>
      </p:grpSp>
      <p:grpSp>
        <p:nvGrpSpPr>
          <p:cNvPr id="14" name="criminal-roles"/>
          <p:cNvGrpSpPr/>
          <p:nvPr/>
        </p:nvGrpSpPr>
        <p:grpSpPr>
          <a:xfrm>
            <a:off x="749046" y="1930400"/>
            <a:ext cx="10430256" cy="2336800"/>
            <a:chOff x="749046" y="1930400"/>
            <a:chExt cx="10430256" cy="2336800"/>
          </a:xfrm>
        </p:grpSpPr>
        <p:sp>
          <p:nvSpPr>
            <p:cNvPr id="5" name="TextBox 5"/>
            <p:cNvSpPr txBox="1"/>
            <p:nvPr/>
          </p:nvSpPr>
          <p:spPr>
            <a:xfrm>
              <a:off x="755142" y="1930400"/>
              <a:ext cx="637451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本页场景：公安机关侦办的公诉案件；位置不表示隶属、比例或每案必经顺序。</a:t>
              </a:r>
            </a:p>
          </p:txBody>
        </p:sp>
        <p:sp>
          <p:nvSpPr>
            <p:cNvPr id="6" name="TextBox 6"/>
            <p:cNvSpPr txBox="1"/>
            <p:nvPr/>
          </p:nvSpPr>
          <p:spPr>
            <a:xfrm>
              <a:off x="749046" y="26416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公安机关</a:t>
              </a:r>
            </a:p>
          </p:txBody>
        </p:sp>
        <p:sp>
          <p:nvSpPr>
            <p:cNvPr id="7" name="TextBox 7"/>
            <p:cNvSpPr txBox="1"/>
            <p:nvPr/>
          </p:nvSpPr>
          <p:spPr>
            <a:xfrm>
              <a:off x="752094" y="31686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依法侦查</a:t>
              </a:r>
            </a:p>
          </p:txBody>
        </p:sp>
        <p:sp>
          <p:nvSpPr>
            <p:cNvPr id="8" name="TextBox 8"/>
            <p:cNvSpPr txBox="1"/>
            <p:nvPr/>
          </p:nvSpPr>
          <p:spPr>
            <a:xfrm>
              <a:off x="4844796" y="2641600"/>
              <a:ext cx="183946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人民检察院</a:t>
              </a:r>
            </a:p>
          </p:txBody>
        </p:sp>
        <p:sp>
          <p:nvSpPr>
            <p:cNvPr id="9" name="TextBox 9"/>
            <p:cNvSpPr txBox="1"/>
            <p:nvPr/>
          </p:nvSpPr>
          <p:spPr>
            <a:xfrm>
              <a:off x="4847844" y="3168650"/>
              <a:ext cx="238239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审查逮捕、审查起诉</a:t>
              </a:r>
            </a:p>
          </p:txBody>
        </p:sp>
        <p:sp>
          <p:nvSpPr>
            <p:cNvPr id="10" name="TextBox 10"/>
            <p:cNvSpPr txBox="1"/>
            <p:nvPr/>
          </p:nvSpPr>
          <p:spPr>
            <a:xfrm>
              <a:off x="4847844" y="3568700"/>
              <a:ext cx="2119884"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行使法律监督职权</a:t>
              </a:r>
            </a:p>
          </p:txBody>
        </p:sp>
        <p:sp>
          <p:nvSpPr>
            <p:cNvPr id="11" name="TextBox 11"/>
            <p:cNvSpPr txBox="1"/>
            <p:nvPr/>
          </p:nvSpPr>
          <p:spPr>
            <a:xfrm>
              <a:off x="9702546" y="2641600"/>
              <a:ext cx="147675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人民法院</a:t>
              </a:r>
            </a:p>
          </p:txBody>
        </p:sp>
        <p:sp>
          <p:nvSpPr>
            <p:cNvPr id="12" name="TextBox 12"/>
            <p:cNvSpPr txBox="1"/>
            <p:nvPr/>
          </p:nvSpPr>
          <p:spPr>
            <a:xfrm>
              <a:off x="9705594" y="3168650"/>
              <a:ext cx="106984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依法审判</a:t>
              </a:r>
            </a:p>
          </p:txBody>
        </p:sp>
        <p:sp>
          <p:nvSpPr>
            <p:cNvPr id="13" name="Freeform 13"/>
            <p:cNvSpPr/>
            <p:nvPr/>
          </p:nvSpPr>
          <p:spPr>
            <a:xfrm>
              <a:off x="1047750" y="4019550"/>
              <a:ext cx="9906000" cy="247650"/>
            </a:xfrm>
            <a:custGeom>
              <a:avLst/>
              <a:gdLst/>
              <a:ahLst/>
              <a:cxnLst/>
              <a:rect l="l" t="t" r="r" b="b"/>
              <a:pathLst>
                <a:path w="9906000" h="247650">
                  <a:moveTo>
                    <a:pt x="0" y="247650"/>
                  </a:moveTo>
                  <a:lnTo>
                    <a:pt x="9906000" y="247650"/>
                  </a:lnTo>
                  <a:moveTo>
                    <a:pt x="0" y="247650"/>
                  </a:moveTo>
                  <a:lnTo>
                    <a:pt x="0" y="0"/>
                  </a:lnTo>
                  <a:moveTo>
                    <a:pt x="9906000" y="247650"/>
                  </a:moveTo>
                  <a:lnTo>
                    <a:pt x="9906000" y="0"/>
                  </a:lnTo>
                </a:path>
              </a:pathLst>
            </a:custGeom>
            <a:noFill/>
            <a:ln w="19050">
              <a:solidFill>
                <a:schemeClr val="accent3"/>
              </a:solidFill>
            </a:ln>
          </p:spPr>
        </p:sp>
      </p:grpSp>
      <p:grpSp>
        <p:nvGrpSpPr>
          <p:cNvPr id="17" name="p48-reveal-1"/>
          <p:cNvGrpSpPr/>
          <p:nvPr/>
        </p:nvGrpSpPr>
        <p:grpSpPr>
          <a:xfrm>
            <a:off x="749808" y="5060950"/>
            <a:ext cx="7897368" cy="965581"/>
            <a:chOff x="749808" y="5060950"/>
            <a:chExt cx="7897368" cy="965581"/>
          </a:xfrm>
        </p:grpSpPr>
        <p:sp>
          <p:nvSpPr>
            <p:cNvPr id="15" name="TextBox 15"/>
            <p:cNvSpPr txBox="1"/>
            <p:nvPr/>
          </p:nvSpPr>
          <p:spPr>
            <a:xfrm>
              <a:off x="749808" y="5060950"/>
              <a:ext cx="464454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分工负责 · 互相配合 · 互相制约</a:t>
              </a:r>
            </a:p>
          </p:txBody>
        </p:sp>
        <p:sp>
          <p:nvSpPr>
            <p:cNvPr id="16" name="TextBox 16"/>
            <p:cNvSpPr txBox="1"/>
            <p:nvPr/>
          </p:nvSpPr>
          <p:spPr>
            <a:xfrm>
              <a:off x="752094" y="5645150"/>
              <a:ext cx="7895082"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前一家提出的意见，不当然要求后两家照办；也不是每案走完三家。</a:t>
              </a:r>
            </a:p>
          </p:txBody>
        </p:sp>
      </p:grpSp>
      <p:grpSp>
        <p:nvGrpSpPr>
          <p:cNvPr id="20" name="footer"/>
          <p:cNvGrpSpPr/>
          <p:nvPr/>
        </p:nvGrpSpPr>
        <p:grpSpPr>
          <a:xfrm>
            <a:off x="604266" y="6464300"/>
            <a:ext cx="10828344" cy="205359"/>
            <a:chOff x="604266" y="6464300"/>
            <a:chExt cx="10828344" cy="205359"/>
          </a:xfrm>
        </p:grpSpPr>
        <p:sp>
          <p:nvSpPr>
            <p:cNvPr id="18" name="TextBox 18"/>
            <p:cNvSpPr txBox="1"/>
            <p:nvPr/>
          </p:nvSpPr>
          <p:spPr>
            <a:xfrm>
              <a:off x="604266" y="6464300"/>
              <a:ext cx="478126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宪法第140条，刑事诉讼法第3、7条；案件依法可能在不同环节终结或分流。</a:t>
              </a:r>
            </a:p>
          </p:txBody>
        </p:sp>
        <p:sp>
          <p:nvSpPr>
            <p:cNvPr id="19" name="TextBox 19"/>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48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由决定看制约的实际后果</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不批捕之后，不能把释放放一边</a:t>
              </a:r>
            </a:p>
          </p:txBody>
        </p:sp>
      </p:grpSp>
      <p:grpSp>
        <p:nvGrpSpPr>
          <p:cNvPr id="8" name="given-no-arrest"/>
          <p:cNvGrpSpPr/>
          <p:nvPr/>
        </p:nvGrpSpPr>
        <p:grpSpPr>
          <a:xfrm>
            <a:off x="752094" y="1930400"/>
            <a:ext cx="7632573" cy="1311783"/>
            <a:chOff x="752094" y="1930400"/>
            <a:chExt cx="7632573" cy="1311783"/>
          </a:xfrm>
        </p:grpSpPr>
        <p:sp>
          <p:nvSpPr>
            <p:cNvPr id="5" name="TextBox 5"/>
            <p:cNvSpPr txBox="1"/>
            <p:nvPr/>
          </p:nvSpPr>
          <p:spPr>
            <a:xfrm>
              <a:off x="752094" y="193040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设例给定：公安已依法刑事拘留嫌疑人，并提请检察院批准逮捕。</a:t>
              </a:r>
            </a:p>
          </p:txBody>
        </p:sp>
        <p:sp>
          <p:nvSpPr>
            <p:cNvPr id="6" name="TextBox 6"/>
            <p:cNvSpPr txBox="1"/>
            <p:nvPr/>
          </p:nvSpPr>
          <p:spPr>
            <a:xfrm>
              <a:off x="752094" y="2463800"/>
              <a:ext cx="7632573"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检察院审查认为不符合条件，已作出不批准逮捕决定并说明理由。</a:t>
              </a:r>
            </a:p>
          </p:txBody>
        </p:sp>
        <p:sp>
          <p:nvSpPr>
            <p:cNvPr id="7" name="TextBox 7"/>
            <p:cNvSpPr txBox="1"/>
            <p:nvPr/>
          </p:nvSpPr>
          <p:spPr>
            <a:xfrm>
              <a:off x="755142" y="2978150"/>
              <a:ext cx="510235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本页不要求判断真实嫌疑人应否逮捕；从已经作出的决定继续。</a:t>
              </a:r>
            </a:p>
          </p:txBody>
        </p:sp>
      </p:grpSp>
      <p:grpSp>
        <p:nvGrpSpPr>
          <p:cNvPr id="12" name="p49-reveal-1"/>
          <p:cNvGrpSpPr/>
          <p:nvPr/>
        </p:nvGrpSpPr>
        <p:grpSpPr>
          <a:xfrm>
            <a:off x="749808" y="3727450"/>
            <a:ext cx="8932926" cy="469392"/>
            <a:chOff x="749808" y="3727450"/>
            <a:chExt cx="8932926" cy="469392"/>
          </a:xfrm>
        </p:grpSpPr>
        <p:sp>
          <p:nvSpPr>
            <p:cNvPr id="9" name="TextBox 9"/>
            <p:cNvSpPr txBox="1"/>
            <p:nvPr/>
          </p:nvSpPr>
          <p:spPr>
            <a:xfrm>
              <a:off x="749808" y="3727450"/>
              <a:ext cx="293217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公安收到不批捕决定</a:t>
              </a:r>
            </a:p>
          </p:txBody>
        </p:sp>
        <p:sp>
          <p:nvSpPr>
            <p:cNvPr id="10" name="Freeform 10"/>
            <p:cNvSpPr/>
            <p:nvPr/>
          </p:nvSpPr>
          <p:spPr>
            <a:xfrm>
              <a:off x="4267200" y="3810000"/>
              <a:ext cx="1847850" cy="152400"/>
            </a:xfrm>
            <a:custGeom>
              <a:avLst/>
              <a:gdLst/>
              <a:ahLst/>
              <a:cxnLst/>
              <a:rect l="l" t="t" r="r" b="b"/>
              <a:pathLst>
                <a:path w="1847850" h="152400">
                  <a:moveTo>
                    <a:pt x="0" y="76200"/>
                  </a:moveTo>
                  <a:lnTo>
                    <a:pt x="1828800" y="76200"/>
                  </a:lnTo>
                  <a:moveTo>
                    <a:pt x="1733550" y="0"/>
                  </a:moveTo>
                  <a:lnTo>
                    <a:pt x="1847850" y="76200"/>
                  </a:lnTo>
                  <a:lnTo>
                    <a:pt x="1733550" y="152400"/>
                  </a:lnTo>
                </a:path>
              </a:pathLst>
            </a:custGeom>
            <a:noFill/>
            <a:ln w="19050">
              <a:solidFill>
                <a:schemeClr val="accent2"/>
              </a:solidFill>
            </a:ln>
          </p:spPr>
        </p:sp>
        <p:sp>
          <p:nvSpPr>
            <p:cNvPr id="11" name="TextBox 11"/>
            <p:cNvSpPr txBox="1"/>
            <p:nvPr/>
          </p:nvSpPr>
          <p:spPr>
            <a:xfrm>
              <a:off x="6750558" y="3727450"/>
              <a:ext cx="293217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对被拘留人立即释放</a:t>
              </a:r>
            </a:p>
          </p:txBody>
        </p:sp>
      </p:grpSp>
      <p:grpSp>
        <p:nvGrpSpPr>
          <p:cNvPr id="15" name="p49-reveal-2"/>
          <p:cNvGrpSpPr/>
          <p:nvPr/>
        </p:nvGrpSpPr>
        <p:grpSpPr>
          <a:xfrm>
            <a:off x="752094" y="5054600"/>
            <a:ext cx="8157591" cy="876681"/>
            <a:chOff x="752094" y="5054600"/>
            <a:chExt cx="8157591" cy="876681"/>
          </a:xfrm>
        </p:grpSpPr>
        <p:sp>
          <p:nvSpPr>
            <p:cNvPr id="13" name="TextBox 13"/>
            <p:cNvSpPr txBox="1"/>
            <p:nvPr/>
          </p:nvSpPr>
          <p:spPr>
            <a:xfrm>
              <a:off x="752094" y="5054600"/>
              <a:ext cx="8157591"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需要继续侦查，并符合相应条件的，可以依法取保候审或者监视居住。</a:t>
              </a:r>
            </a:p>
          </p:txBody>
        </p:sp>
        <p:sp>
          <p:nvSpPr>
            <p:cNvPr id="14" name="TextBox 14"/>
            <p:cNvSpPr txBox="1"/>
            <p:nvPr/>
          </p:nvSpPr>
          <p:spPr>
            <a:xfrm>
              <a:off x="752094" y="5549900"/>
              <a:ext cx="7107555"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不批捕不等于判决无罪；想继续侦查也不等于可以继续羁押。</a:t>
              </a:r>
            </a:p>
          </p:txBody>
        </p:sp>
      </p:grpSp>
      <p:grpSp>
        <p:nvGrpSpPr>
          <p:cNvPr id="18" name="footer"/>
          <p:cNvGrpSpPr/>
          <p:nvPr/>
        </p:nvGrpSpPr>
        <p:grpSpPr>
          <a:xfrm>
            <a:off x="604266" y="6464300"/>
            <a:ext cx="10828344" cy="205359"/>
            <a:chOff x="604266" y="6464300"/>
            <a:chExt cx="10828344" cy="205359"/>
          </a:xfrm>
        </p:grpSpPr>
        <p:sp>
          <p:nvSpPr>
            <p:cNvPr id="16" name="TextBox 16"/>
            <p:cNvSpPr txBox="1"/>
            <p:nvPr/>
          </p:nvSpPr>
          <p:spPr>
            <a:xfrm>
              <a:off x="604266" y="6464300"/>
              <a:ext cx="4986223"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刑事诉讼法第90、91条；释放对象、已经拘留与已经不批捕的状态须同时保留。</a:t>
              </a:r>
            </a:p>
          </p:txBody>
        </p:sp>
        <p:sp>
          <p:nvSpPr>
            <p:cNvPr id="17" name="TextBox 17"/>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49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4727448" cy="918464"/>
            <a:chOff x="592836" y="438150"/>
            <a:chExt cx="4727448" cy="918464"/>
          </a:xfrm>
        </p:grpSpPr>
        <p:sp>
          <p:nvSpPr>
            <p:cNvPr id="2" name="TextBox 2"/>
            <p:cNvSpPr txBox="1"/>
            <p:nvPr/>
          </p:nvSpPr>
          <p:spPr>
            <a:xfrm>
              <a:off x="603504" y="438150"/>
              <a:ext cx="361462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依法提出异议，也履行当前后果</a:t>
              </a:r>
            </a:p>
          </p:txBody>
        </p:sp>
        <p:sp>
          <p:nvSpPr>
            <p:cNvPr id="3" name="TextBox 3"/>
            <p:cNvSpPr txBox="1"/>
            <p:nvPr/>
          </p:nvSpPr>
          <p:spPr>
            <a:xfrm>
              <a:off x="592836" y="711200"/>
              <a:ext cx="472744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提出异议，不暂停释放</a:t>
              </a:r>
            </a:p>
          </p:txBody>
        </p:sp>
      </p:grpSp>
      <p:grpSp>
        <p:nvGrpSpPr>
          <p:cNvPr id="6" name="release-constant"/>
          <p:cNvGrpSpPr/>
          <p:nvPr/>
        </p:nvGrpSpPr>
        <p:grpSpPr>
          <a:xfrm>
            <a:off x="749808" y="1974850"/>
            <a:ext cx="9393936" cy="469392"/>
            <a:chOff x="749808" y="1974850"/>
            <a:chExt cx="9393936" cy="469392"/>
          </a:xfrm>
        </p:grpSpPr>
        <p:sp>
          <p:nvSpPr>
            <p:cNvPr id="5" name="TextBox 5"/>
            <p:cNvSpPr txBox="1"/>
            <p:nvPr/>
          </p:nvSpPr>
          <p:spPr>
            <a:xfrm>
              <a:off x="749808" y="1974850"/>
              <a:ext cx="939393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仍是前例：已刑拘、已不批捕；对被拘留人立即释放的义务持续。</a:t>
              </a:r>
            </a:p>
          </p:txBody>
        </p:sp>
      </p:grpSp>
      <p:grpSp>
        <p:nvGrpSpPr>
          <p:cNvPr id="15" name="objection-route"/>
          <p:cNvGrpSpPr/>
          <p:nvPr/>
        </p:nvGrpSpPr>
        <p:grpSpPr>
          <a:xfrm>
            <a:off x="752094" y="3016250"/>
            <a:ext cx="9786366" cy="1654683"/>
            <a:chOff x="752094" y="3016250"/>
            <a:chExt cx="9786366" cy="1654683"/>
          </a:xfrm>
        </p:grpSpPr>
        <p:sp>
          <p:nvSpPr>
            <p:cNvPr id="7" name="TextBox 7"/>
            <p:cNvSpPr txBox="1"/>
            <p:nvPr/>
          </p:nvSpPr>
          <p:spPr>
            <a:xfrm>
              <a:off x="752094" y="33210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公安认为不批捕有错误</a:t>
              </a:r>
            </a:p>
          </p:txBody>
        </p:sp>
        <p:sp>
          <p:nvSpPr>
            <p:cNvPr id="8" name="Freeform 8"/>
            <p:cNvSpPr/>
            <p:nvPr/>
          </p:nvSpPr>
          <p:spPr>
            <a:xfrm>
              <a:off x="3524250" y="3352800"/>
              <a:ext cx="1162050" cy="152400"/>
            </a:xfrm>
            <a:custGeom>
              <a:avLst/>
              <a:gdLst/>
              <a:ahLst/>
              <a:cxnLst/>
              <a:rect l="l" t="t" r="r" b="b"/>
              <a:pathLst>
                <a:path w="1162050" h="152400">
                  <a:moveTo>
                    <a:pt x="0" y="76200"/>
                  </a:moveTo>
                  <a:lnTo>
                    <a:pt x="1143000" y="76200"/>
                  </a:lnTo>
                  <a:moveTo>
                    <a:pt x="1047750" y="0"/>
                  </a:moveTo>
                  <a:lnTo>
                    <a:pt x="1162050" y="76200"/>
                  </a:lnTo>
                  <a:lnTo>
                    <a:pt x="1047750" y="152400"/>
                  </a:lnTo>
                </a:path>
              </a:pathLst>
            </a:custGeom>
            <a:noFill/>
            <a:ln w="19050">
              <a:solidFill>
                <a:schemeClr val="accent3"/>
              </a:solidFill>
            </a:ln>
          </p:spPr>
        </p:sp>
        <p:sp>
          <p:nvSpPr>
            <p:cNvPr id="9" name="TextBox 9"/>
            <p:cNvSpPr txBox="1"/>
            <p:nvPr/>
          </p:nvSpPr>
          <p:spPr>
            <a:xfrm>
              <a:off x="5131308" y="32702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要求复议</a:t>
              </a:r>
            </a:p>
          </p:txBody>
        </p:sp>
        <p:sp>
          <p:nvSpPr>
            <p:cNvPr id="10" name="Freeform 10"/>
            <p:cNvSpPr/>
            <p:nvPr/>
          </p:nvSpPr>
          <p:spPr>
            <a:xfrm>
              <a:off x="7048500" y="3352800"/>
              <a:ext cx="1562100" cy="152400"/>
            </a:xfrm>
            <a:custGeom>
              <a:avLst/>
              <a:gdLst/>
              <a:ahLst/>
              <a:cxnLst/>
              <a:rect l="l" t="t" r="r" b="b"/>
              <a:pathLst>
                <a:path w="1562100" h="152400">
                  <a:moveTo>
                    <a:pt x="0" y="76200"/>
                  </a:moveTo>
                  <a:lnTo>
                    <a:pt x="1543050" y="76200"/>
                  </a:lnTo>
                  <a:moveTo>
                    <a:pt x="1447800" y="0"/>
                  </a:moveTo>
                  <a:lnTo>
                    <a:pt x="1562100" y="76200"/>
                  </a:lnTo>
                  <a:lnTo>
                    <a:pt x="1447800" y="152400"/>
                  </a:lnTo>
                </a:path>
              </a:pathLst>
            </a:custGeom>
            <a:noFill/>
            <a:ln w="19050">
              <a:solidFill>
                <a:schemeClr val="accent3"/>
              </a:solidFill>
            </a:ln>
          </p:spPr>
        </p:sp>
        <p:sp>
          <p:nvSpPr>
            <p:cNvPr id="11" name="TextBox 11"/>
            <p:cNvSpPr txBox="1"/>
            <p:nvPr/>
          </p:nvSpPr>
          <p:spPr>
            <a:xfrm>
              <a:off x="7194042" y="3016250"/>
              <a:ext cx="110413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意见不被接受</a:t>
              </a:r>
            </a:p>
          </p:txBody>
        </p:sp>
        <p:sp>
          <p:nvSpPr>
            <p:cNvPr id="12" name="TextBox 12"/>
            <p:cNvSpPr txBox="1"/>
            <p:nvPr/>
          </p:nvSpPr>
          <p:spPr>
            <a:xfrm>
              <a:off x="8941308" y="327025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提请复核</a:t>
              </a:r>
            </a:p>
          </p:txBody>
        </p:sp>
        <p:sp>
          <p:nvSpPr>
            <p:cNvPr id="13" name="TextBox 13"/>
            <p:cNvSpPr txBox="1"/>
            <p:nvPr/>
          </p:nvSpPr>
          <p:spPr>
            <a:xfrm>
              <a:off x="8943594" y="377825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上一级检察院</a:t>
              </a:r>
            </a:p>
          </p:txBody>
        </p:sp>
        <p:sp>
          <p:nvSpPr>
            <p:cNvPr id="14" name="TextBox 14"/>
            <p:cNvSpPr txBox="1"/>
            <p:nvPr/>
          </p:nvSpPr>
          <p:spPr>
            <a:xfrm>
              <a:off x="755142" y="4406900"/>
              <a:ext cx="455714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法定异议路径有先后条件，不是任意挑选两个平行选项。</a:t>
              </a:r>
            </a:p>
          </p:txBody>
        </p:sp>
      </p:grpSp>
      <p:grpSp>
        <p:nvGrpSpPr>
          <p:cNvPr id="18" name="p50-reveal-1"/>
          <p:cNvGrpSpPr/>
          <p:nvPr/>
        </p:nvGrpSpPr>
        <p:grpSpPr>
          <a:xfrm>
            <a:off x="752094" y="5283200"/>
            <a:ext cx="8157591" cy="857631"/>
            <a:chOff x="752094" y="5283200"/>
            <a:chExt cx="8157591" cy="857631"/>
          </a:xfrm>
        </p:grpSpPr>
        <p:sp>
          <p:nvSpPr>
            <p:cNvPr id="16" name="TextBox 16"/>
            <p:cNvSpPr txBox="1"/>
            <p:nvPr/>
          </p:nvSpPr>
          <p:spPr>
            <a:xfrm>
              <a:off x="752094" y="5283200"/>
              <a:ext cx="605751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继续侦查、补充核实、移送审查等，各自依法衔接。</a:t>
              </a:r>
            </a:p>
          </p:txBody>
        </p:sp>
        <p:sp>
          <p:nvSpPr>
            <p:cNvPr id="17" name="TextBox 17"/>
            <p:cNvSpPr txBox="1"/>
            <p:nvPr/>
          </p:nvSpPr>
          <p:spPr>
            <a:xfrm>
              <a:off x="752094" y="5759450"/>
              <a:ext cx="8157591"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本例与一审抗诉、二审纠错分属不同阶段，不拼成所有案件必经路径。</a:t>
              </a:r>
            </a:p>
          </p:txBody>
        </p:sp>
      </p:grpSp>
      <p:grpSp>
        <p:nvGrpSpPr>
          <p:cNvPr id="21" name="footer"/>
          <p:cNvGrpSpPr/>
          <p:nvPr/>
        </p:nvGrpSpPr>
        <p:grpSpPr>
          <a:xfrm>
            <a:off x="604266" y="6464300"/>
            <a:ext cx="10828344" cy="205359"/>
            <a:chOff x="604266" y="6464300"/>
            <a:chExt cx="10828344" cy="205359"/>
          </a:xfrm>
        </p:grpSpPr>
        <p:sp>
          <p:nvSpPr>
            <p:cNvPr id="19" name="TextBox 19"/>
            <p:cNvSpPr txBox="1"/>
            <p:nvPr/>
          </p:nvSpPr>
          <p:spPr>
            <a:xfrm>
              <a:off x="604266" y="6464300"/>
              <a:ext cx="5268925"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刑事诉讼法第91、92条；复议复核不暂停释放，案件可在相应阶段依法终结或分流。</a:t>
              </a:r>
            </a:p>
          </p:txBody>
        </p:sp>
        <p:sp>
          <p:nvSpPr>
            <p:cNvPr id="20" name="TextBox 20"/>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50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3776167"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以县级以上地方政府公安机关为例</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同一个公安机关，处在不同关系中</a:t>
              </a:r>
            </a:p>
          </p:txBody>
        </p:sp>
      </p:grpSp>
      <p:grpSp>
        <p:nvGrpSpPr>
          <p:cNvPr id="16" name="one-police"/>
          <p:cNvGrpSpPr/>
          <p:nvPr/>
        </p:nvGrpSpPr>
        <p:grpSpPr>
          <a:xfrm>
            <a:off x="752094" y="1841500"/>
            <a:ext cx="9113139" cy="2467483"/>
            <a:chOff x="752094" y="1841500"/>
            <a:chExt cx="9113139" cy="2467483"/>
          </a:xfrm>
        </p:grpSpPr>
        <p:sp>
          <p:nvSpPr>
            <p:cNvPr id="5" name="TextBox 5"/>
            <p:cNvSpPr txBox="1"/>
            <p:nvPr/>
          </p:nvSpPr>
          <p:spPr>
            <a:xfrm>
              <a:off x="4712208" y="1841500"/>
              <a:ext cx="196291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本级人民政府</a:t>
              </a:r>
            </a:p>
          </p:txBody>
        </p:sp>
        <p:sp>
          <p:nvSpPr>
            <p:cNvPr id="6" name="Freeform 6"/>
            <p:cNvSpPr/>
            <p:nvPr/>
          </p:nvSpPr>
          <p:spPr>
            <a:xfrm>
              <a:off x="5543550" y="2362200"/>
              <a:ext cx="152400" cy="781050"/>
            </a:xfrm>
            <a:custGeom>
              <a:avLst/>
              <a:gdLst/>
              <a:ahLst/>
              <a:cxnLst/>
              <a:rect l="l" t="t" r="r" b="b"/>
              <a:pathLst>
                <a:path w="152400" h="781050">
                  <a:moveTo>
                    <a:pt x="76200" y="0"/>
                  </a:moveTo>
                  <a:lnTo>
                    <a:pt x="76200" y="762000"/>
                  </a:lnTo>
                  <a:moveTo>
                    <a:pt x="0" y="666750"/>
                  </a:moveTo>
                  <a:lnTo>
                    <a:pt x="76200" y="781050"/>
                  </a:lnTo>
                  <a:lnTo>
                    <a:pt x="152400" y="666750"/>
                  </a:lnTo>
                </a:path>
              </a:pathLst>
            </a:custGeom>
            <a:noFill/>
            <a:ln w="19050">
              <a:solidFill>
                <a:schemeClr val="accent3"/>
              </a:solidFill>
            </a:ln>
          </p:spPr>
        </p:sp>
        <p:sp>
          <p:nvSpPr>
            <p:cNvPr id="7" name="TextBox 7"/>
            <p:cNvSpPr txBox="1"/>
            <p:nvPr/>
          </p:nvSpPr>
          <p:spPr>
            <a:xfrm>
              <a:off x="5841492" y="2597150"/>
              <a:ext cx="74066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行政领导</a:t>
              </a:r>
            </a:p>
          </p:txBody>
        </p:sp>
        <p:sp>
          <p:nvSpPr>
            <p:cNvPr id="8" name="TextBox 8"/>
            <p:cNvSpPr txBox="1"/>
            <p:nvPr/>
          </p:nvSpPr>
          <p:spPr>
            <a:xfrm>
              <a:off x="4593336" y="3244850"/>
              <a:ext cx="191109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公安机关</a:t>
              </a:r>
            </a:p>
          </p:txBody>
        </p:sp>
        <p:sp>
          <p:nvSpPr>
            <p:cNvPr id="9" name="TextBox 9"/>
            <p:cNvSpPr txBox="1"/>
            <p:nvPr/>
          </p:nvSpPr>
          <p:spPr>
            <a:xfrm>
              <a:off x="752094" y="2882900"/>
              <a:ext cx="159486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上级公安机关</a:t>
              </a:r>
            </a:p>
          </p:txBody>
        </p:sp>
        <p:sp>
          <p:nvSpPr>
            <p:cNvPr id="10" name="Freeform 10"/>
            <p:cNvSpPr/>
            <p:nvPr/>
          </p:nvSpPr>
          <p:spPr>
            <a:xfrm>
              <a:off x="2609850" y="3390900"/>
              <a:ext cx="1657350" cy="152400"/>
            </a:xfrm>
            <a:custGeom>
              <a:avLst/>
              <a:gdLst/>
              <a:ahLst/>
              <a:cxnLst/>
              <a:rect l="l" t="t" r="r" b="b"/>
              <a:pathLst>
                <a:path w="1657350" h="152400">
                  <a:moveTo>
                    <a:pt x="0" y="76200"/>
                  </a:moveTo>
                  <a:lnTo>
                    <a:pt x="1638300" y="76200"/>
                  </a:lnTo>
                  <a:moveTo>
                    <a:pt x="1543050" y="0"/>
                  </a:moveTo>
                  <a:lnTo>
                    <a:pt x="1657350" y="76200"/>
                  </a:lnTo>
                  <a:lnTo>
                    <a:pt x="1543050" y="152400"/>
                  </a:lnTo>
                </a:path>
              </a:pathLst>
            </a:custGeom>
            <a:noFill/>
            <a:ln w="19050">
              <a:solidFill>
                <a:schemeClr val="accent3"/>
              </a:solidFill>
            </a:ln>
          </p:spPr>
        </p:sp>
        <p:sp>
          <p:nvSpPr>
            <p:cNvPr id="11" name="TextBox 11"/>
            <p:cNvSpPr txBox="1"/>
            <p:nvPr/>
          </p:nvSpPr>
          <p:spPr>
            <a:xfrm>
              <a:off x="755142" y="3759200"/>
              <a:ext cx="201282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相应业务领导、执法监督</a:t>
              </a:r>
            </a:p>
          </p:txBody>
        </p:sp>
        <p:sp>
          <p:nvSpPr>
            <p:cNvPr id="12" name="Freeform 12"/>
            <p:cNvSpPr/>
            <p:nvPr/>
          </p:nvSpPr>
          <p:spPr>
            <a:xfrm>
              <a:off x="6877050" y="3390900"/>
              <a:ext cx="1657350" cy="152400"/>
            </a:xfrm>
            <a:custGeom>
              <a:avLst/>
              <a:gdLst/>
              <a:ahLst/>
              <a:cxnLst/>
              <a:rect l="l" t="t" r="r" b="b"/>
              <a:pathLst>
                <a:path w="1657350" h="152400">
                  <a:moveTo>
                    <a:pt x="19050" y="76200"/>
                  </a:moveTo>
                  <a:lnTo>
                    <a:pt x="1638300" y="76200"/>
                  </a:lnTo>
                  <a:moveTo>
                    <a:pt x="1543050" y="0"/>
                  </a:moveTo>
                  <a:lnTo>
                    <a:pt x="1657350" y="76200"/>
                  </a:lnTo>
                  <a:lnTo>
                    <a:pt x="1543050" y="152400"/>
                  </a:lnTo>
                  <a:moveTo>
                    <a:pt x="114300" y="0"/>
                  </a:moveTo>
                  <a:lnTo>
                    <a:pt x="0" y="76200"/>
                  </a:lnTo>
                  <a:lnTo>
                    <a:pt x="114300" y="152400"/>
                  </a:lnTo>
                </a:path>
              </a:pathLst>
            </a:custGeom>
            <a:noFill/>
            <a:ln w="19050">
              <a:solidFill>
                <a:schemeClr val="accent2"/>
              </a:solidFill>
            </a:ln>
          </p:spPr>
        </p:sp>
        <p:sp>
          <p:nvSpPr>
            <p:cNvPr id="13" name="TextBox 13"/>
            <p:cNvSpPr txBox="1"/>
            <p:nvPr/>
          </p:nvSpPr>
          <p:spPr>
            <a:xfrm>
              <a:off x="9057894" y="2901950"/>
              <a:ext cx="80733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检察院</a:t>
              </a:r>
            </a:p>
          </p:txBody>
        </p:sp>
        <p:sp>
          <p:nvSpPr>
            <p:cNvPr id="14" name="TextBox 14"/>
            <p:cNvSpPr txBox="1"/>
            <p:nvPr/>
          </p:nvSpPr>
          <p:spPr>
            <a:xfrm>
              <a:off x="9057894" y="3397250"/>
              <a:ext cx="54483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法院</a:t>
              </a:r>
            </a:p>
          </p:txBody>
        </p:sp>
        <p:sp>
          <p:nvSpPr>
            <p:cNvPr id="15" name="TextBox 15"/>
            <p:cNvSpPr txBox="1"/>
            <p:nvPr/>
          </p:nvSpPr>
          <p:spPr>
            <a:xfrm>
              <a:off x="7136892" y="4044950"/>
              <a:ext cx="255803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刑事办案中的分工、配合、制约</a:t>
              </a:r>
            </a:p>
          </p:txBody>
        </p:sp>
      </p:grpSp>
      <p:grpSp>
        <p:nvGrpSpPr>
          <p:cNvPr id="19" name="p51-reveal-1"/>
          <p:cNvGrpSpPr/>
          <p:nvPr/>
        </p:nvGrpSpPr>
        <p:grpSpPr>
          <a:xfrm>
            <a:off x="752094" y="5226050"/>
            <a:ext cx="6845046" cy="857631"/>
            <a:chOff x="752094" y="5226050"/>
            <a:chExt cx="6845046" cy="857631"/>
          </a:xfrm>
        </p:grpSpPr>
        <p:sp>
          <p:nvSpPr>
            <p:cNvPr id="17" name="TextBox 17"/>
            <p:cNvSpPr txBox="1"/>
            <p:nvPr/>
          </p:nvSpPr>
          <p:spPr>
            <a:xfrm>
              <a:off x="752094" y="5226050"/>
              <a:ext cx="5007483"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办刑事案件，不意味着公安换了组织隶属。</a:t>
              </a:r>
            </a:p>
          </p:txBody>
        </p:sp>
        <p:sp>
          <p:nvSpPr>
            <p:cNvPr id="18" name="TextBox 18"/>
            <p:cNvSpPr txBox="1"/>
            <p:nvPr/>
          </p:nvSpPr>
          <p:spPr>
            <a:xfrm>
              <a:off x="752094" y="5702300"/>
              <a:ext cx="6845046"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检察院审查批准逮捕，也不因此成为公安机关的行政上级。</a:t>
              </a:r>
            </a:p>
          </p:txBody>
        </p:sp>
      </p:grpSp>
      <p:grpSp>
        <p:nvGrpSpPr>
          <p:cNvPr id="22" name="footer"/>
          <p:cNvGrpSpPr/>
          <p:nvPr/>
        </p:nvGrpSpPr>
        <p:grpSpPr>
          <a:xfrm>
            <a:off x="604266" y="6464300"/>
            <a:ext cx="10828344" cy="205359"/>
            <a:chOff x="604266" y="6464300"/>
            <a:chExt cx="10828344" cy="205359"/>
          </a:xfrm>
        </p:grpSpPr>
        <p:sp>
          <p:nvSpPr>
            <p:cNvPr id="20" name="TextBox 20"/>
            <p:cNvSpPr txBox="1"/>
            <p:nvPr/>
          </p:nvSpPr>
          <p:spPr>
            <a:xfrm>
              <a:off x="604266" y="6464300"/>
              <a:ext cx="6392666"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宪法第89、107、140条；地方组织法第83条、公安组织管理条例第3条、人民警察法第43条并读解释。</a:t>
              </a:r>
            </a:p>
          </p:txBody>
        </p:sp>
        <p:sp>
          <p:nvSpPr>
            <p:cNvPr id="21" name="TextBox 21"/>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51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6605016" cy="918464"/>
            <a:chOff x="592836" y="438150"/>
            <a:chExt cx="6605016" cy="918464"/>
          </a:xfrm>
        </p:grpSpPr>
        <p:sp>
          <p:nvSpPr>
            <p:cNvPr id="2" name="TextBox 2"/>
            <p:cNvSpPr txBox="1"/>
            <p:nvPr/>
          </p:nvSpPr>
          <p:spPr>
            <a:xfrm>
              <a:off x="603504" y="438150"/>
              <a:ext cx="3129991"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从机关联系回到具体行为</a:t>
              </a:r>
            </a:p>
          </p:txBody>
        </p:sp>
        <p:sp>
          <p:nvSpPr>
            <p:cNvPr id="3" name="TextBox 3"/>
            <p:cNvSpPr txBox="1"/>
            <p:nvPr/>
          </p:nvSpPr>
          <p:spPr>
            <a:xfrm>
              <a:off x="592836" y="711200"/>
              <a:ext cx="6605016"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机构位置，还不是具体措施授权</a:t>
              </a:r>
            </a:p>
          </p:txBody>
        </p:sp>
      </p:grpSp>
      <p:grpSp>
        <p:nvGrpSpPr>
          <p:cNvPr id="12" name="specific-measures"/>
          <p:cNvGrpSpPr/>
          <p:nvPr/>
        </p:nvGrpSpPr>
        <p:grpSpPr>
          <a:xfrm>
            <a:off x="749046" y="2076450"/>
            <a:ext cx="9710928" cy="2083181"/>
            <a:chOff x="749046" y="2076450"/>
            <a:chExt cx="9710928" cy="2083181"/>
          </a:xfrm>
        </p:grpSpPr>
        <p:sp>
          <p:nvSpPr>
            <p:cNvPr id="5" name="TextBox 5"/>
            <p:cNvSpPr txBox="1"/>
            <p:nvPr/>
          </p:nvSpPr>
          <p:spPr>
            <a:xfrm>
              <a:off x="749046" y="2108200"/>
              <a:ext cx="292760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有侦查、管理职责</a:t>
              </a:r>
            </a:p>
          </p:txBody>
        </p:sp>
        <p:sp>
          <p:nvSpPr>
            <p:cNvPr id="6" name="TextBox 6"/>
            <p:cNvSpPr txBox="1"/>
            <p:nvPr/>
          </p:nvSpPr>
          <p:spPr>
            <a:xfrm>
              <a:off x="752094" y="2711450"/>
              <a:ext cx="2644902"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是理解工作位置的起点</a:t>
              </a:r>
            </a:p>
          </p:txBody>
        </p:sp>
        <p:sp>
          <p:nvSpPr>
            <p:cNvPr id="7" name="TextBox 7"/>
            <p:cNvSpPr txBox="1"/>
            <p:nvPr/>
          </p:nvSpPr>
          <p:spPr>
            <a:xfrm>
              <a:off x="6806946" y="2108200"/>
              <a:ext cx="3653028"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某次盘查、搜查、扣押</a:t>
              </a:r>
            </a:p>
          </p:txBody>
        </p:sp>
        <p:sp>
          <p:nvSpPr>
            <p:cNvPr id="8" name="TextBox 8"/>
            <p:cNvSpPr txBox="1"/>
            <p:nvPr/>
          </p:nvSpPr>
          <p:spPr>
            <a:xfrm>
              <a:off x="6809994" y="2711450"/>
              <a:ext cx="316992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还须核相应规范与具体事实</a:t>
              </a:r>
            </a:p>
          </p:txBody>
        </p:sp>
        <p:sp>
          <p:nvSpPr>
            <p:cNvPr id="9" name="Line 9"/>
            <p:cNvSpPr/>
            <p:nvPr/>
          </p:nvSpPr>
          <p:spPr>
            <a:xfrm>
              <a:off x="5810250" y="2076450"/>
              <a:ext cx="9525" cy="1409700"/>
            </a:xfrm>
            <a:custGeom>
              <a:avLst/>
              <a:gdLst/>
              <a:ahLst/>
              <a:cxnLst/>
              <a:rect l="l" t="t" r="r" b="b"/>
              <a:pathLst>
                <a:path w="9525" h="1409700">
                  <a:moveTo>
                    <a:pt x="0" y="0"/>
                  </a:moveTo>
                  <a:lnTo>
                    <a:pt x="0" y="1409700"/>
                  </a:lnTo>
                </a:path>
              </a:pathLst>
            </a:custGeom>
            <a:noFill/>
            <a:ln w="28575">
              <a:solidFill>
                <a:schemeClr val="accent2"/>
              </a:solidFill>
            </a:ln>
          </p:spPr>
        </p:sp>
        <p:sp>
          <p:nvSpPr>
            <p:cNvPr id="10" name="TextBox 10"/>
            <p:cNvSpPr txBox="1"/>
            <p:nvPr/>
          </p:nvSpPr>
          <p:spPr>
            <a:xfrm>
              <a:off x="752094" y="3778250"/>
              <a:ext cx="3025540"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事实 · 权限 · 审批 · 时限</a:t>
              </a:r>
            </a:p>
          </p:txBody>
        </p:sp>
        <p:sp>
          <p:nvSpPr>
            <p:cNvPr id="11" name="TextBox 11"/>
            <p:cNvSpPr txBox="1"/>
            <p:nvPr/>
          </p:nvSpPr>
          <p:spPr>
            <a:xfrm>
              <a:off x="6809994" y="3778250"/>
              <a:ext cx="3458680"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不能仅凭“有办案任务”跨过。</a:t>
              </a:r>
            </a:p>
          </p:txBody>
        </p:sp>
      </p:grpSp>
      <p:grpSp>
        <p:nvGrpSpPr>
          <p:cNvPr id="16" name="p52-reveal-1"/>
          <p:cNvGrpSpPr/>
          <p:nvPr/>
        </p:nvGrpSpPr>
        <p:grpSpPr>
          <a:xfrm>
            <a:off x="752094" y="4997450"/>
            <a:ext cx="7104507" cy="1197483"/>
            <a:chOff x="752094" y="4997450"/>
            <a:chExt cx="7104507" cy="1197483"/>
          </a:xfrm>
        </p:grpSpPr>
        <p:sp>
          <p:nvSpPr>
            <p:cNvPr id="13" name="TextBox 13"/>
            <p:cNvSpPr txBox="1"/>
            <p:nvPr/>
          </p:nvSpPr>
          <p:spPr>
            <a:xfrm>
              <a:off x="752094" y="4997450"/>
              <a:ext cx="660878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调用第六讲：第37条，依法区分逮捕批准、决定与执行。</a:t>
              </a:r>
            </a:p>
          </p:txBody>
        </p:sp>
        <p:sp>
          <p:nvSpPr>
            <p:cNvPr id="14" name="TextBox 14"/>
            <p:cNvSpPr txBox="1"/>
            <p:nvPr/>
          </p:nvSpPr>
          <p:spPr>
            <a:xfrm>
              <a:off x="752094" y="5416550"/>
              <a:ext cx="6346279"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第40条，特定目的、法定机关与法定程序须同时满足。</a:t>
              </a:r>
            </a:p>
          </p:txBody>
        </p:sp>
        <p:sp>
          <p:nvSpPr>
            <p:cNvPr id="15" name="TextBox 15"/>
            <p:cNvSpPr txBox="1"/>
            <p:nvPr/>
          </p:nvSpPr>
          <p:spPr>
            <a:xfrm>
              <a:off x="755142" y="5930900"/>
              <a:ext cx="71014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刑事诉讼法、治安管理处罚法、人民警察法等依具体措施适用；机构图不列尽这些条件。</a:t>
              </a:r>
            </a:p>
          </p:txBody>
        </p:sp>
      </p:grpSp>
      <p:grpSp>
        <p:nvGrpSpPr>
          <p:cNvPr id="19" name="footer"/>
          <p:cNvGrpSpPr/>
          <p:nvPr/>
        </p:nvGrpSpPr>
        <p:grpSpPr>
          <a:xfrm>
            <a:off x="604266" y="6464300"/>
            <a:ext cx="10828344" cy="205359"/>
            <a:chOff x="604266" y="6464300"/>
            <a:chExt cx="10828344" cy="205359"/>
          </a:xfrm>
        </p:grpSpPr>
        <p:sp>
          <p:nvSpPr>
            <p:cNvPr id="17" name="TextBox 17"/>
            <p:cNvSpPr txBox="1"/>
            <p:nvPr/>
          </p:nvSpPr>
          <p:spPr>
            <a:xfrm>
              <a:off x="604266" y="6464300"/>
              <a:ext cx="4936750"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宪法第37、40、140条；具体措施是否合法，须结合相应法律与充分事实判断。</a:t>
              </a:r>
            </a:p>
          </p:txBody>
        </p:sp>
        <p:sp>
          <p:nvSpPr>
            <p:cNvPr id="18" name="TextBox 18"/>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52 / 53</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ing"/>
          <p:cNvGrpSpPr/>
          <p:nvPr/>
        </p:nvGrpSpPr>
        <p:grpSpPr>
          <a:xfrm>
            <a:off x="592836" y="438150"/>
            <a:ext cx="7074408" cy="918464"/>
            <a:chOff x="592836" y="438150"/>
            <a:chExt cx="7074408" cy="918464"/>
          </a:xfrm>
        </p:grpSpPr>
        <p:sp>
          <p:nvSpPr>
            <p:cNvPr id="2" name="TextBox 2"/>
            <p:cNvSpPr txBox="1"/>
            <p:nvPr/>
          </p:nvSpPr>
          <p:spPr>
            <a:xfrm>
              <a:off x="603504" y="438150"/>
              <a:ext cx="2806903"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宪法学 · 第七讲 / 回到全讲的三个问题</a:t>
              </a:r>
            </a:p>
          </p:txBody>
        </p:sp>
        <p:sp>
          <p:nvSpPr>
            <p:cNvPr id="3" name="TextBox 3"/>
            <p:cNvSpPr txBox="1"/>
            <p:nvPr/>
          </p:nvSpPr>
          <p:spPr>
            <a:xfrm>
              <a:off x="592836" y="711200"/>
              <a:ext cx="7074408" cy="645414"/>
            </a:xfrm>
            <a:prstGeom prst="rect">
              <a:avLst/>
            </a:prstGeom>
            <a:noFill/>
            <a:ln>
              <a:noFill/>
            </a:ln>
          </p:spPr>
          <p:txBody>
            <a:bodyPr wrap="none" lIns="0" tIns="0" rIns="0" bIns="0" anchor="t" anchorCtr="0">
              <a:spAutoFit/>
            </a:bodyPr>
            <a:lstStyle/>
            <a:p>
              <a:pPr algn="l"/>
              <a:r>
                <a:rPr lang="zh-CN" sz="3300" dirty="0">
                  <a:solidFill>
                    <a:schemeClr val="accent1"/>
                  </a:solidFill>
                  <a:latin typeface="+mj-lt"/>
                  <a:ea typeface="+mj-ea"/>
                  <a:cs typeface="+mj-cs"/>
                </a:rPr>
                <a:t>名字之外，讲清性质、职权与关系</a:t>
              </a:r>
            </a:p>
          </p:txBody>
        </p:sp>
      </p:grpSp>
      <p:grpSp>
        <p:nvGrpSpPr>
          <p:cNvPr id="8" name="closing-principle"/>
          <p:cNvGrpSpPr/>
          <p:nvPr/>
        </p:nvGrpSpPr>
        <p:grpSpPr>
          <a:xfrm>
            <a:off x="971550" y="2089150"/>
            <a:ext cx="8011668" cy="2035175"/>
            <a:chOff x="971550" y="2089150"/>
            <a:chExt cx="8011668" cy="2035175"/>
          </a:xfrm>
        </p:grpSpPr>
        <p:sp>
          <p:nvSpPr>
            <p:cNvPr id="5" name="TextBox 5"/>
            <p:cNvSpPr txBox="1"/>
            <p:nvPr/>
          </p:nvSpPr>
          <p:spPr>
            <a:xfrm>
              <a:off x="971550" y="2089150"/>
              <a:ext cx="6182868" cy="1047750"/>
            </a:xfrm>
            <a:prstGeom prst="rect">
              <a:avLst/>
            </a:prstGeom>
            <a:noFill/>
            <a:ln>
              <a:noFill/>
            </a:ln>
          </p:spPr>
          <p:txBody>
            <a:bodyPr wrap="none" lIns="0" tIns="0" rIns="0" bIns="0" anchor="t" anchorCtr="0">
              <a:spAutoFit/>
            </a:bodyPr>
            <a:lstStyle/>
            <a:p>
              <a:pPr algn="l"/>
              <a:r>
                <a:rPr lang="zh-CN" sz="5400" dirty="0">
                  <a:solidFill>
                    <a:schemeClr val="accent1"/>
                  </a:solidFill>
                  <a:latin typeface="+mj-lt"/>
                  <a:ea typeface="+mj-ea"/>
                  <a:cs typeface="+mj-cs"/>
                </a:rPr>
                <a:t>机构图，是起点。</a:t>
              </a:r>
            </a:p>
          </p:txBody>
        </p:sp>
        <p:sp>
          <p:nvSpPr>
            <p:cNvPr id="6" name="TextBox 6"/>
            <p:cNvSpPr txBox="1"/>
            <p:nvPr/>
          </p:nvSpPr>
          <p:spPr>
            <a:xfrm>
              <a:off x="977646" y="3270250"/>
              <a:ext cx="8005572"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mj-lt"/>
                  <a:ea typeface="+mj-ea"/>
                  <a:cs typeface="+mj-cs"/>
                </a:rPr>
                <a:t>读到具体主体、法定动作、相应条件，才算讲清。</a:t>
              </a:r>
            </a:p>
          </p:txBody>
        </p:sp>
        <p:sp>
          <p:nvSpPr>
            <p:cNvPr id="7" name="Line 7"/>
            <p:cNvSpPr/>
            <p:nvPr/>
          </p:nvSpPr>
          <p:spPr>
            <a:xfrm>
              <a:off x="1028700" y="4114800"/>
              <a:ext cx="1447800" cy="9525"/>
            </a:xfrm>
            <a:custGeom>
              <a:avLst/>
              <a:gdLst/>
              <a:ahLst/>
              <a:cxnLst/>
              <a:rect l="l" t="t" r="r" b="b"/>
              <a:pathLst>
                <a:path w="1447800" h="9525">
                  <a:moveTo>
                    <a:pt x="0" y="0"/>
                  </a:moveTo>
                  <a:lnTo>
                    <a:pt x="1447800" y="0"/>
                  </a:lnTo>
                </a:path>
              </a:pathLst>
            </a:custGeom>
            <a:noFill/>
            <a:ln w="28575">
              <a:solidFill>
                <a:schemeClr val="accent2"/>
              </a:solidFill>
            </a:ln>
          </p:spPr>
        </p:sp>
      </p:grpSp>
      <p:grpSp>
        <p:nvGrpSpPr>
          <p:cNvPr id="12" name="course-connection"/>
          <p:cNvGrpSpPr/>
          <p:nvPr/>
        </p:nvGrpSpPr>
        <p:grpSpPr>
          <a:xfrm>
            <a:off x="980694" y="4902200"/>
            <a:ext cx="6582537" cy="1276731"/>
            <a:chOff x="980694" y="4902200"/>
            <a:chExt cx="6582537" cy="1276731"/>
          </a:xfrm>
        </p:grpSpPr>
        <p:sp>
          <p:nvSpPr>
            <p:cNvPr id="9" name="TextBox 9"/>
            <p:cNvSpPr txBox="1"/>
            <p:nvPr/>
          </p:nvSpPr>
          <p:spPr>
            <a:xfrm>
              <a:off x="980694" y="4902200"/>
              <a:ext cx="6320028"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上节：以全国人大及常委会，辨性质、权限与持续关系</a:t>
              </a:r>
            </a:p>
          </p:txBody>
        </p:sp>
        <p:sp>
          <p:nvSpPr>
            <p:cNvPr id="10" name="TextBox 10"/>
            <p:cNvSpPr txBox="1"/>
            <p:nvPr/>
          </p:nvSpPr>
          <p:spPr>
            <a:xfrm>
              <a:off x="980694" y="5321300"/>
              <a:ext cx="6582537" cy="381381"/>
            </a:xfrm>
            <a:prstGeom prst="rect">
              <a:avLst/>
            </a:prstGeom>
            <a:noFill/>
            <a:ln>
              <a:noFill/>
            </a:ln>
          </p:spPr>
          <p:txBody>
            <a:bodyPr wrap="none" lIns="0" tIns="0" rIns="0" bIns="0" anchor="t" anchorCtr="0">
              <a:spAutoFit/>
            </a:bodyPr>
            <a:lstStyle/>
            <a:p>
              <a:pPr algn="l"/>
              <a:r>
                <a:rPr lang="zh-CN" sz="1950" dirty="0">
                  <a:solidFill>
                    <a:schemeClr val="accent1"/>
                  </a:solidFill>
                  <a:latin typeface="+mn-lt"/>
                  <a:ea typeface="+mn-ea"/>
                  <a:cs typeface="+mn-cs"/>
                </a:rPr>
                <a:t>下节：换主体，用提捕、抗诉、二审看不同关系怎样落实</a:t>
              </a:r>
            </a:p>
          </p:txBody>
        </p:sp>
        <p:sp>
          <p:nvSpPr>
            <p:cNvPr id="11" name="TextBox 11"/>
            <p:cNvSpPr txBox="1"/>
            <p:nvPr/>
          </p:nvSpPr>
          <p:spPr>
            <a:xfrm>
              <a:off x="980694" y="5797550"/>
              <a:ext cx="6057519" cy="381381"/>
            </a:xfrm>
            <a:prstGeom prst="rect">
              <a:avLst/>
            </a:prstGeom>
            <a:noFill/>
            <a:ln>
              <a:noFill/>
            </a:ln>
          </p:spPr>
          <p:txBody>
            <a:bodyPr wrap="none" lIns="0" tIns="0" rIns="0" bIns="0" anchor="t" anchorCtr="0">
              <a:spAutoFit/>
            </a:bodyPr>
            <a:lstStyle/>
            <a:p>
              <a:pPr algn="l"/>
              <a:r>
                <a:rPr lang="zh-CN" sz="1950" dirty="0">
                  <a:solidFill>
                    <a:schemeClr val="accent2"/>
                  </a:solidFill>
                  <a:latin typeface="+mn-lt"/>
                  <a:ea typeface="+mn-ea"/>
                  <a:cs typeface="+mn-cs"/>
                </a:rPr>
                <a:t>下一讲：这些主体怎样实施宪法，问题又怎样纠正？</a:t>
              </a:r>
            </a:p>
          </p:txBody>
        </p:sp>
      </p:grpSp>
      <p:grpSp>
        <p:nvGrpSpPr>
          <p:cNvPr id="15" name="footer"/>
          <p:cNvGrpSpPr/>
          <p:nvPr/>
        </p:nvGrpSpPr>
        <p:grpSpPr>
          <a:xfrm>
            <a:off x="604266" y="6464300"/>
            <a:ext cx="10828344" cy="205359"/>
            <a:chOff x="604266" y="6464300"/>
            <a:chExt cx="10828344" cy="205359"/>
          </a:xfrm>
        </p:grpSpPr>
        <p:sp>
          <p:nvSpPr>
            <p:cNvPr id="13" name="TextBox 13"/>
            <p:cNvSpPr txBox="1"/>
            <p:nvPr/>
          </p:nvSpPr>
          <p:spPr>
            <a:xfrm>
              <a:off x="604266" y="6464300"/>
              <a:ext cx="4392549"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第七讲收束，接第八讲宪法实施与监督；不将机构认识缩成名称记忆。</a:t>
              </a:r>
            </a:p>
          </p:txBody>
        </p:sp>
        <p:sp>
          <p:nvSpPr>
            <p:cNvPr id="14" name="TextBox 14"/>
            <p:cNvSpPr txBox="1"/>
            <p:nvPr/>
          </p:nvSpPr>
          <p:spPr>
            <a:xfrm>
              <a:off x="10948416" y="6464300"/>
              <a:ext cx="484194" cy="205359"/>
            </a:xfrm>
            <a:prstGeom prst="rect">
              <a:avLst/>
            </a:prstGeom>
            <a:noFill/>
            <a:ln>
              <a:noFill/>
            </a:ln>
          </p:spPr>
          <p:txBody>
            <a:bodyPr wrap="none" lIns="0" tIns="0" rIns="0" bIns="0" anchor="t" anchorCtr="0">
              <a:spAutoFit/>
            </a:bodyPr>
            <a:lstStyle/>
            <a:p>
              <a:pPr algn="l"/>
              <a:r>
                <a:rPr lang="zh-CN" sz="1050" dirty="0">
                  <a:solidFill>
                    <a:schemeClr val="accent6"/>
                  </a:solidFill>
                  <a:latin typeface="+mn-lt"/>
                  <a:ea typeface="+mn-ea"/>
                  <a:cs typeface="+mn-cs"/>
                </a:rPr>
                <a:t>53 / 53</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lecture-07-20261015-student-ready">
  <a:themeElements>
    <a:clrScheme name="lecture-07-20261015-student-ready">
      <a:dk1>
        <a:srgbClr val="2F2D29"/>
      </a:dk1>
      <a:lt1>
        <a:srgbClr val="F7F3EA"/>
      </a:lt1>
      <a:dk2>
        <a:srgbClr val="1F497D"/>
      </a:dk2>
      <a:lt2>
        <a:srgbClr val="F7F3EA"/>
      </a:lt2>
      <a:accent1>
        <a:srgbClr val="202C35"/>
      </a:accent1>
      <a:accent2>
        <a:srgbClr val="A02B2D"/>
      </a:accent2>
      <a:accent3>
        <a:srgbClr val="526774"/>
      </a:accent3>
      <a:accent4>
        <a:srgbClr val="202C35"/>
      </a:accent4>
      <a:accent5>
        <a:srgbClr val="ECE5D6"/>
      </a:accent5>
      <a:accent6>
        <a:srgbClr val="6A645C"/>
      </a:accent6>
      <a:hlink>
        <a:srgbClr val="A02B2D"/>
      </a:hlink>
      <a:folHlink>
        <a:srgbClr val="526774"/>
      </a:folHlink>
    </a:clrScheme>
    <a:fontScheme name="lecture-07-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7-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cture-07-20261015-student-ready">
  <a:themeElements>
    <a:clrScheme name="lecture-07-20261015-student-ready">
      <a:dk1>
        <a:srgbClr val="2F2D29"/>
      </a:dk1>
      <a:lt1>
        <a:srgbClr val="F7F3EA"/>
      </a:lt1>
      <a:dk2>
        <a:srgbClr val="1F497D"/>
      </a:dk2>
      <a:lt2>
        <a:srgbClr val="F7F3EA"/>
      </a:lt2>
      <a:accent1>
        <a:srgbClr val="202C35"/>
      </a:accent1>
      <a:accent2>
        <a:srgbClr val="A02B2D"/>
      </a:accent2>
      <a:accent3>
        <a:srgbClr val="526774"/>
      </a:accent3>
      <a:accent4>
        <a:srgbClr val="202C35"/>
      </a:accent4>
      <a:accent5>
        <a:srgbClr val="ECE5D6"/>
      </a:accent5>
      <a:accent6>
        <a:srgbClr val="6A645C"/>
      </a:accent6>
      <a:hlink>
        <a:srgbClr val="A02B2D"/>
      </a:hlink>
      <a:folHlink>
        <a:srgbClr val="526774"/>
      </a:folHlink>
    </a:clrScheme>
    <a:fontScheme name="lecture-07-20261015-student-rea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cture-07-20261015-student-rea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2026-10-15T13:11:27Z</dcterms:created>
  <dcterms:modified xsi:type="dcterms:W3CDTF">2026-10-15T13:11:27Z</dcterms:modified>
  <cp:category/>
  <cp:contentStatus/>
</cp:coreProperties>
</file>