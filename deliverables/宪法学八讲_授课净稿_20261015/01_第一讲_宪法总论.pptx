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4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  <Relationship Id="rId43"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第一讲　宪法总论</a:t>
            </a:r>
          </a:p>
          <a:p>
            <a:pPr/>
            <a:endParaRPr lang="zh-CN" dirty="0"/>
          </a:p>
          <a:p>
            <a:pPr/>
            <a:r>
              <a:rPr lang="zh-CN" dirty="0"/>
              <a:t>&gt; 公安专业一年级；上下两节各45分钟，课间另计。小标题供定位；方括号为简短课堂提示。</a:t>
            </a:r>
          </a:p>
          <a:p>
            <a:pPr/>
            <a:endParaRPr lang="zh-CN" dirty="0"/>
          </a:p>
          <a:p>
            <a:pPr/>
            <a:r>
              <a:rPr lang="zh-CN" dirty="0"/>
              <a:t>上节｜认识宪法及其根本地位</a:t>
            </a:r>
          </a:p>
          <a:p>
            <a:pPr/>
            <a:endParaRPr lang="zh-CN" dirty="0"/>
          </a:p>
          <a:p>
            <a:pPr/>
            <a:r>
              <a:rPr lang="zh-CN" dirty="0"/>
              <a:t>一、国家已经建立，为什么还要制定宪法</a:t>
            </a:r>
          </a:p>
          <a:p>
            <a:pPr/>
            <a:endParaRPr lang="zh-CN" dirty="0"/>
          </a:p>
          <a:p>
            <a:pPr/>
            <a:r>
              <a:rPr lang="zh-CN" dirty="0"/>
              <a:t>同学们好。今天开始，我们一起学宪法。</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今天先从一张表决票讲起。一九五四年九月二十日，第一届全国人民代表大会第一次会议正在审议新中国第一部宪法。草案的最后定本宣读完，接下来由代表投票决定是否通过。每位代表拿到一张浅红色的表决票，上面印着汉、蒙、藏、维吾尔四种文字。</a:t>
            </a:r>
          </a:p>
          <a:p>
            <a:pPr/>
            <a:endParaRPr lang="zh-CN" dirty="0"/>
          </a:p>
          <a:p>
            <a:pPr/>
            <a:r>
              <a:rPr lang="zh-CN" dirty="0"/>
              <a:t>这张票表决的是一部宪法。它将确定国家怎样组织和发展，人民怎样行使权力，公民有哪些基本权利。</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不过，事情不能从投票那一刻才开始讲。中华人民共和国是一九四九年成立的，到这次表决已经过了五年。国家早就在运行。那么，在这五年里，国家机关依据什么开展工作？国家权力属于谁，政府怎样组成，当时有没有规定？</a:t>
            </a:r>
          </a:p>
          <a:p>
            <a:pPr/>
            <a:endParaRPr lang="zh-CN" dirty="0"/>
          </a:p>
          <a:p>
            <a:pPr/>
            <a:r>
              <a:rPr lang="zh-CN" dirty="0"/>
              <a:t>当然有。一九四九年九月，中国人民政治协商会议第一届全体会议通过了《共同纲领》。它规定国家政权属于人民，并安排在普选的全国人民代表大会召开以前，由政协全体会议执行全国人民代表大会的职权。我们说《共同纲领》起了临时宪法的作用，就是因为它承担了这样的根本法律功能。当时已有国家权力运行的依据，召开全国人大、进一步建立相应制度，则是接下来要完成的事情。</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到一九五三年，中央人民政府委员会成立宪法起草委员会。同年十二月，毛泽东带着一个起草小组到杭州，在那里住了七十七天，写出草案初稿，后来被称为“西湖稿”。草案起草出来，并没有直接变成宪法。一九五四年六月，草案公布，交付全国人民讨论；根据讨论意见作出修改，再提交第一届全国人民代表大会第一次会议审议。</a:t>
            </a:r>
          </a:p>
          <a:p>
            <a:pPr/>
            <a:endParaRPr lang="zh-CN" dirty="0"/>
          </a:p>
          <a:p>
            <a:pPr/>
            <a:r>
              <a:rPr lang="zh-CN" dirty="0"/>
              <a:t>这场讨论有多大？在近三个月里，全国有一亿五千多万人参加宪法草案讨论，当时全国人口大约六亿。对宪法草案和同时讨论的几部国家机关组织法草案，人们共提出一百一十八万多条修改、补充意见。宪法起草委员会办公室把宪法草案的意见陆续归纳编印，留下了一套十四册的《全国人民讨论宪草意见汇编》。</a:t>
            </a:r>
          </a:p>
          <a:p>
            <a:pPr/>
            <a:endParaRPr lang="zh-CN" dirty="0"/>
          </a:p>
          <a:p>
            <a:pPr/>
            <a:r>
              <a:rPr lang="zh-CN" dirty="0"/>
              <a:t>这些意见怎样从各地来到起草者面前？处理材料的人里，有一位二十多岁的年轻教师，叫许崇德。他后来回忆，前一年自己还在山东农村参加普选试点，从选民登记到组织投票，忙了两个月。到了一九五四年春，他又被借调进中南海，做文件整理和资料汇编。</a:t>
            </a:r>
          </a:p>
          <a:p>
            <a:pPr/>
            <a:endParaRPr lang="zh-CN" dirty="0"/>
          </a:p>
          <a:p>
            <a:pPr/>
            <a:r>
              <a:rPr lang="zh-CN" dirty="0"/>
              <a:t>各地送来的意见要分类，相同的合在一起，注明来自哪些地区，再供研究。起草者不能只知道有多少人赞成，还要知道人们究竟对哪一处提出了什么意见。</a:t>
            </a:r>
          </a:p>
          <a:p>
            <a:pPr/>
            <a:endParaRPr lang="zh-CN" dirty="0"/>
          </a:p>
          <a:p>
            <a:pPr/>
            <a:r>
              <a:rPr lang="zh-CN" dirty="0"/>
              <a:t>这些意见后来怎样影响了草案？有一处修改很具体。草案原来规定，各民族都有发展自己语言文字的自由。有人提出，发展以外，还应当写明使用的自由。起草委员会考虑后采纳了这个建议，正式文本把“使用和发展”都写了进去。</a:t>
            </a:r>
          </a:p>
          <a:p>
            <a:pPr/>
            <a:endParaRPr lang="zh-CN" dirty="0"/>
          </a:p>
          <a:p>
            <a:pPr/>
            <a:r>
              <a:rPr lang="zh-CN" dirty="0"/>
              <a:t>这两个动词有什么不同？发展一种语言，是让它继续丰富；使用一种语言，则关系到人能不能用它表达、交流。只写发展，没有把实际使用明确写出来，意思就还不完整。群众提出的意见，就这样影响了宪法的具体表述。不过，意见提出来以后，还要研究该不该改、怎样改；草案经过修改，最后仍要由全国人大审议通过。</a:t>
            </a:r>
          </a:p>
          <a:p>
            <a:pPr/>
            <a:endParaRPr lang="zh-CN" dirty="0"/>
          </a:p>
          <a:p>
            <a:pPr/>
            <a:r>
              <a:rPr lang="zh-CN" dirty="0"/>
              <a:t>一九五四年的制宪，还要进一步明确国家机关怎样分工。《共同纲领》已经把全国人大放在国家最高政权机关的位置，并规定大会闭会期间由中央人民政府行使国家政权。到一九五四年，宪法进一步明确人大常委会是全国人大的常设机关，国务院是最高国家行政机关。大会不能每天开会，行政事务又必须持续有人处理，所以需要把这些机关的地位、职权和相互关系规定清楚。</a:t>
            </a:r>
          </a:p>
          <a:p>
            <a:pPr/>
            <a:endParaRPr lang="zh-CN" dirty="0"/>
          </a:p>
          <a:p>
            <a:pPr/>
            <a:r>
              <a:rPr lang="zh-CN" dirty="0"/>
              <a:t>所以，一九五四年宪法序言说，它以《共同纲领》为基础，又是《共同纲领》的发展。《共同纲领》已经为建国初期的国家运行定下规则，宪法又进一步规定了国家的根本制度和国家机关怎样组成、怎样分工。</a:t>
            </a:r>
          </a:p>
          <a:p>
            <a:pPr/>
            <a:endParaRPr lang="zh-CN" dirty="0"/>
          </a:p>
          <a:p>
            <a:pPr/>
            <a:r>
              <a:rPr lang="zh-CN" dirty="0"/>
              <a:t>现在再回到开头那张票。九月二十日，大会以无记名投票表决，一千一百九十七名与会代表投下赞成票，新中国第一部宪法由此通过。此前的草案公布、群众讨论和修改，都在为最后的审议和表决作准备。</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一个国家的事务那么多，为什么先要把这些问题规定清楚？因为国家机关每天办理事务，都离不开这些根本规定。谁可以制定法律，谁负责行政管理，谁行使审判权，并不是遇到一件事再临时商量。公民也不能每次面对国家机关，都从头问一遍：我在这里有没有权利，我的自由和利益应不应该受到尊重？</a:t>
            </a:r>
          </a:p>
          <a:p>
            <a:pPr/>
            <a:endParaRPr lang="zh-CN" dirty="0"/>
          </a:p>
          <a:p>
            <a:pPr/>
            <a:r>
              <a:rPr lang="zh-CN" dirty="0"/>
              <a:t>宪法确立这些根本安排。以后学习具体法律，我们在这个基础上继续看国家怎样履职、人的权利怎样保障。</a:t>
            </a:r>
          </a:p>
          <a:p>
            <a:pPr/>
            <a:endParaRPr lang="zh-CN" dirty="0"/>
          </a:p>
          <a:p>
            <a:pPr/>
            <a:r>
              <a:rPr lang="zh-CN" dirty="0"/>
              <a:t>今天读的现行宪法，是一九八二年通过、后来经过修改的宪法，不是一九五四年那一版。具体的形成和变化，第二讲再讲。现在先翻开现行文本，看一看这部根本法实际安排了什么。</a:t>
            </a:r>
          </a:p>
          <a:p>
            <a:pPr/>
            <a:endParaRPr lang="zh-CN" dirty="0"/>
          </a:p>
          <a:p>
            <a:pPr/>
            <a:r>
              <a:rPr lang="zh-CN" dirty="0"/>
              <a:t>二、从一本宪法里，看见整个国家的安排</a:t>
            </a:r>
          </a:p>
          <a:p>
            <a:pPr/>
            <a:endParaRPr lang="zh-CN" dirty="0"/>
          </a:p>
          <a:p>
            <a:pPr/>
            <a:r>
              <a:rPr lang="zh-CN" dirty="0"/>
              <a:t>宪法前面有序言，后面分四章。第一章是总纲，规定国家性质、根本制度及各领域的重要制度；第二章是公民的基本权利和义务，讲公民的基本法律地位；第三章是国家机构，规定国家机关怎样组成、有哪些职权；第四章是国旗、国歌、国徽、首都，规定国家标志与首都。</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读第二章和第三章，会碰到两个读音一样的词：国家的“权力”，力气的“力”；公民的“权利”，利益的“利”。说到这两个词，还有一段翻译的往事。</a:t>
            </a:r>
          </a:p>
          <a:p>
            <a:pPr/>
            <a:endParaRPr lang="zh-CN" dirty="0"/>
          </a:p>
          <a:p>
            <a:pPr/>
            <a:r>
              <a:rPr lang="zh-CN" dirty="0"/>
              <a:t>十九世纪，丁韪良在中国翻译西方的法律著作。这个名字听起来很中国，他其实是一位美国人。在他译的《公法便览》中，有一段专门解释用词的“凡例”。他遇到的难处是，一个“权”字，既可能指官员掌握的权力，又可能指普通人应当享有的东西。都写成“权”，读者就得自己辨认在说哪一种。</a:t>
            </a:r>
          </a:p>
          <a:p>
            <a:pPr/>
            <a:endParaRPr lang="zh-CN" dirty="0"/>
          </a:p>
          <a:p>
            <a:pPr/>
            <a:r>
              <a:rPr lang="zh-CN" dirty="0"/>
              <a:t>他在凡例里说明，这个字“不独指有司所操之权，亦指凡人理所应得之分”，有时便加上一个“利”字，写成普通人本有的“权利”。“有司”是当时对官吏的称呼；“凡人理所应得之分”，用今天的话说，就是一个普通人理应享有的那一份。这里说的是译者解释自己怎样用词，还不是今天法律概念的完整定义。</a:t>
            </a:r>
          </a:p>
          <a:p>
            <a:pPr/>
            <a:endParaRPr lang="zh-CN" dirty="0"/>
          </a:p>
          <a:p>
            <a:pPr/>
            <a:r>
              <a:rPr lang="zh-CN" dirty="0"/>
              <a:t>有意思的是，他还替这些译词作了一番辩护，说有些字句“初见多不入目”。我们今天觉得平常的专业用语，刚出现时，也会让人觉得别扭。一个词被反复使用，慢慢才成了大家习惯的说法。学专业，有时也在学习前人怎样费力地把事情分清。</a:t>
            </a:r>
          </a:p>
          <a:p>
            <a:pPr/>
            <a:endParaRPr lang="zh-CN" dirty="0"/>
          </a:p>
          <a:p>
            <a:pPr/>
            <a:r>
              <a:rPr lang="zh-CN" dirty="0"/>
              <a:t>回到本课，国家能够对人作出什么决定，与一个人应当受到怎样的保障，是两种需要分清的法律关系。</a:t>
            </a:r>
          </a:p>
          <a:p>
            <a:pPr/>
            <a:endParaRPr lang="zh-CN" dirty="0"/>
          </a:p>
          <a:p>
            <a:pPr/>
            <a:r>
              <a:rPr lang="zh-CN" dirty="0"/>
              <a:t>你将来执行公务，能够作出什么决定、采取什么措施，涉及公共权力。法律把某项职权交给一个机关，是为了让它承担相应职责。你作为公民，享有法律所保障的自由和利益，可以依法提出请求，涉及的是权利。</a:t>
            </a:r>
          </a:p>
          <a:p>
            <a:pPr/>
            <a:endParaRPr lang="zh-CN" dirty="0"/>
          </a:p>
          <a:p>
            <a:pPr/>
            <a:r>
              <a:rPr lang="zh-CN" dirty="0"/>
              <a:t>同一个人会处在不同的法律关系中。作为工作人员依法履职时，他行使的是岗位和机关的职权；作为公民，他也有应受保护的权利。职权不是这个人私人的财产，不能想怎样用就怎样用；他的个人权利也不会因为做了公职人员，就变得没有意义。</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把第二章和第三章连起来读，一边是公民享有哪些基本权利，另一边是国家机关怎样组织和行使权力。我们以后学执法，既要认清自己依法能做什么，也要认清面对的人依法享有什么。</a:t>
            </a:r>
          </a:p>
          <a:p>
            <a:pPr/>
            <a:endParaRPr lang="zh-CN" dirty="0"/>
          </a:p>
          <a:p>
            <a:pPr/>
            <a:r>
              <a:rPr lang="zh-CN" dirty="0"/>
              <a:t>再看序言。它记载国家发展的重要历史，说明国家的指导思想和根本任务，也明确宪法自身的法律地位。</a:t>
            </a:r>
          </a:p>
          <a:p>
            <a:pPr/>
            <a:endParaRPr lang="zh-CN" dirty="0"/>
          </a:p>
          <a:p>
            <a:pPr/>
            <a:r>
              <a:rPr lang="zh-CN" dirty="0"/>
              <a:t>它把国家的根本任务写成一句话：沿着中国特色社会主义道路，集中力量进行社会主义现代化建设。接着还列明指导思想。这一串是必须准确的规范用语，我照原文念：马克思列宁主义，毛泽东思想，邓小平理论，然后是“三个代表”重要思想，还有科学发展观，最后落到习近平新时代中国特色社会主义思想。</a:t>
            </a:r>
          </a:p>
          <a:p>
            <a:pPr/>
            <a:endParaRPr lang="zh-CN" dirty="0"/>
          </a:p>
          <a:p>
            <a:pPr/>
            <a:r>
              <a:rPr lang="zh-CN" dirty="0"/>
              <a:t>宪法因此不只安排机关分工，还确认国家建设的基本方向。年度工作可以调整，根本任务则为较长时期的建设提供总体方向。</a:t>
            </a:r>
          </a:p>
          <a:p>
            <a:pPr/>
            <a:endParaRPr lang="zh-CN" dirty="0"/>
          </a:p>
          <a:p>
            <a:pPr/>
            <a:r>
              <a:rPr lang="zh-CN" dirty="0"/>
              <a:t>序言末段说明，宪法规定国家的根本制度和根本任务，是根本法，具有最高法律效力。国家机关、各政党和全国各族人民等，都必须以宪法为根本活动准则。所以序言不只有历史介绍，也写有应当遵守的法律要求。不过，叙述历史、确定目标和规定具体义务，并不是同一种表达，不能把每句话都直接当成具体的办案条款。</a:t>
            </a:r>
          </a:p>
          <a:p>
            <a:pPr/>
            <a:endParaRPr lang="zh-CN" dirty="0"/>
          </a:p>
          <a:p>
            <a:pPr/>
            <a:r>
              <a:rPr lang="zh-CN" dirty="0"/>
              <a:t>现在回头回答“什么是宪法”，可以这样概括：宪法是国家的根本法，它规定国家的根本制度和根本任务、公民的基本权利和义务，以及国家权力的组织与运行，具有最高法律效力。</a:t>
            </a:r>
          </a:p>
          <a:p>
            <a:pPr/>
            <a:endParaRPr lang="zh-CN" dirty="0"/>
          </a:p>
          <a:p>
            <a:pPr/>
            <a:r>
              <a:rPr lang="zh-CN" dirty="0"/>
              <a:t>请大家比较下面三件事：确定国家的根本制度，确定全国人民代表大会的基本法律地位，处理一份具体的货物买卖合同。它们都可能重要，但哪两件属于宪法直接规定的根本事项？为什么第三件通常需要去找民事法律的具体规定？</a:t>
            </a:r>
          </a:p>
          <a:p>
            <a:pPr/>
            <a:endParaRPr lang="zh-CN" dirty="0"/>
          </a:p>
          <a:p>
            <a:pPr/>
            <a:r>
              <a:rPr lang="zh-CN" dirty="0"/>
              <a:t>【独立思考约一至两分钟：写出选择和一句理由。教师此时暂停讲述。】</a:t>
            </a:r>
          </a:p>
          <a:p>
            <a:pPr/>
            <a:endParaRPr lang="zh-CN" dirty="0"/>
          </a:p>
          <a:p>
            <a:pPr/>
            <a:r>
              <a:rPr lang="zh-CN" dirty="0"/>
              <a:t>前两件涉及国家制度和权力组织，属于宪法的根本内容。第三件通常要依靠民事法律判断合同中的权利、义务和责任。这个区分并不是说合同不重要，而是在辨认不同法律各自处理什么层次的问题。对合同当事人来说，一份合同可能关系到全部积蓄；它的重要性，并不因此改变法律体系中各类规范的地位。</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三、普通法律这么要紧，为什么宪法仍是根本法</a:t>
            </a:r>
          </a:p>
          <a:p>
            <a:pPr/>
            <a:endParaRPr lang="zh-CN" dirty="0"/>
          </a:p>
          <a:p>
            <a:pPr/>
            <a:r>
              <a:rPr lang="zh-CN" dirty="0"/>
              <a:t>刚才的合同例子，正好引出一个疑问。买东西、找工作、发生交通事故，大家直接去找的往往是具体法律。那么，为什么还说宪法是根本法？</a:t>
            </a:r>
          </a:p>
          <a:p>
            <a:pPr/>
            <a:endParaRPr lang="zh-CN" dirty="0"/>
          </a:p>
          <a:p>
            <a:pPr/>
            <a:r>
              <a:rPr lang="zh-CN" dirty="0"/>
              <a:t>遇到合同纠纷，我们会问按哪条法律处理；作出一项处罚，我们会问要满足哪些法律条件。不过，还可以接着问：这些法律由谁制定？制定法律的机关凭什么有这项职权？它能不能想怎么规定就怎么规定？</a:t>
            </a:r>
          </a:p>
          <a:p>
            <a:pPr/>
            <a:endParaRPr lang="zh-CN" dirty="0"/>
          </a:p>
          <a:p>
            <a:pPr/>
            <a:r>
              <a:rPr lang="zh-CN" dirty="0"/>
              <a:t>普通法律给出判断合同、处罚等具体问题的条件。宪法则规定国家建立在什么制度上，国家权力怎样组织，公民有哪些基本权利。制定普通法律的机关，本身也要依据宪法设立并行使职权。</a:t>
            </a:r>
          </a:p>
          <a:p>
            <a:pPr/>
            <a:endParaRPr lang="zh-CN" dirty="0"/>
          </a:p>
          <a:p>
            <a:pPr/>
            <a:r>
              <a:rPr lang="zh-CN" dirty="0"/>
              <a:t>所以，法律不仅告诉人们一件事该怎么办，还要规定谁有权立法，立法时必须遵循什么。宪法为不同领域的法律提供共同基础。“很重要”可以形容许多法律，“根本法”则说明宪法在国家制度和法律体系中的特殊地位。</a:t>
            </a:r>
          </a:p>
          <a:p>
            <a:pPr/>
            <a:endParaRPr lang="zh-CN" dirty="0"/>
          </a:p>
          <a:p>
            <a:pPr/>
            <a:r>
              <a:rPr lang="zh-CN" dirty="0"/>
              <a:t>不同机关有各自任务，公民的基本法律地位却不能随着走进哪个部门就任意改变。根本法与普通法律的区别，不能简单说成“大事”和“小事”。</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一九五四年讨论宪法草案时，就遇到一个很实际的选择。有人建议，把国务院各个部、各个委员会的名称，都在宪法里列出来。这个想法不难理解：既然国家机关重要，为什么不在根本法里把它们写得一清二楚？</a:t>
            </a:r>
          </a:p>
          <a:p>
            <a:pPr/>
            <a:endParaRPr lang="zh-CN" dirty="0"/>
          </a:p>
          <a:p>
            <a:pPr/>
            <a:r>
              <a:rPr lang="zh-CN" dirty="0"/>
              <a:t>起草委员会没有采纳这种写法。刘少奇在关于宪法草案的报告中解释，国家建设向前发展，部门设置可能需要调整；若把名单都写进宪法，一遇变动就得修宪。这些名称可以交给国务院组织法规定。宪法确定国务院的根本地位、组成和职权，组织法继续安排具体组织问题。</a:t>
            </a:r>
          </a:p>
          <a:p>
            <a:pPr/>
            <a:endParaRPr lang="zh-CN" dirty="0"/>
          </a:p>
          <a:p>
            <a:pPr/>
            <a:r>
              <a:rPr lang="zh-CN" dirty="0"/>
              <a:t>这就与开头增加“使用”两个字的修改形成了一个对照。讨论意见有的补进宪法，有的交给另一部法律处理。并不是写得越满，宪法就越完整；还要考虑哪些根本安排应当稳定，哪些具体安排需要留出依法调整的余地。</a:t>
            </a:r>
          </a:p>
          <a:p>
            <a:pPr/>
            <a:endParaRPr lang="zh-CN" dirty="0"/>
          </a:p>
          <a:p>
            <a:pPr/>
            <a:r>
              <a:rPr lang="zh-CN" dirty="0"/>
              <a:t>同一次大会通过宪法后，还决定：建国后由中央人民政府制定、批准的现行法律、法令，除与宪法相抵触的以外，继续有效。根本法确立共同依据，各领域的具体法律继续处理生活中的事情，并受它约束。</a:t>
            </a:r>
          </a:p>
          <a:p>
            <a:pPr/>
            <a:endParaRPr lang="zh-CN" dirty="0"/>
          </a:p>
          <a:p>
            <a:pPr/>
            <a:r>
              <a:rPr lang="zh-CN" dirty="0"/>
              <a:t>除了规定根本内容，宪法还具有最高法律效力。宪法第五条写明：法律、行政法规、地方性法规这些下位规范，都不得同宪法相抵触。</a:t>
            </a:r>
          </a:p>
          <a:p>
            <a:pPr/>
            <a:endParaRPr lang="zh-CN" dirty="0"/>
          </a:p>
          <a:p>
            <a:pPr/>
            <a:r>
              <a:rPr lang="zh-CN" dirty="0"/>
              <a:t>这里的“效力”，说的是法律约束力。最高法律效力意味着，其他法律规范必须符合宪法，国家机关的活动也要受宪法约束。一个机关地位重要、任务紧迫，都不能由此取得超越宪法和法律的特权。</a:t>
            </a:r>
          </a:p>
          <a:p>
            <a:pPr/>
            <a:endParaRPr lang="zh-CN" dirty="0"/>
          </a:p>
          <a:p>
            <a:pPr/>
            <a:r>
              <a:rPr lang="zh-CN" dirty="0"/>
              <a:t>制定普通法律本身，也是在行使国家权力。宪法既规定由谁立法，也约束立法的内容。假如立法机关能随时用普通法律改掉宪法的要求，宪法就谈不上具有最高法律效力了。</a:t>
            </a:r>
          </a:p>
          <a:p>
            <a:pPr/>
            <a:endParaRPr lang="zh-CN" dirty="0"/>
          </a:p>
          <a:p>
            <a:pPr/>
            <a:r>
              <a:rPr lang="zh-CN" dirty="0"/>
              <a:t>宪法有原则，也有具体规则；普通法律有办法，也有原则。写得抽象或具体，与法律效力高低，是不同问题。拿一本书有多厚、平时查了多少次来排名，也排不出宪法的地位。</a:t>
            </a:r>
          </a:p>
          <a:p>
            <a:pPr/>
            <a:endParaRPr lang="zh-CN" dirty="0"/>
          </a:p>
          <a:p>
            <a:pPr/>
            <a:r>
              <a:rPr lang="zh-CN" dirty="0"/>
              <a:t>我们可以根据宪法分析某项规定存在什么问题，但认定、处理这些问题，要由有权限的机关依照法定制度进行。不能把“宪法最高”理解成每个人都可以仅凭自己的看法，宣布某条法律不再适用。怎样监督和保障宪法实施，第八讲会讲。</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现在再看一个问题：改变宪法，是不是也与改变普通规则一样？</a:t>
            </a:r>
          </a:p>
          <a:p>
            <a:pPr/>
            <a:endParaRPr lang="zh-CN" dirty="0"/>
          </a:p>
          <a:p>
            <a:pPr/>
            <a:r>
              <a:rPr lang="zh-CN" dirty="0"/>
              <a:t>四、根本的规则怎样保持稳定，又怎样改变</a:t>
            </a:r>
          </a:p>
          <a:p>
            <a:pPr/>
            <a:endParaRPr lang="zh-CN" dirty="0"/>
          </a:p>
          <a:p>
            <a:pPr/>
            <a:r>
              <a:rPr lang="zh-CN" dirty="0"/>
              <a:t>答案可以从宪法第六十四条找到。提议修改宪法的，是全国人大常委会，或者是五分之一以上的全国人大代表；要通过修改，得由全国人大以全体代表三分之二以上的多数同意。</a:t>
            </a:r>
          </a:p>
          <a:p>
            <a:pPr/>
            <a:endParaRPr lang="zh-CN" dirty="0"/>
          </a:p>
          <a:p>
            <a:pPr/>
            <a:r>
              <a:rPr lang="zh-CN" dirty="0"/>
              <a:t>同一条还规定，法律和其他议案，由全国人大以全体代表过半数通过。这里比较的是全国人大这两种表决要求，不是说全部普通法律都必须交全国人大表决。全国人大常委会也依法行使立法职权，具体分工以后会学。</a:t>
            </a:r>
          </a:p>
          <a:p>
            <a:pPr/>
            <a:endParaRPr lang="zh-CN" dirty="0"/>
          </a:p>
          <a:p>
            <a:pPr/>
            <a:r>
              <a:rPr lang="zh-CN" dirty="0"/>
              <a:t>这里既限定修宪提议的主体，也规定了更严格的通过门槛。“全体代表”不能读成“到场代表”，计算范围不同，所需票数也会不同。</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假设另订一部普通法律，把修宪所需的三分之二以上改成过半数，行不行？不行。两种规定都很具体，但普通法律不能改掉宪法规定的门槛。这就看出，写得具体并不会使普通法律取得更高效力。</a:t>
            </a:r>
          </a:p>
          <a:p>
            <a:pPr/>
            <a:endParaRPr lang="zh-CN" dirty="0"/>
          </a:p>
          <a:p>
            <a:pPr/>
            <a:r>
              <a:rPr lang="zh-CN" dirty="0"/>
              <a:t>过半数已经取得了多数，为什么修改宪法还要更高的支持比例？联系它调整的内容看：国家的根本制度、权力组织和公民基本地位，都需要一定的稳定性，不能随意变动。提高通过门槛，意味着修改需要取得更广泛的同意。三分之二在这里有具体的制度作用，不能只当作一个孤立的数字来背。</a:t>
            </a:r>
          </a:p>
          <a:p>
            <a:pPr/>
            <a:endParaRPr lang="zh-CN" dirty="0"/>
          </a:p>
          <a:p>
            <a:pPr/>
            <a:r>
              <a:rPr lang="zh-CN" dirty="0"/>
              <a:t>不过，门槛提高，修改也更难。国家制度要保持稳定，也要随社会发展依法完善，所以宪法既规定严格程序，又保留修改途径。这能帮助我们理解较高门槛的作用，但还不能解释比例为何恰好定为三分之二。</a:t>
            </a:r>
          </a:p>
          <a:p>
            <a:pPr/>
            <a:endParaRPr lang="zh-CN" dirty="0"/>
          </a:p>
          <a:p>
            <a:pPr/>
            <a:r>
              <a:rPr lang="zh-CN" dirty="0"/>
              <a:t>把三项特征连起来：内容上规定国家根本问题，效力上具有最高法律约束力，修改程序上有特殊而严格的要求。三项共同帮助我们理解“根本法”。完整的修改过程，我们留到第二讲。</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五、把人民当家作主写成制度</a:t>
            </a:r>
          </a:p>
          <a:p>
            <a:pPr/>
            <a:endParaRPr lang="zh-CN" dirty="0"/>
          </a:p>
          <a:p>
            <a:pPr/>
            <a:r>
              <a:rPr lang="zh-CN" dirty="0"/>
              <a:t>开头那张票，记录代表对宪法的表决。代表来到会场以前，各地还做了很多更细的工作。刚才认识的许崇德，就曾在山东农村参加选民登记。现在把时间拨回一九五三年，看看他遇到了什么。</a:t>
            </a:r>
          </a:p>
          <a:p>
            <a:pPr/>
            <a:endParaRPr lang="zh-CN" dirty="0"/>
          </a:p>
          <a:p>
            <a:pPr/>
            <a:r>
              <a:rPr lang="zh-CN" dirty="0"/>
              <a:t>今天拿到一张证件，我们也许先看看照片拍得怎么样，名字印在上面，已经是很平常的事。可许崇德回忆，一九五三年参加选民登记时，他遇到一些没有个人名字的农村妇女，平时人们就叫她们“张家大嫂”“李家大妈”。工作人员一边帮助起名字，一边登记、发放选民证。她们第一次在选民榜上看见自己的名字。</a:t>
            </a:r>
          </a:p>
          <a:p>
            <a:pPr/>
            <a:endParaRPr lang="zh-CN" dirty="0"/>
          </a:p>
          <a:p>
            <a:pPr/>
            <a:r>
              <a:rPr lang="zh-CN" dirty="0"/>
              <a:t>名单里要辨认的是她本人，确认她本人的选民资格。她不只是谁家的大嫂，也是能够参与公共事务、表达意见的一个具体的人。</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一张选民证，也进入了一位年轻画家的创作。杨之光刚从中央美术学院毕业，在武汉教水彩，却想用中国画表现现实生活。他后来回忆，当时有人认为国画不适合表现新的现实题材，他想试一试。</a:t>
            </a:r>
          </a:p>
          <a:p>
            <a:pPr/>
            <a:endParaRPr lang="zh-CN" dirty="0"/>
          </a:p>
          <a:p>
            <a:pPr/>
            <a:r>
              <a:rPr lang="zh-CN" dirty="0"/>
              <a:t>普选这样的大事，落到画纸上，画什么呢？据杨之光回忆，同学杨澄告诉他，杨澄的母亲把领到的选票和首饰收在一起。杨之光又想起自己下乡写生时，看见妇女用手绢裹钱的动作。他把这两段生活印象放在一起，画出了那位老人：双手展开红手帕，看着收在里面的选民证。画的并不是许崇德登记时遇到的某位妇女，而是画家组织这些生活印象创作出的形象。</a:t>
            </a:r>
          </a:p>
          <a:p>
            <a:pPr/>
            <a:endParaRPr lang="zh-CN" dirty="0"/>
          </a:p>
          <a:p>
            <a:pPr/>
            <a:r>
              <a:rPr lang="zh-CN" dirty="0"/>
              <a:t>画作的初稿还碰到过质疑：这种半身人物的画法，算不算中国画？杨之光后来谈起这段经历，还称自己当年也是“前卫画家”。今天我们看到一幅已经成为馆藏的作品，当年的作者却是一个刚走上岗位、正在尝试新画法的年轻人。这幅画的名字叫《一辈子第一回》。一场国家大事，就在老人打开手帕的动作里，有了可以看见的生活模样。</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画面停在老人珍惜这张证件的时刻。可领到选民证以后，怎样表达自己的选择？不识字的人，也能参加吗？</a:t>
            </a:r>
          </a:p>
          <a:p>
            <a:pPr/>
            <a:endParaRPr lang="zh-CN" dirty="0"/>
          </a:p>
          <a:p>
            <a:pPr/>
            <a:r>
              <a:rPr lang="zh-CN" dirty="0"/>
              <a:t>我们回看更早的革命根据地选举，那时就遇到过这个问题：有些选民不识字，难以填写选票。当地采用过豆选，用豆子表示选票，把候选人与相应的碗对应起来，选民把豆子投到自己支持的候选人所对应的碗里。</a:t>
            </a:r>
          </a:p>
          <a:p>
            <a:pPr/>
            <a:endParaRPr lang="zh-CN" dirty="0"/>
          </a:p>
          <a:p>
            <a:pPr/>
            <a:r>
              <a:rPr lang="zh-CN" dirty="0"/>
              <a:t>斯特朗记述过一位叫杨步浩的农民参加豆选的经历。他不识字，投票时先在窑洞外领豆，再到窑洞里，把豆子投进自己支持的候选人所对应的碗，最后由众人看着统计票数。他曾用这样的办法参加过三次村长选举。</a:t>
            </a:r>
          </a:p>
          <a:p>
            <a:pPr/>
            <a:endParaRPr lang="zh-CN" dirty="0"/>
          </a:p>
          <a:p>
            <a:pPr/>
            <a:r>
              <a:rPr lang="zh-CN" dirty="0"/>
              <a:t>一颗豆子放进不同的碗，就表达了不同的选择。杨步浩不用先学会写字，也能参加投票。当众数豆子，又让选民能够看见票数是怎样统计出来的。所以，确认一个人有资格参与以后，还得让他有办法表达选择。至于代表怎样产生、怎样负责，仍要有其他制度安排。</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从人的参与回到现行宪法，国家权力归谁所有，又怎样行使？</a:t>
            </a:r>
          </a:p>
          <a:p>
            <a:pPr/>
            <a:endParaRPr lang="zh-CN" dirty="0"/>
          </a:p>
          <a:p>
            <a:pPr/>
            <a:r>
              <a:rPr lang="zh-CN" dirty="0"/>
              <a:t>宪法第二条开头写得很清楚，原话是：“中华人民共和国的一切权力属于人民。”紧接着规定，人民行使国家权力的机关，是全国人民代表大会，以及地方各级人民代表大会。它还规定，人民依照法律规定，通过各种途径和形式，管理国家事务、经济和文化事业、社会事务。</a:t>
            </a:r>
          </a:p>
          <a:p>
            <a:pPr/>
            <a:endParaRPr lang="zh-CN" dirty="0"/>
          </a:p>
          <a:p>
            <a:pPr/>
            <a:r>
              <a:rPr lang="zh-CN" dirty="0"/>
              <a:t>第一句话讲权力归属，后面的规定讲这种归属怎样通过制度实现。一个现代国家每天都有大量公共事务，不能每件事都让全体人民同时到场作决定，需要依法组织国家机关，形成职责和程序。</a:t>
            </a:r>
          </a:p>
          <a:p>
            <a:pPr/>
            <a:endParaRPr lang="zh-CN" dirty="0"/>
          </a:p>
          <a:p>
            <a:pPr/>
            <a:r>
              <a:rPr lang="zh-CN" dirty="0"/>
              <a:t>人民当家作主同样需要法律上的组织和程序。宪法第三条规定，国家机构实行民主集中制；各级人大都由民主选举产生，对人民负责、受人民监督；而行政机关、监察机关，还有审判机关和检察机关，都由人大产生，对它负责、受它监督。</a:t>
            </a:r>
          </a:p>
          <a:p>
            <a:pPr/>
            <a:endParaRPr lang="zh-CN" dirty="0"/>
          </a:p>
          <a:p>
            <a:pPr/>
            <a:r>
              <a:rPr lang="zh-CN" dirty="0"/>
              <a:t>这里既规定机关怎样产生，也规定它成立以后向谁负责、受谁监督。民主集中制中的“民主”和“集中”，可以先这样理解：广泛听取意见、充分讨论，再依法形成决定，有关机关分工执行并接受监督。既使人民的意见通过制度得到表达，也使国家事务能够统一、协调地办理。具体运行留到人民代表大会制度和国家机构部分。</a:t>
            </a:r>
          </a:p>
          <a:p>
            <a:pPr/>
            <a:endParaRPr lang="zh-CN" dirty="0"/>
          </a:p>
          <a:p>
            <a:pPr/>
            <a:r>
              <a:rPr lang="zh-CN" dirty="0"/>
              <a:t>教材把宪法概括为民主制度化、法律化的基本形式。这两个词看着抽象，实际关心的，是刚才这种参与怎样持续下去。</a:t>
            </a:r>
          </a:p>
          <a:p>
            <a:pPr/>
            <a:endParaRPr lang="zh-CN" dirty="0"/>
          </a:p>
          <a:p>
            <a:pPr/>
            <a:r>
              <a:rPr lang="zh-CN" dirty="0"/>
              <a:t>一九七八年，邓小平在谈民主法制建设时强调，制度和法律不能随着领导人的更换，或者他的看法、注意力变化而变化。联系眼前的问题想一想：有人愿意听意见，是好事；但谁能够参与、通过什么途径、谁应当负责，不能只等某个人愿意听、想起来听。</a:t>
            </a:r>
          </a:p>
          <a:p>
            <a:pPr/>
            <a:endParaRPr lang="zh-CN" dirty="0"/>
          </a:p>
          <a:p>
            <a:pPr/>
            <a:r>
              <a:rPr lang="zh-CN" dirty="0"/>
              <a:t>把谁能参与、通过哪些途径参与、由谁办理和负责确定下来，形成可以持续运行的制度，这就是这里所说的制度化；使这些制度成为应当遵守的法律要求，就是法律化。人民参与国家事务，不能只是一回难忘的经历，还要有平时可以依靠的制度和法律。宪法确定其中最根本的安排，具体办法由其他法律进一步规定。</a:t>
            </a:r>
          </a:p>
          <a:p>
            <a:pPr/>
            <a:endParaRPr lang="zh-CN" dirty="0"/>
          </a:p>
          <a:p>
            <a:pPr/>
            <a:r>
              <a:rPr lang="zh-CN" dirty="0"/>
              <a:t>教材还从政治力量对比关系解释宪法的本质。谁掌握国家权力，哪些阶级、阶层和群体的利益得到怎样的确认，会影响根本制度怎样安排。一九五四年宪法确认了中国共产党领导人民取得的革命成果，也回应了当时国家建设的任务。根本制度有它形成的社会条件。读宪法，既要看它把民主组织成怎样的制度，也要理解这些制度从什么历史和社会关系中产生。第二讲会沿着这个问题继续讲。</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六、机关怎样行动，人的权利怎样保障</a:t>
            </a:r>
          </a:p>
          <a:p>
            <a:pPr/>
            <a:endParaRPr lang="zh-CN" dirty="0"/>
          </a:p>
          <a:p>
            <a:pPr/>
            <a:r>
              <a:rPr lang="zh-CN" dirty="0"/>
              <a:t>国家机关组织起来以后，要能够依法办事。机关有没有这项职权，这次决定有没有事实和法律依据、程序是否符合要求，都是办案时需要回答的问题。</a:t>
            </a:r>
          </a:p>
          <a:p>
            <a:pPr/>
            <a:endParaRPr lang="zh-CN" dirty="0"/>
          </a:p>
          <a:p>
            <a:pPr/>
            <a:r>
              <a:rPr lang="zh-CN" dirty="0"/>
              <a:t>宪法第三条把产生、负责和监督放在同一条制度关系中，监督本来就是机关履职中的安排。它须依具体职权和法定方式开展，不是任何主体都可以随意指挥任何机关。</a:t>
            </a:r>
          </a:p>
          <a:p>
            <a:pPr/>
            <a:endParaRPr lang="zh-CN" dirty="0"/>
          </a:p>
          <a:p>
            <a:pPr/>
            <a:r>
              <a:rPr lang="zh-CN" dirty="0"/>
              <a:t>为什么专业判断还需要接受检验？现场情况可能正在变化，执勤人员先到，听到当事人说什么，也看见现场发生什么。他有训练，又有第一手信息。后来坐在办公室读材料的人，未必比他更了解当时的处境。若每次现场行动都要等所有人重新看一遍，依法应当及时处理的危险也可能被耽误。</a:t>
            </a:r>
          </a:p>
          <a:p>
            <a:pPr/>
            <a:endParaRPr lang="zh-CN" dirty="0"/>
          </a:p>
          <a:p>
            <a:pPr/>
            <a:r>
              <a:rPr lang="zh-CN" dirty="0"/>
              <a:t>可现场看到的那一部分，是否已经足以支持结论，还得具体看。我们设想一次现场冲突：工作人员看到甲推了乙，记录了这个动作；事后的完整视频还显示，乙先抓住甲的衣领，甲随后推开乙。甲确实推了人，原记录可能真实却不完整。先后经过和推的背景出现了新信息，不能只重复原先那一句。</a:t>
            </a:r>
          </a:p>
          <a:p>
            <a:pPr/>
            <a:endParaRPr lang="zh-CN" dirty="0"/>
          </a:p>
          <a:p>
            <a:pPr/>
            <a:r>
              <a:rPr lang="zh-CN" dirty="0"/>
              <a:t>有权限的复核者可能得到更完整的记录，也有条件把前后经过放在一起看。他的作用可以来自不同的材料和工作条件，而不是因为换了一个人，就自动比现场人员懂业务。新增前情也不直接等于甲一定合法；它改变了判断的事实基础，之后仍要结合相应法律作出结论。</a:t>
            </a:r>
          </a:p>
          <a:p>
            <a:pPr/>
            <a:endParaRPr lang="zh-CN" dirty="0"/>
          </a:p>
          <a:p>
            <a:pPr/>
            <a:r>
              <a:rPr lang="zh-CN" dirty="0"/>
              <a:t>监督要检验理由，专业判断也要留下依据。若多一个签字却不看材料、不回应疑点，就没有形成检验。复核也须有权限、时点和职责安排，不能让无依据的干预取代原决定。</a:t>
            </a:r>
          </a:p>
          <a:p>
            <a:pPr/>
            <a:endParaRPr lang="zh-CN" dirty="0"/>
          </a:p>
          <a:p>
            <a:pPr/>
            <a:r>
              <a:rPr lang="zh-CN" dirty="0"/>
              <a:t>记录、说明根据、核查新材料，都需要时间和人员，也可能带来协调困难。省掉这些工作，遗漏事实或判断错误的后果却可能一直由当事人承受。因此不能只以工作忙为由，把有依据的疑问挡在外面。一份记录写得清楚一点，可能多用十分钟；一个人因为记录不完整而被错误处罚，付出的代价却可能远远不止十分钟。</a:t>
            </a:r>
          </a:p>
          <a:p>
            <a:pPr/>
            <a:endParaRPr lang="zh-CN" dirty="0"/>
          </a:p>
          <a:p>
            <a:pPr/>
            <a:r>
              <a:rPr lang="zh-CN" dirty="0"/>
              <a:t>现在请大家沿这个设想想一想：现场工作人员有专业训练和第一手信息，后来又有完整视频补出前情。为什么不能只重复原记录，也不能仅凭换了复核人员就相信结论必然更正确？写出两句理由。</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【独立思考约两分钟：写一至两句理由。教师此时暂停讲述。】</a:t>
            </a:r>
          </a:p>
          <a:p>
            <a:pPr/>
            <a:endParaRPr lang="zh-CN" dirty="0"/>
          </a:p>
          <a:p>
            <a:pPr/>
            <a:r>
              <a:rPr lang="zh-CN" dirty="0"/>
              <a:t>原记录可能真实却不完整，新增前情使它需要被放进完整经过中理解。复核者则仍须查材料、回应理由并依法律判断，他的岗位不能代替这些工作。机关有职权、工作人员有训练，都是重要条件；这一次行为是否有事实和法律根据，仍要实际检验。</a:t>
            </a:r>
          </a:p>
          <a:p>
            <a:pPr/>
            <a:endParaRPr lang="zh-CN" dirty="0"/>
          </a:p>
          <a:p>
            <a:pPr/>
            <a:r>
              <a:rPr lang="zh-CN" dirty="0"/>
              <a:t>监督中的这些具体要求，还要放回宪法的整体来理解。前面在序言中读到的指导思想，为宪法的制定、修改和实施提供总体的思想理论依据。基本原则把其中的基本立场和要求凝练为贯穿制度的准则；具体规范再规定谁享有什么权利、谁有权做什么、谁应当向谁负责。</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比如，人民主权原则回答权力属于谁；宪法第二条进一步明确，人民行使国家权力的机关是全国人大和地方各级人大。一个是贯穿制度的要求，一个是具体的机关安排。这三个层次要联系起来读：只讲总体方向，还没有说清具体职责；只读一条职权，也不能撇开它应当遵循的原则。</a:t>
            </a:r>
          </a:p>
          <a:p>
            <a:pPr/>
            <a:endParaRPr lang="zh-CN" dirty="0"/>
          </a:p>
          <a:p>
            <a:pPr/>
            <a:r>
              <a:rPr lang="zh-CN" dirty="0"/>
              <a:t>教材归纳了六项宪法基本原则，今天重点联系前五项来理解。</a:t>
            </a:r>
          </a:p>
          <a:p>
            <a:pPr/>
            <a:endParaRPr lang="zh-CN" dirty="0"/>
          </a:p>
          <a:p>
            <a:pPr/>
            <a:r>
              <a:rPr lang="zh-CN" dirty="0"/>
              <a:t>首先是党的领导。宪法序言和第一条确认了中国共产党的领导地位，第一条的原话是“中国共产党领导是中国特色社会主义最本质的特征”。它关系到我国国家制度和国家建设的根本方向；第五条同时要求各政党等主体遵守宪法和法律。领导国家建设与依法开展活动，处于同一宪法框架中。</a:t>
            </a:r>
          </a:p>
          <a:p>
            <a:pPr/>
            <a:endParaRPr lang="zh-CN" dirty="0"/>
          </a:p>
          <a:p>
            <a:pPr/>
            <a:r>
              <a:rPr lang="zh-CN" dirty="0"/>
              <a:t>第二是人民主权。第二条既明确权力归属，又规定行使的机关和途径。人民拥有国家权力，要通过制度实现，并不是每个人都可以直接行使某个国家机关的职权。</a:t>
            </a:r>
          </a:p>
          <a:p>
            <a:pPr/>
            <a:endParaRPr lang="zh-CN" dirty="0"/>
          </a:p>
          <a:p>
            <a:pPr/>
            <a:r>
              <a:rPr lang="zh-CN" dirty="0"/>
              <a:t>第三是社会主义法治。宪法第五条第一款的原话是“中华人民共和国实行依法治国，建设社会主义法治国家”；这一条还要求维护社会主义法制的统一和尊严，既约束公民，也约束行使职权的国家机关，没有超越宪法法律的特权。</a:t>
            </a:r>
          </a:p>
          <a:p>
            <a:pPr/>
            <a:endParaRPr lang="zh-CN" dirty="0"/>
          </a:p>
          <a:p>
            <a:pPr/>
            <a:r>
              <a:rPr lang="zh-CN" dirty="0"/>
              <a:t>第四是尊重和保障人权。第三十三条明确规定：“国家尊重和保障人权。”两个动词都有分量。尊重人的权利，要求国家活动不能任意侵害；保障权利，还要求通过制度和实际履职，使应受保护的自由和利益得到保护。</a:t>
            </a:r>
          </a:p>
          <a:p>
            <a:pPr/>
            <a:endParaRPr lang="zh-CN" dirty="0"/>
          </a:p>
          <a:p>
            <a:pPr/>
            <a:r>
              <a:rPr lang="zh-CN" dirty="0"/>
              <a:t>下节的赔偿请求会把这一点讲具体：权利保障要有途径和承担职责的机关，不能只靠办事人员的好态度。</a:t>
            </a:r>
          </a:p>
          <a:p>
            <a:pPr/>
            <a:endParaRPr lang="zh-CN" dirty="0"/>
          </a:p>
          <a:p>
            <a:pPr/>
            <a:r>
              <a:rPr lang="zh-CN" dirty="0"/>
              <a:t>第五是权力监督与制约。它包括前面读到的国家机关之间的负责和监督关系，也包括公民依宪法对国家机关及工作人员提出批评、建议，以及依法申诉、控告、检举。公民提出意见与有权限的机关依法处理，各有其作用。</a:t>
            </a:r>
          </a:p>
          <a:p>
            <a:pPr/>
            <a:endParaRPr lang="zh-CN" dirty="0"/>
          </a:p>
          <a:p>
            <a:pPr/>
            <a:r>
              <a:rPr lang="zh-CN" dirty="0"/>
              <a:t>第六项是民主集中制，刚才已结合第三条说明，后面会讲它的具体运行。这是本教材重点归纳的六项，不意味着宪法只有这六项原则。</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这节课从根本内容、最高效力和特殊修改程序认识宪法，再看贯穿其中的原则：它既组织国家权力，也要求机关在履职中尊重和保障公民权利。</a:t>
            </a:r>
          </a:p>
          <a:p>
            <a:pPr/>
            <a:endParaRPr lang="zh-CN" dirty="0"/>
          </a:p>
          <a:p>
            <a:pPr/>
            <a:r>
              <a:rPr lang="zh-CN" dirty="0"/>
              <a:t>下节我们来看一个申请国家赔偿的人。如果国家机关行使职权侵害了他的权利，宪法已经给了他权利保障，为什么还需要普通法律？他又该怎样依法提出请求，机关该怎样处理？</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下节｜一项宪法权利怎样进入具体生活</a:t>
            </a:r>
          </a:p>
          <a:p>
            <a:pPr/>
            <a:endParaRPr lang="zh-CN" dirty="0"/>
          </a:p>
          <a:p>
            <a:pPr/>
            <a:r>
              <a:rPr lang="zh-CN" dirty="0"/>
              <a:t>一、损害发生以后，向国家提出什么请求</a:t>
            </a:r>
          </a:p>
          <a:p>
            <a:pPr/>
            <a:endParaRPr lang="zh-CN" dirty="0"/>
          </a:p>
          <a:p>
            <a:pPr/>
            <a:r>
              <a:rPr lang="zh-CN" dirty="0"/>
              <a:t>我们接着上课。上节讲到，国家权力依法组织和运行，公民的基本权利也有宪法保障。现在把问题落到一项具体请求上。</a:t>
            </a:r>
          </a:p>
          <a:p>
            <a:pPr/>
            <a:endParaRPr lang="zh-CN" dirty="0"/>
          </a:p>
          <a:p>
            <a:pPr/>
            <a:r>
              <a:rPr lang="zh-CN" dirty="0"/>
              <a:t>我们设想这样一件事：某县公安局对一位公民作出行政拘留处罚，这次拘留违法，并造成了相应损害。现在，他要申请国家赔偿。今天先把违法及损害作为已知事实，看看这项请求怎样往下走；现实案件中，这些事实当然需要查明。行政拘留和刑事拘留的赔偿规定也有区别，这里说的是前一种。</a:t>
            </a:r>
          </a:p>
          <a:p>
            <a:pPr/>
            <a:endParaRPr lang="zh-CN" dirty="0"/>
          </a:p>
          <a:p>
            <a:pPr/>
            <a:r>
              <a:rPr lang="zh-CN" dirty="0"/>
              <a:t>现在，这个人要面对的第一件事是：他是在请求工作人员照顾一下，还是在行使法律上的权利？</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项权利，其实在上节讲的一九五四年宪法里就已经出现。那部宪法第九十七条规定，公民因为国家机关工作人员侵犯权利而受到损失，就有取得赔偿的权利。你注意到没有，它既规定国家机关怎样行使权力，也写明受到这种侵害的人有权取得赔偿。</a:t>
            </a:r>
          </a:p>
          <a:p>
            <a:pPr/>
            <a:endParaRPr lang="zh-CN" dirty="0"/>
          </a:p>
          <a:p>
            <a:pPr/>
            <a:r>
              <a:rPr lang="zh-CN" dirty="0"/>
              <a:t>因此，认识国家权力，不能只看到它怎样对人作出决定。决定侵害了人的权利，国家还应当怎样承担责任，同样是根本法关心的事情。现在回到现行文本。</a:t>
            </a:r>
          </a:p>
          <a:p>
            <a:pPr/>
            <a:endParaRPr lang="zh-CN" dirty="0"/>
          </a:p>
          <a:p>
            <a:pPr/>
            <a:r>
              <a:rPr lang="zh-CN" dirty="0"/>
              <a:t>请看宪法第四十一条第三款。这一款给的是取得赔偿的权利：一个人因为国家机关或国家工作人员侵犯他的权利、受到损失，就有权依法取得赔偿。原文的关键表述是“有依照法律规定取得赔偿的权利”——宪法先确认这项权利，再把具体办法交给法律。</a:t>
            </a:r>
          </a:p>
          <a:p>
            <a:pPr/>
            <a:endParaRPr lang="zh-CN" dirty="0"/>
          </a:p>
          <a:p>
            <a:pPr/>
            <a:r>
              <a:rPr lang="zh-CN" dirty="0"/>
              <a:t>这里写的是权利。一个人原先是行政决定所针对的对象，现在可以依法提出请求，要求机关说明和承担相应责任。能不能依法取得赔偿，要看事实和法律条件，不取决于他与办事人员是否熟悉。</a:t>
            </a:r>
          </a:p>
          <a:p>
            <a:pPr/>
            <a:endParaRPr lang="zh-CN" dirty="0"/>
          </a:p>
          <a:p>
            <a:pPr/>
            <a:r>
              <a:rPr lang="zh-CN" dirty="0"/>
              <a:t>但“依照法律规定”也要一起读。宪法确认了这项权利，哪些损害应当赔偿、哪个机关负责、请求怎样提出，还要由具体法律作出规定。</a:t>
            </a:r>
          </a:p>
          <a:p>
            <a:pPr/>
            <a:endParaRPr lang="zh-CN" dirty="0"/>
          </a:p>
          <a:p>
            <a:pPr/>
            <a:r>
              <a:rPr lang="zh-CN" dirty="0"/>
              <a:t>一九九四年制定的国家赔偿法，就把这些问题系统规定下来，后来又经过修正。我们现在使用的是二〇一二年修正后的文本。它的第一条写了两件事，也交代了立法依据：一件是保障——让公民、法人和其他组织能够依法取得国家赔偿；另一件是促进——推动国家机关依法行使职权。最后一句点明，这部法律是“根据宪法”制定的。</a:t>
            </a:r>
          </a:p>
          <a:p>
            <a:pPr/>
            <a:endParaRPr lang="zh-CN" dirty="0"/>
          </a:p>
          <a:p>
            <a:pPr/>
            <a:r>
              <a:rPr lang="zh-CN" dirty="0"/>
              <a:t>第一条把两项目的写在一起：既保障受害人依法取得赔偿，也促进国家机关依法行使职权。机关行使职权造成了法律规定应当赔偿的损害，受害人有权提出请求，机关就应依法承担责任。处理损害的同时，也通过明确责任来要求机关依法办事。</a:t>
            </a:r>
          </a:p>
          <a:p>
            <a:pPr/>
            <a:endParaRPr lang="zh-CN" dirty="0"/>
          </a:p>
          <a:p>
            <a:pPr/>
            <a:r>
              <a:rPr lang="zh-CN" dirty="0"/>
              <a:t>宪法条文给了根本依据，普通法律给了进一步的制度安排。它们各自说了什么，我们沿着同一个请求继续往下看。</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二、从“依法可以赔偿”到“这件事由谁负责”</a:t>
            </a:r>
          </a:p>
          <a:p>
            <a:pPr/>
            <a:endParaRPr lang="zh-CN" dirty="0"/>
          </a:p>
          <a:p>
            <a:pPr/>
            <a:r>
              <a:rPr lang="zh-CN" dirty="0"/>
              <a:t>假设我们手里只有宪法第四十一条，已经知道因国家机关侵权受到损失的人有依法取得赔偿的权利。接下来马上会碰到具体问题：什么样的职权行为进入国家赔偿范围？工作人员以个人身份发生的私人纠纷，能不能也一概要求国家赔？</a:t>
            </a:r>
          </a:p>
          <a:p>
            <a:pPr/>
            <a:endParaRPr lang="zh-CN" dirty="0"/>
          </a:p>
          <a:p>
            <a:pPr/>
            <a:r>
              <a:rPr lang="zh-CN" dirty="0"/>
              <a:t>国家赔偿法第二条写明了“行使职权”和“有本法规定的侵犯……合法权益的情形，造成损害”等条件。因此，判断国家赔偿不能只看行为人是不是穿制服、是不是在国家机关工作，还要看他做了什么，这个行为是否符合本法规定的赔偿条件。</a:t>
            </a:r>
          </a:p>
          <a:p>
            <a:pPr/>
            <a:endParaRPr lang="zh-CN" dirty="0"/>
          </a:p>
          <a:p>
            <a:pPr/>
            <a:r>
              <a:rPr lang="zh-CN" dirty="0"/>
              <a:t>在我们的设例里，县公安局作出行政拘留处罚，属于行政职权活动。国家赔偿法第三条第一项规定了“违法拘留或者违法采取限制公民人身自由的行政强制措施”的情形。所以，例子中的违法行政拘留，属于这一项规定的赔偿情形。</a:t>
            </a:r>
          </a:p>
          <a:p>
            <a:pPr/>
            <a:endParaRPr lang="zh-CN" dirty="0"/>
          </a:p>
          <a:p>
            <a:pPr/>
            <a:r>
              <a:rPr lang="zh-CN" dirty="0"/>
              <a:t>为什么要仔细辨认“行使职权”？因为一个人在国家机关工作，并不表示他所有时间、所有行为都代表机关。以个人身份发生的生活纠纷，与行使行政职权造成损害，不是同一种关系。不能只看人的职业，就直接跳到国家赔偿；也不能因为一项职权行为具体由个人执行，就把机关的法定责任推成纯粹私人问题。</a:t>
            </a:r>
          </a:p>
          <a:p>
            <a:pPr/>
            <a:endParaRPr lang="zh-CN" dirty="0"/>
          </a:p>
          <a:p>
            <a:pPr/>
            <a:r>
              <a:rPr lang="zh-CN" dirty="0"/>
              <a:t>只读宪法，我们知道受侵害的人有依法取得赔偿的权利。读到国家赔偿法，就更清楚该根据什么行为、什么损害和什么条件，判断眼前这一次请求。我们说普通法律把宪法具体化，就包括把这些判断条件规定出来。</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再往前一步，法律上谁来负责？条文用的词是“赔偿义务机关”。把这个词拆开，问的就是：对外应当承担赔偿义务的是哪个机关。它与请求人今天碰到了哪位接待人员，还不是一回事。</a:t>
            </a:r>
          </a:p>
          <a:p>
            <a:pPr/>
            <a:endParaRPr lang="zh-CN" dirty="0"/>
          </a:p>
          <a:p>
            <a:pPr/>
            <a:r>
              <a:rPr lang="zh-CN" dirty="0"/>
              <a:t>国家赔偿法第七条第一款规定，行政机关及其工作人员行使行政职权，侵犯公民等主体合法权益造成损害的，该行政机关为赔偿义务机关。在这个单一机关的设例中，应依法由作出相应行政职权行为的县公安局承担赔偿义务。</a:t>
            </a:r>
          </a:p>
          <a:p>
            <a:pPr/>
            <a:endParaRPr lang="zh-CN" dirty="0"/>
          </a:p>
          <a:p>
            <a:pPr/>
            <a:r>
              <a:rPr lang="zh-CN" dirty="0"/>
              <a:t>为什么要明确赔偿义务机关？设想请求人到了公安局，今天甲接待，明天乙值班。如果只告诉他“去找当时那个工作人员”，一旦人员调动，他可能又不知道该找谁。法律把义务确定到机关，换了接待人员，并不改变县公安局依法应当承担的赔偿义务。</a:t>
            </a:r>
          </a:p>
          <a:p>
            <a:pPr/>
            <a:endParaRPr lang="zh-CN" dirty="0"/>
          </a:p>
          <a:p>
            <a:pPr/>
            <a:r>
              <a:rPr lang="zh-CN" dirty="0"/>
              <a:t>我们这里看单一机关的情形。共同作出行为、授权、委托等另有安排，不能一律套用。明确义务机关，让请求有明确对象，职责有明确归属；国家赔偿不能由工作人员私下把事情摆平来替代。</a:t>
            </a:r>
          </a:p>
          <a:p>
            <a:pPr/>
            <a:endParaRPr lang="zh-CN" dirty="0"/>
          </a:p>
          <a:p>
            <a:pPr/>
            <a:r>
              <a:rPr lang="zh-CN" dirty="0"/>
              <a:t>知道该找哪个机关，并不等于所有赔偿条件都已查明。还要依法核查行为、损害，以及应当承担的责任。</a:t>
            </a:r>
          </a:p>
          <a:p>
            <a:pPr/>
            <a:endParaRPr lang="zh-CN" dirty="0"/>
          </a:p>
          <a:p>
            <a:pPr/>
            <a:r>
              <a:rPr lang="zh-CN" dirty="0"/>
              <a:t>机关承担赔偿义务，也不等于具体工作人员当然不承担任何责任。是否还有依法追偿、处分或者其他责任，要看另外的法定条件。这一讲只把对外赔偿的义务主体讲清，不能从这里直接推出个人免责。</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普通法律已经进一步回答了两个问题：哪些情形应当依法赔偿，由哪个机关承担义务。现在再看一项赔偿请求，就不仅要问有没有损失，还要查清发生了什么职权行为、法律规定由谁负责。</a:t>
            </a:r>
          </a:p>
          <a:p>
            <a:pPr/>
            <a:endParaRPr lang="zh-CN" dirty="0"/>
          </a:p>
          <a:p>
            <a:pPr/>
            <a:r>
              <a:rPr lang="zh-CN" dirty="0"/>
              <a:t>请比较两个情形。甲的材料已经能够确定：县公安局对他作出的行政拘留违法，并造成了相应损害。乙只说自己受过行政拘留，认为不公平，我们目前拿到的材料还不足以判断违法性和损害。两人都表达了不满，但目前能作出的判断一样吗？</a:t>
            </a:r>
          </a:p>
          <a:p>
            <a:pPr/>
            <a:endParaRPr lang="zh-CN" dirty="0"/>
          </a:p>
          <a:p>
            <a:pPr/>
            <a:r>
              <a:rPr lang="zh-CN" dirty="0"/>
              <a:t>【独立思考约一至两分钟：分别写出甲目前可以判断什么、乙还缺哪类事实。教师此时暂停讲述。】</a:t>
            </a:r>
          </a:p>
          <a:p>
            <a:pPr/>
            <a:endParaRPr lang="zh-CN" dirty="0"/>
          </a:p>
          <a:p>
            <a:pPr/>
            <a:r>
              <a:rPr lang="zh-CN" dirty="0"/>
              <a:t>对甲，违法行政拘留及相应损害已经明确，属于第三条第一项规定的赔偿情形；按照第七条第一款，由作出拘留决定的县公安局作为赔偿义务机关。对乙，目前还不能仅凭他的不满就认定拘留违法，也不能因为材料少就断定他没有赔偿请求权。需要查清行为性质、适用依据、具体经过和损害，再判断是否符合法律规定的赔偿条件。</a:t>
            </a:r>
          </a:p>
          <a:p>
            <a:pPr/>
            <a:endParaRPr lang="zh-CN" dirty="0"/>
          </a:p>
          <a:p>
            <a:pPr/>
            <a:r>
              <a:rPr lang="zh-CN" dirty="0"/>
              <a:t>为什么要把这两种情况分开？因为法律学习既包括在材料足够时作出有理由的判断，也包括在不足时说清缺了什么。“资料不足”不能成为所有问题的万能答案；“我觉得不合理”也不能替代适用法律所需的事实。</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三、申请书写不出来，怎样提出赔偿请求</a:t>
            </a:r>
          </a:p>
          <a:p>
            <a:pPr/>
            <a:endParaRPr lang="zh-CN" dirty="0"/>
          </a:p>
          <a:p>
            <a:pPr/>
            <a:r>
              <a:rPr lang="zh-CN" dirty="0"/>
              <a:t>现在回到那个受到违法行政拘留并有相应损害的请求人。他知道这是一项权利，也知道该向哪个机关提出。再假设，他能够把经历讲清楚，却确实难以写出申请书。生活里的事情，他亲身经历过；要把它写成法律文书，却成了另一道困难。</a:t>
            </a:r>
          </a:p>
          <a:p>
            <a:pPr/>
            <a:endParaRPr lang="zh-CN" dirty="0"/>
          </a:p>
          <a:p>
            <a:pPr/>
            <a:r>
              <a:rPr lang="zh-CN" dirty="0"/>
              <a:t>如果办事只剩下一句话，“请先写好材料再来”，事情就可能停在这里。可是，机关要依法审查，也不能完全不问请求人是谁、请求什么、事情是怎样发生的。没有这些信息，怎么核对事实，怎样作出有依据的决定？</a:t>
            </a:r>
          </a:p>
          <a:p>
            <a:pPr/>
            <a:endParaRPr lang="zh-CN" dirty="0"/>
          </a:p>
          <a:p>
            <a:pPr/>
            <a:r>
              <a:rPr lang="zh-CN" dirty="0"/>
              <a:t>既要让他能够提出请求，又要留下核查所需的信息，法律给了什么办法？国家赔偿法第十二条原则上要求递交申请书，同时规定：“赔偿请求人书写申请书确有困难的，可以委托他人代书；也可以口头申请，由赔偿义务机关记入笔录。”</a:t>
            </a:r>
          </a:p>
          <a:p>
            <a:pPr/>
            <a:endParaRPr lang="zh-CN" dirty="0"/>
          </a:p>
          <a:p>
            <a:pPr/>
            <a:r>
              <a:rPr lang="zh-CN" dirty="0"/>
              <a:t>这两种办法改变了由谁把情况写下来，却没有取消说明请求和事实的要求。可以由他人代书，也可以由申请人口头讲述，再由赔偿义务机关记录下来。</a:t>
            </a:r>
          </a:p>
          <a:p>
            <a:pPr/>
            <a:endParaRPr lang="zh-CN" dirty="0"/>
          </a:p>
          <a:p>
            <a:pPr/>
            <a:r>
              <a:rPr lang="zh-CN" dirty="0"/>
              <a:t>他受到的损害，不会因为写不出来就不存在。可是光说“我有困难”，办理者也还不知道具体要处理什么。申请书和笔录把他的请求和经历记录下来，才便于后续核对和处理。</a:t>
            </a:r>
          </a:p>
          <a:p>
            <a:pPr/>
            <a:endParaRPr lang="zh-CN" dirty="0"/>
          </a:p>
          <a:p>
            <a:pPr/>
            <a:r>
              <a:rPr lang="zh-CN" dirty="0"/>
              <a:t>材料要写明请求和事实，并没有要求人人都练成文书高手。法律的专业判断需要有人认真完成，提出请求的人则未必已经掌握这套专业语言。当然，不熟悉术语与这里所说的书写确有困难，还要分别看。这位请求人的书写困难已经确定，法律给了他另一种提出办法；遇到其他表达上的疑问，也要把要求解释清楚，不能只让人猜一句“材料不合格”究竟是什么意思。</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在这个设例里，请求人确有书写困难，又选择依法口头提出申请，机关就应当把请求记入笔录。这是法定职责，并不是哪位工作人员额外提供的照顾。如果只把它看成个人热心，就容易忽略机关本来应当做什么。</a:t>
            </a:r>
          </a:p>
          <a:p>
            <a:pPr/>
            <a:endParaRPr lang="zh-CN" dirty="0"/>
          </a:p>
          <a:p>
            <a:pPr/>
            <a:r>
              <a:rPr lang="zh-CN" dirty="0"/>
              <a:t>在县公安局内部，法制部门负责这类申请的接收、审查。他到了公安局，如果先向其他部门当面提出口头申请，该怎么办？按照公安机关办理国家赔偿案件的有关规定，那个部门应当场联系法制部门接收。对外承担赔偿义务的，仍是县公安局。法制部门制作笔录，经请求人确认无误，再由请求人签名、盖章或者捺指印。他把请求讲出来，机关记录下来，还要由他本人确认。</a:t>
            </a:r>
          </a:p>
          <a:p>
            <a:pPr/>
            <a:endParaRPr lang="zh-CN" dirty="0"/>
          </a:p>
          <a:p>
            <a:pPr/>
            <a:r>
              <a:rPr lang="zh-CN" dirty="0"/>
              <a:t>为什么还要由他确认？写下来的人和讲述的人毕竟是两个人。记录者可能概括错，也可能遗漏重点。由本人确认，是检查这份文字有没有把他的意思记准确。至于这些说法是否符合事实、依法应当怎样赔，仍由后面的审查回答。记录者听懂了他的请求，并不等于已经同意了他的全部请求。</a:t>
            </a:r>
          </a:p>
          <a:p>
            <a:pPr/>
            <a:endParaRPr lang="zh-CN" dirty="0"/>
          </a:p>
          <a:p>
            <a:pPr/>
            <a:r>
              <a:rPr lang="zh-CN" dirty="0"/>
              <a:t>再认真比较法条允许的两种办法。找可信赖的人代书，可以先把材料整理成文字，办理者也容易核对。这个办法有用，但请求人要找到能写、愿意帮忙的人，还要讲清经历、核对意思。若暂时找不到这样的帮助，他的书写困难并没有因为一句“请人代写”就消失。</a:t>
            </a:r>
          </a:p>
          <a:p>
            <a:pPr/>
            <a:endParaRPr lang="zh-CN" dirty="0"/>
          </a:p>
          <a:p>
            <a:pPr/>
            <a:r>
              <a:rPr lang="zh-CN" dirty="0"/>
              <a:t>口头申请把形成文字的部分工作交给机关，需要接收、追问、记录和确认，工作并没有凭空减少。有这条途径，请求人即使暂时找不到代写的人，也能把申请提出来。第十二条并没有要求先找人代书失败，才能口头申请；两种办法是并列的选择。</a:t>
            </a:r>
          </a:p>
          <a:p>
            <a:pPr/>
            <a:endParaRPr lang="zh-CN" dirty="0"/>
          </a:p>
          <a:p>
            <a:pPr/>
            <a:r>
              <a:rPr lang="zh-CN" dirty="0"/>
              <a:t>法律安排机关承担一部分取得信息的工作。既然职责已经确定，就不能因为费事而取消符合条件的人的申请途径。</a:t>
            </a:r>
          </a:p>
          <a:p>
            <a:pPr/>
            <a:endParaRPr lang="zh-CN" dirty="0"/>
          </a:p>
          <a:p>
            <a:pPr/>
            <a:r>
              <a:rPr lang="zh-CN" dirty="0"/>
              <a:t>两个人享有同样的赔偿请求权，提出请求的方式，是不是也必须完全一样？对能够书写的人，一份申请书可能只是寻常手续；对确有困难的人，它却可能成为无法跨过的一步。允许不同的表达办法，是让他们的请求都有机会得到依法审查。审查所需要的请求和事实信息并没有因此取消，也不是所有人都能无条件要求机关代写文书。</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里还要分清两种困难。如果缺的是请求或事实信息，就要明确告知需要补什么；如果难的是把能够讲清的事情写成文书，就改变取得信息的方式。现行第十二条也要求一次性告知应补正的全部内容。反复说“材料不合格”，却不说到底缺了什么，并没有帮助信息变完整。</a:t>
            </a:r>
          </a:p>
          <a:p>
            <a:pPr/>
            <a:endParaRPr lang="zh-CN" dirty="0"/>
          </a:p>
          <a:p>
            <a:pPr/>
            <a:r>
              <a:rPr lang="zh-CN" dirty="0"/>
              <a:t>机关仍要把请求和事实弄清，也要让确有书写困难的人有办法把这些情况说出来。这些具体规定，使宪法上的赔偿权有了可以依法使用的申请途径。</a:t>
            </a:r>
          </a:p>
          <a:p>
            <a:pPr/>
            <a:endParaRPr lang="zh-CN" dirty="0"/>
          </a:p>
          <a:p>
            <a:pPr/>
            <a:r>
              <a:rPr lang="zh-CN" dirty="0"/>
              <a:t>还记得上节杨步浩手里的豆子吗？豆选帮助不识字的选民表达选择，口头申请帮助确有书写困难的人提出赔偿请求。两项制度不同，却都面对一个实际问题：已经确认了一个人的权利，还要给他能够使用的途径。接下来的计票和审查，又各有自己的要求。</a:t>
            </a:r>
          </a:p>
          <a:p>
            <a:pPr/>
            <a:endParaRPr lang="zh-CN" dirty="0"/>
          </a:p>
          <a:p>
            <a:pPr/>
            <a:r>
              <a:rPr lang="zh-CN" dirty="0"/>
              <a:t>我们刚才讲的是单独向县公安局提出赔偿请求。国家赔偿法第九条规定，这种请求应当先向赔偿义务机关提出；法律也允许在行政复议或行政诉讼中，一并提出赔偿请求。至于这次拘留是否违法，我们在例子里已经给出了事实；这并不是说，现实中所有人申请赔偿以前，都必须另外走完一次独立的违法确认程序。</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四、宪法已经有效，为什么还需要普通法律</a:t>
            </a:r>
          </a:p>
          <a:p>
            <a:pPr/>
            <a:endParaRPr lang="zh-CN" dirty="0"/>
          </a:p>
          <a:p>
            <a:pPr/>
            <a:r>
              <a:rPr lang="zh-CN" dirty="0"/>
              <a:t>刚才沿着同一个请求，我们从宪法规定的赔偿权，讲到法定赔偿情形、义务机关和申请方式。现在可以回头回答：宪法已经有效，为什么还需要国家赔偿法？</a:t>
            </a:r>
          </a:p>
          <a:p>
            <a:pPr/>
            <a:endParaRPr lang="zh-CN" dirty="0"/>
          </a:p>
          <a:p>
            <a:pPr/>
            <a:r>
              <a:rPr lang="zh-CN" dirty="0"/>
              <a:t>“有效”先回答的是：这项法律要求有没有约束力，有关主体是不是应当遵守。“怎样具体办理”则继续问：由谁负责，核对什么，采取什么办法。宪法已经有效，并不意味着后面这些工作已经全部做完。</a:t>
            </a:r>
          </a:p>
          <a:p>
            <a:pPr/>
            <a:endParaRPr lang="zh-CN" dirty="0"/>
          </a:p>
          <a:p>
            <a:pPr/>
            <a:r>
              <a:rPr lang="zh-CN" dirty="0"/>
              <a:t>宪法第四十一条确认依法取得赔偿的权利，普通立法就要在这一根本要求下安排制度。如果反过来说，普通法律制定以前宪法没有效力，那么制定普通法律的人又为什么必须受它约束？立法机关制定国家赔偿法时，也必须遵守宪法关于赔偿权的规定。</a:t>
            </a:r>
          </a:p>
          <a:p>
            <a:pPr/>
            <a:endParaRPr lang="zh-CN" dirty="0"/>
          </a:p>
          <a:p>
            <a:pPr/>
            <a:r>
              <a:rPr lang="zh-CN" dirty="0"/>
              <a:t>比如，宪法没有逐一列出申请书和口头笔录的安排。我们不能因此说第十二条跟宪法毫无关系；也不能倒过来说，只要宪法确认了赔偿权，就一定能从宪法原句中直接推导出每一个办理细节。</a:t>
            </a:r>
          </a:p>
          <a:p>
            <a:pPr/>
            <a:endParaRPr lang="zh-CN" dirty="0"/>
          </a:p>
          <a:p>
            <a:pPr/>
            <a:r>
              <a:rPr lang="zh-CN" dirty="0"/>
              <a:t>制定普通法律时，还要研究实际生活中的问题：申请人会遇到什么困难，哪些信息必须留下，由谁承担相应职责。宪法给出了根本依据和约束，立法者还得选择具体办法，并说明这些办法为什么合适。将宪法具体化，不能只是机械抄写条文，也不能随意改掉宪法的根本要求。</a:t>
            </a:r>
          </a:p>
          <a:p>
            <a:pPr/>
            <a:endParaRPr lang="zh-CN" dirty="0"/>
          </a:p>
          <a:p>
            <a:pPr/>
            <a:r>
              <a:rPr lang="zh-CN" dirty="0"/>
              <a:t>上节我们看过，国务院的根本地位确定下来，具体部门仍需要组织法安排；现在也一样，赔偿权已经确认，立法仍须研究人怎样提出请求，机关怎样接收和处理。宪法没有把所有细节预先写完，这给普通立法留下了作出制度选择的空间。但选择有边界：不能借安排办法，把本应保障的权利排除掉。</a:t>
            </a:r>
          </a:p>
          <a:p>
            <a:pPr/>
            <a:endParaRPr lang="zh-CN" dirty="0"/>
          </a:p>
          <a:p>
            <a:pPr/>
            <a:r>
              <a:rPr lang="zh-CN" dirty="0"/>
              <a:t>国家赔偿法与宪法第四十一条有清楚的对应关系，但不能以为每部普通法律都只对应一条宪法规定。有时，需要把宪法中的几项权利、原则和国家制度的规定合起来看，才能说明一部法律的宪法依据。</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国家赔偿法第一条写“根据宪法，制定本法”，表明它以宪法为依据。第四十一条确认依法取得赔偿的权利，国家赔偿法则进一步规定哪些情形应当赔偿、由谁负责、怎样提出请求。</a:t>
            </a:r>
          </a:p>
          <a:p>
            <a:pPr/>
            <a:endParaRPr lang="zh-CN" dirty="0"/>
          </a:p>
          <a:p>
            <a:pPr/>
            <a:r>
              <a:rPr lang="zh-CN" dirty="0"/>
              <a:t>假设把一部普通法律开头的这句话遮住，这部法律就不受宪法约束了吗？当然不是。宪法第五条要求法律不得同宪法相抵触。这一要求，不取决于每部法律是否重复印上“根据宪法”这句话。</a:t>
            </a:r>
          </a:p>
          <a:p>
            <a:pPr/>
            <a:endParaRPr lang="zh-CN" dirty="0"/>
          </a:p>
          <a:p>
            <a:pPr/>
            <a:r>
              <a:rPr lang="zh-CN" dirty="0"/>
              <a:t>反过来，一部法律写了“根据宪法”，就能够仅凭这句话证明里面所有具体规定都毫无问题吗？也不能。开头这句话说明了立法依据。具体规定是否符合宪法，还要看制定机关有没有相应权限，规定的内容是否符合宪法要求，不能只凭这句声明就作出判断。</a:t>
            </a:r>
          </a:p>
          <a:p>
            <a:pPr/>
            <a:endParaRPr lang="zh-CN" dirty="0"/>
          </a:p>
          <a:p>
            <a:pPr/>
            <a:r>
              <a:rPr lang="zh-CN" dirty="0"/>
              <a:t>上节关于修宪门槛的小假设已经说明，普通法律即使写得很具体，也不能因此改掉宪法。另一方面，普通法律同样可以有原则。</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比如你们以后会经常学习的治安管理处罚法。它在二〇二五年修订，二〇二六年一月一日起施行。第一条既讲维护治安秩序、保障公共安全和保护合法权益，也讲规范和保障公安机关及其人民警察依法履行治安管理职责。</a:t>
            </a:r>
          </a:p>
          <a:p>
            <a:pPr/>
            <a:endParaRPr lang="zh-CN" dirty="0"/>
          </a:p>
          <a:p>
            <a:pPr/>
            <a:r>
              <a:rPr lang="zh-CN" dirty="0"/>
              <a:t>这次修订还在第一条末尾加上了“根据宪法，制定本法”，二〇一二年的版本里并没有这句话。这句新增文字说明立法依据，不是具体处罚种类或程序的规定。它把一项本来就存在的关系写明白了：这部法律是根据宪法制定的，也受宪法约束。反过来说，以前没写这句话，它同样要符合宪法。不能因为开头作了这项声明，就省去对具体规定的合宪性判断。</a:t>
            </a:r>
          </a:p>
          <a:p>
            <a:pPr/>
            <a:endParaRPr lang="zh-CN" dirty="0"/>
          </a:p>
          <a:p>
            <a:pPr/>
            <a:r>
              <a:rPr lang="zh-CN" dirty="0"/>
              <a:t>第六条要求，处罚以事实为依据，与违法行为的事实、性质、情节和社会危害程度相当；还规定公开、公正，尊重和保障人权，保护公民的人格尊严。办理治安案件，要坚持教育与处罚相结合，充分释法说理。</a:t>
            </a:r>
          </a:p>
          <a:p>
            <a:pPr/>
            <a:endParaRPr lang="zh-CN" dirty="0"/>
          </a:p>
          <a:p>
            <a:pPr/>
            <a:r>
              <a:rPr lang="zh-CN" dirty="0"/>
              <a:t>可以看出，普通法律并非只罗列可以采取什么措施。它也明确执法应当遵循的原则，以及如何面对受到处理的人。保护人的权利，与履行维护秩序的职责，被写进同一部法律。</a:t>
            </a:r>
          </a:p>
          <a:p>
            <a:pPr/>
            <a:endParaRPr lang="zh-CN" dirty="0"/>
          </a:p>
          <a:p>
            <a:pPr/>
            <a:r>
              <a:rPr lang="zh-CN" dirty="0"/>
              <a:t>设想接到一则现场争执的报警。有人说秩序受到严重影响，另一人说只发生了口角，一段视频又只留下末尾。维护秩序提供了履职方向，但它还不能直接证明可以作出某一种处罚。现场事实是什么，属于什么行为，法律规定了哪些条件，都需要进一步判断。</a:t>
            </a:r>
          </a:p>
          <a:p>
            <a:pPr/>
            <a:endParaRPr lang="zh-CN" dirty="0"/>
          </a:p>
          <a:p>
            <a:pPr/>
            <a:r>
              <a:rPr lang="zh-CN" dirty="0"/>
              <a:t>具体查明事实、选择法律依据和遵守程序，正是在履行法定职责。原则能够指导这些判断，却不能自动代替具体授权。我们也不能只凭“尊重和保障人权”几个字，就认定任何处理都不允许；依法保护权利，需要结合相应的法律制度。</a:t>
            </a:r>
          </a:p>
          <a:p>
            <a:pPr/>
            <a:endParaRPr lang="zh-CN" dirty="0"/>
          </a:p>
          <a:p>
            <a:pPr/>
            <a:r>
              <a:rPr lang="zh-CN" dirty="0"/>
              <a:t>现在回看两种相反的误解：一种以为宪法必须等普通法律制定以后才有效，另一种以为拿到一条宪法原则，就已经拿到任何具体措施的授权。前一种忽略了宪法原有的约束力；后一种则忘了，采取什么措施，还要查相应的职权依据、法定条件和程序。</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五、法律通过以后，还有哪些工作要做</a:t>
            </a:r>
          </a:p>
          <a:p>
            <a:pPr/>
            <a:endParaRPr lang="zh-CN" dirty="0"/>
          </a:p>
          <a:p>
            <a:pPr/>
            <a:r>
              <a:rPr lang="zh-CN" dirty="0"/>
              <a:t>国家赔偿法把很多问题规定清楚了。那么，从一部新法律走到日常工作，中间还需要做什么？我们回到一九九四年：五月，法律通过，确定一九九五年一月一日起施行；十二月二十二日，国务院办公厅发出实施通知，安排施行前准备，此时距法律生效只剩十天。</a:t>
            </a:r>
          </a:p>
          <a:p>
            <a:pPr/>
            <a:endParaRPr lang="zh-CN" dirty="0"/>
          </a:p>
          <a:p>
            <a:pPr/>
            <a:r>
              <a:rPr lang="zh-CN" dirty="0"/>
              <a:t>通知开头先提到了宪法和行政诉讼法中的有关规定。也就是说，赔偿权早有宪法依据，行政赔偿也已有法律规定。一九九四年制定专门的国家赔偿法，是在这些基础上把相关制度进一步规定清楚，并不是这一年才第一次有了赔偿的法律依据。</a:t>
            </a:r>
          </a:p>
          <a:p>
            <a:pPr/>
            <a:endParaRPr lang="zh-CN" dirty="0"/>
          </a:p>
          <a:p>
            <a:pPr/>
            <a:r>
              <a:rPr lang="zh-CN" dirty="0"/>
              <a:t>通知要求学习培训，确定机构和人员，落实配套安排。回到我们的请求人，法律规定由哪个机关承担赔偿义务，机关内部还得明确：谁接收申请，谁核查材料，谁负责处理。否则，人到了机关，仍可能不知道这件事究竟由谁来办。</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更值得细想的是，通知要求具体处理赔偿事务的机构“相对超脱”。为什么还要专门提这一点？原机关熟悉执法经过，掌握相关材料，让它承担赔偿责任有明确依据；可是，它同时要回头审查自身先前的行为。若只是原办案人员重复自己的结论，申请人的不同理由有没有得到真正检验，就仍是一个问题。</a:t>
            </a:r>
          </a:p>
          <a:p>
            <a:pPr/>
            <a:endParaRPr lang="zh-CN" dirty="0"/>
          </a:p>
          <a:p>
            <a:pPr/>
            <a:r>
              <a:rPr lang="zh-CN" dirty="0"/>
              <a:t>当年的通知建议由行政复议应诉机构承担相应工作。今天的公安赔偿规定也作了职责分工：执法办案部门提供相关材料，法制部门负责接收、审查。即使分了工，审查时仍要认真核查材料、回应请求人的理由，不能只重复原结论。县公安局对外承担赔偿义务，也不会因为内部交给法制部门办理，就变成由法制部门自己赔偿。</a:t>
            </a:r>
          </a:p>
          <a:p>
            <a:pPr/>
            <a:endParaRPr lang="zh-CN" dirty="0"/>
          </a:p>
          <a:p>
            <a:pPr/>
            <a:r>
              <a:rPr lang="zh-CN" dirty="0"/>
              <a:t>法制部门仍在县公安局内部。如果这个机关不同意赔偿，事情是不是就由它自己说了算？不是。对这里的行政赔偿，国家赔偿法第十三条要求，不予赔偿要书面通知并说明理由；第十四条规定，对不予赔偿决定不服，对赔偿方式、项目、数额有异议，或者机关逾期未作决定，请求人可以在法定期限内向人民法院提起诉讼。</a:t>
            </a:r>
          </a:p>
          <a:p>
            <a:pPr/>
            <a:endParaRPr lang="zh-CN" dirty="0"/>
          </a:p>
          <a:p>
            <a:pPr/>
            <a:r>
              <a:rPr lang="zh-CN" dirty="0"/>
              <a:t>请求人不必只能反复请求原机关改变看法，还可以把争议交由法院依法审理。双方仍须就自己的主张提供证据，起诉不等于当然获赔。内部分工落实处理责任，外部救济检验有争议的处理，两者不能替代。这是行政赔偿的途径，不能照搬为刑事赔偿程序。</a:t>
            </a:r>
          </a:p>
          <a:p>
            <a:pPr/>
            <a:endParaRPr lang="zh-CN" dirty="0"/>
          </a:p>
          <a:p>
            <a:pPr/>
            <a:r>
              <a:rPr lang="zh-CN" dirty="0"/>
              <a:t>通知还布置了一件容易被略过去的事：研究赔偿中的普遍问题，提出改进行政执法的建议，并清理违法设置处罚、收费等的规定。眼前一个人的损害需要依法处理，机关同时还要回头看，出问题的是这一次办理，还是大家共同使用的某项依据。如果依据本身有问题，只把眼前的请求处理完，同类困难还可能再出现。</a:t>
            </a:r>
          </a:p>
          <a:p>
            <a:pPr/>
            <a:endParaRPr lang="zh-CN" dirty="0"/>
          </a:p>
          <a:p>
            <a:pPr/>
            <a:r>
              <a:rPr lang="zh-CN" dirty="0"/>
              <a:t>通知还面对另一种顾虑：新法会不会“束缚行政机关手脚”？这不能只用一句“不要怕”回答。执法人员面对事实不清的情况，慎重核实有道理；因为将来可能承担责任，认真确认依据也有道理。可如果法定职责已经成立，仍因为怕赔偿就搁下该处理的事情，受到影响的人要承担这个不履职的后果。</a:t>
            </a:r>
          </a:p>
          <a:p>
            <a:pPr/>
            <a:endParaRPr lang="zh-CN" dirty="0"/>
          </a:p>
          <a:p>
            <a:pPr/>
            <a:r>
              <a:rPr lang="zh-CN" dirty="0"/>
              <a:t>慎重核实，是为了作出有依据的处理；把已经成立的职责放在一边，则会使需要保护的人继续等待。通知一边要求克服乱执法，一边防止消极不执法，还提醒新法施行后怕赔偿的问题可能突出。这是当时提出的风险判断。</a:t>
            </a:r>
          </a:p>
          <a:p>
            <a:pPr/>
            <a:endParaRPr lang="zh-CN" dirty="0"/>
          </a:p>
          <a:p>
            <a:pPr/>
            <a:r>
              <a:rPr lang="zh-CN" dirty="0"/>
              <a:t>将来碰到新法施行，你们不仅要学懂条文，还要弄清本单位由谁提供材料、谁接收和审查，相应工作有没有人手和条件。依法办事既需要工作人员认真负责，也需要机关把职责和工作条件安排好。</a:t>
            </a:r>
          </a:p>
          <a:p>
            <a:pPr/>
            <a:endParaRPr lang="zh-CN" dirty="0"/>
          </a:p>
          <a:p>
            <a:pPr/>
            <a:r>
              <a:rPr lang="zh-CN" dirty="0"/>
              <a:t>这份通知告诉我们，当时为新法施行作了哪些部署；各地后来落实得怎样，还要看实际执行情况。今天办理赔偿请求，要依据适用的现行法律。我们回看这段历史，关心的是：法律作出规定以后，机关还要做哪些事，才能把它落实到一次次具体办理中？</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六、从规则的约束力，走到人的实际处境</a:t>
            </a:r>
          </a:p>
          <a:p>
            <a:pPr/>
            <a:endParaRPr lang="zh-CN" dirty="0"/>
          </a:p>
          <a:p>
            <a:pPr/>
            <a:r>
              <a:rPr lang="zh-CN" dirty="0"/>
              <a:t>回到我们的请求人。宪法确认权利，普通法律规定赔偿情形、责任主体和办理办法，机关还要实际接收、调查、处理，并履行应尽的义务。法律上应当做什么，要看规范；现实中做了什么，要看事实。</a:t>
            </a:r>
          </a:p>
          <a:p>
            <a:pPr/>
            <a:endParaRPr lang="zh-CN" dirty="0"/>
          </a:p>
          <a:p>
            <a:pPr/>
            <a:r>
              <a:rPr lang="zh-CN" dirty="0"/>
              <a:t>假设一份法律已经明文规定书写确有困难的人可以口头申请，实际办理时却有人一概拒绝接收。我们不能因此倒过来说，法律原来没有效力。恰恰因为有法律要求，才有依据判断这种拒绝存在什么问题。</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反过来，法条写得清楚，也不能证明某个人的请求已经处理好了。最后看一件真实案件，看看事情具体走过了哪些环节。</a:t>
            </a:r>
          </a:p>
          <a:p>
            <a:pPr/>
            <a:endParaRPr lang="zh-CN" dirty="0"/>
          </a:p>
          <a:p>
            <a:pPr/>
            <a:r>
              <a:rPr lang="zh-CN" dirty="0"/>
              <a:t>最高人民法院在二〇二六年公布过一起涉及七十三户农民的行政赔偿案。当地连续强降雨，为保障流域安全，水库依法紧急泄洪。排水系统却有年久失修、管道淤堵的问题，发生倒灌，农田被淹。农户认为住建局维护不到位，协商拿到部分赔付后，双方对剩余损失的处理仍有分歧。</a:t>
            </a:r>
          </a:p>
          <a:p>
            <a:pPr/>
            <a:endParaRPr lang="zh-CN" dirty="0"/>
          </a:p>
          <a:p>
            <a:pPr/>
            <a:r>
              <a:rPr lang="zh-CN" dirty="0"/>
              <a:t>八名农户代表来到法院。他们年纪较大，缺少诉讼经验，工作人员便指导他们填写起诉状示范文本，把受损经过、已经赔付的情况和诉求写清。农户还提交了鉴定等材料。这与刚才的口头申请不是同一种程序，但都要先让普通人能够把自己的经历和请求表达清楚。</a:t>
            </a:r>
          </a:p>
          <a:p>
            <a:pPr/>
            <a:endParaRPr lang="zh-CN" dirty="0"/>
          </a:p>
          <a:p>
            <a:pPr/>
            <a:r>
              <a:rPr lang="zh-CN" dirty="0"/>
              <a:t>住建局怎样回应？它承认自己有管理维护职责，也认可农田被淹的基本损失；争的是维护职责有没有尽到，以及损失应由它承担多少。它提出，管网老化、极端天气等因素共同造成了损失。承认负有职责，并不等于已经承认失职；双方有已经认可的事实，也有仍未解决的分歧。</a:t>
            </a:r>
          </a:p>
          <a:p>
            <a:pPr/>
            <a:endParaRPr lang="zh-CN" dirty="0"/>
          </a:p>
          <a:p>
            <a:pPr/>
            <a:r>
              <a:rPr lang="zh-CN" dirty="0"/>
              <a:t>调解人员走到村里，查看排水井和管网，核对受损农田，再围绕维护职责和损害原因继续沟通。泄洪依法进行，并不代表排水设施的日常维护也没有问题。强降雨和维护问题对这次农田损失各起了什么作用，仍要分别核对，才能有依据地讨论责任。</a:t>
            </a:r>
          </a:p>
          <a:p>
            <a:pPr/>
            <a:endParaRPr lang="zh-CN" dirty="0"/>
          </a:p>
          <a:p>
            <a:pPr/>
            <a:r>
              <a:rPr lang="zh-CN" dirty="0"/>
              <a:t>最后，双方就赔偿比例达成一致，由住建局按鉴定报告中农作物损失金额的八成赔付，农户撤诉。这里形成的是双方和解，不是法院作出赔偿判决。可有了协议、撤了诉，还得看钱付了没有。案件发布材料交代了后续：临近春节，调解小组督促住建局在三天内把赔偿款一次性付清，七十三户农民共获赔偿款七十余万元。</a:t>
            </a:r>
          </a:p>
          <a:p>
            <a:pPr/>
            <a:endParaRPr lang="zh-CN" dirty="0"/>
          </a:p>
          <a:p>
            <a:pPr/>
            <a:r>
              <a:rPr lang="zh-CN" dirty="0"/>
              <a:t>相应地，如果另一个请求经过依法核查，确实不具备赔偿条件，有依据地不予赔偿，也不能仅因请求人不满意，就认定他的权利没有得到保障。还要看请求有没有依法处理，结果有没有事实和法律根据。认真对待一个人的事实和理由，不等于无论什么情形都答应他的请求。</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宪法实施，就是宪法规范在社会实际生活中的贯彻落实。它包括立法把根本要求进一步展开，也包括国家机关依法履职，以及有关主体遵守宪法、行使权利和履行义务。国家赔偿只是我们今天选用的一扇窗口。</a:t>
            </a:r>
          </a:p>
          <a:p>
            <a:pPr/>
            <a:endParaRPr lang="zh-CN" dirty="0"/>
          </a:p>
          <a:p>
            <a:pPr/>
            <a:r>
              <a:rPr lang="zh-CN" dirty="0"/>
              <a:t>现在请大家比较三类材料。第一类是宪法和国家赔偿法的相关条文；第二类是机关通知，要求指定人员接收请求；第三类是某个请求的接收记录、处理决定和实际履行材料。哪类材料说明应当怎样做，哪类表明作了工作部署，要判断个案真正办得怎样，还要看哪类？</a:t>
            </a:r>
          </a:p>
          <a:p>
            <a:pPr/>
            <a:endParaRPr lang="zh-CN" dirty="0"/>
          </a:p>
          <a:p>
            <a:pPr/>
            <a:r>
              <a:rPr lang="zh-CN" dirty="0"/>
              <a:t>【独立思考约两分钟：用三句话区分规范要求、工作部署、个案实际办理。教师此时暂停讲述。】</a:t>
            </a:r>
          </a:p>
          <a:p>
            <a:pPr/>
            <a:endParaRPr lang="zh-CN" dirty="0"/>
          </a:p>
          <a:p>
            <a:pPr/>
            <a:r>
              <a:rPr lang="zh-CN" dirty="0"/>
              <a:t>第一类条文告诉我们，法律要求怎样做，可以据此判断办理是否合法。第二类通知说明机关安排了哪些工作，但发了通知，不等于工作已经做到。第三类就要看具体记录了什么：有没有接收申请，作出了什么处理，应该履行的义务有没有履行。这些材料可以告诉我们事情实际办到了哪一步，不过仍要核对材料是否完整、办理是否符合法律。有规定、有部署和已经依法办妥，是不同的事情。</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回到我们最初的问题：为什么宪法是国家根本法？因为它规定国家生活的根本问题，为权力组织和人的基本法律地位提供依据，并以最高法律效力约束国家活动和普通立法。</a:t>
            </a:r>
          </a:p>
          <a:p>
            <a:pPr/>
            <a:endParaRPr lang="zh-CN" dirty="0"/>
          </a:p>
          <a:p>
            <a:pPr/>
            <a:r>
              <a:rPr lang="zh-CN" dirty="0"/>
              <a:t>为什么还要有普通法律？因为根本要求需要在具体领域中展开，成为明确的条件、职责与制度安排。为什么法律制定后还要实施？因为规范的约束力要通过真实行动进入社会生活，法律上的权利才可能在一个个具体人的处境中得到保障。</a:t>
            </a:r>
          </a:p>
          <a:p>
            <a:pPr/>
            <a:endParaRPr lang="zh-CN" dirty="0"/>
          </a:p>
          <a:p>
            <a:pPr/>
            <a:r>
              <a:rPr lang="zh-CN" dirty="0"/>
              <a:t>从一九五四年的表决票，到选民名单里的姓名，再到今天的一项赔偿请求，我们看到，宪法既确定国家的根本制度，也关心人的权利怎样得到保障。将来你们面对的，往往是某一份记录、某一个申请、某一次具体决定。尊重宪法和法律，会体现在这些具体工作里。</a:t>
            </a:r>
          </a:p>
          <a:p>
            <a:pPr/>
            <a:endParaRPr lang="zh-CN" dirty="0"/>
          </a:p>
          <a:p>
            <a:pPr/>
            <a:r>
              <a:rPr lang="zh-CN" dirty="0"/>
              <a:t>第二讲，我们沿着历史继续往下看，宪法怎样形成、发展和修改。之后再分别学习国家制度、基本权利和国家机构。国家权力怎样组织、公民权利怎样保障，这两个问题会一直贯穿后面的学习。</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lecture-01-20261015-student-ready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lecture-01-20261015-student-ready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05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zh-CN">
          <a:solidFill>
            <a:schemeClr val="tx1"/>
          </a:solidFill>
          <a:latin typeface="+mn-lt"/>
          <a:ea typeface="+mn-ea"/>
          <a:cs typeface="+mn-cs"/>
        </a:defRPr>
      </a:lvl9pPr>
    </p:bodyStyle>
    <p:otherStyle>
      <a:defPPr>
        <a:defRPr lang="zh-CN"/>
      </a:defPPr>
      <a:lvl1pPr marL="0" algn="l" defTabSz="457200" rtl="0" eaLnBrk="1" latinLnBrk="0" hangingPunct="1">
        <a:defRPr sz="2100" kern="1200" lang="zh-CN">
          <a:solidFill>
            <a:schemeClr val="tx1"/>
          </a:solidFill>
          <a:latin typeface="+mn-lt"/>
          <a:ea typeface="+mn-ea"/>
          <a:cs typeface="+mn-cs"/>
        </a:defRPr>
      </a:lvl1pPr>
      <a:lvl2pPr marL="457200" algn="l" defTabSz="457200" rtl="0" eaLnBrk="1" latinLnBrk="0" hangingPunct="1">
        <a:defRPr sz="1950" kern="1200" lang="zh-CN">
          <a:solidFill>
            <a:schemeClr val="tx1"/>
          </a:solidFill>
          <a:latin typeface="+mn-lt"/>
          <a:ea typeface="+mn-ea"/>
          <a:cs typeface="+mn-cs"/>
        </a:defRPr>
      </a:lvl2pPr>
      <a:lvl3pPr marL="914400" algn="l" defTabSz="457200" rtl="0" eaLnBrk="1" latinLnBrk="0" hangingPunct="1">
        <a:defRPr sz="1850" kern="1200" lang="zh-CN">
          <a:solidFill>
            <a:schemeClr val="tx1"/>
          </a:solidFill>
          <a:latin typeface="+mn-lt"/>
          <a:ea typeface="+mn-ea"/>
          <a:cs typeface="+mn-cs"/>
        </a:defRPr>
      </a:lvl3pPr>
      <a:lvl4pPr marL="1371600" algn="l" defTabSz="457200" rtl="0" eaLnBrk="1" latinLnBrk="0" hangingPunct="1">
        <a:defRPr sz="1700" kern="1200" lang="zh-CN">
          <a:solidFill>
            <a:schemeClr val="tx1"/>
          </a:solidFill>
          <a:latin typeface="+mn-lt"/>
          <a:ea typeface="+mn-ea"/>
          <a:cs typeface="+mn-cs"/>
        </a:defRPr>
      </a:lvl4pPr>
      <a:lvl5pPr marL="1828800" algn="l" defTabSz="457200" rtl="0" eaLnBrk="1" latinLnBrk="0" hangingPunct="1">
        <a:defRPr sz="1600" kern="1200" lang="zh-CN">
          <a:solidFill>
            <a:schemeClr val="tx1"/>
          </a:solidFill>
          <a:latin typeface="+mn-lt"/>
          <a:ea typeface="+mn-ea"/>
          <a:cs typeface="+mn-cs"/>
        </a:defRPr>
      </a:lvl5pPr>
      <a:lvl6pPr marL="2286000" algn="l" defTabSz="457200" rtl="0" eaLnBrk="1" latinLnBrk="0" hangingPunct="1">
        <a:defRPr sz="1450" kern="1200" lang="zh-CN">
          <a:solidFill>
            <a:schemeClr val="tx1"/>
          </a:solidFill>
          <a:latin typeface="+mn-lt"/>
          <a:ea typeface="+mn-ea"/>
          <a:cs typeface="+mn-cs"/>
        </a:defRPr>
      </a:lvl6pPr>
      <a:lvl7pPr marL="2743200" algn="l" defTabSz="457200" rtl="0" eaLnBrk="1" latinLnBrk="0" hangingPunct="1">
        <a:defRPr sz="1300" kern="1200" lang="zh-CN">
          <a:solidFill>
            <a:schemeClr val="tx1"/>
          </a:solidFill>
          <a:latin typeface="+mn-lt"/>
          <a:ea typeface="+mn-ea"/>
          <a:cs typeface="+mn-cs"/>
        </a:defRPr>
      </a:lvl7pPr>
      <a:lvl8pPr marL="3200400" algn="l" defTabSz="457200" rtl="0" eaLnBrk="1" latinLnBrk="0" hangingPunct="1">
        <a:defRPr sz="1200" kern="1200" lang="zh-CN">
          <a:solidFill>
            <a:schemeClr val="tx1"/>
          </a:solidFill>
          <a:latin typeface="+mn-lt"/>
          <a:ea typeface="+mn-ea"/>
          <a:cs typeface="+mn-cs"/>
        </a:defRPr>
      </a:lvl8pPr>
      <a:lvl9pPr marL="3657600" algn="l" defTabSz="457200" rtl="0" eaLnBrk="1" latinLnBrk="0" hangingPunct="1">
        <a:defRPr sz="105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44442612c7a33e3.jp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01 / 36</a:t>
              </a:r>
            </a:p>
          </p:txBody>
        </p:sp>
      </p:grpSp>
      <p:grpSp>
        <p:nvGrpSpPr>
          <p:cNvPr id="7" name="cover-title"/>
          <p:cNvGrpSpPr/>
          <p:nvPr/>
        </p:nvGrpSpPr>
        <p:grpSpPr>
          <a:xfrm>
            <a:off x="590550" y="1003300"/>
            <a:ext cx="3281172" cy="1866900"/>
            <a:chOff x="590550" y="1003300"/>
            <a:chExt cx="3281172" cy="1866900"/>
          </a:xfrm>
        </p:grpSpPr>
        <p:sp>
          <p:nvSpPr>
            <p:cNvPr id="5" name="TextBox 5"/>
            <p:cNvSpPr txBox="1"/>
            <p:nvPr/>
          </p:nvSpPr>
          <p:spPr>
            <a:xfrm>
              <a:off x="598932" y="1003300"/>
              <a:ext cx="86944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第一讲</a:t>
              </a:r>
            </a:p>
          </p:txBody>
        </p:sp>
        <p:sp>
          <p:nvSpPr>
            <p:cNvPr id="6" name="TextBox 6"/>
            <p:cNvSpPr txBox="1"/>
            <p:nvPr/>
          </p:nvSpPr>
          <p:spPr>
            <a:xfrm>
              <a:off x="590550" y="1765300"/>
              <a:ext cx="3281172" cy="1104900"/>
            </a:xfrm>
            <a:prstGeom prst="rect">
              <a:avLst/>
            </a:prstGeom>
            <a:noFill/>
            <a:ln>
              <a:noFill/>
            </a:ln>
          </p:spPr>
          <p:txBody>
            <a:bodyPr wrap="none" lIns="0" tIns="0" rIns="0" bIns="0" anchor="t" anchorCtr="0">
              <a:spAutoFit/>
            </a:bodyPr>
            <a:lstStyle/>
            <a:p>
              <a:pPr algn="l"/>
              <a:r>
                <a:rPr lang="zh-CN" sz="5700" dirty="0">
                  <a:solidFill>
                    <a:schemeClr val="accent1"/>
                  </a:solidFill>
                  <a:latin typeface="+mj-lt"/>
                  <a:ea typeface="+mj-ea"/>
                  <a:cs typeface="+mj-cs"/>
                </a:rPr>
                <a:t>宪法总论</a:t>
              </a:r>
            </a:p>
          </p:txBody>
        </p:sp>
      </p:grpSp>
      <p:grpSp>
        <p:nvGrpSpPr>
          <p:cNvPr id="12" name="cover-questions"/>
          <p:cNvGrpSpPr/>
          <p:nvPr/>
        </p:nvGrpSpPr>
        <p:grpSpPr>
          <a:xfrm>
            <a:off x="590550" y="2984500"/>
            <a:ext cx="9661398" cy="1554353"/>
            <a:chOff x="590550" y="2984500"/>
            <a:chExt cx="9661398" cy="1554353"/>
          </a:xfrm>
        </p:grpSpPr>
        <p:sp>
          <p:nvSpPr>
            <p:cNvPr id="8" name="TextBox 8"/>
            <p:cNvSpPr txBox="1"/>
            <p:nvPr/>
          </p:nvSpPr>
          <p:spPr>
            <a:xfrm>
              <a:off x="590550" y="2984500"/>
              <a:ext cx="848868" cy="1104900"/>
            </a:xfrm>
            <a:prstGeom prst="rect">
              <a:avLst/>
            </a:prstGeom>
            <a:noFill/>
            <a:ln>
              <a:noFill/>
            </a:ln>
          </p:spPr>
          <p:txBody>
            <a:bodyPr wrap="none" lIns="0" tIns="0" rIns="0" bIns="0" anchor="t" anchorCtr="0">
              <a:spAutoFit/>
            </a:bodyPr>
            <a:lstStyle/>
            <a:p>
              <a:pPr algn="l"/>
              <a:r>
                <a:rPr lang="zh-CN" sz="5700" dirty="0">
                  <a:solidFill>
                    <a:schemeClr val="accent1"/>
                  </a:solidFill>
                  <a:latin typeface="+mj-lt"/>
                  <a:ea typeface="+mj-ea"/>
                  <a:cs typeface="+mj-cs"/>
                </a:rPr>
                <a:t>一</a:t>
              </a:r>
            </a:p>
          </p:txBody>
        </p:sp>
        <p:sp>
          <p:nvSpPr>
            <p:cNvPr id="9" name="TextBox 9"/>
            <p:cNvSpPr txBox="1"/>
            <p:nvPr/>
          </p:nvSpPr>
          <p:spPr>
            <a:xfrm>
              <a:off x="595122" y="3981450"/>
              <a:ext cx="1947291"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宪法是什么</a:t>
              </a:r>
            </a:p>
          </p:txBody>
        </p:sp>
        <p:sp>
          <p:nvSpPr>
            <p:cNvPr id="10" name="TextBox 10"/>
            <p:cNvSpPr txBox="1"/>
            <p:nvPr/>
          </p:nvSpPr>
          <p:spPr>
            <a:xfrm>
              <a:off x="6381750" y="2984500"/>
              <a:ext cx="848868" cy="1104900"/>
            </a:xfrm>
            <a:prstGeom prst="rect">
              <a:avLst/>
            </a:prstGeom>
            <a:noFill/>
            <a:ln>
              <a:noFill/>
            </a:ln>
          </p:spPr>
          <p:txBody>
            <a:bodyPr wrap="none" lIns="0" tIns="0" rIns="0" bIns="0" anchor="t" anchorCtr="0">
              <a:spAutoFit/>
            </a:bodyPr>
            <a:lstStyle/>
            <a:p>
              <a:pPr algn="l"/>
              <a:r>
                <a:rPr lang="zh-CN" sz="5700" dirty="0">
                  <a:solidFill>
                    <a:schemeClr val="accent1"/>
                  </a:solidFill>
                  <a:latin typeface="+mj-lt"/>
                  <a:ea typeface="+mj-ea"/>
                  <a:cs typeface="+mj-cs"/>
                </a:rPr>
                <a:t>二</a:t>
              </a:r>
            </a:p>
          </p:txBody>
        </p:sp>
        <p:sp>
          <p:nvSpPr>
            <p:cNvPr id="11" name="TextBox 11"/>
            <p:cNvSpPr txBox="1"/>
            <p:nvPr/>
          </p:nvSpPr>
          <p:spPr>
            <a:xfrm>
              <a:off x="6386322" y="3981450"/>
              <a:ext cx="3865626"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为什么是国家的根本法</a:t>
              </a:r>
            </a:p>
          </p:txBody>
        </p:sp>
      </p:grpSp>
      <p:grpSp>
        <p:nvGrpSpPr>
          <p:cNvPr id="16" name="cover-entries"/>
          <p:cNvGrpSpPr/>
          <p:nvPr/>
        </p:nvGrpSpPr>
        <p:grpSpPr>
          <a:xfrm>
            <a:off x="598932" y="4705350"/>
            <a:ext cx="10983468" cy="652018"/>
            <a:chOff x="598932" y="4705350"/>
            <a:chExt cx="10983468" cy="652018"/>
          </a:xfrm>
        </p:grpSpPr>
        <p:sp>
          <p:nvSpPr>
            <p:cNvPr id="13" name="Line 13"/>
            <p:cNvSpPr/>
            <p:nvPr/>
          </p:nvSpPr>
          <p:spPr>
            <a:xfrm>
              <a:off x="609600" y="470535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14" name="TextBox 14"/>
            <p:cNvSpPr txBox="1"/>
            <p:nvPr/>
          </p:nvSpPr>
          <p:spPr>
            <a:xfrm>
              <a:off x="598932" y="4946650"/>
              <a:ext cx="3696462"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上节　认识宪法及其根本地位</a:t>
              </a:r>
            </a:p>
          </p:txBody>
        </p:sp>
        <p:sp>
          <p:nvSpPr>
            <p:cNvPr id="15" name="TextBox 15"/>
            <p:cNvSpPr txBox="1"/>
            <p:nvPr/>
          </p:nvSpPr>
          <p:spPr>
            <a:xfrm>
              <a:off x="6390132" y="4946650"/>
              <a:ext cx="4827270"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下节　一项宪法权利怎样进入具体生活</a:t>
              </a:r>
            </a:p>
          </p:txBody>
        </p:sp>
      </p:grpSp>
      <p:sp>
        <p:nvSpPr>
          <p:cNvPr id="17" name="TextBox 17"/>
          <p:cNvSpPr txBox="1"/>
          <p:nvPr/>
        </p:nvSpPr>
        <p:spPr>
          <a:xfrm>
            <a:off x="604266" y="6502400"/>
            <a:ext cx="1784623"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宪法学·第一讲：宪法总论。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上节 02 / 36</a:t>
              </a:r>
            </a:p>
          </p:txBody>
        </p:sp>
      </p:grpSp>
      <p:grpSp>
        <p:nvGrpSpPr>
          <p:cNvPr id="6" name="page-title"/>
          <p:cNvGrpSpPr/>
          <p:nvPr/>
        </p:nvGrpSpPr>
        <p:grpSpPr>
          <a:xfrm>
            <a:off x="590550" y="904875"/>
            <a:ext cx="9255252" cy="790575"/>
            <a:chOff x="590550" y="904875"/>
            <a:chExt cx="9255252" cy="790575"/>
          </a:xfrm>
        </p:grpSpPr>
        <p:sp>
          <p:nvSpPr>
            <p:cNvPr id="5" name="TextBox 5"/>
            <p:cNvSpPr txBox="1"/>
            <p:nvPr/>
          </p:nvSpPr>
          <p:spPr>
            <a:xfrm>
              <a:off x="590550" y="904875"/>
              <a:ext cx="9255252" cy="790575"/>
            </a:xfrm>
            <a:prstGeom prst="rect">
              <a:avLst/>
            </a:prstGeom>
            <a:noFill/>
            <a:ln>
              <a:noFill/>
            </a:ln>
          </p:spPr>
          <p:txBody>
            <a:bodyPr wrap="none" lIns="0" tIns="0" rIns="0" bIns="0" anchor="t" anchorCtr="0">
              <a:spAutoFit/>
            </a:bodyPr>
            <a:lstStyle/>
            <a:p>
              <a:pPr algn="l"/>
              <a:r>
                <a:rPr lang="zh-CN" sz="4050" dirty="0">
                  <a:solidFill>
                    <a:srgbClr val="F4F1EA"/>
                  </a:solidFill>
                  <a:latin typeface="+mj-lt"/>
                  <a:ea typeface="+mj-ea"/>
                  <a:cs typeface="+mj-cs"/>
                </a:rPr>
                <a:t>一九五四年九月二十日，一张表决票</a:t>
              </a:r>
            </a:p>
          </p:txBody>
        </p:sp>
      </p:grpSp>
      <p:grpSp>
        <p:nvGrpSpPr>
          <p:cNvPr id="10" name="ballot-identity"/>
          <p:cNvGrpSpPr/>
          <p:nvPr/>
        </p:nvGrpSpPr>
        <p:grpSpPr>
          <a:xfrm>
            <a:off x="596646" y="1885950"/>
            <a:ext cx="5194554" cy="2334768"/>
            <a:chOff x="596646" y="1885950"/>
            <a:chExt cx="5194554" cy="2334768"/>
          </a:xfrm>
        </p:grpSpPr>
        <p:sp>
          <p:nvSpPr>
            <p:cNvPr id="7" name="Line 7"/>
            <p:cNvSpPr/>
            <p:nvPr/>
          </p:nvSpPr>
          <p:spPr>
            <a:xfrm>
              <a:off x="609600" y="1885950"/>
              <a:ext cx="5181600" cy="9525"/>
            </a:xfrm>
            <a:custGeom>
              <a:avLst/>
              <a:gdLst/>
              <a:ahLst/>
              <a:cxnLst/>
              <a:rect l="l" t="t" r="r" b="b"/>
              <a:pathLst>
                <a:path w="5181600" h="9525">
                  <a:moveTo>
                    <a:pt x="0" y="0"/>
                  </a:moveTo>
                  <a:lnTo>
                    <a:pt x="5181600" y="0"/>
                  </a:lnTo>
                </a:path>
              </a:pathLst>
            </a:custGeom>
            <a:noFill/>
            <a:ln w="9525">
              <a:solidFill>
                <a:srgbClr val="3A454A"/>
              </a:solidFill>
            </a:ln>
          </p:spPr>
        </p:sp>
        <p:sp>
          <p:nvSpPr>
            <p:cNvPr id="8" name="TextBox 8"/>
            <p:cNvSpPr txBox="1"/>
            <p:nvPr/>
          </p:nvSpPr>
          <p:spPr>
            <a:xfrm>
              <a:off x="596646" y="2063750"/>
              <a:ext cx="3458718"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一九五四年九月二十日</a:t>
              </a:r>
            </a:p>
          </p:txBody>
        </p:sp>
        <p:sp>
          <p:nvSpPr>
            <p:cNvPr id="9" name="TextBox 9"/>
            <p:cNvSpPr txBox="1"/>
            <p:nvPr/>
          </p:nvSpPr>
          <p:spPr>
            <a:xfrm>
              <a:off x="598932" y="2609850"/>
              <a:ext cx="3755136" cy="1610868"/>
            </a:xfrm>
            <a:prstGeom prst="rect">
              <a:avLst/>
            </a:prstGeom>
            <a:noFill/>
            <a:ln>
              <a:noFill/>
            </a:ln>
          </p:spPr>
          <p:txBody>
            <a:bodyPr wrap="none" lIns="0" tIns="0" rIns="0" bIns="0" anchor="t" anchorCtr="0">
              <a:spAutoFit/>
            </a:bodyPr>
            <a:lstStyle/>
            <a:p>
              <a:pPr algn="l">
                <a:lnSpc>
                  <a:spcPts val="3150"/>
                </a:lnSpc>
              </a:pPr>
              <a:r>
                <a:rPr lang="zh-CN" sz="2100" dirty="0">
                  <a:solidFill>
                    <a:srgbClr val="F4F1EA"/>
                  </a:solidFill>
                  <a:latin typeface="+mn-lt"/>
                  <a:ea typeface="+mn-ea"/>
                  <a:cs typeface="+mn-cs"/>
                </a:rPr>
                <a:t>第一届全国人民代表大会</a:t>
              </a:r>
              <a:br>
                <a:rPr lang="zh-CN" sz="2100" dirty="0">
                  <a:solidFill>
                    <a:srgbClr val="F4F1EA"/>
                  </a:solidFill>
                  <a:latin typeface="+mn-lt"/>
                  <a:ea typeface="+mn-ea"/>
                  <a:cs typeface="+mn-cs"/>
                </a:rPr>
              </a:br>
              <a:r>
                <a:rPr lang="zh-CN" sz="2100" dirty="0">
                  <a:solidFill>
                    <a:srgbClr val="F4F1EA"/>
                  </a:solidFill>
                  <a:latin typeface="+mn-lt"/>
                  <a:ea typeface="+mn-ea"/>
                  <a:cs typeface="+mn-cs"/>
                </a:rPr>
                <a:t>第一次会议</a:t>
              </a:r>
              <a:br>
                <a:rPr lang="zh-CN" sz="2100" dirty="0">
                  <a:solidFill>
                    <a:srgbClr val="F4F1EA"/>
                  </a:solidFill>
                  <a:latin typeface="+mn-lt"/>
                  <a:ea typeface="+mn-ea"/>
                  <a:cs typeface="+mn-cs"/>
                </a:rPr>
              </a:br>
              <a:r>
                <a:rPr lang="zh-CN" sz="2100" dirty="0">
                  <a:solidFill>
                    <a:srgbClr val="F4F1EA"/>
                  </a:solidFill>
                  <a:latin typeface="+mn-lt"/>
                  <a:ea typeface="+mn-ea"/>
                  <a:cs typeface="+mn-cs"/>
                </a:rPr>
                <a:t>浅红色表决票</a:t>
              </a:r>
              <a:br>
                <a:rPr lang="zh-CN" sz="2100" dirty="0">
                  <a:solidFill>
                    <a:srgbClr val="F4F1EA"/>
                  </a:solidFill>
                  <a:latin typeface="+mn-lt"/>
                  <a:ea typeface="+mn-ea"/>
                  <a:cs typeface="+mn-cs"/>
                </a:rPr>
              </a:br>
              <a:r>
                <a:rPr lang="zh-CN" sz="2100" dirty="0">
                  <a:solidFill>
                    <a:srgbClr val="F4F1EA"/>
                  </a:solidFill>
                  <a:latin typeface="+mn-lt"/>
                  <a:ea typeface="+mn-ea"/>
                  <a:cs typeface="+mn-cs"/>
                </a:rPr>
                <a:t>印汉、蒙、藏、维吾尔四种文字</a:t>
              </a:r>
            </a:p>
          </p:txBody>
        </p:sp>
      </p:grpSp>
      <p:grpSp>
        <p:nvGrpSpPr>
          <p:cNvPr id="14" name="ballot-objects"/>
          <p:cNvGrpSpPr/>
          <p:nvPr/>
        </p:nvGrpSpPr>
        <p:grpSpPr>
          <a:xfrm>
            <a:off x="6386322" y="1885950"/>
            <a:ext cx="5196078" cy="2359279"/>
            <a:chOff x="6386322" y="1885950"/>
            <a:chExt cx="5196078" cy="2359279"/>
          </a:xfrm>
        </p:grpSpPr>
        <p:sp>
          <p:nvSpPr>
            <p:cNvPr id="11" name="Line 11"/>
            <p:cNvSpPr/>
            <p:nvPr/>
          </p:nvSpPr>
          <p:spPr>
            <a:xfrm>
              <a:off x="6400800" y="1885950"/>
              <a:ext cx="5181600" cy="9525"/>
            </a:xfrm>
            <a:custGeom>
              <a:avLst/>
              <a:gdLst/>
              <a:ahLst/>
              <a:cxnLst/>
              <a:rect l="l" t="t" r="r" b="b"/>
              <a:pathLst>
                <a:path w="5181600" h="9525">
                  <a:moveTo>
                    <a:pt x="0" y="0"/>
                  </a:moveTo>
                  <a:lnTo>
                    <a:pt x="5181600" y="0"/>
                  </a:lnTo>
                </a:path>
              </a:pathLst>
            </a:custGeom>
            <a:noFill/>
            <a:ln w="9525">
              <a:solidFill>
                <a:srgbClr val="3A454A"/>
              </a:solidFill>
            </a:ln>
          </p:spPr>
        </p:sp>
        <p:sp>
          <p:nvSpPr>
            <p:cNvPr id="12" name="TextBox 12"/>
            <p:cNvSpPr txBox="1"/>
            <p:nvPr/>
          </p:nvSpPr>
          <p:spPr>
            <a:xfrm>
              <a:off x="6386322" y="2038350"/>
              <a:ext cx="4249293" cy="557403"/>
            </a:xfrm>
            <a:prstGeom prst="rect">
              <a:avLst/>
            </a:prstGeom>
            <a:noFill/>
            <a:ln>
              <a:noFill/>
            </a:ln>
          </p:spPr>
          <p:txBody>
            <a:bodyPr wrap="none" lIns="0" tIns="0" rIns="0" bIns="0" anchor="t" anchorCtr="0">
              <a:spAutoFit/>
            </a:bodyPr>
            <a:lstStyle/>
            <a:p>
              <a:pPr algn="l"/>
              <a:r>
                <a:rPr lang="zh-CN" sz="2850" dirty="0">
                  <a:solidFill>
                    <a:schemeClr val="accent3"/>
                  </a:solidFill>
                  <a:latin typeface="+mn-lt"/>
                  <a:ea typeface="+mn-ea"/>
                  <a:cs typeface="+mn-cs"/>
                </a:rPr>
                <a:t>这张票表决的是一部宪法</a:t>
              </a:r>
            </a:p>
          </p:txBody>
        </p:sp>
        <p:sp>
          <p:nvSpPr>
            <p:cNvPr id="13" name="TextBox 13"/>
            <p:cNvSpPr txBox="1"/>
            <p:nvPr/>
          </p:nvSpPr>
          <p:spPr>
            <a:xfrm>
              <a:off x="6387846" y="2774950"/>
              <a:ext cx="2940558" cy="1470279"/>
            </a:xfrm>
            <a:prstGeom prst="rect">
              <a:avLst/>
            </a:prstGeom>
            <a:noFill/>
            <a:ln>
              <a:noFill/>
            </a:ln>
          </p:spPr>
          <p:txBody>
            <a:bodyPr wrap="none" lIns="0" tIns="0" rIns="0" bIns="0" anchor="t" anchorCtr="0">
              <a:spAutoFit/>
            </a:bodyPr>
            <a:lstStyle/>
            <a:p>
              <a:pPr algn="l">
                <a:lnSpc>
                  <a:spcPts val="3825"/>
                </a:lnSpc>
              </a:pPr>
              <a:r>
                <a:rPr lang="zh-CN" sz="2550" dirty="0">
                  <a:solidFill>
                    <a:srgbClr val="F4F1EA"/>
                  </a:solidFill>
                  <a:latin typeface="+mn-lt"/>
                  <a:ea typeface="+mn-ea"/>
                  <a:cs typeface="+mn-cs"/>
                </a:rPr>
                <a:t>国家怎样组织和发展</a:t>
              </a:r>
              <a:br>
                <a:rPr lang="zh-CN" sz="2550" dirty="0">
                  <a:solidFill>
                    <a:srgbClr val="F4F1EA"/>
                  </a:solidFill>
                  <a:latin typeface="+mn-lt"/>
                  <a:ea typeface="+mn-ea"/>
                  <a:cs typeface="+mn-cs"/>
                </a:rPr>
              </a:br>
              <a:r>
                <a:rPr lang="zh-CN" sz="2550" dirty="0">
                  <a:solidFill>
                    <a:srgbClr val="F4F1EA"/>
                  </a:solidFill>
                  <a:latin typeface="+mn-lt"/>
                  <a:ea typeface="+mn-ea"/>
                  <a:cs typeface="+mn-cs"/>
                </a:rPr>
                <a:t>人民怎样行使权力</a:t>
              </a:r>
              <a:br>
                <a:rPr lang="zh-CN" sz="2550" dirty="0">
                  <a:solidFill>
                    <a:srgbClr val="F4F1EA"/>
                  </a:solidFill>
                  <a:latin typeface="+mn-lt"/>
                  <a:ea typeface="+mn-ea"/>
                  <a:cs typeface="+mn-cs"/>
                </a:rPr>
              </a:br>
              <a:r>
                <a:rPr lang="zh-CN" sz="2550" dirty="0">
                  <a:solidFill>
                    <a:srgbClr val="F4F1EA"/>
                  </a:solidFill>
                  <a:latin typeface="+mn-lt"/>
                  <a:ea typeface="+mn-ea"/>
                  <a:cs typeface="+mn-cs"/>
                </a:rPr>
                <a:t>公民有哪些基本权利</a:t>
              </a:r>
            </a:p>
          </p:txBody>
        </p:sp>
      </p:grpSp>
      <p:sp>
        <p:nvSpPr>
          <p:cNvPr id="15" name="TextBox 15"/>
          <p:cNvSpPr txBox="1"/>
          <p:nvPr/>
        </p:nvSpPr>
        <p:spPr>
          <a:xfrm>
            <a:off x="604266" y="6502400"/>
            <a:ext cx="6625895" cy="205359"/>
          </a:xfrm>
          <a:prstGeom prst="rect">
            <a:avLst/>
          </a:prstGeom>
          <a:noFill/>
          <a:ln>
            <a:noFill/>
          </a:ln>
        </p:spPr>
        <p:txBody>
          <a:bodyPr wrap="none" lIns="0" tIns="0" rIns="0" bIns="0" anchor="t" anchorCtr="0">
            <a:spAutoFit/>
          </a:bodyPr>
          <a:lstStyle/>
          <a:p>
            <a:pPr algn="l"/>
            <a:r>
              <a:rPr lang="zh-CN" sz="1050" dirty="0">
                <a:solidFill>
                  <a:srgbClr val="B8C4C8"/>
                </a:solidFill>
                <a:latin typeface="+mn-lt"/>
                <a:ea typeface="+mn-ea"/>
                <a:cs typeface="+mn-cs"/>
              </a:rPr>
              <a:t>资料：代昕《中国历史上第一部人民的宪法》，《法治日报》2025-03-25；《中国人大》2003年第24期。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03 / 36</a:t>
              </a:r>
            </a:p>
          </p:txBody>
        </p:sp>
      </p:grpSp>
      <p:grpSp>
        <p:nvGrpSpPr>
          <p:cNvPr id="6" name="page-title"/>
          <p:cNvGrpSpPr/>
          <p:nvPr/>
        </p:nvGrpSpPr>
        <p:grpSpPr>
          <a:xfrm>
            <a:off x="590550" y="904875"/>
            <a:ext cx="10407396" cy="790575"/>
            <a:chOff x="590550" y="904875"/>
            <a:chExt cx="10407396" cy="790575"/>
          </a:xfrm>
        </p:grpSpPr>
        <p:sp>
          <p:nvSpPr>
            <p:cNvPr id="5" name="TextBox 5"/>
            <p:cNvSpPr txBox="1"/>
            <p:nvPr/>
          </p:nvSpPr>
          <p:spPr>
            <a:xfrm>
              <a:off x="590550" y="904875"/>
              <a:ext cx="10407396"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国家已经运行五年，为什么还要制定宪法</a:t>
              </a:r>
            </a:p>
          </p:txBody>
        </p:sp>
      </p:grpSp>
      <p:grpSp>
        <p:nvGrpSpPr>
          <p:cNvPr id="15" name="timeline"/>
          <p:cNvGrpSpPr/>
          <p:nvPr/>
        </p:nvGrpSpPr>
        <p:grpSpPr>
          <a:xfrm>
            <a:off x="561975" y="2108200"/>
            <a:ext cx="11068050" cy="1267968"/>
            <a:chOff x="561975" y="2108200"/>
            <a:chExt cx="11068050" cy="1267968"/>
          </a:xfrm>
        </p:grpSpPr>
        <p:sp>
          <p:nvSpPr>
            <p:cNvPr id="7" name="Line 7"/>
            <p:cNvSpPr/>
            <p:nvPr/>
          </p:nvSpPr>
          <p:spPr>
            <a:xfrm>
              <a:off x="609600" y="276225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8" name="Ellipse 8"/>
            <p:cNvSpPr/>
            <p:nvPr/>
          </p:nvSpPr>
          <p:spPr>
            <a:xfrm>
              <a:off x="561975" y="2714625"/>
              <a:ext cx="95250" cy="95250"/>
            </a:xfrm>
            <a:prstGeom prst="ellipse">
              <a:avLst/>
            </a:prstGeom>
            <a:solidFill>
              <a:schemeClr val="accent1"/>
            </a:solidFill>
            <a:ln>
              <a:noFill/>
            </a:ln>
          </p:spPr>
        </p:sp>
        <p:sp>
          <p:nvSpPr>
            <p:cNvPr id="9" name="Ellipse 9"/>
            <p:cNvSpPr/>
            <p:nvPr/>
          </p:nvSpPr>
          <p:spPr>
            <a:xfrm>
              <a:off x="11534775" y="2714625"/>
              <a:ext cx="95250" cy="95250"/>
            </a:xfrm>
            <a:prstGeom prst="ellipse">
              <a:avLst/>
            </a:prstGeom>
            <a:solidFill>
              <a:schemeClr val="accent1"/>
            </a:solidFill>
            <a:ln>
              <a:noFill/>
            </a:ln>
          </p:spPr>
        </p:sp>
        <p:sp>
          <p:nvSpPr>
            <p:cNvPr id="10" name="TextBox 10"/>
            <p:cNvSpPr txBox="1"/>
            <p:nvPr/>
          </p:nvSpPr>
          <p:spPr>
            <a:xfrm>
              <a:off x="598932" y="2108200"/>
              <a:ext cx="1873034"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一九四九·九月</a:t>
              </a:r>
            </a:p>
          </p:txBody>
        </p:sp>
        <p:sp>
          <p:nvSpPr>
            <p:cNvPr id="11" name="TextBox 11"/>
            <p:cNvSpPr txBox="1"/>
            <p:nvPr/>
          </p:nvSpPr>
          <p:spPr>
            <a:xfrm>
              <a:off x="598932" y="2965450"/>
              <a:ext cx="228295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《共同纲领》通过</a:t>
              </a:r>
            </a:p>
          </p:txBody>
        </p:sp>
        <p:sp>
          <p:nvSpPr>
            <p:cNvPr id="12" name="TextBox 12"/>
            <p:cNvSpPr txBox="1"/>
            <p:nvPr/>
          </p:nvSpPr>
          <p:spPr>
            <a:xfrm>
              <a:off x="9720034" y="2108200"/>
              <a:ext cx="1873034" cy="410718"/>
            </a:xfrm>
            <a:prstGeom prst="rect">
              <a:avLst/>
            </a:prstGeom>
            <a:noFill/>
            <a:ln>
              <a:noFill/>
            </a:ln>
          </p:spPr>
          <p:txBody>
            <a:bodyPr wrap="none" lIns="0" tIns="0" rIns="0" bIns="0" anchor="t" anchorCtr="0">
              <a:spAutoFit/>
            </a:bodyPr>
            <a:lstStyle/>
            <a:p>
              <a:pPr algn="r"/>
              <a:r>
                <a:rPr lang="zh-CN" sz="2100" dirty="0">
                  <a:solidFill>
                    <a:schemeClr val="accent1"/>
                  </a:solidFill>
                  <a:latin typeface="+mn-lt"/>
                  <a:ea typeface="+mn-ea"/>
                  <a:cs typeface="+mn-cs"/>
                </a:rPr>
                <a:t>一九五四·九月</a:t>
              </a:r>
            </a:p>
          </p:txBody>
        </p:sp>
        <p:sp>
          <p:nvSpPr>
            <p:cNvPr id="13" name="TextBox 13"/>
            <p:cNvSpPr txBox="1"/>
            <p:nvPr/>
          </p:nvSpPr>
          <p:spPr>
            <a:xfrm>
              <a:off x="9875520" y="2965450"/>
              <a:ext cx="1717548" cy="410718"/>
            </a:xfrm>
            <a:prstGeom prst="rect">
              <a:avLst/>
            </a:prstGeom>
            <a:noFill/>
            <a:ln>
              <a:noFill/>
            </a:ln>
          </p:spPr>
          <p:txBody>
            <a:bodyPr wrap="none" lIns="0" tIns="0" rIns="0" bIns="0" anchor="t" anchorCtr="0">
              <a:spAutoFit/>
            </a:bodyPr>
            <a:lstStyle/>
            <a:p>
              <a:pPr algn="r"/>
              <a:r>
                <a:rPr lang="zh-CN" sz="2100" dirty="0">
                  <a:solidFill>
                    <a:schemeClr val="accent5"/>
                  </a:solidFill>
                  <a:latin typeface="+mn-lt"/>
                  <a:ea typeface="+mn-ea"/>
                  <a:cs typeface="+mn-cs"/>
                </a:rPr>
                <a:t>宪法表决通过</a:t>
              </a:r>
            </a:p>
          </p:txBody>
        </p:sp>
        <p:sp>
          <p:nvSpPr>
            <p:cNvPr id="14" name="TextBox 14"/>
            <p:cNvSpPr txBox="1"/>
            <p:nvPr/>
          </p:nvSpPr>
          <p:spPr>
            <a:xfrm>
              <a:off x="5697855" y="2238375"/>
              <a:ext cx="796290" cy="557403"/>
            </a:xfrm>
            <a:prstGeom prst="rect">
              <a:avLst/>
            </a:prstGeom>
            <a:noFill/>
            <a:ln>
              <a:noFill/>
            </a:ln>
          </p:spPr>
          <p:txBody>
            <a:bodyPr wrap="none" lIns="0" tIns="0" rIns="0" bIns="0" anchor="t" anchorCtr="0">
              <a:spAutoFit/>
            </a:bodyPr>
            <a:lstStyle/>
            <a:p>
              <a:pPr algn="ctr"/>
              <a:r>
                <a:rPr lang="zh-CN" sz="2850" dirty="0">
                  <a:solidFill>
                    <a:schemeClr val="accent2"/>
                  </a:solidFill>
                  <a:latin typeface="+mn-lt"/>
                  <a:ea typeface="+mn-ea"/>
                  <a:cs typeface="+mn-cs"/>
                </a:rPr>
                <a:t>五年</a:t>
              </a:r>
            </a:p>
          </p:txBody>
        </p:sp>
      </p:grpSp>
      <p:grpSp>
        <p:nvGrpSpPr>
          <p:cNvPr id="20" name="common-programme"/>
          <p:cNvGrpSpPr/>
          <p:nvPr/>
        </p:nvGrpSpPr>
        <p:grpSpPr>
          <a:xfrm>
            <a:off x="595122" y="3867150"/>
            <a:ext cx="8826246" cy="2327783"/>
            <a:chOff x="595122" y="3867150"/>
            <a:chExt cx="8826246" cy="2327783"/>
          </a:xfrm>
        </p:grpSpPr>
        <p:sp>
          <p:nvSpPr>
            <p:cNvPr id="16" name="TextBox 16"/>
            <p:cNvSpPr txBox="1"/>
            <p:nvPr/>
          </p:nvSpPr>
          <p:spPr>
            <a:xfrm>
              <a:off x="595122" y="3867150"/>
              <a:ext cx="5783961"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《共同纲领》承担了根本法律功能</a:t>
              </a:r>
            </a:p>
          </p:txBody>
        </p:sp>
        <p:sp>
          <p:nvSpPr>
            <p:cNvPr id="17" name="TextBox 17"/>
            <p:cNvSpPr txBox="1"/>
            <p:nvPr/>
          </p:nvSpPr>
          <p:spPr>
            <a:xfrm>
              <a:off x="596646" y="4445000"/>
              <a:ext cx="4145280"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当时称「临时宪法」的作用</a:t>
              </a:r>
            </a:p>
          </p:txBody>
        </p:sp>
        <p:sp>
          <p:nvSpPr>
            <p:cNvPr id="18" name="TextBox 18"/>
            <p:cNvSpPr txBox="1"/>
            <p:nvPr/>
          </p:nvSpPr>
          <p:spPr>
            <a:xfrm>
              <a:off x="598932" y="4991100"/>
              <a:ext cx="88224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一九四九·九月　中国人民政治协商会议第一届全体会议通过</a:t>
              </a:r>
              <a:br>
                <a:rPr lang="zh-CN" sz="2100" dirty="0">
                  <a:solidFill>
                    <a:schemeClr val="dk1"/>
                  </a:solidFill>
                  <a:latin typeface="+mn-lt"/>
                  <a:ea typeface="+mn-ea"/>
                  <a:cs typeface="+mn-cs"/>
                </a:rPr>
              </a:br>
              <a:r>
                <a:rPr lang="zh-CN" sz="2100" dirty="0">
                  <a:solidFill>
                    <a:schemeClr val="dk1"/>
                  </a:solidFill>
                  <a:latin typeface="+mn-lt"/>
                  <a:ea typeface="+mn-ea"/>
                  <a:cs typeface="+mn-cs"/>
                </a:rPr>
                <a:t>国家政权属于人民；普选的全国人大召开以前，由政协全体会议执行其职权</a:t>
              </a:r>
            </a:p>
          </p:txBody>
        </p:sp>
        <p:sp>
          <p:nvSpPr>
            <p:cNvPr id="19" name="TextBox 19"/>
            <p:cNvSpPr txBox="1"/>
            <p:nvPr/>
          </p:nvSpPr>
          <p:spPr>
            <a:xfrm>
              <a:off x="602742" y="5930900"/>
              <a:ext cx="4375404"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召开全国人大、进一步建立制度，是接下来要完成的事</a:t>
              </a:r>
            </a:p>
          </p:txBody>
        </p:sp>
      </p:grpSp>
      <p:sp>
        <p:nvSpPr>
          <p:cNvPr id="21" name="TextBox 21"/>
          <p:cNvSpPr txBox="1"/>
          <p:nvPr/>
        </p:nvSpPr>
        <p:spPr>
          <a:xfrm>
            <a:off x="604266" y="6502400"/>
            <a:ext cx="2385365"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材料：《共同纲领》1949-09-29 通过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上节 04 / 36</a:t>
              </a:r>
            </a:p>
          </p:txBody>
        </p:sp>
      </p:grpSp>
      <p:grpSp>
        <p:nvGrpSpPr>
          <p:cNvPr id="6" name="page-title"/>
          <p:cNvGrpSpPr/>
          <p:nvPr/>
        </p:nvGrpSpPr>
        <p:grpSpPr>
          <a:xfrm>
            <a:off x="590550" y="904875"/>
            <a:ext cx="4070604" cy="790575"/>
            <a:chOff x="590550" y="904875"/>
            <a:chExt cx="4070604" cy="790575"/>
          </a:xfrm>
        </p:grpSpPr>
        <p:sp>
          <p:nvSpPr>
            <p:cNvPr id="5" name="TextBox 5"/>
            <p:cNvSpPr txBox="1"/>
            <p:nvPr/>
          </p:nvSpPr>
          <p:spPr>
            <a:xfrm>
              <a:off x="590550" y="904875"/>
              <a:ext cx="4070604" cy="790575"/>
            </a:xfrm>
            <a:prstGeom prst="rect">
              <a:avLst/>
            </a:prstGeom>
            <a:noFill/>
            <a:ln>
              <a:noFill/>
            </a:ln>
          </p:spPr>
          <p:txBody>
            <a:bodyPr wrap="none" lIns="0" tIns="0" rIns="0" bIns="0" anchor="t" anchorCtr="0">
              <a:spAutoFit/>
            </a:bodyPr>
            <a:lstStyle/>
            <a:p>
              <a:pPr algn="l"/>
              <a:r>
                <a:rPr lang="zh-CN" sz="4050" dirty="0">
                  <a:solidFill>
                    <a:srgbClr val="F4F1EA"/>
                  </a:solidFill>
                  <a:latin typeface="+mj-lt"/>
                  <a:ea typeface="+mj-ea"/>
                  <a:cs typeface="+mj-cs"/>
                </a:rPr>
                <a:t>从西湖稿到表决</a:t>
              </a:r>
            </a:p>
          </p:txBody>
        </p:sp>
      </p:grpSp>
      <p:grpSp>
        <p:nvGrpSpPr>
          <p:cNvPr id="12" name="step-1"/>
          <p:cNvGrpSpPr/>
          <p:nvPr/>
        </p:nvGrpSpPr>
        <p:grpSpPr>
          <a:xfrm>
            <a:off x="596646" y="1885950"/>
            <a:ext cx="2298954" cy="2506218"/>
            <a:chOff x="596646" y="1885950"/>
            <a:chExt cx="2298954" cy="2506218"/>
          </a:xfrm>
        </p:grpSpPr>
        <p:sp>
          <p:nvSpPr>
            <p:cNvPr id="7" name="Line 7"/>
            <p:cNvSpPr/>
            <p:nvPr/>
          </p:nvSpPr>
          <p:spPr>
            <a:xfrm>
              <a:off x="609600" y="1885950"/>
              <a:ext cx="2286000" cy="9525"/>
            </a:xfrm>
            <a:custGeom>
              <a:avLst/>
              <a:gdLst/>
              <a:ahLst/>
              <a:cxnLst/>
              <a:rect l="l" t="t" r="r" b="b"/>
              <a:pathLst>
                <a:path w="2286000" h="9525">
                  <a:moveTo>
                    <a:pt x="0" y="0"/>
                  </a:moveTo>
                  <a:lnTo>
                    <a:pt x="2286000" y="0"/>
                  </a:lnTo>
                </a:path>
              </a:pathLst>
            </a:custGeom>
            <a:noFill/>
            <a:ln w="9525">
              <a:solidFill>
                <a:srgbClr val="3A454A"/>
              </a:solidFill>
            </a:ln>
          </p:spPr>
        </p:sp>
        <p:sp>
          <p:nvSpPr>
            <p:cNvPr id="8" name="TextBox 8"/>
            <p:cNvSpPr txBox="1"/>
            <p:nvPr/>
          </p:nvSpPr>
          <p:spPr>
            <a:xfrm>
              <a:off x="598932" y="1898650"/>
              <a:ext cx="176822"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1</a:t>
              </a:r>
            </a:p>
          </p:txBody>
        </p:sp>
        <p:sp>
          <p:nvSpPr>
            <p:cNvPr id="9" name="TextBox 9"/>
            <p:cNvSpPr txBox="1"/>
            <p:nvPr/>
          </p:nvSpPr>
          <p:spPr>
            <a:xfrm>
              <a:off x="596646" y="2292350"/>
              <a:ext cx="2274399"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一九五三·十二</a:t>
              </a:r>
            </a:p>
          </p:txBody>
        </p:sp>
        <p:sp>
          <p:nvSpPr>
            <p:cNvPr id="10" name="TextBox 10"/>
            <p:cNvSpPr txBox="1"/>
            <p:nvPr/>
          </p:nvSpPr>
          <p:spPr>
            <a:xfrm>
              <a:off x="596646" y="2768600"/>
              <a:ext cx="1399032" cy="498729"/>
            </a:xfrm>
            <a:prstGeom prst="rect">
              <a:avLst/>
            </a:prstGeom>
            <a:noFill/>
            <a:ln>
              <a:noFill/>
            </a:ln>
          </p:spPr>
          <p:txBody>
            <a:bodyPr wrap="none" lIns="0" tIns="0" rIns="0" bIns="0" anchor="t" anchorCtr="0">
              <a:spAutoFit/>
            </a:bodyPr>
            <a:lstStyle/>
            <a:p>
              <a:pPr algn="l"/>
              <a:r>
                <a:rPr lang="zh-CN" sz="2550" dirty="0">
                  <a:solidFill>
                    <a:srgbClr val="F4F1EA"/>
                  </a:solidFill>
                  <a:latin typeface="+mn-lt"/>
                  <a:ea typeface="+mn-ea"/>
                  <a:cs typeface="+mn-cs"/>
                </a:rPr>
                <a:t>杭州起草</a:t>
              </a:r>
            </a:p>
          </p:txBody>
        </p:sp>
        <p:sp>
          <p:nvSpPr>
            <p:cNvPr id="11" name="TextBox 11"/>
            <p:cNvSpPr txBox="1"/>
            <p:nvPr/>
          </p:nvSpPr>
          <p:spPr>
            <a:xfrm>
              <a:off x="598932" y="3181350"/>
              <a:ext cx="1888236" cy="1210818"/>
            </a:xfrm>
            <a:prstGeom prst="rect">
              <a:avLst/>
            </a:prstGeom>
            <a:noFill/>
            <a:ln>
              <a:noFill/>
            </a:ln>
          </p:spPr>
          <p:txBody>
            <a:bodyPr wrap="none" lIns="0" tIns="0" rIns="0" bIns="0" anchor="t" anchorCtr="0">
              <a:spAutoFit/>
            </a:bodyPr>
            <a:lstStyle/>
            <a:p>
              <a:pPr algn="l">
                <a:lnSpc>
                  <a:spcPts val="3150"/>
                </a:lnSpc>
              </a:pPr>
              <a:r>
                <a:rPr lang="zh-CN" sz="2100" dirty="0">
                  <a:solidFill>
                    <a:srgbClr val="F4F1EA"/>
                  </a:solidFill>
                  <a:latin typeface="+mn-lt"/>
                  <a:ea typeface="+mn-ea"/>
                  <a:cs typeface="+mn-cs"/>
                </a:rPr>
                <a:t>毛泽东带起草组</a:t>
              </a:r>
              <a:br>
                <a:rPr lang="zh-CN" sz="2100" dirty="0">
                  <a:solidFill>
                    <a:srgbClr val="F4F1EA"/>
                  </a:solidFill>
                  <a:latin typeface="+mn-lt"/>
                  <a:ea typeface="+mn-ea"/>
                  <a:cs typeface="+mn-cs"/>
                </a:rPr>
              </a:br>
              <a:r>
                <a:rPr lang="zh-CN" sz="2100" dirty="0">
                  <a:solidFill>
                    <a:srgbClr val="F4F1EA"/>
                  </a:solidFill>
                  <a:latin typeface="+mn-lt"/>
                  <a:ea typeface="+mn-ea"/>
                  <a:cs typeface="+mn-cs"/>
                </a:rPr>
                <a:t>到杭州</a:t>
              </a:r>
              <a:br>
                <a:rPr lang="zh-CN" sz="2100" dirty="0">
                  <a:solidFill>
                    <a:srgbClr val="F4F1EA"/>
                  </a:solidFill>
                  <a:latin typeface="+mn-lt"/>
                  <a:ea typeface="+mn-ea"/>
                  <a:cs typeface="+mn-cs"/>
                </a:rPr>
              </a:br>
              <a:r>
                <a:rPr lang="zh-CN" sz="2100" dirty="0">
                  <a:solidFill>
                    <a:srgbClr val="F4F1EA"/>
                  </a:solidFill>
                  <a:latin typeface="+mn-lt"/>
                  <a:ea typeface="+mn-ea"/>
                  <a:cs typeface="+mn-cs"/>
                </a:rPr>
                <a:t>七十七天写初稿</a:t>
              </a:r>
            </a:p>
          </p:txBody>
        </p:sp>
      </p:grpSp>
      <p:grpSp>
        <p:nvGrpSpPr>
          <p:cNvPr id="18" name="step-2"/>
          <p:cNvGrpSpPr/>
          <p:nvPr/>
        </p:nvGrpSpPr>
        <p:grpSpPr>
          <a:xfrm>
            <a:off x="3492246" y="1885950"/>
            <a:ext cx="2298954" cy="2906268"/>
            <a:chOff x="3492246" y="1885950"/>
            <a:chExt cx="2298954" cy="2906268"/>
          </a:xfrm>
        </p:grpSpPr>
        <p:sp>
          <p:nvSpPr>
            <p:cNvPr id="13" name="Line 13"/>
            <p:cNvSpPr/>
            <p:nvPr/>
          </p:nvSpPr>
          <p:spPr>
            <a:xfrm>
              <a:off x="3505200" y="1885950"/>
              <a:ext cx="2286000" cy="9525"/>
            </a:xfrm>
            <a:custGeom>
              <a:avLst/>
              <a:gdLst/>
              <a:ahLst/>
              <a:cxnLst/>
              <a:rect l="l" t="t" r="r" b="b"/>
              <a:pathLst>
                <a:path w="2286000" h="9525">
                  <a:moveTo>
                    <a:pt x="0" y="0"/>
                  </a:moveTo>
                  <a:lnTo>
                    <a:pt x="2286000" y="0"/>
                  </a:lnTo>
                </a:path>
              </a:pathLst>
            </a:custGeom>
            <a:noFill/>
            <a:ln w="9525">
              <a:solidFill>
                <a:srgbClr val="3A454A"/>
              </a:solidFill>
            </a:ln>
          </p:spPr>
        </p:sp>
        <p:sp>
          <p:nvSpPr>
            <p:cNvPr id="14" name="TextBox 14"/>
            <p:cNvSpPr txBox="1"/>
            <p:nvPr/>
          </p:nvSpPr>
          <p:spPr>
            <a:xfrm>
              <a:off x="3494532" y="1898650"/>
              <a:ext cx="176822"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2</a:t>
              </a:r>
            </a:p>
          </p:txBody>
        </p:sp>
        <p:sp>
          <p:nvSpPr>
            <p:cNvPr id="15" name="TextBox 15"/>
            <p:cNvSpPr txBox="1"/>
            <p:nvPr/>
          </p:nvSpPr>
          <p:spPr>
            <a:xfrm>
              <a:off x="3492246" y="2292350"/>
              <a:ext cx="1931118"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一九五四·六</a:t>
              </a:r>
            </a:p>
          </p:txBody>
        </p:sp>
        <p:sp>
          <p:nvSpPr>
            <p:cNvPr id="16" name="TextBox 16"/>
            <p:cNvSpPr txBox="1"/>
            <p:nvPr/>
          </p:nvSpPr>
          <p:spPr>
            <a:xfrm>
              <a:off x="3492246" y="2768600"/>
              <a:ext cx="1399032" cy="498729"/>
            </a:xfrm>
            <a:prstGeom prst="rect">
              <a:avLst/>
            </a:prstGeom>
            <a:noFill/>
            <a:ln>
              <a:noFill/>
            </a:ln>
          </p:spPr>
          <p:txBody>
            <a:bodyPr wrap="none" lIns="0" tIns="0" rIns="0" bIns="0" anchor="t" anchorCtr="0">
              <a:spAutoFit/>
            </a:bodyPr>
            <a:lstStyle/>
            <a:p>
              <a:pPr algn="l"/>
              <a:r>
                <a:rPr lang="zh-CN" sz="2550" dirty="0">
                  <a:solidFill>
                    <a:srgbClr val="F4F1EA"/>
                  </a:solidFill>
                  <a:latin typeface="+mn-lt"/>
                  <a:ea typeface="+mn-ea"/>
                  <a:cs typeface="+mn-cs"/>
                </a:rPr>
                <a:t>公布讨论</a:t>
              </a:r>
            </a:p>
          </p:txBody>
        </p:sp>
        <p:sp>
          <p:nvSpPr>
            <p:cNvPr id="17" name="TextBox 17"/>
            <p:cNvSpPr txBox="1"/>
            <p:nvPr/>
          </p:nvSpPr>
          <p:spPr>
            <a:xfrm>
              <a:off x="3494532" y="3181350"/>
              <a:ext cx="1888236" cy="1610868"/>
            </a:xfrm>
            <a:prstGeom prst="rect">
              <a:avLst/>
            </a:prstGeom>
            <a:noFill/>
            <a:ln>
              <a:noFill/>
            </a:ln>
          </p:spPr>
          <p:txBody>
            <a:bodyPr wrap="none" lIns="0" tIns="0" rIns="0" bIns="0" anchor="t" anchorCtr="0">
              <a:spAutoFit/>
            </a:bodyPr>
            <a:lstStyle/>
            <a:p>
              <a:pPr algn="l">
                <a:lnSpc>
                  <a:spcPts val="3150"/>
                </a:lnSpc>
              </a:pPr>
              <a:r>
                <a:rPr lang="zh-CN" sz="2100" dirty="0">
                  <a:solidFill>
                    <a:srgbClr val="F4F1EA"/>
                  </a:solidFill>
                  <a:latin typeface="+mn-lt"/>
                  <a:ea typeface="+mn-ea"/>
                  <a:cs typeface="+mn-cs"/>
                </a:rPr>
                <a:t>草案交付全国</a:t>
              </a:r>
              <a:br>
                <a:rPr lang="zh-CN" sz="2100" dirty="0">
                  <a:solidFill>
                    <a:srgbClr val="F4F1EA"/>
                  </a:solidFill>
                  <a:latin typeface="+mn-lt"/>
                  <a:ea typeface="+mn-ea"/>
                  <a:cs typeface="+mn-cs"/>
                </a:rPr>
              </a:br>
              <a:r>
                <a:rPr lang="zh-CN" sz="2100" dirty="0">
                  <a:solidFill>
                    <a:srgbClr val="F4F1EA"/>
                  </a:solidFill>
                  <a:latin typeface="+mn-lt"/>
                  <a:ea typeface="+mn-ea"/>
                  <a:cs typeface="+mn-cs"/>
                </a:rPr>
                <a:t>人民讨论</a:t>
              </a:r>
              <a:br>
                <a:rPr lang="zh-CN" sz="2100" dirty="0">
                  <a:solidFill>
                    <a:srgbClr val="F4F1EA"/>
                  </a:solidFill>
                  <a:latin typeface="+mn-lt"/>
                  <a:ea typeface="+mn-ea"/>
                  <a:cs typeface="+mn-cs"/>
                </a:rPr>
              </a:br>
              <a:r>
                <a:rPr lang="zh-CN" sz="2100" dirty="0">
                  <a:solidFill>
                    <a:srgbClr val="F4F1EA"/>
                  </a:solidFill>
                  <a:latin typeface="+mn-lt"/>
                  <a:ea typeface="+mn-ea"/>
                  <a:cs typeface="+mn-cs"/>
                </a:rPr>
                <a:t>近三个月内</a:t>
              </a:r>
              <a:br>
                <a:rPr lang="zh-CN" sz="2100" dirty="0">
                  <a:solidFill>
                    <a:srgbClr val="F4F1EA"/>
                  </a:solidFill>
                  <a:latin typeface="+mn-lt"/>
                  <a:ea typeface="+mn-ea"/>
                  <a:cs typeface="+mn-cs"/>
                </a:rPr>
              </a:br>
              <a:r>
                <a:rPr lang="zh-CN" sz="2100" dirty="0">
                  <a:solidFill>
                    <a:srgbClr val="F4F1EA"/>
                  </a:solidFill>
                  <a:latin typeface="+mn-lt"/>
                  <a:ea typeface="+mn-ea"/>
                  <a:cs typeface="+mn-cs"/>
                </a:rPr>
                <a:t>一亿五千多万人</a:t>
              </a:r>
            </a:p>
          </p:txBody>
        </p:sp>
      </p:grpSp>
      <p:grpSp>
        <p:nvGrpSpPr>
          <p:cNvPr id="25" name="step-3"/>
          <p:cNvGrpSpPr/>
          <p:nvPr/>
        </p:nvGrpSpPr>
        <p:grpSpPr>
          <a:xfrm>
            <a:off x="6387846" y="1885950"/>
            <a:ext cx="2298954" cy="3356483"/>
            <a:chOff x="6387846" y="1885950"/>
            <a:chExt cx="2298954" cy="3356483"/>
          </a:xfrm>
        </p:grpSpPr>
        <p:sp>
          <p:nvSpPr>
            <p:cNvPr id="19" name="Line 19"/>
            <p:cNvSpPr/>
            <p:nvPr/>
          </p:nvSpPr>
          <p:spPr>
            <a:xfrm>
              <a:off x="6400800" y="1885950"/>
              <a:ext cx="2286000" cy="9525"/>
            </a:xfrm>
            <a:custGeom>
              <a:avLst/>
              <a:gdLst/>
              <a:ahLst/>
              <a:cxnLst/>
              <a:rect l="l" t="t" r="r" b="b"/>
              <a:pathLst>
                <a:path w="2286000" h="9525">
                  <a:moveTo>
                    <a:pt x="0" y="0"/>
                  </a:moveTo>
                  <a:lnTo>
                    <a:pt x="2286000" y="0"/>
                  </a:lnTo>
                </a:path>
              </a:pathLst>
            </a:custGeom>
            <a:noFill/>
            <a:ln w="9525">
              <a:solidFill>
                <a:srgbClr val="3A454A"/>
              </a:solidFill>
            </a:ln>
          </p:spPr>
        </p:sp>
        <p:sp>
          <p:nvSpPr>
            <p:cNvPr id="20" name="TextBox 20"/>
            <p:cNvSpPr txBox="1"/>
            <p:nvPr/>
          </p:nvSpPr>
          <p:spPr>
            <a:xfrm>
              <a:off x="6390132" y="1898650"/>
              <a:ext cx="176822"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3</a:t>
              </a:r>
            </a:p>
          </p:txBody>
        </p:sp>
        <p:sp>
          <p:nvSpPr>
            <p:cNvPr id="21" name="TextBox 21"/>
            <p:cNvSpPr txBox="1"/>
            <p:nvPr/>
          </p:nvSpPr>
          <p:spPr>
            <a:xfrm>
              <a:off x="6387846" y="2292350"/>
              <a:ext cx="1399032"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讨论期间</a:t>
              </a:r>
            </a:p>
          </p:txBody>
        </p:sp>
        <p:sp>
          <p:nvSpPr>
            <p:cNvPr id="22" name="TextBox 22"/>
            <p:cNvSpPr txBox="1"/>
            <p:nvPr/>
          </p:nvSpPr>
          <p:spPr>
            <a:xfrm>
              <a:off x="6387846" y="2768600"/>
              <a:ext cx="1399032" cy="498729"/>
            </a:xfrm>
            <a:prstGeom prst="rect">
              <a:avLst/>
            </a:prstGeom>
            <a:noFill/>
            <a:ln>
              <a:noFill/>
            </a:ln>
          </p:spPr>
          <p:txBody>
            <a:bodyPr wrap="none" lIns="0" tIns="0" rIns="0" bIns="0" anchor="t" anchorCtr="0">
              <a:spAutoFit/>
            </a:bodyPr>
            <a:lstStyle/>
            <a:p>
              <a:pPr algn="l"/>
              <a:r>
                <a:rPr lang="zh-CN" sz="2550" dirty="0">
                  <a:solidFill>
                    <a:srgbClr val="F4F1EA"/>
                  </a:solidFill>
                  <a:latin typeface="+mn-lt"/>
                  <a:ea typeface="+mn-ea"/>
                  <a:cs typeface="+mn-cs"/>
                </a:rPr>
                <a:t>归纳汇编</a:t>
              </a:r>
            </a:p>
          </p:txBody>
        </p:sp>
        <p:sp>
          <p:nvSpPr>
            <p:cNvPr id="23" name="TextBox 23"/>
            <p:cNvSpPr txBox="1"/>
            <p:nvPr/>
          </p:nvSpPr>
          <p:spPr>
            <a:xfrm>
              <a:off x="6390132" y="3181350"/>
              <a:ext cx="2154936" cy="1610868"/>
            </a:xfrm>
            <a:prstGeom prst="rect">
              <a:avLst/>
            </a:prstGeom>
            <a:noFill/>
            <a:ln>
              <a:noFill/>
            </a:ln>
          </p:spPr>
          <p:txBody>
            <a:bodyPr wrap="none" lIns="0" tIns="0" rIns="0" bIns="0" anchor="t" anchorCtr="0">
              <a:spAutoFit/>
            </a:bodyPr>
            <a:lstStyle/>
            <a:p>
              <a:pPr algn="l">
                <a:lnSpc>
                  <a:spcPts val="3150"/>
                </a:lnSpc>
              </a:pPr>
              <a:r>
                <a:rPr lang="zh-CN" sz="2100" dirty="0">
                  <a:solidFill>
                    <a:srgbClr val="F4F1EA"/>
                  </a:solidFill>
                  <a:latin typeface="+mn-lt"/>
                  <a:ea typeface="+mn-ea"/>
                  <a:cs typeface="+mn-cs"/>
                </a:rPr>
                <a:t>分类归纳宪草意见</a:t>
              </a:r>
              <a:br>
                <a:rPr lang="zh-CN" sz="2100" dirty="0">
                  <a:solidFill>
                    <a:srgbClr val="F4F1EA"/>
                  </a:solidFill>
                  <a:latin typeface="+mn-lt"/>
                  <a:ea typeface="+mn-ea"/>
                  <a:cs typeface="+mn-cs"/>
                </a:rPr>
              </a:br>
              <a:r>
                <a:rPr lang="zh-CN" sz="2100" dirty="0">
                  <a:solidFill>
                    <a:srgbClr val="F4F1EA"/>
                  </a:solidFill>
                  <a:latin typeface="+mn-lt"/>
                  <a:ea typeface="+mn-ea"/>
                  <a:cs typeface="+mn-cs"/>
                </a:rPr>
                <a:t>编印十四册</a:t>
              </a:r>
              <a:br>
                <a:rPr lang="zh-CN" sz="2100" dirty="0">
                  <a:solidFill>
                    <a:srgbClr val="F4F1EA"/>
                  </a:solidFill>
                  <a:latin typeface="+mn-lt"/>
                  <a:ea typeface="+mn-ea"/>
                  <a:cs typeface="+mn-cs"/>
                </a:rPr>
              </a:br>
              <a:r>
                <a:rPr lang="zh-CN" sz="2100" dirty="0">
                  <a:solidFill>
                    <a:srgbClr val="F4F1EA"/>
                  </a:solidFill>
                  <a:latin typeface="+mn-lt"/>
                  <a:ea typeface="+mn-ea"/>
                  <a:cs typeface="+mn-cs"/>
                </a:rPr>
                <a:t>《全国人民讨论</a:t>
              </a:r>
              <a:br>
                <a:rPr lang="zh-CN" sz="2100" dirty="0">
                  <a:solidFill>
                    <a:srgbClr val="F4F1EA"/>
                  </a:solidFill>
                  <a:latin typeface="+mn-lt"/>
                  <a:ea typeface="+mn-ea"/>
                  <a:cs typeface="+mn-cs"/>
                </a:rPr>
              </a:br>
              <a:r>
                <a:rPr lang="zh-CN" sz="2100" dirty="0">
                  <a:solidFill>
                    <a:srgbClr val="F4F1EA"/>
                  </a:solidFill>
                  <a:latin typeface="+mn-lt"/>
                  <a:ea typeface="+mn-ea"/>
                  <a:cs typeface="+mn-cs"/>
                </a:rPr>
                <a:t>宪草意见汇编》</a:t>
              </a:r>
            </a:p>
          </p:txBody>
        </p:sp>
        <p:sp>
          <p:nvSpPr>
            <p:cNvPr id="24" name="TextBox 24"/>
            <p:cNvSpPr txBox="1"/>
            <p:nvPr/>
          </p:nvSpPr>
          <p:spPr>
            <a:xfrm>
              <a:off x="6393942" y="4978400"/>
              <a:ext cx="1285875"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许崇德在此参与</a:t>
              </a:r>
            </a:p>
          </p:txBody>
        </p:sp>
      </p:grpSp>
      <p:grpSp>
        <p:nvGrpSpPr>
          <p:cNvPr id="31" name="step-4"/>
          <p:cNvGrpSpPr/>
          <p:nvPr/>
        </p:nvGrpSpPr>
        <p:grpSpPr>
          <a:xfrm>
            <a:off x="9283446" y="1885950"/>
            <a:ext cx="2298954" cy="2906268"/>
            <a:chOff x="9283446" y="1885950"/>
            <a:chExt cx="2298954" cy="2906268"/>
          </a:xfrm>
        </p:grpSpPr>
        <p:sp>
          <p:nvSpPr>
            <p:cNvPr id="26" name="Line 26"/>
            <p:cNvSpPr/>
            <p:nvPr/>
          </p:nvSpPr>
          <p:spPr>
            <a:xfrm>
              <a:off x="9296400" y="1885950"/>
              <a:ext cx="2286000" cy="9525"/>
            </a:xfrm>
            <a:custGeom>
              <a:avLst/>
              <a:gdLst/>
              <a:ahLst/>
              <a:cxnLst/>
              <a:rect l="l" t="t" r="r" b="b"/>
              <a:pathLst>
                <a:path w="2286000" h="9525">
                  <a:moveTo>
                    <a:pt x="0" y="0"/>
                  </a:moveTo>
                  <a:lnTo>
                    <a:pt x="2286000" y="0"/>
                  </a:lnTo>
                </a:path>
              </a:pathLst>
            </a:custGeom>
            <a:noFill/>
            <a:ln w="9525">
              <a:solidFill>
                <a:srgbClr val="3A454A"/>
              </a:solidFill>
            </a:ln>
          </p:spPr>
        </p:sp>
        <p:sp>
          <p:nvSpPr>
            <p:cNvPr id="27" name="TextBox 27"/>
            <p:cNvSpPr txBox="1"/>
            <p:nvPr/>
          </p:nvSpPr>
          <p:spPr>
            <a:xfrm>
              <a:off x="9285732" y="1898650"/>
              <a:ext cx="176822"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4</a:t>
              </a:r>
            </a:p>
          </p:txBody>
        </p:sp>
        <p:sp>
          <p:nvSpPr>
            <p:cNvPr id="28" name="TextBox 28"/>
            <p:cNvSpPr txBox="1"/>
            <p:nvPr/>
          </p:nvSpPr>
          <p:spPr>
            <a:xfrm>
              <a:off x="9283446" y="2292350"/>
              <a:ext cx="1931118"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一九五四·九</a:t>
              </a:r>
            </a:p>
          </p:txBody>
        </p:sp>
        <p:sp>
          <p:nvSpPr>
            <p:cNvPr id="29" name="TextBox 29"/>
            <p:cNvSpPr txBox="1"/>
            <p:nvPr/>
          </p:nvSpPr>
          <p:spPr>
            <a:xfrm>
              <a:off x="9283446" y="2768600"/>
              <a:ext cx="1399032" cy="498729"/>
            </a:xfrm>
            <a:prstGeom prst="rect">
              <a:avLst/>
            </a:prstGeom>
            <a:noFill/>
            <a:ln>
              <a:noFill/>
            </a:ln>
          </p:spPr>
          <p:txBody>
            <a:bodyPr wrap="none" lIns="0" tIns="0" rIns="0" bIns="0" anchor="t" anchorCtr="0">
              <a:spAutoFit/>
            </a:bodyPr>
            <a:lstStyle/>
            <a:p>
              <a:pPr algn="l"/>
              <a:r>
                <a:rPr lang="zh-CN" sz="2550" dirty="0">
                  <a:solidFill>
                    <a:srgbClr val="F4F1EA"/>
                  </a:solidFill>
                  <a:latin typeface="+mn-lt"/>
                  <a:ea typeface="+mn-ea"/>
                  <a:cs typeface="+mn-cs"/>
                </a:rPr>
                <a:t>表决通过</a:t>
              </a:r>
            </a:p>
          </p:txBody>
        </p:sp>
        <p:sp>
          <p:nvSpPr>
            <p:cNvPr id="30" name="TextBox 30"/>
            <p:cNvSpPr txBox="1"/>
            <p:nvPr/>
          </p:nvSpPr>
          <p:spPr>
            <a:xfrm>
              <a:off x="9285732" y="3181350"/>
              <a:ext cx="2154936" cy="1610868"/>
            </a:xfrm>
            <a:prstGeom prst="rect">
              <a:avLst/>
            </a:prstGeom>
            <a:noFill/>
            <a:ln>
              <a:noFill/>
            </a:ln>
          </p:spPr>
          <p:txBody>
            <a:bodyPr wrap="none" lIns="0" tIns="0" rIns="0" bIns="0" anchor="t" anchorCtr="0">
              <a:spAutoFit/>
            </a:bodyPr>
            <a:lstStyle/>
            <a:p>
              <a:pPr algn="l">
                <a:lnSpc>
                  <a:spcPts val="3150"/>
                </a:lnSpc>
              </a:pPr>
              <a:r>
                <a:rPr lang="zh-CN" sz="2100" dirty="0">
                  <a:solidFill>
                    <a:srgbClr val="F4F1EA"/>
                  </a:solidFill>
                  <a:latin typeface="+mn-lt"/>
                  <a:ea typeface="+mn-ea"/>
                  <a:cs typeface="+mn-cs"/>
                </a:rPr>
                <a:t>九月二十日</a:t>
              </a:r>
              <a:br>
                <a:rPr lang="zh-CN" sz="2100" dirty="0">
                  <a:solidFill>
                    <a:srgbClr val="F4F1EA"/>
                  </a:solidFill>
                  <a:latin typeface="+mn-lt"/>
                  <a:ea typeface="+mn-ea"/>
                  <a:cs typeface="+mn-cs"/>
                </a:rPr>
              </a:br>
              <a:r>
                <a:rPr lang="zh-CN" sz="2100" dirty="0">
                  <a:solidFill>
                    <a:srgbClr val="F4F1EA"/>
                  </a:solidFill>
                  <a:latin typeface="+mn-lt"/>
                  <a:ea typeface="+mn-ea"/>
                  <a:cs typeface="+mn-cs"/>
                </a:rPr>
                <a:t>无记名投票</a:t>
              </a:r>
              <a:br>
                <a:rPr lang="zh-CN" sz="2100" dirty="0">
                  <a:solidFill>
                    <a:srgbClr val="F4F1EA"/>
                  </a:solidFill>
                  <a:latin typeface="+mn-lt"/>
                  <a:ea typeface="+mn-ea"/>
                  <a:cs typeface="+mn-cs"/>
                </a:rPr>
              </a:br>
              <a:r>
                <a:rPr lang="zh-CN" sz="2100" dirty="0">
                  <a:solidFill>
                    <a:srgbClr val="F4F1EA"/>
                  </a:solidFill>
                  <a:latin typeface="+mn-lt"/>
                  <a:ea typeface="+mn-ea"/>
                  <a:cs typeface="+mn-cs"/>
                </a:rPr>
                <a:t>一千一百九十七票</a:t>
              </a:r>
              <a:br>
                <a:rPr lang="zh-CN" sz="2100" dirty="0">
                  <a:solidFill>
                    <a:srgbClr val="F4F1EA"/>
                  </a:solidFill>
                  <a:latin typeface="+mn-lt"/>
                  <a:ea typeface="+mn-ea"/>
                  <a:cs typeface="+mn-cs"/>
                </a:rPr>
              </a:br>
              <a:r>
                <a:rPr lang="zh-CN" sz="2100" dirty="0">
                  <a:solidFill>
                    <a:srgbClr val="F4F1EA"/>
                  </a:solidFill>
                  <a:latin typeface="+mn-lt"/>
                  <a:ea typeface="+mn-ea"/>
                  <a:cs typeface="+mn-cs"/>
                </a:rPr>
                <a:t>赞成票</a:t>
              </a:r>
            </a:p>
          </p:txBody>
        </p:sp>
      </p:grpSp>
      <p:grpSp>
        <p:nvGrpSpPr>
          <p:cNvPr id="35" name="one-amendment"/>
          <p:cNvGrpSpPr/>
          <p:nvPr/>
        </p:nvGrpSpPr>
        <p:grpSpPr>
          <a:xfrm>
            <a:off x="596646" y="5429250"/>
            <a:ext cx="10985754" cy="765683"/>
            <a:chOff x="596646" y="5429250"/>
            <a:chExt cx="10985754" cy="765683"/>
          </a:xfrm>
        </p:grpSpPr>
        <p:sp>
          <p:nvSpPr>
            <p:cNvPr id="32" name="Line 32"/>
            <p:cNvSpPr/>
            <p:nvPr/>
          </p:nvSpPr>
          <p:spPr>
            <a:xfrm>
              <a:off x="609600" y="5429250"/>
              <a:ext cx="10972800" cy="9525"/>
            </a:xfrm>
            <a:custGeom>
              <a:avLst/>
              <a:gdLst/>
              <a:ahLst/>
              <a:cxnLst/>
              <a:rect l="l" t="t" r="r" b="b"/>
              <a:pathLst>
                <a:path w="10972800" h="9525">
                  <a:moveTo>
                    <a:pt x="0" y="0"/>
                  </a:moveTo>
                  <a:lnTo>
                    <a:pt x="10972800" y="0"/>
                  </a:lnTo>
                </a:path>
              </a:pathLst>
            </a:custGeom>
            <a:noFill/>
            <a:ln w="9525">
              <a:solidFill>
                <a:srgbClr val="3A454A"/>
              </a:solidFill>
            </a:ln>
          </p:spPr>
        </p:sp>
        <p:sp>
          <p:nvSpPr>
            <p:cNvPr id="33" name="TextBox 33"/>
            <p:cNvSpPr txBox="1"/>
            <p:nvPr/>
          </p:nvSpPr>
          <p:spPr>
            <a:xfrm>
              <a:off x="596646" y="5454650"/>
              <a:ext cx="7234809"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一处具体修改：从「发展」补为「使用和发展」</a:t>
              </a:r>
            </a:p>
          </p:txBody>
        </p:sp>
        <p:sp>
          <p:nvSpPr>
            <p:cNvPr id="34" name="TextBox 34"/>
            <p:cNvSpPr txBox="1"/>
            <p:nvPr/>
          </p:nvSpPr>
          <p:spPr>
            <a:xfrm>
              <a:off x="602742" y="5930900"/>
              <a:ext cx="5829300"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一九五四年宪法序言：以《共同纲领》为基础，又是《共同纲领》的发展</a:t>
              </a:r>
            </a:p>
          </p:txBody>
        </p:sp>
      </p:grpSp>
      <p:sp>
        <p:nvSpPr>
          <p:cNvPr id="36" name="TextBox 36"/>
          <p:cNvSpPr txBox="1"/>
          <p:nvPr/>
        </p:nvSpPr>
        <p:spPr>
          <a:xfrm>
            <a:off x="604266" y="6502400"/>
            <a:ext cx="4420819" cy="205359"/>
          </a:xfrm>
          <a:prstGeom prst="rect">
            <a:avLst/>
          </a:prstGeom>
          <a:noFill/>
          <a:ln>
            <a:noFill/>
          </a:ln>
        </p:spPr>
        <p:txBody>
          <a:bodyPr wrap="none" lIns="0" tIns="0" rIns="0" bIns="0" anchor="t" anchorCtr="0">
            <a:spAutoFit/>
          </a:bodyPr>
          <a:lstStyle/>
          <a:p>
            <a:pPr algn="l"/>
            <a:r>
              <a:rPr lang="zh-CN" sz="1050" dirty="0">
                <a:solidFill>
                  <a:srgbClr val="B8C4C8"/>
                </a:solidFill>
                <a:latin typeface="+mn-lt"/>
                <a:ea typeface="+mn-ea"/>
                <a:cs typeface="+mn-cs"/>
              </a:rPr>
              <a:t>材料：许崇德记述、《全国人民讨论宪草意见汇编》、1954年宪法序言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350"/>
                                        <p:tgtEl>
                                          <p:spTgt spid="18"/>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350"/>
                                        <p:tgtEl>
                                          <p:spTgt spid="25"/>
                                        </p:tgtEl>
                                      </p:cBhvr>
                                    </p:animEffect>
                                  </p:childTnLst>
                                </p:cTn>
                              </p:par>
                            </p:childTnLst>
                          </p:cTn>
                        </p:par>
                      </p:childTnLst>
                    </p:cTn>
                  </p:par>
                  <p:par>
                    <p:cTn id="13" fill="hold">
                      <p:stCondLst>
                        <p:cond delay="indefinite"/>
                      </p:stCondLst>
                      <p:childTnLst>
                        <p:par>
                          <p:cTn id="14" fill="hold">
                            <p:stCondLst>
                              <p:cond delay="0"/>
                            </p:stCondLst>
                            <p:childTnLst>
                              <p:par>
                                <p:cTn xmlns:p="http://schemas.openxmlformats.org/presentationml/2006/main" id="15" presetID="10"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350"/>
                                        <p:tgtEl>
                                          <p:spTgt spid="31"/>
                                        </p:tgtEl>
                                      </p:cBhvr>
                                    </p:animEffect>
                                  </p:childTnLst>
                                </p:cTn>
                              </p:par>
                            </p:childTnLst>
                          </p:cTn>
                        </p:par>
                      </p:childTnLst>
                    </p:cTn>
                  </p:par>
                  <p:par>
                    <p:cTn id="18" fill="hold">
                      <p:stCondLst>
                        <p:cond delay="indefinite"/>
                      </p:stCondLst>
                      <p:childTnLst>
                        <p:par>
                          <p:cTn id="19" fill="hold">
                            <p:stCondLst>
                              <p:cond delay="0"/>
                            </p:stCondLst>
                            <p:childTnLst>
                              <p:par>
                                <p:cTn xmlns:p="http://schemas.openxmlformats.org/presentationml/2006/main" id="20" presetID="10" presetClass="entr" presetSubtype="0" fill="hold" grpId="0"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3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05 / 36</a:t>
              </a:r>
            </a:p>
          </p:txBody>
        </p:sp>
      </p:grpSp>
      <p:grpSp>
        <p:nvGrpSpPr>
          <p:cNvPr id="6" name="page-title"/>
          <p:cNvGrpSpPr/>
          <p:nvPr/>
        </p:nvGrpSpPr>
        <p:grpSpPr>
          <a:xfrm>
            <a:off x="590550" y="904875"/>
            <a:ext cx="5798820" cy="790575"/>
            <a:chOff x="590550" y="904875"/>
            <a:chExt cx="5798820" cy="790575"/>
          </a:xfrm>
        </p:grpSpPr>
        <p:sp>
          <p:nvSpPr>
            <p:cNvPr id="5" name="TextBox 5"/>
            <p:cNvSpPr txBox="1"/>
            <p:nvPr/>
          </p:nvSpPr>
          <p:spPr>
            <a:xfrm>
              <a:off x="590550" y="904875"/>
              <a:ext cx="5798820"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一本宪法里有哪些部分</a:t>
              </a:r>
            </a:p>
          </p:txBody>
        </p:sp>
      </p:grpSp>
      <p:grpSp>
        <p:nvGrpSpPr>
          <p:cNvPr id="10" name="structure-band"/>
          <p:cNvGrpSpPr/>
          <p:nvPr/>
        </p:nvGrpSpPr>
        <p:grpSpPr>
          <a:xfrm>
            <a:off x="609600" y="1885950"/>
            <a:ext cx="10972800" cy="947293"/>
            <a:chOff x="609600" y="1885950"/>
            <a:chExt cx="10972800" cy="947293"/>
          </a:xfrm>
        </p:grpSpPr>
        <p:sp>
          <p:nvSpPr>
            <p:cNvPr id="7" name="Rectangle 7"/>
            <p:cNvSpPr/>
            <p:nvPr/>
          </p:nvSpPr>
          <p:spPr>
            <a:xfrm>
              <a:off x="609600" y="1885950"/>
              <a:ext cx="10972800" cy="876300"/>
            </a:xfrm>
            <a:prstGeom prst="rect">
              <a:avLst/>
            </a:prstGeom>
            <a:solidFill>
              <a:schemeClr val="accent1"/>
            </a:solidFill>
            <a:ln>
              <a:noFill/>
            </a:ln>
          </p:spPr>
        </p:sp>
        <p:sp>
          <p:nvSpPr>
            <p:cNvPr id="8" name="TextBox 8"/>
            <p:cNvSpPr txBox="1"/>
            <p:nvPr/>
          </p:nvSpPr>
          <p:spPr>
            <a:xfrm>
              <a:off x="825246" y="1987550"/>
              <a:ext cx="6204966"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序言不是目录，它自己也是宪法的一部分</a:t>
              </a:r>
            </a:p>
          </p:txBody>
        </p:sp>
        <p:sp>
          <p:nvSpPr>
            <p:cNvPr id="9" name="TextBox 9"/>
            <p:cNvSpPr txBox="1"/>
            <p:nvPr/>
          </p:nvSpPr>
          <p:spPr>
            <a:xfrm>
              <a:off x="827532" y="2422525"/>
              <a:ext cx="6523482"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读宪法先认得它自己的结构：序言＋第一章至第四章</a:t>
              </a:r>
            </a:p>
          </p:txBody>
        </p:sp>
      </p:grpSp>
      <p:grpSp>
        <p:nvGrpSpPr>
          <p:cNvPr id="14" name="preamble-column"/>
          <p:cNvGrpSpPr/>
          <p:nvPr/>
        </p:nvGrpSpPr>
        <p:grpSpPr>
          <a:xfrm>
            <a:off x="596646" y="2990850"/>
            <a:ext cx="1719834" cy="2163318"/>
            <a:chOff x="596646" y="2990850"/>
            <a:chExt cx="1719834" cy="2163318"/>
          </a:xfrm>
        </p:grpSpPr>
        <p:sp>
          <p:nvSpPr>
            <p:cNvPr id="11" name="Line 11"/>
            <p:cNvSpPr/>
            <p:nvPr/>
          </p:nvSpPr>
          <p:spPr>
            <a:xfrm>
              <a:off x="609600" y="2990850"/>
              <a:ext cx="1706880" cy="9525"/>
            </a:xfrm>
            <a:custGeom>
              <a:avLst/>
              <a:gdLst/>
              <a:ahLst/>
              <a:cxnLst/>
              <a:rect l="l" t="t" r="r" b="b"/>
              <a:pathLst>
                <a:path w="1706880" h="9525">
                  <a:moveTo>
                    <a:pt x="0" y="0"/>
                  </a:moveTo>
                  <a:lnTo>
                    <a:pt x="1706880" y="0"/>
                  </a:lnTo>
                </a:path>
              </a:pathLst>
            </a:custGeom>
            <a:noFill/>
            <a:ln w="9525">
              <a:solidFill>
                <a:srgbClr val="CDC8BE"/>
              </a:solidFill>
            </a:ln>
          </p:spPr>
        </p:sp>
        <p:sp>
          <p:nvSpPr>
            <p:cNvPr id="12" name="TextBox 12"/>
            <p:cNvSpPr txBox="1"/>
            <p:nvPr/>
          </p:nvSpPr>
          <p:spPr>
            <a:xfrm>
              <a:off x="596646" y="3130550"/>
              <a:ext cx="71247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序言</a:t>
              </a:r>
            </a:p>
          </p:txBody>
        </p:sp>
        <p:sp>
          <p:nvSpPr>
            <p:cNvPr id="13" name="TextBox 13"/>
            <p:cNvSpPr txBox="1"/>
            <p:nvPr/>
          </p:nvSpPr>
          <p:spPr>
            <a:xfrm>
              <a:off x="598932" y="3543300"/>
              <a:ext cx="1621536" cy="16108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重要历史</a:t>
              </a:r>
              <a:br>
                <a:rPr lang="zh-CN" sz="2100" dirty="0">
                  <a:solidFill>
                    <a:schemeClr val="dk1"/>
                  </a:solidFill>
                  <a:latin typeface="+mn-lt"/>
                  <a:ea typeface="+mn-ea"/>
                  <a:cs typeface="+mn-cs"/>
                </a:rPr>
              </a:br>
              <a:r>
                <a:rPr lang="zh-CN" sz="2100" dirty="0">
                  <a:solidFill>
                    <a:schemeClr val="dk1"/>
                  </a:solidFill>
                  <a:latin typeface="+mn-lt"/>
                  <a:ea typeface="+mn-ea"/>
                  <a:cs typeface="+mn-cs"/>
                </a:rPr>
                <a:t>指导思想与</a:t>
              </a:r>
              <a:br>
                <a:rPr lang="zh-CN" sz="2100" dirty="0">
                  <a:solidFill>
                    <a:schemeClr val="dk1"/>
                  </a:solidFill>
                  <a:latin typeface="+mn-lt"/>
                  <a:ea typeface="+mn-ea"/>
                  <a:cs typeface="+mn-cs"/>
                </a:rPr>
              </a:br>
              <a:r>
                <a:rPr lang="zh-CN" sz="2100" dirty="0">
                  <a:solidFill>
                    <a:schemeClr val="dk1"/>
                  </a:solidFill>
                  <a:latin typeface="+mn-lt"/>
                  <a:ea typeface="+mn-ea"/>
                  <a:cs typeface="+mn-cs"/>
                </a:rPr>
                <a:t>根本任务</a:t>
              </a:r>
              <a:br>
                <a:rPr lang="zh-CN" sz="2100" dirty="0">
                  <a:solidFill>
                    <a:schemeClr val="dk1"/>
                  </a:solidFill>
                  <a:latin typeface="+mn-lt"/>
                  <a:ea typeface="+mn-ea"/>
                  <a:cs typeface="+mn-cs"/>
                </a:rPr>
              </a:br>
              <a:r>
                <a:rPr lang="zh-CN" sz="2100" dirty="0">
                  <a:solidFill>
                    <a:schemeClr val="dk1"/>
                  </a:solidFill>
                  <a:latin typeface="+mn-lt"/>
                  <a:ea typeface="+mn-ea"/>
                  <a:cs typeface="+mn-cs"/>
                </a:rPr>
                <a:t>宪法自身地位</a:t>
              </a:r>
            </a:p>
          </p:txBody>
        </p:sp>
      </p:grpSp>
      <p:grpSp>
        <p:nvGrpSpPr>
          <p:cNvPr id="27" name="chapter-columns"/>
          <p:cNvGrpSpPr/>
          <p:nvPr/>
        </p:nvGrpSpPr>
        <p:grpSpPr>
          <a:xfrm>
            <a:off x="2913126" y="2990850"/>
            <a:ext cx="8669274" cy="2163318"/>
            <a:chOff x="2913126" y="2990850"/>
            <a:chExt cx="8669274" cy="2163318"/>
          </a:xfrm>
        </p:grpSpPr>
        <p:sp>
          <p:nvSpPr>
            <p:cNvPr id="15" name="Line 15"/>
            <p:cNvSpPr/>
            <p:nvPr/>
          </p:nvSpPr>
          <p:spPr>
            <a:xfrm>
              <a:off x="2926080" y="2990850"/>
              <a:ext cx="1706880" cy="9525"/>
            </a:xfrm>
            <a:custGeom>
              <a:avLst/>
              <a:gdLst/>
              <a:ahLst/>
              <a:cxnLst/>
              <a:rect l="l" t="t" r="r" b="b"/>
              <a:pathLst>
                <a:path w="1706880" h="9525">
                  <a:moveTo>
                    <a:pt x="0" y="0"/>
                  </a:moveTo>
                  <a:lnTo>
                    <a:pt x="1706880" y="0"/>
                  </a:lnTo>
                </a:path>
              </a:pathLst>
            </a:custGeom>
            <a:noFill/>
            <a:ln w="9525">
              <a:solidFill>
                <a:srgbClr val="CDC8BE"/>
              </a:solidFill>
            </a:ln>
          </p:spPr>
        </p:sp>
        <p:sp>
          <p:nvSpPr>
            <p:cNvPr id="16" name="TextBox 16"/>
            <p:cNvSpPr txBox="1"/>
            <p:nvPr/>
          </p:nvSpPr>
          <p:spPr>
            <a:xfrm>
              <a:off x="2913126" y="3130550"/>
              <a:ext cx="1055751"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第一章</a:t>
              </a:r>
            </a:p>
          </p:txBody>
        </p:sp>
        <p:sp>
          <p:nvSpPr>
            <p:cNvPr id="17" name="TextBox 17"/>
            <p:cNvSpPr txBox="1"/>
            <p:nvPr/>
          </p:nvSpPr>
          <p:spPr>
            <a:xfrm>
              <a:off x="2915412" y="3543300"/>
              <a:ext cx="1354836" cy="16108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总纲</a:t>
              </a:r>
              <a:br>
                <a:rPr lang="zh-CN" sz="2100" dirty="0">
                  <a:solidFill>
                    <a:schemeClr val="dk1"/>
                  </a:solidFill>
                  <a:latin typeface="+mn-lt"/>
                  <a:ea typeface="+mn-ea"/>
                  <a:cs typeface="+mn-cs"/>
                </a:rPr>
              </a:br>
              <a:r>
                <a:rPr lang="zh-CN" sz="2100" dirty="0">
                  <a:solidFill>
                    <a:schemeClr val="dk1"/>
                  </a:solidFill>
                  <a:latin typeface="+mn-lt"/>
                  <a:ea typeface="+mn-ea"/>
                  <a:cs typeface="+mn-cs"/>
                </a:rPr>
                <a:t>国家性质</a:t>
              </a:r>
              <a:br>
                <a:rPr lang="zh-CN" sz="2100" dirty="0">
                  <a:solidFill>
                    <a:schemeClr val="dk1"/>
                  </a:solidFill>
                  <a:latin typeface="+mn-lt"/>
                  <a:ea typeface="+mn-ea"/>
                  <a:cs typeface="+mn-cs"/>
                </a:rPr>
              </a:br>
              <a:r>
                <a:rPr lang="zh-CN" sz="2100" dirty="0">
                  <a:solidFill>
                    <a:schemeClr val="dk1"/>
                  </a:solidFill>
                  <a:latin typeface="+mn-lt"/>
                  <a:ea typeface="+mn-ea"/>
                  <a:cs typeface="+mn-cs"/>
                </a:rPr>
                <a:t>根本制度</a:t>
              </a:r>
              <a:br>
                <a:rPr lang="zh-CN" sz="2100" dirty="0">
                  <a:solidFill>
                    <a:schemeClr val="dk1"/>
                  </a:solidFill>
                  <a:latin typeface="+mn-lt"/>
                  <a:ea typeface="+mn-ea"/>
                  <a:cs typeface="+mn-cs"/>
                </a:rPr>
              </a:br>
              <a:r>
                <a:rPr lang="zh-CN" sz="2100" dirty="0">
                  <a:solidFill>
                    <a:schemeClr val="dk1"/>
                  </a:solidFill>
                  <a:latin typeface="+mn-lt"/>
                  <a:ea typeface="+mn-ea"/>
                  <a:cs typeface="+mn-cs"/>
                </a:rPr>
                <a:t>各领域制度</a:t>
              </a:r>
            </a:p>
          </p:txBody>
        </p:sp>
        <p:sp>
          <p:nvSpPr>
            <p:cNvPr id="18" name="Line 18"/>
            <p:cNvSpPr/>
            <p:nvPr/>
          </p:nvSpPr>
          <p:spPr>
            <a:xfrm>
              <a:off x="5242560" y="2990850"/>
              <a:ext cx="1706880" cy="9525"/>
            </a:xfrm>
            <a:custGeom>
              <a:avLst/>
              <a:gdLst/>
              <a:ahLst/>
              <a:cxnLst/>
              <a:rect l="l" t="t" r="r" b="b"/>
              <a:pathLst>
                <a:path w="1706880" h="9525">
                  <a:moveTo>
                    <a:pt x="0" y="0"/>
                  </a:moveTo>
                  <a:lnTo>
                    <a:pt x="1706880" y="0"/>
                  </a:lnTo>
                </a:path>
              </a:pathLst>
            </a:custGeom>
            <a:noFill/>
            <a:ln w="9525">
              <a:solidFill>
                <a:srgbClr val="CDC8BE"/>
              </a:solidFill>
            </a:ln>
          </p:spPr>
        </p:sp>
        <p:sp>
          <p:nvSpPr>
            <p:cNvPr id="19" name="TextBox 19"/>
            <p:cNvSpPr txBox="1"/>
            <p:nvPr/>
          </p:nvSpPr>
          <p:spPr>
            <a:xfrm>
              <a:off x="5229606" y="3130550"/>
              <a:ext cx="1055751"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第二章</a:t>
              </a:r>
            </a:p>
          </p:txBody>
        </p:sp>
        <p:sp>
          <p:nvSpPr>
            <p:cNvPr id="20" name="TextBox 20"/>
            <p:cNvSpPr txBox="1"/>
            <p:nvPr/>
          </p:nvSpPr>
          <p:spPr>
            <a:xfrm>
              <a:off x="5231892" y="3543300"/>
              <a:ext cx="13548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公民的基本</a:t>
              </a:r>
              <a:br>
                <a:rPr lang="zh-CN" sz="2100" dirty="0">
                  <a:solidFill>
                    <a:schemeClr val="dk1"/>
                  </a:solidFill>
                  <a:latin typeface="+mn-lt"/>
                  <a:ea typeface="+mn-ea"/>
                  <a:cs typeface="+mn-cs"/>
                </a:rPr>
              </a:br>
              <a:r>
                <a:rPr lang="zh-CN" sz="2100" dirty="0">
                  <a:solidFill>
                    <a:schemeClr val="dk1"/>
                  </a:solidFill>
                  <a:latin typeface="+mn-lt"/>
                  <a:ea typeface="+mn-ea"/>
                  <a:cs typeface="+mn-cs"/>
                </a:rPr>
                <a:t>权利和义务</a:t>
              </a:r>
            </a:p>
          </p:txBody>
        </p:sp>
        <p:sp>
          <p:nvSpPr>
            <p:cNvPr id="21" name="Line 21"/>
            <p:cNvSpPr/>
            <p:nvPr/>
          </p:nvSpPr>
          <p:spPr>
            <a:xfrm>
              <a:off x="7559040" y="2990850"/>
              <a:ext cx="1706880" cy="9525"/>
            </a:xfrm>
            <a:custGeom>
              <a:avLst/>
              <a:gdLst/>
              <a:ahLst/>
              <a:cxnLst/>
              <a:rect l="l" t="t" r="r" b="b"/>
              <a:pathLst>
                <a:path w="1706880" h="9525">
                  <a:moveTo>
                    <a:pt x="0" y="0"/>
                  </a:moveTo>
                  <a:lnTo>
                    <a:pt x="1706880" y="0"/>
                  </a:lnTo>
                </a:path>
              </a:pathLst>
            </a:custGeom>
            <a:noFill/>
            <a:ln w="9525">
              <a:solidFill>
                <a:srgbClr val="CDC8BE"/>
              </a:solidFill>
            </a:ln>
          </p:spPr>
        </p:sp>
        <p:sp>
          <p:nvSpPr>
            <p:cNvPr id="22" name="TextBox 22"/>
            <p:cNvSpPr txBox="1"/>
            <p:nvPr/>
          </p:nvSpPr>
          <p:spPr>
            <a:xfrm>
              <a:off x="7546086" y="3130550"/>
              <a:ext cx="1055751"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第三章</a:t>
              </a:r>
            </a:p>
          </p:txBody>
        </p:sp>
        <p:sp>
          <p:nvSpPr>
            <p:cNvPr id="23" name="TextBox 23"/>
            <p:cNvSpPr txBox="1"/>
            <p:nvPr/>
          </p:nvSpPr>
          <p:spPr>
            <a:xfrm>
              <a:off x="7548372" y="3594100"/>
              <a:ext cx="115214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国家机构</a:t>
              </a:r>
            </a:p>
          </p:txBody>
        </p:sp>
        <p:sp>
          <p:nvSpPr>
            <p:cNvPr id="24" name="Line 24"/>
            <p:cNvSpPr/>
            <p:nvPr/>
          </p:nvSpPr>
          <p:spPr>
            <a:xfrm>
              <a:off x="9875520" y="2990850"/>
              <a:ext cx="1706880" cy="9525"/>
            </a:xfrm>
            <a:custGeom>
              <a:avLst/>
              <a:gdLst/>
              <a:ahLst/>
              <a:cxnLst/>
              <a:rect l="l" t="t" r="r" b="b"/>
              <a:pathLst>
                <a:path w="1706880" h="9525">
                  <a:moveTo>
                    <a:pt x="0" y="0"/>
                  </a:moveTo>
                  <a:lnTo>
                    <a:pt x="1706880" y="0"/>
                  </a:lnTo>
                </a:path>
              </a:pathLst>
            </a:custGeom>
            <a:noFill/>
            <a:ln w="9525">
              <a:solidFill>
                <a:srgbClr val="CDC8BE"/>
              </a:solidFill>
            </a:ln>
          </p:spPr>
        </p:sp>
        <p:sp>
          <p:nvSpPr>
            <p:cNvPr id="25" name="TextBox 25"/>
            <p:cNvSpPr txBox="1"/>
            <p:nvPr/>
          </p:nvSpPr>
          <p:spPr>
            <a:xfrm>
              <a:off x="9862566" y="3130550"/>
              <a:ext cx="1055751"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第四章</a:t>
              </a:r>
            </a:p>
          </p:txBody>
        </p:sp>
        <p:sp>
          <p:nvSpPr>
            <p:cNvPr id="26" name="TextBox 26"/>
            <p:cNvSpPr txBox="1"/>
            <p:nvPr/>
          </p:nvSpPr>
          <p:spPr>
            <a:xfrm>
              <a:off x="9864852" y="3543300"/>
              <a:ext cx="116814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国旗 国歌</a:t>
              </a:r>
              <a:br>
                <a:rPr lang="zh-CN" sz="2100" dirty="0">
                  <a:solidFill>
                    <a:schemeClr val="dk1"/>
                  </a:solidFill>
                  <a:latin typeface="+mn-lt"/>
                  <a:ea typeface="+mn-ea"/>
                  <a:cs typeface="+mn-cs"/>
                </a:rPr>
              </a:br>
              <a:r>
                <a:rPr lang="zh-CN" sz="2100" dirty="0">
                  <a:solidFill>
                    <a:schemeClr val="dk1"/>
                  </a:solidFill>
                  <a:latin typeface="+mn-lt"/>
                  <a:ea typeface="+mn-ea"/>
                  <a:cs typeface="+mn-cs"/>
                </a:rPr>
                <a:t>国徽 首都</a:t>
              </a:r>
            </a:p>
          </p:txBody>
        </p:sp>
      </p:grpSp>
      <p:sp>
        <p:nvSpPr>
          <p:cNvPr id="28" name="TextBox 28"/>
          <p:cNvSpPr txBox="1"/>
          <p:nvPr/>
        </p:nvSpPr>
        <p:spPr>
          <a:xfrm>
            <a:off x="604266" y="6502400"/>
            <a:ext cx="2774080"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宪法序言及第一章至第四章·现行文本结构。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3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上节 06 / 36</a:t>
              </a:r>
            </a:p>
          </p:txBody>
        </p:sp>
      </p:grpSp>
      <p:grpSp>
        <p:nvGrpSpPr>
          <p:cNvPr id="6" name="page-title"/>
          <p:cNvGrpSpPr/>
          <p:nvPr/>
        </p:nvGrpSpPr>
        <p:grpSpPr>
          <a:xfrm>
            <a:off x="590550" y="904875"/>
            <a:ext cx="2918460" cy="790575"/>
            <a:chOff x="590550" y="904875"/>
            <a:chExt cx="2918460" cy="790575"/>
          </a:xfrm>
        </p:grpSpPr>
        <p:sp>
          <p:nvSpPr>
            <p:cNvPr id="5" name="TextBox 5"/>
            <p:cNvSpPr txBox="1"/>
            <p:nvPr/>
          </p:nvSpPr>
          <p:spPr>
            <a:xfrm>
              <a:off x="590550" y="904875"/>
              <a:ext cx="2918460" cy="790575"/>
            </a:xfrm>
            <a:prstGeom prst="rect">
              <a:avLst/>
            </a:prstGeom>
            <a:noFill/>
            <a:ln>
              <a:noFill/>
            </a:ln>
          </p:spPr>
          <p:txBody>
            <a:bodyPr wrap="none" lIns="0" tIns="0" rIns="0" bIns="0" anchor="t" anchorCtr="0">
              <a:spAutoFit/>
            </a:bodyPr>
            <a:lstStyle/>
            <a:p>
              <a:pPr algn="l"/>
              <a:r>
                <a:rPr lang="zh-CN" sz="4050" dirty="0">
                  <a:solidFill>
                    <a:srgbClr val="F4F1EA"/>
                  </a:solidFill>
                  <a:latin typeface="+mj-lt"/>
                  <a:ea typeface="+mj-ea"/>
                  <a:cs typeface="+mj-cs"/>
                </a:rPr>
                <a:t>权力与权利</a:t>
              </a:r>
            </a:p>
          </p:txBody>
        </p:sp>
      </p:grpSp>
      <p:grpSp>
        <p:nvGrpSpPr>
          <p:cNvPr id="14" name="power-and-right"/>
          <p:cNvGrpSpPr/>
          <p:nvPr/>
        </p:nvGrpSpPr>
        <p:grpSpPr>
          <a:xfrm>
            <a:off x="595122" y="1885950"/>
            <a:ext cx="9283446" cy="2689733"/>
            <a:chOff x="595122" y="1885950"/>
            <a:chExt cx="9283446" cy="2689733"/>
          </a:xfrm>
        </p:grpSpPr>
        <p:sp>
          <p:nvSpPr>
            <p:cNvPr id="7" name="Line 7"/>
            <p:cNvSpPr/>
            <p:nvPr/>
          </p:nvSpPr>
          <p:spPr>
            <a:xfrm>
              <a:off x="609600" y="1885950"/>
              <a:ext cx="5181600" cy="9525"/>
            </a:xfrm>
            <a:custGeom>
              <a:avLst/>
              <a:gdLst/>
              <a:ahLst/>
              <a:cxnLst/>
              <a:rect l="l" t="t" r="r" b="b"/>
              <a:pathLst>
                <a:path w="5181600" h="9525">
                  <a:moveTo>
                    <a:pt x="0" y="0"/>
                  </a:moveTo>
                  <a:lnTo>
                    <a:pt x="5181600" y="0"/>
                  </a:lnTo>
                </a:path>
              </a:pathLst>
            </a:custGeom>
            <a:noFill/>
            <a:ln w="9525">
              <a:solidFill>
                <a:srgbClr val="3A454A"/>
              </a:solidFill>
            </a:ln>
          </p:spPr>
        </p:sp>
        <p:sp>
          <p:nvSpPr>
            <p:cNvPr id="8" name="TextBox 8"/>
            <p:cNvSpPr txBox="1"/>
            <p:nvPr/>
          </p:nvSpPr>
          <p:spPr>
            <a:xfrm>
              <a:off x="595122" y="2038350"/>
              <a:ext cx="2714625" cy="557403"/>
            </a:xfrm>
            <a:prstGeom prst="rect">
              <a:avLst/>
            </a:prstGeom>
            <a:noFill/>
            <a:ln>
              <a:noFill/>
            </a:ln>
          </p:spPr>
          <p:txBody>
            <a:bodyPr wrap="none" lIns="0" tIns="0" rIns="0" bIns="0" anchor="t" anchorCtr="0">
              <a:spAutoFit/>
            </a:bodyPr>
            <a:lstStyle/>
            <a:p>
              <a:pPr algn="l"/>
              <a:r>
                <a:rPr lang="zh-CN" sz="2850" dirty="0">
                  <a:solidFill>
                    <a:schemeClr val="accent3"/>
                  </a:solidFill>
                  <a:latin typeface="+mn-lt"/>
                  <a:ea typeface="+mn-ea"/>
                  <a:cs typeface="+mn-cs"/>
                </a:rPr>
                <a:t>国家的「权力」</a:t>
              </a:r>
            </a:p>
          </p:txBody>
        </p:sp>
        <p:sp>
          <p:nvSpPr>
            <p:cNvPr id="9" name="TextBox 9"/>
            <p:cNvSpPr txBox="1"/>
            <p:nvPr/>
          </p:nvSpPr>
          <p:spPr>
            <a:xfrm>
              <a:off x="598932" y="2609850"/>
              <a:ext cx="3755136" cy="1210818"/>
            </a:xfrm>
            <a:prstGeom prst="rect">
              <a:avLst/>
            </a:prstGeom>
            <a:noFill/>
            <a:ln>
              <a:noFill/>
            </a:ln>
          </p:spPr>
          <p:txBody>
            <a:bodyPr wrap="none" lIns="0" tIns="0" rIns="0" bIns="0" anchor="t" anchorCtr="0">
              <a:spAutoFit/>
            </a:bodyPr>
            <a:lstStyle/>
            <a:p>
              <a:pPr algn="l">
                <a:lnSpc>
                  <a:spcPts val="3150"/>
                </a:lnSpc>
              </a:pPr>
              <a:r>
                <a:rPr lang="zh-CN" sz="2100" dirty="0">
                  <a:solidFill>
                    <a:srgbClr val="F4F1EA"/>
                  </a:solidFill>
                  <a:latin typeface="+mn-lt"/>
                  <a:ea typeface="+mn-ea"/>
                  <a:cs typeface="+mn-cs"/>
                </a:rPr>
                <a:t>机关能够对人作出什么决定</a:t>
              </a:r>
              <a:br>
                <a:rPr lang="zh-CN" sz="2100" dirty="0">
                  <a:solidFill>
                    <a:srgbClr val="F4F1EA"/>
                  </a:solidFill>
                  <a:latin typeface="+mn-lt"/>
                  <a:ea typeface="+mn-ea"/>
                  <a:cs typeface="+mn-cs"/>
                </a:rPr>
              </a:br>
              <a:r>
                <a:rPr lang="zh-CN" sz="2100" dirty="0">
                  <a:solidFill>
                    <a:srgbClr val="F4F1EA"/>
                  </a:solidFill>
                  <a:latin typeface="+mn-lt"/>
                  <a:ea typeface="+mn-ea"/>
                  <a:cs typeface="+mn-cs"/>
                </a:rPr>
                <a:t>以机关身份作出，有法律约束力</a:t>
              </a:r>
              <a:br>
                <a:rPr lang="zh-CN" sz="2100" dirty="0">
                  <a:solidFill>
                    <a:srgbClr val="F4F1EA"/>
                  </a:solidFill>
                  <a:latin typeface="+mn-lt"/>
                  <a:ea typeface="+mn-ea"/>
                  <a:cs typeface="+mn-cs"/>
                </a:rPr>
              </a:br>
              <a:r>
                <a:rPr lang="zh-CN" sz="2100" dirty="0">
                  <a:solidFill>
                    <a:srgbClr val="F4F1EA"/>
                  </a:solidFill>
                  <a:latin typeface="+mn-lt"/>
                  <a:ea typeface="+mn-ea"/>
                  <a:cs typeface="+mn-cs"/>
                </a:rPr>
                <a:t>职权来自法律的授予</a:t>
              </a:r>
            </a:p>
          </p:txBody>
        </p:sp>
        <p:sp>
          <p:nvSpPr>
            <p:cNvPr id="10" name="TextBox 10"/>
            <p:cNvSpPr txBox="1"/>
            <p:nvPr/>
          </p:nvSpPr>
          <p:spPr>
            <a:xfrm>
              <a:off x="602742" y="4311650"/>
              <a:ext cx="4738878"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法律把某项职权交给一个机关，是让它以机关身份作出决定</a:t>
              </a:r>
            </a:p>
          </p:txBody>
        </p:sp>
        <p:sp>
          <p:nvSpPr>
            <p:cNvPr id="11" name="TextBox 11"/>
            <p:cNvSpPr txBox="1"/>
            <p:nvPr/>
          </p:nvSpPr>
          <p:spPr>
            <a:xfrm>
              <a:off x="6386322" y="2038350"/>
              <a:ext cx="2714625" cy="557403"/>
            </a:xfrm>
            <a:prstGeom prst="rect">
              <a:avLst/>
            </a:prstGeom>
            <a:noFill/>
            <a:ln>
              <a:noFill/>
            </a:ln>
          </p:spPr>
          <p:txBody>
            <a:bodyPr wrap="none" lIns="0" tIns="0" rIns="0" bIns="0" anchor="t" anchorCtr="0">
              <a:spAutoFit/>
            </a:bodyPr>
            <a:lstStyle/>
            <a:p>
              <a:pPr algn="l"/>
              <a:r>
                <a:rPr lang="zh-CN" sz="2850" dirty="0">
                  <a:solidFill>
                    <a:schemeClr val="accent3"/>
                  </a:solidFill>
                  <a:latin typeface="+mn-lt"/>
                  <a:ea typeface="+mn-ea"/>
                  <a:cs typeface="+mn-cs"/>
                </a:rPr>
                <a:t>公民的「权利」</a:t>
              </a:r>
            </a:p>
          </p:txBody>
        </p:sp>
        <p:sp>
          <p:nvSpPr>
            <p:cNvPr id="12" name="TextBox 12"/>
            <p:cNvSpPr txBox="1"/>
            <p:nvPr/>
          </p:nvSpPr>
          <p:spPr>
            <a:xfrm>
              <a:off x="6390132" y="2609850"/>
              <a:ext cx="3488436" cy="1210818"/>
            </a:xfrm>
            <a:prstGeom prst="rect">
              <a:avLst/>
            </a:prstGeom>
            <a:noFill/>
            <a:ln>
              <a:noFill/>
            </a:ln>
          </p:spPr>
          <p:txBody>
            <a:bodyPr wrap="none" lIns="0" tIns="0" rIns="0" bIns="0" anchor="t" anchorCtr="0">
              <a:spAutoFit/>
            </a:bodyPr>
            <a:lstStyle/>
            <a:p>
              <a:pPr algn="l">
                <a:lnSpc>
                  <a:spcPts val="3150"/>
                </a:lnSpc>
              </a:pPr>
              <a:r>
                <a:rPr lang="zh-CN" sz="2100" dirty="0">
                  <a:solidFill>
                    <a:srgbClr val="F4F1EA"/>
                  </a:solidFill>
                  <a:latin typeface="+mn-lt"/>
                  <a:ea typeface="+mn-ea"/>
                  <a:cs typeface="+mn-cs"/>
                </a:rPr>
                <a:t>一个人应当受到怎样的保障</a:t>
              </a:r>
              <a:br>
                <a:rPr lang="zh-CN" sz="2100" dirty="0">
                  <a:solidFill>
                    <a:srgbClr val="F4F1EA"/>
                  </a:solidFill>
                  <a:latin typeface="+mn-lt"/>
                  <a:ea typeface="+mn-ea"/>
                  <a:cs typeface="+mn-cs"/>
                </a:rPr>
              </a:br>
              <a:r>
                <a:rPr lang="zh-CN" sz="2100" dirty="0">
                  <a:solidFill>
                    <a:srgbClr val="F4F1EA"/>
                  </a:solidFill>
                  <a:latin typeface="+mn-lt"/>
                  <a:ea typeface="+mn-ea"/>
                  <a:cs typeface="+mn-cs"/>
                </a:rPr>
                <a:t>不因走进哪个部门而任意改变</a:t>
              </a:r>
              <a:br>
                <a:rPr lang="zh-CN" sz="2100" dirty="0">
                  <a:solidFill>
                    <a:srgbClr val="F4F1EA"/>
                  </a:solidFill>
                  <a:latin typeface="+mn-lt"/>
                  <a:ea typeface="+mn-ea"/>
                  <a:cs typeface="+mn-cs"/>
                </a:rPr>
              </a:br>
              <a:r>
                <a:rPr lang="zh-CN" sz="2100" dirty="0">
                  <a:solidFill>
                    <a:srgbClr val="F4F1EA"/>
                  </a:solidFill>
                  <a:latin typeface="+mn-lt"/>
                  <a:ea typeface="+mn-ea"/>
                  <a:cs typeface="+mn-cs"/>
                </a:rPr>
                <a:t>可以依法提出请求</a:t>
              </a:r>
            </a:p>
          </p:txBody>
        </p:sp>
        <p:sp>
          <p:nvSpPr>
            <p:cNvPr id="13" name="TextBox 13"/>
            <p:cNvSpPr txBox="1"/>
            <p:nvPr/>
          </p:nvSpPr>
          <p:spPr>
            <a:xfrm>
              <a:off x="6393942" y="4311650"/>
              <a:ext cx="346671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十九世纪丁韪良译西方法律著作时已用权字</a:t>
              </a:r>
            </a:p>
          </p:txBody>
        </p:sp>
      </p:grpSp>
      <p:grpSp>
        <p:nvGrpSpPr>
          <p:cNvPr id="18" name="two-roles"/>
          <p:cNvGrpSpPr/>
          <p:nvPr/>
        </p:nvGrpSpPr>
        <p:grpSpPr>
          <a:xfrm>
            <a:off x="596646" y="5353050"/>
            <a:ext cx="10985754" cy="841883"/>
            <a:chOff x="596646" y="5353050"/>
            <a:chExt cx="10985754" cy="841883"/>
          </a:xfrm>
        </p:grpSpPr>
        <p:sp>
          <p:nvSpPr>
            <p:cNvPr id="15" name="Line 15"/>
            <p:cNvSpPr/>
            <p:nvPr/>
          </p:nvSpPr>
          <p:spPr>
            <a:xfrm>
              <a:off x="609600" y="5353050"/>
              <a:ext cx="10972800" cy="9525"/>
            </a:xfrm>
            <a:custGeom>
              <a:avLst/>
              <a:gdLst/>
              <a:ahLst/>
              <a:cxnLst/>
              <a:rect l="l" t="t" r="r" b="b"/>
              <a:pathLst>
                <a:path w="10972800" h="9525">
                  <a:moveTo>
                    <a:pt x="0" y="0"/>
                  </a:moveTo>
                  <a:lnTo>
                    <a:pt x="10972800" y="0"/>
                  </a:lnTo>
                </a:path>
              </a:pathLst>
            </a:custGeom>
            <a:noFill/>
            <a:ln w="9525">
              <a:solidFill>
                <a:srgbClr val="3A454A"/>
              </a:solidFill>
            </a:ln>
          </p:spPr>
        </p:sp>
        <p:sp>
          <p:nvSpPr>
            <p:cNvPr id="16" name="TextBox 16"/>
            <p:cNvSpPr txBox="1"/>
            <p:nvPr/>
          </p:nvSpPr>
          <p:spPr>
            <a:xfrm>
              <a:off x="596646" y="5454650"/>
              <a:ext cx="3115437"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同一个人，两种身份</a:t>
              </a:r>
            </a:p>
          </p:txBody>
        </p:sp>
        <p:sp>
          <p:nvSpPr>
            <p:cNvPr id="17" name="TextBox 17"/>
            <p:cNvSpPr txBox="1"/>
            <p:nvPr/>
          </p:nvSpPr>
          <p:spPr>
            <a:xfrm>
              <a:off x="602742" y="5930900"/>
              <a:ext cx="4557141"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依法履职时行使岗位与机关的职权；作为公民时享有权利</a:t>
              </a:r>
            </a:p>
          </p:txBody>
        </p:sp>
      </p:grpSp>
      <p:sp>
        <p:nvSpPr>
          <p:cNvPr id="19" name="TextBox 19"/>
          <p:cNvSpPr txBox="1"/>
          <p:nvPr/>
        </p:nvSpPr>
        <p:spPr>
          <a:xfrm>
            <a:off x="604266" y="6502400"/>
            <a:ext cx="1424178" cy="205359"/>
          </a:xfrm>
          <a:prstGeom prst="rect">
            <a:avLst/>
          </a:prstGeom>
          <a:noFill/>
          <a:ln>
            <a:noFill/>
          </a:ln>
        </p:spPr>
        <p:txBody>
          <a:bodyPr wrap="none" lIns="0" tIns="0" rIns="0" bIns="0" anchor="t" anchorCtr="0">
            <a:spAutoFit/>
          </a:bodyPr>
          <a:lstStyle/>
          <a:p>
            <a:pPr algn="l"/>
            <a:r>
              <a:rPr lang="zh-CN" sz="1050" dirty="0">
                <a:solidFill>
                  <a:srgbClr val="B8C4C8"/>
                </a:solidFill>
                <a:latin typeface="+mn-lt"/>
                <a:ea typeface="+mn-ea"/>
                <a:cs typeface="+mn-cs"/>
              </a:rPr>
              <a:t>材料：丁韪良译著凡例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285875"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421512" y="387350"/>
              <a:ext cx="1167746"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07 / 36</a:t>
              </a:r>
            </a:p>
          </p:txBody>
        </p:sp>
      </p:grpSp>
      <p:grpSp>
        <p:nvGrpSpPr>
          <p:cNvPr id="6" name="page-title"/>
          <p:cNvGrpSpPr/>
          <p:nvPr/>
        </p:nvGrpSpPr>
        <p:grpSpPr>
          <a:xfrm>
            <a:off x="590550" y="904875"/>
            <a:ext cx="2918460" cy="790575"/>
            <a:chOff x="590550" y="904875"/>
            <a:chExt cx="2918460" cy="790575"/>
          </a:xfrm>
        </p:grpSpPr>
        <p:sp>
          <p:nvSpPr>
            <p:cNvPr id="5" name="TextBox 5"/>
            <p:cNvSpPr txBox="1"/>
            <p:nvPr/>
          </p:nvSpPr>
          <p:spPr>
            <a:xfrm>
              <a:off x="590550" y="904875"/>
              <a:ext cx="2918460"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什么是宪法</a:t>
              </a:r>
            </a:p>
          </p:txBody>
        </p:sp>
      </p:grpSp>
      <p:grpSp>
        <p:nvGrpSpPr>
          <p:cNvPr id="10" name="definition"/>
          <p:cNvGrpSpPr/>
          <p:nvPr/>
        </p:nvGrpSpPr>
        <p:grpSpPr>
          <a:xfrm>
            <a:off x="595122" y="1885950"/>
            <a:ext cx="10987278" cy="1477518"/>
            <a:chOff x="595122" y="1885950"/>
            <a:chExt cx="10987278" cy="1477518"/>
          </a:xfrm>
        </p:grpSpPr>
        <p:sp>
          <p:nvSpPr>
            <p:cNvPr id="7" name="Line 7"/>
            <p:cNvSpPr/>
            <p:nvPr/>
          </p:nvSpPr>
          <p:spPr>
            <a:xfrm>
              <a:off x="609600" y="188595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8" name="TextBox 8"/>
            <p:cNvSpPr txBox="1"/>
            <p:nvPr/>
          </p:nvSpPr>
          <p:spPr>
            <a:xfrm>
              <a:off x="595122" y="1981200"/>
              <a:ext cx="3481959"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宪法是国家的根本法</a:t>
              </a:r>
            </a:p>
          </p:txBody>
        </p:sp>
        <p:sp>
          <p:nvSpPr>
            <p:cNvPr id="9" name="TextBox 9"/>
            <p:cNvSpPr txBox="1"/>
            <p:nvPr/>
          </p:nvSpPr>
          <p:spPr>
            <a:xfrm>
              <a:off x="598932" y="2552700"/>
              <a:ext cx="64221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它规定国家的根本制度和根本任务</a:t>
              </a:r>
              <a:br>
                <a:rPr lang="zh-CN" sz="2100" dirty="0">
                  <a:solidFill>
                    <a:schemeClr val="dk1"/>
                  </a:solidFill>
                  <a:latin typeface="+mn-lt"/>
                  <a:ea typeface="+mn-ea"/>
                  <a:cs typeface="+mn-cs"/>
                </a:rPr>
              </a:br>
              <a:r>
                <a:rPr lang="zh-CN" sz="2100" dirty="0">
                  <a:solidFill>
                    <a:schemeClr val="dk1"/>
                  </a:solidFill>
                  <a:latin typeface="+mn-lt"/>
                  <a:ea typeface="+mn-ea"/>
                  <a:cs typeface="+mn-cs"/>
                </a:rPr>
                <a:t>一切国家机关、各政党都必须以宪法为根本的活动准则</a:t>
              </a:r>
            </a:p>
          </p:txBody>
        </p:sp>
      </p:grpSp>
      <p:grpSp>
        <p:nvGrpSpPr>
          <p:cNvPr id="20" name="three-things"/>
          <p:cNvGrpSpPr/>
          <p:nvPr/>
        </p:nvGrpSpPr>
        <p:grpSpPr>
          <a:xfrm>
            <a:off x="598932" y="3924300"/>
            <a:ext cx="10983468" cy="1344168"/>
            <a:chOff x="598932" y="3924300"/>
            <a:chExt cx="10983468" cy="1344168"/>
          </a:xfrm>
        </p:grpSpPr>
        <p:sp>
          <p:nvSpPr>
            <p:cNvPr id="11" name="Line 11"/>
            <p:cNvSpPr/>
            <p:nvPr/>
          </p:nvSpPr>
          <p:spPr>
            <a:xfrm>
              <a:off x="609600" y="3924300"/>
              <a:ext cx="3250882" cy="9525"/>
            </a:xfrm>
            <a:custGeom>
              <a:avLst/>
              <a:gdLst/>
              <a:ahLst/>
              <a:cxnLst/>
              <a:rect l="l" t="t" r="r" b="b"/>
              <a:pathLst>
                <a:path w="3250882" h="9525">
                  <a:moveTo>
                    <a:pt x="0" y="0"/>
                  </a:moveTo>
                  <a:lnTo>
                    <a:pt x="3250882" y="0"/>
                  </a:lnTo>
                </a:path>
              </a:pathLst>
            </a:custGeom>
            <a:noFill/>
            <a:ln w="9525">
              <a:solidFill>
                <a:srgbClr val="CDC8BE"/>
              </a:solidFill>
            </a:ln>
          </p:spPr>
        </p:sp>
        <p:sp>
          <p:nvSpPr>
            <p:cNvPr id="12" name="TextBox 12"/>
            <p:cNvSpPr txBox="1"/>
            <p:nvPr/>
          </p:nvSpPr>
          <p:spPr>
            <a:xfrm>
              <a:off x="598932" y="4108450"/>
              <a:ext cx="176822"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①</a:t>
              </a:r>
            </a:p>
          </p:txBody>
        </p:sp>
        <p:sp>
          <p:nvSpPr>
            <p:cNvPr id="13" name="TextBox 13"/>
            <p:cNvSpPr txBox="1"/>
            <p:nvPr/>
          </p:nvSpPr>
          <p:spPr>
            <a:xfrm>
              <a:off x="598932" y="4508500"/>
              <a:ext cx="256565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确定国家的根本制度</a:t>
              </a:r>
            </a:p>
          </p:txBody>
        </p:sp>
        <p:sp>
          <p:nvSpPr>
            <p:cNvPr id="14" name="Line 14"/>
            <p:cNvSpPr/>
            <p:nvPr/>
          </p:nvSpPr>
          <p:spPr>
            <a:xfrm>
              <a:off x="4470082" y="3924300"/>
              <a:ext cx="3251835" cy="9525"/>
            </a:xfrm>
            <a:custGeom>
              <a:avLst/>
              <a:gdLst/>
              <a:ahLst/>
              <a:cxnLst/>
              <a:rect l="l" t="t" r="r" b="b"/>
              <a:pathLst>
                <a:path w="3251835" h="9525">
                  <a:moveTo>
                    <a:pt x="0" y="0"/>
                  </a:moveTo>
                  <a:lnTo>
                    <a:pt x="3251835" y="0"/>
                  </a:lnTo>
                </a:path>
              </a:pathLst>
            </a:custGeom>
            <a:noFill/>
            <a:ln w="9525">
              <a:solidFill>
                <a:srgbClr val="CDC8BE"/>
              </a:solidFill>
            </a:ln>
          </p:spPr>
        </p:sp>
        <p:sp>
          <p:nvSpPr>
            <p:cNvPr id="15" name="TextBox 15"/>
            <p:cNvSpPr txBox="1"/>
            <p:nvPr/>
          </p:nvSpPr>
          <p:spPr>
            <a:xfrm>
              <a:off x="4459414" y="4108450"/>
              <a:ext cx="176822"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②</a:t>
              </a:r>
            </a:p>
          </p:txBody>
        </p:sp>
        <p:sp>
          <p:nvSpPr>
            <p:cNvPr id="16" name="TextBox 16"/>
            <p:cNvSpPr txBox="1"/>
            <p:nvPr/>
          </p:nvSpPr>
          <p:spPr>
            <a:xfrm>
              <a:off x="4459414" y="4457700"/>
              <a:ext cx="18882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确定全国人大的</a:t>
              </a:r>
              <a:br>
                <a:rPr lang="zh-CN" sz="2100" dirty="0">
                  <a:solidFill>
                    <a:schemeClr val="dk1"/>
                  </a:solidFill>
                  <a:latin typeface="+mn-lt"/>
                  <a:ea typeface="+mn-ea"/>
                  <a:cs typeface="+mn-cs"/>
                </a:rPr>
              </a:br>
              <a:r>
                <a:rPr lang="zh-CN" sz="2100" dirty="0">
                  <a:solidFill>
                    <a:schemeClr val="dk1"/>
                  </a:solidFill>
                  <a:latin typeface="+mn-lt"/>
                  <a:ea typeface="+mn-ea"/>
                  <a:cs typeface="+mn-cs"/>
                </a:rPr>
                <a:t>基本法律地位</a:t>
              </a:r>
            </a:p>
          </p:txBody>
        </p:sp>
        <p:sp>
          <p:nvSpPr>
            <p:cNvPr id="17" name="Line 17"/>
            <p:cNvSpPr/>
            <p:nvPr/>
          </p:nvSpPr>
          <p:spPr>
            <a:xfrm>
              <a:off x="8331518" y="3924300"/>
              <a:ext cx="3250882" cy="9525"/>
            </a:xfrm>
            <a:custGeom>
              <a:avLst/>
              <a:gdLst/>
              <a:ahLst/>
              <a:cxnLst/>
              <a:rect l="l" t="t" r="r" b="b"/>
              <a:pathLst>
                <a:path w="3250882" h="9525">
                  <a:moveTo>
                    <a:pt x="0" y="0"/>
                  </a:moveTo>
                  <a:lnTo>
                    <a:pt x="3250882" y="0"/>
                  </a:lnTo>
                </a:path>
              </a:pathLst>
            </a:custGeom>
            <a:noFill/>
            <a:ln w="9525">
              <a:solidFill>
                <a:srgbClr val="CDC8BE"/>
              </a:solidFill>
            </a:ln>
          </p:spPr>
        </p:sp>
        <p:sp>
          <p:nvSpPr>
            <p:cNvPr id="18" name="TextBox 18"/>
            <p:cNvSpPr txBox="1"/>
            <p:nvPr/>
          </p:nvSpPr>
          <p:spPr>
            <a:xfrm>
              <a:off x="8320850" y="4108450"/>
              <a:ext cx="176822"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③</a:t>
              </a:r>
            </a:p>
          </p:txBody>
        </p:sp>
        <p:sp>
          <p:nvSpPr>
            <p:cNvPr id="19" name="TextBox 19"/>
            <p:cNvSpPr txBox="1"/>
            <p:nvPr/>
          </p:nvSpPr>
          <p:spPr>
            <a:xfrm>
              <a:off x="8320850" y="4457700"/>
              <a:ext cx="18882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处理一份具体的</a:t>
              </a:r>
              <a:br>
                <a:rPr lang="zh-CN" sz="2100" dirty="0">
                  <a:solidFill>
                    <a:schemeClr val="dk1"/>
                  </a:solidFill>
                  <a:latin typeface="+mn-lt"/>
                  <a:ea typeface="+mn-ea"/>
                  <a:cs typeface="+mn-cs"/>
                </a:rPr>
              </a:br>
              <a:r>
                <a:rPr lang="zh-CN" sz="2100" dirty="0">
                  <a:solidFill>
                    <a:schemeClr val="dk1"/>
                  </a:solidFill>
                  <a:latin typeface="+mn-lt"/>
                  <a:ea typeface="+mn-ea"/>
                  <a:cs typeface="+mn-cs"/>
                </a:rPr>
                <a:t>合同纠纷</a:t>
              </a:r>
            </a:p>
          </p:txBody>
        </p:sp>
      </p:grpSp>
      <p:grpSp>
        <p:nvGrpSpPr>
          <p:cNvPr id="24" name="exercise-answers"/>
          <p:cNvGrpSpPr/>
          <p:nvPr/>
        </p:nvGrpSpPr>
        <p:grpSpPr>
          <a:xfrm>
            <a:off x="602742" y="5321300"/>
            <a:ext cx="9189530" cy="264033"/>
            <a:chOff x="602742" y="5321300"/>
            <a:chExt cx="9189530" cy="264033"/>
          </a:xfrm>
        </p:grpSpPr>
        <p:sp>
          <p:nvSpPr>
            <p:cNvPr id="21" name="TextBox 21"/>
            <p:cNvSpPr txBox="1"/>
            <p:nvPr/>
          </p:nvSpPr>
          <p:spPr>
            <a:xfrm>
              <a:off x="602742" y="5321300"/>
              <a:ext cx="922401"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属根本内容</a:t>
              </a:r>
            </a:p>
          </p:txBody>
        </p:sp>
        <p:sp>
          <p:nvSpPr>
            <p:cNvPr id="22" name="TextBox 22"/>
            <p:cNvSpPr txBox="1"/>
            <p:nvPr/>
          </p:nvSpPr>
          <p:spPr>
            <a:xfrm>
              <a:off x="4463224" y="5321300"/>
              <a:ext cx="922401"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属根本内容</a:t>
              </a:r>
            </a:p>
          </p:txBody>
        </p:sp>
        <p:sp>
          <p:nvSpPr>
            <p:cNvPr id="23" name="TextBox 23"/>
            <p:cNvSpPr txBox="1"/>
            <p:nvPr/>
          </p:nvSpPr>
          <p:spPr>
            <a:xfrm>
              <a:off x="8324660" y="5321300"/>
              <a:ext cx="1467612"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通常依靠民事法律</a:t>
              </a:r>
            </a:p>
          </p:txBody>
        </p:sp>
      </p:grpSp>
      <p:grpSp>
        <p:nvGrpSpPr>
          <p:cNvPr id="26" name="exercise-prompt"/>
          <p:cNvGrpSpPr/>
          <p:nvPr/>
        </p:nvGrpSpPr>
        <p:grpSpPr>
          <a:xfrm>
            <a:off x="598932" y="5803900"/>
            <a:ext cx="6240780" cy="410718"/>
            <a:chOff x="598932" y="5803900"/>
            <a:chExt cx="6240780" cy="410718"/>
          </a:xfrm>
        </p:grpSpPr>
        <p:sp>
          <p:nvSpPr>
            <p:cNvPr id="25" name="TextBox 25"/>
            <p:cNvSpPr txBox="1"/>
            <p:nvPr/>
          </p:nvSpPr>
          <p:spPr>
            <a:xfrm>
              <a:off x="598932" y="5803900"/>
              <a:ext cx="6240780"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独立思考：写出选择和一句理由，约一至两分钟。</a:t>
              </a:r>
            </a:p>
          </p:txBody>
        </p:sp>
      </p:grpSp>
      <p:sp>
        <p:nvSpPr>
          <p:cNvPr id="27" name="TextBox 27"/>
          <p:cNvSpPr txBox="1"/>
          <p:nvPr/>
        </p:nvSpPr>
        <p:spPr>
          <a:xfrm>
            <a:off x="604266" y="6502400"/>
            <a:ext cx="1989582"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宪法序言末段；课堂比较练习。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350"/>
                                        <p:tgtEl>
                                          <p:spTgt spid="20"/>
                                        </p:tgtEl>
                                      </p:cBhvr>
                                    </p:animEffect>
                                  </p:childTnLst>
                                </p:cTn>
                              </p:par>
                            </p:childTnLst>
                          </p:cTn>
                        </p:par>
                        <p:par>
                          <p:cTn id="8" fill="hold">
                            <p:stCondLst>
                              <p:cond delay="0"/>
                            </p:stCondLst>
                            <p:childTnLst>
                              <p:par>
                                <p:cTn xmlns:p="http://schemas.openxmlformats.org/presentationml/2006/main" id="9" presetID="10"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350"/>
                                        <p:tgtEl>
                                          <p:spTgt spid="26"/>
                                        </p:tgtEl>
                                      </p:cBhvr>
                                    </p:animEffect>
                                  </p:childTnLst>
                                </p:cTn>
                              </p:par>
                            </p:childTnLst>
                          </p:cTn>
                        </p:par>
                      </p:childTnLst>
                    </p:cTn>
                  </p:par>
                  <p:par>
                    <p:cTn id="12" fill="hold">
                      <p:stCondLst>
                        <p:cond delay="indefinite"/>
                      </p:stCondLst>
                      <p:childTnLst>
                        <p:par>
                          <p:cTn id="13" fill="hold">
                            <p:stCondLst>
                              <p:cond delay="0"/>
                            </p:stCondLst>
                            <p:childTnLst>
                              <p:par>
                                <p:cTn xmlns:p="http://schemas.openxmlformats.org/presentationml/2006/main" id="14" presetID="10" presetClass="entr" presetSubtype="0" fill="hold" grpId="0" nodeType="click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08 / 36</a:t>
              </a:r>
            </a:p>
          </p:txBody>
        </p:sp>
      </p:grpSp>
      <p:grpSp>
        <p:nvGrpSpPr>
          <p:cNvPr id="6" name="page-title"/>
          <p:cNvGrpSpPr/>
          <p:nvPr/>
        </p:nvGrpSpPr>
        <p:grpSpPr>
          <a:xfrm>
            <a:off x="590550" y="904875"/>
            <a:ext cx="9831324" cy="790575"/>
            <a:chOff x="590550" y="904875"/>
            <a:chExt cx="9831324" cy="790575"/>
          </a:xfrm>
        </p:grpSpPr>
        <p:sp>
          <p:nvSpPr>
            <p:cNvPr id="5" name="TextBox 5"/>
            <p:cNvSpPr txBox="1"/>
            <p:nvPr/>
          </p:nvSpPr>
          <p:spPr>
            <a:xfrm>
              <a:off x="590550" y="904875"/>
              <a:ext cx="9831324"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具体法律要紧，为什么宪法还是根本法</a:t>
              </a:r>
            </a:p>
          </p:txBody>
        </p:sp>
      </p:grpSp>
      <p:grpSp>
        <p:nvGrpSpPr>
          <p:cNvPr id="15" name="division"/>
          <p:cNvGrpSpPr/>
          <p:nvPr/>
        </p:nvGrpSpPr>
        <p:grpSpPr>
          <a:xfrm>
            <a:off x="595122" y="1885950"/>
            <a:ext cx="10987278" cy="2423033"/>
            <a:chOff x="595122" y="1885950"/>
            <a:chExt cx="10987278" cy="2423033"/>
          </a:xfrm>
        </p:grpSpPr>
        <p:sp>
          <p:nvSpPr>
            <p:cNvPr id="7" name="Line 7"/>
            <p:cNvSpPr/>
            <p:nvPr/>
          </p:nvSpPr>
          <p:spPr>
            <a:xfrm>
              <a:off x="609600" y="188595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8" name="TextBox 8"/>
            <p:cNvSpPr txBox="1"/>
            <p:nvPr/>
          </p:nvSpPr>
          <p:spPr>
            <a:xfrm>
              <a:off x="595122" y="2076450"/>
              <a:ext cx="1563624"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普通法律</a:t>
              </a:r>
            </a:p>
          </p:txBody>
        </p:sp>
        <p:sp>
          <p:nvSpPr>
            <p:cNvPr id="9" name="TextBox 9"/>
            <p:cNvSpPr txBox="1"/>
            <p:nvPr/>
          </p:nvSpPr>
          <p:spPr>
            <a:xfrm>
              <a:off x="598932" y="2647950"/>
              <a:ext cx="2955036" cy="121081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给出判断合同、处罚等</a:t>
              </a:r>
              <a:br>
                <a:rPr lang="zh-CN" sz="2100" dirty="0">
                  <a:solidFill>
                    <a:schemeClr val="dk1"/>
                  </a:solidFill>
                  <a:latin typeface="+mn-lt"/>
                  <a:ea typeface="+mn-ea"/>
                  <a:cs typeface="+mn-cs"/>
                </a:rPr>
              </a:br>
              <a:r>
                <a:rPr lang="zh-CN" sz="2100" dirty="0">
                  <a:solidFill>
                    <a:schemeClr val="dk1"/>
                  </a:solidFill>
                  <a:latin typeface="+mn-lt"/>
                  <a:ea typeface="+mn-ea"/>
                  <a:cs typeface="+mn-cs"/>
                </a:rPr>
                <a:t>具体问题的条件</a:t>
              </a:r>
              <a:br>
                <a:rPr lang="zh-CN" sz="2100" dirty="0">
                  <a:solidFill>
                    <a:schemeClr val="dk1"/>
                  </a:solidFill>
                  <a:latin typeface="+mn-lt"/>
                  <a:ea typeface="+mn-ea"/>
                  <a:cs typeface="+mn-cs"/>
                </a:rPr>
              </a:br>
              <a:r>
                <a:rPr lang="zh-CN" sz="2100" dirty="0">
                  <a:solidFill>
                    <a:schemeClr val="dk1"/>
                  </a:solidFill>
                  <a:latin typeface="+mn-lt"/>
                  <a:ea typeface="+mn-ea"/>
                  <a:cs typeface="+mn-cs"/>
                </a:rPr>
                <a:t>回答「这件事该怎么办」</a:t>
              </a:r>
            </a:p>
          </p:txBody>
        </p:sp>
        <p:sp>
          <p:nvSpPr>
            <p:cNvPr id="10" name="TextBox 10"/>
            <p:cNvSpPr txBox="1"/>
            <p:nvPr/>
          </p:nvSpPr>
          <p:spPr>
            <a:xfrm>
              <a:off x="602742" y="4044950"/>
              <a:ext cx="3103245"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会遇到合同纠纷，会问按哪条法律处理</a:t>
              </a:r>
            </a:p>
          </p:txBody>
        </p:sp>
        <p:sp>
          <p:nvSpPr>
            <p:cNvPr id="11" name="Line 11"/>
            <p:cNvSpPr/>
            <p:nvPr/>
          </p:nvSpPr>
          <p:spPr>
            <a:xfrm>
              <a:off x="6400800" y="188595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12" name="TextBox 12"/>
            <p:cNvSpPr txBox="1"/>
            <p:nvPr/>
          </p:nvSpPr>
          <p:spPr>
            <a:xfrm>
              <a:off x="6386322" y="2076450"/>
              <a:ext cx="796290"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宪法</a:t>
              </a:r>
            </a:p>
          </p:txBody>
        </p:sp>
        <p:sp>
          <p:nvSpPr>
            <p:cNvPr id="13" name="TextBox 13"/>
            <p:cNvSpPr txBox="1"/>
            <p:nvPr/>
          </p:nvSpPr>
          <p:spPr>
            <a:xfrm>
              <a:off x="6390132" y="2647950"/>
              <a:ext cx="3488436" cy="121081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规定国家建立在什么制度上</a:t>
              </a:r>
              <a:br>
                <a:rPr lang="zh-CN" sz="2100" dirty="0">
                  <a:solidFill>
                    <a:schemeClr val="dk1"/>
                  </a:solidFill>
                  <a:latin typeface="+mn-lt"/>
                  <a:ea typeface="+mn-ea"/>
                  <a:cs typeface="+mn-cs"/>
                </a:rPr>
              </a:br>
              <a:r>
                <a:rPr lang="zh-CN" sz="2100" dirty="0">
                  <a:solidFill>
                    <a:schemeClr val="dk1"/>
                  </a:solidFill>
                  <a:latin typeface="+mn-lt"/>
                  <a:ea typeface="+mn-ea"/>
                  <a:cs typeface="+mn-cs"/>
                </a:rPr>
                <a:t>国家权力怎样组织</a:t>
              </a:r>
              <a:br>
                <a:rPr lang="zh-CN" sz="2100" dirty="0">
                  <a:solidFill>
                    <a:schemeClr val="dk1"/>
                  </a:solidFill>
                  <a:latin typeface="+mn-lt"/>
                  <a:ea typeface="+mn-ea"/>
                  <a:cs typeface="+mn-cs"/>
                </a:rPr>
              </a:br>
              <a:r>
                <a:rPr lang="zh-CN" sz="2100" dirty="0">
                  <a:solidFill>
                    <a:schemeClr val="dk1"/>
                  </a:solidFill>
                  <a:latin typeface="+mn-lt"/>
                  <a:ea typeface="+mn-ea"/>
                  <a:cs typeface="+mn-cs"/>
                </a:rPr>
                <a:t>回答国家是什么、权力从哪来</a:t>
              </a:r>
            </a:p>
          </p:txBody>
        </p:sp>
        <p:sp>
          <p:nvSpPr>
            <p:cNvPr id="14" name="TextBox 14"/>
            <p:cNvSpPr txBox="1"/>
            <p:nvPr/>
          </p:nvSpPr>
          <p:spPr>
            <a:xfrm>
              <a:off x="6393942" y="4044950"/>
              <a:ext cx="3284982"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也会遇到处罚，会问要满足哪些法律条件</a:t>
              </a:r>
            </a:p>
          </p:txBody>
        </p:sp>
      </p:grpSp>
      <p:grpSp>
        <p:nvGrpSpPr>
          <p:cNvPr id="19" name="who-legislates"/>
          <p:cNvGrpSpPr/>
          <p:nvPr/>
        </p:nvGrpSpPr>
        <p:grpSpPr>
          <a:xfrm>
            <a:off x="596646" y="4667250"/>
            <a:ext cx="10985754" cy="1166368"/>
            <a:chOff x="596646" y="4667250"/>
            <a:chExt cx="10985754" cy="1166368"/>
          </a:xfrm>
        </p:grpSpPr>
        <p:sp>
          <p:nvSpPr>
            <p:cNvPr id="16" name="Line 16"/>
            <p:cNvSpPr/>
            <p:nvPr/>
          </p:nvSpPr>
          <p:spPr>
            <a:xfrm>
              <a:off x="609600" y="466725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17" name="TextBox 17"/>
            <p:cNvSpPr txBox="1"/>
            <p:nvPr/>
          </p:nvSpPr>
          <p:spPr>
            <a:xfrm>
              <a:off x="596646" y="4826000"/>
              <a:ext cx="7578090"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法律还要规定：谁有权立法、立法时必须遵循什么</a:t>
              </a:r>
            </a:p>
          </p:txBody>
        </p:sp>
        <p:sp>
          <p:nvSpPr>
            <p:cNvPr id="18" name="TextBox 18"/>
            <p:cNvSpPr txBox="1"/>
            <p:nvPr/>
          </p:nvSpPr>
          <p:spPr>
            <a:xfrm>
              <a:off x="598932" y="5422900"/>
              <a:ext cx="935050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不同机关各有任务，公民的基本法律地位不能因为走进哪个部门而任意改变</a:t>
              </a:r>
            </a:p>
          </p:txBody>
        </p:sp>
      </p:grpSp>
      <p:sp>
        <p:nvSpPr>
          <p:cNvPr id="20" name="TextBox 20"/>
          <p:cNvSpPr txBox="1"/>
          <p:nvPr/>
        </p:nvSpPr>
        <p:spPr>
          <a:xfrm>
            <a:off x="604266" y="6502400"/>
            <a:ext cx="3480835"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宪法序言末段、第5条；具体法律与根本法的课堂对照。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上节 09 / 36</a:t>
              </a:r>
            </a:p>
          </p:txBody>
        </p:sp>
      </p:grpSp>
      <p:grpSp>
        <p:nvGrpSpPr>
          <p:cNvPr id="6" name="page-title"/>
          <p:cNvGrpSpPr/>
          <p:nvPr/>
        </p:nvGrpSpPr>
        <p:grpSpPr>
          <a:xfrm>
            <a:off x="590550" y="904875"/>
            <a:ext cx="2918460" cy="790575"/>
            <a:chOff x="590550" y="904875"/>
            <a:chExt cx="2918460" cy="790575"/>
          </a:xfrm>
        </p:grpSpPr>
        <p:sp>
          <p:nvSpPr>
            <p:cNvPr id="5" name="TextBox 5"/>
            <p:cNvSpPr txBox="1"/>
            <p:nvPr/>
          </p:nvSpPr>
          <p:spPr>
            <a:xfrm>
              <a:off x="590550" y="904875"/>
              <a:ext cx="2918460" cy="790575"/>
            </a:xfrm>
            <a:prstGeom prst="rect">
              <a:avLst/>
            </a:prstGeom>
            <a:noFill/>
            <a:ln>
              <a:noFill/>
            </a:ln>
          </p:spPr>
          <p:txBody>
            <a:bodyPr wrap="none" lIns="0" tIns="0" rIns="0" bIns="0" anchor="t" anchorCtr="0">
              <a:spAutoFit/>
            </a:bodyPr>
            <a:lstStyle/>
            <a:p>
              <a:pPr algn="l"/>
              <a:r>
                <a:rPr lang="zh-CN" sz="4050" dirty="0">
                  <a:solidFill>
                    <a:srgbClr val="F4F1EA"/>
                  </a:solidFill>
                  <a:latin typeface="+mj-lt"/>
                  <a:ea typeface="+mj-ea"/>
                  <a:cs typeface="+mj-cs"/>
                </a:rPr>
                <a:t>宪法第五条</a:t>
              </a:r>
            </a:p>
          </p:txBody>
        </p:sp>
      </p:grpSp>
      <p:grpSp>
        <p:nvGrpSpPr>
          <p:cNvPr id="8" name="overall"/>
          <p:cNvGrpSpPr/>
          <p:nvPr/>
        </p:nvGrpSpPr>
        <p:grpSpPr>
          <a:xfrm>
            <a:off x="596646" y="2025650"/>
            <a:ext cx="7234809" cy="498729"/>
            <a:chOff x="596646" y="2025650"/>
            <a:chExt cx="7234809" cy="498729"/>
          </a:xfrm>
        </p:grpSpPr>
        <p:sp>
          <p:nvSpPr>
            <p:cNvPr id="7" name="TextBox 7"/>
            <p:cNvSpPr txBox="1"/>
            <p:nvPr/>
          </p:nvSpPr>
          <p:spPr>
            <a:xfrm>
              <a:off x="596646" y="2025650"/>
              <a:ext cx="7234809"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最高法律效力意味着其他法律规范必须符合宪法</a:t>
              </a:r>
            </a:p>
          </p:txBody>
        </p:sp>
      </p:grpSp>
      <p:grpSp>
        <p:nvGrpSpPr>
          <p:cNvPr id="12" name="article-five"/>
          <p:cNvGrpSpPr/>
          <p:nvPr/>
        </p:nvGrpSpPr>
        <p:grpSpPr>
          <a:xfrm>
            <a:off x="596646" y="2914650"/>
            <a:ext cx="10985754" cy="619379"/>
            <a:chOff x="596646" y="2914650"/>
            <a:chExt cx="10985754" cy="619379"/>
          </a:xfrm>
        </p:grpSpPr>
        <p:sp>
          <p:nvSpPr>
            <p:cNvPr id="9" name="Line 9"/>
            <p:cNvSpPr/>
            <p:nvPr/>
          </p:nvSpPr>
          <p:spPr>
            <a:xfrm>
              <a:off x="609600" y="2914650"/>
              <a:ext cx="10972800" cy="9525"/>
            </a:xfrm>
            <a:custGeom>
              <a:avLst/>
              <a:gdLst/>
              <a:ahLst/>
              <a:cxnLst/>
              <a:rect l="l" t="t" r="r" b="b"/>
              <a:pathLst>
                <a:path w="10972800" h="9525">
                  <a:moveTo>
                    <a:pt x="0" y="0"/>
                  </a:moveTo>
                  <a:lnTo>
                    <a:pt x="10972800" y="0"/>
                  </a:lnTo>
                </a:path>
              </a:pathLst>
            </a:custGeom>
            <a:noFill/>
            <a:ln w="9525">
              <a:solidFill>
                <a:srgbClr val="3A454A"/>
              </a:solidFill>
            </a:ln>
          </p:spPr>
        </p:sp>
        <p:sp>
          <p:nvSpPr>
            <p:cNvPr id="10" name="TextBox 10"/>
            <p:cNvSpPr txBox="1"/>
            <p:nvPr/>
          </p:nvSpPr>
          <p:spPr>
            <a:xfrm>
              <a:off x="596646" y="3035300"/>
              <a:ext cx="1055751" cy="498729"/>
            </a:xfrm>
            <a:prstGeom prst="rect">
              <a:avLst/>
            </a:prstGeom>
            <a:noFill/>
            <a:ln>
              <a:noFill/>
            </a:ln>
          </p:spPr>
          <p:txBody>
            <a:bodyPr wrap="none" lIns="0" tIns="0" rIns="0" bIns="0" anchor="t" anchorCtr="0">
              <a:spAutoFit/>
            </a:bodyPr>
            <a:lstStyle/>
            <a:p>
              <a:pPr algn="l"/>
              <a:r>
                <a:rPr lang="zh-CN" sz="2550" dirty="0">
                  <a:solidFill>
                    <a:srgbClr val="B8C4C8"/>
                  </a:solidFill>
                  <a:latin typeface="+mn-lt"/>
                  <a:ea typeface="+mn-ea"/>
                  <a:cs typeface="+mn-cs"/>
                </a:rPr>
                <a:t>第五条</a:t>
              </a:r>
            </a:p>
          </p:txBody>
        </p:sp>
        <p:sp>
          <p:nvSpPr>
            <p:cNvPr id="11" name="TextBox 11"/>
            <p:cNvSpPr txBox="1"/>
            <p:nvPr/>
          </p:nvSpPr>
          <p:spPr>
            <a:xfrm>
              <a:off x="1665732" y="3098800"/>
              <a:ext cx="7088886"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一切法律、行政法规和地方性法规都不得同宪法相抵触。</a:t>
              </a:r>
            </a:p>
          </p:txBody>
        </p:sp>
      </p:grpSp>
      <p:grpSp>
        <p:nvGrpSpPr>
          <p:cNvPr id="17" name="wording-vs-effect"/>
          <p:cNvGrpSpPr/>
          <p:nvPr/>
        </p:nvGrpSpPr>
        <p:grpSpPr>
          <a:xfrm>
            <a:off x="596646" y="4572000"/>
            <a:ext cx="10985754" cy="1432433"/>
            <a:chOff x="596646" y="4572000"/>
            <a:chExt cx="10985754" cy="1432433"/>
          </a:xfrm>
        </p:grpSpPr>
        <p:sp>
          <p:nvSpPr>
            <p:cNvPr id="13" name="Line 13"/>
            <p:cNvSpPr/>
            <p:nvPr/>
          </p:nvSpPr>
          <p:spPr>
            <a:xfrm>
              <a:off x="609600" y="4572000"/>
              <a:ext cx="10972800" cy="9525"/>
            </a:xfrm>
            <a:custGeom>
              <a:avLst/>
              <a:gdLst/>
              <a:ahLst/>
              <a:cxnLst/>
              <a:rect l="l" t="t" r="r" b="b"/>
              <a:pathLst>
                <a:path w="10972800" h="9525">
                  <a:moveTo>
                    <a:pt x="0" y="0"/>
                  </a:moveTo>
                  <a:lnTo>
                    <a:pt x="10972800" y="0"/>
                  </a:lnTo>
                </a:path>
              </a:pathLst>
            </a:custGeom>
            <a:noFill/>
            <a:ln w="9525">
              <a:solidFill>
                <a:srgbClr val="3A454A"/>
              </a:solidFill>
            </a:ln>
          </p:spPr>
        </p:sp>
        <p:sp>
          <p:nvSpPr>
            <p:cNvPr id="14" name="TextBox 14"/>
            <p:cNvSpPr txBox="1"/>
            <p:nvPr/>
          </p:nvSpPr>
          <p:spPr>
            <a:xfrm>
              <a:off x="596646" y="4711700"/>
              <a:ext cx="3801999"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写得详细不等于效力更高</a:t>
              </a:r>
            </a:p>
          </p:txBody>
        </p:sp>
        <p:sp>
          <p:nvSpPr>
            <p:cNvPr id="15" name="TextBox 15"/>
            <p:cNvSpPr txBox="1"/>
            <p:nvPr/>
          </p:nvSpPr>
          <p:spPr>
            <a:xfrm>
              <a:off x="598932" y="5251450"/>
              <a:ext cx="9067800"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有人建议把国务院各部、各委员会的名称写进宪法，起草委员会没有采纳</a:t>
              </a:r>
            </a:p>
          </p:txBody>
        </p:sp>
        <p:sp>
          <p:nvSpPr>
            <p:cNvPr id="16" name="TextBox 16"/>
            <p:cNvSpPr txBox="1"/>
            <p:nvPr/>
          </p:nvSpPr>
          <p:spPr>
            <a:xfrm>
              <a:off x="602742" y="5740400"/>
              <a:ext cx="7464933"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部门设置可能变化，根本法不必逐一定死；讨论意见有的补进宪法，有的交给另一部法律处理</a:t>
              </a:r>
            </a:p>
          </p:txBody>
        </p:sp>
      </p:grpSp>
      <p:sp>
        <p:nvSpPr>
          <p:cNvPr id="18" name="TextBox 18"/>
          <p:cNvSpPr txBox="1"/>
          <p:nvPr/>
        </p:nvSpPr>
        <p:spPr>
          <a:xfrm>
            <a:off x="604266" y="6502400"/>
            <a:ext cx="3544443" cy="205359"/>
          </a:xfrm>
          <a:prstGeom prst="rect">
            <a:avLst/>
          </a:prstGeom>
          <a:noFill/>
          <a:ln>
            <a:noFill/>
          </a:ln>
        </p:spPr>
        <p:txBody>
          <a:bodyPr wrap="none" lIns="0" tIns="0" rIns="0" bIns="0" anchor="t" anchorCtr="0">
            <a:spAutoFit/>
          </a:bodyPr>
          <a:lstStyle/>
          <a:p>
            <a:pPr algn="l"/>
            <a:r>
              <a:rPr lang="zh-CN" sz="1050" dirty="0">
                <a:solidFill>
                  <a:srgbClr val="B8C4C8"/>
                </a:solidFill>
                <a:latin typeface="+mn-lt"/>
                <a:ea typeface="+mn-ea"/>
                <a:cs typeface="+mn-cs"/>
              </a:rPr>
              <a:t>宪法：2018 年修正文本，第五条；1954 年讨论意见处理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3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上节 10 / 36</a:t>
              </a:r>
            </a:p>
          </p:txBody>
        </p:sp>
      </p:grpSp>
      <p:grpSp>
        <p:nvGrpSpPr>
          <p:cNvPr id="6" name="page-title"/>
          <p:cNvGrpSpPr/>
          <p:nvPr/>
        </p:nvGrpSpPr>
        <p:grpSpPr>
          <a:xfrm>
            <a:off x="590550" y="904875"/>
            <a:ext cx="4070604" cy="790575"/>
            <a:chOff x="590550" y="904875"/>
            <a:chExt cx="4070604" cy="790575"/>
          </a:xfrm>
        </p:grpSpPr>
        <p:sp>
          <p:nvSpPr>
            <p:cNvPr id="5" name="TextBox 5"/>
            <p:cNvSpPr txBox="1"/>
            <p:nvPr/>
          </p:nvSpPr>
          <p:spPr>
            <a:xfrm>
              <a:off x="590550" y="904875"/>
              <a:ext cx="4070604" cy="790575"/>
            </a:xfrm>
            <a:prstGeom prst="rect">
              <a:avLst/>
            </a:prstGeom>
            <a:noFill/>
            <a:ln>
              <a:noFill/>
            </a:ln>
          </p:spPr>
          <p:txBody>
            <a:bodyPr wrap="none" lIns="0" tIns="0" rIns="0" bIns="0" anchor="t" anchorCtr="0">
              <a:spAutoFit/>
            </a:bodyPr>
            <a:lstStyle/>
            <a:p>
              <a:pPr algn="l"/>
              <a:r>
                <a:rPr lang="zh-CN" sz="4050" dirty="0">
                  <a:solidFill>
                    <a:srgbClr val="F4F1EA"/>
                  </a:solidFill>
                  <a:latin typeface="+mj-lt"/>
                  <a:ea typeface="+mj-ea"/>
                  <a:cs typeface="+mj-cs"/>
                </a:rPr>
                <a:t>宪法第六十四条</a:t>
              </a:r>
            </a:p>
          </p:txBody>
        </p:sp>
      </p:grpSp>
      <p:grpSp>
        <p:nvGrpSpPr>
          <p:cNvPr id="10" name="article-sixty-four"/>
          <p:cNvGrpSpPr/>
          <p:nvPr/>
        </p:nvGrpSpPr>
        <p:grpSpPr>
          <a:xfrm>
            <a:off x="596646" y="1885950"/>
            <a:ext cx="8013954" cy="2277618"/>
            <a:chOff x="596646" y="1885950"/>
            <a:chExt cx="8013954" cy="2277618"/>
          </a:xfrm>
        </p:grpSpPr>
        <p:sp>
          <p:nvSpPr>
            <p:cNvPr id="7" name="Line 7"/>
            <p:cNvSpPr/>
            <p:nvPr/>
          </p:nvSpPr>
          <p:spPr>
            <a:xfrm>
              <a:off x="609600" y="1885950"/>
              <a:ext cx="8001000" cy="9525"/>
            </a:xfrm>
            <a:custGeom>
              <a:avLst/>
              <a:gdLst/>
              <a:ahLst/>
              <a:cxnLst/>
              <a:rect l="l" t="t" r="r" b="b"/>
              <a:pathLst>
                <a:path w="8001000" h="9525">
                  <a:moveTo>
                    <a:pt x="0" y="0"/>
                  </a:moveTo>
                  <a:lnTo>
                    <a:pt x="8001000" y="0"/>
                  </a:lnTo>
                </a:path>
              </a:pathLst>
            </a:custGeom>
            <a:noFill/>
            <a:ln w="9525">
              <a:solidFill>
                <a:srgbClr val="3A454A"/>
              </a:solidFill>
            </a:ln>
          </p:spPr>
        </p:sp>
        <p:sp>
          <p:nvSpPr>
            <p:cNvPr id="8" name="TextBox 8"/>
            <p:cNvSpPr txBox="1"/>
            <p:nvPr/>
          </p:nvSpPr>
          <p:spPr>
            <a:xfrm>
              <a:off x="596646" y="2006600"/>
              <a:ext cx="1742313" cy="498729"/>
            </a:xfrm>
            <a:prstGeom prst="rect">
              <a:avLst/>
            </a:prstGeom>
            <a:noFill/>
            <a:ln>
              <a:noFill/>
            </a:ln>
          </p:spPr>
          <p:txBody>
            <a:bodyPr wrap="none" lIns="0" tIns="0" rIns="0" bIns="0" anchor="t" anchorCtr="0">
              <a:spAutoFit/>
            </a:bodyPr>
            <a:lstStyle/>
            <a:p>
              <a:pPr algn="l"/>
              <a:r>
                <a:rPr lang="zh-CN" sz="2550" dirty="0">
                  <a:solidFill>
                    <a:srgbClr val="B8C4C8"/>
                  </a:solidFill>
                  <a:latin typeface="+mn-lt"/>
                  <a:ea typeface="+mn-ea"/>
                  <a:cs typeface="+mn-cs"/>
                </a:rPr>
                <a:t>第六十四条</a:t>
              </a:r>
            </a:p>
          </p:txBody>
        </p:sp>
        <p:sp>
          <p:nvSpPr>
            <p:cNvPr id="9" name="TextBox 9"/>
            <p:cNvSpPr txBox="1"/>
            <p:nvPr/>
          </p:nvSpPr>
          <p:spPr>
            <a:xfrm>
              <a:off x="598932" y="2552700"/>
              <a:ext cx="7488936" cy="1610868"/>
            </a:xfrm>
            <a:prstGeom prst="rect">
              <a:avLst/>
            </a:prstGeom>
            <a:noFill/>
            <a:ln>
              <a:noFill/>
            </a:ln>
          </p:spPr>
          <p:txBody>
            <a:bodyPr wrap="none" lIns="0" tIns="0" rIns="0" bIns="0" anchor="t" anchorCtr="0">
              <a:spAutoFit/>
            </a:bodyPr>
            <a:lstStyle/>
            <a:p>
              <a:pPr algn="l">
                <a:lnSpc>
                  <a:spcPts val="3150"/>
                </a:lnSpc>
              </a:pPr>
              <a:r>
                <a:rPr lang="zh-CN" sz="2100" dirty="0">
                  <a:solidFill>
                    <a:srgbClr val="F4F1EA"/>
                  </a:solidFill>
                  <a:latin typeface="+mn-lt"/>
                  <a:ea typeface="+mn-ea"/>
                  <a:cs typeface="+mn-cs"/>
                </a:rPr>
                <a:t>宪法的修改，由全国人民代表大会常务委员会或者五分之一</a:t>
              </a:r>
              <a:br>
                <a:rPr lang="zh-CN" sz="2100" dirty="0">
                  <a:solidFill>
                    <a:srgbClr val="F4F1EA"/>
                  </a:solidFill>
                  <a:latin typeface="+mn-lt"/>
                  <a:ea typeface="+mn-ea"/>
                  <a:cs typeface="+mn-cs"/>
                </a:rPr>
              </a:br>
              <a:r>
                <a:rPr lang="zh-CN" sz="2100" dirty="0">
                  <a:solidFill>
                    <a:srgbClr val="F4F1EA"/>
                  </a:solidFill>
                  <a:latin typeface="+mn-lt"/>
                  <a:ea typeface="+mn-ea"/>
                  <a:cs typeface="+mn-cs"/>
                </a:rPr>
                <a:t>以上的全国人民代表大会代表提议，并由全国人民代表大会</a:t>
              </a:r>
              <a:br>
                <a:rPr lang="zh-CN" sz="2100" dirty="0">
                  <a:solidFill>
                    <a:srgbClr val="F4F1EA"/>
                  </a:solidFill>
                  <a:latin typeface="+mn-lt"/>
                  <a:ea typeface="+mn-ea"/>
                  <a:cs typeface="+mn-cs"/>
                </a:rPr>
              </a:br>
              <a:r>
                <a:rPr lang="zh-CN" sz="2100" dirty="0">
                  <a:solidFill>
                    <a:srgbClr val="F4F1EA"/>
                  </a:solidFill>
                  <a:latin typeface="+mn-lt"/>
                  <a:ea typeface="+mn-ea"/>
                  <a:cs typeface="+mn-cs"/>
                </a:rPr>
                <a:t>以全体代表的三分之二以上的多数通过。</a:t>
              </a:r>
              <a:br>
                <a:rPr lang="zh-CN" sz="2100" dirty="0">
                  <a:solidFill>
                    <a:srgbClr val="F4F1EA"/>
                  </a:solidFill>
                  <a:latin typeface="+mn-lt"/>
                  <a:ea typeface="+mn-ea"/>
                  <a:cs typeface="+mn-cs"/>
                </a:rPr>
              </a:br>
              <a:r>
                <a:rPr lang="zh-CN" sz="2100" dirty="0">
                  <a:solidFill>
                    <a:srgbClr val="F4F1EA"/>
                  </a:solidFill>
                  <a:latin typeface="+mn-lt"/>
                  <a:ea typeface="+mn-ea"/>
                  <a:cs typeface="+mn-cs"/>
                </a:rPr>
                <a:t>法律和其他议案由全国人民代表大会以全体代表的过半数通过。</a:t>
              </a:r>
            </a:p>
          </p:txBody>
        </p:sp>
      </p:grpSp>
      <p:grpSp>
        <p:nvGrpSpPr>
          <p:cNvPr id="17" name="two-limits"/>
          <p:cNvGrpSpPr/>
          <p:nvPr/>
        </p:nvGrpSpPr>
        <p:grpSpPr>
          <a:xfrm>
            <a:off x="8730996" y="1885950"/>
            <a:ext cx="2200656" cy="2571750"/>
            <a:chOff x="8730996" y="1885950"/>
            <a:chExt cx="2200656" cy="2571750"/>
          </a:xfrm>
        </p:grpSpPr>
        <p:sp>
          <p:nvSpPr>
            <p:cNvPr id="11" name="Line 11"/>
            <p:cNvSpPr/>
            <p:nvPr/>
          </p:nvSpPr>
          <p:spPr>
            <a:xfrm>
              <a:off x="8743950" y="1885950"/>
              <a:ext cx="9525" cy="2571750"/>
            </a:xfrm>
            <a:custGeom>
              <a:avLst/>
              <a:gdLst/>
              <a:ahLst/>
              <a:cxnLst/>
              <a:rect l="l" t="t" r="r" b="b"/>
              <a:pathLst>
                <a:path w="9525" h="2571750">
                  <a:moveTo>
                    <a:pt x="0" y="0"/>
                  </a:moveTo>
                  <a:lnTo>
                    <a:pt x="0" y="2571750"/>
                  </a:lnTo>
                </a:path>
              </a:pathLst>
            </a:custGeom>
            <a:noFill/>
            <a:ln w="9525">
              <a:solidFill>
                <a:srgbClr val="3A454A"/>
              </a:solidFill>
            </a:ln>
          </p:spPr>
        </p:sp>
        <p:sp>
          <p:nvSpPr>
            <p:cNvPr id="12" name="TextBox 12"/>
            <p:cNvSpPr txBox="1"/>
            <p:nvPr/>
          </p:nvSpPr>
          <p:spPr>
            <a:xfrm>
              <a:off x="8730996" y="2025650"/>
              <a:ext cx="1399032"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两处限定</a:t>
              </a:r>
            </a:p>
          </p:txBody>
        </p:sp>
        <p:sp>
          <p:nvSpPr>
            <p:cNvPr id="13" name="TextBox 13"/>
            <p:cNvSpPr txBox="1"/>
            <p:nvPr/>
          </p:nvSpPr>
          <p:spPr>
            <a:xfrm>
              <a:off x="8733282" y="2660650"/>
              <a:ext cx="1152144"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提议主体</a:t>
              </a:r>
            </a:p>
          </p:txBody>
        </p:sp>
        <p:sp>
          <p:nvSpPr>
            <p:cNvPr id="14" name="TextBox 14"/>
            <p:cNvSpPr txBox="1"/>
            <p:nvPr/>
          </p:nvSpPr>
          <p:spPr>
            <a:xfrm>
              <a:off x="8737092" y="3149600"/>
              <a:ext cx="2194560"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常委会或五分之一以上代表</a:t>
              </a:r>
            </a:p>
          </p:txBody>
        </p:sp>
        <p:sp>
          <p:nvSpPr>
            <p:cNvPr id="15" name="TextBox 15"/>
            <p:cNvSpPr txBox="1"/>
            <p:nvPr/>
          </p:nvSpPr>
          <p:spPr>
            <a:xfrm>
              <a:off x="8733282" y="3651250"/>
              <a:ext cx="1152144"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通过门槛</a:t>
              </a:r>
            </a:p>
          </p:txBody>
        </p:sp>
        <p:sp>
          <p:nvSpPr>
            <p:cNvPr id="16" name="TextBox 16"/>
            <p:cNvSpPr txBox="1"/>
            <p:nvPr/>
          </p:nvSpPr>
          <p:spPr>
            <a:xfrm>
              <a:off x="8737092" y="4140200"/>
              <a:ext cx="2012823"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全体代表的三分之二以上</a:t>
              </a:r>
            </a:p>
          </p:txBody>
        </p:sp>
      </p:grpSp>
      <p:grpSp>
        <p:nvGrpSpPr>
          <p:cNvPr id="21" name="not-attending"/>
          <p:cNvGrpSpPr/>
          <p:nvPr/>
        </p:nvGrpSpPr>
        <p:grpSpPr>
          <a:xfrm>
            <a:off x="596646" y="4686300"/>
            <a:ext cx="10985754" cy="1166368"/>
            <a:chOff x="596646" y="4686300"/>
            <a:chExt cx="10985754" cy="1166368"/>
          </a:xfrm>
        </p:grpSpPr>
        <p:sp>
          <p:nvSpPr>
            <p:cNvPr id="18" name="Line 18"/>
            <p:cNvSpPr/>
            <p:nvPr/>
          </p:nvSpPr>
          <p:spPr>
            <a:xfrm>
              <a:off x="609600" y="4686300"/>
              <a:ext cx="10972800" cy="9525"/>
            </a:xfrm>
            <a:custGeom>
              <a:avLst/>
              <a:gdLst/>
              <a:ahLst/>
              <a:cxnLst/>
              <a:rect l="l" t="t" r="r" b="b"/>
              <a:pathLst>
                <a:path w="10972800" h="9525">
                  <a:moveTo>
                    <a:pt x="0" y="0"/>
                  </a:moveTo>
                  <a:lnTo>
                    <a:pt x="10972800" y="0"/>
                  </a:lnTo>
                </a:path>
              </a:pathLst>
            </a:custGeom>
            <a:noFill/>
            <a:ln w="9525">
              <a:solidFill>
                <a:srgbClr val="3A454A"/>
              </a:solidFill>
            </a:ln>
          </p:spPr>
        </p:sp>
        <p:sp>
          <p:nvSpPr>
            <p:cNvPr id="19" name="TextBox 19"/>
            <p:cNvSpPr txBox="1"/>
            <p:nvPr/>
          </p:nvSpPr>
          <p:spPr>
            <a:xfrm>
              <a:off x="596646" y="4845050"/>
              <a:ext cx="4488561"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不能把全体代表读成到场代表</a:t>
              </a:r>
            </a:p>
          </p:txBody>
        </p:sp>
        <p:sp>
          <p:nvSpPr>
            <p:cNvPr id="20" name="TextBox 20"/>
            <p:cNvSpPr txBox="1"/>
            <p:nvPr/>
          </p:nvSpPr>
          <p:spPr>
            <a:xfrm>
              <a:off x="598932" y="5441950"/>
              <a:ext cx="6240780"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计算范围不同：一个是全体代表，一个是到场代表</a:t>
              </a:r>
            </a:p>
          </p:txBody>
        </p:sp>
      </p:grpSp>
      <p:sp>
        <p:nvSpPr>
          <p:cNvPr id="22" name="TextBox 22"/>
          <p:cNvSpPr txBox="1"/>
          <p:nvPr/>
        </p:nvSpPr>
        <p:spPr>
          <a:xfrm>
            <a:off x="604266" y="6502400"/>
            <a:ext cx="2908364" cy="205359"/>
          </a:xfrm>
          <a:prstGeom prst="rect">
            <a:avLst/>
          </a:prstGeom>
          <a:noFill/>
          <a:ln>
            <a:noFill/>
          </a:ln>
        </p:spPr>
        <p:txBody>
          <a:bodyPr wrap="none" lIns="0" tIns="0" rIns="0" bIns="0" anchor="t" anchorCtr="0">
            <a:spAutoFit/>
          </a:bodyPr>
          <a:lstStyle/>
          <a:p>
            <a:pPr algn="l"/>
            <a:r>
              <a:rPr lang="zh-CN" sz="1050" dirty="0">
                <a:solidFill>
                  <a:srgbClr val="B8C4C8"/>
                </a:solidFill>
                <a:latin typeface="+mn-lt"/>
                <a:ea typeface="+mn-ea"/>
                <a:cs typeface="+mn-cs"/>
              </a:rPr>
              <a:t>宪法：2018 年修正文本，第六十四条两款全文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3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11 / 36</a:t>
              </a:r>
            </a:p>
          </p:txBody>
        </p:sp>
      </p:grpSp>
      <p:grpSp>
        <p:nvGrpSpPr>
          <p:cNvPr id="6" name="page-title"/>
          <p:cNvGrpSpPr/>
          <p:nvPr/>
        </p:nvGrpSpPr>
        <p:grpSpPr>
          <a:xfrm>
            <a:off x="590550" y="904875"/>
            <a:ext cx="5222748" cy="790575"/>
            <a:chOff x="590550" y="904875"/>
            <a:chExt cx="5222748" cy="790575"/>
          </a:xfrm>
        </p:grpSpPr>
        <p:sp>
          <p:nvSpPr>
            <p:cNvPr id="5" name="TextBox 5"/>
            <p:cNvSpPr txBox="1"/>
            <p:nvPr/>
          </p:nvSpPr>
          <p:spPr>
            <a:xfrm>
              <a:off x="590550" y="904875"/>
              <a:ext cx="5222748"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稳定的规则怎样改变</a:t>
              </a:r>
            </a:p>
          </p:txBody>
        </p:sp>
      </p:grpSp>
      <p:grpSp>
        <p:nvGrpSpPr>
          <p:cNvPr id="10" name="hypothesis"/>
          <p:cNvGrpSpPr/>
          <p:nvPr/>
        </p:nvGrpSpPr>
        <p:grpSpPr>
          <a:xfrm>
            <a:off x="595122" y="1885950"/>
            <a:ext cx="10987278" cy="1281303"/>
            <a:chOff x="595122" y="1885950"/>
            <a:chExt cx="10987278" cy="1281303"/>
          </a:xfrm>
        </p:grpSpPr>
        <p:sp>
          <p:nvSpPr>
            <p:cNvPr id="7" name="Line 7"/>
            <p:cNvSpPr/>
            <p:nvPr/>
          </p:nvSpPr>
          <p:spPr>
            <a:xfrm>
              <a:off x="609600" y="188595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8" name="TextBox 8"/>
            <p:cNvSpPr txBox="1"/>
            <p:nvPr/>
          </p:nvSpPr>
          <p:spPr>
            <a:xfrm>
              <a:off x="596646" y="2044700"/>
              <a:ext cx="5861685"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假设以普通法律把三分之二改成过半数</a:t>
              </a:r>
            </a:p>
          </p:txBody>
        </p:sp>
        <p:sp>
          <p:nvSpPr>
            <p:cNvPr id="9" name="TextBox 9"/>
            <p:cNvSpPr txBox="1"/>
            <p:nvPr/>
          </p:nvSpPr>
          <p:spPr>
            <a:xfrm>
              <a:off x="595122" y="2609850"/>
              <a:ext cx="5783961" cy="557403"/>
            </a:xfrm>
            <a:prstGeom prst="rect">
              <a:avLst/>
            </a:prstGeom>
            <a:noFill/>
            <a:ln>
              <a:noFill/>
            </a:ln>
          </p:spPr>
          <p:txBody>
            <a:bodyPr wrap="none" lIns="0" tIns="0" rIns="0" bIns="0" anchor="t" anchorCtr="0">
              <a:spAutoFit/>
            </a:bodyPr>
            <a:lstStyle/>
            <a:p>
              <a:pPr algn="l"/>
              <a:r>
                <a:rPr lang="zh-CN" sz="2850" dirty="0">
                  <a:solidFill>
                    <a:schemeClr val="accent2"/>
                  </a:solidFill>
                  <a:latin typeface="+mn-lt"/>
                  <a:ea typeface="+mn-ea"/>
                  <a:cs typeface="+mn-cs"/>
                </a:rPr>
                <a:t>不行，普通法律不能改宪法的程序</a:t>
              </a:r>
            </a:p>
          </p:txBody>
        </p:sp>
      </p:grpSp>
      <p:grpSp>
        <p:nvGrpSpPr>
          <p:cNvPr id="13" name="why-harder"/>
          <p:cNvGrpSpPr/>
          <p:nvPr/>
        </p:nvGrpSpPr>
        <p:grpSpPr>
          <a:xfrm>
            <a:off x="598932" y="3543300"/>
            <a:ext cx="10983468" cy="1001268"/>
            <a:chOff x="598932" y="3543300"/>
            <a:chExt cx="10983468" cy="1001268"/>
          </a:xfrm>
        </p:grpSpPr>
        <p:sp>
          <p:nvSpPr>
            <p:cNvPr id="11" name="Line 11"/>
            <p:cNvSpPr/>
            <p:nvPr/>
          </p:nvSpPr>
          <p:spPr>
            <a:xfrm>
              <a:off x="609600" y="354330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12" name="TextBox 12"/>
            <p:cNvSpPr txBox="1"/>
            <p:nvPr/>
          </p:nvSpPr>
          <p:spPr>
            <a:xfrm>
              <a:off x="598932" y="3733800"/>
              <a:ext cx="82890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为什么修改宪法还要更高的支持比例，联系它调整的内容看</a:t>
              </a:r>
              <a:br>
                <a:rPr lang="zh-CN" sz="2100" dirty="0">
                  <a:solidFill>
                    <a:schemeClr val="dk1"/>
                  </a:solidFill>
                  <a:latin typeface="+mn-lt"/>
                  <a:ea typeface="+mn-ea"/>
                  <a:cs typeface="+mn-cs"/>
                </a:rPr>
              </a:br>
              <a:r>
                <a:rPr lang="zh-CN" sz="2100" dirty="0">
                  <a:solidFill>
                    <a:schemeClr val="dk1"/>
                  </a:solidFill>
                  <a:latin typeface="+mn-lt"/>
                  <a:ea typeface="+mn-ea"/>
                  <a:cs typeface="+mn-cs"/>
                </a:rPr>
                <a:t>门槛提高使修改更难；国家制度要保持稳定，也要随社会发展依法完善</a:t>
              </a:r>
            </a:p>
          </p:txBody>
        </p:sp>
      </p:grpSp>
      <p:grpSp>
        <p:nvGrpSpPr>
          <p:cNvPr id="23" name="three-features"/>
          <p:cNvGrpSpPr/>
          <p:nvPr/>
        </p:nvGrpSpPr>
        <p:grpSpPr>
          <a:xfrm>
            <a:off x="596646" y="5105400"/>
            <a:ext cx="10985754" cy="1052068"/>
            <a:chOff x="596646" y="5105400"/>
            <a:chExt cx="10985754" cy="1052068"/>
          </a:xfrm>
        </p:grpSpPr>
        <p:sp>
          <p:nvSpPr>
            <p:cNvPr id="14" name="Line 14"/>
            <p:cNvSpPr/>
            <p:nvPr/>
          </p:nvSpPr>
          <p:spPr>
            <a:xfrm>
              <a:off x="609600" y="5105400"/>
              <a:ext cx="3250882" cy="9525"/>
            </a:xfrm>
            <a:custGeom>
              <a:avLst/>
              <a:gdLst/>
              <a:ahLst/>
              <a:cxnLst/>
              <a:rect l="l" t="t" r="r" b="b"/>
              <a:pathLst>
                <a:path w="3250882" h="9525">
                  <a:moveTo>
                    <a:pt x="0" y="0"/>
                  </a:moveTo>
                  <a:lnTo>
                    <a:pt x="3250882" y="0"/>
                  </a:lnTo>
                </a:path>
              </a:pathLst>
            </a:custGeom>
            <a:noFill/>
            <a:ln w="9525">
              <a:solidFill>
                <a:srgbClr val="CDC8BE"/>
              </a:solidFill>
            </a:ln>
          </p:spPr>
        </p:sp>
        <p:sp>
          <p:nvSpPr>
            <p:cNvPr id="15" name="TextBox 15"/>
            <p:cNvSpPr txBox="1"/>
            <p:nvPr/>
          </p:nvSpPr>
          <p:spPr>
            <a:xfrm>
              <a:off x="596646" y="5283200"/>
              <a:ext cx="712470"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内容</a:t>
              </a:r>
            </a:p>
          </p:txBody>
        </p:sp>
        <p:sp>
          <p:nvSpPr>
            <p:cNvPr id="16" name="TextBox 16"/>
            <p:cNvSpPr txBox="1"/>
            <p:nvPr/>
          </p:nvSpPr>
          <p:spPr>
            <a:xfrm>
              <a:off x="598932" y="5746750"/>
              <a:ext cx="115214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根本问题</a:t>
              </a:r>
            </a:p>
          </p:txBody>
        </p:sp>
        <p:sp>
          <p:nvSpPr>
            <p:cNvPr id="17" name="Line 17"/>
            <p:cNvSpPr/>
            <p:nvPr/>
          </p:nvSpPr>
          <p:spPr>
            <a:xfrm>
              <a:off x="4470082" y="5105400"/>
              <a:ext cx="3251835" cy="9525"/>
            </a:xfrm>
            <a:custGeom>
              <a:avLst/>
              <a:gdLst/>
              <a:ahLst/>
              <a:cxnLst/>
              <a:rect l="l" t="t" r="r" b="b"/>
              <a:pathLst>
                <a:path w="3251835" h="9525">
                  <a:moveTo>
                    <a:pt x="0" y="0"/>
                  </a:moveTo>
                  <a:lnTo>
                    <a:pt x="3251835" y="0"/>
                  </a:lnTo>
                </a:path>
              </a:pathLst>
            </a:custGeom>
            <a:noFill/>
            <a:ln w="9525">
              <a:solidFill>
                <a:srgbClr val="CDC8BE"/>
              </a:solidFill>
            </a:ln>
          </p:spPr>
        </p:sp>
        <p:sp>
          <p:nvSpPr>
            <p:cNvPr id="18" name="TextBox 18"/>
            <p:cNvSpPr txBox="1"/>
            <p:nvPr/>
          </p:nvSpPr>
          <p:spPr>
            <a:xfrm>
              <a:off x="4457128" y="5283200"/>
              <a:ext cx="712470"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效力</a:t>
              </a:r>
            </a:p>
          </p:txBody>
        </p:sp>
        <p:sp>
          <p:nvSpPr>
            <p:cNvPr id="19" name="TextBox 19"/>
            <p:cNvSpPr txBox="1"/>
            <p:nvPr/>
          </p:nvSpPr>
          <p:spPr>
            <a:xfrm>
              <a:off x="4459414" y="5746750"/>
              <a:ext cx="200025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最高法律约束力</a:t>
              </a:r>
            </a:p>
          </p:txBody>
        </p:sp>
        <p:sp>
          <p:nvSpPr>
            <p:cNvPr id="20" name="Line 20"/>
            <p:cNvSpPr/>
            <p:nvPr/>
          </p:nvSpPr>
          <p:spPr>
            <a:xfrm>
              <a:off x="8331518" y="5105400"/>
              <a:ext cx="3250882" cy="9525"/>
            </a:xfrm>
            <a:custGeom>
              <a:avLst/>
              <a:gdLst/>
              <a:ahLst/>
              <a:cxnLst/>
              <a:rect l="l" t="t" r="r" b="b"/>
              <a:pathLst>
                <a:path w="3250882" h="9525">
                  <a:moveTo>
                    <a:pt x="0" y="0"/>
                  </a:moveTo>
                  <a:lnTo>
                    <a:pt x="3250882" y="0"/>
                  </a:lnTo>
                </a:path>
              </a:pathLst>
            </a:custGeom>
            <a:noFill/>
            <a:ln w="9525">
              <a:solidFill>
                <a:srgbClr val="CDC8BE"/>
              </a:solidFill>
            </a:ln>
          </p:spPr>
        </p:sp>
        <p:sp>
          <p:nvSpPr>
            <p:cNvPr id="21" name="TextBox 21"/>
            <p:cNvSpPr txBox="1"/>
            <p:nvPr/>
          </p:nvSpPr>
          <p:spPr>
            <a:xfrm>
              <a:off x="8318564" y="5283200"/>
              <a:ext cx="712470"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程序</a:t>
              </a:r>
            </a:p>
          </p:txBody>
        </p:sp>
        <p:sp>
          <p:nvSpPr>
            <p:cNvPr id="22" name="TextBox 22"/>
            <p:cNvSpPr txBox="1"/>
            <p:nvPr/>
          </p:nvSpPr>
          <p:spPr>
            <a:xfrm>
              <a:off x="8320850" y="5746750"/>
              <a:ext cx="22829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特殊而严格的安排</a:t>
              </a:r>
            </a:p>
          </p:txBody>
        </p:sp>
      </p:grpSp>
      <p:sp>
        <p:nvSpPr>
          <p:cNvPr id="24" name="TextBox 24"/>
          <p:cNvSpPr txBox="1"/>
          <p:nvPr/>
        </p:nvSpPr>
        <p:spPr>
          <a:xfrm>
            <a:off x="604266" y="6502400"/>
            <a:ext cx="3353619"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宪法序言末段、第5、64条；根本法特征的课堂归纳。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3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12 / 36</a:t>
              </a:r>
            </a:p>
          </p:txBody>
        </p:sp>
      </p:grpSp>
      <p:grpSp>
        <p:nvGrpSpPr>
          <p:cNvPr id="6" name="page-title"/>
          <p:cNvGrpSpPr/>
          <p:nvPr/>
        </p:nvGrpSpPr>
        <p:grpSpPr>
          <a:xfrm>
            <a:off x="590550" y="904875"/>
            <a:ext cx="5798820" cy="790575"/>
            <a:chOff x="590550" y="904875"/>
            <a:chExt cx="5798820" cy="790575"/>
          </a:xfrm>
        </p:grpSpPr>
        <p:sp>
          <p:nvSpPr>
            <p:cNvPr id="5" name="TextBox 5"/>
            <p:cNvSpPr txBox="1"/>
            <p:nvPr/>
          </p:nvSpPr>
          <p:spPr>
            <a:xfrm>
              <a:off x="590550" y="904875"/>
              <a:ext cx="5798820"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一九五三年，选民登记</a:t>
              </a:r>
            </a:p>
          </p:txBody>
        </p:sp>
      </p:grpSp>
      <p:grpSp>
        <p:nvGrpSpPr>
          <p:cNvPr id="10" name="judgement"/>
          <p:cNvGrpSpPr/>
          <p:nvPr/>
        </p:nvGrpSpPr>
        <p:grpSpPr>
          <a:xfrm>
            <a:off x="595122" y="1885950"/>
            <a:ext cx="5196078" cy="2830068"/>
            <a:chOff x="595122" y="1885950"/>
            <a:chExt cx="5196078" cy="2830068"/>
          </a:xfrm>
        </p:grpSpPr>
        <p:sp>
          <p:nvSpPr>
            <p:cNvPr id="7" name="Line 7"/>
            <p:cNvSpPr/>
            <p:nvPr/>
          </p:nvSpPr>
          <p:spPr>
            <a:xfrm>
              <a:off x="609600" y="188595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8" name="TextBox 8"/>
            <p:cNvSpPr txBox="1"/>
            <p:nvPr/>
          </p:nvSpPr>
          <p:spPr>
            <a:xfrm>
              <a:off x="595122" y="2089150"/>
              <a:ext cx="2924556" cy="1100328"/>
            </a:xfrm>
            <a:prstGeom prst="rect">
              <a:avLst/>
            </a:prstGeom>
            <a:noFill/>
            <a:ln>
              <a:noFill/>
            </a:ln>
          </p:spPr>
          <p:txBody>
            <a:bodyPr wrap="none" lIns="0" tIns="0" rIns="0" bIns="0" anchor="t" anchorCtr="0">
              <a:spAutoFit/>
            </a:bodyPr>
            <a:lstStyle/>
            <a:p>
              <a:pPr algn="l">
                <a:lnSpc>
                  <a:spcPts val="4275"/>
                </a:lnSpc>
              </a:pPr>
              <a:r>
                <a:rPr lang="zh-CN" sz="2850" dirty="0">
                  <a:solidFill>
                    <a:schemeClr val="accent1"/>
                  </a:solidFill>
                  <a:latin typeface="+mn-lt"/>
                  <a:ea typeface="+mn-ea"/>
                  <a:cs typeface="+mn-cs"/>
                </a:rPr>
                <a:t>确认选民资格的，</a:t>
              </a:r>
              <a:br>
                <a:rPr lang="zh-CN" sz="2850" dirty="0">
                  <a:solidFill>
                    <a:schemeClr val="accent1"/>
                  </a:solidFill>
                  <a:latin typeface="+mn-lt"/>
                  <a:ea typeface="+mn-ea"/>
                  <a:cs typeface="+mn-cs"/>
                </a:rPr>
              </a:br>
              <a:r>
                <a:rPr lang="zh-CN" sz="2850" dirty="0">
                  <a:solidFill>
                    <a:schemeClr val="accent1"/>
                  </a:solidFill>
                  <a:latin typeface="+mn-lt"/>
                  <a:ea typeface="+mn-ea"/>
                  <a:cs typeface="+mn-cs"/>
                </a:rPr>
                <a:t>是她本人</a:t>
              </a:r>
            </a:p>
          </p:txBody>
        </p:sp>
        <p:sp>
          <p:nvSpPr>
            <p:cNvPr id="9" name="TextBox 9"/>
            <p:cNvSpPr txBox="1"/>
            <p:nvPr/>
          </p:nvSpPr>
          <p:spPr>
            <a:xfrm>
              <a:off x="598932" y="3505200"/>
              <a:ext cx="2955036" cy="1210818"/>
            </a:xfrm>
            <a:prstGeom prst="rect">
              <a:avLst/>
            </a:prstGeom>
            <a:noFill/>
            <a:ln>
              <a:noFill/>
            </a:ln>
          </p:spPr>
          <p:txBody>
            <a:bodyPr wrap="none" lIns="0" tIns="0" rIns="0" bIns="0" anchor="t" anchorCtr="0">
              <a:spAutoFit/>
            </a:bodyPr>
            <a:lstStyle/>
            <a:p>
              <a:pPr algn="l">
                <a:lnSpc>
                  <a:spcPts val="3150"/>
                </a:lnSpc>
              </a:pPr>
              <a:r>
                <a:rPr lang="zh-CN" sz="2100" dirty="0">
                  <a:solidFill>
                    <a:schemeClr val="accent5"/>
                  </a:solidFill>
                  <a:latin typeface="+mn-lt"/>
                  <a:ea typeface="+mn-ea"/>
                  <a:cs typeface="+mn-cs"/>
                </a:rPr>
                <a:t>她不只是谁家的大嫂，</a:t>
              </a:r>
              <a:br>
                <a:rPr lang="zh-CN" sz="2100" dirty="0">
                  <a:solidFill>
                    <a:schemeClr val="accent5"/>
                  </a:solidFill>
                  <a:latin typeface="+mn-lt"/>
                  <a:ea typeface="+mn-ea"/>
                  <a:cs typeface="+mn-cs"/>
                </a:rPr>
              </a:br>
              <a:r>
                <a:rPr lang="zh-CN" sz="2100" dirty="0">
                  <a:solidFill>
                    <a:schemeClr val="accent5"/>
                  </a:solidFill>
                  <a:latin typeface="+mn-lt"/>
                  <a:ea typeface="+mn-ea"/>
                  <a:cs typeface="+mn-cs"/>
                </a:rPr>
                <a:t>也是能够参与公共事务、</a:t>
              </a:r>
              <a:br>
                <a:rPr lang="zh-CN" sz="2100" dirty="0">
                  <a:solidFill>
                    <a:schemeClr val="accent5"/>
                  </a:solidFill>
                  <a:latin typeface="+mn-lt"/>
                  <a:ea typeface="+mn-ea"/>
                  <a:cs typeface="+mn-cs"/>
                </a:rPr>
              </a:br>
              <a:r>
                <a:rPr lang="zh-CN" sz="2100" dirty="0">
                  <a:solidFill>
                    <a:schemeClr val="accent5"/>
                  </a:solidFill>
                  <a:latin typeface="+mn-lt"/>
                  <a:ea typeface="+mn-ea"/>
                  <a:cs typeface="+mn-cs"/>
                </a:rPr>
                <a:t>表达意见的一个具体的人</a:t>
              </a:r>
            </a:p>
          </p:txBody>
        </p:sp>
      </p:grpSp>
      <p:grpSp>
        <p:nvGrpSpPr>
          <p:cNvPr id="13" name="scene-title"/>
          <p:cNvGrpSpPr/>
          <p:nvPr/>
        </p:nvGrpSpPr>
        <p:grpSpPr>
          <a:xfrm>
            <a:off x="6387846" y="1885950"/>
            <a:ext cx="5194554" cy="790829"/>
            <a:chOff x="6387846" y="1885950"/>
            <a:chExt cx="5194554" cy="790829"/>
          </a:xfrm>
        </p:grpSpPr>
        <p:sp>
          <p:nvSpPr>
            <p:cNvPr id="11" name="Line 11"/>
            <p:cNvSpPr/>
            <p:nvPr/>
          </p:nvSpPr>
          <p:spPr>
            <a:xfrm>
              <a:off x="6400800" y="188595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12" name="TextBox 12"/>
            <p:cNvSpPr txBox="1"/>
            <p:nvPr/>
          </p:nvSpPr>
          <p:spPr>
            <a:xfrm>
              <a:off x="6387846" y="2178050"/>
              <a:ext cx="1399032"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登记现场</a:t>
              </a:r>
            </a:p>
          </p:txBody>
        </p:sp>
      </p:grpSp>
      <p:grpSp>
        <p:nvGrpSpPr>
          <p:cNvPr id="15" name="scene-lines"/>
          <p:cNvGrpSpPr/>
          <p:nvPr/>
        </p:nvGrpSpPr>
        <p:grpSpPr>
          <a:xfrm>
            <a:off x="6390132" y="3352800"/>
            <a:ext cx="4555236" cy="2410968"/>
            <a:chOff x="6390132" y="3352800"/>
            <a:chExt cx="4555236" cy="2410968"/>
          </a:xfrm>
        </p:grpSpPr>
        <p:sp>
          <p:nvSpPr>
            <p:cNvPr id="14" name="TextBox 14"/>
            <p:cNvSpPr txBox="1"/>
            <p:nvPr/>
          </p:nvSpPr>
          <p:spPr>
            <a:xfrm>
              <a:off x="6390132" y="3352800"/>
              <a:ext cx="4555236" cy="24109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许崇德在山东农村</a:t>
              </a:r>
              <a:br>
                <a:rPr lang="zh-CN" sz="2100" dirty="0">
                  <a:solidFill>
                    <a:schemeClr val="dk1"/>
                  </a:solidFill>
                  <a:latin typeface="+mn-lt"/>
                  <a:ea typeface="+mn-ea"/>
                  <a:cs typeface="+mn-cs"/>
                </a:rPr>
              </a:br>
              <a:r>
                <a:rPr lang="zh-CN" sz="2100" dirty="0">
                  <a:solidFill>
                    <a:schemeClr val="dk1"/>
                  </a:solidFill>
                  <a:latin typeface="+mn-lt"/>
                  <a:ea typeface="+mn-ea"/>
                  <a:cs typeface="+mn-cs"/>
                </a:rPr>
                <a:t>遇到一些没有个人名字的农村妇女</a:t>
              </a:r>
              <a:br>
                <a:rPr lang="zh-CN" sz="2100" dirty="0">
                  <a:solidFill>
                    <a:schemeClr val="dk1"/>
                  </a:solidFill>
                  <a:latin typeface="+mn-lt"/>
                  <a:ea typeface="+mn-ea"/>
                  <a:cs typeface="+mn-cs"/>
                </a:rPr>
              </a:br>
              <a:r>
                <a:rPr lang="zh-CN" sz="2100" dirty="0">
                  <a:solidFill>
                    <a:schemeClr val="dk1"/>
                  </a:solidFill>
                  <a:latin typeface="+mn-lt"/>
                  <a:ea typeface="+mn-ea"/>
                  <a:cs typeface="+mn-cs"/>
                </a:rPr>
                <a:t>平时被叫作张家大嫂、李家大妈</a:t>
              </a:r>
              <a:br>
                <a:rPr lang="zh-CN" sz="2100" dirty="0">
                  <a:solidFill>
                    <a:schemeClr val="dk1"/>
                  </a:solidFill>
                  <a:latin typeface="+mn-lt"/>
                  <a:ea typeface="+mn-ea"/>
                  <a:cs typeface="+mn-cs"/>
                </a:rPr>
              </a:br>
              <a:r>
                <a:rPr lang="zh-CN" sz="2100" dirty="0">
                  <a:solidFill>
                    <a:schemeClr val="dk1"/>
                  </a:solidFill>
                  <a:latin typeface="+mn-lt"/>
                  <a:ea typeface="+mn-ea"/>
                  <a:cs typeface="+mn-cs"/>
                </a:rPr>
                <a:t>工作人员一边帮助起名字，</a:t>
              </a:r>
              <a:br>
                <a:rPr lang="zh-CN" sz="2100" dirty="0">
                  <a:solidFill>
                    <a:schemeClr val="dk1"/>
                  </a:solidFill>
                  <a:latin typeface="+mn-lt"/>
                  <a:ea typeface="+mn-ea"/>
                  <a:cs typeface="+mn-cs"/>
                </a:rPr>
              </a:br>
              <a:r>
                <a:rPr lang="zh-CN" sz="2100" dirty="0">
                  <a:solidFill>
                    <a:schemeClr val="dk1"/>
                  </a:solidFill>
                  <a:latin typeface="+mn-lt"/>
                  <a:ea typeface="+mn-ea"/>
                  <a:cs typeface="+mn-cs"/>
                </a:rPr>
                <a:t>一边登记、发放选民证</a:t>
              </a:r>
              <a:br>
                <a:rPr lang="zh-CN" sz="2100" dirty="0">
                  <a:solidFill>
                    <a:schemeClr val="dk1"/>
                  </a:solidFill>
                  <a:latin typeface="+mn-lt"/>
                  <a:ea typeface="+mn-ea"/>
                  <a:cs typeface="+mn-cs"/>
                </a:rPr>
              </a:br>
              <a:r>
                <a:rPr lang="zh-CN" sz="2100" dirty="0">
                  <a:solidFill>
                    <a:schemeClr val="dk1"/>
                  </a:solidFill>
                  <a:latin typeface="+mn-lt"/>
                  <a:ea typeface="+mn-ea"/>
                  <a:cs typeface="+mn-cs"/>
                </a:rPr>
                <a:t>她们第一次在选民榜上看见自己的名字</a:t>
              </a:r>
            </a:p>
          </p:txBody>
        </p:sp>
      </p:grpSp>
      <p:sp>
        <p:nvSpPr>
          <p:cNvPr id="16" name="TextBox 16"/>
          <p:cNvSpPr txBox="1"/>
          <p:nvPr/>
        </p:nvSpPr>
        <p:spPr>
          <a:xfrm>
            <a:off x="604266" y="6502400"/>
            <a:ext cx="1141476"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材料：许崇德记述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13 / 36</a:t>
              </a:r>
            </a:p>
          </p:txBody>
        </p:sp>
      </p:grpSp>
      <p:grpSp>
        <p:nvGrpSpPr>
          <p:cNvPr id="6" name="artwork"/>
          <p:cNvGrpSpPr/>
          <p:nvPr/>
        </p:nvGrpSpPr>
        <p:grpSpPr>
          <a:xfrm>
            <a:off x="609600" y="762000"/>
            <a:ext cx="3429000" cy="5543550"/>
            <a:chOff x="609600" y="762000"/>
            <a:chExt cx="3429000" cy="5543550"/>
          </a:xfrm>
        </p:grpSpPr>
        <p:pic>
          <p:nvPicPr>
            <p:cNvPr id="5" name="Image 5"/>
            <p:cNvPicPr>
              <a:picLocks noChangeAspect="1"/>
            </p:cNvPicPr>
            <p:nvPr/>
          </p:nvPicPr>
          <p:blipFill>
            <a:blip r:embed="rId2"/>
            <a:stretch>
              <a:fillRect/>
            </a:stretch>
          </p:blipFill>
          <p:spPr>
            <a:xfrm>
              <a:off x="609600" y="762000"/>
              <a:ext cx="3429000" cy="5543550"/>
            </a:xfrm>
            <a:prstGeom prst="rect">
              <a:avLst/>
            </a:prstGeom>
          </p:spPr>
        </p:pic>
      </p:grpSp>
      <p:grpSp>
        <p:nvGrpSpPr>
          <p:cNvPr id="9" name="artwork-question"/>
          <p:cNvGrpSpPr/>
          <p:nvPr/>
        </p:nvGrpSpPr>
        <p:grpSpPr>
          <a:xfrm>
            <a:off x="5514975" y="1546225"/>
            <a:ext cx="4152900" cy="2168779"/>
            <a:chOff x="5514975" y="1546225"/>
            <a:chExt cx="4152900" cy="2168779"/>
          </a:xfrm>
        </p:grpSpPr>
        <p:sp>
          <p:nvSpPr>
            <p:cNvPr id="7" name="TextBox 7"/>
            <p:cNvSpPr txBox="1"/>
            <p:nvPr/>
          </p:nvSpPr>
          <p:spPr>
            <a:xfrm>
              <a:off x="5514975" y="1546225"/>
              <a:ext cx="4152900" cy="1484948"/>
            </a:xfrm>
            <a:prstGeom prst="rect">
              <a:avLst/>
            </a:prstGeom>
            <a:noFill/>
            <a:ln>
              <a:noFill/>
            </a:ln>
          </p:spPr>
          <p:txBody>
            <a:bodyPr wrap="none" lIns="0" tIns="0" rIns="0" bIns="0" anchor="t" anchorCtr="0">
              <a:spAutoFit/>
            </a:bodyPr>
            <a:lstStyle/>
            <a:p>
              <a:pPr algn="l">
                <a:lnSpc>
                  <a:spcPts val="5468"/>
                </a:lnSpc>
              </a:pPr>
              <a:r>
                <a:rPr lang="zh-CN" sz="4050" dirty="0">
                  <a:solidFill>
                    <a:schemeClr val="accent1"/>
                  </a:solidFill>
                  <a:latin typeface="+mj-lt"/>
                  <a:ea typeface="+mj-ea"/>
                  <a:cs typeface="+mj-cs"/>
                </a:rPr>
                <a:t>一张选民证，</a:t>
              </a:r>
              <a:br>
                <a:rPr lang="zh-CN" sz="4050" dirty="0">
                  <a:solidFill>
                    <a:schemeClr val="accent1"/>
                  </a:solidFill>
                  <a:latin typeface="+mj-lt"/>
                  <a:ea typeface="+mj-ea"/>
                  <a:cs typeface="+mj-cs"/>
                </a:rPr>
              </a:br>
              <a:r>
                <a:rPr lang="zh-CN" sz="4050" dirty="0">
                  <a:solidFill>
                    <a:schemeClr val="accent1"/>
                  </a:solidFill>
                  <a:latin typeface="+mj-lt"/>
                  <a:ea typeface="+mj-ea"/>
                  <a:cs typeface="+mj-cs"/>
                </a:rPr>
                <a:t>为什么值得珍藏？</a:t>
              </a:r>
            </a:p>
          </p:txBody>
        </p:sp>
        <p:sp>
          <p:nvSpPr>
            <p:cNvPr id="8" name="TextBox 8"/>
            <p:cNvSpPr txBox="1"/>
            <p:nvPr/>
          </p:nvSpPr>
          <p:spPr>
            <a:xfrm>
              <a:off x="5521071" y="3216275"/>
              <a:ext cx="3801999"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杨之光《一辈子第一回》</a:t>
              </a:r>
            </a:p>
          </p:txBody>
        </p:sp>
      </p:grpSp>
      <p:grpSp>
        <p:nvGrpSpPr>
          <p:cNvPr id="11" name="artwork-identity"/>
          <p:cNvGrpSpPr/>
          <p:nvPr/>
        </p:nvGrpSpPr>
        <p:grpSpPr>
          <a:xfrm>
            <a:off x="5523357" y="4060825"/>
            <a:ext cx="3357220" cy="410718"/>
            <a:chOff x="5523357" y="4060825"/>
            <a:chExt cx="3357220" cy="410718"/>
          </a:xfrm>
        </p:grpSpPr>
        <p:sp>
          <p:nvSpPr>
            <p:cNvPr id="10" name="TextBox 10"/>
            <p:cNvSpPr txBox="1"/>
            <p:nvPr/>
          </p:nvSpPr>
          <p:spPr>
            <a:xfrm>
              <a:off x="5523357" y="4060825"/>
              <a:ext cx="3357220" cy="410718"/>
            </a:xfrm>
            <a:prstGeom prst="rect">
              <a:avLst/>
            </a:prstGeom>
            <a:noFill/>
            <a:ln>
              <a:noFill/>
            </a:ln>
          </p:spPr>
          <p:txBody>
            <a:bodyPr wrap="none" lIns="0" tIns="0" rIns="0" bIns="0" anchor="t" anchorCtr="0">
              <a:spAutoFit/>
            </a:bodyPr>
            <a:lstStyle/>
            <a:p>
              <a:pPr algn="l"/>
              <a:r>
                <a:rPr lang="zh-CN" sz="2100" dirty="0">
                  <a:solidFill>
                    <a:schemeClr val="accent6"/>
                  </a:solidFill>
                  <a:latin typeface="+mn-lt"/>
                  <a:ea typeface="+mn-ea"/>
                  <a:cs typeface="+mn-cs"/>
                </a:rPr>
                <a:t>1954 中国画 中国美术馆藏</a:t>
              </a:r>
            </a:p>
          </p:txBody>
        </p:sp>
      </p:grpSp>
      <p:grpSp>
        <p:nvGrpSpPr>
          <p:cNvPr id="14" name="artwork-origins"/>
          <p:cNvGrpSpPr/>
          <p:nvPr/>
        </p:nvGrpSpPr>
        <p:grpSpPr>
          <a:xfrm>
            <a:off x="5519547" y="4848225"/>
            <a:ext cx="3492246" cy="1344168"/>
            <a:chOff x="5519547" y="4848225"/>
            <a:chExt cx="3492246" cy="1344168"/>
          </a:xfrm>
        </p:grpSpPr>
        <p:sp>
          <p:nvSpPr>
            <p:cNvPr id="12" name="TextBox 12"/>
            <p:cNvSpPr txBox="1"/>
            <p:nvPr/>
          </p:nvSpPr>
          <p:spPr>
            <a:xfrm>
              <a:off x="5519547" y="4848225"/>
              <a:ext cx="2714625" cy="557403"/>
            </a:xfrm>
            <a:prstGeom prst="rect">
              <a:avLst/>
            </a:prstGeom>
            <a:noFill/>
            <a:ln>
              <a:noFill/>
            </a:ln>
          </p:spPr>
          <p:txBody>
            <a:bodyPr wrap="none" lIns="0" tIns="0" rIns="0" bIns="0" anchor="t" anchorCtr="0">
              <a:spAutoFit/>
            </a:bodyPr>
            <a:lstStyle/>
            <a:p>
              <a:pPr algn="l"/>
              <a:r>
                <a:rPr lang="zh-CN" sz="2850" dirty="0">
                  <a:solidFill>
                    <a:schemeClr val="accent2"/>
                  </a:solidFill>
                  <a:latin typeface="+mn-lt"/>
                  <a:ea typeface="+mn-ea"/>
                  <a:cs typeface="+mn-cs"/>
                </a:rPr>
                <a:t>手帕里的选民证</a:t>
              </a:r>
            </a:p>
          </p:txBody>
        </p:sp>
        <p:sp>
          <p:nvSpPr>
            <p:cNvPr id="13" name="TextBox 13"/>
            <p:cNvSpPr txBox="1"/>
            <p:nvPr/>
          </p:nvSpPr>
          <p:spPr>
            <a:xfrm>
              <a:off x="5523357" y="5381625"/>
              <a:ext cx="34884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画家结合生活印象创作的形象</a:t>
              </a:r>
              <a:br>
                <a:rPr lang="zh-CN" sz="2100" dirty="0">
                  <a:solidFill>
                    <a:schemeClr val="dk1"/>
                  </a:solidFill>
                  <a:latin typeface="+mn-lt"/>
                  <a:ea typeface="+mn-ea"/>
                  <a:cs typeface="+mn-cs"/>
                </a:rPr>
              </a:br>
              <a:r>
                <a:rPr lang="zh-CN" sz="2100" dirty="0">
                  <a:solidFill>
                    <a:schemeClr val="dk1"/>
                  </a:solidFill>
                  <a:latin typeface="+mn-lt"/>
                  <a:ea typeface="+mn-ea"/>
                  <a:cs typeface="+mn-cs"/>
                </a:rPr>
                <a:t>并非特定登记现场的具名人物</a:t>
              </a:r>
            </a:p>
          </p:txBody>
        </p:sp>
      </p:grpSp>
      <p:sp>
        <p:nvSpPr>
          <p:cNvPr id="15" name="TextBox 15"/>
          <p:cNvSpPr txBox="1"/>
          <p:nvPr/>
        </p:nvSpPr>
        <p:spPr>
          <a:xfrm>
            <a:off x="604266" y="6502400"/>
            <a:ext cx="3403092"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图源：广东美术馆官网　完整作品数字图，非现场照片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14 / 36</a:t>
              </a:r>
            </a:p>
          </p:txBody>
        </p:sp>
      </p:grpSp>
      <p:grpSp>
        <p:nvGrpSpPr>
          <p:cNvPr id="6" name="page-title"/>
          <p:cNvGrpSpPr/>
          <p:nvPr/>
        </p:nvGrpSpPr>
        <p:grpSpPr>
          <a:xfrm>
            <a:off x="590550" y="904875"/>
            <a:ext cx="5798820" cy="790575"/>
            <a:chOff x="590550" y="904875"/>
            <a:chExt cx="5798820" cy="790575"/>
          </a:xfrm>
        </p:grpSpPr>
        <p:sp>
          <p:nvSpPr>
            <p:cNvPr id="5" name="TextBox 5"/>
            <p:cNvSpPr txBox="1"/>
            <p:nvPr/>
          </p:nvSpPr>
          <p:spPr>
            <a:xfrm>
              <a:off x="590550" y="904875"/>
              <a:ext cx="5798820"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一颗豆子放进不同的碗</a:t>
              </a:r>
            </a:p>
          </p:txBody>
        </p:sp>
      </p:grpSp>
      <p:grpSp>
        <p:nvGrpSpPr>
          <p:cNvPr id="11" name="bean-steps"/>
          <p:cNvGrpSpPr/>
          <p:nvPr/>
        </p:nvGrpSpPr>
        <p:grpSpPr>
          <a:xfrm>
            <a:off x="596646" y="1885950"/>
            <a:ext cx="5194554" cy="2594483"/>
            <a:chOff x="596646" y="1885950"/>
            <a:chExt cx="5194554" cy="2594483"/>
          </a:xfrm>
        </p:grpSpPr>
        <p:sp>
          <p:nvSpPr>
            <p:cNvPr id="7" name="Line 7"/>
            <p:cNvSpPr/>
            <p:nvPr/>
          </p:nvSpPr>
          <p:spPr>
            <a:xfrm>
              <a:off x="609600" y="188595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8" name="TextBox 8"/>
            <p:cNvSpPr txBox="1"/>
            <p:nvPr/>
          </p:nvSpPr>
          <p:spPr>
            <a:xfrm>
              <a:off x="596646" y="2101850"/>
              <a:ext cx="3458718"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不识字，怎么投这一票</a:t>
              </a:r>
            </a:p>
          </p:txBody>
        </p:sp>
        <p:sp>
          <p:nvSpPr>
            <p:cNvPr id="9" name="TextBox 9"/>
            <p:cNvSpPr txBox="1"/>
            <p:nvPr/>
          </p:nvSpPr>
          <p:spPr>
            <a:xfrm>
              <a:off x="598932" y="2743200"/>
              <a:ext cx="3221736" cy="121081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一　用豆子表示选票</a:t>
              </a:r>
              <a:br>
                <a:rPr lang="zh-CN" sz="2100" dirty="0">
                  <a:solidFill>
                    <a:schemeClr val="dk1"/>
                  </a:solidFill>
                  <a:latin typeface="+mn-lt"/>
                  <a:ea typeface="+mn-ea"/>
                  <a:cs typeface="+mn-cs"/>
                </a:rPr>
              </a:br>
              <a:r>
                <a:rPr lang="zh-CN" sz="2100" dirty="0">
                  <a:solidFill>
                    <a:schemeClr val="dk1"/>
                  </a:solidFill>
                  <a:latin typeface="+mn-lt"/>
                  <a:ea typeface="+mn-ea"/>
                  <a:cs typeface="+mn-cs"/>
                </a:rPr>
                <a:t>二　候选人与相应的碗对应</a:t>
              </a:r>
              <a:br>
                <a:rPr lang="zh-CN" sz="2100" dirty="0">
                  <a:solidFill>
                    <a:schemeClr val="dk1"/>
                  </a:solidFill>
                  <a:latin typeface="+mn-lt"/>
                  <a:ea typeface="+mn-ea"/>
                  <a:cs typeface="+mn-cs"/>
                </a:rPr>
              </a:br>
              <a:r>
                <a:rPr lang="zh-CN" sz="2100" dirty="0">
                  <a:solidFill>
                    <a:schemeClr val="dk1"/>
                  </a:solidFill>
                  <a:latin typeface="+mn-lt"/>
                  <a:ea typeface="+mn-ea"/>
                  <a:cs typeface="+mn-cs"/>
                </a:rPr>
                <a:t>三　当众数豆，票数看得见</a:t>
              </a:r>
            </a:p>
          </p:txBody>
        </p:sp>
        <p:sp>
          <p:nvSpPr>
            <p:cNvPr id="10" name="TextBox 10"/>
            <p:cNvSpPr txBox="1"/>
            <p:nvPr/>
          </p:nvSpPr>
          <p:spPr>
            <a:xfrm>
              <a:off x="602742" y="4216400"/>
              <a:ext cx="3830193"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革命根据地选举遇到同一问题：有些选民不识字</a:t>
              </a:r>
            </a:p>
          </p:txBody>
        </p:sp>
      </p:grpSp>
      <p:grpSp>
        <p:nvGrpSpPr>
          <p:cNvPr id="19" name="strong-quote"/>
          <p:cNvGrpSpPr/>
          <p:nvPr/>
        </p:nvGrpSpPr>
        <p:grpSpPr>
          <a:xfrm>
            <a:off x="6387846" y="1885950"/>
            <a:ext cx="5194554" cy="4118483"/>
            <a:chOff x="6387846" y="1885950"/>
            <a:chExt cx="5194554" cy="4118483"/>
          </a:xfrm>
        </p:grpSpPr>
        <p:sp>
          <p:nvSpPr>
            <p:cNvPr id="12" name="Line 12"/>
            <p:cNvSpPr/>
            <p:nvPr/>
          </p:nvSpPr>
          <p:spPr>
            <a:xfrm>
              <a:off x="6400800" y="188595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13" name="TextBox 13"/>
            <p:cNvSpPr txBox="1"/>
            <p:nvPr/>
          </p:nvSpPr>
          <p:spPr>
            <a:xfrm>
              <a:off x="6387846" y="2101850"/>
              <a:ext cx="345871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斯特朗记下的一次豆选</a:t>
              </a:r>
            </a:p>
          </p:txBody>
        </p:sp>
        <p:sp>
          <p:nvSpPr>
            <p:cNvPr id="14" name="Line 14"/>
            <p:cNvSpPr/>
            <p:nvPr/>
          </p:nvSpPr>
          <p:spPr>
            <a:xfrm>
              <a:off x="6400800" y="2914650"/>
              <a:ext cx="9525" cy="1714500"/>
            </a:xfrm>
            <a:custGeom>
              <a:avLst/>
              <a:gdLst/>
              <a:ahLst/>
              <a:cxnLst/>
              <a:rect l="l" t="t" r="r" b="b"/>
              <a:pathLst>
                <a:path w="9525" h="1714500">
                  <a:moveTo>
                    <a:pt x="0" y="0"/>
                  </a:moveTo>
                  <a:lnTo>
                    <a:pt x="0" y="1714500"/>
                  </a:lnTo>
                </a:path>
              </a:pathLst>
            </a:custGeom>
            <a:noFill/>
            <a:ln w="9525">
              <a:solidFill>
                <a:srgbClr val="CDC8BE"/>
              </a:solidFill>
            </a:ln>
          </p:spPr>
        </p:sp>
        <p:sp>
          <p:nvSpPr>
            <p:cNvPr id="15" name="TextBox 15"/>
            <p:cNvSpPr txBox="1"/>
            <p:nvPr/>
          </p:nvSpPr>
          <p:spPr>
            <a:xfrm>
              <a:off x="6694932" y="2705100"/>
              <a:ext cx="3755136" cy="16108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杨步浩不识字，投票前先领豆，</a:t>
              </a:r>
              <a:br>
                <a:rPr lang="zh-CN" sz="2100" dirty="0">
                  <a:solidFill>
                    <a:schemeClr val="dk1"/>
                  </a:solidFill>
                  <a:latin typeface="+mn-lt"/>
                  <a:ea typeface="+mn-ea"/>
                  <a:cs typeface="+mn-cs"/>
                </a:rPr>
              </a:br>
              <a:r>
                <a:rPr lang="zh-CN" sz="2100" dirty="0">
                  <a:solidFill>
                    <a:schemeClr val="dk1"/>
                  </a:solidFill>
                  <a:latin typeface="+mn-lt"/>
                  <a:ea typeface="+mn-ea"/>
                  <a:cs typeface="+mn-cs"/>
                </a:rPr>
                <a:t>再把豆子投进自己支持的</a:t>
              </a:r>
              <a:br>
                <a:rPr lang="zh-CN" sz="2100" dirty="0">
                  <a:solidFill>
                    <a:schemeClr val="dk1"/>
                  </a:solidFill>
                  <a:latin typeface="+mn-lt"/>
                  <a:ea typeface="+mn-ea"/>
                  <a:cs typeface="+mn-cs"/>
                </a:rPr>
              </a:br>
              <a:r>
                <a:rPr lang="zh-CN" sz="2100" dirty="0">
                  <a:solidFill>
                    <a:schemeClr val="dk1"/>
                  </a:solidFill>
                  <a:latin typeface="+mn-lt"/>
                  <a:ea typeface="+mn-ea"/>
                  <a:cs typeface="+mn-cs"/>
                </a:rPr>
                <a:t>候选人所对应的碗，</a:t>
              </a:r>
              <a:br>
                <a:rPr lang="zh-CN" sz="2100" dirty="0">
                  <a:solidFill>
                    <a:schemeClr val="dk1"/>
                  </a:solidFill>
                  <a:latin typeface="+mn-lt"/>
                  <a:ea typeface="+mn-ea"/>
                  <a:cs typeface="+mn-cs"/>
                </a:rPr>
              </a:br>
              <a:r>
                <a:rPr lang="zh-CN" sz="2100" dirty="0">
                  <a:solidFill>
                    <a:schemeClr val="dk1"/>
                  </a:solidFill>
                  <a:latin typeface="+mn-lt"/>
                  <a:ea typeface="+mn-ea"/>
                  <a:cs typeface="+mn-cs"/>
                </a:rPr>
                <a:t>最后由众人看着统计票数。</a:t>
              </a:r>
            </a:p>
          </p:txBody>
        </p:sp>
        <p:sp>
          <p:nvSpPr>
            <p:cNvPr id="16" name="TextBox 16"/>
            <p:cNvSpPr txBox="1"/>
            <p:nvPr/>
          </p:nvSpPr>
          <p:spPr>
            <a:xfrm>
              <a:off x="6698742" y="4597400"/>
              <a:ext cx="2194560"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斯特朗《中国人征服中国》</a:t>
              </a:r>
            </a:p>
          </p:txBody>
        </p:sp>
        <p:sp>
          <p:nvSpPr>
            <p:cNvPr id="17" name="TextBox 17"/>
            <p:cNvSpPr txBox="1"/>
            <p:nvPr/>
          </p:nvSpPr>
          <p:spPr>
            <a:xfrm>
              <a:off x="6390132" y="5175250"/>
              <a:ext cx="3413760"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他这样参加过三次村长选举</a:t>
              </a:r>
            </a:p>
          </p:txBody>
        </p:sp>
        <p:sp>
          <p:nvSpPr>
            <p:cNvPr id="18" name="TextBox 18"/>
            <p:cNvSpPr txBox="1"/>
            <p:nvPr/>
          </p:nvSpPr>
          <p:spPr>
            <a:xfrm>
              <a:off x="6393942" y="5740400"/>
              <a:ext cx="3648456"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豆选解决的是有办法表达，不是代表怎样产生</a:t>
              </a:r>
            </a:p>
          </p:txBody>
        </p:sp>
      </p:grpSp>
      <p:sp>
        <p:nvSpPr>
          <p:cNvPr id="20" name="TextBox 20"/>
          <p:cNvSpPr txBox="1"/>
          <p:nvPr/>
        </p:nvSpPr>
        <p:spPr>
          <a:xfrm>
            <a:off x="604266" y="6502400"/>
            <a:ext cx="2413635"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材料：斯特朗《中国人征服中国》记述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上节 15 / 36</a:t>
              </a:r>
            </a:p>
          </p:txBody>
        </p:sp>
      </p:grpSp>
      <p:grpSp>
        <p:nvGrpSpPr>
          <p:cNvPr id="6" name="page-title"/>
          <p:cNvGrpSpPr/>
          <p:nvPr/>
        </p:nvGrpSpPr>
        <p:grpSpPr>
          <a:xfrm>
            <a:off x="590550" y="904875"/>
            <a:ext cx="2918460" cy="790575"/>
            <a:chOff x="590550" y="904875"/>
            <a:chExt cx="2918460" cy="790575"/>
          </a:xfrm>
        </p:grpSpPr>
        <p:sp>
          <p:nvSpPr>
            <p:cNvPr id="5" name="TextBox 5"/>
            <p:cNvSpPr txBox="1"/>
            <p:nvPr/>
          </p:nvSpPr>
          <p:spPr>
            <a:xfrm>
              <a:off x="590550" y="904875"/>
              <a:ext cx="2918460" cy="790575"/>
            </a:xfrm>
            <a:prstGeom prst="rect">
              <a:avLst/>
            </a:prstGeom>
            <a:noFill/>
            <a:ln>
              <a:noFill/>
            </a:ln>
          </p:spPr>
          <p:txBody>
            <a:bodyPr wrap="none" lIns="0" tIns="0" rIns="0" bIns="0" anchor="t" anchorCtr="0">
              <a:spAutoFit/>
            </a:bodyPr>
            <a:lstStyle/>
            <a:p>
              <a:pPr algn="l"/>
              <a:r>
                <a:rPr lang="zh-CN" sz="4050" dirty="0">
                  <a:solidFill>
                    <a:srgbClr val="F4F1EA"/>
                  </a:solidFill>
                  <a:latin typeface="+mj-lt"/>
                  <a:ea typeface="+mj-ea"/>
                  <a:cs typeface="+mj-cs"/>
                </a:rPr>
                <a:t>宪法第二条</a:t>
              </a:r>
            </a:p>
          </p:txBody>
        </p:sp>
      </p:grpSp>
      <p:grpSp>
        <p:nvGrpSpPr>
          <p:cNvPr id="8" name="overall"/>
          <p:cNvGrpSpPr/>
          <p:nvPr/>
        </p:nvGrpSpPr>
        <p:grpSpPr>
          <a:xfrm>
            <a:off x="596646" y="2006600"/>
            <a:ext cx="3801999" cy="498729"/>
            <a:chOff x="596646" y="2006600"/>
            <a:chExt cx="3801999" cy="498729"/>
          </a:xfrm>
        </p:grpSpPr>
        <p:sp>
          <p:nvSpPr>
            <p:cNvPr id="7" name="TextBox 7"/>
            <p:cNvSpPr txBox="1"/>
            <p:nvPr/>
          </p:nvSpPr>
          <p:spPr>
            <a:xfrm>
              <a:off x="596646" y="2006600"/>
              <a:ext cx="3801999"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权力归属要通过制度实现</a:t>
              </a:r>
            </a:p>
          </p:txBody>
        </p:sp>
      </p:grpSp>
      <p:grpSp>
        <p:nvGrpSpPr>
          <p:cNvPr id="12" name="article-two"/>
          <p:cNvGrpSpPr/>
          <p:nvPr/>
        </p:nvGrpSpPr>
        <p:grpSpPr>
          <a:xfrm>
            <a:off x="596646" y="2876550"/>
            <a:ext cx="10985754" cy="2239518"/>
            <a:chOff x="596646" y="2876550"/>
            <a:chExt cx="10985754" cy="2239518"/>
          </a:xfrm>
        </p:grpSpPr>
        <p:sp>
          <p:nvSpPr>
            <p:cNvPr id="9" name="Line 9"/>
            <p:cNvSpPr/>
            <p:nvPr/>
          </p:nvSpPr>
          <p:spPr>
            <a:xfrm>
              <a:off x="609600" y="2876550"/>
              <a:ext cx="10972800" cy="9525"/>
            </a:xfrm>
            <a:custGeom>
              <a:avLst/>
              <a:gdLst/>
              <a:ahLst/>
              <a:cxnLst/>
              <a:rect l="l" t="t" r="r" b="b"/>
              <a:pathLst>
                <a:path w="10972800" h="9525">
                  <a:moveTo>
                    <a:pt x="0" y="0"/>
                  </a:moveTo>
                  <a:lnTo>
                    <a:pt x="10972800" y="0"/>
                  </a:lnTo>
                </a:path>
              </a:pathLst>
            </a:custGeom>
            <a:noFill/>
            <a:ln w="9525">
              <a:solidFill>
                <a:srgbClr val="3A454A"/>
              </a:solidFill>
            </a:ln>
          </p:spPr>
        </p:sp>
        <p:sp>
          <p:nvSpPr>
            <p:cNvPr id="10" name="TextBox 10"/>
            <p:cNvSpPr txBox="1"/>
            <p:nvPr/>
          </p:nvSpPr>
          <p:spPr>
            <a:xfrm>
              <a:off x="596646" y="2997200"/>
              <a:ext cx="1055751" cy="498729"/>
            </a:xfrm>
            <a:prstGeom prst="rect">
              <a:avLst/>
            </a:prstGeom>
            <a:noFill/>
            <a:ln>
              <a:noFill/>
            </a:ln>
          </p:spPr>
          <p:txBody>
            <a:bodyPr wrap="none" lIns="0" tIns="0" rIns="0" bIns="0" anchor="t" anchorCtr="0">
              <a:spAutoFit/>
            </a:bodyPr>
            <a:lstStyle/>
            <a:p>
              <a:pPr algn="l"/>
              <a:r>
                <a:rPr lang="zh-CN" sz="2550" dirty="0">
                  <a:solidFill>
                    <a:srgbClr val="B8C4C8"/>
                  </a:solidFill>
                  <a:latin typeface="+mn-lt"/>
                  <a:ea typeface="+mn-ea"/>
                  <a:cs typeface="+mn-cs"/>
                </a:rPr>
                <a:t>第二条</a:t>
              </a:r>
            </a:p>
          </p:txBody>
        </p:sp>
        <p:sp>
          <p:nvSpPr>
            <p:cNvPr id="11" name="TextBox 11"/>
            <p:cNvSpPr txBox="1"/>
            <p:nvPr/>
          </p:nvSpPr>
          <p:spPr>
            <a:xfrm>
              <a:off x="1513332" y="3505200"/>
              <a:ext cx="8555736" cy="1610868"/>
            </a:xfrm>
            <a:prstGeom prst="rect">
              <a:avLst/>
            </a:prstGeom>
            <a:noFill/>
            <a:ln>
              <a:noFill/>
            </a:ln>
          </p:spPr>
          <p:txBody>
            <a:bodyPr wrap="none" lIns="0" tIns="0" rIns="0" bIns="0" anchor="t" anchorCtr="0">
              <a:spAutoFit/>
            </a:bodyPr>
            <a:lstStyle/>
            <a:p>
              <a:pPr algn="l">
                <a:lnSpc>
                  <a:spcPts val="3150"/>
                </a:lnSpc>
              </a:pPr>
              <a:r>
                <a:rPr lang="zh-CN" sz="2100" dirty="0">
                  <a:solidFill>
                    <a:srgbClr val="F4F1EA"/>
                  </a:solidFill>
                  <a:latin typeface="+mn-lt"/>
                  <a:ea typeface="+mn-ea"/>
                  <a:cs typeface="+mn-cs"/>
                </a:rPr>
                <a:t>中华人民共和国的一切权力属于人民。</a:t>
              </a:r>
              <a:br>
                <a:rPr lang="zh-CN" sz="2100" dirty="0">
                  <a:solidFill>
                    <a:srgbClr val="F4F1EA"/>
                  </a:solidFill>
                  <a:latin typeface="+mn-lt"/>
                  <a:ea typeface="+mn-ea"/>
                  <a:cs typeface="+mn-cs"/>
                </a:rPr>
              </a:br>
              <a:r>
                <a:rPr lang="zh-CN" sz="2100" dirty="0">
                  <a:solidFill>
                    <a:srgbClr val="F4F1EA"/>
                  </a:solidFill>
                  <a:latin typeface="+mn-lt"/>
                  <a:ea typeface="+mn-ea"/>
                  <a:cs typeface="+mn-cs"/>
                </a:rPr>
                <a:t>人民行使国家权力的机关是全国人民代表大会和地方各级人民代表大会。</a:t>
              </a:r>
              <a:br>
                <a:rPr lang="zh-CN" sz="2100" dirty="0">
                  <a:solidFill>
                    <a:srgbClr val="F4F1EA"/>
                  </a:solidFill>
                  <a:latin typeface="+mn-lt"/>
                  <a:ea typeface="+mn-ea"/>
                  <a:cs typeface="+mn-cs"/>
                </a:rPr>
              </a:br>
              <a:r>
                <a:rPr lang="zh-CN" sz="2100" dirty="0">
                  <a:solidFill>
                    <a:srgbClr val="F4F1EA"/>
                  </a:solidFill>
                  <a:latin typeface="+mn-lt"/>
                  <a:ea typeface="+mn-ea"/>
                  <a:cs typeface="+mn-cs"/>
                </a:rPr>
                <a:t>人民依照法律规定，通过各种途径和形式，</a:t>
              </a:r>
              <a:br>
                <a:rPr lang="zh-CN" sz="2100" dirty="0">
                  <a:solidFill>
                    <a:srgbClr val="F4F1EA"/>
                  </a:solidFill>
                  <a:latin typeface="+mn-lt"/>
                  <a:ea typeface="+mn-ea"/>
                  <a:cs typeface="+mn-cs"/>
                </a:rPr>
              </a:br>
              <a:r>
                <a:rPr lang="zh-CN" sz="2100" dirty="0">
                  <a:solidFill>
                    <a:srgbClr val="F4F1EA"/>
                  </a:solidFill>
                  <a:latin typeface="+mn-lt"/>
                  <a:ea typeface="+mn-ea"/>
                  <a:cs typeface="+mn-cs"/>
                </a:rPr>
                <a:t>管理国家事务，管理经济和文化事业，管理社会事务。</a:t>
              </a:r>
            </a:p>
          </p:txBody>
        </p:sp>
      </p:grpSp>
      <p:grpSp>
        <p:nvGrpSpPr>
          <p:cNvPr id="16" name="summing-up"/>
          <p:cNvGrpSpPr/>
          <p:nvPr/>
        </p:nvGrpSpPr>
        <p:grpSpPr>
          <a:xfrm>
            <a:off x="598932" y="5391150"/>
            <a:ext cx="10983468" cy="803783"/>
            <a:chOff x="598932" y="5391150"/>
            <a:chExt cx="10983468" cy="803783"/>
          </a:xfrm>
        </p:grpSpPr>
        <p:sp>
          <p:nvSpPr>
            <p:cNvPr id="13" name="Line 13"/>
            <p:cNvSpPr/>
            <p:nvPr/>
          </p:nvSpPr>
          <p:spPr>
            <a:xfrm>
              <a:off x="609600" y="5391150"/>
              <a:ext cx="10972800" cy="9525"/>
            </a:xfrm>
            <a:custGeom>
              <a:avLst/>
              <a:gdLst/>
              <a:ahLst/>
              <a:cxnLst/>
              <a:rect l="l" t="t" r="r" b="b"/>
              <a:pathLst>
                <a:path w="10972800" h="9525">
                  <a:moveTo>
                    <a:pt x="0" y="0"/>
                  </a:moveTo>
                  <a:lnTo>
                    <a:pt x="10972800" y="0"/>
                  </a:lnTo>
                </a:path>
              </a:pathLst>
            </a:custGeom>
            <a:noFill/>
            <a:ln w="9525">
              <a:solidFill>
                <a:srgbClr val="3A454A"/>
              </a:solidFill>
            </a:ln>
          </p:spPr>
        </p:sp>
        <p:sp>
          <p:nvSpPr>
            <p:cNvPr id="14" name="TextBox 14"/>
            <p:cNvSpPr txBox="1"/>
            <p:nvPr/>
          </p:nvSpPr>
          <p:spPr>
            <a:xfrm>
              <a:off x="598932" y="5518150"/>
              <a:ext cx="5675376"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宪法第三条：国家机构实行民主集中制的原则</a:t>
              </a:r>
            </a:p>
          </p:txBody>
        </p:sp>
        <p:sp>
          <p:nvSpPr>
            <p:cNvPr id="15" name="TextBox 15"/>
            <p:cNvSpPr txBox="1"/>
            <p:nvPr/>
          </p:nvSpPr>
          <p:spPr>
            <a:xfrm>
              <a:off x="602742" y="5930900"/>
              <a:ext cx="7464933"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一九七八年邓小平谈民主法制：制度和法律不能随着领导人的更换或者他的看法的变化而改变</a:t>
              </a:r>
            </a:p>
          </p:txBody>
        </p:sp>
      </p:grpSp>
      <p:sp>
        <p:nvSpPr>
          <p:cNvPr id="17" name="TextBox 17"/>
          <p:cNvSpPr txBox="1"/>
          <p:nvPr/>
        </p:nvSpPr>
        <p:spPr>
          <a:xfrm>
            <a:off x="604266" y="6502400"/>
            <a:ext cx="3191066" cy="205359"/>
          </a:xfrm>
          <a:prstGeom prst="rect">
            <a:avLst/>
          </a:prstGeom>
          <a:noFill/>
          <a:ln>
            <a:noFill/>
          </a:ln>
        </p:spPr>
        <p:txBody>
          <a:bodyPr wrap="none" lIns="0" tIns="0" rIns="0" bIns="0" anchor="t" anchorCtr="0">
            <a:spAutoFit/>
          </a:bodyPr>
          <a:lstStyle/>
          <a:p>
            <a:pPr algn="l"/>
            <a:r>
              <a:rPr lang="zh-CN" sz="1050" dirty="0">
                <a:solidFill>
                  <a:srgbClr val="B8C4C8"/>
                </a:solidFill>
                <a:latin typeface="+mn-lt"/>
                <a:ea typeface="+mn-ea"/>
                <a:cs typeface="+mn-cs"/>
              </a:rPr>
              <a:t>宪法：2018 年修正文本，第二条三款全文；第三条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16 / 36</a:t>
              </a:r>
            </a:p>
          </p:txBody>
        </p:sp>
      </p:grpSp>
      <p:grpSp>
        <p:nvGrpSpPr>
          <p:cNvPr id="6" name="page-title"/>
          <p:cNvGrpSpPr/>
          <p:nvPr/>
        </p:nvGrpSpPr>
        <p:grpSpPr>
          <a:xfrm>
            <a:off x="590550" y="904875"/>
            <a:ext cx="10407396" cy="790575"/>
            <a:chOff x="590550" y="904875"/>
            <a:chExt cx="10407396" cy="790575"/>
          </a:xfrm>
        </p:grpSpPr>
        <p:sp>
          <p:nvSpPr>
            <p:cNvPr id="5" name="TextBox 5"/>
            <p:cNvSpPr txBox="1"/>
            <p:nvPr/>
          </p:nvSpPr>
          <p:spPr>
            <a:xfrm>
              <a:off x="590550" y="904875"/>
              <a:ext cx="10407396"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机关怎样行动，专业判断为什么要受检验</a:t>
              </a:r>
            </a:p>
          </p:txBody>
        </p:sp>
      </p:grpSp>
      <p:grpSp>
        <p:nvGrpSpPr>
          <p:cNvPr id="19" name="three-party"/>
          <p:cNvGrpSpPr/>
          <p:nvPr/>
        </p:nvGrpSpPr>
        <p:grpSpPr>
          <a:xfrm>
            <a:off x="596646" y="1885950"/>
            <a:ext cx="10985754" cy="1623568"/>
            <a:chOff x="596646" y="1885950"/>
            <a:chExt cx="10985754" cy="1623568"/>
          </a:xfrm>
        </p:grpSpPr>
        <p:sp>
          <p:nvSpPr>
            <p:cNvPr id="7" name="Rectangle 7"/>
            <p:cNvSpPr/>
            <p:nvPr/>
          </p:nvSpPr>
          <p:spPr>
            <a:xfrm>
              <a:off x="609600" y="2000250"/>
              <a:ext cx="10972800" cy="685800"/>
            </a:xfrm>
            <a:prstGeom prst="rect">
              <a:avLst/>
            </a:prstGeom>
            <a:solidFill>
              <a:srgbClr val="EAE6DC"/>
            </a:solidFill>
            <a:ln>
              <a:noFill/>
            </a:ln>
          </p:spPr>
        </p:sp>
        <p:sp>
          <p:nvSpPr>
            <p:cNvPr id="8" name="Freeform 8"/>
            <p:cNvSpPr/>
            <p:nvPr/>
          </p:nvSpPr>
          <p:spPr>
            <a:xfrm>
              <a:off x="609600" y="1885950"/>
              <a:ext cx="10972800" cy="9525"/>
            </a:xfrm>
            <a:custGeom>
              <a:avLst/>
              <a:gdLst/>
              <a:ahLst/>
              <a:cxnLst/>
              <a:rect l="l" t="t" r="r" b="b"/>
              <a:pathLst>
                <a:path w="10972800" h="9525">
                  <a:moveTo>
                    <a:pt x="0" y="0"/>
                  </a:moveTo>
                  <a:lnTo>
                    <a:pt x="3248025" y="0"/>
                  </a:lnTo>
                  <a:moveTo>
                    <a:pt x="3857625" y="0"/>
                  </a:moveTo>
                  <a:lnTo>
                    <a:pt x="7105650" y="0"/>
                  </a:lnTo>
                  <a:moveTo>
                    <a:pt x="7724775" y="0"/>
                  </a:moveTo>
                  <a:lnTo>
                    <a:pt x="10972800" y="0"/>
                  </a:lnTo>
                </a:path>
              </a:pathLst>
            </a:custGeom>
            <a:noFill/>
            <a:ln w="9525">
              <a:solidFill>
                <a:srgbClr val="CDC8BE"/>
              </a:solidFill>
            </a:ln>
          </p:spPr>
        </p:sp>
        <p:sp>
          <p:nvSpPr>
            <p:cNvPr id="9" name="TextBox 9"/>
            <p:cNvSpPr txBox="1"/>
            <p:nvPr/>
          </p:nvSpPr>
          <p:spPr>
            <a:xfrm>
              <a:off x="596646" y="2101850"/>
              <a:ext cx="3115437"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人大由民主选举产生</a:t>
              </a:r>
            </a:p>
          </p:txBody>
        </p:sp>
        <p:sp>
          <p:nvSpPr>
            <p:cNvPr id="10" name="TextBox 10"/>
            <p:cNvSpPr txBox="1"/>
            <p:nvPr/>
          </p:nvSpPr>
          <p:spPr>
            <a:xfrm>
              <a:off x="598932" y="2698750"/>
              <a:ext cx="143484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对人民负责</a:t>
              </a:r>
            </a:p>
          </p:txBody>
        </p:sp>
        <p:sp>
          <p:nvSpPr>
            <p:cNvPr id="11" name="TextBox 11"/>
            <p:cNvSpPr txBox="1"/>
            <p:nvPr/>
          </p:nvSpPr>
          <p:spPr>
            <a:xfrm>
              <a:off x="598932" y="3098800"/>
              <a:ext cx="143484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受人民监督</a:t>
              </a:r>
            </a:p>
          </p:txBody>
        </p:sp>
        <p:sp>
          <p:nvSpPr>
            <p:cNvPr id="12" name="TextBox 12"/>
            <p:cNvSpPr txBox="1"/>
            <p:nvPr/>
          </p:nvSpPr>
          <p:spPr>
            <a:xfrm>
              <a:off x="4454271" y="2101850"/>
              <a:ext cx="1742313"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由人大产生</a:t>
              </a:r>
            </a:p>
          </p:txBody>
        </p:sp>
        <p:sp>
          <p:nvSpPr>
            <p:cNvPr id="13" name="TextBox 13"/>
            <p:cNvSpPr txBox="1"/>
            <p:nvPr/>
          </p:nvSpPr>
          <p:spPr>
            <a:xfrm>
              <a:off x="4456557" y="2698750"/>
              <a:ext cx="256565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行政、监察、审判、</a:t>
              </a:r>
            </a:p>
          </p:txBody>
        </p:sp>
        <p:sp>
          <p:nvSpPr>
            <p:cNvPr id="14" name="TextBox 14"/>
            <p:cNvSpPr txBox="1"/>
            <p:nvPr/>
          </p:nvSpPr>
          <p:spPr>
            <a:xfrm>
              <a:off x="4456557" y="3098800"/>
              <a:ext cx="115214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检察机关</a:t>
              </a:r>
            </a:p>
          </p:txBody>
        </p:sp>
        <p:sp>
          <p:nvSpPr>
            <p:cNvPr id="15" name="TextBox 15"/>
            <p:cNvSpPr txBox="1"/>
            <p:nvPr/>
          </p:nvSpPr>
          <p:spPr>
            <a:xfrm>
              <a:off x="8321421" y="2101850"/>
              <a:ext cx="1742313"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负责与监督</a:t>
              </a:r>
            </a:p>
          </p:txBody>
        </p:sp>
        <p:sp>
          <p:nvSpPr>
            <p:cNvPr id="16" name="TextBox 16"/>
            <p:cNvSpPr txBox="1"/>
            <p:nvPr/>
          </p:nvSpPr>
          <p:spPr>
            <a:xfrm>
              <a:off x="8323707" y="2698750"/>
              <a:ext cx="143484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对人大负责</a:t>
              </a:r>
            </a:p>
          </p:txBody>
        </p:sp>
        <p:sp>
          <p:nvSpPr>
            <p:cNvPr id="17" name="TextBox 17"/>
            <p:cNvSpPr txBox="1"/>
            <p:nvPr/>
          </p:nvSpPr>
          <p:spPr>
            <a:xfrm>
              <a:off x="8323707" y="3098800"/>
              <a:ext cx="143484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受人大监督</a:t>
              </a:r>
            </a:p>
          </p:txBody>
        </p:sp>
        <p:sp>
          <p:nvSpPr>
            <p:cNvPr id="18" name="Freeform 18"/>
            <p:cNvSpPr/>
            <p:nvPr/>
          </p:nvSpPr>
          <p:spPr>
            <a:xfrm>
              <a:off x="3857625" y="2238375"/>
              <a:ext cx="4286250" cy="133350"/>
            </a:xfrm>
            <a:custGeom>
              <a:avLst/>
              <a:gdLst/>
              <a:ahLst/>
              <a:cxnLst/>
              <a:rect l="l" t="t" r="r" b="b"/>
              <a:pathLst>
                <a:path w="4286250" h="133350">
                  <a:moveTo>
                    <a:pt x="0" y="66675"/>
                  </a:moveTo>
                  <a:lnTo>
                    <a:pt x="400050" y="66675"/>
                  </a:lnTo>
                  <a:moveTo>
                    <a:pt x="304800" y="0"/>
                  </a:moveTo>
                  <a:lnTo>
                    <a:pt x="419100" y="66675"/>
                  </a:lnTo>
                  <a:lnTo>
                    <a:pt x="304800" y="133350"/>
                  </a:lnTo>
                  <a:moveTo>
                    <a:pt x="3867150" y="66675"/>
                  </a:moveTo>
                  <a:lnTo>
                    <a:pt x="4267200" y="66675"/>
                  </a:lnTo>
                  <a:moveTo>
                    <a:pt x="4171950" y="0"/>
                  </a:moveTo>
                  <a:lnTo>
                    <a:pt x="4286250" y="66675"/>
                  </a:lnTo>
                  <a:lnTo>
                    <a:pt x="4171950" y="133350"/>
                  </a:lnTo>
                </a:path>
              </a:pathLst>
            </a:custGeom>
            <a:noFill/>
            <a:ln w="19050">
              <a:solidFill>
                <a:srgbClr val="677276"/>
              </a:solidFill>
            </a:ln>
          </p:spPr>
        </p:sp>
      </p:grpSp>
      <p:grpSp>
        <p:nvGrpSpPr>
          <p:cNvPr id="23" name="scene-check"/>
          <p:cNvGrpSpPr/>
          <p:nvPr/>
        </p:nvGrpSpPr>
        <p:grpSpPr>
          <a:xfrm>
            <a:off x="598932" y="4019550"/>
            <a:ext cx="10983468" cy="1985518"/>
            <a:chOff x="598932" y="4019550"/>
            <a:chExt cx="10983468" cy="1985518"/>
          </a:xfrm>
        </p:grpSpPr>
        <p:sp>
          <p:nvSpPr>
            <p:cNvPr id="20" name="Freeform 20"/>
            <p:cNvSpPr/>
            <p:nvPr/>
          </p:nvSpPr>
          <p:spPr>
            <a:xfrm>
              <a:off x="609600" y="4019550"/>
              <a:ext cx="10972800" cy="9525"/>
            </a:xfrm>
            <a:custGeom>
              <a:avLst/>
              <a:gdLst/>
              <a:ahLst/>
              <a:cxnLst/>
              <a:rect l="l" t="t" r="r" b="b"/>
              <a:pathLst>
                <a:path w="10972800" h="9525">
                  <a:moveTo>
                    <a:pt x="0" y="0"/>
                  </a:moveTo>
                  <a:lnTo>
                    <a:pt x="10972800" y="0"/>
                  </a:lnTo>
                </a:path>
              </a:pathLst>
            </a:custGeom>
            <a:solidFill>
              <a:schemeClr val="dk1"/>
            </a:solidFill>
            <a:ln w="9525">
              <a:solidFill>
                <a:srgbClr val="CDC8BE"/>
              </a:solidFill>
            </a:ln>
          </p:spPr>
        </p:sp>
        <p:sp>
          <p:nvSpPr>
            <p:cNvPr id="21" name="TextBox 21"/>
            <p:cNvSpPr txBox="1"/>
            <p:nvPr/>
          </p:nvSpPr>
          <p:spPr>
            <a:xfrm>
              <a:off x="598932" y="4248150"/>
              <a:ext cx="8555736" cy="121081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现场情况可能正在变化，执勤人员先到，听到什么、看见什么</a:t>
              </a:r>
              <a:br>
                <a:rPr lang="zh-CN" sz="2100" dirty="0">
                  <a:solidFill>
                    <a:schemeClr val="dk1"/>
                  </a:solidFill>
                  <a:latin typeface="+mn-lt"/>
                  <a:ea typeface="+mn-ea"/>
                  <a:cs typeface="+mn-cs"/>
                </a:rPr>
              </a:br>
              <a:r>
                <a:rPr lang="zh-CN" sz="2100" dirty="0">
                  <a:solidFill>
                    <a:schemeClr val="dk1"/>
                  </a:solidFill>
                  <a:latin typeface="+mn-lt"/>
                  <a:ea typeface="+mn-ea"/>
                  <a:cs typeface="+mn-cs"/>
                </a:rPr>
                <a:t>但现场看到的那一部分是否足以支持结论，还要具体看</a:t>
              </a:r>
              <a:br>
                <a:rPr lang="zh-CN" sz="2100" dirty="0">
                  <a:solidFill>
                    <a:schemeClr val="dk1"/>
                  </a:solidFill>
                  <a:latin typeface="+mn-lt"/>
                  <a:ea typeface="+mn-ea"/>
                  <a:cs typeface="+mn-cs"/>
                </a:rPr>
              </a:br>
              <a:r>
                <a:rPr lang="zh-CN" sz="2100" dirty="0">
                  <a:solidFill>
                    <a:schemeClr val="dk1"/>
                  </a:solidFill>
                  <a:latin typeface="+mn-lt"/>
                  <a:ea typeface="+mn-ea"/>
                  <a:cs typeface="+mn-cs"/>
                </a:rPr>
                <a:t>有权限的复核者可能得到更完整的记录，也有条件把前后经过放在一起看</a:t>
              </a:r>
            </a:p>
          </p:txBody>
        </p:sp>
        <p:sp>
          <p:nvSpPr>
            <p:cNvPr id="22" name="TextBox 22"/>
            <p:cNvSpPr txBox="1"/>
            <p:nvPr/>
          </p:nvSpPr>
          <p:spPr>
            <a:xfrm>
              <a:off x="598932" y="5594350"/>
              <a:ext cx="9350502"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记录、说明根据、核查新材料都需要时间和人员；省掉这些，代价由谁承担</a:t>
              </a:r>
            </a:p>
          </p:txBody>
        </p:sp>
      </p:grpSp>
      <p:sp>
        <p:nvSpPr>
          <p:cNvPr id="24" name="TextBox 24"/>
          <p:cNvSpPr txBox="1"/>
          <p:nvPr/>
        </p:nvSpPr>
        <p:spPr>
          <a:xfrm>
            <a:off x="604266" y="6502400"/>
            <a:ext cx="5601100"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宪法第3条；人大与四类机关的产生、负责、监督关系不同；监督依权限和法定方式开展。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3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285875"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421512" y="387350"/>
              <a:ext cx="1167746"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17 / 36</a:t>
              </a:r>
            </a:p>
          </p:txBody>
        </p:sp>
      </p:grpSp>
      <p:grpSp>
        <p:nvGrpSpPr>
          <p:cNvPr id="6" name="page-title"/>
          <p:cNvGrpSpPr/>
          <p:nvPr/>
        </p:nvGrpSpPr>
        <p:grpSpPr>
          <a:xfrm>
            <a:off x="590550" y="904875"/>
            <a:ext cx="6374892" cy="790575"/>
            <a:chOff x="590550" y="904875"/>
            <a:chExt cx="6374892" cy="790575"/>
          </a:xfrm>
        </p:grpSpPr>
        <p:sp>
          <p:nvSpPr>
            <p:cNvPr id="5" name="TextBox 5"/>
            <p:cNvSpPr txBox="1"/>
            <p:nvPr/>
          </p:nvSpPr>
          <p:spPr>
            <a:xfrm>
              <a:off x="590550" y="904875"/>
              <a:ext cx="6374892"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独立思考，一次现场之后</a:t>
              </a:r>
            </a:p>
          </p:txBody>
        </p:sp>
      </p:grpSp>
      <p:grpSp>
        <p:nvGrpSpPr>
          <p:cNvPr id="17" name="three-cols"/>
          <p:cNvGrpSpPr/>
          <p:nvPr/>
        </p:nvGrpSpPr>
        <p:grpSpPr>
          <a:xfrm>
            <a:off x="596646" y="1885950"/>
            <a:ext cx="10985754" cy="2468118"/>
            <a:chOff x="596646" y="1885950"/>
            <a:chExt cx="10985754" cy="2468118"/>
          </a:xfrm>
        </p:grpSpPr>
        <p:sp>
          <p:nvSpPr>
            <p:cNvPr id="7" name="Line 7"/>
            <p:cNvSpPr/>
            <p:nvPr/>
          </p:nvSpPr>
          <p:spPr>
            <a:xfrm>
              <a:off x="609600" y="1885950"/>
              <a:ext cx="3250882" cy="9525"/>
            </a:xfrm>
            <a:custGeom>
              <a:avLst/>
              <a:gdLst/>
              <a:ahLst/>
              <a:cxnLst/>
              <a:rect l="l" t="t" r="r" b="b"/>
              <a:pathLst>
                <a:path w="3250882" h="9525">
                  <a:moveTo>
                    <a:pt x="0" y="0"/>
                  </a:moveTo>
                  <a:lnTo>
                    <a:pt x="3250882" y="0"/>
                  </a:lnTo>
                </a:path>
              </a:pathLst>
            </a:custGeom>
            <a:noFill/>
            <a:ln w="9525">
              <a:solidFill>
                <a:srgbClr val="CDC8BE"/>
              </a:solidFill>
            </a:ln>
          </p:spPr>
        </p:sp>
        <p:sp>
          <p:nvSpPr>
            <p:cNvPr id="8" name="TextBox 8"/>
            <p:cNvSpPr txBox="1"/>
            <p:nvPr/>
          </p:nvSpPr>
          <p:spPr>
            <a:xfrm>
              <a:off x="596646" y="2101850"/>
              <a:ext cx="13990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现场记录</a:t>
              </a:r>
            </a:p>
          </p:txBody>
        </p:sp>
        <p:sp>
          <p:nvSpPr>
            <p:cNvPr id="9" name="TextBox 9"/>
            <p:cNvSpPr txBox="1"/>
            <p:nvPr/>
          </p:nvSpPr>
          <p:spPr>
            <a:xfrm>
              <a:off x="598932" y="2698750"/>
              <a:ext cx="143484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甲推了乙。</a:t>
              </a:r>
            </a:p>
          </p:txBody>
        </p:sp>
        <p:sp>
          <p:nvSpPr>
            <p:cNvPr id="10" name="Line 10"/>
            <p:cNvSpPr/>
            <p:nvPr/>
          </p:nvSpPr>
          <p:spPr>
            <a:xfrm>
              <a:off x="4470082" y="1885950"/>
              <a:ext cx="3251835" cy="9525"/>
            </a:xfrm>
            <a:custGeom>
              <a:avLst/>
              <a:gdLst/>
              <a:ahLst/>
              <a:cxnLst/>
              <a:rect l="l" t="t" r="r" b="b"/>
              <a:pathLst>
                <a:path w="3251835" h="9525">
                  <a:moveTo>
                    <a:pt x="0" y="0"/>
                  </a:moveTo>
                  <a:lnTo>
                    <a:pt x="3251835" y="0"/>
                  </a:lnTo>
                </a:path>
              </a:pathLst>
            </a:custGeom>
            <a:noFill/>
            <a:ln w="9525">
              <a:solidFill>
                <a:srgbClr val="CDC8BE"/>
              </a:solidFill>
            </a:ln>
          </p:spPr>
        </p:sp>
        <p:sp>
          <p:nvSpPr>
            <p:cNvPr id="11" name="TextBox 11"/>
            <p:cNvSpPr txBox="1"/>
            <p:nvPr/>
          </p:nvSpPr>
          <p:spPr>
            <a:xfrm>
              <a:off x="4457128" y="2101850"/>
              <a:ext cx="13990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完整视频</a:t>
              </a:r>
            </a:p>
          </p:txBody>
        </p:sp>
        <p:sp>
          <p:nvSpPr>
            <p:cNvPr id="12" name="TextBox 12"/>
            <p:cNvSpPr txBox="1"/>
            <p:nvPr/>
          </p:nvSpPr>
          <p:spPr>
            <a:xfrm>
              <a:off x="4459414" y="2647950"/>
              <a:ext cx="21549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乙先抓住甲衣领，</a:t>
              </a:r>
              <a:br>
                <a:rPr lang="zh-CN" sz="2100" dirty="0">
                  <a:solidFill>
                    <a:schemeClr val="dk1"/>
                  </a:solidFill>
                  <a:latin typeface="+mn-lt"/>
                  <a:ea typeface="+mn-ea"/>
                  <a:cs typeface="+mn-cs"/>
                </a:rPr>
              </a:br>
              <a:r>
                <a:rPr lang="zh-CN" sz="2100" dirty="0">
                  <a:solidFill>
                    <a:schemeClr val="dk1"/>
                  </a:solidFill>
                  <a:latin typeface="+mn-lt"/>
                  <a:ea typeface="+mn-ea"/>
                  <a:cs typeface="+mn-cs"/>
                </a:rPr>
                <a:t>甲随后推开乙。</a:t>
              </a:r>
            </a:p>
          </p:txBody>
        </p:sp>
        <p:sp>
          <p:nvSpPr>
            <p:cNvPr id="13" name="Line 13"/>
            <p:cNvSpPr/>
            <p:nvPr/>
          </p:nvSpPr>
          <p:spPr>
            <a:xfrm>
              <a:off x="8331518" y="1885950"/>
              <a:ext cx="3250882" cy="9525"/>
            </a:xfrm>
            <a:custGeom>
              <a:avLst/>
              <a:gdLst/>
              <a:ahLst/>
              <a:cxnLst/>
              <a:rect l="l" t="t" r="r" b="b"/>
              <a:pathLst>
                <a:path w="3250882" h="9525">
                  <a:moveTo>
                    <a:pt x="0" y="0"/>
                  </a:moveTo>
                  <a:lnTo>
                    <a:pt x="3250882" y="0"/>
                  </a:lnTo>
                </a:path>
              </a:pathLst>
            </a:custGeom>
            <a:noFill/>
            <a:ln w="9525">
              <a:solidFill>
                <a:srgbClr val="CDC8BE"/>
              </a:solidFill>
            </a:ln>
          </p:spPr>
        </p:sp>
        <p:sp>
          <p:nvSpPr>
            <p:cNvPr id="14" name="TextBox 14"/>
            <p:cNvSpPr txBox="1"/>
            <p:nvPr/>
          </p:nvSpPr>
          <p:spPr>
            <a:xfrm>
              <a:off x="8318564" y="2101850"/>
              <a:ext cx="208559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请写两句理由</a:t>
              </a:r>
            </a:p>
          </p:txBody>
        </p:sp>
        <p:sp>
          <p:nvSpPr>
            <p:cNvPr id="15" name="TextBox 15"/>
            <p:cNvSpPr txBox="1"/>
            <p:nvPr/>
          </p:nvSpPr>
          <p:spPr>
            <a:xfrm>
              <a:off x="8320850" y="2647950"/>
              <a:ext cx="21549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为什么不能只重复</a:t>
              </a:r>
              <a:br>
                <a:rPr lang="zh-CN" sz="2100" dirty="0">
                  <a:solidFill>
                    <a:schemeClr val="dk1"/>
                  </a:solidFill>
                  <a:latin typeface="+mn-lt"/>
                  <a:ea typeface="+mn-ea"/>
                  <a:cs typeface="+mn-cs"/>
                </a:rPr>
              </a:br>
              <a:r>
                <a:rPr lang="zh-CN" sz="2100" dirty="0">
                  <a:solidFill>
                    <a:schemeClr val="dk1"/>
                  </a:solidFill>
                  <a:latin typeface="+mn-lt"/>
                  <a:ea typeface="+mn-ea"/>
                  <a:cs typeface="+mn-cs"/>
                </a:rPr>
                <a:t>原记录？</a:t>
              </a:r>
            </a:p>
          </p:txBody>
        </p:sp>
        <p:sp>
          <p:nvSpPr>
            <p:cNvPr id="16" name="TextBox 16"/>
            <p:cNvSpPr txBox="1"/>
            <p:nvPr/>
          </p:nvSpPr>
          <p:spPr>
            <a:xfrm>
              <a:off x="8320850" y="3543300"/>
              <a:ext cx="24216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为什么不能仅凭换人</a:t>
              </a:r>
              <a:br>
                <a:rPr lang="zh-CN" sz="2100" dirty="0">
                  <a:solidFill>
                    <a:schemeClr val="dk1"/>
                  </a:solidFill>
                  <a:latin typeface="+mn-lt"/>
                  <a:ea typeface="+mn-ea"/>
                  <a:cs typeface="+mn-cs"/>
                </a:rPr>
              </a:br>
              <a:r>
                <a:rPr lang="zh-CN" sz="2100" dirty="0">
                  <a:solidFill>
                    <a:schemeClr val="dk1"/>
                  </a:solidFill>
                  <a:latin typeface="+mn-lt"/>
                  <a:ea typeface="+mn-ea"/>
                  <a:cs typeface="+mn-cs"/>
                </a:rPr>
                <a:t>就相信结论更正确？</a:t>
              </a:r>
            </a:p>
          </p:txBody>
        </p:sp>
      </p:grpSp>
      <p:grpSp>
        <p:nvGrpSpPr>
          <p:cNvPr id="19" name="p17-thinking-prompt"/>
          <p:cNvGrpSpPr/>
          <p:nvPr/>
        </p:nvGrpSpPr>
        <p:grpSpPr>
          <a:xfrm>
            <a:off x="598932" y="4889500"/>
            <a:ext cx="4827270" cy="410718"/>
            <a:chOff x="598932" y="4889500"/>
            <a:chExt cx="4827270" cy="410718"/>
          </a:xfrm>
        </p:grpSpPr>
        <p:sp>
          <p:nvSpPr>
            <p:cNvPr id="18" name="TextBox 18"/>
            <p:cNvSpPr txBox="1"/>
            <p:nvPr/>
          </p:nvSpPr>
          <p:spPr>
            <a:xfrm>
              <a:off x="598932" y="4889500"/>
              <a:ext cx="4827270"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独立思考约两分钟：写一至两句理由。</a:t>
              </a:r>
            </a:p>
          </p:txBody>
        </p:sp>
      </p:grpSp>
      <p:grpSp>
        <p:nvGrpSpPr>
          <p:cNvPr id="22" name="teacher-close"/>
          <p:cNvGrpSpPr/>
          <p:nvPr/>
        </p:nvGrpSpPr>
        <p:grpSpPr>
          <a:xfrm>
            <a:off x="598932" y="5422900"/>
            <a:ext cx="8219694" cy="810768"/>
            <a:chOff x="598932" y="5422900"/>
            <a:chExt cx="8219694" cy="810768"/>
          </a:xfrm>
        </p:grpSpPr>
        <p:sp>
          <p:nvSpPr>
            <p:cNvPr id="20" name="TextBox 20"/>
            <p:cNvSpPr txBox="1"/>
            <p:nvPr/>
          </p:nvSpPr>
          <p:spPr>
            <a:xfrm>
              <a:off x="598932" y="5422900"/>
              <a:ext cx="8219694"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讲评：原记录可能真实却不完整；复核者也须查材料、回应理由。</a:t>
              </a:r>
            </a:p>
          </p:txBody>
        </p:sp>
        <p:sp>
          <p:nvSpPr>
            <p:cNvPr id="21" name="TextBox 21"/>
            <p:cNvSpPr txBox="1"/>
            <p:nvPr/>
          </p:nvSpPr>
          <p:spPr>
            <a:xfrm>
              <a:off x="598932" y="5822950"/>
              <a:ext cx="821969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机关地位与专业训练重要，这次行为的事实和法律依据仍须检验。</a:t>
              </a:r>
            </a:p>
          </p:txBody>
        </p:sp>
      </p:grpSp>
      <p:sp>
        <p:nvSpPr>
          <p:cNvPr id="23" name="TextBox 23"/>
          <p:cNvSpPr txBox="1"/>
          <p:nvPr/>
        </p:nvSpPr>
        <p:spPr>
          <a:xfrm>
            <a:off x="604266" y="6502400"/>
            <a:ext cx="3968496"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课堂设例：原记录与完整视频；新增前情不直接证明行为合法。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3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18 / 36</a:t>
              </a:r>
            </a:p>
          </p:txBody>
        </p:sp>
      </p:grpSp>
      <p:grpSp>
        <p:nvGrpSpPr>
          <p:cNvPr id="6" name="page-title"/>
          <p:cNvGrpSpPr/>
          <p:nvPr/>
        </p:nvGrpSpPr>
        <p:grpSpPr>
          <a:xfrm>
            <a:off x="590550" y="904875"/>
            <a:ext cx="6374892" cy="790575"/>
            <a:chOff x="590550" y="904875"/>
            <a:chExt cx="6374892" cy="790575"/>
          </a:xfrm>
        </p:grpSpPr>
        <p:sp>
          <p:nvSpPr>
            <p:cNvPr id="5" name="TextBox 5"/>
            <p:cNvSpPr txBox="1"/>
            <p:nvPr/>
          </p:nvSpPr>
          <p:spPr>
            <a:xfrm>
              <a:off x="590550" y="904875"/>
              <a:ext cx="6374892"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教材归纳的宪法基本原则</a:t>
              </a:r>
            </a:p>
          </p:txBody>
        </p:sp>
      </p:grpSp>
      <p:grpSp>
        <p:nvGrpSpPr>
          <p:cNvPr id="19" name="five-principles"/>
          <p:cNvGrpSpPr/>
          <p:nvPr/>
        </p:nvGrpSpPr>
        <p:grpSpPr>
          <a:xfrm>
            <a:off x="596646" y="1885950"/>
            <a:ext cx="10985754" cy="3838829"/>
            <a:chOff x="596646" y="1885950"/>
            <a:chExt cx="10985754" cy="3838829"/>
          </a:xfrm>
        </p:grpSpPr>
        <p:sp>
          <p:nvSpPr>
            <p:cNvPr id="7" name="Freeform 7"/>
            <p:cNvSpPr/>
            <p:nvPr/>
          </p:nvSpPr>
          <p:spPr>
            <a:xfrm>
              <a:off x="609600" y="1885950"/>
              <a:ext cx="10972800" cy="9525"/>
            </a:xfrm>
            <a:custGeom>
              <a:avLst/>
              <a:gdLst/>
              <a:ahLst/>
              <a:cxnLst/>
              <a:rect l="l" t="t" r="r" b="b"/>
              <a:pathLst>
                <a:path w="10972800" h="9525">
                  <a:moveTo>
                    <a:pt x="0" y="0"/>
                  </a:moveTo>
                  <a:lnTo>
                    <a:pt x="5181600" y="0"/>
                  </a:lnTo>
                  <a:moveTo>
                    <a:pt x="5791200" y="0"/>
                  </a:moveTo>
                  <a:lnTo>
                    <a:pt x="10972800" y="0"/>
                  </a:lnTo>
                </a:path>
              </a:pathLst>
            </a:custGeom>
            <a:noFill/>
            <a:ln w="9525">
              <a:solidFill>
                <a:srgbClr val="CDC8BE"/>
              </a:solidFill>
            </a:ln>
          </p:spPr>
        </p:sp>
        <p:sp>
          <p:nvSpPr>
            <p:cNvPr id="8" name="TextBox 8"/>
            <p:cNvSpPr txBox="1"/>
            <p:nvPr/>
          </p:nvSpPr>
          <p:spPr>
            <a:xfrm>
              <a:off x="596646" y="2063750"/>
              <a:ext cx="13990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党的领导</a:t>
              </a:r>
            </a:p>
          </p:txBody>
        </p:sp>
        <p:sp>
          <p:nvSpPr>
            <p:cNvPr id="9" name="TextBox 9"/>
            <p:cNvSpPr txBox="1"/>
            <p:nvPr/>
          </p:nvSpPr>
          <p:spPr>
            <a:xfrm>
              <a:off x="598932" y="2476500"/>
              <a:ext cx="4555236" cy="121081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宪法序言和第一条确认党的领导地位；</a:t>
              </a:r>
              <a:br>
                <a:rPr lang="zh-CN" sz="2100" dirty="0">
                  <a:solidFill>
                    <a:schemeClr val="dk1"/>
                  </a:solidFill>
                  <a:latin typeface="+mn-lt"/>
                  <a:ea typeface="+mn-ea"/>
                  <a:cs typeface="+mn-cs"/>
                </a:rPr>
              </a:br>
              <a:r>
                <a:rPr lang="zh-CN" sz="2100" dirty="0">
                  <a:solidFill>
                    <a:schemeClr val="dk1"/>
                  </a:solidFill>
                  <a:latin typeface="+mn-lt"/>
                  <a:ea typeface="+mn-ea"/>
                  <a:cs typeface="+mn-cs"/>
                </a:rPr>
                <a:t>中国共产党领导是中国</a:t>
              </a:r>
              <a:br>
                <a:rPr lang="zh-CN" sz="2100" dirty="0">
                  <a:solidFill>
                    <a:schemeClr val="dk1"/>
                  </a:solidFill>
                  <a:latin typeface="+mn-lt"/>
                  <a:ea typeface="+mn-ea"/>
                  <a:cs typeface="+mn-cs"/>
                </a:rPr>
              </a:br>
              <a:r>
                <a:rPr lang="zh-CN" sz="2100" dirty="0">
                  <a:solidFill>
                    <a:schemeClr val="dk1"/>
                  </a:solidFill>
                  <a:latin typeface="+mn-lt"/>
                  <a:ea typeface="+mn-ea"/>
                  <a:cs typeface="+mn-cs"/>
                </a:rPr>
                <a:t>特色社会主义最本质的特征</a:t>
              </a:r>
            </a:p>
          </p:txBody>
        </p:sp>
        <p:sp>
          <p:nvSpPr>
            <p:cNvPr id="10" name="TextBox 10"/>
            <p:cNvSpPr txBox="1"/>
            <p:nvPr/>
          </p:nvSpPr>
          <p:spPr>
            <a:xfrm>
              <a:off x="596646" y="3740150"/>
              <a:ext cx="13990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人民主权</a:t>
              </a:r>
            </a:p>
          </p:txBody>
        </p:sp>
        <p:sp>
          <p:nvSpPr>
            <p:cNvPr id="11" name="TextBox 11"/>
            <p:cNvSpPr txBox="1"/>
            <p:nvPr/>
          </p:nvSpPr>
          <p:spPr>
            <a:xfrm>
              <a:off x="598932" y="4197350"/>
              <a:ext cx="2154936" cy="772668"/>
            </a:xfrm>
            <a:prstGeom prst="rect">
              <a:avLst/>
            </a:prstGeom>
            <a:noFill/>
            <a:ln>
              <a:noFill/>
            </a:ln>
          </p:spPr>
          <p:txBody>
            <a:bodyPr wrap="none" lIns="0" tIns="0" rIns="0" bIns="0" anchor="t" anchorCtr="0">
              <a:spAutoFit/>
            </a:bodyPr>
            <a:lstStyle/>
            <a:p>
              <a:pPr algn="l">
                <a:lnSpc>
                  <a:spcPts val="2850"/>
                </a:lnSpc>
              </a:pPr>
              <a:r>
                <a:rPr lang="zh-CN" sz="2100" dirty="0">
                  <a:solidFill>
                    <a:schemeClr val="dk1"/>
                  </a:solidFill>
                  <a:latin typeface="+mn-lt"/>
                  <a:ea typeface="+mn-ea"/>
                  <a:cs typeface="+mn-cs"/>
                </a:rPr>
                <a:t>第二条：权力归属</a:t>
              </a:r>
              <a:br>
                <a:rPr lang="zh-CN" sz="2100" dirty="0">
                  <a:solidFill>
                    <a:schemeClr val="dk1"/>
                  </a:solidFill>
                  <a:latin typeface="+mn-lt"/>
                  <a:ea typeface="+mn-ea"/>
                  <a:cs typeface="+mn-cs"/>
                </a:rPr>
              </a:br>
              <a:r>
                <a:rPr lang="zh-CN" sz="2100" dirty="0">
                  <a:solidFill>
                    <a:schemeClr val="dk1"/>
                  </a:solidFill>
                  <a:latin typeface="+mn-lt"/>
                  <a:ea typeface="+mn-ea"/>
                  <a:cs typeface="+mn-cs"/>
                </a:rPr>
                <a:t>行使机关与途径</a:t>
              </a:r>
            </a:p>
          </p:txBody>
        </p:sp>
        <p:sp>
          <p:nvSpPr>
            <p:cNvPr id="12" name="TextBox 12"/>
            <p:cNvSpPr txBox="1"/>
            <p:nvPr/>
          </p:nvSpPr>
          <p:spPr>
            <a:xfrm>
              <a:off x="6387846" y="2063750"/>
              <a:ext cx="2428875"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尊重和保障人权</a:t>
              </a:r>
            </a:p>
          </p:txBody>
        </p:sp>
        <p:sp>
          <p:nvSpPr>
            <p:cNvPr id="13" name="TextBox 13"/>
            <p:cNvSpPr txBox="1"/>
            <p:nvPr/>
          </p:nvSpPr>
          <p:spPr>
            <a:xfrm>
              <a:off x="6390132" y="2527300"/>
              <a:ext cx="454456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第三十三条：国家尊重和保障人权。</a:t>
              </a:r>
            </a:p>
          </p:txBody>
        </p:sp>
        <p:sp>
          <p:nvSpPr>
            <p:cNvPr id="14" name="TextBox 14"/>
            <p:cNvSpPr txBox="1"/>
            <p:nvPr/>
          </p:nvSpPr>
          <p:spPr>
            <a:xfrm>
              <a:off x="6387846" y="3740150"/>
              <a:ext cx="2428875"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权力监督与制约</a:t>
              </a:r>
            </a:p>
          </p:txBody>
        </p:sp>
        <p:sp>
          <p:nvSpPr>
            <p:cNvPr id="15" name="TextBox 15"/>
            <p:cNvSpPr txBox="1"/>
            <p:nvPr/>
          </p:nvSpPr>
          <p:spPr>
            <a:xfrm>
              <a:off x="6390132" y="4197350"/>
              <a:ext cx="3755136" cy="772668"/>
            </a:xfrm>
            <a:prstGeom prst="rect">
              <a:avLst/>
            </a:prstGeom>
            <a:noFill/>
            <a:ln>
              <a:noFill/>
            </a:ln>
          </p:spPr>
          <p:txBody>
            <a:bodyPr wrap="none" lIns="0" tIns="0" rIns="0" bIns="0" anchor="t" anchorCtr="0">
              <a:spAutoFit/>
            </a:bodyPr>
            <a:lstStyle/>
            <a:p>
              <a:pPr algn="l">
                <a:lnSpc>
                  <a:spcPts val="2850"/>
                </a:lnSpc>
              </a:pPr>
              <a:r>
                <a:rPr lang="zh-CN" sz="2100" dirty="0">
                  <a:solidFill>
                    <a:schemeClr val="dk1"/>
                  </a:solidFill>
                  <a:latin typeface="+mn-lt"/>
                  <a:ea typeface="+mn-ea"/>
                  <a:cs typeface="+mn-cs"/>
                </a:rPr>
                <a:t>国家机关之间的负责和监督关系</a:t>
              </a:r>
              <a:br>
                <a:rPr lang="zh-CN" sz="2100" dirty="0">
                  <a:solidFill>
                    <a:schemeClr val="dk1"/>
                  </a:solidFill>
                  <a:latin typeface="+mn-lt"/>
                  <a:ea typeface="+mn-ea"/>
                  <a:cs typeface="+mn-cs"/>
                </a:rPr>
              </a:br>
              <a:r>
                <a:rPr lang="zh-CN" sz="2100" dirty="0">
                  <a:solidFill>
                    <a:schemeClr val="dk1"/>
                  </a:solidFill>
                  <a:latin typeface="+mn-lt"/>
                  <a:ea typeface="+mn-ea"/>
                  <a:cs typeface="+mn-cs"/>
                </a:rPr>
                <a:t>公民依宪法对国家机关的监督</a:t>
              </a:r>
            </a:p>
          </p:txBody>
        </p:sp>
        <p:sp>
          <p:nvSpPr>
            <p:cNvPr id="16" name="Freeform 16"/>
            <p:cNvSpPr/>
            <p:nvPr/>
          </p:nvSpPr>
          <p:spPr>
            <a:xfrm>
              <a:off x="609600" y="5162550"/>
              <a:ext cx="10972800" cy="9525"/>
            </a:xfrm>
            <a:custGeom>
              <a:avLst/>
              <a:gdLst/>
              <a:ahLst/>
              <a:cxnLst/>
              <a:rect l="l" t="t" r="r" b="b"/>
              <a:pathLst>
                <a:path w="10972800" h="9525">
                  <a:moveTo>
                    <a:pt x="0" y="0"/>
                  </a:moveTo>
                  <a:lnTo>
                    <a:pt x="10972800" y="0"/>
                  </a:lnTo>
                </a:path>
              </a:pathLst>
            </a:custGeom>
            <a:solidFill>
              <a:schemeClr val="dk1"/>
            </a:solidFill>
            <a:ln w="9525">
              <a:solidFill>
                <a:srgbClr val="CDC8BE"/>
              </a:solidFill>
            </a:ln>
          </p:spPr>
        </p:sp>
        <p:sp>
          <p:nvSpPr>
            <p:cNvPr id="17" name="TextBox 17"/>
            <p:cNvSpPr txBox="1"/>
            <p:nvPr/>
          </p:nvSpPr>
          <p:spPr>
            <a:xfrm>
              <a:off x="596646" y="5226050"/>
              <a:ext cx="208559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社会主义法治</a:t>
              </a:r>
            </a:p>
          </p:txBody>
        </p:sp>
        <p:sp>
          <p:nvSpPr>
            <p:cNvPr id="18" name="TextBox 18"/>
            <p:cNvSpPr txBox="1"/>
            <p:nvPr/>
          </p:nvSpPr>
          <p:spPr>
            <a:xfrm>
              <a:off x="3513582" y="5289550"/>
              <a:ext cx="510997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第五条：依法治国，维护法制统一与尊严</a:t>
              </a:r>
            </a:p>
          </p:txBody>
        </p:sp>
      </p:grpSp>
      <p:grpSp>
        <p:nvGrpSpPr>
          <p:cNvPr id="21" name="principle-close"/>
          <p:cNvGrpSpPr/>
          <p:nvPr/>
        </p:nvGrpSpPr>
        <p:grpSpPr>
          <a:xfrm>
            <a:off x="598932" y="5899150"/>
            <a:ext cx="10198608" cy="410718"/>
            <a:chOff x="598932" y="5899150"/>
            <a:chExt cx="10198608" cy="410718"/>
          </a:xfrm>
        </p:grpSpPr>
        <p:sp>
          <p:nvSpPr>
            <p:cNvPr id="20" name="TextBox 20"/>
            <p:cNvSpPr txBox="1"/>
            <p:nvPr/>
          </p:nvSpPr>
          <p:spPr>
            <a:xfrm>
              <a:off x="598932" y="5899150"/>
              <a:ext cx="10198608"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原则不是口号：它们把权力归属、依法组织与行使、负责监督和保障权利连在一起</a:t>
              </a:r>
            </a:p>
          </p:txBody>
        </p:sp>
      </p:grpSp>
      <p:sp>
        <p:nvSpPr>
          <p:cNvPr id="22" name="TextBox 22"/>
          <p:cNvSpPr txBox="1"/>
          <p:nvPr/>
        </p:nvSpPr>
        <p:spPr>
          <a:xfrm>
            <a:off x="604266" y="6502400"/>
            <a:ext cx="5565762"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教材归纳六项原则；民主集中制见宪法第三条。依据：宪法序言、第1、2、3、5、33条。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19 / 36</a:t>
              </a:r>
            </a:p>
          </p:txBody>
        </p:sp>
      </p:grpSp>
      <p:grpSp>
        <p:nvGrpSpPr>
          <p:cNvPr id="6" name="page-title"/>
          <p:cNvGrpSpPr/>
          <p:nvPr/>
        </p:nvGrpSpPr>
        <p:grpSpPr>
          <a:xfrm>
            <a:off x="590550" y="904875"/>
            <a:ext cx="10407396" cy="790575"/>
            <a:chOff x="590550" y="904875"/>
            <a:chExt cx="10407396" cy="790575"/>
          </a:xfrm>
        </p:grpSpPr>
        <p:sp>
          <p:nvSpPr>
            <p:cNvPr id="5" name="TextBox 5"/>
            <p:cNvSpPr txBox="1"/>
            <p:nvPr/>
          </p:nvSpPr>
          <p:spPr>
            <a:xfrm>
              <a:off x="590550" y="904875"/>
              <a:ext cx="10407396"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从根本内容、最高效力、特殊程序看宪法</a:t>
              </a:r>
            </a:p>
          </p:txBody>
        </p:sp>
      </p:grpSp>
      <p:grpSp>
        <p:nvGrpSpPr>
          <p:cNvPr id="16" name="recap"/>
          <p:cNvGrpSpPr/>
          <p:nvPr/>
        </p:nvGrpSpPr>
        <p:grpSpPr>
          <a:xfrm>
            <a:off x="596646" y="1885950"/>
            <a:ext cx="10985754" cy="1185418"/>
            <a:chOff x="596646" y="1885950"/>
            <a:chExt cx="10985754" cy="1185418"/>
          </a:xfrm>
        </p:grpSpPr>
        <p:sp>
          <p:nvSpPr>
            <p:cNvPr id="7" name="Line 7"/>
            <p:cNvSpPr/>
            <p:nvPr/>
          </p:nvSpPr>
          <p:spPr>
            <a:xfrm>
              <a:off x="609600" y="1885950"/>
              <a:ext cx="3250882" cy="9525"/>
            </a:xfrm>
            <a:custGeom>
              <a:avLst/>
              <a:gdLst/>
              <a:ahLst/>
              <a:cxnLst/>
              <a:rect l="l" t="t" r="r" b="b"/>
              <a:pathLst>
                <a:path w="3250882" h="9525">
                  <a:moveTo>
                    <a:pt x="0" y="0"/>
                  </a:moveTo>
                  <a:lnTo>
                    <a:pt x="3250882" y="0"/>
                  </a:lnTo>
                </a:path>
              </a:pathLst>
            </a:custGeom>
            <a:noFill/>
            <a:ln w="9525">
              <a:solidFill>
                <a:srgbClr val="CDC8BE"/>
              </a:solidFill>
            </a:ln>
          </p:spPr>
        </p:sp>
        <p:sp>
          <p:nvSpPr>
            <p:cNvPr id="8" name="TextBox 8"/>
            <p:cNvSpPr txBox="1"/>
            <p:nvPr/>
          </p:nvSpPr>
          <p:spPr>
            <a:xfrm>
              <a:off x="596646" y="2101850"/>
              <a:ext cx="71247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内容</a:t>
              </a:r>
            </a:p>
          </p:txBody>
        </p:sp>
        <p:sp>
          <p:nvSpPr>
            <p:cNvPr id="9" name="TextBox 9"/>
            <p:cNvSpPr txBox="1"/>
            <p:nvPr/>
          </p:nvSpPr>
          <p:spPr>
            <a:xfrm>
              <a:off x="598932" y="2660650"/>
              <a:ext cx="22829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规定国家根本问题</a:t>
              </a:r>
            </a:p>
          </p:txBody>
        </p:sp>
        <p:sp>
          <p:nvSpPr>
            <p:cNvPr id="10" name="Line 10"/>
            <p:cNvSpPr/>
            <p:nvPr/>
          </p:nvSpPr>
          <p:spPr>
            <a:xfrm>
              <a:off x="4470082" y="1885950"/>
              <a:ext cx="3251835" cy="9525"/>
            </a:xfrm>
            <a:custGeom>
              <a:avLst/>
              <a:gdLst/>
              <a:ahLst/>
              <a:cxnLst/>
              <a:rect l="l" t="t" r="r" b="b"/>
              <a:pathLst>
                <a:path w="3251835" h="9525">
                  <a:moveTo>
                    <a:pt x="0" y="0"/>
                  </a:moveTo>
                  <a:lnTo>
                    <a:pt x="3251835" y="0"/>
                  </a:lnTo>
                </a:path>
              </a:pathLst>
            </a:custGeom>
            <a:noFill/>
            <a:ln w="9525">
              <a:solidFill>
                <a:srgbClr val="CDC8BE"/>
              </a:solidFill>
            </a:ln>
          </p:spPr>
        </p:sp>
        <p:sp>
          <p:nvSpPr>
            <p:cNvPr id="11" name="TextBox 11"/>
            <p:cNvSpPr txBox="1"/>
            <p:nvPr/>
          </p:nvSpPr>
          <p:spPr>
            <a:xfrm>
              <a:off x="4457128" y="2101850"/>
              <a:ext cx="71247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效力</a:t>
              </a:r>
            </a:p>
          </p:txBody>
        </p:sp>
        <p:sp>
          <p:nvSpPr>
            <p:cNvPr id="12" name="TextBox 12"/>
            <p:cNvSpPr txBox="1"/>
            <p:nvPr/>
          </p:nvSpPr>
          <p:spPr>
            <a:xfrm>
              <a:off x="4459414" y="2660650"/>
              <a:ext cx="200025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最高法律约束力</a:t>
              </a:r>
            </a:p>
          </p:txBody>
        </p:sp>
        <p:sp>
          <p:nvSpPr>
            <p:cNvPr id="13" name="Line 13"/>
            <p:cNvSpPr/>
            <p:nvPr/>
          </p:nvSpPr>
          <p:spPr>
            <a:xfrm>
              <a:off x="8331518" y="1885950"/>
              <a:ext cx="3250882" cy="9525"/>
            </a:xfrm>
            <a:custGeom>
              <a:avLst/>
              <a:gdLst/>
              <a:ahLst/>
              <a:cxnLst/>
              <a:rect l="l" t="t" r="r" b="b"/>
              <a:pathLst>
                <a:path w="3250882" h="9525">
                  <a:moveTo>
                    <a:pt x="0" y="0"/>
                  </a:moveTo>
                  <a:lnTo>
                    <a:pt x="3250882" y="0"/>
                  </a:lnTo>
                </a:path>
              </a:pathLst>
            </a:custGeom>
            <a:noFill/>
            <a:ln w="9525">
              <a:solidFill>
                <a:srgbClr val="CDC8BE"/>
              </a:solidFill>
            </a:ln>
          </p:spPr>
        </p:sp>
        <p:sp>
          <p:nvSpPr>
            <p:cNvPr id="14" name="TextBox 14"/>
            <p:cNvSpPr txBox="1"/>
            <p:nvPr/>
          </p:nvSpPr>
          <p:spPr>
            <a:xfrm>
              <a:off x="8318564" y="2101850"/>
              <a:ext cx="71247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程序</a:t>
              </a:r>
            </a:p>
          </p:txBody>
        </p:sp>
        <p:sp>
          <p:nvSpPr>
            <p:cNvPr id="15" name="TextBox 15"/>
            <p:cNvSpPr txBox="1"/>
            <p:nvPr/>
          </p:nvSpPr>
          <p:spPr>
            <a:xfrm>
              <a:off x="8320850" y="2660650"/>
              <a:ext cx="284835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特殊而严格的修改程序</a:t>
              </a:r>
            </a:p>
          </p:txBody>
        </p:sp>
      </p:grpSp>
      <p:grpSp>
        <p:nvGrpSpPr>
          <p:cNvPr id="20" name="next-half"/>
          <p:cNvGrpSpPr/>
          <p:nvPr/>
        </p:nvGrpSpPr>
        <p:grpSpPr>
          <a:xfrm>
            <a:off x="595122" y="4400550"/>
            <a:ext cx="10987278" cy="1299718"/>
            <a:chOff x="595122" y="4400550"/>
            <a:chExt cx="10987278" cy="1299718"/>
          </a:xfrm>
        </p:grpSpPr>
        <p:sp>
          <p:nvSpPr>
            <p:cNvPr id="17" name="Line 17"/>
            <p:cNvSpPr/>
            <p:nvPr/>
          </p:nvSpPr>
          <p:spPr>
            <a:xfrm>
              <a:off x="609600" y="440055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18" name="TextBox 18"/>
            <p:cNvSpPr txBox="1"/>
            <p:nvPr/>
          </p:nvSpPr>
          <p:spPr>
            <a:xfrm>
              <a:off x="595122" y="4610100"/>
              <a:ext cx="6934962" cy="557403"/>
            </a:xfrm>
            <a:prstGeom prst="rect">
              <a:avLst/>
            </a:prstGeom>
            <a:noFill/>
            <a:ln>
              <a:noFill/>
            </a:ln>
          </p:spPr>
          <p:txBody>
            <a:bodyPr wrap="none" lIns="0" tIns="0" rIns="0" bIns="0" anchor="t" anchorCtr="0">
              <a:spAutoFit/>
            </a:bodyPr>
            <a:lstStyle/>
            <a:p>
              <a:pPr algn="l"/>
              <a:r>
                <a:rPr lang="zh-CN" sz="2850" dirty="0">
                  <a:solidFill>
                    <a:schemeClr val="accent2"/>
                  </a:solidFill>
                  <a:latin typeface="+mn-lt"/>
                  <a:ea typeface="+mn-ea"/>
                  <a:cs typeface="+mn-cs"/>
                </a:rPr>
                <a:t>宪法既组织国家权力，也要保障公民权利</a:t>
              </a:r>
            </a:p>
          </p:txBody>
        </p:sp>
        <p:sp>
          <p:nvSpPr>
            <p:cNvPr id="19" name="TextBox 19"/>
            <p:cNvSpPr txBox="1"/>
            <p:nvPr/>
          </p:nvSpPr>
          <p:spPr>
            <a:xfrm>
              <a:off x="598932" y="5289550"/>
              <a:ext cx="1019860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下节看一个申请国家赔偿的人：宪法已经给了他权利保障，具体制度怎样把它落实</a:t>
              </a:r>
            </a:p>
          </p:txBody>
        </p:sp>
      </p:grpSp>
      <p:sp>
        <p:nvSpPr>
          <p:cNvPr id="21" name="TextBox 21"/>
          <p:cNvSpPr txBox="1"/>
          <p:nvPr/>
        </p:nvSpPr>
        <p:spPr>
          <a:xfrm>
            <a:off x="604266" y="6502400"/>
            <a:ext cx="2350027"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宪法根本地位与基本原则·上节回顾。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下节 20 / 36</a:t>
              </a:r>
            </a:p>
          </p:txBody>
        </p:sp>
      </p:grpSp>
      <p:grpSp>
        <p:nvGrpSpPr>
          <p:cNvPr id="6" name="page-title"/>
          <p:cNvGrpSpPr/>
          <p:nvPr/>
        </p:nvGrpSpPr>
        <p:grpSpPr>
          <a:xfrm>
            <a:off x="590550" y="904875"/>
            <a:ext cx="9255252" cy="790575"/>
            <a:chOff x="590550" y="904875"/>
            <a:chExt cx="9255252" cy="790575"/>
          </a:xfrm>
        </p:grpSpPr>
        <p:sp>
          <p:nvSpPr>
            <p:cNvPr id="5" name="TextBox 5"/>
            <p:cNvSpPr txBox="1"/>
            <p:nvPr/>
          </p:nvSpPr>
          <p:spPr>
            <a:xfrm>
              <a:off x="590550" y="904875"/>
              <a:ext cx="9255252"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损害发生以后，向国家提出什么请求</a:t>
              </a:r>
            </a:p>
          </p:txBody>
        </p:sp>
      </p:grpSp>
      <p:grpSp>
        <p:nvGrpSpPr>
          <p:cNvPr id="10" name="case"/>
          <p:cNvGrpSpPr/>
          <p:nvPr/>
        </p:nvGrpSpPr>
        <p:grpSpPr>
          <a:xfrm>
            <a:off x="596646" y="1885950"/>
            <a:ext cx="5194554" cy="2372868"/>
            <a:chOff x="596646" y="1885950"/>
            <a:chExt cx="5194554" cy="2372868"/>
          </a:xfrm>
        </p:grpSpPr>
        <p:sp>
          <p:nvSpPr>
            <p:cNvPr id="7" name="Line 7"/>
            <p:cNvSpPr/>
            <p:nvPr/>
          </p:nvSpPr>
          <p:spPr>
            <a:xfrm>
              <a:off x="609600" y="188595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8" name="TextBox 8"/>
            <p:cNvSpPr txBox="1"/>
            <p:nvPr/>
          </p:nvSpPr>
          <p:spPr>
            <a:xfrm>
              <a:off x="596646" y="2101850"/>
              <a:ext cx="712470"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设例</a:t>
              </a:r>
            </a:p>
          </p:txBody>
        </p:sp>
        <p:sp>
          <p:nvSpPr>
            <p:cNvPr id="9" name="TextBox 9"/>
            <p:cNvSpPr txBox="1"/>
            <p:nvPr/>
          </p:nvSpPr>
          <p:spPr>
            <a:xfrm>
              <a:off x="598932" y="2647950"/>
              <a:ext cx="2688336" cy="16108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某县公安局对一位公民</a:t>
              </a:r>
              <a:br>
                <a:rPr lang="zh-CN" sz="2100" dirty="0">
                  <a:solidFill>
                    <a:schemeClr val="dk1"/>
                  </a:solidFill>
                  <a:latin typeface="+mn-lt"/>
                  <a:ea typeface="+mn-ea"/>
                  <a:cs typeface="+mn-cs"/>
                </a:rPr>
              </a:br>
              <a:r>
                <a:rPr lang="zh-CN" sz="2100" dirty="0">
                  <a:solidFill>
                    <a:schemeClr val="dk1"/>
                  </a:solidFill>
                  <a:latin typeface="+mn-lt"/>
                  <a:ea typeface="+mn-ea"/>
                  <a:cs typeface="+mn-cs"/>
                </a:rPr>
                <a:t>作出行政拘留处罚，</a:t>
              </a:r>
              <a:br>
                <a:rPr lang="zh-CN" sz="2100" dirty="0">
                  <a:solidFill>
                    <a:schemeClr val="dk1"/>
                  </a:solidFill>
                  <a:latin typeface="+mn-lt"/>
                  <a:ea typeface="+mn-ea"/>
                  <a:cs typeface="+mn-cs"/>
                </a:rPr>
              </a:br>
              <a:r>
                <a:rPr lang="zh-CN" sz="2100" dirty="0">
                  <a:solidFill>
                    <a:schemeClr val="dk1"/>
                  </a:solidFill>
                  <a:latin typeface="+mn-lt"/>
                  <a:ea typeface="+mn-ea"/>
                  <a:cs typeface="+mn-cs"/>
                </a:rPr>
                <a:t>这次拘留违法，</a:t>
              </a:r>
              <a:br>
                <a:rPr lang="zh-CN" sz="2100" dirty="0">
                  <a:solidFill>
                    <a:schemeClr val="dk1"/>
                  </a:solidFill>
                  <a:latin typeface="+mn-lt"/>
                  <a:ea typeface="+mn-ea"/>
                  <a:cs typeface="+mn-cs"/>
                </a:rPr>
              </a:br>
              <a:r>
                <a:rPr lang="zh-CN" sz="2100" dirty="0">
                  <a:solidFill>
                    <a:schemeClr val="dk1"/>
                  </a:solidFill>
                  <a:latin typeface="+mn-lt"/>
                  <a:ea typeface="+mn-ea"/>
                  <a:cs typeface="+mn-cs"/>
                </a:rPr>
                <a:t>并造成了相应损害。</a:t>
              </a:r>
            </a:p>
          </p:txBody>
        </p:sp>
      </p:grpSp>
      <p:grpSp>
        <p:nvGrpSpPr>
          <p:cNvPr id="15" name="question"/>
          <p:cNvGrpSpPr/>
          <p:nvPr/>
        </p:nvGrpSpPr>
        <p:grpSpPr>
          <a:xfrm>
            <a:off x="6386322" y="1885950"/>
            <a:ext cx="5196078" cy="2424303"/>
            <a:chOff x="6386322" y="1885950"/>
            <a:chExt cx="5196078" cy="2424303"/>
          </a:xfrm>
        </p:grpSpPr>
        <p:sp>
          <p:nvSpPr>
            <p:cNvPr id="11" name="Line 11"/>
            <p:cNvSpPr/>
            <p:nvPr/>
          </p:nvSpPr>
          <p:spPr>
            <a:xfrm>
              <a:off x="6400800" y="188595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12" name="TextBox 12"/>
            <p:cNvSpPr txBox="1"/>
            <p:nvPr/>
          </p:nvSpPr>
          <p:spPr>
            <a:xfrm>
              <a:off x="6387846" y="2101850"/>
              <a:ext cx="3115437"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他要面对的第一件事</a:t>
              </a:r>
            </a:p>
          </p:txBody>
        </p:sp>
        <p:sp>
          <p:nvSpPr>
            <p:cNvPr id="13" name="TextBox 13"/>
            <p:cNvSpPr txBox="1"/>
            <p:nvPr/>
          </p:nvSpPr>
          <p:spPr>
            <a:xfrm>
              <a:off x="6390132" y="2647950"/>
              <a:ext cx="32217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是请求工作人员照顾一下，</a:t>
              </a:r>
              <a:br>
                <a:rPr lang="zh-CN" sz="2100" dirty="0">
                  <a:solidFill>
                    <a:schemeClr val="dk1"/>
                  </a:solidFill>
                  <a:latin typeface="+mn-lt"/>
                  <a:ea typeface="+mn-ea"/>
                  <a:cs typeface="+mn-cs"/>
                </a:rPr>
              </a:br>
              <a:r>
                <a:rPr lang="zh-CN" sz="2100" dirty="0">
                  <a:solidFill>
                    <a:schemeClr val="dk1"/>
                  </a:solidFill>
                  <a:latin typeface="+mn-lt"/>
                  <a:ea typeface="+mn-ea"/>
                  <a:cs typeface="+mn-cs"/>
                </a:rPr>
                <a:t>还是在行使法律上的权利</a:t>
              </a:r>
            </a:p>
          </p:txBody>
        </p:sp>
        <p:sp>
          <p:nvSpPr>
            <p:cNvPr id="14" name="TextBox 14"/>
            <p:cNvSpPr txBox="1"/>
            <p:nvPr/>
          </p:nvSpPr>
          <p:spPr>
            <a:xfrm>
              <a:off x="6386322" y="3752850"/>
              <a:ext cx="4632960" cy="557403"/>
            </a:xfrm>
            <a:prstGeom prst="rect">
              <a:avLst/>
            </a:prstGeom>
            <a:noFill/>
            <a:ln>
              <a:noFill/>
            </a:ln>
          </p:spPr>
          <p:txBody>
            <a:bodyPr wrap="none" lIns="0" tIns="0" rIns="0" bIns="0" anchor="t" anchorCtr="0">
              <a:spAutoFit/>
            </a:bodyPr>
            <a:lstStyle/>
            <a:p>
              <a:pPr algn="l"/>
              <a:r>
                <a:rPr lang="zh-CN" sz="2850" dirty="0">
                  <a:solidFill>
                    <a:schemeClr val="accent2"/>
                  </a:solidFill>
                  <a:latin typeface="+mn-lt"/>
                  <a:ea typeface="+mn-ea"/>
                  <a:cs typeface="+mn-cs"/>
                </a:rPr>
                <a:t>是行使权利，不是请求照顾</a:t>
              </a:r>
            </a:p>
          </p:txBody>
        </p:sp>
      </p:grpSp>
      <p:sp>
        <p:nvSpPr>
          <p:cNvPr id="16" name="TextBox 16"/>
          <p:cNvSpPr txBox="1"/>
          <p:nvPr/>
        </p:nvSpPr>
        <p:spPr>
          <a:xfrm>
            <a:off x="604266" y="6502400"/>
            <a:ext cx="3403092"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课堂设例：违法行政拘留及相应损害已作为已知事实。</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下节 21 / 36</a:t>
              </a:r>
            </a:p>
          </p:txBody>
        </p:sp>
      </p:grpSp>
      <p:grpSp>
        <p:nvGrpSpPr>
          <p:cNvPr id="6" name="page-title"/>
          <p:cNvGrpSpPr/>
          <p:nvPr/>
        </p:nvGrpSpPr>
        <p:grpSpPr>
          <a:xfrm>
            <a:off x="590550" y="904875"/>
            <a:ext cx="5798820" cy="790575"/>
            <a:chOff x="590550" y="904875"/>
            <a:chExt cx="5798820" cy="790575"/>
          </a:xfrm>
        </p:grpSpPr>
        <p:sp>
          <p:nvSpPr>
            <p:cNvPr id="5" name="TextBox 5"/>
            <p:cNvSpPr txBox="1"/>
            <p:nvPr/>
          </p:nvSpPr>
          <p:spPr>
            <a:xfrm>
              <a:off x="590550" y="904875"/>
              <a:ext cx="5798820" cy="790575"/>
            </a:xfrm>
            <a:prstGeom prst="rect">
              <a:avLst/>
            </a:prstGeom>
            <a:noFill/>
            <a:ln>
              <a:noFill/>
            </a:ln>
          </p:spPr>
          <p:txBody>
            <a:bodyPr wrap="none" lIns="0" tIns="0" rIns="0" bIns="0" anchor="t" anchorCtr="0">
              <a:spAutoFit/>
            </a:bodyPr>
            <a:lstStyle/>
            <a:p>
              <a:pPr algn="l"/>
              <a:r>
                <a:rPr lang="zh-CN" sz="4050" dirty="0">
                  <a:solidFill>
                    <a:srgbClr val="F4F1EA"/>
                  </a:solidFill>
                  <a:latin typeface="+mj-lt"/>
                  <a:ea typeface="+mj-ea"/>
                  <a:cs typeface="+mj-cs"/>
                </a:rPr>
                <a:t>宪法第四十一条第三款</a:t>
              </a:r>
            </a:p>
          </p:txBody>
        </p:sp>
      </p:grpSp>
      <p:grpSp>
        <p:nvGrpSpPr>
          <p:cNvPr id="8" name="overall"/>
          <p:cNvGrpSpPr/>
          <p:nvPr/>
        </p:nvGrpSpPr>
        <p:grpSpPr>
          <a:xfrm>
            <a:off x="596646" y="2006600"/>
            <a:ext cx="3115437" cy="498729"/>
            <a:chOff x="596646" y="2006600"/>
            <a:chExt cx="3115437" cy="498729"/>
          </a:xfrm>
        </p:grpSpPr>
        <p:sp>
          <p:nvSpPr>
            <p:cNvPr id="7" name="TextBox 7"/>
            <p:cNvSpPr txBox="1"/>
            <p:nvPr/>
          </p:nvSpPr>
          <p:spPr>
            <a:xfrm>
              <a:off x="596646" y="2006600"/>
              <a:ext cx="3115437"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宪法确认了这项权利</a:t>
              </a:r>
            </a:p>
          </p:txBody>
        </p:sp>
      </p:grpSp>
      <p:grpSp>
        <p:nvGrpSpPr>
          <p:cNvPr id="12" name="article-forty-one"/>
          <p:cNvGrpSpPr/>
          <p:nvPr/>
        </p:nvGrpSpPr>
        <p:grpSpPr>
          <a:xfrm>
            <a:off x="596646" y="2876550"/>
            <a:ext cx="10985754" cy="1439418"/>
            <a:chOff x="596646" y="2876550"/>
            <a:chExt cx="10985754" cy="1439418"/>
          </a:xfrm>
        </p:grpSpPr>
        <p:sp>
          <p:nvSpPr>
            <p:cNvPr id="9" name="Line 9"/>
            <p:cNvSpPr/>
            <p:nvPr/>
          </p:nvSpPr>
          <p:spPr>
            <a:xfrm>
              <a:off x="609600" y="2876550"/>
              <a:ext cx="10972800" cy="9525"/>
            </a:xfrm>
            <a:custGeom>
              <a:avLst/>
              <a:gdLst/>
              <a:ahLst/>
              <a:cxnLst/>
              <a:rect l="l" t="t" r="r" b="b"/>
              <a:pathLst>
                <a:path w="10972800" h="9525">
                  <a:moveTo>
                    <a:pt x="0" y="0"/>
                  </a:moveTo>
                  <a:lnTo>
                    <a:pt x="10972800" y="0"/>
                  </a:lnTo>
                </a:path>
              </a:pathLst>
            </a:custGeom>
            <a:noFill/>
            <a:ln w="9525">
              <a:solidFill>
                <a:srgbClr val="3A454A"/>
              </a:solidFill>
            </a:ln>
          </p:spPr>
        </p:sp>
        <p:sp>
          <p:nvSpPr>
            <p:cNvPr id="10" name="TextBox 10"/>
            <p:cNvSpPr txBox="1"/>
            <p:nvPr/>
          </p:nvSpPr>
          <p:spPr>
            <a:xfrm>
              <a:off x="596646" y="2997200"/>
              <a:ext cx="2772156" cy="498729"/>
            </a:xfrm>
            <a:prstGeom prst="rect">
              <a:avLst/>
            </a:prstGeom>
            <a:noFill/>
            <a:ln>
              <a:noFill/>
            </a:ln>
          </p:spPr>
          <p:txBody>
            <a:bodyPr wrap="none" lIns="0" tIns="0" rIns="0" bIns="0" anchor="t" anchorCtr="0">
              <a:spAutoFit/>
            </a:bodyPr>
            <a:lstStyle/>
            <a:p>
              <a:pPr algn="l"/>
              <a:r>
                <a:rPr lang="zh-CN" sz="2550" dirty="0">
                  <a:solidFill>
                    <a:srgbClr val="B8C4C8"/>
                  </a:solidFill>
                  <a:latin typeface="+mn-lt"/>
                  <a:ea typeface="+mn-ea"/>
                  <a:cs typeface="+mn-cs"/>
                </a:rPr>
                <a:t>第四十一条第三款</a:t>
              </a:r>
            </a:p>
          </p:txBody>
        </p:sp>
        <p:sp>
          <p:nvSpPr>
            <p:cNvPr id="11" name="TextBox 11"/>
            <p:cNvSpPr txBox="1"/>
            <p:nvPr/>
          </p:nvSpPr>
          <p:spPr>
            <a:xfrm>
              <a:off x="1513332" y="3505200"/>
              <a:ext cx="7222236" cy="810768"/>
            </a:xfrm>
            <a:prstGeom prst="rect">
              <a:avLst/>
            </a:prstGeom>
            <a:noFill/>
            <a:ln>
              <a:noFill/>
            </a:ln>
          </p:spPr>
          <p:txBody>
            <a:bodyPr wrap="none" lIns="0" tIns="0" rIns="0" bIns="0" anchor="t" anchorCtr="0">
              <a:spAutoFit/>
            </a:bodyPr>
            <a:lstStyle/>
            <a:p>
              <a:pPr algn="l">
                <a:lnSpc>
                  <a:spcPts val="3150"/>
                </a:lnSpc>
              </a:pPr>
              <a:r>
                <a:rPr lang="zh-CN" sz="2100" dirty="0">
                  <a:solidFill>
                    <a:srgbClr val="F4F1EA"/>
                  </a:solidFill>
                  <a:latin typeface="+mn-lt"/>
                  <a:ea typeface="+mn-ea"/>
                  <a:cs typeface="+mn-cs"/>
                </a:rPr>
                <a:t>由于国家机关和国家工作人员侵犯公民权利而受到损失的人，</a:t>
              </a:r>
              <a:br>
                <a:rPr lang="zh-CN" sz="2100" dirty="0">
                  <a:solidFill>
                    <a:srgbClr val="F4F1EA"/>
                  </a:solidFill>
                  <a:latin typeface="+mn-lt"/>
                  <a:ea typeface="+mn-ea"/>
                  <a:cs typeface="+mn-cs"/>
                </a:rPr>
              </a:br>
              <a:r>
                <a:rPr lang="zh-CN" sz="2100" dirty="0">
                  <a:solidFill>
                    <a:srgbClr val="F4F1EA"/>
                  </a:solidFill>
                  <a:latin typeface="+mn-lt"/>
                  <a:ea typeface="+mn-ea"/>
                  <a:cs typeface="+mn-cs"/>
                </a:rPr>
                <a:t>有依照法律规定取得赔偿的权利。</a:t>
              </a:r>
            </a:p>
          </p:txBody>
        </p:sp>
      </p:grpSp>
      <p:grpSp>
        <p:nvGrpSpPr>
          <p:cNvPr id="16" name="article-ninety-seven"/>
          <p:cNvGrpSpPr/>
          <p:nvPr/>
        </p:nvGrpSpPr>
        <p:grpSpPr>
          <a:xfrm>
            <a:off x="596646" y="4667250"/>
            <a:ext cx="10985754" cy="1458468"/>
            <a:chOff x="596646" y="4667250"/>
            <a:chExt cx="10985754" cy="1458468"/>
          </a:xfrm>
        </p:grpSpPr>
        <p:sp>
          <p:nvSpPr>
            <p:cNvPr id="13" name="Line 13"/>
            <p:cNvSpPr/>
            <p:nvPr/>
          </p:nvSpPr>
          <p:spPr>
            <a:xfrm>
              <a:off x="609600" y="4667250"/>
              <a:ext cx="10972800" cy="9525"/>
            </a:xfrm>
            <a:custGeom>
              <a:avLst/>
              <a:gdLst/>
              <a:ahLst/>
              <a:cxnLst/>
              <a:rect l="l" t="t" r="r" b="b"/>
              <a:pathLst>
                <a:path w="10972800" h="9525">
                  <a:moveTo>
                    <a:pt x="0" y="0"/>
                  </a:moveTo>
                  <a:lnTo>
                    <a:pt x="10972800" y="0"/>
                  </a:lnTo>
                </a:path>
              </a:pathLst>
            </a:custGeom>
            <a:noFill/>
            <a:ln w="9525">
              <a:solidFill>
                <a:srgbClr val="3A454A"/>
              </a:solidFill>
            </a:ln>
          </p:spPr>
        </p:sp>
        <p:sp>
          <p:nvSpPr>
            <p:cNvPr id="14" name="TextBox 14"/>
            <p:cNvSpPr txBox="1"/>
            <p:nvPr/>
          </p:nvSpPr>
          <p:spPr>
            <a:xfrm>
              <a:off x="596646" y="4864100"/>
              <a:ext cx="6204966"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一九五四年宪法第九十七条已有相应规定</a:t>
              </a:r>
            </a:p>
          </p:txBody>
        </p:sp>
        <p:sp>
          <p:nvSpPr>
            <p:cNvPr id="15" name="TextBox 15"/>
            <p:cNvSpPr txBox="1"/>
            <p:nvPr/>
          </p:nvSpPr>
          <p:spPr>
            <a:xfrm>
              <a:off x="598932" y="5314950"/>
              <a:ext cx="8822436" cy="810768"/>
            </a:xfrm>
            <a:prstGeom prst="rect">
              <a:avLst/>
            </a:prstGeom>
            <a:noFill/>
            <a:ln>
              <a:noFill/>
            </a:ln>
          </p:spPr>
          <p:txBody>
            <a:bodyPr wrap="none" lIns="0" tIns="0" rIns="0" bIns="0" anchor="t" anchorCtr="0">
              <a:spAutoFit/>
            </a:bodyPr>
            <a:lstStyle/>
            <a:p>
              <a:pPr algn="l">
                <a:lnSpc>
                  <a:spcPts val="3150"/>
                </a:lnSpc>
              </a:pPr>
              <a:r>
                <a:rPr lang="zh-CN" sz="2100" dirty="0">
                  <a:solidFill>
                    <a:srgbClr val="F4F1EA"/>
                  </a:solidFill>
                  <a:latin typeface="+mn-lt"/>
                  <a:ea typeface="+mn-ea"/>
                  <a:cs typeface="+mn-cs"/>
                </a:rPr>
                <a:t>因国家机关工作人员侵犯公民权利而受到损失的人有取得赔偿的权利</a:t>
              </a:r>
              <a:br>
                <a:rPr lang="zh-CN" sz="2100" dirty="0">
                  <a:solidFill>
                    <a:srgbClr val="F4F1EA"/>
                  </a:solidFill>
                  <a:latin typeface="+mn-lt"/>
                  <a:ea typeface="+mn-ea"/>
                  <a:cs typeface="+mn-cs"/>
                </a:rPr>
              </a:br>
              <a:r>
                <a:rPr lang="zh-CN" sz="2100" dirty="0">
                  <a:solidFill>
                    <a:srgbClr val="F4F1EA"/>
                  </a:solidFill>
                  <a:latin typeface="+mn-lt"/>
                  <a:ea typeface="+mn-ea"/>
                  <a:cs typeface="+mn-cs"/>
                </a:rPr>
                <a:t>宪法确认权利；一九九四年国家赔偿法系统规定，后经修正，现行文本沿用</a:t>
              </a:r>
            </a:p>
          </p:txBody>
        </p:sp>
      </p:grpSp>
      <p:sp>
        <p:nvSpPr>
          <p:cNvPr id="17" name="TextBox 17"/>
          <p:cNvSpPr txBox="1"/>
          <p:nvPr/>
        </p:nvSpPr>
        <p:spPr>
          <a:xfrm>
            <a:off x="604266" y="6502400"/>
            <a:ext cx="6767246" cy="205359"/>
          </a:xfrm>
          <a:prstGeom prst="rect">
            <a:avLst/>
          </a:prstGeom>
          <a:noFill/>
          <a:ln>
            <a:noFill/>
          </a:ln>
        </p:spPr>
        <p:txBody>
          <a:bodyPr wrap="none" lIns="0" tIns="0" rIns="0" bIns="0" anchor="t" anchorCtr="0">
            <a:spAutoFit/>
          </a:bodyPr>
          <a:lstStyle/>
          <a:p>
            <a:pPr algn="l"/>
            <a:r>
              <a:rPr lang="zh-CN" sz="1050" dirty="0">
                <a:solidFill>
                  <a:srgbClr val="B8C4C8"/>
                </a:solidFill>
                <a:latin typeface="+mn-lt"/>
                <a:ea typeface="+mn-ea"/>
                <a:cs typeface="+mn-cs"/>
              </a:rPr>
              <a:t>宪法：2018 年修正文本，第四十一条第三款；1954 年宪法第九十七条；国家赔偿法 1994 年制定、后经修正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下节 22 / 36</a:t>
              </a:r>
            </a:p>
          </p:txBody>
        </p:sp>
      </p:grpSp>
      <p:grpSp>
        <p:nvGrpSpPr>
          <p:cNvPr id="6" name="page-title"/>
          <p:cNvGrpSpPr/>
          <p:nvPr/>
        </p:nvGrpSpPr>
        <p:grpSpPr>
          <a:xfrm>
            <a:off x="590550" y="904875"/>
            <a:ext cx="5798820" cy="790575"/>
            <a:chOff x="590550" y="904875"/>
            <a:chExt cx="5798820" cy="790575"/>
          </a:xfrm>
        </p:grpSpPr>
        <p:sp>
          <p:nvSpPr>
            <p:cNvPr id="5" name="TextBox 5"/>
            <p:cNvSpPr txBox="1"/>
            <p:nvPr/>
          </p:nvSpPr>
          <p:spPr>
            <a:xfrm>
              <a:off x="590550" y="904875"/>
              <a:ext cx="5798820" cy="790575"/>
            </a:xfrm>
            <a:prstGeom prst="rect">
              <a:avLst/>
            </a:prstGeom>
            <a:noFill/>
            <a:ln>
              <a:noFill/>
            </a:ln>
          </p:spPr>
          <p:txBody>
            <a:bodyPr wrap="none" lIns="0" tIns="0" rIns="0" bIns="0" anchor="t" anchorCtr="0">
              <a:spAutoFit/>
            </a:bodyPr>
            <a:lstStyle/>
            <a:p>
              <a:pPr algn="l"/>
              <a:r>
                <a:rPr lang="zh-CN" sz="4050" dirty="0">
                  <a:solidFill>
                    <a:srgbClr val="F4F1EA"/>
                  </a:solidFill>
                  <a:latin typeface="+mj-lt"/>
                  <a:ea typeface="+mj-ea"/>
                  <a:cs typeface="+mj-cs"/>
                </a:rPr>
                <a:t>从宪法条文到法律条件</a:t>
              </a:r>
            </a:p>
          </p:txBody>
        </p:sp>
      </p:grpSp>
      <p:grpSp>
        <p:nvGrpSpPr>
          <p:cNvPr id="13" name="constitution-and-statute"/>
          <p:cNvGrpSpPr/>
          <p:nvPr/>
        </p:nvGrpSpPr>
        <p:grpSpPr>
          <a:xfrm>
            <a:off x="596646" y="1885950"/>
            <a:ext cx="10985754" cy="2372868"/>
            <a:chOff x="596646" y="1885950"/>
            <a:chExt cx="10985754" cy="2372868"/>
          </a:xfrm>
        </p:grpSpPr>
        <p:sp>
          <p:nvSpPr>
            <p:cNvPr id="7" name="Line 7"/>
            <p:cNvSpPr/>
            <p:nvPr/>
          </p:nvSpPr>
          <p:spPr>
            <a:xfrm>
              <a:off x="609600" y="1885950"/>
              <a:ext cx="5181600" cy="9525"/>
            </a:xfrm>
            <a:custGeom>
              <a:avLst/>
              <a:gdLst/>
              <a:ahLst/>
              <a:cxnLst/>
              <a:rect l="l" t="t" r="r" b="b"/>
              <a:pathLst>
                <a:path w="5181600" h="9525">
                  <a:moveTo>
                    <a:pt x="0" y="0"/>
                  </a:moveTo>
                  <a:lnTo>
                    <a:pt x="5181600" y="0"/>
                  </a:lnTo>
                </a:path>
              </a:pathLst>
            </a:custGeom>
            <a:noFill/>
            <a:ln w="9525">
              <a:solidFill>
                <a:srgbClr val="3A454A"/>
              </a:solidFill>
            </a:ln>
          </p:spPr>
        </p:sp>
        <p:sp>
          <p:nvSpPr>
            <p:cNvPr id="8" name="TextBox 8"/>
            <p:cNvSpPr txBox="1"/>
            <p:nvPr/>
          </p:nvSpPr>
          <p:spPr>
            <a:xfrm>
              <a:off x="596646" y="2101850"/>
              <a:ext cx="2428875"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宪法第四十一条</a:t>
              </a:r>
            </a:p>
          </p:txBody>
        </p:sp>
        <p:sp>
          <p:nvSpPr>
            <p:cNvPr id="9" name="TextBox 9"/>
            <p:cNvSpPr txBox="1"/>
            <p:nvPr/>
          </p:nvSpPr>
          <p:spPr>
            <a:xfrm>
              <a:off x="598932" y="2647950"/>
              <a:ext cx="4021836" cy="1210818"/>
            </a:xfrm>
            <a:prstGeom prst="rect">
              <a:avLst/>
            </a:prstGeom>
            <a:noFill/>
            <a:ln>
              <a:noFill/>
            </a:ln>
          </p:spPr>
          <p:txBody>
            <a:bodyPr wrap="none" lIns="0" tIns="0" rIns="0" bIns="0" anchor="t" anchorCtr="0">
              <a:spAutoFit/>
            </a:bodyPr>
            <a:lstStyle/>
            <a:p>
              <a:pPr algn="l">
                <a:lnSpc>
                  <a:spcPts val="3150"/>
                </a:lnSpc>
              </a:pPr>
              <a:r>
                <a:rPr lang="zh-CN" sz="2100" dirty="0">
                  <a:solidFill>
                    <a:srgbClr val="F4F1EA"/>
                  </a:solidFill>
                  <a:latin typeface="+mn-lt"/>
                  <a:ea typeface="+mn-ea"/>
                  <a:cs typeface="+mn-cs"/>
                </a:rPr>
                <a:t>因国家机关和国家工作人员</a:t>
              </a:r>
              <a:br>
                <a:rPr lang="zh-CN" sz="2100" dirty="0">
                  <a:solidFill>
                    <a:srgbClr val="F4F1EA"/>
                  </a:solidFill>
                  <a:latin typeface="+mn-lt"/>
                  <a:ea typeface="+mn-ea"/>
                  <a:cs typeface="+mn-cs"/>
                </a:rPr>
              </a:br>
              <a:r>
                <a:rPr lang="zh-CN" sz="2100" dirty="0">
                  <a:solidFill>
                    <a:srgbClr val="F4F1EA"/>
                  </a:solidFill>
                  <a:latin typeface="+mn-lt"/>
                  <a:ea typeface="+mn-ea"/>
                  <a:cs typeface="+mn-cs"/>
                </a:rPr>
                <a:t>侵犯公民权利而受到损失的人，</a:t>
              </a:r>
              <a:br>
                <a:rPr lang="zh-CN" sz="2100" dirty="0">
                  <a:solidFill>
                    <a:srgbClr val="F4F1EA"/>
                  </a:solidFill>
                  <a:latin typeface="+mn-lt"/>
                  <a:ea typeface="+mn-ea"/>
                  <a:cs typeface="+mn-cs"/>
                </a:rPr>
              </a:br>
              <a:r>
                <a:rPr lang="zh-CN" sz="2100" dirty="0">
                  <a:solidFill>
                    <a:srgbClr val="F4F1EA"/>
                  </a:solidFill>
                  <a:latin typeface="+mn-lt"/>
                  <a:ea typeface="+mn-ea"/>
                  <a:cs typeface="+mn-cs"/>
                </a:rPr>
                <a:t>有依照法律规定取得赔偿的权利。</a:t>
              </a:r>
            </a:p>
          </p:txBody>
        </p:sp>
        <p:sp>
          <p:nvSpPr>
            <p:cNvPr id="10" name="Line 10"/>
            <p:cNvSpPr/>
            <p:nvPr/>
          </p:nvSpPr>
          <p:spPr>
            <a:xfrm>
              <a:off x="6400800" y="1885950"/>
              <a:ext cx="5181600" cy="9525"/>
            </a:xfrm>
            <a:custGeom>
              <a:avLst/>
              <a:gdLst/>
              <a:ahLst/>
              <a:cxnLst/>
              <a:rect l="l" t="t" r="r" b="b"/>
              <a:pathLst>
                <a:path w="5181600" h="9525">
                  <a:moveTo>
                    <a:pt x="0" y="0"/>
                  </a:moveTo>
                  <a:lnTo>
                    <a:pt x="5181600" y="0"/>
                  </a:lnTo>
                </a:path>
              </a:pathLst>
            </a:custGeom>
            <a:noFill/>
            <a:ln w="9525">
              <a:solidFill>
                <a:srgbClr val="3A454A"/>
              </a:solidFill>
            </a:ln>
          </p:spPr>
        </p:sp>
        <p:sp>
          <p:nvSpPr>
            <p:cNvPr id="11" name="TextBox 11"/>
            <p:cNvSpPr txBox="1"/>
            <p:nvPr/>
          </p:nvSpPr>
          <p:spPr>
            <a:xfrm>
              <a:off x="6387846" y="2101850"/>
              <a:ext cx="1742313"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国家赔偿法</a:t>
              </a:r>
            </a:p>
          </p:txBody>
        </p:sp>
        <p:sp>
          <p:nvSpPr>
            <p:cNvPr id="12" name="TextBox 12"/>
            <p:cNvSpPr txBox="1"/>
            <p:nvPr/>
          </p:nvSpPr>
          <p:spPr>
            <a:xfrm>
              <a:off x="6390132" y="2647950"/>
              <a:ext cx="4821936" cy="1610868"/>
            </a:xfrm>
            <a:prstGeom prst="rect">
              <a:avLst/>
            </a:prstGeom>
            <a:noFill/>
            <a:ln>
              <a:noFill/>
            </a:ln>
          </p:spPr>
          <p:txBody>
            <a:bodyPr wrap="none" lIns="0" tIns="0" rIns="0" bIns="0" anchor="t" anchorCtr="0">
              <a:spAutoFit/>
            </a:bodyPr>
            <a:lstStyle/>
            <a:p>
              <a:pPr algn="l">
                <a:lnSpc>
                  <a:spcPts val="3150"/>
                </a:lnSpc>
              </a:pPr>
              <a:r>
                <a:rPr lang="zh-CN" sz="2100" dirty="0">
                  <a:solidFill>
                    <a:srgbClr val="F4F1EA"/>
                  </a:solidFill>
                  <a:latin typeface="+mn-lt"/>
                  <a:ea typeface="+mn-ea"/>
                  <a:cs typeface="+mn-cs"/>
                </a:rPr>
                <a:t>第二条：行使职权，有本法规定的</a:t>
              </a:r>
              <a:br>
                <a:rPr lang="zh-CN" sz="2100" dirty="0">
                  <a:solidFill>
                    <a:srgbClr val="F4F1EA"/>
                  </a:solidFill>
                  <a:latin typeface="+mn-lt"/>
                  <a:ea typeface="+mn-ea"/>
                  <a:cs typeface="+mn-cs"/>
                </a:rPr>
              </a:br>
              <a:r>
                <a:rPr lang="zh-CN" sz="2100" dirty="0">
                  <a:solidFill>
                    <a:srgbClr val="F4F1EA"/>
                  </a:solidFill>
                  <a:latin typeface="+mn-lt"/>
                  <a:ea typeface="+mn-ea"/>
                  <a:cs typeface="+mn-cs"/>
                </a:rPr>
                <a:t>侵犯合法权益的情形，造成损害的，</a:t>
              </a:r>
              <a:br>
                <a:rPr lang="zh-CN" sz="2100" dirty="0">
                  <a:solidFill>
                    <a:srgbClr val="F4F1EA"/>
                  </a:solidFill>
                  <a:latin typeface="+mn-lt"/>
                  <a:ea typeface="+mn-ea"/>
                  <a:cs typeface="+mn-cs"/>
                </a:rPr>
              </a:br>
              <a:r>
                <a:rPr lang="zh-CN" sz="2100" dirty="0">
                  <a:solidFill>
                    <a:srgbClr val="F4F1EA"/>
                  </a:solidFill>
                  <a:latin typeface="+mn-lt"/>
                  <a:ea typeface="+mn-ea"/>
                  <a:cs typeface="+mn-cs"/>
                </a:rPr>
                <a:t>受害人有取得赔偿的权利。</a:t>
              </a:r>
              <a:br>
                <a:rPr lang="zh-CN" sz="2100" dirty="0">
                  <a:solidFill>
                    <a:srgbClr val="F4F1EA"/>
                  </a:solidFill>
                  <a:latin typeface="+mn-lt"/>
                  <a:ea typeface="+mn-ea"/>
                  <a:cs typeface="+mn-cs"/>
                </a:rPr>
              </a:br>
              <a:r>
                <a:rPr lang="zh-CN" sz="2100" dirty="0">
                  <a:solidFill>
                    <a:srgbClr val="F4F1EA"/>
                  </a:solidFill>
                  <a:latin typeface="+mn-lt"/>
                  <a:ea typeface="+mn-ea"/>
                  <a:cs typeface="+mn-cs"/>
                </a:rPr>
                <a:t>第三条第一项：违法拘留属于赔偿情形。</a:t>
              </a:r>
            </a:p>
          </p:txBody>
        </p:sp>
      </p:grpSp>
      <p:grpSp>
        <p:nvGrpSpPr>
          <p:cNvPr id="16" name="agency-check"/>
          <p:cNvGrpSpPr/>
          <p:nvPr/>
        </p:nvGrpSpPr>
        <p:grpSpPr>
          <a:xfrm>
            <a:off x="598932" y="4762500"/>
            <a:ext cx="10983468" cy="1382268"/>
            <a:chOff x="598932" y="4762500"/>
            <a:chExt cx="10983468" cy="1382268"/>
          </a:xfrm>
        </p:grpSpPr>
        <p:sp>
          <p:nvSpPr>
            <p:cNvPr id="14" name="Line 14"/>
            <p:cNvSpPr/>
            <p:nvPr/>
          </p:nvSpPr>
          <p:spPr>
            <a:xfrm>
              <a:off x="609600" y="4762500"/>
              <a:ext cx="10972800" cy="9525"/>
            </a:xfrm>
            <a:custGeom>
              <a:avLst/>
              <a:gdLst/>
              <a:ahLst/>
              <a:cxnLst/>
              <a:rect l="l" t="t" r="r" b="b"/>
              <a:pathLst>
                <a:path w="10972800" h="9525">
                  <a:moveTo>
                    <a:pt x="0" y="0"/>
                  </a:moveTo>
                  <a:lnTo>
                    <a:pt x="10972800" y="0"/>
                  </a:lnTo>
                </a:path>
              </a:pathLst>
            </a:custGeom>
            <a:noFill/>
            <a:ln w="9525">
              <a:solidFill>
                <a:srgbClr val="3A454A"/>
              </a:solidFill>
            </a:ln>
          </p:spPr>
        </p:sp>
        <p:sp>
          <p:nvSpPr>
            <p:cNvPr id="15" name="TextBox 15"/>
            <p:cNvSpPr txBox="1"/>
            <p:nvPr/>
          </p:nvSpPr>
          <p:spPr>
            <a:xfrm>
              <a:off x="598932" y="4933950"/>
              <a:ext cx="6955536" cy="1210818"/>
            </a:xfrm>
            <a:prstGeom prst="rect">
              <a:avLst/>
            </a:prstGeom>
            <a:noFill/>
            <a:ln>
              <a:noFill/>
            </a:ln>
          </p:spPr>
          <p:txBody>
            <a:bodyPr wrap="none" lIns="0" tIns="0" rIns="0" bIns="0" anchor="t" anchorCtr="0">
              <a:spAutoFit/>
            </a:bodyPr>
            <a:lstStyle/>
            <a:p>
              <a:pPr algn="l">
                <a:lnSpc>
                  <a:spcPts val="3150"/>
                </a:lnSpc>
              </a:pPr>
              <a:r>
                <a:rPr lang="zh-CN" sz="2100" dirty="0">
                  <a:solidFill>
                    <a:srgbClr val="F4F1EA"/>
                  </a:solidFill>
                  <a:latin typeface="+mn-lt"/>
                  <a:ea typeface="+mn-ea"/>
                  <a:cs typeface="+mn-cs"/>
                </a:rPr>
                <a:t>我们的设例中，县公安局作出的行政拘留属于行政职权活动</a:t>
              </a:r>
              <a:br>
                <a:rPr lang="zh-CN" sz="2100" dirty="0">
                  <a:solidFill>
                    <a:srgbClr val="F4F1EA"/>
                  </a:solidFill>
                  <a:latin typeface="+mn-lt"/>
                  <a:ea typeface="+mn-ea"/>
                  <a:cs typeface="+mn-cs"/>
                </a:rPr>
              </a:br>
              <a:r>
                <a:rPr lang="zh-CN" sz="2100" dirty="0">
                  <a:solidFill>
                    <a:srgbClr val="F4F1EA"/>
                  </a:solidFill>
                  <a:latin typeface="+mn-lt"/>
                  <a:ea typeface="+mn-ea"/>
                  <a:cs typeface="+mn-cs"/>
                </a:rPr>
                <a:t>为什么要仔细辨认行使职权，因为一个人在国家机关工作，</a:t>
              </a:r>
              <a:br>
                <a:rPr lang="zh-CN" sz="2100" dirty="0">
                  <a:solidFill>
                    <a:srgbClr val="F4F1EA"/>
                  </a:solidFill>
                  <a:latin typeface="+mn-lt"/>
                  <a:ea typeface="+mn-ea"/>
                  <a:cs typeface="+mn-cs"/>
                </a:rPr>
              </a:br>
              <a:r>
                <a:rPr lang="zh-CN" sz="2100" dirty="0">
                  <a:solidFill>
                    <a:srgbClr val="F4F1EA"/>
                  </a:solidFill>
                  <a:latin typeface="+mn-lt"/>
                  <a:ea typeface="+mn-ea"/>
                  <a:cs typeface="+mn-cs"/>
                </a:rPr>
                <a:t>并不表示他所有时间、所有行为都代表机关</a:t>
              </a:r>
            </a:p>
          </p:txBody>
        </p:sp>
      </p:grpSp>
      <p:sp>
        <p:nvSpPr>
          <p:cNvPr id="17" name="TextBox 17"/>
          <p:cNvSpPr txBox="1"/>
          <p:nvPr/>
        </p:nvSpPr>
        <p:spPr>
          <a:xfrm>
            <a:off x="604266" y="6502400"/>
            <a:ext cx="3261741" cy="205359"/>
          </a:xfrm>
          <a:prstGeom prst="rect">
            <a:avLst/>
          </a:prstGeom>
          <a:noFill/>
          <a:ln>
            <a:noFill/>
          </a:ln>
        </p:spPr>
        <p:txBody>
          <a:bodyPr wrap="none" lIns="0" tIns="0" rIns="0" bIns="0" anchor="t" anchorCtr="0">
            <a:spAutoFit/>
          </a:bodyPr>
          <a:lstStyle/>
          <a:p>
            <a:pPr algn="l"/>
            <a:r>
              <a:rPr lang="zh-CN" sz="1050" dirty="0">
                <a:solidFill>
                  <a:srgbClr val="B8C4C8"/>
                </a:solidFill>
                <a:latin typeface="+mn-lt"/>
                <a:ea typeface="+mn-ea"/>
                <a:cs typeface="+mn-cs"/>
              </a:rPr>
              <a:t>宪法第四十一条；国家赔偿法第二条、第三条第一项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下节 23 / 36</a:t>
              </a:r>
            </a:p>
          </p:txBody>
        </p:sp>
      </p:grpSp>
      <p:grpSp>
        <p:nvGrpSpPr>
          <p:cNvPr id="6" name="page-title"/>
          <p:cNvGrpSpPr/>
          <p:nvPr/>
        </p:nvGrpSpPr>
        <p:grpSpPr>
          <a:xfrm>
            <a:off x="590550" y="904875"/>
            <a:ext cx="9255252" cy="790575"/>
            <a:chOff x="590550" y="904875"/>
            <a:chExt cx="9255252" cy="790575"/>
          </a:xfrm>
        </p:grpSpPr>
        <p:sp>
          <p:nvSpPr>
            <p:cNvPr id="5" name="TextBox 5"/>
            <p:cNvSpPr txBox="1"/>
            <p:nvPr/>
          </p:nvSpPr>
          <p:spPr>
            <a:xfrm>
              <a:off x="590550" y="904875"/>
              <a:ext cx="9255252" cy="790575"/>
            </a:xfrm>
            <a:prstGeom prst="rect">
              <a:avLst/>
            </a:prstGeom>
            <a:noFill/>
            <a:ln>
              <a:noFill/>
            </a:ln>
          </p:spPr>
          <p:txBody>
            <a:bodyPr wrap="none" lIns="0" tIns="0" rIns="0" bIns="0" anchor="t" anchorCtr="0">
              <a:spAutoFit/>
            </a:bodyPr>
            <a:lstStyle/>
            <a:p>
              <a:pPr algn="l"/>
              <a:r>
                <a:rPr lang="zh-CN" sz="4050" dirty="0">
                  <a:solidFill>
                    <a:srgbClr val="F4F1EA"/>
                  </a:solidFill>
                  <a:latin typeface="+mj-lt"/>
                  <a:ea typeface="+mj-ea"/>
                  <a:cs typeface="+mj-cs"/>
                </a:rPr>
                <a:t>宪法给依据，普通法律说清由谁负责</a:t>
              </a:r>
            </a:p>
          </p:txBody>
        </p:sp>
      </p:grpSp>
      <p:grpSp>
        <p:nvGrpSpPr>
          <p:cNvPr id="11" name="article-seven"/>
          <p:cNvGrpSpPr/>
          <p:nvPr/>
        </p:nvGrpSpPr>
        <p:grpSpPr>
          <a:xfrm>
            <a:off x="596646" y="1885950"/>
            <a:ext cx="7918704" cy="3165983"/>
            <a:chOff x="596646" y="1885950"/>
            <a:chExt cx="7918704" cy="3165983"/>
          </a:xfrm>
        </p:grpSpPr>
        <p:sp>
          <p:nvSpPr>
            <p:cNvPr id="7" name="Line 7"/>
            <p:cNvSpPr/>
            <p:nvPr/>
          </p:nvSpPr>
          <p:spPr>
            <a:xfrm>
              <a:off x="609600" y="1885950"/>
              <a:ext cx="7905750" cy="9525"/>
            </a:xfrm>
            <a:custGeom>
              <a:avLst/>
              <a:gdLst/>
              <a:ahLst/>
              <a:cxnLst/>
              <a:rect l="l" t="t" r="r" b="b"/>
              <a:pathLst>
                <a:path w="7905750" h="9525">
                  <a:moveTo>
                    <a:pt x="0" y="0"/>
                  </a:moveTo>
                  <a:lnTo>
                    <a:pt x="7905750" y="0"/>
                  </a:lnTo>
                </a:path>
              </a:pathLst>
            </a:custGeom>
            <a:noFill/>
            <a:ln w="9525">
              <a:solidFill>
                <a:srgbClr val="3A454A"/>
              </a:solidFill>
            </a:ln>
          </p:spPr>
        </p:sp>
        <p:sp>
          <p:nvSpPr>
            <p:cNvPr id="8" name="TextBox 8"/>
            <p:cNvSpPr txBox="1"/>
            <p:nvPr/>
          </p:nvSpPr>
          <p:spPr>
            <a:xfrm>
              <a:off x="596646" y="2101850"/>
              <a:ext cx="2085594" cy="498729"/>
            </a:xfrm>
            <a:prstGeom prst="rect">
              <a:avLst/>
            </a:prstGeom>
            <a:noFill/>
            <a:ln>
              <a:noFill/>
            </a:ln>
          </p:spPr>
          <p:txBody>
            <a:bodyPr wrap="none" lIns="0" tIns="0" rIns="0" bIns="0" anchor="t" anchorCtr="0">
              <a:spAutoFit/>
            </a:bodyPr>
            <a:lstStyle/>
            <a:p>
              <a:pPr algn="l"/>
              <a:r>
                <a:rPr lang="zh-CN" sz="2550" dirty="0">
                  <a:solidFill>
                    <a:srgbClr val="B8C4C8"/>
                  </a:solidFill>
                  <a:latin typeface="+mn-lt"/>
                  <a:ea typeface="+mn-ea"/>
                  <a:cs typeface="+mn-cs"/>
                </a:rPr>
                <a:t>第七条第一款</a:t>
              </a:r>
            </a:p>
          </p:txBody>
        </p:sp>
        <p:sp>
          <p:nvSpPr>
            <p:cNvPr id="9" name="TextBox 9"/>
            <p:cNvSpPr txBox="1"/>
            <p:nvPr/>
          </p:nvSpPr>
          <p:spPr>
            <a:xfrm>
              <a:off x="598932" y="2647950"/>
              <a:ext cx="4555236" cy="1610868"/>
            </a:xfrm>
            <a:prstGeom prst="rect">
              <a:avLst/>
            </a:prstGeom>
            <a:noFill/>
            <a:ln>
              <a:noFill/>
            </a:ln>
          </p:spPr>
          <p:txBody>
            <a:bodyPr wrap="none" lIns="0" tIns="0" rIns="0" bIns="0" anchor="t" anchorCtr="0">
              <a:spAutoFit/>
            </a:bodyPr>
            <a:lstStyle/>
            <a:p>
              <a:pPr algn="l">
                <a:lnSpc>
                  <a:spcPts val="3150"/>
                </a:lnSpc>
              </a:pPr>
              <a:r>
                <a:rPr lang="zh-CN" sz="2100" dirty="0">
                  <a:solidFill>
                    <a:srgbClr val="F4F1EA"/>
                  </a:solidFill>
                  <a:latin typeface="+mn-lt"/>
                  <a:ea typeface="+mn-ea"/>
                  <a:cs typeface="+mn-cs"/>
                </a:rPr>
                <a:t>行政机关及其工作人员行使行政职权，</a:t>
              </a:r>
              <a:br>
                <a:rPr lang="zh-CN" sz="2100" dirty="0">
                  <a:solidFill>
                    <a:srgbClr val="F4F1EA"/>
                  </a:solidFill>
                  <a:latin typeface="+mn-lt"/>
                  <a:ea typeface="+mn-ea"/>
                  <a:cs typeface="+mn-cs"/>
                </a:rPr>
              </a:br>
              <a:r>
                <a:rPr lang="zh-CN" sz="2100" dirty="0">
                  <a:solidFill>
                    <a:srgbClr val="F4F1EA"/>
                  </a:solidFill>
                  <a:latin typeface="+mn-lt"/>
                  <a:ea typeface="+mn-ea"/>
                  <a:cs typeface="+mn-cs"/>
                </a:rPr>
                <a:t>侵犯公民、法人和其他组织的合法权益</a:t>
              </a:r>
              <a:br>
                <a:rPr lang="zh-CN" sz="2100" dirty="0">
                  <a:solidFill>
                    <a:srgbClr val="F4F1EA"/>
                  </a:solidFill>
                  <a:latin typeface="+mn-lt"/>
                  <a:ea typeface="+mn-ea"/>
                  <a:cs typeface="+mn-cs"/>
                </a:rPr>
              </a:br>
              <a:r>
                <a:rPr lang="zh-CN" sz="2100" dirty="0">
                  <a:solidFill>
                    <a:srgbClr val="F4F1EA"/>
                  </a:solidFill>
                  <a:latin typeface="+mn-lt"/>
                  <a:ea typeface="+mn-ea"/>
                  <a:cs typeface="+mn-cs"/>
                </a:rPr>
                <a:t>造成损害的，</a:t>
              </a:r>
              <a:br>
                <a:rPr lang="zh-CN" sz="2100" dirty="0">
                  <a:solidFill>
                    <a:srgbClr val="F4F1EA"/>
                  </a:solidFill>
                  <a:latin typeface="+mn-lt"/>
                  <a:ea typeface="+mn-ea"/>
                  <a:cs typeface="+mn-cs"/>
                </a:rPr>
              </a:br>
              <a:r>
                <a:rPr lang="zh-CN" sz="2100" dirty="0">
                  <a:solidFill>
                    <a:srgbClr val="F4F1EA"/>
                  </a:solidFill>
                  <a:latin typeface="+mn-lt"/>
                  <a:ea typeface="+mn-ea"/>
                  <a:cs typeface="+mn-cs"/>
                </a:rPr>
                <a:t>该行政机关为赔偿义务机关。</a:t>
              </a:r>
            </a:p>
          </p:txBody>
        </p:sp>
        <p:sp>
          <p:nvSpPr>
            <p:cNvPr id="10" name="TextBox 10"/>
            <p:cNvSpPr txBox="1"/>
            <p:nvPr/>
          </p:nvSpPr>
          <p:spPr>
            <a:xfrm>
              <a:off x="602742" y="4787900"/>
              <a:ext cx="5102352"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这里看单一机关的情形；共同作出行为、授权、委托等另有安排</a:t>
              </a:r>
            </a:p>
          </p:txBody>
        </p:sp>
      </p:grpSp>
      <p:grpSp>
        <p:nvGrpSpPr>
          <p:cNvPr id="15" name="three-questions"/>
          <p:cNvGrpSpPr/>
          <p:nvPr/>
        </p:nvGrpSpPr>
        <p:grpSpPr>
          <a:xfrm>
            <a:off x="8730996" y="1885950"/>
            <a:ext cx="2423922" cy="4286250"/>
            <a:chOff x="8730996" y="1885950"/>
            <a:chExt cx="2423922" cy="4286250"/>
          </a:xfrm>
        </p:grpSpPr>
        <p:sp>
          <p:nvSpPr>
            <p:cNvPr id="12" name="Line 12"/>
            <p:cNvSpPr/>
            <p:nvPr/>
          </p:nvSpPr>
          <p:spPr>
            <a:xfrm>
              <a:off x="8743950" y="1885950"/>
              <a:ext cx="9525" cy="4286250"/>
            </a:xfrm>
            <a:custGeom>
              <a:avLst/>
              <a:gdLst/>
              <a:ahLst/>
              <a:cxnLst/>
              <a:rect l="l" t="t" r="r" b="b"/>
              <a:pathLst>
                <a:path w="9525" h="4286250">
                  <a:moveTo>
                    <a:pt x="0" y="0"/>
                  </a:moveTo>
                  <a:lnTo>
                    <a:pt x="0" y="4286250"/>
                  </a:lnTo>
                </a:path>
              </a:pathLst>
            </a:custGeom>
            <a:noFill/>
            <a:ln w="9525">
              <a:solidFill>
                <a:srgbClr val="3A454A"/>
              </a:solidFill>
            </a:ln>
          </p:spPr>
        </p:sp>
        <p:sp>
          <p:nvSpPr>
            <p:cNvPr id="13" name="TextBox 13"/>
            <p:cNvSpPr txBox="1"/>
            <p:nvPr/>
          </p:nvSpPr>
          <p:spPr>
            <a:xfrm>
              <a:off x="8730996" y="2101850"/>
              <a:ext cx="2085594"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把这个词拆开</a:t>
              </a:r>
            </a:p>
          </p:txBody>
        </p:sp>
        <p:sp>
          <p:nvSpPr>
            <p:cNvPr id="14" name="TextBox 14"/>
            <p:cNvSpPr txBox="1"/>
            <p:nvPr/>
          </p:nvSpPr>
          <p:spPr>
            <a:xfrm>
              <a:off x="8733282" y="2647950"/>
              <a:ext cx="2421636" cy="1210818"/>
            </a:xfrm>
            <a:prstGeom prst="rect">
              <a:avLst/>
            </a:prstGeom>
            <a:noFill/>
            <a:ln>
              <a:noFill/>
            </a:ln>
          </p:spPr>
          <p:txBody>
            <a:bodyPr wrap="none" lIns="0" tIns="0" rIns="0" bIns="0" anchor="t" anchorCtr="0">
              <a:spAutoFit/>
            </a:bodyPr>
            <a:lstStyle/>
            <a:p>
              <a:pPr algn="l">
                <a:lnSpc>
                  <a:spcPts val="3150"/>
                </a:lnSpc>
              </a:pPr>
              <a:r>
                <a:rPr lang="zh-CN" sz="2100" dirty="0">
                  <a:solidFill>
                    <a:srgbClr val="F4F1EA"/>
                  </a:solidFill>
                  <a:latin typeface="+mn-lt"/>
                  <a:ea typeface="+mn-ea"/>
                  <a:cs typeface="+mn-cs"/>
                </a:rPr>
                <a:t>对外承担赔偿责任的</a:t>
              </a:r>
              <a:br>
                <a:rPr lang="zh-CN" sz="2100" dirty="0">
                  <a:solidFill>
                    <a:srgbClr val="F4F1EA"/>
                  </a:solidFill>
                  <a:latin typeface="+mn-lt"/>
                  <a:ea typeface="+mn-ea"/>
                  <a:cs typeface="+mn-cs"/>
                </a:rPr>
              </a:br>
              <a:r>
                <a:rPr lang="zh-CN" sz="2100" dirty="0">
                  <a:solidFill>
                    <a:srgbClr val="F4F1EA"/>
                  </a:solidFill>
                  <a:latin typeface="+mn-lt"/>
                  <a:ea typeface="+mn-ea"/>
                  <a:cs typeface="+mn-cs"/>
                </a:rPr>
                <a:t>是哪一个机关</a:t>
              </a:r>
              <a:br>
                <a:rPr lang="zh-CN" sz="2100" dirty="0">
                  <a:solidFill>
                    <a:srgbClr val="F4F1EA"/>
                  </a:solidFill>
                  <a:latin typeface="+mn-lt"/>
                  <a:ea typeface="+mn-ea"/>
                  <a:cs typeface="+mn-cs"/>
                </a:rPr>
              </a:br>
              <a:r>
                <a:rPr lang="zh-CN" sz="2100" dirty="0">
                  <a:solidFill>
                    <a:srgbClr val="F4F1EA"/>
                  </a:solidFill>
                  <a:latin typeface="+mn-lt"/>
                  <a:ea typeface="+mn-ea"/>
                  <a:cs typeface="+mn-cs"/>
                </a:rPr>
                <a:t>请求有确定的相对人</a:t>
              </a:r>
            </a:p>
          </p:txBody>
        </p:sp>
      </p:grpSp>
      <p:sp>
        <p:nvSpPr>
          <p:cNvPr id="16" name="TextBox 16"/>
          <p:cNvSpPr txBox="1"/>
          <p:nvPr/>
        </p:nvSpPr>
        <p:spPr>
          <a:xfrm>
            <a:off x="604266" y="6502400"/>
            <a:ext cx="2993174" cy="205359"/>
          </a:xfrm>
          <a:prstGeom prst="rect">
            <a:avLst/>
          </a:prstGeom>
          <a:noFill/>
          <a:ln>
            <a:noFill/>
          </a:ln>
        </p:spPr>
        <p:txBody>
          <a:bodyPr wrap="none" lIns="0" tIns="0" rIns="0" bIns="0" anchor="t" anchorCtr="0">
            <a:spAutoFit/>
          </a:bodyPr>
          <a:lstStyle/>
          <a:p>
            <a:pPr algn="l"/>
            <a:r>
              <a:rPr lang="zh-CN" sz="1050" dirty="0">
                <a:solidFill>
                  <a:srgbClr val="B8C4C8"/>
                </a:solidFill>
                <a:latin typeface="+mn-lt"/>
                <a:ea typeface="+mn-ea"/>
                <a:cs typeface="+mn-cs"/>
              </a:rPr>
              <a:t>国家赔偿法第7条第1款；本图为单一机关设例。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285875"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421512" y="387350"/>
              <a:ext cx="1167746"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下节　24 / 36</a:t>
              </a:r>
            </a:p>
          </p:txBody>
        </p:sp>
      </p:grpSp>
      <p:grpSp>
        <p:nvGrpSpPr>
          <p:cNvPr id="6" name="page-title"/>
          <p:cNvGrpSpPr/>
          <p:nvPr/>
        </p:nvGrpSpPr>
        <p:grpSpPr>
          <a:xfrm>
            <a:off x="590550" y="904875"/>
            <a:ext cx="7527036" cy="790575"/>
            <a:chOff x="590550" y="904875"/>
            <a:chExt cx="7527036" cy="790575"/>
          </a:xfrm>
        </p:grpSpPr>
        <p:sp>
          <p:nvSpPr>
            <p:cNvPr id="5" name="TextBox 5"/>
            <p:cNvSpPr txBox="1"/>
            <p:nvPr/>
          </p:nvSpPr>
          <p:spPr>
            <a:xfrm>
              <a:off x="590550" y="904875"/>
              <a:ext cx="7527036"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两项请求，当前能判断什么？</a:t>
              </a:r>
            </a:p>
          </p:txBody>
        </p:sp>
      </p:grpSp>
      <p:grpSp>
        <p:nvGrpSpPr>
          <p:cNvPr id="10" name="case-a"/>
          <p:cNvGrpSpPr/>
          <p:nvPr/>
        </p:nvGrpSpPr>
        <p:grpSpPr>
          <a:xfrm>
            <a:off x="595122" y="1885950"/>
            <a:ext cx="5196078" cy="1572768"/>
            <a:chOff x="595122" y="1885950"/>
            <a:chExt cx="5196078" cy="1572768"/>
          </a:xfrm>
        </p:grpSpPr>
        <p:sp>
          <p:nvSpPr>
            <p:cNvPr id="7" name="Line 7"/>
            <p:cNvSpPr/>
            <p:nvPr/>
          </p:nvSpPr>
          <p:spPr>
            <a:xfrm>
              <a:off x="609600" y="188595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8" name="TextBox 8"/>
            <p:cNvSpPr txBox="1"/>
            <p:nvPr/>
          </p:nvSpPr>
          <p:spPr>
            <a:xfrm>
              <a:off x="595122" y="2076450"/>
              <a:ext cx="412623"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甲</a:t>
              </a:r>
            </a:p>
          </p:txBody>
        </p:sp>
        <p:sp>
          <p:nvSpPr>
            <p:cNvPr id="9" name="TextBox 9"/>
            <p:cNvSpPr txBox="1"/>
            <p:nvPr/>
          </p:nvSpPr>
          <p:spPr>
            <a:xfrm>
              <a:off x="598932" y="2647950"/>
              <a:ext cx="37551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县公安局作出的行政拘留违法，</a:t>
              </a:r>
              <a:br>
                <a:rPr lang="zh-CN" sz="2100" dirty="0">
                  <a:solidFill>
                    <a:schemeClr val="dk1"/>
                  </a:solidFill>
                  <a:latin typeface="+mn-lt"/>
                  <a:ea typeface="+mn-ea"/>
                  <a:cs typeface="+mn-cs"/>
                </a:rPr>
              </a:br>
              <a:r>
                <a:rPr lang="zh-CN" sz="2100" dirty="0">
                  <a:solidFill>
                    <a:schemeClr val="dk1"/>
                  </a:solidFill>
                  <a:latin typeface="+mn-lt"/>
                  <a:ea typeface="+mn-ea"/>
                  <a:cs typeface="+mn-cs"/>
                </a:rPr>
                <a:t>且造成相应损害。</a:t>
              </a:r>
            </a:p>
          </p:txBody>
        </p:sp>
      </p:grpSp>
      <p:grpSp>
        <p:nvGrpSpPr>
          <p:cNvPr id="14" name="case-b"/>
          <p:cNvGrpSpPr/>
          <p:nvPr/>
        </p:nvGrpSpPr>
        <p:grpSpPr>
          <a:xfrm>
            <a:off x="6386322" y="1885950"/>
            <a:ext cx="5196078" cy="1572768"/>
            <a:chOff x="6386322" y="1885950"/>
            <a:chExt cx="5196078" cy="1572768"/>
          </a:xfrm>
        </p:grpSpPr>
        <p:sp>
          <p:nvSpPr>
            <p:cNvPr id="11" name="Line 11"/>
            <p:cNvSpPr/>
            <p:nvPr/>
          </p:nvSpPr>
          <p:spPr>
            <a:xfrm>
              <a:off x="6400800" y="188595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12" name="TextBox 12"/>
            <p:cNvSpPr txBox="1"/>
            <p:nvPr/>
          </p:nvSpPr>
          <p:spPr>
            <a:xfrm>
              <a:off x="6386322" y="2076450"/>
              <a:ext cx="412623"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乙</a:t>
              </a:r>
            </a:p>
          </p:txBody>
        </p:sp>
        <p:sp>
          <p:nvSpPr>
            <p:cNvPr id="13" name="TextBox 13"/>
            <p:cNvSpPr txBox="1"/>
            <p:nvPr/>
          </p:nvSpPr>
          <p:spPr>
            <a:xfrm>
              <a:off x="6390132" y="2647950"/>
              <a:ext cx="42885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只说受过行政拘留、认为不公平；</a:t>
              </a:r>
              <a:br>
                <a:rPr lang="zh-CN" sz="2100" dirty="0">
                  <a:solidFill>
                    <a:schemeClr val="dk1"/>
                  </a:solidFill>
                  <a:latin typeface="+mn-lt"/>
                  <a:ea typeface="+mn-ea"/>
                  <a:cs typeface="+mn-cs"/>
                </a:rPr>
              </a:br>
              <a:r>
                <a:rPr lang="zh-CN" sz="2100" dirty="0">
                  <a:solidFill>
                    <a:schemeClr val="dk1"/>
                  </a:solidFill>
                  <a:latin typeface="+mn-lt"/>
                  <a:ea typeface="+mn-ea"/>
                  <a:cs typeface="+mn-cs"/>
                </a:rPr>
                <a:t>现有材料不足以判断违法性和损害。</a:t>
              </a:r>
            </a:p>
          </p:txBody>
        </p:sp>
      </p:grpSp>
      <p:grpSp>
        <p:nvGrpSpPr>
          <p:cNvPr id="17" name="p24-task"/>
          <p:cNvGrpSpPr/>
          <p:nvPr/>
        </p:nvGrpSpPr>
        <p:grpSpPr>
          <a:xfrm>
            <a:off x="598932" y="4013200"/>
            <a:ext cx="6523482" cy="752983"/>
            <a:chOff x="598932" y="4013200"/>
            <a:chExt cx="6523482" cy="752983"/>
          </a:xfrm>
        </p:grpSpPr>
        <p:sp>
          <p:nvSpPr>
            <p:cNvPr id="15" name="TextBox 15"/>
            <p:cNvSpPr txBox="1"/>
            <p:nvPr/>
          </p:nvSpPr>
          <p:spPr>
            <a:xfrm>
              <a:off x="598932" y="4013200"/>
              <a:ext cx="6523482"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分别写出：甲目前可以判断什么？乙还缺哪类事实？</a:t>
              </a:r>
            </a:p>
          </p:txBody>
        </p:sp>
        <p:sp>
          <p:nvSpPr>
            <p:cNvPr id="16" name="TextBox 16"/>
            <p:cNvSpPr txBox="1"/>
            <p:nvPr/>
          </p:nvSpPr>
          <p:spPr>
            <a:xfrm>
              <a:off x="602742" y="4502150"/>
              <a:ext cx="2012823"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独立思考约一至两分钟。</a:t>
              </a:r>
            </a:p>
          </p:txBody>
        </p:sp>
      </p:grpSp>
      <p:grpSp>
        <p:nvGrpSpPr>
          <p:cNvPr id="24" name="think-close"/>
          <p:cNvGrpSpPr/>
          <p:nvPr/>
        </p:nvGrpSpPr>
        <p:grpSpPr>
          <a:xfrm>
            <a:off x="596646" y="5016500"/>
            <a:ext cx="9936480" cy="1121283"/>
            <a:chOff x="596646" y="5016500"/>
            <a:chExt cx="9936480" cy="1121283"/>
          </a:xfrm>
        </p:grpSpPr>
        <p:sp>
          <p:nvSpPr>
            <p:cNvPr id="18" name="TextBox 18"/>
            <p:cNvSpPr txBox="1"/>
            <p:nvPr/>
          </p:nvSpPr>
          <p:spPr>
            <a:xfrm>
              <a:off x="596646" y="5016500"/>
              <a:ext cx="3458718"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甲：已属法定赔偿情形</a:t>
              </a:r>
            </a:p>
          </p:txBody>
        </p:sp>
        <p:sp>
          <p:nvSpPr>
            <p:cNvPr id="19" name="TextBox 19"/>
            <p:cNvSpPr txBox="1"/>
            <p:nvPr/>
          </p:nvSpPr>
          <p:spPr>
            <a:xfrm>
              <a:off x="602742" y="5549900"/>
              <a:ext cx="2030997"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依第3条第1项判断情形；</a:t>
              </a:r>
            </a:p>
          </p:txBody>
        </p:sp>
        <p:sp>
          <p:nvSpPr>
            <p:cNvPr id="20" name="TextBox 20"/>
            <p:cNvSpPr txBox="1"/>
            <p:nvPr/>
          </p:nvSpPr>
          <p:spPr>
            <a:xfrm>
              <a:off x="602742" y="5873750"/>
              <a:ext cx="3303156"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依第7条第1款确定县公安局的赔偿义务。</a:t>
              </a:r>
            </a:p>
          </p:txBody>
        </p:sp>
        <p:sp>
          <p:nvSpPr>
            <p:cNvPr id="21" name="TextBox 21"/>
            <p:cNvSpPr txBox="1"/>
            <p:nvPr/>
          </p:nvSpPr>
          <p:spPr>
            <a:xfrm>
              <a:off x="6387846" y="5016500"/>
              <a:ext cx="4145280"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乙：先查行为、依据与损害</a:t>
              </a:r>
            </a:p>
          </p:txBody>
        </p:sp>
        <p:sp>
          <p:nvSpPr>
            <p:cNvPr id="22" name="TextBox 22"/>
            <p:cNvSpPr txBox="1"/>
            <p:nvPr/>
          </p:nvSpPr>
          <p:spPr>
            <a:xfrm>
              <a:off x="6393942" y="5549900"/>
              <a:ext cx="2012823"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不能只凭不满认定违法；</a:t>
              </a:r>
            </a:p>
          </p:txBody>
        </p:sp>
        <p:sp>
          <p:nvSpPr>
            <p:cNvPr id="23" name="TextBox 23"/>
            <p:cNvSpPr txBox="1"/>
            <p:nvPr/>
          </p:nvSpPr>
          <p:spPr>
            <a:xfrm>
              <a:off x="6393942" y="5873750"/>
              <a:ext cx="2921508"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也不能因资料少就否定赔偿请求权。</a:t>
              </a:r>
            </a:p>
          </p:txBody>
        </p:sp>
      </p:grpSp>
      <p:sp>
        <p:nvSpPr>
          <p:cNvPr id="25" name="TextBox 25"/>
          <p:cNvSpPr txBox="1"/>
          <p:nvPr/>
        </p:nvSpPr>
        <p:spPr>
          <a:xfrm>
            <a:off x="604266" y="6502400"/>
            <a:ext cx="3148660"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国家赔偿法第3条第1项、第7条第1款；课堂设例。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285875"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宪法学　第一讲</a:t>
              </a:r>
            </a:p>
          </p:txBody>
        </p:sp>
        <p:sp>
          <p:nvSpPr>
            <p:cNvPr id="3" name="TextBox 3"/>
            <p:cNvSpPr txBox="1"/>
            <p:nvPr/>
          </p:nvSpPr>
          <p:spPr>
            <a:xfrm>
              <a:off x="10421512" y="387350"/>
              <a:ext cx="1167746"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下节　25 / 36</a:t>
              </a:r>
            </a:p>
          </p:txBody>
        </p:sp>
      </p:grpSp>
      <p:grpSp>
        <p:nvGrpSpPr>
          <p:cNvPr id="6" name="page-title"/>
          <p:cNvGrpSpPr/>
          <p:nvPr/>
        </p:nvGrpSpPr>
        <p:grpSpPr>
          <a:xfrm>
            <a:off x="590550" y="904875"/>
            <a:ext cx="8103108" cy="790575"/>
            <a:chOff x="590550" y="904875"/>
            <a:chExt cx="8103108" cy="790575"/>
          </a:xfrm>
        </p:grpSpPr>
        <p:sp>
          <p:nvSpPr>
            <p:cNvPr id="5" name="TextBox 5"/>
            <p:cNvSpPr txBox="1"/>
            <p:nvPr/>
          </p:nvSpPr>
          <p:spPr>
            <a:xfrm>
              <a:off x="590550" y="904875"/>
              <a:ext cx="8103108" cy="790575"/>
            </a:xfrm>
            <a:prstGeom prst="rect">
              <a:avLst/>
            </a:prstGeom>
            <a:noFill/>
            <a:ln>
              <a:noFill/>
            </a:ln>
          </p:spPr>
          <p:txBody>
            <a:bodyPr wrap="none" lIns="0" tIns="0" rIns="0" bIns="0" anchor="t" anchorCtr="0">
              <a:spAutoFit/>
            </a:bodyPr>
            <a:lstStyle/>
            <a:p>
              <a:pPr algn="l"/>
              <a:r>
                <a:rPr lang="zh-CN" sz="4050" dirty="0">
                  <a:solidFill>
                    <a:srgbClr val="F4F1EA"/>
                  </a:solidFill>
                  <a:latin typeface="+mj-lt"/>
                  <a:ea typeface="+mj-ea"/>
                  <a:cs typeface="+mj-cs"/>
                </a:rPr>
                <a:t>写不出来，仍有提出请求的办法</a:t>
              </a:r>
            </a:p>
          </p:txBody>
        </p:sp>
      </p:grpSp>
      <p:grpSp>
        <p:nvGrpSpPr>
          <p:cNvPr id="11" name="article-twelve"/>
          <p:cNvGrpSpPr/>
          <p:nvPr/>
        </p:nvGrpSpPr>
        <p:grpSpPr>
          <a:xfrm>
            <a:off x="596646" y="1885950"/>
            <a:ext cx="10985754" cy="2632583"/>
            <a:chOff x="596646" y="1885950"/>
            <a:chExt cx="10985754" cy="2632583"/>
          </a:xfrm>
        </p:grpSpPr>
        <p:sp>
          <p:nvSpPr>
            <p:cNvPr id="7" name="Line 7"/>
            <p:cNvSpPr/>
            <p:nvPr/>
          </p:nvSpPr>
          <p:spPr>
            <a:xfrm>
              <a:off x="609600" y="1885950"/>
              <a:ext cx="10972800" cy="9525"/>
            </a:xfrm>
            <a:custGeom>
              <a:avLst/>
              <a:gdLst/>
              <a:ahLst/>
              <a:cxnLst/>
              <a:rect l="l" t="t" r="r" b="b"/>
              <a:pathLst>
                <a:path w="10972800" h="9525">
                  <a:moveTo>
                    <a:pt x="0" y="0"/>
                  </a:moveTo>
                  <a:lnTo>
                    <a:pt x="10972800" y="0"/>
                  </a:lnTo>
                </a:path>
              </a:pathLst>
            </a:custGeom>
            <a:noFill/>
            <a:ln w="9525">
              <a:solidFill>
                <a:srgbClr val="3A454A"/>
              </a:solidFill>
            </a:ln>
          </p:spPr>
        </p:sp>
        <p:sp>
          <p:nvSpPr>
            <p:cNvPr id="8" name="TextBox 8"/>
            <p:cNvSpPr txBox="1"/>
            <p:nvPr/>
          </p:nvSpPr>
          <p:spPr>
            <a:xfrm>
              <a:off x="596646" y="2101850"/>
              <a:ext cx="4488561"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国家赔偿法第十二条（节选）</a:t>
              </a:r>
            </a:p>
          </p:txBody>
        </p:sp>
        <p:sp>
          <p:nvSpPr>
            <p:cNvPr id="9" name="TextBox 9"/>
            <p:cNvSpPr txBox="1"/>
            <p:nvPr/>
          </p:nvSpPr>
          <p:spPr>
            <a:xfrm>
              <a:off x="598932" y="2647950"/>
              <a:ext cx="5502021" cy="1210818"/>
            </a:xfrm>
            <a:prstGeom prst="rect">
              <a:avLst/>
            </a:prstGeom>
            <a:noFill/>
            <a:ln>
              <a:noFill/>
            </a:ln>
          </p:spPr>
          <p:txBody>
            <a:bodyPr wrap="none" lIns="0" tIns="0" rIns="0" bIns="0" anchor="t" anchorCtr="0">
              <a:spAutoFit/>
            </a:bodyPr>
            <a:lstStyle/>
            <a:p>
              <a:pPr algn="l">
                <a:lnSpc>
                  <a:spcPts val="3150"/>
                </a:lnSpc>
              </a:pPr>
              <a:r>
                <a:rPr lang="zh-CN" sz="2100" dirty="0">
                  <a:solidFill>
                    <a:srgbClr val="F4F1EA"/>
                  </a:solidFill>
                  <a:latin typeface="+mn-lt"/>
                  <a:ea typeface="+mn-ea"/>
                  <a:cs typeface="+mn-cs"/>
                </a:rPr>
                <a:t>“赔偿请求人书写申请书确有困难的，</a:t>
              </a:r>
              <a:br>
                <a:rPr lang="zh-CN" sz="2100" dirty="0">
                  <a:solidFill>
                    <a:srgbClr val="F4F1EA"/>
                  </a:solidFill>
                  <a:latin typeface="+mn-lt"/>
                  <a:ea typeface="+mn-ea"/>
                  <a:cs typeface="+mn-cs"/>
                </a:rPr>
              </a:br>
              <a:r>
                <a:rPr lang="zh-CN" sz="2100" dirty="0">
                  <a:solidFill>
                    <a:srgbClr val="F4F1EA"/>
                  </a:solidFill>
                  <a:latin typeface="+mn-lt"/>
                  <a:ea typeface="+mn-ea"/>
                  <a:cs typeface="+mn-cs"/>
                </a:rPr>
                <a:t>可以委托他人代书；</a:t>
              </a:r>
              <a:br>
                <a:rPr lang="zh-CN" sz="2100" dirty="0">
                  <a:solidFill>
                    <a:srgbClr val="F4F1EA"/>
                  </a:solidFill>
                  <a:latin typeface="+mn-lt"/>
                  <a:ea typeface="+mn-ea"/>
                  <a:cs typeface="+mn-cs"/>
                </a:rPr>
              </a:br>
              <a:r>
                <a:rPr lang="zh-CN" sz="2100" dirty="0">
                  <a:solidFill>
                    <a:srgbClr val="F4F1EA"/>
                  </a:solidFill>
                  <a:latin typeface="+mn-lt"/>
                  <a:ea typeface="+mn-ea"/>
                  <a:cs typeface="+mn-cs"/>
                </a:rPr>
                <a:t>也可以口头申请，由赔偿义务机关记入笔录。”</a:t>
              </a:r>
            </a:p>
          </p:txBody>
        </p:sp>
        <p:sp>
          <p:nvSpPr>
            <p:cNvPr id="10" name="TextBox 10"/>
            <p:cNvSpPr txBox="1"/>
            <p:nvPr/>
          </p:nvSpPr>
          <p:spPr>
            <a:xfrm>
              <a:off x="602742" y="4254500"/>
              <a:ext cx="4557141"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原则上递交申请书；以上为书写确有困难时的法定选择。</a:t>
              </a:r>
            </a:p>
          </p:txBody>
        </p:sp>
      </p:grpSp>
      <p:grpSp>
        <p:nvGrpSpPr>
          <p:cNvPr id="15" name="two-ways"/>
          <p:cNvGrpSpPr/>
          <p:nvPr/>
        </p:nvGrpSpPr>
        <p:grpSpPr>
          <a:xfrm>
            <a:off x="596646" y="4972050"/>
            <a:ext cx="10985754" cy="1128268"/>
            <a:chOff x="596646" y="4972050"/>
            <a:chExt cx="10985754" cy="1128268"/>
          </a:xfrm>
        </p:grpSpPr>
        <p:sp>
          <p:nvSpPr>
            <p:cNvPr id="12" name="Line 12"/>
            <p:cNvSpPr/>
            <p:nvPr/>
          </p:nvSpPr>
          <p:spPr>
            <a:xfrm>
              <a:off x="609600" y="4972050"/>
              <a:ext cx="10972800" cy="9525"/>
            </a:xfrm>
            <a:custGeom>
              <a:avLst/>
              <a:gdLst/>
              <a:ahLst/>
              <a:cxnLst/>
              <a:rect l="l" t="t" r="r" b="b"/>
              <a:pathLst>
                <a:path w="10972800" h="9525">
                  <a:moveTo>
                    <a:pt x="0" y="0"/>
                  </a:moveTo>
                  <a:lnTo>
                    <a:pt x="10972800" y="0"/>
                  </a:lnTo>
                </a:path>
              </a:pathLst>
            </a:custGeom>
            <a:noFill/>
            <a:ln w="9525">
              <a:solidFill>
                <a:srgbClr val="3A454A"/>
              </a:solidFill>
            </a:ln>
          </p:spPr>
        </p:sp>
        <p:sp>
          <p:nvSpPr>
            <p:cNvPr id="13" name="TextBox 13"/>
            <p:cNvSpPr txBox="1"/>
            <p:nvPr/>
          </p:nvSpPr>
          <p:spPr>
            <a:xfrm>
              <a:off x="596646" y="5149850"/>
              <a:ext cx="6891528"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两种办法改变谁来写，不取消请求与事实信息</a:t>
              </a:r>
            </a:p>
          </p:txBody>
        </p:sp>
        <p:sp>
          <p:nvSpPr>
            <p:cNvPr id="14" name="TextBox 14"/>
            <p:cNvSpPr txBox="1"/>
            <p:nvPr/>
          </p:nvSpPr>
          <p:spPr>
            <a:xfrm>
              <a:off x="598932" y="5689600"/>
              <a:ext cx="5392674"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委托代书或机关记录，之后仍须依法核实。</a:t>
              </a:r>
            </a:p>
          </p:txBody>
        </p:sp>
      </p:grpSp>
      <p:sp>
        <p:nvSpPr>
          <p:cNvPr id="16" name="TextBox 16"/>
          <p:cNvSpPr txBox="1"/>
          <p:nvPr/>
        </p:nvSpPr>
        <p:spPr>
          <a:xfrm>
            <a:off x="604266" y="6502400"/>
            <a:ext cx="3494970" cy="205359"/>
          </a:xfrm>
          <a:prstGeom prst="rect">
            <a:avLst/>
          </a:prstGeom>
          <a:noFill/>
          <a:ln>
            <a:noFill/>
          </a:ln>
        </p:spPr>
        <p:txBody>
          <a:bodyPr wrap="none" lIns="0" tIns="0" rIns="0" bIns="0" anchor="t" anchorCtr="0">
            <a:spAutoFit/>
          </a:bodyPr>
          <a:lstStyle/>
          <a:p>
            <a:pPr algn="l"/>
            <a:r>
              <a:rPr lang="zh-CN" sz="1050" dirty="0">
                <a:solidFill>
                  <a:srgbClr val="B8C4C8"/>
                </a:solidFill>
                <a:latin typeface="+mn-lt"/>
                <a:ea typeface="+mn-ea"/>
                <a:cs typeface="+mn-cs"/>
              </a:rPr>
              <a:t>国家赔偿法第12条·节选；代书与口头申请是并列选择。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下节 26 / 36</a:t>
              </a:r>
            </a:p>
          </p:txBody>
        </p:sp>
      </p:grpSp>
      <p:grpSp>
        <p:nvGrpSpPr>
          <p:cNvPr id="6" name="page-title"/>
          <p:cNvGrpSpPr/>
          <p:nvPr/>
        </p:nvGrpSpPr>
        <p:grpSpPr>
          <a:xfrm>
            <a:off x="590550" y="904875"/>
            <a:ext cx="4070604" cy="790575"/>
            <a:chOff x="590550" y="904875"/>
            <a:chExt cx="4070604" cy="790575"/>
          </a:xfrm>
        </p:grpSpPr>
        <p:sp>
          <p:nvSpPr>
            <p:cNvPr id="5" name="TextBox 5"/>
            <p:cNvSpPr txBox="1"/>
            <p:nvPr/>
          </p:nvSpPr>
          <p:spPr>
            <a:xfrm>
              <a:off x="590550" y="904875"/>
              <a:ext cx="4070604"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代书与口头申请</a:t>
              </a:r>
            </a:p>
          </p:txBody>
        </p:sp>
      </p:grpSp>
      <p:grpSp>
        <p:nvGrpSpPr>
          <p:cNvPr id="15" name="two-routes"/>
          <p:cNvGrpSpPr/>
          <p:nvPr/>
        </p:nvGrpSpPr>
        <p:grpSpPr>
          <a:xfrm>
            <a:off x="596646" y="1885950"/>
            <a:ext cx="10985754" cy="2346833"/>
            <a:chOff x="596646" y="1885950"/>
            <a:chExt cx="10985754" cy="2346833"/>
          </a:xfrm>
        </p:grpSpPr>
        <p:sp>
          <p:nvSpPr>
            <p:cNvPr id="7" name="Line 7"/>
            <p:cNvSpPr/>
            <p:nvPr/>
          </p:nvSpPr>
          <p:spPr>
            <a:xfrm>
              <a:off x="609600" y="188595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8" name="TextBox 8"/>
            <p:cNvSpPr txBox="1"/>
            <p:nvPr/>
          </p:nvSpPr>
          <p:spPr>
            <a:xfrm>
              <a:off x="596646" y="2101850"/>
              <a:ext cx="71247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代书</a:t>
              </a:r>
            </a:p>
          </p:txBody>
        </p:sp>
        <p:sp>
          <p:nvSpPr>
            <p:cNvPr id="9" name="TextBox 9"/>
            <p:cNvSpPr txBox="1"/>
            <p:nvPr/>
          </p:nvSpPr>
          <p:spPr>
            <a:xfrm>
              <a:off x="598932" y="2647950"/>
              <a:ext cx="18882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先形成文字，</a:t>
              </a:r>
              <a:br>
                <a:rPr lang="zh-CN" sz="2100" dirty="0">
                  <a:solidFill>
                    <a:schemeClr val="dk1"/>
                  </a:solidFill>
                  <a:latin typeface="+mn-lt"/>
                  <a:ea typeface="+mn-ea"/>
                  <a:cs typeface="+mn-cs"/>
                </a:rPr>
              </a:br>
              <a:r>
                <a:rPr lang="zh-CN" sz="2100" dirty="0">
                  <a:solidFill>
                    <a:schemeClr val="dk1"/>
                  </a:solidFill>
                  <a:latin typeface="+mn-lt"/>
                  <a:ea typeface="+mn-ea"/>
                  <a:cs typeface="+mn-cs"/>
                </a:rPr>
                <a:t>办理者容易核对</a:t>
              </a:r>
            </a:p>
          </p:txBody>
        </p:sp>
        <p:sp>
          <p:nvSpPr>
            <p:cNvPr id="10" name="TextBox 10"/>
            <p:cNvSpPr txBox="1"/>
            <p:nvPr/>
          </p:nvSpPr>
          <p:spPr>
            <a:xfrm>
              <a:off x="602742" y="3968750"/>
              <a:ext cx="2376297"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两个人享有同样的赔偿请求权</a:t>
              </a:r>
            </a:p>
          </p:txBody>
        </p:sp>
        <p:sp>
          <p:nvSpPr>
            <p:cNvPr id="11" name="Line 11"/>
            <p:cNvSpPr/>
            <p:nvPr/>
          </p:nvSpPr>
          <p:spPr>
            <a:xfrm>
              <a:off x="6400800" y="188595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12" name="TextBox 12"/>
            <p:cNvSpPr txBox="1"/>
            <p:nvPr/>
          </p:nvSpPr>
          <p:spPr>
            <a:xfrm>
              <a:off x="6387846" y="2101850"/>
              <a:ext cx="13990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口头申请</a:t>
              </a:r>
            </a:p>
          </p:txBody>
        </p:sp>
        <p:sp>
          <p:nvSpPr>
            <p:cNvPr id="13" name="TextBox 13"/>
            <p:cNvSpPr txBox="1"/>
            <p:nvPr/>
          </p:nvSpPr>
          <p:spPr>
            <a:xfrm>
              <a:off x="6390132" y="2647950"/>
              <a:ext cx="4021836" cy="121081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需要接收、追问、</a:t>
              </a:r>
              <a:br>
                <a:rPr lang="zh-CN" sz="2100" dirty="0">
                  <a:solidFill>
                    <a:schemeClr val="dk1"/>
                  </a:solidFill>
                  <a:latin typeface="+mn-lt"/>
                  <a:ea typeface="+mn-ea"/>
                  <a:cs typeface="+mn-cs"/>
                </a:rPr>
              </a:br>
              <a:r>
                <a:rPr lang="zh-CN" sz="2100" dirty="0">
                  <a:solidFill>
                    <a:schemeClr val="dk1"/>
                  </a:solidFill>
                  <a:latin typeface="+mn-lt"/>
                  <a:ea typeface="+mn-ea"/>
                  <a:cs typeface="+mn-cs"/>
                </a:rPr>
                <a:t>记录和确认；</a:t>
              </a:r>
              <a:br>
                <a:rPr lang="zh-CN" sz="2100" dirty="0">
                  <a:solidFill>
                    <a:schemeClr val="dk1"/>
                  </a:solidFill>
                  <a:latin typeface="+mn-lt"/>
                  <a:ea typeface="+mn-ea"/>
                  <a:cs typeface="+mn-cs"/>
                </a:rPr>
              </a:br>
              <a:r>
                <a:rPr lang="zh-CN" sz="2100" dirty="0">
                  <a:solidFill>
                    <a:schemeClr val="dk1"/>
                  </a:solidFill>
                  <a:latin typeface="+mn-lt"/>
                  <a:ea typeface="+mn-ea"/>
                  <a:cs typeface="+mn-cs"/>
                </a:rPr>
                <a:t>形成文字的工作由机关承担一部分</a:t>
              </a:r>
            </a:p>
          </p:txBody>
        </p:sp>
        <p:sp>
          <p:nvSpPr>
            <p:cNvPr id="14" name="TextBox 14"/>
            <p:cNvSpPr txBox="1"/>
            <p:nvPr/>
          </p:nvSpPr>
          <p:spPr>
            <a:xfrm>
              <a:off x="6393942" y="3968750"/>
              <a:ext cx="2376297"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提出请求的方式不必完全一样</a:t>
              </a:r>
            </a:p>
          </p:txBody>
        </p:sp>
      </p:grpSp>
      <p:grpSp>
        <p:nvGrpSpPr>
          <p:cNvPr id="20" name="duty"/>
          <p:cNvGrpSpPr/>
          <p:nvPr/>
        </p:nvGrpSpPr>
        <p:grpSpPr>
          <a:xfrm>
            <a:off x="596646" y="4686300"/>
            <a:ext cx="10985754" cy="1413383"/>
            <a:chOff x="596646" y="4686300"/>
            <a:chExt cx="10985754" cy="1413383"/>
          </a:xfrm>
        </p:grpSpPr>
        <p:sp>
          <p:nvSpPr>
            <p:cNvPr id="16" name="Line 16"/>
            <p:cNvSpPr/>
            <p:nvPr/>
          </p:nvSpPr>
          <p:spPr>
            <a:xfrm>
              <a:off x="609600" y="468630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17" name="TextBox 17"/>
            <p:cNvSpPr txBox="1"/>
            <p:nvPr/>
          </p:nvSpPr>
          <p:spPr>
            <a:xfrm>
              <a:off x="596646" y="4845050"/>
              <a:ext cx="6204966"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职责确定后，不能因为费事而取消申请权</a:t>
              </a:r>
            </a:p>
          </p:txBody>
        </p:sp>
        <p:sp>
          <p:nvSpPr>
            <p:cNvPr id="18" name="TextBox 18"/>
            <p:cNvSpPr txBox="1"/>
            <p:nvPr/>
          </p:nvSpPr>
          <p:spPr>
            <a:xfrm>
              <a:off x="598932" y="5403850"/>
              <a:ext cx="878509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法制部门负责这类申请的接收、审查；其他部门当面收到也应正确引导</a:t>
              </a:r>
            </a:p>
          </p:txBody>
        </p:sp>
        <p:sp>
          <p:nvSpPr>
            <p:cNvPr id="19" name="TextBox 19"/>
            <p:cNvSpPr txBox="1"/>
            <p:nvPr/>
          </p:nvSpPr>
          <p:spPr>
            <a:xfrm>
              <a:off x="602742" y="5835650"/>
              <a:ext cx="4738878"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为什么还要由他确认，写下来的人和讲述的人毕竟是两个人</a:t>
              </a:r>
            </a:p>
          </p:txBody>
        </p:sp>
      </p:grpSp>
      <p:sp>
        <p:nvSpPr>
          <p:cNvPr id="21" name="TextBox 21"/>
          <p:cNvSpPr txBox="1"/>
          <p:nvPr/>
        </p:nvSpPr>
        <p:spPr>
          <a:xfrm>
            <a:off x="604266" y="6502400"/>
            <a:ext cx="3417227"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国家赔偿法第12条；公安机关办理国家赔偿案件规定。</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下节 27 / 36</a:t>
              </a:r>
            </a:p>
          </p:txBody>
        </p:sp>
      </p:grpSp>
      <p:grpSp>
        <p:nvGrpSpPr>
          <p:cNvPr id="6" name="page-title"/>
          <p:cNvGrpSpPr/>
          <p:nvPr/>
        </p:nvGrpSpPr>
        <p:grpSpPr>
          <a:xfrm>
            <a:off x="590550" y="904875"/>
            <a:ext cx="4646676" cy="790575"/>
            <a:chOff x="590550" y="904875"/>
            <a:chExt cx="4646676" cy="790575"/>
          </a:xfrm>
        </p:grpSpPr>
        <p:sp>
          <p:nvSpPr>
            <p:cNvPr id="5" name="TextBox 5"/>
            <p:cNvSpPr txBox="1"/>
            <p:nvPr/>
          </p:nvSpPr>
          <p:spPr>
            <a:xfrm>
              <a:off x="590550" y="904875"/>
              <a:ext cx="4646676"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缺什么，告诉什么</a:t>
              </a:r>
            </a:p>
          </p:txBody>
        </p:sp>
      </p:grpSp>
      <p:grpSp>
        <p:nvGrpSpPr>
          <p:cNvPr id="12" name="two-difficulties"/>
          <p:cNvGrpSpPr/>
          <p:nvPr/>
        </p:nvGrpSpPr>
        <p:grpSpPr>
          <a:xfrm>
            <a:off x="596646" y="1885950"/>
            <a:ext cx="10985754" cy="1572768"/>
            <a:chOff x="596646" y="1885950"/>
            <a:chExt cx="10985754" cy="1572768"/>
          </a:xfrm>
        </p:grpSpPr>
        <p:sp>
          <p:nvSpPr>
            <p:cNvPr id="7" name="Freeform 7"/>
            <p:cNvSpPr/>
            <p:nvPr/>
          </p:nvSpPr>
          <p:spPr>
            <a:xfrm>
              <a:off x="609600" y="1885950"/>
              <a:ext cx="10972800" cy="9525"/>
            </a:xfrm>
            <a:custGeom>
              <a:avLst/>
              <a:gdLst/>
              <a:ahLst/>
              <a:cxnLst/>
              <a:rect l="l" t="t" r="r" b="b"/>
              <a:pathLst>
                <a:path w="10972800" h="9525">
                  <a:moveTo>
                    <a:pt x="0" y="0"/>
                  </a:moveTo>
                  <a:lnTo>
                    <a:pt x="5181600" y="0"/>
                  </a:lnTo>
                  <a:moveTo>
                    <a:pt x="5791200" y="0"/>
                  </a:moveTo>
                  <a:lnTo>
                    <a:pt x="10972800" y="0"/>
                  </a:lnTo>
                </a:path>
              </a:pathLst>
            </a:custGeom>
            <a:noFill/>
            <a:ln w="9525">
              <a:solidFill>
                <a:srgbClr val="CDC8BE"/>
              </a:solidFill>
            </a:ln>
          </p:spPr>
        </p:sp>
        <p:sp>
          <p:nvSpPr>
            <p:cNvPr id="8" name="TextBox 8"/>
            <p:cNvSpPr txBox="1"/>
            <p:nvPr/>
          </p:nvSpPr>
          <p:spPr>
            <a:xfrm>
              <a:off x="596646" y="2101850"/>
              <a:ext cx="1055751"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缺信息</a:t>
              </a:r>
            </a:p>
          </p:txBody>
        </p:sp>
        <p:sp>
          <p:nvSpPr>
            <p:cNvPr id="9" name="TextBox 9"/>
            <p:cNvSpPr txBox="1"/>
            <p:nvPr/>
          </p:nvSpPr>
          <p:spPr>
            <a:xfrm>
              <a:off x="598932" y="2647950"/>
              <a:ext cx="26883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缺的是请求或事实信息</a:t>
              </a:r>
              <a:br>
                <a:rPr lang="zh-CN" sz="2100" dirty="0">
                  <a:solidFill>
                    <a:schemeClr val="dk1"/>
                  </a:solidFill>
                  <a:latin typeface="+mn-lt"/>
                  <a:ea typeface="+mn-ea"/>
                  <a:cs typeface="+mn-cs"/>
                </a:rPr>
              </a:br>
              <a:r>
                <a:rPr lang="zh-CN" sz="2100" dirty="0">
                  <a:solidFill>
                    <a:schemeClr val="dk1"/>
                  </a:solidFill>
                  <a:latin typeface="+mn-lt"/>
                  <a:ea typeface="+mn-ea"/>
                  <a:cs typeface="+mn-cs"/>
                </a:rPr>
                <a:t>明确告知需要补什么</a:t>
              </a:r>
            </a:p>
          </p:txBody>
        </p:sp>
        <p:sp>
          <p:nvSpPr>
            <p:cNvPr id="10" name="TextBox 10"/>
            <p:cNvSpPr txBox="1"/>
            <p:nvPr/>
          </p:nvSpPr>
          <p:spPr>
            <a:xfrm>
              <a:off x="6387846" y="2101850"/>
              <a:ext cx="13990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写不出来</a:t>
              </a:r>
            </a:p>
          </p:txBody>
        </p:sp>
        <p:sp>
          <p:nvSpPr>
            <p:cNvPr id="11" name="TextBox 11"/>
            <p:cNvSpPr txBox="1"/>
            <p:nvPr/>
          </p:nvSpPr>
          <p:spPr>
            <a:xfrm>
              <a:off x="6390132" y="2647950"/>
              <a:ext cx="37551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难的是把能讲清的内容写下来</a:t>
              </a:r>
              <a:br>
                <a:rPr lang="zh-CN" sz="2100" dirty="0">
                  <a:solidFill>
                    <a:schemeClr val="dk1"/>
                  </a:solidFill>
                  <a:latin typeface="+mn-lt"/>
                  <a:ea typeface="+mn-ea"/>
                  <a:cs typeface="+mn-cs"/>
                </a:rPr>
              </a:br>
              <a:r>
                <a:rPr lang="zh-CN" sz="2100" dirty="0">
                  <a:solidFill>
                    <a:schemeClr val="dk1"/>
                  </a:solidFill>
                  <a:latin typeface="+mn-lt"/>
                  <a:ea typeface="+mn-ea"/>
                  <a:cs typeface="+mn-cs"/>
                </a:rPr>
                <a:t>口头提出、记入笔录、本人确认</a:t>
              </a:r>
            </a:p>
          </p:txBody>
        </p:sp>
      </p:grpSp>
      <p:grpSp>
        <p:nvGrpSpPr>
          <p:cNvPr id="18" name="procedure"/>
          <p:cNvGrpSpPr/>
          <p:nvPr/>
        </p:nvGrpSpPr>
        <p:grpSpPr>
          <a:xfrm>
            <a:off x="596646" y="4495800"/>
            <a:ext cx="10985754" cy="1814068"/>
            <a:chOff x="596646" y="4495800"/>
            <a:chExt cx="10985754" cy="1814068"/>
          </a:xfrm>
        </p:grpSpPr>
        <p:sp>
          <p:nvSpPr>
            <p:cNvPr id="13" name="Freeform 13"/>
            <p:cNvSpPr/>
            <p:nvPr/>
          </p:nvSpPr>
          <p:spPr>
            <a:xfrm>
              <a:off x="609600" y="4495800"/>
              <a:ext cx="10972800" cy="9525"/>
            </a:xfrm>
            <a:custGeom>
              <a:avLst/>
              <a:gdLst/>
              <a:ahLst/>
              <a:cxnLst/>
              <a:rect l="l" t="t" r="r" b="b"/>
              <a:pathLst>
                <a:path w="10972800" h="9525">
                  <a:moveTo>
                    <a:pt x="0" y="0"/>
                  </a:moveTo>
                  <a:lnTo>
                    <a:pt x="10972800" y="0"/>
                  </a:lnTo>
                </a:path>
              </a:pathLst>
            </a:custGeom>
            <a:solidFill>
              <a:schemeClr val="dk1"/>
            </a:solidFill>
            <a:ln w="9525">
              <a:solidFill>
                <a:srgbClr val="CDC8BE"/>
              </a:solidFill>
            </a:ln>
          </p:spPr>
        </p:sp>
        <p:sp>
          <p:nvSpPr>
            <p:cNvPr id="14" name="TextBox 14"/>
            <p:cNvSpPr txBox="1"/>
            <p:nvPr/>
          </p:nvSpPr>
          <p:spPr>
            <a:xfrm>
              <a:off x="596646" y="4597400"/>
              <a:ext cx="5861685"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单独提出赔偿请求：先向赔偿义务机关</a:t>
              </a:r>
            </a:p>
          </p:txBody>
        </p:sp>
        <p:sp>
          <p:nvSpPr>
            <p:cNvPr id="15" name="TextBox 15"/>
            <p:cNvSpPr txBox="1"/>
            <p:nvPr/>
          </p:nvSpPr>
          <p:spPr>
            <a:xfrm>
              <a:off x="598932" y="5080000"/>
              <a:ext cx="624078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也可在行政复议或行政诉讼中一并提出赔偿请求。</a:t>
              </a:r>
            </a:p>
          </p:txBody>
        </p:sp>
        <p:sp>
          <p:nvSpPr>
            <p:cNvPr id="16" name="TextBox 16"/>
            <p:cNvSpPr txBox="1"/>
            <p:nvPr/>
          </p:nvSpPr>
          <p:spPr>
            <a:xfrm>
              <a:off x="598932" y="5499100"/>
              <a:ext cx="935050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豆选帮助不识字的选民表达选择；口头申请帮助确有书写困难的人提出请求</a:t>
              </a:r>
            </a:p>
          </p:txBody>
        </p:sp>
        <p:sp>
          <p:nvSpPr>
            <p:cNvPr id="17" name="TextBox 17"/>
            <p:cNvSpPr txBox="1"/>
            <p:nvPr/>
          </p:nvSpPr>
          <p:spPr>
            <a:xfrm>
              <a:off x="598932" y="5899150"/>
              <a:ext cx="3696462"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两件事解决的是同一类困难。</a:t>
              </a:r>
            </a:p>
          </p:txBody>
        </p:sp>
      </p:grpSp>
      <p:sp>
        <p:nvSpPr>
          <p:cNvPr id="19" name="TextBox 19"/>
          <p:cNvSpPr txBox="1"/>
          <p:nvPr/>
        </p:nvSpPr>
        <p:spPr>
          <a:xfrm>
            <a:off x="604266" y="6502400"/>
            <a:ext cx="5897937"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国家赔偿法第9、12条要点；单独请求与一并提出有别，必要信息与取得信息的方式也须区分。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下节 28 / 36</a:t>
              </a:r>
            </a:p>
          </p:txBody>
        </p:sp>
      </p:grpSp>
      <p:grpSp>
        <p:nvGrpSpPr>
          <p:cNvPr id="6" name="page-title"/>
          <p:cNvGrpSpPr/>
          <p:nvPr/>
        </p:nvGrpSpPr>
        <p:grpSpPr>
          <a:xfrm>
            <a:off x="590550" y="904875"/>
            <a:ext cx="9831324" cy="790575"/>
            <a:chOff x="590550" y="904875"/>
            <a:chExt cx="9831324" cy="790575"/>
          </a:xfrm>
        </p:grpSpPr>
        <p:sp>
          <p:nvSpPr>
            <p:cNvPr id="5" name="TextBox 5"/>
            <p:cNvSpPr txBox="1"/>
            <p:nvPr/>
          </p:nvSpPr>
          <p:spPr>
            <a:xfrm>
              <a:off x="590550" y="904875"/>
              <a:ext cx="9831324"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宪法已经有效，为什么还需要普通法律</a:t>
              </a:r>
            </a:p>
          </p:txBody>
        </p:sp>
      </p:grpSp>
      <p:grpSp>
        <p:nvGrpSpPr>
          <p:cNvPr id="13" name="two-questions"/>
          <p:cNvGrpSpPr/>
          <p:nvPr/>
        </p:nvGrpSpPr>
        <p:grpSpPr>
          <a:xfrm>
            <a:off x="596646" y="1885950"/>
            <a:ext cx="10985754" cy="1572768"/>
            <a:chOff x="596646" y="1885950"/>
            <a:chExt cx="10985754" cy="1572768"/>
          </a:xfrm>
        </p:grpSpPr>
        <p:sp>
          <p:nvSpPr>
            <p:cNvPr id="7" name="Line 7"/>
            <p:cNvSpPr/>
            <p:nvPr/>
          </p:nvSpPr>
          <p:spPr>
            <a:xfrm>
              <a:off x="609600" y="188595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8" name="TextBox 8"/>
            <p:cNvSpPr txBox="1"/>
            <p:nvPr/>
          </p:nvSpPr>
          <p:spPr>
            <a:xfrm>
              <a:off x="596646" y="2101850"/>
              <a:ext cx="13990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「有效」</a:t>
              </a:r>
            </a:p>
          </p:txBody>
        </p:sp>
        <p:sp>
          <p:nvSpPr>
            <p:cNvPr id="9" name="TextBox 9"/>
            <p:cNvSpPr txBox="1"/>
            <p:nvPr/>
          </p:nvSpPr>
          <p:spPr>
            <a:xfrm>
              <a:off x="598932" y="2647950"/>
              <a:ext cx="34884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这项法律要求有没有约束力，</a:t>
              </a:r>
              <a:br>
                <a:rPr lang="zh-CN" sz="2100" dirty="0">
                  <a:solidFill>
                    <a:schemeClr val="dk1"/>
                  </a:solidFill>
                  <a:latin typeface="+mn-lt"/>
                  <a:ea typeface="+mn-ea"/>
                  <a:cs typeface="+mn-cs"/>
                </a:rPr>
              </a:br>
              <a:r>
                <a:rPr lang="zh-CN" sz="2100" dirty="0">
                  <a:solidFill>
                    <a:schemeClr val="dk1"/>
                  </a:solidFill>
                  <a:latin typeface="+mn-lt"/>
                  <a:ea typeface="+mn-ea"/>
                  <a:cs typeface="+mn-cs"/>
                </a:rPr>
                <a:t>有关主体是不是应当遵守</a:t>
              </a:r>
            </a:p>
          </p:txBody>
        </p:sp>
        <p:sp>
          <p:nvSpPr>
            <p:cNvPr id="10" name="Line 10"/>
            <p:cNvSpPr/>
            <p:nvPr/>
          </p:nvSpPr>
          <p:spPr>
            <a:xfrm>
              <a:off x="6400800" y="188595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11" name="TextBox 11"/>
            <p:cNvSpPr txBox="1"/>
            <p:nvPr/>
          </p:nvSpPr>
          <p:spPr>
            <a:xfrm>
              <a:off x="6387846" y="2101850"/>
              <a:ext cx="27721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「怎样具体办理」</a:t>
              </a:r>
            </a:p>
          </p:txBody>
        </p:sp>
        <p:sp>
          <p:nvSpPr>
            <p:cNvPr id="12" name="TextBox 12"/>
            <p:cNvSpPr txBox="1"/>
            <p:nvPr/>
          </p:nvSpPr>
          <p:spPr>
            <a:xfrm>
              <a:off x="6390132" y="2647950"/>
              <a:ext cx="29550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由谁办理、依什么程序、</a:t>
              </a:r>
              <a:br>
                <a:rPr lang="zh-CN" sz="2100" dirty="0">
                  <a:solidFill>
                    <a:schemeClr val="dk1"/>
                  </a:solidFill>
                  <a:latin typeface="+mn-lt"/>
                  <a:ea typeface="+mn-ea"/>
                  <a:cs typeface="+mn-cs"/>
                </a:rPr>
              </a:br>
              <a:r>
                <a:rPr lang="zh-CN" sz="2100" dirty="0">
                  <a:solidFill>
                    <a:schemeClr val="dk1"/>
                  </a:solidFill>
                  <a:latin typeface="+mn-lt"/>
                  <a:ea typeface="+mn-ea"/>
                  <a:cs typeface="+mn-cs"/>
                </a:rPr>
                <a:t>有哪些条件</a:t>
              </a:r>
            </a:p>
          </p:txBody>
        </p:sp>
      </p:grpSp>
      <p:grpSp>
        <p:nvGrpSpPr>
          <p:cNvPr id="17" name="not-one-to-one"/>
          <p:cNvGrpSpPr/>
          <p:nvPr/>
        </p:nvGrpSpPr>
        <p:grpSpPr>
          <a:xfrm>
            <a:off x="596646" y="4686300"/>
            <a:ext cx="10985754" cy="1496568"/>
            <a:chOff x="596646" y="4686300"/>
            <a:chExt cx="10985754" cy="1496568"/>
          </a:xfrm>
        </p:grpSpPr>
        <p:sp>
          <p:nvSpPr>
            <p:cNvPr id="14" name="Line 14"/>
            <p:cNvSpPr/>
            <p:nvPr/>
          </p:nvSpPr>
          <p:spPr>
            <a:xfrm>
              <a:off x="609600" y="468630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15" name="TextBox 15"/>
            <p:cNvSpPr txBox="1"/>
            <p:nvPr/>
          </p:nvSpPr>
          <p:spPr>
            <a:xfrm>
              <a:off x="596646" y="4845050"/>
              <a:ext cx="6204966"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同一部普通法律，可能依据多项宪法规定</a:t>
              </a:r>
            </a:p>
          </p:txBody>
        </p:sp>
        <p:sp>
          <p:nvSpPr>
            <p:cNvPr id="16" name="TextBox 16"/>
            <p:cNvSpPr txBox="1"/>
            <p:nvPr/>
          </p:nvSpPr>
          <p:spPr>
            <a:xfrm>
              <a:off x="598932" y="5372100"/>
              <a:ext cx="93558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国务院的根本地位确定下来，具体部门仍需要组织法安排</a:t>
              </a:r>
              <a:br>
                <a:rPr lang="zh-CN" sz="2100" dirty="0">
                  <a:solidFill>
                    <a:schemeClr val="dk1"/>
                  </a:solidFill>
                  <a:latin typeface="+mn-lt"/>
                  <a:ea typeface="+mn-ea"/>
                  <a:cs typeface="+mn-cs"/>
                </a:rPr>
              </a:br>
              <a:r>
                <a:rPr lang="zh-CN" sz="2100" dirty="0">
                  <a:solidFill>
                    <a:schemeClr val="dk1"/>
                  </a:solidFill>
                  <a:latin typeface="+mn-lt"/>
                  <a:ea typeface="+mn-ea"/>
                  <a:cs typeface="+mn-cs"/>
                </a:rPr>
                <a:t>国家赔偿法与宪法第四十一条对应清楚；不能以为每部法律只对应一条宪法规定</a:t>
              </a:r>
            </a:p>
          </p:txBody>
        </p:sp>
      </p:grpSp>
      <p:sp>
        <p:nvSpPr>
          <p:cNvPr id="18" name="TextBox 18"/>
          <p:cNvSpPr txBox="1"/>
          <p:nvPr/>
        </p:nvSpPr>
        <p:spPr>
          <a:xfrm>
            <a:off x="604266" y="6502400"/>
            <a:ext cx="3919023"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宪法第41条第3款、国家赔偿法；效力与具体办理的课堂辨析。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3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下节 29 / 36</a:t>
              </a:r>
            </a:p>
          </p:txBody>
        </p:sp>
      </p:grpSp>
      <p:grpSp>
        <p:nvGrpSpPr>
          <p:cNvPr id="6" name="page-title"/>
          <p:cNvGrpSpPr/>
          <p:nvPr/>
        </p:nvGrpSpPr>
        <p:grpSpPr>
          <a:xfrm>
            <a:off x="590550" y="904875"/>
            <a:ext cx="4646676" cy="790575"/>
            <a:chOff x="590550" y="904875"/>
            <a:chExt cx="4646676" cy="790575"/>
          </a:xfrm>
        </p:grpSpPr>
        <p:sp>
          <p:nvSpPr>
            <p:cNvPr id="5" name="TextBox 5"/>
            <p:cNvSpPr txBox="1"/>
            <p:nvPr/>
          </p:nvSpPr>
          <p:spPr>
            <a:xfrm>
              <a:off x="590550" y="904875"/>
              <a:ext cx="4646676"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一句话能证明什么</a:t>
              </a:r>
            </a:p>
          </p:txBody>
        </p:sp>
      </p:grpSp>
      <p:grpSp>
        <p:nvGrpSpPr>
          <p:cNvPr id="13" name="what-it-proves"/>
          <p:cNvGrpSpPr/>
          <p:nvPr/>
        </p:nvGrpSpPr>
        <p:grpSpPr>
          <a:xfrm>
            <a:off x="596646" y="1885950"/>
            <a:ext cx="10985754" cy="1572768"/>
            <a:chOff x="596646" y="1885950"/>
            <a:chExt cx="10985754" cy="1572768"/>
          </a:xfrm>
        </p:grpSpPr>
        <p:sp>
          <p:nvSpPr>
            <p:cNvPr id="7" name="Line 7"/>
            <p:cNvSpPr/>
            <p:nvPr/>
          </p:nvSpPr>
          <p:spPr>
            <a:xfrm>
              <a:off x="609600" y="188595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8" name="TextBox 8"/>
            <p:cNvSpPr txBox="1"/>
            <p:nvPr/>
          </p:nvSpPr>
          <p:spPr>
            <a:xfrm>
              <a:off x="596646" y="2101850"/>
              <a:ext cx="1742313"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能证明什么</a:t>
              </a:r>
            </a:p>
          </p:txBody>
        </p:sp>
        <p:sp>
          <p:nvSpPr>
            <p:cNvPr id="9" name="TextBox 9"/>
            <p:cNvSpPr txBox="1"/>
            <p:nvPr/>
          </p:nvSpPr>
          <p:spPr>
            <a:xfrm>
              <a:off x="598932" y="2647950"/>
              <a:ext cx="56220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国家赔偿法第一条写「根据宪法，制定本法」，</a:t>
              </a:r>
              <a:br>
                <a:rPr lang="zh-CN" sz="2100" dirty="0">
                  <a:solidFill>
                    <a:schemeClr val="dk1"/>
                  </a:solidFill>
                  <a:latin typeface="+mn-lt"/>
                  <a:ea typeface="+mn-ea"/>
                  <a:cs typeface="+mn-cs"/>
                </a:rPr>
              </a:br>
              <a:r>
                <a:rPr lang="zh-CN" sz="2100" dirty="0">
                  <a:solidFill>
                    <a:schemeClr val="dk1"/>
                  </a:solidFill>
                  <a:latin typeface="+mn-lt"/>
                  <a:ea typeface="+mn-ea"/>
                  <a:cs typeface="+mn-cs"/>
                </a:rPr>
                <a:t>表明它以宪法为依据</a:t>
              </a:r>
            </a:p>
          </p:txBody>
        </p:sp>
        <p:sp>
          <p:nvSpPr>
            <p:cNvPr id="10" name="Line 10"/>
            <p:cNvSpPr/>
            <p:nvPr/>
          </p:nvSpPr>
          <p:spPr>
            <a:xfrm>
              <a:off x="6400800" y="188595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11" name="TextBox 11"/>
            <p:cNvSpPr txBox="1"/>
            <p:nvPr/>
          </p:nvSpPr>
          <p:spPr>
            <a:xfrm>
              <a:off x="6387846" y="2101850"/>
              <a:ext cx="208559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不能证明什么</a:t>
              </a:r>
            </a:p>
          </p:txBody>
        </p:sp>
        <p:sp>
          <p:nvSpPr>
            <p:cNvPr id="12" name="TextBox 12"/>
            <p:cNvSpPr txBox="1"/>
            <p:nvPr/>
          </p:nvSpPr>
          <p:spPr>
            <a:xfrm>
              <a:off x="6390132" y="2647950"/>
              <a:ext cx="42885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遮住这句话，法律仍受宪法约束；</a:t>
              </a:r>
              <a:br>
                <a:rPr lang="zh-CN" sz="2100" dirty="0">
                  <a:solidFill>
                    <a:schemeClr val="dk1"/>
                  </a:solidFill>
                  <a:latin typeface="+mn-lt"/>
                  <a:ea typeface="+mn-ea"/>
                  <a:cs typeface="+mn-cs"/>
                </a:rPr>
              </a:br>
              <a:r>
                <a:rPr lang="zh-CN" sz="2100" dirty="0">
                  <a:solidFill>
                    <a:schemeClr val="dk1"/>
                  </a:solidFill>
                  <a:latin typeface="+mn-lt"/>
                  <a:ea typeface="+mn-ea"/>
                  <a:cs typeface="+mn-cs"/>
                </a:rPr>
                <a:t>写了也不证明所有具体规定都没问题</a:t>
              </a:r>
            </a:p>
          </p:txBody>
        </p:sp>
      </p:grpSp>
      <p:grpSp>
        <p:nvGrpSpPr>
          <p:cNvPr id="18" name="binding-anyway"/>
          <p:cNvGrpSpPr/>
          <p:nvPr/>
        </p:nvGrpSpPr>
        <p:grpSpPr>
          <a:xfrm>
            <a:off x="596646" y="4686300"/>
            <a:ext cx="10985754" cy="1470533"/>
            <a:chOff x="596646" y="4686300"/>
            <a:chExt cx="10985754" cy="1470533"/>
          </a:xfrm>
        </p:grpSpPr>
        <p:sp>
          <p:nvSpPr>
            <p:cNvPr id="14" name="Line 14"/>
            <p:cNvSpPr/>
            <p:nvPr/>
          </p:nvSpPr>
          <p:spPr>
            <a:xfrm>
              <a:off x="609600" y="468630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15" name="TextBox 15"/>
            <p:cNvSpPr txBox="1"/>
            <p:nvPr/>
          </p:nvSpPr>
          <p:spPr>
            <a:xfrm>
              <a:off x="596646" y="4845050"/>
              <a:ext cx="5861685"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宪法第五条要求法律不得同宪法相抵触</a:t>
              </a:r>
            </a:p>
          </p:txBody>
        </p:sp>
        <p:sp>
          <p:nvSpPr>
            <p:cNvPr id="16" name="TextBox 16"/>
            <p:cNvSpPr txBox="1"/>
            <p:nvPr/>
          </p:nvSpPr>
          <p:spPr>
            <a:xfrm>
              <a:off x="598932" y="5441950"/>
              <a:ext cx="878509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这句话不存在，约束也在；普通法律即使写得很具体，也不能改掉宪法</a:t>
              </a:r>
            </a:p>
          </p:txBody>
        </p:sp>
        <p:sp>
          <p:nvSpPr>
            <p:cNvPr id="17" name="TextBox 17"/>
            <p:cNvSpPr txBox="1"/>
            <p:nvPr/>
          </p:nvSpPr>
          <p:spPr>
            <a:xfrm>
              <a:off x="602742" y="5892800"/>
              <a:ext cx="346671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上节关于修宪门槛的小假设已经说明这一点</a:t>
              </a:r>
            </a:p>
          </p:txBody>
        </p:sp>
      </p:grpSp>
      <p:sp>
        <p:nvSpPr>
          <p:cNvPr id="19" name="TextBox 19"/>
          <p:cNvSpPr txBox="1"/>
          <p:nvPr/>
        </p:nvSpPr>
        <p:spPr>
          <a:xfrm>
            <a:off x="604266" y="6502400"/>
            <a:ext cx="1989582"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国家赔偿法第一条；宪法第五条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285875"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宪法学　第一讲</a:t>
              </a:r>
            </a:p>
          </p:txBody>
        </p:sp>
        <p:sp>
          <p:nvSpPr>
            <p:cNvPr id="3" name="TextBox 3"/>
            <p:cNvSpPr txBox="1"/>
            <p:nvPr/>
          </p:nvSpPr>
          <p:spPr>
            <a:xfrm>
              <a:off x="10421512" y="387350"/>
              <a:ext cx="1167746"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下节　30 / 36</a:t>
              </a:r>
            </a:p>
          </p:txBody>
        </p:sp>
      </p:grpSp>
      <p:grpSp>
        <p:nvGrpSpPr>
          <p:cNvPr id="6" name="page-title"/>
          <p:cNvGrpSpPr/>
          <p:nvPr/>
        </p:nvGrpSpPr>
        <p:grpSpPr>
          <a:xfrm>
            <a:off x="590550" y="930275"/>
            <a:ext cx="8218322" cy="790575"/>
            <a:chOff x="590550" y="930275"/>
            <a:chExt cx="8218322" cy="790575"/>
          </a:xfrm>
        </p:grpSpPr>
        <p:sp>
          <p:nvSpPr>
            <p:cNvPr id="5" name="TextBox 5"/>
            <p:cNvSpPr txBox="1"/>
            <p:nvPr/>
          </p:nvSpPr>
          <p:spPr>
            <a:xfrm>
              <a:off x="590550" y="930275"/>
              <a:ext cx="8218322" cy="790575"/>
            </a:xfrm>
            <a:prstGeom prst="rect">
              <a:avLst/>
            </a:prstGeom>
            <a:noFill/>
            <a:ln>
              <a:noFill/>
            </a:ln>
          </p:spPr>
          <p:txBody>
            <a:bodyPr wrap="none" lIns="0" tIns="0" rIns="0" bIns="0" anchor="t" anchorCtr="0">
              <a:spAutoFit/>
            </a:bodyPr>
            <a:lstStyle/>
            <a:p>
              <a:pPr algn="l"/>
              <a:r>
                <a:rPr lang="zh-CN" sz="4050" dirty="0">
                  <a:solidFill>
                    <a:srgbClr val="F4F1EA"/>
                  </a:solidFill>
                  <a:latin typeface="+mj-lt"/>
                  <a:ea typeface="+mj-ea"/>
                  <a:cs typeface="+mj-cs"/>
                </a:rPr>
                <a:t>治安管理处罚法（2025年修订）</a:t>
              </a:r>
            </a:p>
          </p:txBody>
        </p:sp>
      </p:grpSp>
      <p:grpSp>
        <p:nvGrpSpPr>
          <p:cNvPr id="16" name="two-articles"/>
          <p:cNvGrpSpPr/>
          <p:nvPr/>
        </p:nvGrpSpPr>
        <p:grpSpPr>
          <a:xfrm>
            <a:off x="596646" y="1885950"/>
            <a:ext cx="10985754" cy="3290443"/>
            <a:chOff x="596646" y="1885950"/>
            <a:chExt cx="10985754" cy="3290443"/>
          </a:xfrm>
        </p:grpSpPr>
        <p:sp>
          <p:nvSpPr>
            <p:cNvPr id="7" name="Line 7"/>
            <p:cNvSpPr/>
            <p:nvPr/>
          </p:nvSpPr>
          <p:spPr>
            <a:xfrm>
              <a:off x="609600" y="1885950"/>
              <a:ext cx="5181600" cy="9525"/>
            </a:xfrm>
            <a:custGeom>
              <a:avLst/>
              <a:gdLst/>
              <a:ahLst/>
              <a:cxnLst/>
              <a:rect l="l" t="t" r="r" b="b"/>
              <a:pathLst>
                <a:path w="5181600" h="9525">
                  <a:moveTo>
                    <a:pt x="0" y="0"/>
                  </a:moveTo>
                  <a:lnTo>
                    <a:pt x="5181600" y="0"/>
                  </a:lnTo>
                </a:path>
              </a:pathLst>
            </a:custGeom>
            <a:noFill/>
            <a:ln w="9525">
              <a:solidFill>
                <a:srgbClr val="3A454A"/>
              </a:solidFill>
            </a:ln>
          </p:spPr>
        </p:sp>
        <p:sp>
          <p:nvSpPr>
            <p:cNvPr id="8" name="TextBox 8"/>
            <p:cNvSpPr txBox="1"/>
            <p:nvPr/>
          </p:nvSpPr>
          <p:spPr>
            <a:xfrm>
              <a:off x="596646" y="2101850"/>
              <a:ext cx="3458718"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第一条：写明立法依据</a:t>
              </a:r>
            </a:p>
          </p:txBody>
        </p:sp>
        <p:sp>
          <p:nvSpPr>
            <p:cNvPr id="9" name="TextBox 9"/>
            <p:cNvSpPr txBox="1"/>
            <p:nvPr/>
          </p:nvSpPr>
          <p:spPr>
            <a:xfrm>
              <a:off x="598932" y="2647950"/>
              <a:ext cx="4155186" cy="1210818"/>
            </a:xfrm>
            <a:prstGeom prst="rect">
              <a:avLst/>
            </a:prstGeom>
            <a:noFill/>
            <a:ln>
              <a:noFill/>
            </a:ln>
          </p:spPr>
          <p:txBody>
            <a:bodyPr wrap="none" lIns="0" tIns="0" rIns="0" bIns="0" anchor="t" anchorCtr="0">
              <a:spAutoFit/>
            </a:bodyPr>
            <a:lstStyle/>
            <a:p>
              <a:pPr algn="l">
                <a:lnSpc>
                  <a:spcPts val="3150"/>
                </a:lnSpc>
              </a:pPr>
              <a:r>
                <a:rPr lang="zh-CN" sz="2100" dirty="0">
                  <a:solidFill>
                    <a:srgbClr val="F4F1EA"/>
                  </a:solidFill>
                  <a:latin typeface="+mn-lt"/>
                  <a:ea typeface="+mn-ea"/>
                  <a:cs typeface="+mn-cs"/>
                </a:rPr>
                <a:t>2025年修订，2026年1月1日施行。</a:t>
              </a:r>
              <a:br>
                <a:rPr lang="zh-CN" sz="2100" dirty="0">
                  <a:solidFill>
                    <a:srgbClr val="F4F1EA"/>
                  </a:solidFill>
                  <a:latin typeface="+mn-lt"/>
                  <a:ea typeface="+mn-ea"/>
                  <a:cs typeface="+mn-cs"/>
                </a:rPr>
              </a:br>
              <a:r>
                <a:rPr lang="zh-CN" sz="2100" dirty="0">
                  <a:solidFill>
                    <a:srgbClr val="F4F1EA"/>
                  </a:solidFill>
                  <a:latin typeface="+mn-lt"/>
                  <a:ea typeface="+mn-ea"/>
                  <a:cs typeface="+mn-cs"/>
                </a:rPr>
                <a:t>第一条末尾新增</a:t>
              </a:r>
              <a:br>
                <a:rPr lang="zh-CN" sz="2100" dirty="0">
                  <a:solidFill>
                    <a:srgbClr val="F4F1EA"/>
                  </a:solidFill>
                  <a:latin typeface="+mn-lt"/>
                  <a:ea typeface="+mn-ea"/>
                  <a:cs typeface="+mn-cs"/>
                </a:rPr>
              </a:br>
              <a:r>
                <a:rPr lang="zh-CN" sz="2100" dirty="0">
                  <a:solidFill>
                    <a:srgbClr val="F4F1EA"/>
                  </a:solidFill>
                  <a:latin typeface="+mn-lt"/>
                  <a:ea typeface="+mn-ea"/>
                  <a:cs typeface="+mn-cs"/>
                </a:rPr>
                <a:t>“根据宪法，制定本法”。</a:t>
              </a:r>
            </a:p>
          </p:txBody>
        </p:sp>
        <p:sp>
          <p:nvSpPr>
            <p:cNvPr id="10" name="TextBox 10"/>
            <p:cNvSpPr txBox="1"/>
            <p:nvPr/>
          </p:nvSpPr>
          <p:spPr>
            <a:xfrm>
              <a:off x="602742" y="4130675"/>
              <a:ext cx="3684803"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2012年文本没有这句；当时同样受宪法约束。</a:t>
              </a:r>
            </a:p>
          </p:txBody>
        </p:sp>
        <p:sp>
          <p:nvSpPr>
            <p:cNvPr id="11" name="TextBox 11"/>
            <p:cNvSpPr txBox="1"/>
            <p:nvPr/>
          </p:nvSpPr>
          <p:spPr>
            <a:xfrm>
              <a:off x="598932" y="4441825"/>
              <a:ext cx="3488436" cy="734568"/>
            </a:xfrm>
            <a:prstGeom prst="rect">
              <a:avLst/>
            </a:prstGeom>
            <a:noFill/>
            <a:ln>
              <a:noFill/>
            </a:ln>
          </p:spPr>
          <p:txBody>
            <a:bodyPr wrap="none" lIns="0" tIns="0" rIns="0" bIns="0" anchor="t" anchorCtr="0">
              <a:spAutoFit/>
            </a:bodyPr>
            <a:lstStyle/>
            <a:p>
              <a:pPr algn="l">
                <a:lnSpc>
                  <a:spcPts val="2550"/>
                </a:lnSpc>
              </a:pPr>
              <a:r>
                <a:rPr lang="zh-CN" sz="2100" dirty="0">
                  <a:solidFill>
                    <a:srgbClr val="F4F1EA"/>
                  </a:solidFill>
                  <a:latin typeface="+mn-lt"/>
                  <a:ea typeface="+mn-ea"/>
                  <a:cs typeface="+mn-cs"/>
                </a:rPr>
                <a:t>这句说明立法依据，</a:t>
              </a:r>
              <a:br>
                <a:rPr lang="zh-CN" sz="2100" dirty="0">
                  <a:solidFill>
                    <a:srgbClr val="F4F1EA"/>
                  </a:solidFill>
                  <a:latin typeface="+mn-lt"/>
                  <a:ea typeface="+mn-ea"/>
                  <a:cs typeface="+mn-cs"/>
                </a:rPr>
              </a:br>
              <a:r>
                <a:rPr lang="zh-CN" sz="2100" dirty="0">
                  <a:solidFill>
                    <a:srgbClr val="F4F1EA"/>
                  </a:solidFill>
                  <a:latin typeface="+mn-lt"/>
                  <a:ea typeface="+mn-ea"/>
                  <a:cs typeface="+mn-cs"/>
                </a:rPr>
                <a:t>不直接规定处罚种类或程序。</a:t>
              </a:r>
            </a:p>
          </p:txBody>
        </p:sp>
        <p:sp>
          <p:nvSpPr>
            <p:cNvPr id="12" name="Line 12"/>
            <p:cNvSpPr/>
            <p:nvPr/>
          </p:nvSpPr>
          <p:spPr>
            <a:xfrm>
              <a:off x="6400800" y="1885950"/>
              <a:ext cx="5181600" cy="9525"/>
            </a:xfrm>
            <a:custGeom>
              <a:avLst/>
              <a:gdLst/>
              <a:ahLst/>
              <a:cxnLst/>
              <a:rect l="l" t="t" r="r" b="b"/>
              <a:pathLst>
                <a:path w="5181600" h="9525">
                  <a:moveTo>
                    <a:pt x="0" y="0"/>
                  </a:moveTo>
                  <a:lnTo>
                    <a:pt x="5181600" y="0"/>
                  </a:lnTo>
                </a:path>
              </a:pathLst>
            </a:custGeom>
            <a:noFill/>
            <a:ln w="9525">
              <a:solidFill>
                <a:srgbClr val="3A454A"/>
              </a:solidFill>
            </a:ln>
          </p:spPr>
        </p:sp>
        <p:sp>
          <p:nvSpPr>
            <p:cNvPr id="13" name="TextBox 13"/>
            <p:cNvSpPr txBox="1"/>
            <p:nvPr/>
          </p:nvSpPr>
          <p:spPr>
            <a:xfrm>
              <a:off x="6387846" y="2101850"/>
              <a:ext cx="2772156"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第六条：执法原则</a:t>
              </a:r>
            </a:p>
          </p:txBody>
        </p:sp>
        <p:sp>
          <p:nvSpPr>
            <p:cNvPr id="14" name="TextBox 14"/>
            <p:cNvSpPr txBox="1"/>
            <p:nvPr/>
          </p:nvSpPr>
          <p:spPr>
            <a:xfrm>
              <a:off x="6390132" y="2647950"/>
              <a:ext cx="4288536" cy="1610868"/>
            </a:xfrm>
            <a:prstGeom prst="rect">
              <a:avLst/>
            </a:prstGeom>
            <a:noFill/>
            <a:ln>
              <a:noFill/>
            </a:ln>
          </p:spPr>
          <p:txBody>
            <a:bodyPr wrap="none" lIns="0" tIns="0" rIns="0" bIns="0" anchor="t" anchorCtr="0">
              <a:spAutoFit/>
            </a:bodyPr>
            <a:lstStyle/>
            <a:p>
              <a:pPr algn="l">
                <a:lnSpc>
                  <a:spcPts val="3150"/>
                </a:lnSpc>
              </a:pPr>
              <a:r>
                <a:rPr lang="zh-CN" sz="2100" dirty="0">
                  <a:solidFill>
                    <a:srgbClr val="F4F1EA"/>
                  </a:solidFill>
                  <a:latin typeface="+mn-lt"/>
                  <a:ea typeface="+mn-ea"/>
                  <a:cs typeface="+mn-cs"/>
                </a:rPr>
                <a:t>以事实为依据，处罚相当；</a:t>
              </a:r>
              <a:br>
                <a:rPr lang="zh-CN" sz="2100" dirty="0">
                  <a:solidFill>
                    <a:srgbClr val="F4F1EA"/>
                  </a:solidFill>
                  <a:latin typeface="+mn-lt"/>
                  <a:ea typeface="+mn-ea"/>
                  <a:cs typeface="+mn-cs"/>
                </a:rPr>
              </a:br>
              <a:r>
                <a:rPr lang="zh-CN" sz="2100" dirty="0">
                  <a:solidFill>
                    <a:srgbClr val="F4F1EA"/>
                  </a:solidFill>
                  <a:latin typeface="+mn-lt"/>
                  <a:ea typeface="+mn-ea"/>
                  <a:cs typeface="+mn-cs"/>
                </a:rPr>
                <a:t>公开、公正，尊重和保障人权，</a:t>
              </a:r>
              <a:br>
                <a:rPr lang="zh-CN" sz="2100" dirty="0">
                  <a:solidFill>
                    <a:srgbClr val="F4F1EA"/>
                  </a:solidFill>
                  <a:latin typeface="+mn-lt"/>
                  <a:ea typeface="+mn-ea"/>
                  <a:cs typeface="+mn-cs"/>
                </a:rPr>
              </a:br>
              <a:r>
                <a:rPr lang="zh-CN" sz="2100" dirty="0">
                  <a:solidFill>
                    <a:srgbClr val="F4F1EA"/>
                  </a:solidFill>
                  <a:latin typeface="+mn-lt"/>
                  <a:ea typeface="+mn-ea"/>
                  <a:cs typeface="+mn-cs"/>
                </a:rPr>
                <a:t>保护公民的人格尊严；</a:t>
              </a:r>
              <a:br>
                <a:rPr lang="zh-CN" sz="2100" dirty="0">
                  <a:solidFill>
                    <a:srgbClr val="F4F1EA"/>
                  </a:solidFill>
                  <a:latin typeface="+mn-lt"/>
                  <a:ea typeface="+mn-ea"/>
                  <a:cs typeface="+mn-cs"/>
                </a:rPr>
              </a:br>
              <a:r>
                <a:rPr lang="zh-CN" sz="2100" dirty="0">
                  <a:solidFill>
                    <a:srgbClr val="F4F1EA"/>
                  </a:solidFill>
                  <a:latin typeface="+mn-lt"/>
                  <a:ea typeface="+mn-ea"/>
                  <a:cs typeface="+mn-cs"/>
                </a:rPr>
                <a:t>教育与处罚相结合，充分释法说理。</a:t>
              </a:r>
            </a:p>
          </p:txBody>
        </p:sp>
        <p:sp>
          <p:nvSpPr>
            <p:cNvPr id="15" name="TextBox 15"/>
            <p:cNvSpPr txBox="1"/>
            <p:nvPr/>
          </p:nvSpPr>
          <p:spPr>
            <a:xfrm>
              <a:off x="6393942" y="4530725"/>
              <a:ext cx="3103245"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条文要点概述；普通法律也规定原则。</a:t>
              </a:r>
            </a:p>
          </p:txBody>
        </p:sp>
      </p:grpSp>
      <p:grpSp>
        <p:nvGrpSpPr>
          <p:cNvPr id="20" name="scene"/>
          <p:cNvGrpSpPr/>
          <p:nvPr/>
        </p:nvGrpSpPr>
        <p:grpSpPr>
          <a:xfrm>
            <a:off x="596646" y="5257800"/>
            <a:ext cx="10985754" cy="956818"/>
            <a:chOff x="596646" y="5257800"/>
            <a:chExt cx="10985754" cy="956818"/>
          </a:xfrm>
        </p:grpSpPr>
        <p:sp>
          <p:nvSpPr>
            <p:cNvPr id="17" name="Line 17"/>
            <p:cNvSpPr/>
            <p:nvPr/>
          </p:nvSpPr>
          <p:spPr>
            <a:xfrm>
              <a:off x="609600" y="5257800"/>
              <a:ext cx="10972800" cy="9525"/>
            </a:xfrm>
            <a:custGeom>
              <a:avLst/>
              <a:gdLst/>
              <a:ahLst/>
              <a:cxnLst/>
              <a:rect l="l" t="t" r="r" b="b"/>
              <a:pathLst>
                <a:path w="10972800" h="9525">
                  <a:moveTo>
                    <a:pt x="0" y="0"/>
                  </a:moveTo>
                  <a:lnTo>
                    <a:pt x="10972800" y="0"/>
                  </a:lnTo>
                </a:path>
              </a:pathLst>
            </a:custGeom>
            <a:noFill/>
            <a:ln w="9525">
              <a:solidFill>
                <a:srgbClr val="3A454A"/>
              </a:solidFill>
            </a:ln>
          </p:spPr>
        </p:sp>
        <p:sp>
          <p:nvSpPr>
            <p:cNvPr id="18" name="TextBox 18"/>
            <p:cNvSpPr txBox="1"/>
            <p:nvPr/>
          </p:nvSpPr>
          <p:spPr>
            <a:xfrm>
              <a:off x="596646" y="5340350"/>
              <a:ext cx="7234809"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写明立法依据，仍须判断具体规定是否符合宪法</a:t>
              </a:r>
            </a:p>
          </p:txBody>
        </p:sp>
        <p:sp>
          <p:nvSpPr>
            <p:cNvPr id="19" name="TextBox 19"/>
            <p:cNvSpPr txBox="1"/>
            <p:nvPr/>
          </p:nvSpPr>
          <p:spPr>
            <a:xfrm>
              <a:off x="598932" y="5803900"/>
              <a:ext cx="5675376"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原则指导判断，仍须查明事实、权限与程序。</a:t>
              </a:r>
            </a:p>
          </p:txBody>
        </p:sp>
      </p:grpSp>
      <p:sp>
        <p:nvSpPr>
          <p:cNvPr id="21" name="TextBox 21"/>
          <p:cNvSpPr txBox="1"/>
          <p:nvPr/>
        </p:nvSpPr>
        <p:spPr>
          <a:xfrm>
            <a:off x="604266" y="6502400"/>
            <a:ext cx="4760062" cy="205359"/>
          </a:xfrm>
          <a:prstGeom prst="rect">
            <a:avLst/>
          </a:prstGeom>
          <a:noFill/>
          <a:ln>
            <a:noFill/>
          </a:ln>
        </p:spPr>
        <p:txBody>
          <a:bodyPr wrap="none" lIns="0" tIns="0" rIns="0" bIns="0" anchor="t" anchorCtr="0">
            <a:spAutoFit/>
          </a:bodyPr>
          <a:lstStyle/>
          <a:p>
            <a:pPr algn="l"/>
            <a:r>
              <a:rPr lang="zh-CN" sz="1050" dirty="0">
                <a:solidFill>
                  <a:srgbClr val="B8C4C8"/>
                </a:solidFill>
                <a:latin typeface="+mn-lt"/>
                <a:ea typeface="+mn-ea"/>
                <a:cs typeface="+mn-cs"/>
              </a:rPr>
              <a:t>治安管理处罚法（2025年修订）第1、6条；2012年文本第1条；宪法第5条。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下节 31 / 36</a:t>
              </a:r>
            </a:p>
          </p:txBody>
        </p:sp>
      </p:grpSp>
      <p:grpSp>
        <p:nvGrpSpPr>
          <p:cNvPr id="6" name="page-title"/>
          <p:cNvGrpSpPr/>
          <p:nvPr/>
        </p:nvGrpSpPr>
        <p:grpSpPr>
          <a:xfrm>
            <a:off x="590550" y="904875"/>
            <a:ext cx="9831324" cy="790575"/>
            <a:chOff x="590550" y="904875"/>
            <a:chExt cx="9831324" cy="790575"/>
          </a:xfrm>
        </p:grpSpPr>
        <p:sp>
          <p:nvSpPr>
            <p:cNvPr id="5" name="TextBox 5"/>
            <p:cNvSpPr txBox="1"/>
            <p:nvPr/>
          </p:nvSpPr>
          <p:spPr>
            <a:xfrm>
              <a:off x="590550" y="904875"/>
              <a:ext cx="9831324"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一九九四年，为国家赔偿法施行做准备</a:t>
              </a:r>
            </a:p>
          </p:txBody>
        </p:sp>
      </p:grpSp>
      <p:grpSp>
        <p:nvGrpSpPr>
          <p:cNvPr id="14" name="timeline-1994"/>
          <p:cNvGrpSpPr/>
          <p:nvPr/>
        </p:nvGrpSpPr>
        <p:grpSpPr>
          <a:xfrm>
            <a:off x="596646" y="1885950"/>
            <a:ext cx="10985754" cy="994918"/>
            <a:chOff x="596646" y="1885950"/>
            <a:chExt cx="10985754" cy="994918"/>
          </a:xfrm>
        </p:grpSpPr>
        <p:sp>
          <p:nvSpPr>
            <p:cNvPr id="7" name="Line 7"/>
            <p:cNvSpPr/>
            <p:nvPr/>
          </p:nvSpPr>
          <p:spPr>
            <a:xfrm>
              <a:off x="609600" y="188595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8" name="TextBox 8"/>
            <p:cNvSpPr txBox="1"/>
            <p:nvPr/>
          </p:nvSpPr>
          <p:spPr>
            <a:xfrm>
              <a:off x="596646" y="2044700"/>
              <a:ext cx="2428875"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一九九四年五月</a:t>
              </a:r>
            </a:p>
          </p:txBody>
        </p:sp>
        <p:sp>
          <p:nvSpPr>
            <p:cNvPr id="9" name="TextBox 9"/>
            <p:cNvSpPr txBox="1"/>
            <p:nvPr/>
          </p:nvSpPr>
          <p:spPr>
            <a:xfrm>
              <a:off x="598932" y="2470150"/>
              <a:ext cx="1152144"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法律通过</a:t>
              </a:r>
            </a:p>
          </p:txBody>
        </p:sp>
        <p:sp>
          <p:nvSpPr>
            <p:cNvPr id="10" name="TextBox 10"/>
            <p:cNvSpPr txBox="1"/>
            <p:nvPr/>
          </p:nvSpPr>
          <p:spPr>
            <a:xfrm>
              <a:off x="4457128" y="2044700"/>
              <a:ext cx="2428875"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十二月二十二日</a:t>
              </a:r>
            </a:p>
          </p:txBody>
        </p:sp>
        <p:sp>
          <p:nvSpPr>
            <p:cNvPr id="11" name="TextBox 11"/>
            <p:cNvSpPr txBox="1"/>
            <p:nvPr/>
          </p:nvSpPr>
          <p:spPr>
            <a:xfrm>
              <a:off x="4459414" y="2470150"/>
              <a:ext cx="2848356"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国务院办公厅发出通知</a:t>
              </a:r>
            </a:p>
          </p:txBody>
        </p:sp>
        <p:sp>
          <p:nvSpPr>
            <p:cNvPr id="12" name="TextBox 12"/>
            <p:cNvSpPr txBox="1"/>
            <p:nvPr/>
          </p:nvSpPr>
          <p:spPr>
            <a:xfrm>
              <a:off x="8318564" y="2044700"/>
              <a:ext cx="3115437"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一九九五年一月一日</a:t>
              </a:r>
            </a:p>
          </p:txBody>
        </p:sp>
        <p:sp>
          <p:nvSpPr>
            <p:cNvPr id="13" name="TextBox 13"/>
            <p:cNvSpPr txBox="1"/>
            <p:nvPr/>
          </p:nvSpPr>
          <p:spPr>
            <a:xfrm>
              <a:off x="8320850" y="2470150"/>
              <a:ext cx="586740"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施行</a:t>
              </a:r>
            </a:p>
          </p:txBody>
        </p:sp>
      </p:grpSp>
      <p:grpSp>
        <p:nvGrpSpPr>
          <p:cNvPr id="22" name="three-tasks"/>
          <p:cNvGrpSpPr/>
          <p:nvPr/>
        </p:nvGrpSpPr>
        <p:grpSpPr>
          <a:xfrm>
            <a:off x="596646" y="3295650"/>
            <a:ext cx="10985754" cy="1382268"/>
            <a:chOff x="596646" y="3295650"/>
            <a:chExt cx="10985754" cy="1382268"/>
          </a:xfrm>
        </p:grpSpPr>
        <p:sp>
          <p:nvSpPr>
            <p:cNvPr id="15" name="Line 15"/>
            <p:cNvSpPr/>
            <p:nvPr/>
          </p:nvSpPr>
          <p:spPr>
            <a:xfrm>
              <a:off x="609600" y="329565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16" name="TextBox 16"/>
            <p:cNvSpPr txBox="1"/>
            <p:nvPr/>
          </p:nvSpPr>
          <p:spPr>
            <a:xfrm>
              <a:off x="596646" y="3416300"/>
              <a:ext cx="13990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学习培训</a:t>
              </a:r>
            </a:p>
          </p:txBody>
        </p:sp>
        <p:sp>
          <p:nvSpPr>
            <p:cNvPr id="17" name="TextBox 17"/>
            <p:cNvSpPr txBox="1"/>
            <p:nvPr/>
          </p:nvSpPr>
          <p:spPr>
            <a:xfrm>
              <a:off x="598932" y="3917950"/>
              <a:ext cx="200025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组织学习与培训</a:t>
              </a:r>
            </a:p>
          </p:txBody>
        </p:sp>
        <p:sp>
          <p:nvSpPr>
            <p:cNvPr id="18" name="TextBox 18"/>
            <p:cNvSpPr txBox="1"/>
            <p:nvPr/>
          </p:nvSpPr>
          <p:spPr>
            <a:xfrm>
              <a:off x="4457128" y="3416300"/>
              <a:ext cx="2428875"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确定机构和人员</a:t>
              </a:r>
            </a:p>
          </p:txBody>
        </p:sp>
        <p:sp>
          <p:nvSpPr>
            <p:cNvPr id="19" name="TextBox 19"/>
            <p:cNvSpPr txBox="1"/>
            <p:nvPr/>
          </p:nvSpPr>
          <p:spPr>
            <a:xfrm>
              <a:off x="4459414" y="3867150"/>
              <a:ext cx="21549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指定接收、审查、</a:t>
              </a:r>
              <a:br>
                <a:rPr lang="zh-CN" sz="2100" dirty="0">
                  <a:solidFill>
                    <a:schemeClr val="dk1"/>
                  </a:solidFill>
                  <a:latin typeface="+mn-lt"/>
                  <a:ea typeface="+mn-ea"/>
                  <a:cs typeface="+mn-cs"/>
                </a:rPr>
              </a:br>
              <a:r>
                <a:rPr lang="zh-CN" sz="2100" dirty="0">
                  <a:solidFill>
                    <a:schemeClr val="dk1"/>
                  </a:solidFill>
                  <a:latin typeface="+mn-lt"/>
                  <a:ea typeface="+mn-ea"/>
                  <a:cs typeface="+mn-cs"/>
                </a:rPr>
                <a:t>答复材料的人员</a:t>
              </a:r>
            </a:p>
          </p:txBody>
        </p:sp>
        <p:sp>
          <p:nvSpPr>
            <p:cNvPr id="20" name="TextBox 20"/>
            <p:cNvSpPr txBox="1"/>
            <p:nvPr/>
          </p:nvSpPr>
          <p:spPr>
            <a:xfrm>
              <a:off x="8318564" y="3416300"/>
              <a:ext cx="208559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落实配套安排</a:t>
              </a:r>
            </a:p>
          </p:txBody>
        </p:sp>
        <p:sp>
          <p:nvSpPr>
            <p:cNvPr id="21" name="TextBox 21"/>
            <p:cNvSpPr txBox="1"/>
            <p:nvPr/>
          </p:nvSpPr>
          <p:spPr>
            <a:xfrm>
              <a:off x="8320850" y="3917950"/>
              <a:ext cx="200025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落实配套的安排</a:t>
              </a:r>
            </a:p>
          </p:txBody>
        </p:sp>
      </p:grpSp>
      <p:grpSp>
        <p:nvGrpSpPr>
          <p:cNvPr id="26" name="back-to-work"/>
          <p:cNvGrpSpPr/>
          <p:nvPr/>
        </p:nvGrpSpPr>
        <p:grpSpPr>
          <a:xfrm>
            <a:off x="596646" y="4972050"/>
            <a:ext cx="10985754" cy="1109218"/>
            <a:chOff x="596646" y="4972050"/>
            <a:chExt cx="10985754" cy="1109218"/>
          </a:xfrm>
        </p:grpSpPr>
        <p:sp>
          <p:nvSpPr>
            <p:cNvPr id="23" name="Line 23"/>
            <p:cNvSpPr/>
            <p:nvPr/>
          </p:nvSpPr>
          <p:spPr>
            <a:xfrm>
              <a:off x="609600" y="497205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24" name="TextBox 24"/>
            <p:cNvSpPr txBox="1"/>
            <p:nvPr/>
          </p:nvSpPr>
          <p:spPr>
            <a:xfrm>
              <a:off x="596646" y="5130800"/>
              <a:ext cx="4145280"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从一部新法律走到日常工作</a:t>
              </a:r>
            </a:p>
          </p:txBody>
        </p:sp>
        <p:sp>
          <p:nvSpPr>
            <p:cNvPr id="25" name="TextBox 25"/>
            <p:cNvSpPr txBox="1"/>
            <p:nvPr/>
          </p:nvSpPr>
          <p:spPr>
            <a:xfrm>
              <a:off x="598932" y="5670550"/>
              <a:ext cx="680618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由谁接收材料、谁审查、谁答复，仍要在机关内部落实</a:t>
              </a:r>
            </a:p>
          </p:txBody>
        </p:sp>
      </p:grpSp>
      <p:sp>
        <p:nvSpPr>
          <p:cNvPr id="27" name="TextBox 27"/>
          <p:cNvSpPr txBox="1"/>
          <p:nvPr/>
        </p:nvSpPr>
        <p:spPr>
          <a:xfrm>
            <a:off x="604266" y="6502400"/>
            <a:ext cx="4039172"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材料：1994 年施行准备通知，历史行政文件，不作现行办理依据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3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285875"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421512" y="387350"/>
              <a:ext cx="1167746"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下节　32 / 36</a:t>
              </a:r>
            </a:p>
          </p:txBody>
        </p:sp>
      </p:grpSp>
      <p:grpSp>
        <p:nvGrpSpPr>
          <p:cNvPr id="6" name="page-title"/>
          <p:cNvGrpSpPr/>
          <p:nvPr/>
        </p:nvGrpSpPr>
        <p:grpSpPr>
          <a:xfrm>
            <a:off x="590550" y="904875"/>
            <a:ext cx="8679180" cy="790575"/>
            <a:chOff x="590550" y="904875"/>
            <a:chExt cx="8679180" cy="790575"/>
          </a:xfrm>
        </p:grpSpPr>
        <p:sp>
          <p:nvSpPr>
            <p:cNvPr id="5" name="TextBox 5"/>
            <p:cNvSpPr txBox="1"/>
            <p:nvPr/>
          </p:nvSpPr>
          <p:spPr>
            <a:xfrm>
              <a:off x="590550" y="904875"/>
              <a:ext cx="8679180"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内部办理之后，争议还能交给谁？</a:t>
              </a:r>
            </a:p>
          </p:txBody>
        </p:sp>
      </p:grpSp>
      <p:grpSp>
        <p:nvGrpSpPr>
          <p:cNvPr id="8" name="case-caption"/>
          <p:cNvGrpSpPr/>
          <p:nvPr/>
        </p:nvGrpSpPr>
        <p:grpSpPr>
          <a:xfrm>
            <a:off x="602742" y="1758950"/>
            <a:ext cx="5647563" cy="264033"/>
            <a:chOff x="602742" y="1758950"/>
            <a:chExt cx="5647563" cy="264033"/>
          </a:xfrm>
        </p:grpSpPr>
        <p:sp>
          <p:nvSpPr>
            <p:cNvPr id="7" name="TextBox 7"/>
            <p:cNvSpPr txBox="1"/>
            <p:nvPr/>
          </p:nvSpPr>
          <p:spPr>
            <a:xfrm>
              <a:off x="602742" y="1758950"/>
              <a:ext cx="5647563"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同一项行政赔偿请求：县公安局对外承担义务，法制部门在局内承办。</a:t>
              </a:r>
            </a:p>
          </p:txBody>
        </p:sp>
      </p:grpSp>
      <p:grpSp>
        <p:nvGrpSpPr>
          <p:cNvPr id="20" name="independence-left"/>
          <p:cNvGrpSpPr/>
          <p:nvPr/>
        </p:nvGrpSpPr>
        <p:grpSpPr>
          <a:xfrm>
            <a:off x="609600" y="2190750"/>
            <a:ext cx="6248400" cy="2705100"/>
            <a:chOff x="609600" y="2190750"/>
            <a:chExt cx="6248400" cy="2705100"/>
          </a:xfrm>
        </p:grpSpPr>
        <p:sp>
          <p:nvSpPr>
            <p:cNvPr id="9" name="Rectangle 9"/>
            <p:cNvSpPr/>
            <p:nvPr/>
          </p:nvSpPr>
          <p:spPr>
            <a:xfrm>
              <a:off x="609600" y="2190750"/>
              <a:ext cx="6248400" cy="2705100"/>
            </a:xfrm>
            <a:prstGeom prst="rect">
              <a:avLst/>
            </a:prstGeom>
            <a:noFill/>
            <a:ln w="14288">
              <a:solidFill>
                <a:srgbClr val="677276"/>
              </a:solidFill>
            </a:ln>
          </p:spPr>
        </p:sp>
        <p:sp>
          <p:nvSpPr>
            <p:cNvPr id="10" name="TextBox 10"/>
            <p:cNvSpPr txBox="1"/>
            <p:nvPr/>
          </p:nvSpPr>
          <p:spPr>
            <a:xfrm>
              <a:off x="861822" y="2266950"/>
              <a:ext cx="1563624"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县公安局</a:t>
              </a:r>
            </a:p>
          </p:txBody>
        </p:sp>
        <p:sp>
          <p:nvSpPr>
            <p:cNvPr id="11" name="TextBox 11"/>
            <p:cNvSpPr txBox="1"/>
            <p:nvPr/>
          </p:nvSpPr>
          <p:spPr>
            <a:xfrm>
              <a:off x="865632" y="2755900"/>
              <a:ext cx="397916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对外赔偿义务不因内部分工改变</a:t>
              </a:r>
            </a:p>
          </p:txBody>
        </p:sp>
        <p:sp>
          <p:nvSpPr>
            <p:cNvPr id="12" name="TextBox 12"/>
            <p:cNvSpPr txBox="1"/>
            <p:nvPr/>
          </p:nvSpPr>
          <p:spPr>
            <a:xfrm>
              <a:off x="865632" y="3365500"/>
              <a:ext cx="171754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执法办案部门</a:t>
              </a:r>
            </a:p>
          </p:txBody>
        </p:sp>
        <p:sp>
          <p:nvSpPr>
            <p:cNvPr id="13" name="TextBox 13"/>
            <p:cNvSpPr txBox="1"/>
            <p:nvPr/>
          </p:nvSpPr>
          <p:spPr>
            <a:xfrm>
              <a:off x="869442" y="3854450"/>
              <a:ext cx="1104138"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提供相关材料</a:t>
              </a:r>
            </a:p>
          </p:txBody>
        </p:sp>
        <p:sp>
          <p:nvSpPr>
            <p:cNvPr id="14" name="Line 14"/>
            <p:cNvSpPr/>
            <p:nvPr/>
          </p:nvSpPr>
          <p:spPr>
            <a:xfrm>
              <a:off x="2971800" y="3638550"/>
              <a:ext cx="933450" cy="1"/>
            </a:xfrm>
            <a:prstGeom prst="line">
              <a:avLst/>
            </a:prstGeom>
            <a:noFill/>
            <a:ln w="19050">
              <a:solidFill>
                <a:schemeClr val="accent1"/>
              </a:solidFill>
              <a:tailEnd type="triangle" w="lg" len="lg"/>
            </a:ln>
          </p:spPr>
        </p:sp>
        <p:sp>
          <p:nvSpPr>
            <p:cNvPr id="15" name="TextBox 15"/>
            <p:cNvSpPr txBox="1"/>
            <p:nvPr/>
          </p:nvSpPr>
          <p:spPr>
            <a:xfrm>
              <a:off x="3249930" y="3244850"/>
              <a:ext cx="377190" cy="264033"/>
            </a:xfrm>
            <a:prstGeom prst="rect">
              <a:avLst/>
            </a:prstGeom>
            <a:noFill/>
            <a:ln>
              <a:noFill/>
            </a:ln>
          </p:spPr>
          <p:txBody>
            <a:bodyPr wrap="none" lIns="0" tIns="0" rIns="0" bIns="0" anchor="t" anchorCtr="0">
              <a:spAutoFit/>
            </a:bodyPr>
            <a:lstStyle/>
            <a:p>
              <a:pPr algn="ctr"/>
              <a:r>
                <a:rPr lang="zh-CN" sz="1350" dirty="0">
                  <a:solidFill>
                    <a:schemeClr val="accent6"/>
                  </a:solidFill>
                  <a:latin typeface="+mn-lt"/>
                  <a:ea typeface="+mn-ea"/>
                  <a:cs typeface="+mn-cs"/>
                </a:rPr>
                <a:t>材料</a:t>
              </a:r>
            </a:p>
          </p:txBody>
        </p:sp>
        <p:sp>
          <p:nvSpPr>
            <p:cNvPr id="16" name="TextBox 16"/>
            <p:cNvSpPr txBox="1"/>
            <p:nvPr/>
          </p:nvSpPr>
          <p:spPr>
            <a:xfrm>
              <a:off x="4178046" y="3302000"/>
              <a:ext cx="13990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法制部门</a:t>
              </a:r>
            </a:p>
          </p:txBody>
        </p:sp>
        <p:sp>
          <p:nvSpPr>
            <p:cNvPr id="17" name="TextBox 17"/>
            <p:cNvSpPr txBox="1"/>
            <p:nvPr/>
          </p:nvSpPr>
          <p:spPr>
            <a:xfrm>
              <a:off x="4180332" y="3765550"/>
              <a:ext cx="143484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接收、审查</a:t>
              </a:r>
            </a:p>
          </p:txBody>
        </p:sp>
        <p:sp>
          <p:nvSpPr>
            <p:cNvPr id="18" name="TextBox 18"/>
            <p:cNvSpPr txBox="1"/>
            <p:nvPr/>
          </p:nvSpPr>
          <p:spPr>
            <a:xfrm>
              <a:off x="4184142" y="4254500"/>
              <a:ext cx="164934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核查材料，回应理由</a:t>
              </a:r>
            </a:p>
          </p:txBody>
        </p:sp>
        <p:sp>
          <p:nvSpPr>
            <p:cNvPr id="19" name="TextBox 19"/>
            <p:cNvSpPr txBox="1"/>
            <p:nvPr/>
          </p:nvSpPr>
          <p:spPr>
            <a:xfrm>
              <a:off x="869442" y="4540250"/>
              <a:ext cx="2558034"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不予赔偿：书面通知并说明理由</a:t>
              </a:r>
            </a:p>
          </p:txBody>
        </p:sp>
      </p:grpSp>
      <p:grpSp>
        <p:nvGrpSpPr>
          <p:cNvPr id="27" name="independence-right"/>
          <p:cNvGrpSpPr/>
          <p:nvPr/>
        </p:nvGrpSpPr>
        <p:grpSpPr>
          <a:xfrm>
            <a:off x="7029831" y="2190750"/>
            <a:ext cx="4552569" cy="2705100"/>
            <a:chOff x="7029831" y="2190750"/>
            <a:chExt cx="4552569" cy="2705100"/>
          </a:xfrm>
        </p:grpSpPr>
        <p:sp>
          <p:nvSpPr>
            <p:cNvPr id="21" name="TextBox 21"/>
            <p:cNvSpPr txBox="1"/>
            <p:nvPr/>
          </p:nvSpPr>
          <p:spPr>
            <a:xfrm>
              <a:off x="7029831" y="3187700"/>
              <a:ext cx="1104138" cy="264033"/>
            </a:xfrm>
            <a:prstGeom prst="rect">
              <a:avLst/>
            </a:prstGeom>
            <a:noFill/>
            <a:ln>
              <a:noFill/>
            </a:ln>
          </p:spPr>
          <p:txBody>
            <a:bodyPr wrap="none" lIns="0" tIns="0" rIns="0" bIns="0" anchor="t" anchorCtr="0">
              <a:spAutoFit/>
            </a:bodyPr>
            <a:lstStyle/>
            <a:p>
              <a:pPr algn="ctr"/>
              <a:r>
                <a:rPr lang="zh-CN" sz="1350" dirty="0">
                  <a:solidFill>
                    <a:schemeClr val="accent2"/>
                  </a:solidFill>
                  <a:latin typeface="+mn-lt"/>
                  <a:ea typeface="+mn-ea"/>
                  <a:cs typeface="+mn-cs"/>
                </a:rPr>
                <a:t>请求人可起诉</a:t>
              </a:r>
            </a:p>
          </p:txBody>
        </p:sp>
        <p:sp>
          <p:nvSpPr>
            <p:cNvPr id="22" name="Line 22"/>
            <p:cNvSpPr/>
            <p:nvPr/>
          </p:nvSpPr>
          <p:spPr>
            <a:xfrm>
              <a:off x="7048500" y="3638550"/>
              <a:ext cx="1085850" cy="1"/>
            </a:xfrm>
            <a:prstGeom prst="line">
              <a:avLst/>
            </a:prstGeom>
            <a:noFill/>
            <a:ln w="19050">
              <a:solidFill>
                <a:schemeClr val="accent1"/>
              </a:solidFill>
              <a:tailEnd type="triangle" w="lg" len="lg"/>
            </a:ln>
          </p:spPr>
        </p:sp>
        <p:sp>
          <p:nvSpPr>
            <p:cNvPr id="23" name="Rectangle 23"/>
            <p:cNvSpPr/>
            <p:nvPr/>
          </p:nvSpPr>
          <p:spPr>
            <a:xfrm>
              <a:off x="8305800" y="2190750"/>
              <a:ext cx="3276600" cy="2705100"/>
            </a:xfrm>
            <a:prstGeom prst="rect">
              <a:avLst/>
            </a:prstGeom>
            <a:noFill/>
            <a:ln w="14288">
              <a:solidFill>
                <a:srgbClr val="677276"/>
              </a:solidFill>
            </a:ln>
          </p:spPr>
        </p:sp>
        <p:sp>
          <p:nvSpPr>
            <p:cNvPr id="24" name="TextBox 24"/>
            <p:cNvSpPr txBox="1"/>
            <p:nvPr/>
          </p:nvSpPr>
          <p:spPr>
            <a:xfrm>
              <a:off x="8443722" y="2266950"/>
              <a:ext cx="1563624"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人民法院</a:t>
              </a:r>
            </a:p>
          </p:txBody>
        </p:sp>
        <p:sp>
          <p:nvSpPr>
            <p:cNvPr id="25" name="TextBox 25"/>
            <p:cNvSpPr txBox="1"/>
            <p:nvPr/>
          </p:nvSpPr>
          <p:spPr>
            <a:xfrm>
              <a:off x="8447532" y="2857500"/>
              <a:ext cx="2688336" cy="121081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不服不予赔偿决定，</a:t>
              </a:r>
              <a:br>
                <a:rPr lang="zh-CN" sz="2100" dirty="0">
                  <a:solidFill>
                    <a:schemeClr val="dk1"/>
                  </a:solidFill>
                  <a:latin typeface="+mn-lt"/>
                  <a:ea typeface="+mn-ea"/>
                  <a:cs typeface="+mn-cs"/>
                </a:rPr>
              </a:br>
              <a:r>
                <a:rPr lang="zh-CN" sz="2100" dirty="0">
                  <a:solidFill>
                    <a:schemeClr val="dk1"/>
                  </a:solidFill>
                  <a:latin typeface="+mn-lt"/>
                  <a:ea typeface="+mn-ea"/>
                  <a:cs typeface="+mn-cs"/>
                </a:rPr>
                <a:t>对方式、项目、数额</a:t>
              </a:r>
              <a:br>
                <a:rPr lang="zh-CN" sz="2100" dirty="0">
                  <a:solidFill>
                    <a:schemeClr val="dk1"/>
                  </a:solidFill>
                  <a:latin typeface="+mn-lt"/>
                  <a:ea typeface="+mn-ea"/>
                  <a:cs typeface="+mn-cs"/>
                </a:rPr>
              </a:br>
              <a:r>
                <a:rPr lang="zh-CN" sz="2100" dirty="0">
                  <a:solidFill>
                    <a:schemeClr val="dk1"/>
                  </a:solidFill>
                  <a:latin typeface="+mn-lt"/>
                  <a:ea typeface="+mn-ea"/>
                  <a:cs typeface="+mn-cs"/>
                </a:rPr>
                <a:t>有异议，或逾期未决定</a:t>
              </a:r>
            </a:p>
          </p:txBody>
        </p:sp>
        <p:sp>
          <p:nvSpPr>
            <p:cNvPr id="26" name="TextBox 26"/>
            <p:cNvSpPr txBox="1"/>
            <p:nvPr/>
          </p:nvSpPr>
          <p:spPr>
            <a:xfrm>
              <a:off x="8451342" y="4254500"/>
              <a:ext cx="2921508"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法定期限内；仍须举证，非当然获赔</a:t>
              </a:r>
            </a:p>
          </p:txBody>
        </p:sp>
      </p:grpSp>
      <p:grpSp>
        <p:nvGrpSpPr>
          <p:cNvPr id="29" name="p32-history"/>
          <p:cNvGrpSpPr/>
          <p:nvPr/>
        </p:nvGrpSpPr>
        <p:grpSpPr>
          <a:xfrm>
            <a:off x="602742" y="5092700"/>
            <a:ext cx="8246402" cy="264033"/>
            <a:chOff x="602742" y="5092700"/>
            <a:chExt cx="8246402" cy="264033"/>
          </a:xfrm>
        </p:grpSpPr>
        <p:sp>
          <p:nvSpPr>
            <p:cNvPr id="28" name="TextBox 28"/>
            <p:cNvSpPr txBox="1"/>
            <p:nvPr/>
          </p:nvSpPr>
          <p:spPr>
            <a:xfrm>
              <a:off x="602742" y="5092700"/>
              <a:ext cx="8246402"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1994年通知要求承办机构“相对超脱”，并建议由行政复议应诉机构承担；不是另设对外赔偿义务机关。</a:t>
              </a:r>
            </a:p>
          </p:txBody>
        </p:sp>
      </p:grpSp>
      <p:grpSp>
        <p:nvGrpSpPr>
          <p:cNvPr id="32" name="answer-worry"/>
          <p:cNvGrpSpPr/>
          <p:nvPr/>
        </p:nvGrpSpPr>
        <p:grpSpPr>
          <a:xfrm>
            <a:off x="596646" y="5359400"/>
            <a:ext cx="7373874" cy="874268"/>
            <a:chOff x="596646" y="5359400"/>
            <a:chExt cx="7373874" cy="874268"/>
          </a:xfrm>
        </p:grpSpPr>
        <p:sp>
          <p:nvSpPr>
            <p:cNvPr id="30" name="TextBox 30"/>
            <p:cNvSpPr txBox="1"/>
            <p:nvPr/>
          </p:nvSpPr>
          <p:spPr>
            <a:xfrm>
              <a:off x="596646" y="5359400"/>
              <a:ext cx="7234809"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内部分工落实责任，外部救济检验有争议的处理</a:t>
              </a:r>
            </a:p>
          </p:txBody>
        </p:sp>
        <p:sp>
          <p:nvSpPr>
            <p:cNvPr id="31" name="TextBox 31"/>
            <p:cNvSpPr txBox="1"/>
            <p:nvPr/>
          </p:nvSpPr>
          <p:spPr>
            <a:xfrm>
              <a:off x="598932" y="5822950"/>
              <a:ext cx="737158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起诉不等于当然获赔；行政赔偿程序不能照搬为刑事赔偿。</a:t>
              </a:r>
            </a:p>
          </p:txBody>
        </p:sp>
      </p:grpSp>
      <p:sp>
        <p:nvSpPr>
          <p:cNvPr id="33" name="TextBox 33"/>
          <p:cNvSpPr txBox="1"/>
          <p:nvPr/>
        </p:nvSpPr>
        <p:spPr>
          <a:xfrm>
            <a:off x="604266" y="6502400"/>
            <a:ext cx="6081693"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国家赔偿法第7、13、14条；公安机关办理国家赔偿案件规定；1994年施行准备通知为历史材料。</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350"/>
                                        <p:tgtEl>
                                          <p:spTgt spid="27"/>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3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下节 33 / 36</a:t>
              </a:r>
            </a:p>
          </p:txBody>
        </p:sp>
      </p:grpSp>
      <p:grpSp>
        <p:nvGrpSpPr>
          <p:cNvPr id="6" name="page-title"/>
          <p:cNvGrpSpPr/>
          <p:nvPr/>
        </p:nvGrpSpPr>
        <p:grpSpPr>
          <a:xfrm>
            <a:off x="590550" y="904875"/>
            <a:ext cx="5798820" cy="790575"/>
            <a:chOff x="590550" y="904875"/>
            <a:chExt cx="5798820" cy="790575"/>
          </a:xfrm>
        </p:grpSpPr>
        <p:sp>
          <p:nvSpPr>
            <p:cNvPr id="5" name="TextBox 5"/>
            <p:cNvSpPr txBox="1"/>
            <p:nvPr/>
          </p:nvSpPr>
          <p:spPr>
            <a:xfrm>
              <a:off x="590550" y="904875"/>
              <a:ext cx="5798820"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回到那个提出请求的人</a:t>
              </a:r>
            </a:p>
          </p:txBody>
        </p:sp>
      </p:grpSp>
      <p:grpSp>
        <p:nvGrpSpPr>
          <p:cNvPr id="10" name="back-to-person"/>
          <p:cNvGrpSpPr/>
          <p:nvPr/>
        </p:nvGrpSpPr>
        <p:grpSpPr>
          <a:xfrm>
            <a:off x="596646" y="1885950"/>
            <a:ext cx="5194554" cy="2372868"/>
            <a:chOff x="596646" y="1885950"/>
            <a:chExt cx="5194554" cy="2372868"/>
          </a:xfrm>
        </p:grpSpPr>
        <p:sp>
          <p:nvSpPr>
            <p:cNvPr id="7" name="Line 7"/>
            <p:cNvSpPr/>
            <p:nvPr/>
          </p:nvSpPr>
          <p:spPr>
            <a:xfrm>
              <a:off x="609600" y="188595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8" name="TextBox 8"/>
            <p:cNvSpPr txBox="1"/>
            <p:nvPr/>
          </p:nvSpPr>
          <p:spPr>
            <a:xfrm>
              <a:off x="596646" y="2101850"/>
              <a:ext cx="208559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请求人的处境</a:t>
              </a:r>
            </a:p>
          </p:txBody>
        </p:sp>
        <p:sp>
          <p:nvSpPr>
            <p:cNvPr id="9" name="TextBox 9"/>
            <p:cNvSpPr txBox="1"/>
            <p:nvPr/>
          </p:nvSpPr>
          <p:spPr>
            <a:xfrm>
              <a:off x="598932" y="2647950"/>
              <a:ext cx="4021836" cy="16108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宪法确认权利，</a:t>
              </a:r>
              <a:br>
                <a:rPr lang="zh-CN" sz="2100" dirty="0">
                  <a:solidFill>
                    <a:schemeClr val="dk1"/>
                  </a:solidFill>
                  <a:latin typeface="+mn-lt"/>
                  <a:ea typeface="+mn-ea"/>
                  <a:cs typeface="+mn-cs"/>
                </a:rPr>
              </a:br>
              <a:r>
                <a:rPr lang="zh-CN" sz="2100" dirty="0">
                  <a:solidFill>
                    <a:schemeClr val="dk1"/>
                  </a:solidFill>
                  <a:latin typeface="+mn-lt"/>
                  <a:ea typeface="+mn-ea"/>
                  <a:cs typeface="+mn-cs"/>
                </a:rPr>
                <a:t>普通法律规定赔偿情形、</a:t>
              </a:r>
              <a:br>
                <a:rPr lang="zh-CN" sz="2100" dirty="0">
                  <a:solidFill>
                    <a:schemeClr val="dk1"/>
                  </a:solidFill>
                  <a:latin typeface="+mn-lt"/>
                  <a:ea typeface="+mn-ea"/>
                  <a:cs typeface="+mn-cs"/>
                </a:rPr>
              </a:br>
              <a:r>
                <a:rPr lang="zh-CN" sz="2100" dirty="0">
                  <a:solidFill>
                    <a:schemeClr val="dk1"/>
                  </a:solidFill>
                  <a:latin typeface="+mn-lt"/>
                  <a:ea typeface="+mn-ea"/>
                  <a:cs typeface="+mn-cs"/>
                </a:rPr>
                <a:t>责任主体和办理办法，</a:t>
              </a:r>
              <a:br>
                <a:rPr lang="zh-CN" sz="2100" dirty="0">
                  <a:solidFill>
                    <a:schemeClr val="dk1"/>
                  </a:solidFill>
                  <a:latin typeface="+mn-lt"/>
                  <a:ea typeface="+mn-ea"/>
                  <a:cs typeface="+mn-cs"/>
                </a:rPr>
              </a:br>
              <a:r>
                <a:rPr lang="zh-CN" sz="2100" dirty="0">
                  <a:solidFill>
                    <a:schemeClr val="dk1"/>
                  </a:solidFill>
                  <a:latin typeface="+mn-lt"/>
                  <a:ea typeface="+mn-ea"/>
                  <a:cs typeface="+mn-cs"/>
                </a:rPr>
                <a:t>机关还要实际接收、审查、答复。</a:t>
              </a:r>
            </a:p>
          </p:txBody>
        </p:sp>
      </p:grpSp>
      <p:grpSp>
        <p:nvGrpSpPr>
          <p:cNvPr id="15" name="two-judgements"/>
          <p:cNvGrpSpPr/>
          <p:nvPr/>
        </p:nvGrpSpPr>
        <p:grpSpPr>
          <a:xfrm>
            <a:off x="6387846" y="1885950"/>
            <a:ext cx="5194554" cy="3700018"/>
            <a:chOff x="6387846" y="1885950"/>
            <a:chExt cx="5194554" cy="3700018"/>
          </a:xfrm>
        </p:grpSpPr>
        <p:sp>
          <p:nvSpPr>
            <p:cNvPr id="11" name="Line 11"/>
            <p:cNvSpPr/>
            <p:nvPr/>
          </p:nvSpPr>
          <p:spPr>
            <a:xfrm>
              <a:off x="6400800" y="188595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12" name="TextBox 12"/>
            <p:cNvSpPr txBox="1"/>
            <p:nvPr/>
          </p:nvSpPr>
          <p:spPr>
            <a:xfrm>
              <a:off x="6390132" y="2647950"/>
              <a:ext cx="4021836" cy="1210818"/>
            </a:xfrm>
            <a:prstGeom prst="rect">
              <a:avLst/>
            </a:prstGeom>
            <a:noFill/>
            <a:ln>
              <a:noFill/>
            </a:ln>
          </p:spPr>
          <p:txBody>
            <a:bodyPr wrap="none" lIns="0" tIns="0" rIns="0" bIns="0" anchor="t" anchorCtr="0">
              <a:spAutoFit/>
            </a:bodyPr>
            <a:lstStyle/>
            <a:p>
              <a:pPr algn="l">
                <a:lnSpc>
                  <a:spcPts val="3150"/>
                </a:lnSpc>
              </a:pPr>
              <a:r>
                <a:rPr lang="zh-CN" sz="2100" dirty="0">
                  <a:solidFill>
                    <a:schemeClr val="accent5"/>
                  </a:solidFill>
                  <a:latin typeface="+mn-lt"/>
                  <a:ea typeface="+mn-ea"/>
                  <a:cs typeface="+mn-cs"/>
                </a:rPr>
                <a:t>假设法律已明文规定书写确有困难</a:t>
              </a:r>
              <a:br>
                <a:rPr lang="zh-CN" sz="2100" dirty="0">
                  <a:solidFill>
                    <a:schemeClr val="accent5"/>
                  </a:solidFill>
                  <a:latin typeface="+mn-lt"/>
                  <a:ea typeface="+mn-ea"/>
                  <a:cs typeface="+mn-cs"/>
                </a:rPr>
              </a:br>
              <a:r>
                <a:rPr lang="zh-CN" sz="2100" dirty="0">
                  <a:solidFill>
                    <a:schemeClr val="accent5"/>
                  </a:solidFill>
                  <a:latin typeface="+mn-lt"/>
                  <a:ea typeface="+mn-ea"/>
                  <a:cs typeface="+mn-cs"/>
                </a:rPr>
                <a:t>的人可以口头申请，实际办理时</a:t>
              </a:r>
              <a:br>
                <a:rPr lang="zh-CN" sz="2100" dirty="0">
                  <a:solidFill>
                    <a:schemeClr val="accent5"/>
                  </a:solidFill>
                  <a:latin typeface="+mn-lt"/>
                  <a:ea typeface="+mn-ea"/>
                  <a:cs typeface="+mn-cs"/>
                </a:rPr>
              </a:br>
              <a:r>
                <a:rPr lang="zh-CN" sz="2100" dirty="0">
                  <a:solidFill>
                    <a:schemeClr val="accent5"/>
                  </a:solidFill>
                  <a:latin typeface="+mn-lt"/>
                  <a:ea typeface="+mn-ea"/>
                  <a:cs typeface="+mn-cs"/>
                </a:rPr>
                <a:t>却有人一概拒绝接收。</a:t>
              </a:r>
            </a:p>
          </p:txBody>
        </p:sp>
        <p:sp>
          <p:nvSpPr>
            <p:cNvPr id="13" name="TextBox 13"/>
            <p:cNvSpPr txBox="1"/>
            <p:nvPr/>
          </p:nvSpPr>
          <p:spPr>
            <a:xfrm>
              <a:off x="6387846" y="3937000"/>
              <a:ext cx="3912108" cy="984504"/>
            </a:xfrm>
            <a:prstGeom prst="rect">
              <a:avLst/>
            </a:prstGeom>
            <a:noFill/>
            <a:ln>
              <a:noFill/>
            </a:ln>
          </p:spPr>
          <p:txBody>
            <a:bodyPr wrap="none" lIns="0" tIns="0" rIns="0" bIns="0" anchor="t" anchorCtr="0">
              <a:spAutoFit/>
            </a:bodyPr>
            <a:lstStyle/>
            <a:p>
              <a:pPr algn="l">
                <a:lnSpc>
                  <a:spcPts val="3825"/>
                </a:lnSpc>
              </a:pPr>
              <a:r>
                <a:rPr lang="zh-CN" sz="2550" dirty="0">
                  <a:solidFill>
                    <a:schemeClr val="accent2"/>
                  </a:solidFill>
                  <a:latin typeface="+mn-lt"/>
                  <a:ea typeface="+mn-ea"/>
                  <a:cs typeface="+mn-cs"/>
                </a:rPr>
                <a:t>不能因此说权利没有效力</a:t>
              </a:r>
              <a:br>
                <a:rPr lang="zh-CN" sz="2550" dirty="0">
                  <a:solidFill>
                    <a:schemeClr val="accent2"/>
                  </a:solidFill>
                  <a:latin typeface="+mn-lt"/>
                  <a:ea typeface="+mn-ea"/>
                  <a:cs typeface="+mn-cs"/>
                </a:rPr>
              </a:br>
              <a:r>
                <a:rPr lang="zh-CN" sz="2550" dirty="0">
                  <a:solidFill>
                    <a:schemeClr val="accent2"/>
                  </a:solidFill>
                  <a:latin typeface="+mn-lt"/>
                  <a:ea typeface="+mn-ea"/>
                  <a:cs typeface="+mn-cs"/>
                </a:rPr>
                <a:t>法条清楚，不等于个案办好</a:t>
              </a:r>
            </a:p>
          </p:txBody>
        </p:sp>
        <p:sp>
          <p:nvSpPr>
            <p:cNvPr id="14" name="TextBox 14"/>
            <p:cNvSpPr txBox="1"/>
            <p:nvPr/>
          </p:nvSpPr>
          <p:spPr>
            <a:xfrm>
              <a:off x="6390132" y="5175250"/>
              <a:ext cx="510997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最后看一件真实案件，看它走过哪些环节</a:t>
              </a:r>
            </a:p>
          </p:txBody>
        </p:sp>
      </p:grpSp>
      <p:sp>
        <p:nvSpPr>
          <p:cNvPr id="16" name="TextBox 16"/>
          <p:cNvSpPr txBox="1"/>
          <p:nvPr/>
        </p:nvSpPr>
        <p:spPr>
          <a:xfrm>
            <a:off x="604266" y="6502400"/>
            <a:ext cx="3968496"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同一赔偿请求的课堂设例；规范效力与个案实际履行分别判断。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下节 34 / 36</a:t>
              </a:r>
            </a:p>
          </p:txBody>
        </p:sp>
      </p:grpSp>
      <p:grpSp>
        <p:nvGrpSpPr>
          <p:cNvPr id="6" name="page-title"/>
          <p:cNvGrpSpPr/>
          <p:nvPr/>
        </p:nvGrpSpPr>
        <p:grpSpPr>
          <a:xfrm>
            <a:off x="590550" y="904875"/>
            <a:ext cx="9255252" cy="790575"/>
            <a:chOff x="590550" y="904875"/>
            <a:chExt cx="9255252" cy="790575"/>
          </a:xfrm>
        </p:grpSpPr>
        <p:sp>
          <p:nvSpPr>
            <p:cNvPr id="5" name="TextBox 5"/>
            <p:cNvSpPr txBox="1"/>
            <p:nvPr/>
          </p:nvSpPr>
          <p:spPr>
            <a:xfrm>
              <a:off x="590550" y="904875"/>
              <a:ext cx="9255252"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最高人民法院公布的七十三户农民案</a:t>
              </a:r>
            </a:p>
          </p:txBody>
        </p:sp>
      </p:grpSp>
      <p:grpSp>
        <p:nvGrpSpPr>
          <p:cNvPr id="13" name="facts"/>
          <p:cNvGrpSpPr/>
          <p:nvPr/>
        </p:nvGrpSpPr>
        <p:grpSpPr>
          <a:xfrm>
            <a:off x="596646" y="1885950"/>
            <a:ext cx="10985754" cy="2372868"/>
            <a:chOff x="596646" y="1885950"/>
            <a:chExt cx="10985754" cy="2372868"/>
          </a:xfrm>
        </p:grpSpPr>
        <p:sp>
          <p:nvSpPr>
            <p:cNvPr id="7" name="Line 7"/>
            <p:cNvSpPr/>
            <p:nvPr/>
          </p:nvSpPr>
          <p:spPr>
            <a:xfrm>
              <a:off x="609600" y="188595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8" name="TextBox 8"/>
            <p:cNvSpPr txBox="1"/>
            <p:nvPr/>
          </p:nvSpPr>
          <p:spPr>
            <a:xfrm>
              <a:off x="596646" y="2101850"/>
              <a:ext cx="71247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案情</a:t>
              </a:r>
            </a:p>
          </p:txBody>
        </p:sp>
        <p:sp>
          <p:nvSpPr>
            <p:cNvPr id="9" name="TextBox 9"/>
            <p:cNvSpPr txBox="1"/>
            <p:nvPr/>
          </p:nvSpPr>
          <p:spPr>
            <a:xfrm>
              <a:off x="598932" y="2647950"/>
              <a:ext cx="4021836" cy="16108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连续强降雨，水库依法紧急泄洪；</a:t>
              </a:r>
              <a:br>
                <a:rPr lang="zh-CN" sz="2100" dirty="0">
                  <a:solidFill>
                    <a:schemeClr val="dk1"/>
                  </a:solidFill>
                  <a:latin typeface="+mn-lt"/>
                  <a:ea typeface="+mn-ea"/>
                  <a:cs typeface="+mn-cs"/>
                </a:rPr>
              </a:br>
              <a:r>
                <a:rPr lang="zh-CN" sz="2100" dirty="0">
                  <a:solidFill>
                    <a:schemeClr val="dk1"/>
                  </a:solidFill>
                  <a:latin typeface="+mn-lt"/>
                  <a:ea typeface="+mn-ea"/>
                  <a:cs typeface="+mn-cs"/>
                </a:rPr>
                <a:t>排水系统年久失修、管道淤堵，</a:t>
              </a:r>
              <a:br>
                <a:rPr lang="zh-CN" sz="2100" dirty="0">
                  <a:solidFill>
                    <a:schemeClr val="dk1"/>
                  </a:solidFill>
                  <a:latin typeface="+mn-lt"/>
                  <a:ea typeface="+mn-ea"/>
                  <a:cs typeface="+mn-cs"/>
                </a:rPr>
              </a:br>
              <a:r>
                <a:rPr lang="zh-CN" sz="2100" dirty="0">
                  <a:solidFill>
                    <a:schemeClr val="dk1"/>
                  </a:solidFill>
                  <a:latin typeface="+mn-lt"/>
                  <a:ea typeface="+mn-ea"/>
                  <a:cs typeface="+mn-cs"/>
                </a:rPr>
                <a:t>发生倒灌，农田被淹；</a:t>
              </a:r>
              <a:br>
                <a:rPr lang="zh-CN" sz="2100" dirty="0">
                  <a:solidFill>
                    <a:schemeClr val="dk1"/>
                  </a:solidFill>
                  <a:latin typeface="+mn-lt"/>
                  <a:ea typeface="+mn-ea"/>
                  <a:cs typeface="+mn-cs"/>
                </a:rPr>
              </a:br>
              <a:r>
                <a:rPr lang="zh-CN" sz="2100" dirty="0">
                  <a:solidFill>
                    <a:schemeClr val="dk1"/>
                  </a:solidFill>
                  <a:latin typeface="+mn-lt"/>
                  <a:ea typeface="+mn-ea"/>
                  <a:cs typeface="+mn-cs"/>
                </a:rPr>
                <a:t>农户认为住建局维护不到位。</a:t>
              </a:r>
            </a:p>
          </p:txBody>
        </p:sp>
        <p:sp>
          <p:nvSpPr>
            <p:cNvPr id="10" name="Line 10"/>
            <p:cNvSpPr/>
            <p:nvPr/>
          </p:nvSpPr>
          <p:spPr>
            <a:xfrm>
              <a:off x="6400800" y="188595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11" name="TextBox 11"/>
            <p:cNvSpPr txBox="1"/>
            <p:nvPr/>
          </p:nvSpPr>
          <p:spPr>
            <a:xfrm>
              <a:off x="6387846" y="2101850"/>
              <a:ext cx="1742313"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争的是什么</a:t>
              </a:r>
            </a:p>
          </p:txBody>
        </p:sp>
        <p:sp>
          <p:nvSpPr>
            <p:cNvPr id="12" name="TextBox 12"/>
            <p:cNvSpPr txBox="1"/>
            <p:nvPr/>
          </p:nvSpPr>
          <p:spPr>
            <a:xfrm>
              <a:off x="6390132" y="2647950"/>
              <a:ext cx="3488436" cy="16108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住建局承认有管理维护职责，</a:t>
              </a:r>
              <a:br>
                <a:rPr lang="zh-CN" sz="2100" dirty="0">
                  <a:solidFill>
                    <a:schemeClr val="dk1"/>
                  </a:solidFill>
                  <a:latin typeface="+mn-lt"/>
                  <a:ea typeface="+mn-ea"/>
                  <a:cs typeface="+mn-cs"/>
                </a:rPr>
              </a:br>
              <a:r>
                <a:rPr lang="zh-CN" sz="2100" dirty="0">
                  <a:solidFill>
                    <a:schemeClr val="dk1"/>
                  </a:solidFill>
                  <a:latin typeface="+mn-lt"/>
                  <a:ea typeface="+mn-ea"/>
                  <a:cs typeface="+mn-cs"/>
                </a:rPr>
                <a:t>也认可农田被淹的基本损失；</a:t>
              </a:r>
              <a:br>
                <a:rPr lang="zh-CN" sz="2100" dirty="0">
                  <a:solidFill>
                    <a:schemeClr val="dk1"/>
                  </a:solidFill>
                  <a:latin typeface="+mn-lt"/>
                  <a:ea typeface="+mn-ea"/>
                  <a:cs typeface="+mn-cs"/>
                </a:rPr>
              </a:br>
              <a:r>
                <a:rPr lang="zh-CN" sz="2100" dirty="0">
                  <a:solidFill>
                    <a:schemeClr val="dk1"/>
                  </a:solidFill>
                  <a:latin typeface="+mn-lt"/>
                  <a:ea typeface="+mn-ea"/>
                  <a:cs typeface="+mn-cs"/>
                </a:rPr>
                <a:t>争的是职责有没有尽到，</a:t>
              </a:r>
              <a:br>
                <a:rPr lang="zh-CN" sz="2100" dirty="0">
                  <a:solidFill>
                    <a:schemeClr val="dk1"/>
                  </a:solidFill>
                  <a:latin typeface="+mn-lt"/>
                  <a:ea typeface="+mn-ea"/>
                  <a:cs typeface="+mn-cs"/>
                </a:rPr>
              </a:br>
              <a:r>
                <a:rPr lang="zh-CN" sz="2100" dirty="0">
                  <a:solidFill>
                    <a:schemeClr val="dk1"/>
                  </a:solidFill>
                  <a:latin typeface="+mn-lt"/>
                  <a:ea typeface="+mn-ea"/>
                  <a:cs typeface="+mn-cs"/>
                </a:rPr>
                <a:t>以及损失应由它承担多少。</a:t>
              </a:r>
            </a:p>
          </p:txBody>
        </p:sp>
      </p:grpSp>
      <p:grpSp>
        <p:nvGrpSpPr>
          <p:cNvPr id="17" name="settlement"/>
          <p:cNvGrpSpPr/>
          <p:nvPr/>
        </p:nvGrpSpPr>
        <p:grpSpPr>
          <a:xfrm>
            <a:off x="596646" y="4972050"/>
            <a:ext cx="10985754" cy="1090168"/>
            <a:chOff x="596646" y="4972050"/>
            <a:chExt cx="10985754" cy="1090168"/>
          </a:xfrm>
        </p:grpSpPr>
        <p:sp>
          <p:nvSpPr>
            <p:cNvPr id="14" name="Line 14"/>
            <p:cNvSpPr/>
            <p:nvPr/>
          </p:nvSpPr>
          <p:spPr>
            <a:xfrm>
              <a:off x="609600" y="497205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15" name="TextBox 15"/>
            <p:cNvSpPr txBox="1"/>
            <p:nvPr/>
          </p:nvSpPr>
          <p:spPr>
            <a:xfrm>
              <a:off x="596646" y="5073650"/>
              <a:ext cx="6891528"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双方和解：按鉴定报告中损失金额的八成赔付</a:t>
              </a:r>
            </a:p>
          </p:txBody>
        </p:sp>
        <p:sp>
          <p:nvSpPr>
            <p:cNvPr id="16" name="TextBox 16"/>
            <p:cNvSpPr txBox="1"/>
            <p:nvPr/>
          </p:nvSpPr>
          <p:spPr>
            <a:xfrm>
              <a:off x="598932" y="5651500"/>
              <a:ext cx="821969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调解小组到村里核对；临近春节，督促三天内付清，共七十余万元</a:t>
              </a:r>
            </a:p>
          </p:txBody>
        </p:sp>
      </p:grpSp>
      <p:sp>
        <p:nvSpPr>
          <p:cNvPr id="18" name="TextBox 18"/>
          <p:cNvSpPr txBox="1"/>
          <p:nvPr/>
        </p:nvSpPr>
        <p:spPr>
          <a:xfrm>
            <a:off x="604266" y="6502400"/>
            <a:ext cx="587673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最高人民法院第四批示范文本应用典型案例，案例三，2026-07-08；双方和解，不是法院判决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3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285875"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421512" y="387350"/>
              <a:ext cx="1167746"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下节　35 / 36</a:t>
              </a:r>
            </a:p>
          </p:txBody>
        </p:sp>
      </p:grpSp>
      <p:grpSp>
        <p:nvGrpSpPr>
          <p:cNvPr id="6" name="page-title"/>
          <p:cNvGrpSpPr/>
          <p:nvPr/>
        </p:nvGrpSpPr>
        <p:grpSpPr>
          <a:xfrm>
            <a:off x="590550" y="904875"/>
            <a:ext cx="7527036" cy="790575"/>
            <a:chOff x="590550" y="904875"/>
            <a:chExt cx="7527036" cy="790575"/>
          </a:xfrm>
        </p:grpSpPr>
        <p:sp>
          <p:nvSpPr>
            <p:cNvPr id="5" name="TextBox 5"/>
            <p:cNvSpPr txBox="1"/>
            <p:nvPr/>
          </p:nvSpPr>
          <p:spPr>
            <a:xfrm>
              <a:off x="590550" y="904875"/>
              <a:ext cx="7527036"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三类材料，分别能说明什么？</a:t>
              </a:r>
            </a:p>
          </p:txBody>
        </p:sp>
      </p:grpSp>
      <p:grpSp>
        <p:nvGrpSpPr>
          <p:cNvPr id="16" name="three-materials"/>
          <p:cNvGrpSpPr/>
          <p:nvPr/>
        </p:nvGrpSpPr>
        <p:grpSpPr>
          <a:xfrm>
            <a:off x="596646" y="1885950"/>
            <a:ext cx="10985754" cy="1972818"/>
            <a:chOff x="596646" y="1885950"/>
            <a:chExt cx="10985754" cy="1972818"/>
          </a:xfrm>
        </p:grpSpPr>
        <p:sp>
          <p:nvSpPr>
            <p:cNvPr id="7" name="Line 7"/>
            <p:cNvSpPr/>
            <p:nvPr/>
          </p:nvSpPr>
          <p:spPr>
            <a:xfrm>
              <a:off x="609600" y="1885950"/>
              <a:ext cx="3250882" cy="9525"/>
            </a:xfrm>
            <a:custGeom>
              <a:avLst/>
              <a:gdLst/>
              <a:ahLst/>
              <a:cxnLst/>
              <a:rect l="l" t="t" r="r" b="b"/>
              <a:pathLst>
                <a:path w="3250882" h="9525">
                  <a:moveTo>
                    <a:pt x="0" y="0"/>
                  </a:moveTo>
                  <a:lnTo>
                    <a:pt x="3250882" y="0"/>
                  </a:lnTo>
                </a:path>
              </a:pathLst>
            </a:custGeom>
            <a:noFill/>
            <a:ln w="9525">
              <a:solidFill>
                <a:srgbClr val="CDC8BE"/>
              </a:solidFill>
            </a:ln>
          </p:spPr>
        </p:sp>
        <p:sp>
          <p:nvSpPr>
            <p:cNvPr id="8" name="TextBox 8"/>
            <p:cNvSpPr txBox="1"/>
            <p:nvPr/>
          </p:nvSpPr>
          <p:spPr>
            <a:xfrm>
              <a:off x="596646" y="2101850"/>
              <a:ext cx="213708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第一类 · 条文</a:t>
              </a:r>
            </a:p>
          </p:txBody>
        </p:sp>
        <p:sp>
          <p:nvSpPr>
            <p:cNvPr id="9" name="TextBox 9"/>
            <p:cNvSpPr txBox="1"/>
            <p:nvPr/>
          </p:nvSpPr>
          <p:spPr>
            <a:xfrm>
              <a:off x="598932" y="2647950"/>
              <a:ext cx="24216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宪法和国家赔偿法的</a:t>
              </a:r>
              <a:br>
                <a:rPr lang="zh-CN" sz="2100" dirty="0">
                  <a:solidFill>
                    <a:schemeClr val="dk1"/>
                  </a:solidFill>
                  <a:latin typeface="+mn-lt"/>
                  <a:ea typeface="+mn-ea"/>
                  <a:cs typeface="+mn-cs"/>
                </a:rPr>
              </a:br>
              <a:r>
                <a:rPr lang="zh-CN" sz="2100" dirty="0">
                  <a:solidFill>
                    <a:schemeClr val="dk1"/>
                  </a:solidFill>
                  <a:latin typeface="+mn-lt"/>
                  <a:ea typeface="+mn-ea"/>
                  <a:cs typeface="+mn-cs"/>
                </a:rPr>
                <a:t>相关条文</a:t>
              </a:r>
            </a:p>
          </p:txBody>
        </p:sp>
        <p:sp>
          <p:nvSpPr>
            <p:cNvPr id="10" name="Line 10"/>
            <p:cNvSpPr/>
            <p:nvPr/>
          </p:nvSpPr>
          <p:spPr>
            <a:xfrm>
              <a:off x="4470082" y="1885950"/>
              <a:ext cx="3251835" cy="9525"/>
            </a:xfrm>
            <a:custGeom>
              <a:avLst/>
              <a:gdLst/>
              <a:ahLst/>
              <a:cxnLst/>
              <a:rect l="l" t="t" r="r" b="b"/>
              <a:pathLst>
                <a:path w="3251835" h="9525">
                  <a:moveTo>
                    <a:pt x="0" y="0"/>
                  </a:moveTo>
                  <a:lnTo>
                    <a:pt x="3251835" y="0"/>
                  </a:lnTo>
                </a:path>
              </a:pathLst>
            </a:custGeom>
            <a:noFill/>
            <a:ln w="9525">
              <a:solidFill>
                <a:srgbClr val="CDC8BE"/>
              </a:solidFill>
            </a:ln>
          </p:spPr>
        </p:sp>
        <p:sp>
          <p:nvSpPr>
            <p:cNvPr id="11" name="TextBox 11"/>
            <p:cNvSpPr txBox="1"/>
            <p:nvPr/>
          </p:nvSpPr>
          <p:spPr>
            <a:xfrm>
              <a:off x="4457128" y="2101850"/>
              <a:ext cx="213708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第二类 · 通知</a:t>
              </a:r>
            </a:p>
          </p:txBody>
        </p:sp>
        <p:sp>
          <p:nvSpPr>
            <p:cNvPr id="12" name="TextBox 12"/>
            <p:cNvSpPr txBox="1"/>
            <p:nvPr/>
          </p:nvSpPr>
          <p:spPr>
            <a:xfrm>
              <a:off x="4459414" y="2647950"/>
              <a:ext cx="26883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机关通知：</a:t>
              </a:r>
              <a:br>
                <a:rPr lang="zh-CN" sz="2100" dirty="0">
                  <a:solidFill>
                    <a:schemeClr val="dk1"/>
                  </a:solidFill>
                  <a:latin typeface="+mn-lt"/>
                  <a:ea typeface="+mn-ea"/>
                  <a:cs typeface="+mn-cs"/>
                </a:rPr>
              </a:br>
              <a:r>
                <a:rPr lang="zh-CN" sz="2100" dirty="0">
                  <a:solidFill>
                    <a:schemeClr val="dk1"/>
                  </a:solidFill>
                  <a:latin typeface="+mn-lt"/>
                  <a:ea typeface="+mn-ea"/>
                  <a:cs typeface="+mn-cs"/>
                </a:rPr>
                <a:t>要求指定人员接收请求</a:t>
              </a:r>
            </a:p>
          </p:txBody>
        </p:sp>
        <p:sp>
          <p:nvSpPr>
            <p:cNvPr id="13" name="Line 13"/>
            <p:cNvSpPr/>
            <p:nvPr/>
          </p:nvSpPr>
          <p:spPr>
            <a:xfrm>
              <a:off x="8331518" y="1885950"/>
              <a:ext cx="3250882" cy="9525"/>
            </a:xfrm>
            <a:custGeom>
              <a:avLst/>
              <a:gdLst/>
              <a:ahLst/>
              <a:cxnLst/>
              <a:rect l="l" t="t" r="r" b="b"/>
              <a:pathLst>
                <a:path w="3250882" h="9525">
                  <a:moveTo>
                    <a:pt x="0" y="0"/>
                  </a:moveTo>
                  <a:lnTo>
                    <a:pt x="3250882" y="0"/>
                  </a:lnTo>
                </a:path>
              </a:pathLst>
            </a:custGeom>
            <a:noFill/>
            <a:ln w="9525">
              <a:solidFill>
                <a:srgbClr val="CDC8BE"/>
              </a:solidFill>
            </a:ln>
          </p:spPr>
        </p:sp>
        <p:sp>
          <p:nvSpPr>
            <p:cNvPr id="14" name="TextBox 14"/>
            <p:cNvSpPr txBox="1"/>
            <p:nvPr/>
          </p:nvSpPr>
          <p:spPr>
            <a:xfrm>
              <a:off x="8318564" y="2101850"/>
              <a:ext cx="282364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第三类 · 个案材料</a:t>
              </a:r>
            </a:p>
          </p:txBody>
        </p:sp>
        <p:sp>
          <p:nvSpPr>
            <p:cNvPr id="15" name="TextBox 15"/>
            <p:cNvSpPr txBox="1"/>
            <p:nvPr/>
          </p:nvSpPr>
          <p:spPr>
            <a:xfrm>
              <a:off x="8320850" y="2647950"/>
              <a:ext cx="2154936" cy="121081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请求的接收记录、</a:t>
              </a:r>
              <a:br>
                <a:rPr lang="zh-CN" sz="2100" dirty="0">
                  <a:solidFill>
                    <a:schemeClr val="dk1"/>
                  </a:solidFill>
                  <a:latin typeface="+mn-lt"/>
                  <a:ea typeface="+mn-ea"/>
                  <a:cs typeface="+mn-cs"/>
                </a:rPr>
              </a:br>
              <a:r>
                <a:rPr lang="zh-CN" sz="2100" dirty="0">
                  <a:solidFill>
                    <a:schemeClr val="dk1"/>
                  </a:solidFill>
                  <a:latin typeface="+mn-lt"/>
                  <a:ea typeface="+mn-ea"/>
                  <a:cs typeface="+mn-cs"/>
                </a:rPr>
                <a:t>处理决定和</a:t>
              </a:r>
              <a:br>
                <a:rPr lang="zh-CN" sz="2100" dirty="0">
                  <a:solidFill>
                    <a:schemeClr val="dk1"/>
                  </a:solidFill>
                  <a:latin typeface="+mn-lt"/>
                  <a:ea typeface="+mn-ea"/>
                  <a:cs typeface="+mn-cs"/>
                </a:rPr>
              </a:br>
              <a:r>
                <a:rPr lang="zh-CN" sz="2100" dirty="0">
                  <a:solidFill>
                    <a:schemeClr val="dk1"/>
                  </a:solidFill>
                  <a:latin typeface="+mn-lt"/>
                  <a:ea typeface="+mn-ea"/>
                  <a:cs typeface="+mn-cs"/>
                </a:rPr>
                <a:t>实际履行材料</a:t>
              </a:r>
            </a:p>
          </p:txBody>
        </p:sp>
      </p:grpSp>
      <p:grpSp>
        <p:nvGrpSpPr>
          <p:cNvPr id="19" name="p35-task"/>
          <p:cNvGrpSpPr/>
          <p:nvPr/>
        </p:nvGrpSpPr>
        <p:grpSpPr>
          <a:xfrm>
            <a:off x="598932" y="4222750"/>
            <a:ext cx="7654290" cy="676783"/>
            <a:chOff x="598932" y="4222750"/>
            <a:chExt cx="7654290" cy="676783"/>
          </a:xfrm>
        </p:grpSpPr>
        <p:sp>
          <p:nvSpPr>
            <p:cNvPr id="17" name="TextBox 17"/>
            <p:cNvSpPr txBox="1"/>
            <p:nvPr/>
          </p:nvSpPr>
          <p:spPr>
            <a:xfrm>
              <a:off x="598932" y="4222750"/>
              <a:ext cx="7654290"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哪类说明应当怎样做？哪类说明部署？判断个案还要看哪类？</a:t>
              </a:r>
            </a:p>
          </p:txBody>
        </p:sp>
        <p:sp>
          <p:nvSpPr>
            <p:cNvPr id="18" name="TextBox 18"/>
            <p:cNvSpPr txBox="1"/>
            <p:nvPr/>
          </p:nvSpPr>
          <p:spPr>
            <a:xfrm>
              <a:off x="602742" y="4635500"/>
              <a:ext cx="3284982"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独立思考约两分钟，用三句话分别说明。</a:t>
              </a:r>
            </a:p>
          </p:txBody>
        </p:sp>
      </p:grpSp>
      <p:grpSp>
        <p:nvGrpSpPr>
          <p:cNvPr id="26" name="think-close"/>
          <p:cNvGrpSpPr/>
          <p:nvPr/>
        </p:nvGrpSpPr>
        <p:grpSpPr>
          <a:xfrm>
            <a:off x="596646" y="5321300"/>
            <a:ext cx="10104311" cy="835533"/>
            <a:chOff x="596646" y="5321300"/>
            <a:chExt cx="10104311" cy="835533"/>
          </a:xfrm>
        </p:grpSpPr>
        <p:sp>
          <p:nvSpPr>
            <p:cNvPr id="20" name="TextBox 20"/>
            <p:cNvSpPr txBox="1"/>
            <p:nvPr/>
          </p:nvSpPr>
          <p:spPr>
            <a:xfrm>
              <a:off x="596646" y="5321300"/>
              <a:ext cx="1399032"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规范要求</a:t>
              </a:r>
            </a:p>
          </p:txBody>
        </p:sp>
        <p:sp>
          <p:nvSpPr>
            <p:cNvPr id="21" name="TextBox 21"/>
            <p:cNvSpPr txBox="1"/>
            <p:nvPr/>
          </p:nvSpPr>
          <p:spPr>
            <a:xfrm>
              <a:off x="4457128" y="5321300"/>
              <a:ext cx="1399032"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工作部署</a:t>
              </a:r>
            </a:p>
          </p:txBody>
        </p:sp>
        <p:sp>
          <p:nvSpPr>
            <p:cNvPr id="22" name="TextBox 22"/>
            <p:cNvSpPr txBox="1"/>
            <p:nvPr/>
          </p:nvSpPr>
          <p:spPr>
            <a:xfrm>
              <a:off x="8318564" y="5321300"/>
              <a:ext cx="2085594"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个案实际办理</a:t>
              </a:r>
            </a:p>
          </p:txBody>
        </p:sp>
        <p:sp>
          <p:nvSpPr>
            <p:cNvPr id="23" name="TextBox 23"/>
            <p:cNvSpPr txBox="1"/>
            <p:nvPr/>
          </p:nvSpPr>
          <p:spPr>
            <a:xfrm>
              <a:off x="602742" y="5892800"/>
              <a:ext cx="2012823"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判断办理是否合法的依据</a:t>
              </a:r>
            </a:p>
          </p:txBody>
        </p:sp>
        <p:sp>
          <p:nvSpPr>
            <p:cNvPr id="24" name="TextBox 24"/>
            <p:cNvSpPr txBox="1"/>
            <p:nvPr/>
          </p:nvSpPr>
          <p:spPr>
            <a:xfrm>
              <a:off x="4463224" y="5892800"/>
              <a:ext cx="2012823"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发出通知不等于实际完成</a:t>
              </a:r>
            </a:p>
          </p:txBody>
        </p:sp>
        <p:sp>
          <p:nvSpPr>
            <p:cNvPr id="25" name="TextBox 25"/>
            <p:cNvSpPr txBox="1"/>
            <p:nvPr/>
          </p:nvSpPr>
          <p:spPr>
            <a:xfrm>
              <a:off x="8324660" y="5892800"/>
              <a:ext cx="2376297"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仍须核对记录完整与办理合法</a:t>
              </a:r>
            </a:p>
          </p:txBody>
        </p:sp>
      </p:grpSp>
      <p:sp>
        <p:nvSpPr>
          <p:cNvPr id="27" name="TextBox 27"/>
          <p:cNvSpPr txBox="1"/>
          <p:nvPr/>
        </p:nvSpPr>
        <p:spPr>
          <a:xfrm>
            <a:off x="604266" y="6502400"/>
            <a:ext cx="3968496"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宪法实施的课堂材料比较；规范、部署与实际办理须分别判断。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3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第一讲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下节 36 / 36</a:t>
              </a:r>
            </a:p>
          </p:txBody>
        </p:sp>
      </p:grpSp>
      <p:grpSp>
        <p:nvGrpSpPr>
          <p:cNvPr id="6" name="page-title"/>
          <p:cNvGrpSpPr/>
          <p:nvPr/>
        </p:nvGrpSpPr>
        <p:grpSpPr>
          <a:xfrm>
            <a:off x="590550" y="904875"/>
            <a:ext cx="6374892" cy="790575"/>
            <a:chOff x="590550" y="904875"/>
            <a:chExt cx="6374892" cy="790575"/>
          </a:xfrm>
        </p:grpSpPr>
        <p:sp>
          <p:nvSpPr>
            <p:cNvPr id="5" name="TextBox 5"/>
            <p:cNvSpPr txBox="1"/>
            <p:nvPr/>
          </p:nvSpPr>
          <p:spPr>
            <a:xfrm>
              <a:off x="590550" y="904875"/>
              <a:ext cx="6374892"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为什么宪法是国家根本法</a:t>
              </a:r>
            </a:p>
          </p:txBody>
        </p:sp>
      </p:grpSp>
      <p:grpSp>
        <p:nvGrpSpPr>
          <p:cNvPr id="16" name="three-questions"/>
          <p:cNvGrpSpPr/>
          <p:nvPr/>
        </p:nvGrpSpPr>
        <p:grpSpPr>
          <a:xfrm>
            <a:off x="596646" y="1885950"/>
            <a:ext cx="10985754" cy="2372868"/>
            <a:chOff x="596646" y="1885950"/>
            <a:chExt cx="10985754" cy="2372868"/>
          </a:xfrm>
        </p:grpSpPr>
        <p:sp>
          <p:nvSpPr>
            <p:cNvPr id="7" name="Line 7"/>
            <p:cNvSpPr/>
            <p:nvPr/>
          </p:nvSpPr>
          <p:spPr>
            <a:xfrm>
              <a:off x="609600" y="1885950"/>
              <a:ext cx="3250882" cy="9525"/>
            </a:xfrm>
            <a:custGeom>
              <a:avLst/>
              <a:gdLst/>
              <a:ahLst/>
              <a:cxnLst/>
              <a:rect l="l" t="t" r="r" b="b"/>
              <a:pathLst>
                <a:path w="3250882" h="9525">
                  <a:moveTo>
                    <a:pt x="0" y="0"/>
                  </a:moveTo>
                  <a:lnTo>
                    <a:pt x="3250882" y="0"/>
                  </a:lnTo>
                </a:path>
              </a:pathLst>
            </a:custGeom>
            <a:noFill/>
            <a:ln w="9525">
              <a:solidFill>
                <a:srgbClr val="CDC8BE"/>
              </a:solidFill>
            </a:ln>
          </p:spPr>
        </p:sp>
        <p:sp>
          <p:nvSpPr>
            <p:cNvPr id="8" name="TextBox 8"/>
            <p:cNvSpPr txBox="1"/>
            <p:nvPr/>
          </p:nvSpPr>
          <p:spPr>
            <a:xfrm>
              <a:off x="596646" y="2101850"/>
              <a:ext cx="2428875"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为什么是根本法</a:t>
              </a:r>
            </a:p>
          </p:txBody>
        </p:sp>
        <p:sp>
          <p:nvSpPr>
            <p:cNvPr id="9" name="TextBox 9"/>
            <p:cNvSpPr txBox="1"/>
            <p:nvPr/>
          </p:nvSpPr>
          <p:spPr>
            <a:xfrm>
              <a:off x="598932" y="2647950"/>
              <a:ext cx="2154936" cy="16108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它规定国家生活的</a:t>
              </a:r>
              <a:br>
                <a:rPr lang="zh-CN" sz="2100" dirty="0">
                  <a:solidFill>
                    <a:schemeClr val="dk1"/>
                  </a:solidFill>
                  <a:latin typeface="+mn-lt"/>
                  <a:ea typeface="+mn-ea"/>
                  <a:cs typeface="+mn-cs"/>
                </a:rPr>
              </a:br>
              <a:r>
                <a:rPr lang="zh-CN" sz="2100" dirty="0">
                  <a:solidFill>
                    <a:schemeClr val="dk1"/>
                  </a:solidFill>
                  <a:latin typeface="+mn-lt"/>
                  <a:ea typeface="+mn-ea"/>
                  <a:cs typeface="+mn-cs"/>
                </a:rPr>
                <a:t>根本问题，为权力</a:t>
              </a:r>
              <a:br>
                <a:rPr lang="zh-CN" sz="2100" dirty="0">
                  <a:solidFill>
                    <a:schemeClr val="dk1"/>
                  </a:solidFill>
                  <a:latin typeface="+mn-lt"/>
                  <a:ea typeface="+mn-ea"/>
                  <a:cs typeface="+mn-cs"/>
                </a:rPr>
              </a:br>
              <a:r>
                <a:rPr lang="zh-CN" sz="2100" dirty="0">
                  <a:solidFill>
                    <a:schemeClr val="dk1"/>
                  </a:solidFill>
                  <a:latin typeface="+mn-lt"/>
                  <a:ea typeface="+mn-ea"/>
                  <a:cs typeface="+mn-cs"/>
                </a:rPr>
                <a:t>组织和人的基本</a:t>
              </a:r>
              <a:br>
                <a:rPr lang="zh-CN" sz="2100" dirty="0">
                  <a:solidFill>
                    <a:schemeClr val="dk1"/>
                  </a:solidFill>
                  <a:latin typeface="+mn-lt"/>
                  <a:ea typeface="+mn-ea"/>
                  <a:cs typeface="+mn-cs"/>
                </a:rPr>
              </a:br>
              <a:r>
                <a:rPr lang="zh-CN" sz="2100" dirty="0">
                  <a:solidFill>
                    <a:schemeClr val="dk1"/>
                  </a:solidFill>
                  <a:latin typeface="+mn-lt"/>
                  <a:ea typeface="+mn-ea"/>
                  <a:cs typeface="+mn-cs"/>
                </a:rPr>
                <a:t>权利提供根本依据</a:t>
              </a:r>
            </a:p>
          </p:txBody>
        </p:sp>
        <p:sp>
          <p:nvSpPr>
            <p:cNvPr id="10" name="Line 10"/>
            <p:cNvSpPr/>
            <p:nvPr/>
          </p:nvSpPr>
          <p:spPr>
            <a:xfrm>
              <a:off x="4470082" y="1885950"/>
              <a:ext cx="3251835" cy="9525"/>
            </a:xfrm>
            <a:custGeom>
              <a:avLst/>
              <a:gdLst/>
              <a:ahLst/>
              <a:cxnLst/>
              <a:rect l="l" t="t" r="r" b="b"/>
              <a:pathLst>
                <a:path w="3251835" h="9525">
                  <a:moveTo>
                    <a:pt x="0" y="0"/>
                  </a:moveTo>
                  <a:lnTo>
                    <a:pt x="3251835" y="0"/>
                  </a:lnTo>
                </a:path>
              </a:pathLst>
            </a:custGeom>
            <a:noFill/>
            <a:ln w="9525">
              <a:solidFill>
                <a:srgbClr val="CDC8BE"/>
              </a:solidFill>
            </a:ln>
          </p:spPr>
        </p:sp>
        <p:sp>
          <p:nvSpPr>
            <p:cNvPr id="11" name="TextBox 11"/>
            <p:cNvSpPr txBox="1"/>
            <p:nvPr/>
          </p:nvSpPr>
          <p:spPr>
            <a:xfrm>
              <a:off x="4457128" y="2101850"/>
              <a:ext cx="3115437"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为什么还要普通法律</a:t>
              </a:r>
            </a:p>
          </p:txBody>
        </p:sp>
        <p:sp>
          <p:nvSpPr>
            <p:cNvPr id="12" name="TextBox 12"/>
            <p:cNvSpPr txBox="1"/>
            <p:nvPr/>
          </p:nvSpPr>
          <p:spPr>
            <a:xfrm>
              <a:off x="4459414" y="2647950"/>
              <a:ext cx="2421636" cy="16108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根本要求需要在具体</a:t>
              </a:r>
              <a:br>
                <a:rPr lang="zh-CN" sz="2100" dirty="0">
                  <a:solidFill>
                    <a:schemeClr val="dk1"/>
                  </a:solidFill>
                  <a:latin typeface="+mn-lt"/>
                  <a:ea typeface="+mn-ea"/>
                  <a:cs typeface="+mn-cs"/>
                </a:rPr>
              </a:br>
              <a:r>
                <a:rPr lang="zh-CN" sz="2100" dirty="0">
                  <a:solidFill>
                    <a:schemeClr val="dk1"/>
                  </a:solidFill>
                  <a:latin typeface="+mn-lt"/>
                  <a:ea typeface="+mn-ea"/>
                  <a:cs typeface="+mn-cs"/>
                </a:rPr>
                <a:t>领域中展开，成为</a:t>
              </a:r>
              <a:br>
                <a:rPr lang="zh-CN" sz="2100" dirty="0">
                  <a:solidFill>
                    <a:schemeClr val="dk1"/>
                  </a:solidFill>
                  <a:latin typeface="+mn-lt"/>
                  <a:ea typeface="+mn-ea"/>
                  <a:cs typeface="+mn-cs"/>
                </a:rPr>
              </a:br>
              <a:r>
                <a:rPr lang="zh-CN" sz="2100" dirty="0">
                  <a:solidFill>
                    <a:schemeClr val="dk1"/>
                  </a:solidFill>
                  <a:latin typeface="+mn-lt"/>
                  <a:ea typeface="+mn-ea"/>
                  <a:cs typeface="+mn-cs"/>
                </a:rPr>
                <a:t>明确的条件、职责</a:t>
              </a:r>
              <a:br>
                <a:rPr lang="zh-CN" sz="2100" dirty="0">
                  <a:solidFill>
                    <a:schemeClr val="dk1"/>
                  </a:solidFill>
                  <a:latin typeface="+mn-lt"/>
                  <a:ea typeface="+mn-ea"/>
                  <a:cs typeface="+mn-cs"/>
                </a:rPr>
              </a:br>
              <a:r>
                <a:rPr lang="zh-CN" sz="2100" dirty="0">
                  <a:solidFill>
                    <a:schemeClr val="dk1"/>
                  </a:solidFill>
                  <a:latin typeface="+mn-lt"/>
                  <a:ea typeface="+mn-ea"/>
                  <a:cs typeface="+mn-cs"/>
                </a:rPr>
                <a:t>与制度安排</a:t>
              </a:r>
            </a:p>
          </p:txBody>
        </p:sp>
        <p:sp>
          <p:nvSpPr>
            <p:cNvPr id="13" name="Line 13"/>
            <p:cNvSpPr/>
            <p:nvPr/>
          </p:nvSpPr>
          <p:spPr>
            <a:xfrm>
              <a:off x="8331518" y="1885950"/>
              <a:ext cx="3250882" cy="9525"/>
            </a:xfrm>
            <a:custGeom>
              <a:avLst/>
              <a:gdLst/>
              <a:ahLst/>
              <a:cxnLst/>
              <a:rect l="l" t="t" r="r" b="b"/>
              <a:pathLst>
                <a:path w="3250882" h="9525">
                  <a:moveTo>
                    <a:pt x="0" y="0"/>
                  </a:moveTo>
                  <a:lnTo>
                    <a:pt x="3250882" y="0"/>
                  </a:lnTo>
                </a:path>
              </a:pathLst>
            </a:custGeom>
            <a:noFill/>
            <a:ln w="9525">
              <a:solidFill>
                <a:srgbClr val="CDC8BE"/>
              </a:solidFill>
            </a:ln>
          </p:spPr>
        </p:sp>
        <p:sp>
          <p:nvSpPr>
            <p:cNvPr id="14" name="TextBox 14"/>
            <p:cNvSpPr txBox="1"/>
            <p:nvPr/>
          </p:nvSpPr>
          <p:spPr>
            <a:xfrm>
              <a:off x="8318564" y="2101850"/>
              <a:ext cx="27721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为什么还要讲实施</a:t>
              </a:r>
            </a:p>
          </p:txBody>
        </p:sp>
        <p:sp>
          <p:nvSpPr>
            <p:cNvPr id="15" name="TextBox 15"/>
            <p:cNvSpPr txBox="1"/>
            <p:nvPr/>
          </p:nvSpPr>
          <p:spPr>
            <a:xfrm>
              <a:off x="8320850" y="2647950"/>
              <a:ext cx="2421636" cy="16108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从一九五四年</a:t>
              </a:r>
              <a:br>
                <a:rPr lang="zh-CN" sz="2100" dirty="0">
                  <a:solidFill>
                    <a:schemeClr val="dk1"/>
                  </a:solidFill>
                  <a:latin typeface="+mn-lt"/>
                  <a:ea typeface="+mn-ea"/>
                  <a:cs typeface="+mn-cs"/>
                </a:rPr>
              </a:br>
              <a:r>
                <a:rPr lang="zh-CN" sz="2100" dirty="0">
                  <a:solidFill>
                    <a:schemeClr val="dk1"/>
                  </a:solidFill>
                  <a:latin typeface="+mn-lt"/>
                  <a:ea typeface="+mn-ea"/>
                  <a:cs typeface="+mn-cs"/>
                </a:rPr>
                <a:t>的表决票，到选民</a:t>
              </a:r>
              <a:br>
                <a:rPr lang="zh-CN" sz="2100" dirty="0">
                  <a:solidFill>
                    <a:schemeClr val="dk1"/>
                  </a:solidFill>
                  <a:latin typeface="+mn-lt"/>
                  <a:ea typeface="+mn-ea"/>
                  <a:cs typeface="+mn-cs"/>
                </a:rPr>
              </a:br>
              <a:r>
                <a:rPr lang="zh-CN" sz="2100" dirty="0">
                  <a:solidFill>
                    <a:schemeClr val="dk1"/>
                  </a:solidFill>
                  <a:latin typeface="+mn-lt"/>
                  <a:ea typeface="+mn-ea"/>
                  <a:cs typeface="+mn-cs"/>
                </a:rPr>
                <a:t>名单里的姓名，</a:t>
              </a:r>
              <a:br>
                <a:rPr lang="zh-CN" sz="2100" dirty="0">
                  <a:solidFill>
                    <a:schemeClr val="dk1"/>
                  </a:solidFill>
                  <a:latin typeface="+mn-lt"/>
                  <a:ea typeface="+mn-ea"/>
                  <a:cs typeface="+mn-cs"/>
                </a:rPr>
              </a:br>
              <a:r>
                <a:rPr lang="zh-CN" sz="2100" dirty="0">
                  <a:solidFill>
                    <a:schemeClr val="dk1"/>
                  </a:solidFill>
                  <a:latin typeface="+mn-lt"/>
                  <a:ea typeface="+mn-ea"/>
                  <a:cs typeface="+mn-cs"/>
                </a:rPr>
                <a:t>再到今天的一项请求</a:t>
              </a:r>
            </a:p>
          </p:txBody>
        </p:sp>
      </p:grpSp>
      <p:grpSp>
        <p:nvGrpSpPr>
          <p:cNvPr id="20" name="next-lecture"/>
          <p:cNvGrpSpPr/>
          <p:nvPr/>
        </p:nvGrpSpPr>
        <p:grpSpPr>
          <a:xfrm>
            <a:off x="596646" y="4972050"/>
            <a:ext cx="10985754" cy="1090168"/>
            <a:chOff x="596646" y="4972050"/>
            <a:chExt cx="10985754" cy="1090168"/>
          </a:xfrm>
        </p:grpSpPr>
        <p:sp>
          <p:nvSpPr>
            <p:cNvPr id="17" name="Line 17"/>
            <p:cNvSpPr/>
            <p:nvPr/>
          </p:nvSpPr>
          <p:spPr>
            <a:xfrm>
              <a:off x="609600" y="497205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18" name="TextBox 18"/>
            <p:cNvSpPr txBox="1"/>
            <p:nvPr/>
          </p:nvSpPr>
          <p:spPr>
            <a:xfrm>
              <a:off x="596646" y="5073650"/>
              <a:ext cx="8607933"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宪法既确定国家的根本安排，也要求它落到人的实际处境</a:t>
              </a:r>
            </a:p>
          </p:txBody>
        </p:sp>
        <p:sp>
          <p:nvSpPr>
            <p:cNvPr id="19" name="TextBox 19"/>
            <p:cNvSpPr txBox="1"/>
            <p:nvPr/>
          </p:nvSpPr>
          <p:spPr>
            <a:xfrm>
              <a:off x="598932" y="5651500"/>
              <a:ext cx="737158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第二讲：沿着历史继续往下看，宪法怎样形成、发展和修改</a:t>
              </a:r>
            </a:p>
          </p:txBody>
        </p:sp>
      </p:grpSp>
      <p:sp>
        <p:nvSpPr>
          <p:cNvPr id="21" name="TextBox 21"/>
          <p:cNvSpPr txBox="1"/>
          <p:nvPr/>
        </p:nvSpPr>
        <p:spPr>
          <a:xfrm>
            <a:off x="604266" y="6502400"/>
            <a:ext cx="3791807"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宪法序言、第5、41、64条；根本法、具体化与实施的回顾。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lecture-01-20261015-student-ready">
  <a:themeElements>
    <a:clrScheme name="lecture-01-20261015-student-ready">
      <a:dk1>
        <a:srgbClr val="242A2C"/>
      </a:dk1>
      <a:lt1>
        <a:srgbClr val="F4F1EA"/>
      </a:lt1>
      <a:dk2>
        <a:srgbClr val="1F497D"/>
      </a:dk2>
      <a:lt2>
        <a:srgbClr val="20292D"/>
      </a:lt2>
      <a:accent1>
        <a:srgbClr val="26373D"/>
      </a:accent1>
      <a:accent2>
        <a:srgbClr val="A54535"/>
      </a:accent2>
      <a:accent3>
        <a:srgbClr val="E7A18D"/>
      </a:accent3>
      <a:accent4>
        <a:srgbClr val="26373D"/>
      </a:accent4>
      <a:accent5>
        <a:srgbClr val="677276"/>
      </a:accent5>
      <a:accent6>
        <a:srgbClr val="5A6468"/>
      </a:accent6>
      <a:hlink>
        <a:srgbClr val="A54535"/>
      </a:hlink>
      <a:folHlink>
        <a:srgbClr val="E7A18D"/>
      </a:folHlink>
    </a:clrScheme>
    <a:fontScheme name="lecture-01-20261015-student-ready">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ecture-01-20261015-student-read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lecture-01-20261015-student-ready">
  <a:themeElements>
    <a:clrScheme name="lecture-01-20261015-student-ready">
      <a:dk1>
        <a:srgbClr val="242A2C"/>
      </a:dk1>
      <a:lt1>
        <a:srgbClr val="F4F1EA"/>
      </a:lt1>
      <a:dk2>
        <a:srgbClr val="1F497D"/>
      </a:dk2>
      <a:lt2>
        <a:srgbClr val="20292D"/>
      </a:lt2>
      <a:accent1>
        <a:srgbClr val="26373D"/>
      </a:accent1>
      <a:accent2>
        <a:srgbClr val="A54535"/>
      </a:accent2>
      <a:accent3>
        <a:srgbClr val="E7A18D"/>
      </a:accent3>
      <a:accent4>
        <a:srgbClr val="26373D"/>
      </a:accent4>
      <a:accent5>
        <a:srgbClr val="677276"/>
      </a:accent5>
      <a:accent6>
        <a:srgbClr val="5A6468"/>
      </a:accent6>
      <a:hlink>
        <a:srgbClr val="A54535"/>
      </a:hlink>
      <a:folHlink>
        <a:srgbClr val="E7A18D"/>
      </a:folHlink>
    </a:clrScheme>
    <a:fontScheme name="lecture-01-20261015-student-ready">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ecture-01-20261015-student-read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36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2026-10-15T13:31:30Z</dcterms:created>
  <dcterms:modified xsi:type="dcterms:W3CDTF">2026-10-15T13:31:30Z</dcterms:modified>
  <cp:category/>
  <cp:contentStatus/>
</cp:coreProperties>
</file>