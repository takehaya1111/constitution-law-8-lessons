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4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  <Relationship Id="rId4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第二讲《宪法的发展》逐字稿</a:t>
            </a:r>
          </a:p>
          <a:p>
            <a:pPr/>
            <a:endParaRPr lang="zh-CN" dirty="0"/>
          </a:p>
          <a:p>
            <a:pPr/>
            <a:r>
              <a:rPr lang="zh-CN" dirty="0"/>
              <a:t>上节｜宪法的形成与完整文本的变化</a:t>
            </a:r>
          </a:p>
          <a:p>
            <a:pPr/>
            <a:endParaRPr lang="zh-CN" dirty="0"/>
          </a:p>
          <a:p>
            <a:pPr/>
            <a:r>
              <a:rPr lang="zh-CN" dirty="0"/>
              <a:t>一、为什么今天还称它为1982年宪法</a:t>
            </a:r>
          </a:p>
          <a:p>
            <a:pPr/>
            <a:endParaRPr lang="zh-CN" dirty="0"/>
          </a:p>
          <a:p>
            <a:pPr/>
            <a:r>
              <a:rPr lang="zh-CN" dirty="0"/>
              <a:t>上一讲，我们从国家的根本制度讲到一个人怎样提出赔偿请求，看到宪法与普通法律怎样发生联系。这一讲，我们接着问：这些根本规则是怎样形成的？后来遇到新问题，又怎样改变？</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先看宪法正文前面的题注。开头记着1982年12月4日通过并公布施行，后面又列出1988、1993、1999、2004、2018五次修正。最早的年份和后来的年份，全在这里。</a:t>
            </a:r>
          </a:p>
          <a:p>
            <a:pPr/>
            <a:endParaRPr lang="zh-CN" dirty="0"/>
          </a:p>
          <a:p>
            <a:pPr/>
            <a:r>
              <a:rPr lang="zh-CN" dirty="0"/>
              <a:t>一本今天使用的宪法，为什么还叫1982年宪法？既然还是这部宪法，难道内容一直没变？可是，后面明明列着五次修改。反过来，既然修改过五次，为什么又不说先后换了五部宪法？</a:t>
            </a:r>
          </a:p>
          <a:p>
            <a:pPr/>
            <a:endParaRPr lang="zh-CN" dirty="0"/>
          </a:p>
          <a:p>
            <a:pPr/>
            <a:r>
              <a:rPr lang="zh-CN" dirty="0"/>
              <a:t>我们先把这个疑问留住。等会儿，我们会比较不同文本怎样规定人身自由保障；也会看到，城市土地仍然属于国家，一项使用土地的权利却有了新的安排。最后再回到这些年份，看看它们各自记下了什么。</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二、根本规则从现实问题中产生</a:t>
            </a:r>
          </a:p>
          <a:p>
            <a:pPr/>
            <a:endParaRPr lang="zh-CN" dirty="0"/>
          </a:p>
          <a:p>
            <a:pPr/>
            <a:r>
              <a:rPr lang="zh-CN" dirty="0"/>
              <a:t>宪法不是某个人在书房里想出一套好制度，世界就照着运行了。教材把近代宪法的产生放在经济、政治、思想和法律发展的变化中理解。新的经济活动要求打破身份和地方特权，新的政治力量要求参与国家决定，平等、自由、主权等主张也需要有制度上的表达。法律逐渐分成不同部门，又需要更高层次的规则把它们联系起来。原来由谁统治、怎样统治的问题，开始需要不同的根本安排来回答。</a:t>
            </a:r>
          </a:p>
          <a:p>
            <a:pPr/>
            <a:endParaRPr lang="zh-CN" dirty="0"/>
          </a:p>
          <a:p>
            <a:pPr/>
            <a:r>
              <a:rPr lang="zh-CN" dirty="0"/>
              <a:t>不过，各国遇到的实际困难并不相同。我们先看英国、美国和法国，分别遇到了什么问题。</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英国。1688至1689年，王位与议会发生的政治变动，留下了一份我们今天仍会读到的文件——《权利法案》。它处理王位安排，也确认对王权的限制与议会的权利。比如，未经议会同意，国王不能任意停止法律的效力。法律规定了什么，不能由国王一句“这次不用了”就搁在一边。</a:t>
            </a:r>
          </a:p>
          <a:p>
            <a:pPr/>
            <a:endParaRPr lang="zh-CN" dirty="0"/>
          </a:p>
          <a:p>
            <a:pPr/>
            <a:r>
              <a:rPr lang="zh-CN" dirty="0"/>
              <a:t>再往前想一点：如果制定了法律，掌权者却能随时决定自己不受它约束，那么写下规则，同真正限制权力之间，还隔着很远。这份文件的重要之处，就在于把王权也放进法律约束之中。它没有在当时建立今天意义上的全民民主，所回应的仍是那个时代具体的权力冲突。</a:t>
            </a:r>
          </a:p>
          <a:p>
            <a:pPr/>
            <a:endParaRPr lang="zh-CN" dirty="0"/>
          </a:p>
          <a:p>
            <a:pPr/>
            <a:r>
              <a:rPr lang="zh-CN" dirty="0"/>
              <a:t>英国后来没有把全部宪法规则集中写成一部统一法典，法律、判例和惯例等共同发挥作用。所以“不成文宪法”这个词，容易让初学者望文生义。不是没有写下来的规则，而是没有把全部根本规则编成同一部宪法法典。《权利法案》本身就是有文字的。记住这个区别，比只背“不成文”三个字有用。</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美国。独立以后，各州已经摆脱英国统治，但怎样一起处理共同事务，成了新的困难。原来的邦联组织可以作决定、向各州要求提供经费，却缺少有效执行共同决定的能力。州之间又会在税收、贸易等问题上发生争执。各州都保留自己的决定空间，放到共同事务上，就可能出现作了决定却难以落实的问题。</a:t>
            </a:r>
          </a:p>
          <a:p>
            <a:pPr/>
            <a:endParaRPr lang="zh-CN" dirty="0"/>
          </a:p>
          <a:p>
            <a:pPr/>
            <a:r>
              <a:rPr lang="zh-CN" dirty="0"/>
              <a:t>1787年，各州代表来到费城，原本是为了修改《邦联条例》，后来却形成了重新组织国家权力的宪法方案。这里的难题，与英国那条线有所不同：不仅要约束已有的权力，还要把分散的力量组织起来，使共同事务有人能够依法处理。</a:t>
            </a:r>
          </a:p>
          <a:p>
            <a:pPr/>
            <a:endParaRPr lang="zh-CN" dirty="0"/>
          </a:p>
          <a:p>
            <a:pPr/>
            <a:r>
              <a:rPr lang="zh-CN" dirty="0"/>
              <a:t>可是，新的国家权力建立起来，怎样防止它侵害个人？这又引出了权利保障的争论。1787年的宪法没有后来那样集中列出的权利法案。1789年提出十二项修正建议，其中十项在1791年得到批准，成为前十条修正案。制度形成了，还要继续补充；国家有了办事能力，也还要回答这份能力受什么约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法国面对的，又有自己的处境。1789年法国大革命冲击旧制度的等级与特权，制宪会议准备为国家制定新的宪法，并先写出一份权利宣言。哪些权利应当得到保障，国家权力怎样安排，成为改造旧制度时必须正面回答的问题。《人权和公民权宣言》第十六条，对这一要求说得很集中。按中文译意，一个社会如果没有保障权利，也没有确定权力的分立，就没有宪法。它表达的是当时对国家根本安排的要求。1791年法国宪法随后采用君主立宪的方式安排国家权力，保留君主，同时以宪法规定相应权限。我们读这一主张，要看到人们希望确立什么，也要知道，提出要求还需要制度和实践去实现。</a:t>
            </a:r>
          </a:p>
          <a:p>
            <a:pPr/>
            <a:endParaRPr lang="zh-CN" dirty="0"/>
          </a:p>
          <a:p>
            <a:pPr/>
            <a:r>
              <a:rPr lang="zh-CN" dirty="0"/>
              <a:t>英国的王权与议会，美国各州与联邦的组织，法国宣言中的权利与权力安排，给出的具体答案不同，却使我们看清了宪法需要面对的问题。后来社会主义国家以及民族解放后建立的国家，又在不同社会条件下制定宪法。</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社会主义宪法的产生，同革命以后怎样建立和巩固新政权相联系。1918年《苏俄宪法》把劳动人民的政治地位和新的政权组织写入根本法。此后，社会主义宪法的发展逐渐形成相互联系的安排：工人阶级和广大劳动人民在国家中的地位得到确认，由人民通过代表机关行使国家权力；把生产资料公有制作为经济制度的基础；既规定政治权利，也重视经济、社会和文化权利的实现。</a:t>
            </a:r>
          </a:p>
          <a:p>
            <a:pPr/>
            <a:endParaRPr lang="zh-CN" dirty="0"/>
          </a:p>
          <a:p>
            <a:pPr/>
            <a:r>
              <a:rPr lang="zh-CN" dirty="0"/>
              <a:t>为什么把这些问题放在一起？国家由谁掌握、经济资源怎样组织、普通人有没有行使权利的条件，本来就相互影响。教材因此将政权建设、经济基础和权利保障联系起来说明。具体制度后面还会展开，这里先看到，宪法要确立的国家和社会关系也有不同。写下这些安排以后，仍有组织工作和保障权利的实际任务，不能只凭文本就判断已经全部实现。宪法的发展，也就不能只理解为一种文本样式不断被复制。</a:t>
            </a:r>
          </a:p>
          <a:p>
            <a:pPr/>
            <a:endParaRPr lang="zh-CN" dirty="0"/>
          </a:p>
          <a:p>
            <a:pPr/>
            <a:r>
              <a:rPr lang="zh-CN" dirty="0"/>
              <a:t>由此看“限制权力”，就不能只理解成国家少做事。共同决定缺少执行能力，权利保障也可能停留在纸面；有了办事能力，又要防止它变成没有边界的权力。组织权力和约束权力，需要一起考虑。我们接下来回到中国，也带着这两个问题看：当时准备由谁组织国家，又怎样规定权力的行使。</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三、从君上大权到国民主权</a:t>
            </a:r>
          </a:p>
          <a:p>
            <a:pPr/>
            <a:endParaRPr lang="zh-CN" dirty="0"/>
          </a:p>
          <a:p>
            <a:pPr/>
            <a:r>
              <a:rPr lang="zh-CN" dirty="0"/>
              <a:t>晚清面临严重的内外危机，立宪成为当时回应国家问题的一种方案。1908年出现的文件，名叫《钦定宪法大纲》。“钦定”这个名字就提示我们，它仍从皇帝的地位出发：主要部分叫“君上大权”，另外附着“臣民权利义务”。读一份文件，标题可以提供线索，里面怎样分配权力，才把这种安排真正说清。</a:t>
            </a:r>
          </a:p>
          <a:p>
            <a:pPr/>
            <a:endParaRPr lang="zh-CN" dirty="0"/>
          </a:p>
          <a:p>
            <a:pPr/>
            <a:r>
              <a:rPr lang="zh-CN" dirty="0"/>
              <a:t>辛亥革命推翻帝制以后，1912年《中华民国临时约法》提出了不同的国家权力根据。第二条写的是：“中华民国之主权属于国民全体。”这里讨论的是国家最高权力的归属。与前面的君上大权相比，国家权力不再以皇帝为中心来说明，而以国民全体为根据。</a:t>
            </a:r>
          </a:p>
          <a:p>
            <a:pPr/>
            <a:endParaRPr lang="zh-CN" dirty="0"/>
          </a:p>
          <a:p>
            <a:pPr/>
            <a:r>
              <a:rPr lang="zh-CN" dirty="0"/>
              <a:t>但是，国民全体不可能每天围坐在一起处理全部国家事务。主权属于谁之后，还得回答：哪些机关代表国家作决定，怎样作决定？</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着读约法第十六条，立法权由参议院行使。再看第四十五条，临时大总统提出法律案、公布法律以及发布命令时，国务员须副署。国务员是当时国务总理和各部总长的统称。“副署”，在这里先理解为相应国务员也要在这些行为的文书上签署。</a:t>
            </a:r>
          </a:p>
          <a:p>
            <a:pPr/>
            <a:endParaRPr lang="zh-CN" dirty="0"/>
          </a:p>
          <a:p>
            <a:pPr/>
            <a:r>
              <a:rPr lang="zh-CN" dirty="0"/>
              <a:t>这就使总统的有关行为，不再只是他一个人的签字问题。还有谁必须参与，由哪些人承担相应职责，已经进入制度安排。至于这些规则实际怎样运行，需要进一步读当时的组织和政治实践；我们先从原文看清这层分工。</a:t>
            </a:r>
          </a:p>
          <a:p>
            <a:pPr/>
            <a:endParaRPr lang="zh-CN" dirty="0"/>
          </a:p>
          <a:p>
            <a:pPr/>
            <a:r>
              <a:rPr lang="zh-CN" dirty="0"/>
              <a:t>所以，1908到1912的变化，不只在国号。主权归属、立法权和总统有关行为的程序关系，都出现了可指认的区别。今天即便不记住这几个条号，也应当能说清：一句“主权在民”之后，还需要具体的权力组织，才能进一步讨论怎样实现。</a:t>
            </a:r>
          </a:p>
          <a:p>
            <a:pPr/>
            <a:endParaRPr lang="zh-CN" dirty="0"/>
          </a:p>
          <a:p>
            <a:pPr/>
            <a:r>
              <a:rPr lang="zh-CN" dirty="0"/>
              <a:t>当然，后来政治道路的曲折，并不会使我们眼前的文本差异消失。反过来，文本写了权利，也不等于当时所有人的权利都已充分实现。规则准备怎样安排，现实究竟怎样运行，是相互联系、又需要分别研究的两个问题。</a:t>
            </a:r>
          </a:p>
          <a:p>
            <a:pPr/>
            <a:endParaRPr lang="zh-CN" dirty="0"/>
          </a:p>
          <a:p>
            <a:pPr/>
            <a:r>
              <a:rPr lang="zh-CN" dirty="0"/>
              <a:t>此后，北洋时期先后出现约法、宪法和宪法草案；国民政府时期又有训政约法，以及1946年通过、1947年施行的宪法。这些方案各有当时的政治条件，不能只凭名称相近就混为一谈。尤其有些文本还是草案，草案写出来了，和已经正式通过、实施，是不同状态。</a:t>
            </a:r>
          </a:p>
          <a:p>
            <a:pPr/>
            <a:endParaRPr lang="zh-CN" dirty="0"/>
          </a:p>
          <a:p>
            <a:pPr/>
            <a:r>
              <a:rPr lang="zh-CN" dirty="0"/>
              <a:t>同时，中国共产党领导的革命根据地也在形成自己的宪法性文件。讲到这里，我们要从全国政权的沿革，转向根据地的探索。这些文件适用的地域范围不同，所要完成的政治任务、由谁掌握权力、怎样组织政权，也都有自己的具体条件。把两条探索放回当时的条件，我们才能理解新中国宪法有哪些历史来处，而不是把它讲成从外国书本中直接搬来的一套规定。</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四、根据地的探索与新中国的完整文本</a:t>
            </a:r>
          </a:p>
          <a:p>
            <a:pPr/>
            <a:endParaRPr lang="zh-CN" dirty="0"/>
          </a:p>
          <a:p>
            <a:pPr/>
            <a:r>
              <a:rPr lang="zh-CN" dirty="0"/>
              <a:t>根据地这条线，也要放回不同阶段。1931年，江西瑞金召开的全国苏维埃代表大会通过《中华苏维埃共和国宪法大纲》，后来又作修改。到全面抗战时期，怎样把不同阶层、不同政治背景的人团结起来共同抗日，成为政权建设必须回答的问题。1941年的《陕甘宁边区施政纲领》，就规定了“三三制”的组织原则。</a:t>
            </a:r>
          </a:p>
          <a:p>
            <a:pPr/>
            <a:endParaRPr lang="zh-CN" dirty="0"/>
          </a:p>
          <a:p>
            <a:pPr/>
            <a:r>
              <a:rPr lang="zh-CN" dirty="0"/>
              <a:t>三三制大体按共产党员、党外左派进步人士和中间人士各占三分之一来安排人员。这个比例怎样落实？1941年11月，陕甘宁边区选出十八名政府委员，其中七名是共产党员，超过了三分之一。共产党员徐特立申请退出，经大会通过，由党外人士白文焕递补。</a:t>
            </a:r>
          </a:p>
          <a:p>
            <a:pPr/>
            <a:endParaRPr lang="zh-CN" dirty="0"/>
          </a:p>
          <a:p>
            <a:pPr/>
            <a:r>
              <a:rPr lang="zh-CN" dirty="0"/>
              <a:t>十八个人里面，六个才是三分之一。其中一位委员既然已经当选，为什么还要退出？因为事先确定的合作原则，要落实到实际组成，不能等结果出来以后再迁就结果。这里是在抗日民族统一战线的背景下，让不同方面的人共同参与政权。理解这段历史，要看它当时准备团结哪些力量、按什么办法合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同一时期，党外人士李鼎铭被选为边区政府副主席，当时根据地处境困难，有限的经济力量要同时负担军队和政府运转。他同其他参议员提出精兵简政的建议：在不削弱抗战力量的前提下，精简臃肿的机构和冗余人员，提高办事效能，减少负担。这项建议后来得到采纳。让党外人士参与，不只是安排一个名额，也给他们提出、推动具体建议提供了途径。三三制因此不只是一个需要背下来的比例，也涉及怎样同党外人士共同办事。</a:t>
            </a:r>
          </a:p>
          <a:p>
            <a:pPr/>
            <a:endParaRPr lang="zh-CN" dirty="0"/>
          </a:p>
          <a:p>
            <a:pPr/>
            <a:r>
              <a:rPr lang="zh-CN" dirty="0"/>
              <a:t>再往后，到1946年的《陕甘宁边区宪法原则》，规定了人民选举代表、代表会议选举政府人员的组织办法。这些文件记录了根据地在不同时期建立政权、组织人民参与的探索。1931、1941、1946，不是同一套制度不变地换了三次名称，也不是先后在全国统一施行的三部宪法。它们提供了后来制度形成的历史经验，具体形式仍要放回当时的地域和任务中理解。</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到1949年，《共同纲领》发挥临时宪法作用。上一讲已经读过其中关于全国人大召开前后的过渡安排，这里只把它放回时间线上。1954年9月20日，一届全国人大一次会议通过新中国第一部宪法。这个起点同时承接既有经验，并为当时的国家制度作出系统规定。</a:t>
            </a:r>
          </a:p>
          <a:p>
            <a:pPr/>
            <a:endParaRPr lang="zh-CN" dirty="0"/>
          </a:p>
          <a:p>
            <a:pPr/>
            <a:r>
              <a:rPr lang="zh-CN" dirty="0"/>
              <a:t>然后是1975、1978和1982三份完整文本。1975年宪法处于“文化大革命”时期；1978年宪法在这一历史阶段结束以后制定，其中既有恢复制度的内容，也保留了此前的一些表述。1982年宪法进一步总结历史经验，回应国家转入新的发展阶段所需的根本安排。不能把这些年份画成一条只会自动向前的直线。</a:t>
            </a:r>
          </a:p>
          <a:p>
            <a:pPr/>
            <a:endParaRPr lang="zh-CN" dirty="0"/>
          </a:p>
          <a:p>
            <a:pPr/>
            <a:r>
              <a:rPr lang="zh-CN" dirty="0"/>
              <a:t>教材一方面说新中国先后颁布四部宪法，另一方面又把1975、1978、1982的变化称作全面修改。这两种说法回答的是不同问题。说“四部宪法”，是在数先后颁布了几份完整文本；说“全面修改”，是在说明后一份文本怎样从前一份修改而来。比如，1982年宪法是对1978年宪法作全面修改后形成的。它承接此前的历史经验，但不能把这次修改想成仍在1954年的原文上添几句话。</a:t>
            </a:r>
          </a:p>
          <a:p>
            <a:pPr/>
            <a:endParaRPr lang="zh-CN" dirty="0"/>
          </a:p>
          <a:p>
            <a:pPr/>
            <a:r>
              <a:rPr lang="zh-CN" dirty="0"/>
              <a:t>知道这几份完整文本的位置之后，我们把目光停在1982年。它从前面的经验中承接了什么，又准备怎样改变？先看看起草和讨论中实际发生的事情。</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五、意见怎样进入1982年宪法</a:t>
            </a:r>
          </a:p>
          <a:p>
            <a:pPr/>
            <a:endParaRPr lang="zh-CN" dirty="0"/>
          </a:p>
          <a:p>
            <a:pPr/>
            <a:r>
              <a:rPr lang="zh-CN" dirty="0"/>
              <a:t>1980年，五届全国人大三次会议作出修改宪法、成立宪法修改委员会的决定。此后经过研究、起草和征求意见，1982年公布修改草案，交付全国讨论，再作修改，提交全国人大审议。11月26日，彭真向大会作宪法修改草案报告；12月4日，五届全国人大五次会议通过并公布施行宪法。</a:t>
            </a:r>
          </a:p>
          <a:p>
            <a:pPr/>
            <a:endParaRPr lang="zh-CN" dirty="0"/>
          </a:p>
          <a:p>
            <a:pPr/>
            <a:r>
              <a:rPr lang="zh-CN" dirty="0"/>
              <a:t>这里的修改有一个已有的依据。1978年宪法已经把修改宪法列为全国人大的职权；全国人大据此决定修改当时的宪法，并成立专门委员会开展工作。制定宪法是在创制国家根本规范，修改则是在已有宪法的基础上，依照相应权限和程序调整它。后来重新公布了完整文本，也不能只因改动很大，就忽略它实际经过的修改程序。</a:t>
            </a:r>
          </a:p>
          <a:p>
            <a:pPr/>
            <a:endParaRPr lang="zh-CN" dirty="0"/>
          </a:p>
          <a:p>
            <a:pPr/>
            <a:r>
              <a:rPr lang="zh-CN" dirty="0"/>
              <a:t>这段过程，最容易讲成“广泛讨论，认真修改，最后通过”。但究竟讨论了什么？我们看一项留下了明确记录的意见。</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国人大每年举行会议，全国人大常委会作为常设机关，需要在大会闭会时继续处理有关国家事务。当时草案准备扩大常委会职权，允许它在全国人大闭会期间，对全国人大制定的法律作部分补充和修改。这样安排，能够使工作及时进行。问题也跟着来了：如果常设机关可以改大会制定的法律，怎样保证全国人大作为最高国家权力机关的地位？</a:t>
            </a:r>
          </a:p>
          <a:p>
            <a:pPr/>
            <a:endParaRPr lang="zh-CN" dirty="0"/>
          </a:p>
          <a:p>
            <a:pPr/>
            <a:r>
              <a:rPr lang="zh-CN" dirty="0"/>
              <a:t>彭真在报告中说，全民讨论中有人提出了这一意见。修改后的文字，一方面保留部分补充和修改的权限，另一方面加上限制：不得同这部法律的基本原则相抵触。全国人大的职权中，还增加了改变或者撤销常委会不适当决定的规定。</a:t>
            </a:r>
          </a:p>
          <a:p>
            <a:pPr/>
            <a:endParaRPr lang="zh-CN" dirty="0"/>
          </a:p>
          <a:p>
            <a:pPr/>
            <a:r>
              <a:rPr lang="zh-CN" dirty="0"/>
              <a:t>大家看，回答这个问题，不是简单地把权力全给出去，或者全收回来。要让常设机关能够工作，又要规定它能改到哪里，并由全国人大保留纠正不适当决定的权力。最后写进宪法的，是这些具体关系。讨论的价值，也可以从究竟改了哪些文字、怎样回应问题中看出来。</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除了机关安排，普通生活中的意见也会进入讨论。参加当年起草工作的法学家廉希圣，后来回忆过一封来自内蒙古的信。信中的意见是：不能只规定土地归谁所有，土地资源很珍贵，还要规定不能滥用。廉希圣回忆，这项意见经过上报、审议，体现在土地条款的最后一款。</a:t>
            </a:r>
          </a:p>
          <a:p>
            <a:pPr/>
            <a:endParaRPr lang="zh-CN" dirty="0"/>
          </a:p>
          <a:p>
            <a:pPr/>
            <a:r>
              <a:rPr lang="zh-CN" dirty="0"/>
              <a:t>正式通过的第十条最后一款，确实写着：“一切使用土地的组织和个人必须合理地利用土地。”这句话把问题又向前推了一步：弄清土地属于谁，还没有回答土地应该怎样使用。国家所有、集体所有，并不意味着取得使用资格的人就可以任意浪费。这一点先记住，下半堂再回到同一条，我们还会看到另一项与“使用”有关的修改。</a:t>
            </a:r>
          </a:p>
          <a:p>
            <a:pPr/>
            <a:endParaRPr lang="zh-CN" dirty="0"/>
          </a:p>
          <a:p>
            <a:pPr/>
            <a:r>
              <a:rPr lang="zh-CN" dirty="0"/>
              <a:t>1982年的全面修改，当然远不止这两个意见。国家已经转向社会主义现代化建设，需要组织力量，也需要恢复和发展民主法制。原文序言写明，今后国家的根本任务是集中力量进行社会主义现代化建设；第五条同时要求，一切国家机关、各政党和各种组织都要遵守宪法法律，任何组织或者个人都不得有超越宪法和法律的特权。</a:t>
            </a:r>
          </a:p>
          <a:p>
            <a:pPr/>
            <a:endParaRPr lang="zh-CN" dirty="0"/>
          </a:p>
          <a:p>
            <a:pPr/>
            <a:r>
              <a:rPr lang="zh-CN" dirty="0"/>
              <a:t>建设任务重要，就更需要知道谁能决定、谁应执行、怎样负责。任务本身不能代替权限和程序。刚才常委会职权的例子，已经把“能够办事”和“受到约束”放在一起。接下来，我们把目光转到公安、检察院和法院，看看这种安排怎样同一个人的自由联系起来。</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六、人身自由与办案机关的分工</a:t>
            </a:r>
          </a:p>
          <a:p>
            <a:pPr/>
            <a:endParaRPr lang="zh-CN" dirty="0"/>
          </a:p>
          <a:p>
            <a:pPr/>
            <a:r>
              <a:rPr lang="zh-CN" dirty="0"/>
              <a:t>我们先读一份1978年6月1日的通知。发通知的是最高人民检察院，内容很短：从这一天开始办公，并且“启用原有印章”。通知还列出了办公地址和值班电话。</a:t>
            </a:r>
          </a:p>
          <a:p>
            <a:pPr/>
            <a:endParaRPr lang="zh-CN" dirty="0"/>
          </a:p>
          <a:p>
            <a:pPr/>
            <a:r>
              <a:rPr lang="zh-CN" dirty="0"/>
              <a:t>为什么是启用“原有”的印章？因为这是一个恢复工作的机关。1954年宪法已经规定，公民非经人民法院决定或者人民检察院批准，不受逮捕。后来，检察机关经历了被撤销、又重新恢复的过程。我们把三版文字放在一起，就能看到，这次变化同一个人的自由有什么关系。</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1975年宪法第二十五条规定：“检察机关的职权由各级公安机关行使。”第二十八条有关人身自由的原文是：</a:t>
            </a:r>
          </a:p>
          <a:p>
            <a:pPr/>
            <a:endParaRPr lang="zh-CN" dirty="0"/>
          </a:p>
          <a:p>
            <a:pPr/>
            <a:r>
              <a:rPr lang="zh-CN" dirty="0"/>
              <a:t>“公民的人身自由和住宅不受侵犯。任何公民，非经人民法院决定或者公安机关批准，不受逮捕。”</a:t>
            </a:r>
          </a:p>
          <a:p>
            <a:pPr/>
            <a:endParaRPr lang="zh-CN" dirty="0"/>
          </a:p>
          <a:p>
            <a:pPr/>
            <a:r>
              <a:rPr lang="zh-CN" dirty="0"/>
              <a:t>到了1978年，宪法第四十三条重新规定人民检察院行使检察权。第四十七条的原文是：</a:t>
            </a:r>
          </a:p>
          <a:p>
            <a:pPr/>
            <a:endParaRPr lang="zh-CN" dirty="0"/>
          </a:p>
          <a:p>
            <a:pPr/>
            <a:r>
              <a:rPr lang="zh-CN" dirty="0"/>
              <a:t>“公民的人身自由和住宅不受侵犯。任何公民，非经人民法院决定或者人民检察院批准并由公安机关执行，不受逮捕。”</a:t>
            </a:r>
          </a:p>
          <a:p>
            <a:pPr/>
            <a:endParaRPr lang="zh-CN" dirty="0"/>
          </a:p>
          <a:p>
            <a:pPr/>
            <a:r>
              <a:rPr lang="zh-CN" dirty="0"/>
              <a:t>我们读的是1978年3月公布本，后来还有局部修改。开头那份6月开始办公的通知，就在恢复检察机关的这一年。1982年宪法第三十七条的原文是：</a:t>
            </a:r>
          </a:p>
          <a:p>
            <a:pPr/>
            <a:endParaRPr lang="zh-CN" dirty="0"/>
          </a:p>
          <a:p>
            <a:pPr/>
            <a:r>
              <a:rPr lang="zh-CN" dirty="0"/>
              <a:t>“中华人民共和国公民的人身自由不受侵犯。</a:t>
            </a:r>
          </a:p>
          <a:p>
            <a:pPr/>
            <a:endParaRPr lang="zh-CN" dirty="0"/>
          </a:p>
          <a:p>
            <a:pPr/>
            <a:r>
              <a:rPr lang="zh-CN" dirty="0"/>
              <a:t>任何公民，非经人民检察院批准或者决定或者人民法院决定，并由公安机关执行，不受逮捕。</a:t>
            </a:r>
          </a:p>
          <a:p>
            <a:pPr/>
            <a:endParaRPr lang="zh-CN" dirty="0"/>
          </a:p>
          <a:p>
            <a:pPr/>
            <a:r>
              <a:rPr lang="zh-CN" dirty="0"/>
              <a:t>禁止非法拘禁和以其他方法非法剥夺或者限制公民的人身自由，禁止非法搜查公民的身体。”</a:t>
            </a:r>
          </a:p>
          <a:p>
            <a:pPr/>
            <a:endParaRPr lang="zh-CN" dirty="0"/>
          </a:p>
          <a:p>
            <a:pPr/>
            <a:r>
              <a:rPr lang="zh-CN" dirty="0"/>
              <a:t>现在请把三组原文连起来读。它们都在保护人身自由，具体安排却发生了哪些变化？请从谁作出判断、谁执行、禁止哪些行为来解释，也找出1982年哪些内容已经在1978年出现。</a:t>
            </a:r>
          </a:p>
          <a:p>
            <a:pPr/>
            <a:endParaRPr lang="zh-CN" dirty="0"/>
          </a:p>
          <a:p>
            <a:pPr/>
            <a:r>
              <a:rPr lang="zh-CN" dirty="0"/>
              <a:t>【独立阅读与思考约三分钟。教师暂停讲述。】</a:t>
            </a:r>
          </a:p>
          <a:p>
            <a:pPr/>
            <a:endParaRPr lang="zh-CN" dirty="0"/>
          </a:p>
          <a:p>
            <a:pPr/>
            <a:r>
              <a:rPr lang="zh-CN" dirty="0"/>
              <a:t>先看前两版。开头“公民的人身自由和住宅不受侵犯”这句话完全相同，批准逮捕的机关却变了：1975年写公安机关，1978年重新写人民检察院，并明确由公安机关执行。恢复这一步，不能全算到1982年。</a:t>
            </a:r>
          </a:p>
          <a:p>
            <a:pPr/>
            <a:endParaRPr lang="zh-CN" dirty="0"/>
          </a:p>
          <a:p>
            <a:pPr/>
            <a:r>
              <a:rPr lang="zh-CN" dirty="0"/>
              <a:t>1982年承接了这个安排，又把检察院批准或者决定、法院决定，以及公安执行写得更明确，并列出其他侵害自由的禁止性规定。同样一句自由宣告，后面由谁作判断、以什么方式约束权力，仍可以有很大区别。</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读清那两个“或者”：逮捕的批准权在检察院——它可以批准，也可以自己决定；法院也能作出决定；而真正去执行的，统一是公安机关。这里列的是依法逮捕的不同路径，不是先让检察院批准，再让检察院决定，最后还请法院同意。公安负责执行，也不等于逮捕都由公安自行决定。</a:t>
            </a:r>
          </a:p>
          <a:p>
            <a:pPr/>
            <a:endParaRPr lang="zh-CN" dirty="0"/>
          </a:p>
          <a:p>
            <a:pPr/>
            <a:r>
              <a:rPr lang="zh-CN" dirty="0"/>
              <a:t>再看1982年新写出的检察院“决定”逮捕。1979年刑事诉讼法已经提到，法院、检察院对“各自决定逮捕的人”应当依法讯问。这说明相应安排此前已经存在，不能因为几个字是1982年写进宪法的，就说制度也是那一年才有的。明确写入宪法，仍有它的意义：人身自由条款把这项权限一并规定下来，同公安执行的职责连在一起。</a:t>
            </a:r>
          </a:p>
          <a:p>
            <a:pPr/>
            <a:endParaRPr lang="zh-CN" dirty="0"/>
          </a:p>
          <a:p>
            <a:pPr/>
            <a:r>
              <a:rPr lang="zh-CN" dirty="0"/>
              <a:t>这组规定放在哪一章？放在“公民的基本权利和义务”一章。里面虽然出现了公安、检察院、法院，却是在规定国家怎样依法限制一个人的自由。机关的权限和办理方式，本身就是这里保障权利的办法。</a:t>
            </a:r>
          </a:p>
          <a:p>
            <a:pPr/>
            <a:endParaRPr lang="zh-CN" dirty="0"/>
          </a:p>
          <a:p>
            <a:pPr/>
            <a:r>
              <a:rPr lang="zh-CN" dirty="0"/>
              <a:t>这里的“任何公民”，也包括已经被怀疑犯罪的人。否则，只要先说一句“我怀疑你”，就可以把人排除在保障之外，条文恰恰失去了最需要发挥作用的地方。允许依法逮捕，同时要求它具备法律依据、经过法定判断和执行，这两件事并不矛盾。</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可是，重新设立检察机关，把逮捕请求交给它审查，会不会被认为是在增加麻烦？1978年发表的一篇文章，就反思过把依法审查看成妨碍工作的看法。</a:t>
            </a:r>
          </a:p>
          <a:p>
            <a:pPr/>
            <a:endParaRPr lang="zh-CN" dirty="0"/>
          </a:p>
          <a:p>
            <a:pPr/>
            <a:r>
              <a:rPr lang="zh-CN" dirty="0"/>
              <a:t>有位检察工作者叫王桂五。他参与过1954年《人民检察院组织法》的起草，后来受到错误批判和处分，“文化大革命”期间又遭受迫害。检察机关恢复以后，他回到最高检工作。1978年11月，他在《人民日报》发表《政法战线也要冲破禁区》。</a:t>
            </a:r>
          </a:p>
          <a:p>
            <a:pPr/>
            <a:endParaRPr lang="zh-CN" dirty="0"/>
          </a:p>
          <a:p>
            <a:pPr/>
            <a:r>
              <a:rPr lang="zh-CN" dirty="0"/>
              <a:t>他在文章中批评，过去有人把批捕、起诉工作指责为“找岔子”“束缚专政手脚”。这两个说法，把依法审查看成了妨碍工作。也就带出一个实际问题：如果要求另一机关认真审查，却又把不同意见都看成碍事，那么它还能作出自己的判断吗？</a:t>
            </a:r>
          </a:p>
          <a:p>
            <a:pPr/>
            <a:endParaRPr lang="zh-CN" dirty="0"/>
          </a:p>
          <a:p>
            <a:pPr/>
            <a:r>
              <a:rPr lang="zh-CN" dirty="0"/>
              <a:t>侦查人员已经了解案情，认为有理由采取逮捕措施，这份判断当然重要。但把逮捕请求交给检察院审查，就得允许检察院核对根据，并依照法律形成自己的结论。否则，要求审查的同时，又要求结果只能同意，批准就容易变成照签。</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1979年通过、1980年开始施行的刑事诉讼法，把这个关系安排得很具体。公安提请批准逮捕，要把案卷材料和证据一并送给同级检察院审查。我们只看其中一种情况：一个人已在法定情形下被公安拘留，公安随后认为需要逮捕，检察院审查后却不批准。拘留与逮捕是不同措施，各有条件，不能因为已经拘留，就自动转为逮捕。</a:t>
            </a:r>
          </a:p>
          <a:p>
            <a:pPr/>
            <a:endParaRPr lang="zh-CN" dirty="0"/>
          </a:p>
          <a:p>
            <a:pPr/>
            <a:r>
              <a:rPr lang="zh-CN" dirty="0"/>
              <a:t>如果公安觉得检察院判断错了，当时的第四十九条先规定了这样一句：</a:t>
            </a:r>
          </a:p>
          <a:p>
            <a:pPr/>
            <a:endParaRPr lang="zh-CN" dirty="0"/>
          </a:p>
          <a:p>
            <a:pPr/>
            <a:r>
              <a:rPr lang="zh-CN" dirty="0"/>
              <a:t>“公安机关对人民检察院不批准逮捕的决定，认为有错误的时候，可以要求复议，但是必须将被拘留的人立即释放。”</a:t>
            </a:r>
          </a:p>
          <a:p>
            <a:pPr/>
            <a:endParaRPr lang="zh-CN" dirty="0"/>
          </a:p>
          <a:p>
            <a:pPr/>
            <a:r>
              <a:rPr lang="zh-CN" dirty="0"/>
              <a:t>条文接着还规定，意见不被接受，可以向上一级检察院提请复核，由上级决定是否变更。它没有把检察院当成不会判断错误的一方，也没有要求公安为了配合而放弃有依据的意见。</a:t>
            </a:r>
          </a:p>
          <a:p>
            <a:pPr/>
            <a:endParaRPr lang="zh-CN" dirty="0"/>
          </a:p>
          <a:p>
            <a:pPr/>
            <a:r>
              <a:rPr lang="zh-CN" dirty="0"/>
              <a:t>但请注意“但是”后面的要求：必须将被拘留的人立即释放。对这一次不批准可以提出异议，正在被关着的人怎么办，却不能等到机关之间的争论全部结束再说。提出异议，并不使释放义务暂停。</a:t>
            </a:r>
          </a:p>
          <a:p>
            <a:pPr/>
            <a:endParaRPr lang="zh-CN" dirty="0"/>
          </a:p>
          <a:p>
            <a:pPr/>
            <a:r>
              <a:rPr lang="zh-CN" dirty="0"/>
              <a:t>如果只看公安与检察院，会以为问题是两家谁说了算；把被拘留的人也放进来，就会看到，他的自由需要一个当下的处理。检察院的审查结论因此不只是供公安参考的意见，它会约束公安接下来怎样对待这个人。</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回到1982年原第一百三十五条，刚才的提请、审查、异议处理和执行关系，能帮助我们理解其中的要求：人民法院、人民检察院和公安机关办理刑事案件，要分工负责、互相配合、互相制约，目的就是准确有效地执行法律。它在现行宪法中对应第一百四十条。配合办案，不要求每次意见相同；有分歧时，仍按法律规定审查、提出异议、履行释放义务，也是配合的一部分。</a:t>
            </a:r>
          </a:p>
          <a:p>
            <a:pPr/>
            <a:endParaRPr lang="zh-CN" dirty="0"/>
          </a:p>
          <a:p>
            <a:pPr/>
            <a:r>
              <a:rPr lang="zh-CN" dirty="0"/>
              <a:t>由不同机关承担侦查和审查，确实可能多花移送材料、沟通意见和重新核查的时间；把这些职权集中在一个机关，可能减少这类协调成本。但刚才的不批准，就不只是一道等待签字的手续：另一机关能够核对逮捕的根据，作出不同判断，而且这个判断有必须执行的后果。比较职权怎样安排时，省下了多少时间要考虑，是否保留了有效的审查与约束也要考虑。</a:t>
            </a:r>
          </a:p>
          <a:p>
            <a:pPr/>
            <a:endParaRPr lang="zh-CN" dirty="0"/>
          </a:p>
          <a:p>
            <a:pPr/>
            <a:r>
              <a:rPr lang="zh-CN" dirty="0"/>
              <a:t>彭真在1982年的修宪报告中，把合理分工的目的说成既避免权力过分集中，又使国家各项工作有效进行。明确谁负责侦查、谁承担检察职责、谁负责审判，也是为了让各项工作有人负责并能相互衔接。实际是否做到了，还要看职责怎样履行，不能只拿机关数量或签字次数作结论。</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最后看第三十七条的第三款。它明确列出的禁令，范围并不只涉及正式逮捕。恢复检察工作初期的一段经历，可以帮助我们理解这一点。</a:t>
            </a:r>
          </a:p>
          <a:p>
            <a:pPr/>
            <a:endParaRPr lang="zh-CN" dirty="0"/>
          </a:p>
          <a:p>
            <a:pPr/>
            <a:r>
              <a:rPr lang="zh-CN" dirty="0"/>
              <a:t>最高检后来公布的工作回顾中，记载过恢复检察工作时查到的一种情况：有些场所名叫“学习班”，实际却在变相关押干部群众。黄火青等推动停办这些非法场所。名称是学习班，人的行动却受到拘束。这里需要判断的是实际做了什么、有无法律依据，而不是只看它有没有被叫作逮捕。</a:t>
            </a:r>
          </a:p>
          <a:p>
            <a:pPr/>
            <a:endParaRPr lang="zh-CN" dirty="0"/>
          </a:p>
          <a:p>
            <a:pPr/>
            <a:r>
              <a:rPr lang="zh-CN" dirty="0"/>
              <a:t>这不意味着凡是学习班都有问题，也不意味着一切限制自由都被禁止。关键是条文里的“非法”。正式逮捕有自己的条件，其他措施也须有相应依据，不能换个名称就避开自由保障。</a:t>
            </a:r>
          </a:p>
          <a:p>
            <a:pPr/>
            <a:endParaRPr lang="zh-CN" dirty="0"/>
          </a:p>
          <a:p>
            <a:pPr/>
            <a:r>
              <a:rPr lang="zh-CN" dirty="0"/>
              <a:t>1982年把这些禁止写得更明确，并不表示旧法允许任意侵害；前面的宪法已经有一般的人身自由保障。住宅则从原先合写的条款中分出，在第三十九条受到保护，并明确禁止非法搜查、非法侵入住宅。一个词没有留在原来那一条里，也可能只是换了位置。</a:t>
            </a:r>
          </a:p>
          <a:p>
            <a:pPr/>
            <a:endParaRPr lang="zh-CN" dirty="0"/>
          </a:p>
          <a:p>
            <a:pPr/>
            <a:r>
              <a:rPr lang="zh-CN" dirty="0"/>
              <a:t>这样回看，从重新启用的印章，到三版人身自由条文，我们看到的变化就具体了：1978年恢复检察机关及其审查职责；1982年承接这个基础，进一步明确逮捕权限，也把逮捕之外的非法侵害列入明文禁令。1979年的规则则让我们看见，审查作出不同判断，必须对一个人的自由产生相应的法律后果。机关恢复了，职责写明了，接下来还要看这些规定在每次办案中怎样得到遵守。</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七、从完整文本转向部分修改</a:t>
            </a:r>
          </a:p>
          <a:p>
            <a:pPr/>
            <a:endParaRPr lang="zh-CN" dirty="0"/>
          </a:p>
          <a:p>
            <a:pPr/>
            <a:r>
              <a:rPr lang="zh-CN" dirty="0"/>
              <a:t>这一节，我们从近代宪法面对的不同问题，走到中国的探索，再停下来细读人身自由与机关分工。历史因此不只是四个年份：有些规定曾经存在，后来改变，又在新的条件下恢复、发展。1982年的宪法，就在这些经验和具体讨论中形成。</a:t>
            </a:r>
          </a:p>
          <a:p>
            <a:pPr/>
            <a:endParaRPr lang="zh-CN" dirty="0"/>
          </a:p>
          <a:p>
            <a:pPr/>
            <a:r>
              <a:rPr lang="zh-CN" dirty="0"/>
              <a:t>从三版中已经能够直接指出的，是检察职责的恢复、相关分工的承接及禁止性保障的展开。实际运行怎样，还需要另一类材料。下半堂我们换一种变化来看：不是重新颁布整部文本，而是在1982年宪法中修改部分规定。一个有关土地的句子，能够让我们把“保留”和“改变”同时看清。</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下节｜同一部宪法怎样依法发展</a:t>
            </a:r>
          </a:p>
          <a:p>
            <a:pPr/>
            <a:endParaRPr lang="zh-CN" dirty="0"/>
          </a:p>
          <a:p>
            <a:pPr/>
            <a:r>
              <a:rPr lang="zh-CN" dirty="0"/>
              <a:t>八、所有权保留，使用安排怎样改变</a:t>
            </a:r>
          </a:p>
          <a:p>
            <a:pPr/>
            <a:endParaRPr lang="zh-CN" dirty="0"/>
          </a:p>
          <a:p>
            <a:pPr/>
            <a:r>
              <a:rPr lang="zh-CN" dirty="0"/>
              <a:t>上节我们看了1982年宪法怎样形成，也比较了几份完整文本中的自由保障。这一节，转到它形成以后的部分修改。原来的根本安排还在，新问题又出现了，怎样辨认什么可以沿用，什么需要改变？</a:t>
            </a:r>
          </a:p>
          <a:p>
            <a:pPr/>
            <a:endParaRPr lang="zh-CN" dirty="0"/>
          </a:p>
          <a:p>
            <a:pPr/>
            <a:r>
              <a:rPr lang="zh-CN" dirty="0"/>
              <a:t>还记得廉希圣回忆的那封内蒙古来信吗？它提醒人们，土地属于谁和土地怎样合理使用，都需要规定。这里先分清两个对象：所有权回答土地归谁；使用权回答有关主体可以在什么条件下利用土地。取得使用权，不等于已经取得所有权，也不意味着可以任意决定这项使用权怎样交给别人。</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带着这个区别读原文。1982年宪法第十条第一款规定：“城市的土地属于国家所有。”第四款当时规定：“任何组织或者个人不得侵占、买卖、出租或者以其他形式非法转让土地。”</a:t>
            </a:r>
          </a:p>
          <a:p>
            <a:pPr/>
            <a:endParaRPr lang="zh-CN" dirty="0"/>
          </a:p>
          <a:p>
            <a:pPr/>
            <a:r>
              <a:rPr lang="zh-CN" dirty="0"/>
              <a:t>1988年修正案把第四款改成这样，改动后的原文是：“任何组织或者个人不得侵占、买卖或者以其他形式非法转让土地。土地的使用权可以依照法律的规定转让。”城市土地属于国家所有的第一款，仍然保留。</a:t>
            </a:r>
          </a:p>
          <a:p>
            <a:pPr/>
            <a:endParaRPr lang="zh-CN" dirty="0"/>
          </a:p>
          <a:p>
            <a:pPr/>
            <a:r>
              <a:rPr lang="zh-CN" dirty="0"/>
              <a:t>请把旧第四款和新第四款并着看，再带上第一款。少了什么，多了什么，什么仍然没变？用一段话说明改动的对象、保留的基础和新句中的条件。</a:t>
            </a:r>
          </a:p>
          <a:p>
            <a:pPr/>
            <a:endParaRPr lang="zh-CN" dirty="0"/>
          </a:p>
          <a:p>
            <a:pPr/>
            <a:r>
              <a:rPr lang="zh-CN" dirty="0"/>
              <a:t>【独立阅读与思考约三分钟：对读上面旧、新条文及保留的第一款，组织一段解释。教师暂停讲述。】</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核文字：删去了“出租”，增加了使用权依法转让的规定，城市土地国家所有没有被删除。因此，不能把这次修改说成城市土地私有化；也不能因为所有权保留，就说什么都没变。新句明确允许一项权利依法律规定流转，改变的是使用安排中的重要关系。</a:t>
            </a:r>
          </a:p>
          <a:p>
            <a:pPr/>
            <a:endParaRPr lang="zh-CN" dirty="0"/>
          </a:p>
          <a:p>
            <a:pPr/>
            <a:r>
              <a:rPr lang="zh-CN" dirty="0"/>
              <a:t>“依照法律的规定”也不是可以略去的结尾。它说明允许转让仍有法律条件。由谁取得、能否再转、怎样履行义务，都还需要相应制度。宪法没有将土地利用的全部决定都交给交易双方。</a:t>
            </a:r>
          </a:p>
          <a:p>
            <a:pPr/>
            <a:endParaRPr lang="zh-CN" dirty="0"/>
          </a:p>
          <a:p>
            <a:pPr/>
            <a:r>
              <a:rPr lang="zh-CN" dirty="0"/>
              <a:t>不过，同学们可能还有一个印象：是不是到了1988年，人们才发现所有权与使用权可以分开？并不是。看两份更早的规定，会更清楚这次改革究竟在原有基础上推进了什么。</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1980年的《广东省经济特区条例》，已经把特区土地国家所有，同客商使用土地的年限、使用费及缴纳办法放在一起。土地归国家，有关主体在批准的条件下付费使用，两件事当时已经能够同时安排。</a:t>
            </a:r>
          </a:p>
          <a:p>
            <a:pPr/>
            <a:endParaRPr lang="zh-CN" dirty="0"/>
          </a:p>
          <a:p>
            <a:pPr/>
            <a:r>
              <a:rPr lang="zh-CN" dirty="0"/>
              <a:t>1981年广东省人大常委会通过的深圳土地管理暂行规定，又写得更直接：经批准使用土地的单位和个人，只有使用权，没有所有权；同一条还禁止他们出租和擅自转让土地。有关条文另规定申请、批准、交费和发给使用证书。</a:t>
            </a:r>
          </a:p>
          <a:p>
            <a:pPr/>
            <a:endParaRPr lang="zh-CN" dirty="0"/>
          </a:p>
          <a:p>
            <a:pPr/>
            <a:r>
              <a:rPr lang="zh-CN" dirty="0"/>
              <a:t>这并不自相矛盾。获得一块地的使用资格，同获得把它出租、转给别人的权限，是不同的事情。一个人可以依法使用某项财产，不表示他就能对这项财产作任何处分。原来的制度已经提供了使用机会，同时仍约束使用者怎样改变这个安排。</a:t>
            </a:r>
          </a:p>
          <a:p>
            <a:pPr/>
            <a:endParaRPr lang="zh-CN" dirty="0"/>
          </a:p>
          <a:p>
            <a:pPr/>
            <a:r>
              <a:rPr lang="zh-CN" dirty="0"/>
              <a:t>因此，所有与使用分开、使用是否付费、使用权能否流转，必须逐项问。前两项已有规定，并没有自动把第三项也解决。1988年改文的意义，不能只概括成发现了两个不同名词。</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改革当时面对的生活。城市建设需要资金，企业需要土地，既有的用地安排又怎样跟上新的需求？参加深圳土地使用制度改革筹备的梁振英，后来回忆，当地早期已经尝试出租、合作开发等有偿使用办法，但使用权如何进入流通、价格怎样通过公开竞争形成，还要继续探索。他参与了1987年首次土地拍卖的筹备。那次拍卖提供的是一定期限的国有土地使用权，土地所有权仍保留在国家手中。</a:t>
            </a:r>
          </a:p>
          <a:p>
            <a:pPr/>
            <a:endParaRPr lang="zh-CN" dirty="0"/>
          </a:p>
          <a:p>
            <a:pPr/>
            <a:r>
              <a:rPr lang="zh-CN" dirty="0"/>
              <a:t>拍卖会容易让人只记住槌子落下的一刻。可筹备者此前要分别处理：提供哪一种权利，使用多久，谁能参与竞争，价格怎样形成，取得以后又受什么条件约束。支付了一笔费用，并不会自动回答其他问题。</a:t>
            </a:r>
          </a:p>
          <a:p>
            <a:pPr/>
            <a:endParaRPr lang="zh-CN" dirty="0"/>
          </a:p>
          <a:p>
            <a:pPr/>
            <a:r>
              <a:rPr lang="zh-CN" dirty="0"/>
              <a:t>政府向使用者提供一定期限的使用机会，与取得使用权的人再依法将它转给别人，也是不同动作。后来1990年的行政法规分别使用“出让”和“转让”加以规定。我们可以借这个区别认识两种关系，却不能拿后来的全部术语，直接代替1987年每个文件或者1988年宪法中“转让”的具体语境。</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既然土地国有，为什么不一直由行政机关决定谁使用，还要探索别的安排？行政配置有自己的理由。城市需要道路、公共设施和整体规划，不能将每块地孤立起来看；国家承担公共任务，也需要把用地同这些任务联系。</a:t>
            </a:r>
          </a:p>
          <a:p>
            <a:pPr/>
            <a:endParaRPr lang="zh-CN" dirty="0"/>
          </a:p>
          <a:p>
            <a:pPr/>
            <a:r>
              <a:rPr lang="zh-CN" dirty="0"/>
              <a:t>但是，土地利用的情况会变化。我们设想一块依法用于经营的土地，原使用者不再需要，另一经营者却有需求。如果每一次使用者变化都只能重新等待行政分配，大量具体调整便集中交给行政机关。允许符合条件的使用权依法流转，可以提供另一种调整途径。</a:t>
            </a:r>
          </a:p>
          <a:p>
            <a:pPr/>
            <a:endParaRPr lang="zh-CN" dirty="0"/>
          </a:p>
          <a:p>
            <a:pPr/>
            <a:r>
              <a:rPr lang="zh-CN" dirty="0"/>
              <a:t>这个设想说明流转为什么可能有作用，也要看它不能包办什么。谁出价高，不足以回答使用有没有违反规划、是否损害他人权益、公共利益怎样维护。国家依法管理土地的职责，不会随使用权一起卖给某个人。公共规划、依法管理和一定范围的流转，需要结合起来安排。</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到这里，“为什么想改变”已有了具体内容。可是，这仍不等于“当时已经可以怎样改变”。1987年有了拍卖，1988年才修改宪法，而旧第四款还列着不得出租。这正是理解宪法发展时绕不过去的张力。</a:t>
            </a:r>
          </a:p>
          <a:p>
            <a:pPr/>
            <a:endParaRPr lang="zh-CN" dirty="0"/>
          </a:p>
          <a:p>
            <a:pPr/>
            <a:r>
              <a:rPr lang="zh-CN" dirty="0"/>
              <a:t>主持深圳工作的李灏在后来的访谈中，也谈到当时做法与宪法文字的矛盾，以及调查研究、研讨和立法支持。这是参与者的回顾，告诉我们规范衔接确实进入了当时的考虑；它本身不是有权机关已经作出的宪法解释。</a:t>
            </a:r>
          </a:p>
          <a:p>
            <a:pPr/>
            <a:endParaRPr lang="zh-CN" dirty="0"/>
          </a:p>
          <a:p>
            <a:pPr/>
            <a:r>
              <a:rPr lang="zh-CN" dirty="0"/>
              <a:t>怎样认真面对这个问题？第一步仍是弄清行为对象和主体。1981年那份深圳暂行规定，对经批准用地者的出租、转让设有限制；我们现在分析的拍卖，则是政府向使用者有偿提供使用权的环节。两种行为不能直接混在一起。但政府提供的只是使用权，也不能据此宣布宪法上的问题已经消失，仍要解释宪法原句限制的对象。</a:t>
            </a:r>
          </a:p>
          <a:p>
            <a:pPr/>
            <a:endParaRPr lang="zh-CN" dirty="0"/>
          </a:p>
          <a:p>
            <a:pPr/>
            <a:r>
              <a:rPr lang="zh-CN" dirty="0"/>
              <a:t>尤其是“出租”这个词。出租通常本来就不转移出租人的所有权。如果只说“没有卖掉国家所有权”，其实还没有回答旧宪法为什么明确列出不得出租。两种权利的区分，是分析的起点，不是可以省略其余条文的理由。</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沈岿在2012年的事后研究中，比较过两种读法。再看旧句：“不得侵占、买卖、出租或者以其他形式非法转让土地。”一种读法把买卖、出租看成已经列出的禁止行为，后面的“以其他形式非法转让”再作补充；“非法”并没有被用来给前面的出租留下合法例外。另一种读法则认为，“非法”也限定前面的转让行为，买卖、出租不应一概被认作非法，符合相应依据的使用权交易仍有可能被允许。</a:t>
            </a:r>
          </a:p>
          <a:p>
            <a:pPr/>
            <a:endParaRPr lang="zh-CN" dirty="0"/>
          </a:p>
          <a:p>
            <a:pPr/>
            <a:r>
              <a:rPr lang="zh-CN" dirty="0"/>
              <a:t>后一个读法凭什么成立？作者联系当时法律已允许合营企业付费使用土地的安排，认为不能把宪法读成一概禁止这类有偿使用；合理利用土地的要求也须一并理解。但从合资用地推到其他企业通过拍卖取得使用权，类推根据是否充分，仍须检验。这是后来学者的解释实验，不是1987年已有的正式释宪。</a:t>
            </a:r>
          </a:p>
          <a:p>
            <a:pPr/>
            <a:endParaRPr lang="zh-CN" dirty="0"/>
          </a:p>
          <a:p>
            <a:pPr/>
            <a:r>
              <a:rPr lang="zh-CN" dirty="0"/>
              <a:t>因此，解释不能只凭一种断句就取得许可：不同读法对禁令范围的理解不同，须用文字和制度根据比较。承认可能存在解释空间，同证明某笔交易已经具备全部合法条件，是两步；如果仅说改革有益，便跳过具体禁令，也没有完成解释。</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特区当时还具有专门的立法安排。1981年全国人大常委会授权广东、福建省人大及其常委会制定所属特区的单行经济法规。这说明制度探索并非只能依靠地方个人的意见。但是，可以制定特区经济法规，同可以改变宪法，是不同权限。特区的制度空间也需要在相应规范关系中理解。</a:t>
            </a:r>
          </a:p>
          <a:p>
            <a:pPr/>
            <a:endParaRPr lang="zh-CN" dirty="0"/>
          </a:p>
          <a:p>
            <a:pPr/>
            <a:r>
              <a:rPr lang="zh-CN" dirty="0"/>
              <a:t>现在再看1988年的实际选择，就不会只剩“实践在前，改法在后”八个字。此前有用地制度和探索，也有旧规范怎样解释的疑问；正式修正案直接处理了禁令文字，删去“出租”，并明确使用权可以依法律规定转让。后来的一般制度建设，有了更清楚的宪法表达，不必把每项许可都寄托于对旧句作相同的扩展解释。</a:t>
            </a:r>
          </a:p>
          <a:p>
            <a:pPr/>
            <a:endParaRPr lang="zh-CN" dirty="0"/>
          </a:p>
          <a:p>
            <a:pPr/>
            <a:r>
              <a:rPr lang="zh-CN" dirty="0"/>
              <a:t>这项改变经过了正式程序。同期材料记载，中共中央以经济体制改革和对外开放进一步发展的需要，提出私营经济、土地使用权两项调整；全国人大常委会依法提请修正案草案，全国人大随后通过。一场拍卖可以使改革问题变得具体，却不能单独解释这次修宪的全部形成过程。</a:t>
            </a:r>
          </a:p>
          <a:p>
            <a:pPr/>
            <a:endParaRPr lang="zh-CN" dirty="0"/>
          </a:p>
          <a:p>
            <a:pPr/>
            <a:r>
              <a:rPr lang="zh-CN" dirty="0"/>
              <a:t>修正案这份文书也要读准。土地这一处列在1988年修正案第二条，它修改的却是宪法第十条第四款。一个是修改文件自己的条次，一个是被修改的原文位置。采用另列修正案的方式，不表示原有宪法内容没有真正变化。</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四月修宪以后，同年十二月，全国人大常委会又正式修改土地管理法，增加使用权依法转让和国有土地有偿使用制度等规定。其中一款写道：</a:t>
            </a:r>
          </a:p>
          <a:p>
            <a:pPr/>
            <a:endParaRPr lang="zh-CN" dirty="0"/>
          </a:p>
          <a:p>
            <a:pPr/>
            <a:r>
              <a:rPr lang="zh-CN" dirty="0"/>
              <a:t>“国有土地和集体所有的土地的使用权可以依法转让。土地使用权转让的具体办法，由国务院另行规定。”</a:t>
            </a:r>
          </a:p>
          <a:p>
            <a:pPr/>
            <a:endParaRPr lang="zh-CN" dirty="0"/>
          </a:p>
          <a:p>
            <a:pPr/>
            <a:r>
              <a:rPr lang="zh-CN" dirty="0"/>
              <a:t>这就看到了后续工作：宪法作出根本调整，普通法律安排相关制度，再明确具体办法由谁制定。法律没有只把宪法换一种字体重印，它还要说明哪些主体按什么规则行动。后续机关也不能因为获得制定具体办法的职权，就另写一套同宪法相反的安排。</a:t>
            </a:r>
          </a:p>
          <a:p>
            <a:pPr/>
            <a:endParaRPr lang="zh-CN" dirty="0"/>
          </a:p>
          <a:p>
            <a:pPr/>
            <a:r>
              <a:rPr lang="zh-CN" dirty="0"/>
              <a:t>四月通过并公布施行的修正案，已经发生效力；它不是要等十二月土地管理法改完才生效。但新的宪法安排不会自动改好每一部已有法律，相关机关仍须依法完成衔接。规范已有约束力，与有关制度工作已经全部完成，是不同判断。</a:t>
            </a:r>
          </a:p>
          <a:p>
            <a:pPr/>
            <a:endParaRPr lang="zh-CN" dirty="0"/>
          </a:p>
          <a:p>
            <a:pPr/>
            <a:r>
              <a:rPr lang="zh-CN" dirty="0"/>
              <a:t>我们能够据这些材料讲清的，是旧有用地安排、进一步探索、规范解释与正式改文之间的关系。至于某一笔历史交易的全部效力，还涉及当时具体行为和依据，不能由后来的修正案一并倒推。这个保留不妨碍我们说明1988年实际改变了什么，以及为何还需要普通立法接续。</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九、五次修正中的承接与变化</a:t>
            </a:r>
          </a:p>
          <a:p>
            <a:pPr/>
            <a:endParaRPr lang="zh-CN" dirty="0"/>
          </a:p>
          <a:p>
            <a:pPr/>
            <a:r>
              <a:rPr lang="zh-CN" dirty="0"/>
              <a:t>1988年这次修改使我们有了一种读修正案的方法。现在把它放回五次修正的全景。1988年涉及私营经济和土地使用权；1993年将国家实行社会主义市场经济等内容写入宪法；1999年增加依法治国、建设社会主义法治国家的规定；2004年增加国家尊重和保障人权等内容，也调整私有财产等规定；2018年在指导思想和国家制度等多方面作出修改，本课选择监察机关的变化再看一步。</a:t>
            </a:r>
          </a:p>
          <a:p>
            <a:pPr/>
            <a:endParaRPr lang="zh-CN" dirty="0"/>
          </a:p>
          <a:p>
            <a:pPr/>
            <a:r>
              <a:rPr lang="zh-CN" dirty="0"/>
              <a:t>这里列的是每次修正中与本讲相接的部分内容。2018年不只修改了监察制度，前面几次也各有其他改文；大家先把几处重要变化放在相应年份，不用一口气背完全部条款。</a:t>
            </a:r>
          </a:p>
          <a:p>
            <a:pPr/>
            <a:endParaRPr lang="zh-CN" dirty="0"/>
          </a:p>
          <a:p>
            <a:pPr/>
            <a:r>
              <a:rPr lang="zh-CN" dirty="0"/>
              <a:t>读到1999年的依法治国、2004年的人权原则，还可以回看上节：1982年已经规定了人身自由，以及遵守宪法法律等要求。所以，新增一般原则，并不是说以前完全没有这些保障。</a:t>
            </a:r>
          </a:p>
          <a:p>
            <a:pPr/>
            <a:endParaRPr lang="zh-CN" dirty="0"/>
          </a:p>
          <a:p>
            <a:pPr/>
            <a:r>
              <a:rPr lang="zh-CN" dirty="0"/>
              <a:t>新的原则表达，是在已有制度和具体条文基础上的进一步明确与概括，不是把此前所有内容一笔勾销。但“此前已有具体条文”也不意味着后来增加原则没有意义。它使国家活动应当遵循的要求得到更明确的宪法表达，可以帮助我们理解、联系原来分布在不同位置的制度。</a:t>
            </a:r>
          </a:p>
          <a:p>
            <a:pPr/>
            <a:endParaRPr lang="zh-CN" dirty="0"/>
          </a:p>
          <a:p>
            <a:pPr/>
            <a:r>
              <a:rPr lang="zh-CN" dirty="0"/>
              <a:t>我们看到的变化，有时增加具体规则，有时调整机关关系，有时使原则表达更加明确。下面看2018年：一个新的国家机关，为什么需要同时修改好几处宪法规定？</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十、先试点，再把新机关写进宪法</a:t>
            </a:r>
          </a:p>
          <a:p>
            <a:pPr/>
            <a:endParaRPr lang="zh-CN" dirty="0"/>
          </a:p>
          <a:p>
            <a:pPr/>
            <a:r>
              <a:rPr lang="zh-CN" dirty="0"/>
              <a:t>土地单元里，保持国家所有与改变使用办法可以同时成立，但仍须说明旧规则怎样理解、谁有权作出改变。现在将这个问题带到国家机关：如果要把原来分散的工作重新组织起来，又会遇到哪些不同的要求？</a:t>
            </a:r>
          </a:p>
          <a:p>
            <a:pPr/>
            <a:endParaRPr lang="zh-CN" dirty="0"/>
          </a:p>
          <a:p>
            <a:pPr/>
            <a:r>
              <a:rPr lang="zh-CN" dirty="0"/>
              <a:t>2018年，李建国向全国人大作监察法草案说明时，讲了改革面对的两项问题。原来的行政监察主要面向行政机关及其工作人员，监督对象的覆盖需要扩大；相关反腐败职能又分布在不同机关，需要整合力量。公权力并不只由行政机关工作人员行使，监督范围因此不能仅靠是不是行政机关的人来划定。这是当时说明所提出的改革理由，不是说其他人员此前完全没有法律约束。</a:t>
            </a:r>
          </a:p>
          <a:p>
            <a:pPr/>
            <a:endParaRPr lang="zh-CN" dirty="0"/>
          </a:p>
          <a:p>
            <a:pPr/>
            <a:r>
              <a:rPr lang="zh-CN" dirty="0"/>
              <a:t>整合也不等于把检察院改名。政府监察、预防腐败以及检察机关查处相关职务犯罪等部门的部分职能，要转到新设的监察委员会；检察院仍然存在，承担其法定职责。原来的工作、人员与程序怎样接续，需要具体安排。</a:t>
            </a:r>
          </a:p>
          <a:p>
            <a:pPr/>
            <a:endParaRPr lang="zh-CN" dirty="0"/>
          </a:p>
          <a:p>
            <a:pPr/>
            <a:r>
              <a:rPr lang="zh-CN" dirty="0"/>
              <a:t>这同上节讲的分工制约怎样联系？整合部分反腐败职能，并不等于把调查、起诉、审判全交给一个机关。2017年试点决定仍要求，对涉嫌职务犯罪的移送检察机关依法提起公诉。前面的调查不能自动代替后面的检察和审判判断，新机关自身也要受到监督。判断分工是否适当，要同时看办事能力和实质约束，不能只数机关多了还是少了；这些关系在实际案件中发挥怎样的作用，还须看履职事实。</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什么要试点？2017年的官方工作综述提到，人员转隶以后，原先已立案而未办结的案件怎样继续办理，新机关怎样同司法执法机关衔接，都需要探索。综述也承认，管辖交叉、部分案件由谁管尚不清楚、相互衔接与制衡机制需要完善。所谓积累经验，面对的是这些实际问题。</a:t>
            </a:r>
          </a:p>
          <a:p>
            <a:pPr/>
            <a:endParaRPr lang="zh-CN" dirty="0"/>
          </a:p>
          <a:p>
            <a:pPr/>
            <a:r>
              <a:rPr lang="zh-CN" dirty="0"/>
              <a:t>如果一开始就把尚在摸索的所有办法固定为全国统一制度，后来发现不适合时，调整负担可能更大。先限定范围探索，可以为制度选择提供经验。但试点已经会对人和事产生法律后果，并不是可以随手撤回的一次纸上练习。实践上有探索的理由，还须回答谁有权批准、怎样受到约束。</a:t>
            </a:r>
          </a:p>
          <a:p>
            <a:pPr/>
            <a:endParaRPr lang="zh-CN" dirty="0"/>
          </a:p>
          <a:p>
            <a:pPr/>
            <a:r>
              <a:rPr lang="zh-CN" dirty="0"/>
              <a:t>2016年底，全国人大常委会决定在北京、山西、浙江开展试点，设置相关地方监察委员会，并暂时调整有关法律的适用。2017年又决定在全国各地推开地方试点。这一决定列举了省、市、县等地方机关，没有设立国家监察委员会。三地探索、地方试点扩大到全国、国家层面的正式制度，需要分开看。</a:t>
            </a:r>
          </a:p>
          <a:p>
            <a:pPr/>
            <a:endParaRPr lang="zh-CN" dirty="0"/>
          </a:p>
          <a:p>
            <a:pPr/>
            <a:r>
              <a:rPr lang="zh-CN" dirty="0"/>
              <a:t>顺着这个次序看，问题也出现了：2018年才把监察机关写入宪法，前面的试点怎样同当时的宪法安排相容？直接说有常委会决定，还没有答完。因为允许调整普通法律的规定，与有权改变宪法中的国家机关关系，不是同一件事。</a:t>
            </a:r>
          </a:p>
          <a:p>
            <a:pPr/>
            <a:endParaRPr lang="zh-CN" dirty="0"/>
          </a:p>
          <a:p>
            <a:pPr/>
            <a:r>
              <a:rPr lang="zh-CN" dirty="0"/>
              <a:t>这里还有一层具体困难。2018年修改前的宪法，已经把监察工作列在国务院和县级以上地方政府的职权中。现在要将相关职能移交政府之外、由人大产生的新机关，就必须解释，这样的组织安排同原条文怎样相容。它涉及的不只是普通法律中的办事步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两种意见放在同一个问题上比较：2016年三地试点，可不可以由全国人大常委会决定？焦洪昌、古龙元在2017年春讨论三地试点时，援引宪法关于全国人大授予常委会其他职权的条款，并考察已有授权实践。例如，常委会曾授权在上海自贸试验区暂时调整有关法律规定的行政审批。他们据这些实践主张，常委会批准有限改革试验已有先例，可以为三地试点寻找解释空间。这里是将已有权限用于新情形的论证，不是说宪法已明文列出这项试点权。对于全国推开，他们更主张先由全国人大决定，再通过修宪固定成果。</a:t>
            </a:r>
          </a:p>
          <a:p>
            <a:pPr/>
            <a:endParaRPr lang="zh-CN" dirty="0"/>
          </a:p>
          <a:p>
            <a:pPr/>
            <a:r>
              <a:rPr lang="zh-CN" dirty="0"/>
              <a:t>沈岿2017年的论文对三地试点的授权主体就持不同意见。他追问，一般法律改革的旧先例，是否证明常委会已获准改变国家机构的宪制结构？他还比较了1988年以来的六次国务院机构改革：那些方案都由全国人大决定；如今要在政府之外新增一类国家机关，影响更大，更应由全国人大亲自承担决定责任。因此，他主张由全国人大有限授权，并约束范围、保障权利。这是作者的论证，不能只凭机关地位较高，就自动推出没有边界的试点权限。</a:t>
            </a:r>
          </a:p>
          <a:p>
            <a:pPr/>
            <a:endParaRPr lang="zh-CN" dirty="0"/>
          </a:p>
          <a:p>
            <a:pPr/>
            <a:r>
              <a:rPr lang="zh-CN" dirty="0"/>
              <a:t>两种认识的分歧，就落在试验究竟改变什么、谁有权准许上。前一种希望为制度探索保留空间，后一种担心既有权限的解释被扩得过宽。即使主张由全国人大授权，也还要说明授权的界限，不能把权力层级更高理解为可以没有约束。</a:t>
            </a:r>
          </a:p>
          <a:p>
            <a:pPr/>
            <a:endParaRPr lang="zh-CN" dirty="0"/>
          </a:p>
          <a:p>
            <a:pPr/>
            <a:r>
              <a:rPr lang="zh-CN" dirty="0"/>
              <a:t>还有学者提出，可先通过正式宪法解释说明原来有关行政监察的条文是否排除新的地方安排。这同样是一条需要论证的路径，提出建议不等于当时有权机关已经采用。支持三地试点的文章，也不能不经说明就拿来给后来全国范围的试点作完整结论。</a:t>
            </a:r>
          </a:p>
          <a:p>
            <a:pPr/>
            <a:endParaRPr lang="zh-CN" dirty="0"/>
          </a:p>
          <a:p>
            <a:pPr/>
            <a:r>
              <a:rPr lang="zh-CN" dirty="0"/>
              <a:t>从这些不同解释中，可以看清疑问为什么出现：新制度有探索需要，既有宪法又有机关与职权安排；如何利用已有解释和授权空间，何时必须改变根本规范，需要给出各自的依据。比较这些理由，是在认真对待宪法约束，不能由改革目的或一个文件名称代替论证。</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实际制度发展随后走到2018年修宪。先看第三条第三款：在行政机关、审判机关和检察机关之间，增列监察机关；这些机关由人大产生，对它负责，受它监督。再看国务院职权，原来的“领导和管理民政、公安、司法行政和监察等工作”删去“和监察”。国家机构章又增加监察委员会一节，第一百二十三条给各级监察委员会定了一个身份——国家的监察机关。</a:t>
            </a:r>
          </a:p>
          <a:p>
            <a:pPr/>
            <a:endParaRPr lang="zh-CN" dirty="0"/>
          </a:p>
          <a:p>
            <a:pPr/>
            <a:r>
              <a:rPr lang="zh-CN" dirty="0"/>
              <a:t>这些改变相互配合。原有行政系统承担的监察工作发生调整，新机关有了宪法中的独立位置，并被放入产生、负责和监督关系。新增第一百二十六条进一步规定国家和地方监察委员会的负责关系。我们看到的是整个机关关系的调整，不是只在目录里添上一个名字。</a:t>
            </a:r>
          </a:p>
          <a:p>
            <a:pPr/>
            <a:endParaRPr lang="zh-CN" dirty="0"/>
          </a:p>
          <a:p>
            <a:pPr/>
            <a:r>
              <a:rPr lang="zh-CN" dirty="0"/>
              <a:t>王晨的修正案草案说明，将这些改文同为设立监察委员会提供宪法依据联系起来。此后国家和地方监察委员会的地位及基本关系，有了明确的宪法规定。但修正案并没有因此把常委会可以为任何改革改变宪法安排写成一般权限，也没有逐项裁断此前所有学术争论。正式确立此后的制度，与追溯评价试点时期的每项安排，仍是不同任务。</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十一、正式修改与普通立法怎样接续</a:t>
            </a:r>
          </a:p>
          <a:p>
            <a:pPr/>
            <a:endParaRPr lang="zh-CN" dirty="0"/>
          </a:p>
          <a:p>
            <a:pPr/>
            <a:r>
              <a:rPr lang="zh-CN" dirty="0"/>
              <a:t>那么，改革主张怎样成为正式的宪法规定？第一讲已经比较过修宪与普通立法的门槛。现在把具体行为接起来，不能把政治建议、受托拟稿、法定提议和最终通过都说成同一个动作。</a:t>
            </a:r>
          </a:p>
          <a:p>
            <a:pPr/>
            <a:endParaRPr lang="zh-CN" dirty="0"/>
          </a:p>
          <a:p>
            <a:pPr/>
            <a:r>
              <a:rPr lang="zh-CN" dirty="0"/>
              <a:t>宪法第六十四条第一款把这条门槛分两处写清：谁来提议——全国人大常委会，或者五分之一以上的全国人大代表；怎样通过——由全国人大以全体代表的三分之二以上的多数通过。</a:t>
            </a:r>
          </a:p>
          <a:p>
            <a:pPr/>
            <a:endParaRPr lang="zh-CN" dirty="0"/>
          </a:p>
          <a:p>
            <a:pPr/>
            <a:r>
              <a:rPr lang="zh-CN" dirty="0"/>
              <a:t>两类主体可以提议，最后通过修改的是全国人大。“全体代表”不能换成到会代表或投票者；常委会可以提请草案，也不意味着它可以独自完成修宪。</a:t>
            </a:r>
          </a:p>
          <a:p>
            <a:pPr/>
            <a:endParaRPr lang="zh-CN" dirty="0"/>
          </a:p>
          <a:p>
            <a:pPr/>
            <a:r>
              <a:rPr lang="zh-CN" dirty="0"/>
              <a:t>2018年，中共中央形成并向全国人大常委会提出修宪建议。法制工作委员会受委员长会议委托，拟订草案和提请审议的议案；全国人大常委会依法审议、表决，决定将宪法修正案草案提请全国人大会议审议。法工委承担拟稿工作，没有因此成为第六十四条之外的第三种提议主体。</a:t>
            </a:r>
          </a:p>
          <a:p>
            <a:pPr/>
            <a:endParaRPr lang="zh-CN" dirty="0"/>
          </a:p>
          <a:p>
            <a:pPr/>
            <a:r>
              <a:rPr lang="zh-CN" dirty="0"/>
              <a:t>进入大会以后，各代表团审议，主席团组织有关审议处理。3月11日，全国人大通过宪法修正案，同日由大会主席团署名的全国人大公告第一号公布施行。这里的公告不是国家主席令。这一实际过程采用常委会提议的路径，也没有取消五分之一以上代表依法提议的另一条路径。</a:t>
            </a:r>
          </a:p>
          <a:p>
            <a:pPr/>
            <a:endParaRPr lang="zh-CN" dirty="0"/>
          </a:p>
          <a:p>
            <a:pPr/>
            <a:r>
              <a:rPr lang="zh-CN" dirty="0"/>
              <a:t>读这些文件，是为了知道每一步由谁承担、产生什么作用，而不是背一串会议日期。建议和拟稿可以深刻影响内容，最终是否成为宪法规范，则须经过相应法定行为。必要程序也不代替对内容的分析：为什么增加新机关、为什么调整原来职权，还得回到改革的问题和具体改文。</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往后看，3月20日监察法通过。它与3月11日修宪相隔九天，却不是这九天里才开始并完成全部法律准备。2016年立法工作专班已开展起草，2017年草案经过审议、公开征求意见，随后又根据修宪的有关安排继续修改衔接。</a:t>
            </a:r>
          </a:p>
          <a:p>
            <a:pPr/>
            <a:endParaRPr lang="zh-CN" dirty="0"/>
          </a:p>
          <a:p>
            <a:pPr/>
            <a:r>
              <a:rPr lang="zh-CN" dirty="0"/>
              <a:t>这里要分开两件事：研究、起草一部法律，可以在正式修宪之前进行；新机关已经设立并行使职权，则必须另行说明当时依据。准备工作提前，并不能替已经发生的权力行为回答权限问题。正因两件事不同，我们既不能抹去前期立法准备，也不能用准备很早开始来消除试点的宪法疑问。</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修宪新增的第一百二十四条末款把这件事交给法律：监察委员会的组织和职权，都由法律规定。2018年初版监察法第一条又明确“根据宪法，制定本法”。宪法确定新机关的根本地位与关系，普通法律继续安排其组织和职权，两种正式法律行为各有工作。</a:t>
            </a:r>
          </a:p>
          <a:p>
            <a:pPr/>
            <a:endParaRPr lang="zh-CN" dirty="0"/>
          </a:p>
          <a:p>
            <a:pPr/>
            <a:r>
              <a:rPr lang="zh-CN" dirty="0"/>
              <a:t>“由法律规定”留下具体化空间，也保留宪法约束。法律需要说明具体怎样组织、怎样履职，却不能把宪法已确定的产生、负责和监督关系改成相反安排。将所有工作细节都写进宪法，会使细节调整承受修宪门槛；把所有问题都交普通法律，又会忽略根本关系必须受到的约束。</a:t>
            </a:r>
          </a:p>
          <a:p>
            <a:pPr/>
            <a:endParaRPr lang="zh-CN" dirty="0"/>
          </a:p>
          <a:p>
            <a:pPr/>
            <a:r>
              <a:rPr lang="zh-CN" dirty="0"/>
              <a:t>我们这里用2018年初版监察法辨认历史接续；今天办理具体事务，应查适用的现行规范。历史上的九天、某次征求意见安排和会议日期，也不自动成为每次修宪都必须复制的程序。一般规则与一次实际经过，要分别读准。</a:t>
            </a:r>
          </a:p>
          <a:p>
            <a:pPr/>
            <a:endParaRPr lang="zh-CN" dirty="0"/>
          </a:p>
          <a:p>
            <a:pPr/>
            <a:r>
              <a:rPr lang="zh-CN" dirty="0"/>
              <a:t>回看两例，土地改革要求辨明所有与使用、取得与流转，以及原禁令的解释范围；监察改革要求辨明哪些职能在调整、何种机关已经设立、谁有权批准。两例都不能只凭有实践需要就判断权限，也不能仅凭一份较晚的普通法律改变宪法要求。真正发生的正式修宪，则由相应修正案和程序材料确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十二、回到1982年宪法这个名称</a:t>
            </a:r>
          </a:p>
          <a:p>
            <a:pPr/>
            <a:endParaRPr lang="zh-CN" dirty="0"/>
          </a:p>
          <a:p>
            <a:pPr/>
            <a:r>
              <a:rPr lang="zh-CN" dirty="0"/>
              <a:t>现在回到开场的疑问。我们今天读过1982年的完整宪法、1988年修正案、2018年初版监察法，它们虽然都参与制度发展，身份和作用却不同。</a:t>
            </a:r>
          </a:p>
          <a:p>
            <a:pPr/>
            <a:endParaRPr lang="zh-CN" dirty="0"/>
          </a:p>
          <a:p>
            <a:pPr/>
            <a:r>
              <a:rPr lang="zh-CN" dirty="0"/>
              <a:t>1982年这份完整文本，是在此前基础上作全面修改、重新通过并公布的宪法。它继承并发展既有原则，也改变了许多具体安排。1988年修正案明确指向这部宪法的个别条款，作部分修改；后面几次也是分别通过相应修正案改变有关内容。不能只数修改次数，就说换了五部新的完整宪法。</a:t>
            </a:r>
          </a:p>
          <a:p>
            <a:pPr/>
            <a:endParaRPr lang="zh-CN" dirty="0"/>
          </a:p>
          <a:p>
            <a:pPr/>
            <a:r>
              <a:rPr lang="zh-CN" dirty="0"/>
              <a:t>监察法则是根据宪法制定的普通法律。它不会因为同国家机关有关，就自动成为宪法修正案。实践中的组织变化、有关试点决定和法律草案，也各有自己的依据与作用，不能仅因都被称为改革，就视为同一种法律行为。</a:t>
            </a:r>
          </a:p>
          <a:p>
            <a:pPr/>
            <a:endParaRPr lang="zh-CN" dirty="0"/>
          </a:p>
          <a:p>
            <a:pPr/>
            <a:r>
              <a:rPr lang="zh-CN" dirty="0"/>
              <a:t>今天仍称现行宪法为1982年宪法，是在说明它的形成与沿革；今天读到的有效内容，已经吸收后来的修正。文本身份持续存在，不表示每一条原封不动；重新公布完整文本，也不表示全部历史经验从零开始。</a:t>
            </a:r>
          </a:p>
          <a:p>
            <a:pPr/>
            <a:endParaRPr lang="zh-CN" dirty="0"/>
          </a:p>
          <a:p>
            <a:pPr/>
            <a:r>
              <a:rPr lang="zh-CN" dirty="0"/>
              <a:t>最后再把时间放准。研究历史，要看当时有效的规范、实际行为和有关解释；查今天的要求，要读修正后的有效文本。后来出现清楚规定，可以证明后来怎样安排，却不能独自证明过去所有行为的法律地位。</a:t>
            </a:r>
          </a:p>
          <a:p>
            <a:pPr/>
            <a:endParaRPr lang="zh-CN" dirty="0"/>
          </a:p>
          <a:p>
            <a:pPr/>
            <a:r>
              <a:rPr lang="zh-CN" dirty="0"/>
              <a:t>十三、从历史走向现行制度</a:t>
            </a:r>
          </a:p>
          <a:p>
            <a:pPr/>
            <a:endParaRPr lang="zh-CN" dirty="0"/>
          </a:p>
          <a:p>
            <a:pPr/>
            <a:r>
              <a:rPr lang="zh-CN" dirty="0"/>
              <a:t>这一讲，我们从宪法如何形成，走到具体规则怎样改变。原文对读告诉我们改变了什么，人物和制度材料帮助理解为什么提出改变，权限与程序说明谁能够依法完成改变，实际运行还需要另一类事实来检验。</a:t>
            </a:r>
          </a:p>
          <a:p>
            <a:pPr/>
            <a:endParaRPr lang="zh-CN" dirty="0"/>
          </a:p>
          <a:p>
            <a:pPr/>
            <a:r>
              <a:rPr lang="zh-CN" dirty="0"/>
              <a:t>因此，面对“恢复”“完善”“改革”这些概括，要继续把对象和依据说清。有些变化是恢复原有职责，有些是明确一般要求，有些是在保留制度基础的同时调整具体关系。遇到真实张力，还须认真研究解释和反对理由，不能把历史简单讲成一串自动正确的结果。</a:t>
            </a:r>
          </a:p>
          <a:p>
            <a:pPr/>
            <a:endParaRPr lang="zh-CN" dirty="0"/>
          </a:p>
          <a:p>
            <a:pPr/>
            <a:r>
              <a:rPr lang="zh-CN" dirty="0"/>
              <a:t>下一讲，我们回到现行宪法，系统学习国家性质与国家形式。今天的历史为这些制度提供来处；接下来再看国家的性质、权力组织与地域关系，怎样在现行宪法中联系起来。</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ecture-02-20261015-student-rea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ecture-02-20261015-student-rea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694341371f4b85f.jp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1-course"/>
          <p:cNvGrpSpPr/>
          <p:nvPr/>
        </p:nvGrpSpPr>
        <p:grpSpPr>
          <a:xfrm>
            <a:off x="445008" y="438150"/>
            <a:ext cx="11280267" cy="552450"/>
            <a:chOff x="445008" y="438150"/>
            <a:chExt cx="11280267" cy="552450"/>
          </a:xfrm>
        </p:grpSpPr>
        <p:sp>
          <p:nvSpPr>
            <p:cNvPr id="2" name="TextBox 2"/>
            <p:cNvSpPr txBox="1"/>
            <p:nvPr/>
          </p:nvSpPr>
          <p:spPr>
            <a:xfrm>
              <a:off x="445008" y="438150"/>
              <a:ext cx="314797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第二讲 · 宪法的发展</a:t>
              </a:r>
            </a:p>
          </p:txBody>
        </p:sp>
        <p:sp>
          <p:nvSpPr>
            <p:cNvPr id="3" name="Line 3"/>
            <p:cNvSpPr/>
            <p:nvPr/>
          </p:nvSpPr>
          <p:spPr>
            <a:xfrm>
              <a:off x="457200" y="981075"/>
              <a:ext cx="11268075" cy="9525"/>
            </a:xfrm>
            <a:custGeom>
              <a:avLst/>
              <a:gdLst/>
              <a:ahLst/>
              <a:cxnLst/>
              <a:rect l="l" t="t" r="r" b="b"/>
              <a:pathLst>
                <a:path w="11268075" h="9525">
                  <a:moveTo>
                    <a:pt x="0" y="0"/>
                  </a:moveTo>
                  <a:lnTo>
                    <a:pt x="11268075" y="0"/>
                  </a:lnTo>
                </a:path>
              </a:pathLst>
            </a:custGeom>
            <a:noFill/>
            <a:ln w="9525">
              <a:solidFill>
                <a:schemeClr val="accent6"/>
              </a:solidFill>
            </a:ln>
          </p:spPr>
        </p:sp>
      </p:grpSp>
      <p:grpSp>
        <p:nvGrpSpPr>
          <p:cNvPr id="10" name="p01-volume"/>
          <p:cNvGrpSpPr/>
          <p:nvPr/>
        </p:nvGrpSpPr>
        <p:grpSpPr>
          <a:xfrm>
            <a:off x="457200" y="1390650"/>
            <a:ext cx="3505200" cy="4572000"/>
            <a:chOff x="457200" y="1390650"/>
            <a:chExt cx="3505200" cy="4572000"/>
          </a:xfrm>
        </p:grpSpPr>
        <p:sp>
          <p:nvSpPr>
            <p:cNvPr id="5" name="Rectangle 5"/>
            <p:cNvSpPr/>
            <p:nvPr/>
          </p:nvSpPr>
          <p:spPr>
            <a:xfrm>
              <a:off x="457200" y="1390650"/>
              <a:ext cx="3505200" cy="4572000"/>
            </a:xfrm>
            <a:prstGeom prst="rect">
              <a:avLst/>
            </a:prstGeom>
            <a:solidFill>
              <a:schemeClr val="accent1"/>
            </a:solidFill>
            <a:ln>
              <a:noFill/>
            </a:ln>
          </p:spPr>
        </p:sp>
        <p:sp>
          <p:nvSpPr>
            <p:cNvPr id="6" name="TextBox 6"/>
            <p:cNvSpPr txBox="1"/>
            <p:nvPr/>
          </p:nvSpPr>
          <p:spPr>
            <a:xfrm>
              <a:off x="819150" y="1857375"/>
              <a:ext cx="859536" cy="1019175"/>
            </a:xfrm>
            <a:prstGeom prst="rect">
              <a:avLst/>
            </a:prstGeom>
            <a:noFill/>
            <a:ln>
              <a:noFill/>
            </a:ln>
          </p:spPr>
          <p:txBody>
            <a:bodyPr wrap="none" lIns="0" tIns="0" rIns="0" bIns="0" anchor="t" anchorCtr="0">
              <a:spAutoFit/>
            </a:bodyPr>
            <a:lstStyle/>
            <a:p>
              <a:pPr algn="l"/>
              <a:r>
                <a:rPr lang="zh-CN" sz="5250" dirty="0">
                  <a:solidFill>
                    <a:srgbClr val="F7F3EA"/>
                  </a:solidFill>
                  <a:latin typeface="+mj-lt"/>
                  <a:ea typeface="+mj-ea"/>
                  <a:cs typeface="+mj-cs"/>
                </a:rPr>
                <a:t>02</a:t>
              </a:r>
            </a:p>
          </p:txBody>
        </p:sp>
        <p:sp>
          <p:nvSpPr>
            <p:cNvPr id="7" name="Line 7"/>
            <p:cNvSpPr/>
            <p:nvPr/>
          </p:nvSpPr>
          <p:spPr>
            <a:xfrm>
              <a:off x="838200" y="2990850"/>
              <a:ext cx="2724150" cy="9525"/>
            </a:xfrm>
            <a:custGeom>
              <a:avLst/>
              <a:gdLst/>
              <a:ahLst/>
              <a:cxnLst/>
              <a:rect l="l" t="t" r="r" b="b"/>
              <a:pathLst>
                <a:path w="2724150" h="9525">
                  <a:moveTo>
                    <a:pt x="0" y="0"/>
                  </a:moveTo>
                  <a:lnTo>
                    <a:pt x="2724150" y="0"/>
                  </a:lnTo>
                </a:path>
              </a:pathLst>
            </a:custGeom>
            <a:noFill/>
            <a:ln w="9525">
              <a:solidFill>
                <a:schemeClr val="accent6"/>
              </a:solidFill>
            </a:ln>
          </p:spPr>
        </p:sp>
        <p:sp>
          <p:nvSpPr>
            <p:cNvPr id="8" name="TextBox 8"/>
            <p:cNvSpPr txBox="1"/>
            <p:nvPr/>
          </p:nvSpPr>
          <p:spPr>
            <a:xfrm>
              <a:off x="819150" y="3270250"/>
              <a:ext cx="2038350" cy="1857375"/>
            </a:xfrm>
            <a:prstGeom prst="rect">
              <a:avLst/>
            </a:prstGeom>
            <a:noFill/>
            <a:ln>
              <a:noFill/>
            </a:ln>
          </p:spPr>
          <p:txBody>
            <a:bodyPr wrap="none" lIns="0" tIns="0" rIns="0" bIns="0" anchor="t" anchorCtr="0">
              <a:spAutoFit/>
            </a:bodyPr>
            <a:lstStyle/>
            <a:p>
              <a:pPr algn="l">
                <a:lnSpc>
                  <a:spcPts val="6600"/>
                </a:lnSpc>
              </a:pPr>
              <a:r>
                <a:rPr lang="zh-CN" sz="5250" dirty="0">
                  <a:solidFill>
                    <a:srgbClr val="F7F3EA"/>
                  </a:solidFill>
                  <a:latin typeface="+mj-lt"/>
                  <a:ea typeface="+mj-ea"/>
                  <a:cs typeface="+mj-cs"/>
                </a:rPr>
                <a:t>宪法</a:t>
              </a:r>
              <a:br>
                <a:rPr lang="zh-CN" sz="5250" dirty="0">
                  <a:solidFill>
                    <a:srgbClr val="F7F3EA"/>
                  </a:solidFill>
                  <a:latin typeface="+mj-lt"/>
                  <a:ea typeface="+mj-ea"/>
                  <a:cs typeface="+mj-cs"/>
                </a:rPr>
              </a:br>
              <a:r>
                <a:rPr lang="zh-CN" sz="5250" dirty="0">
                  <a:solidFill>
                    <a:srgbClr val="F7F3EA"/>
                  </a:solidFill>
                  <a:latin typeface="+mj-lt"/>
                  <a:ea typeface="+mj-ea"/>
                  <a:cs typeface="+mj-cs"/>
                </a:rPr>
                <a:t>的发展</a:t>
              </a:r>
            </a:p>
          </p:txBody>
        </p:sp>
        <p:sp>
          <p:nvSpPr>
            <p:cNvPr id="9" name="TextBox 9"/>
            <p:cNvSpPr txBox="1"/>
            <p:nvPr/>
          </p:nvSpPr>
          <p:spPr>
            <a:xfrm>
              <a:off x="831342" y="5378450"/>
              <a:ext cx="1522133" cy="264033"/>
            </a:xfrm>
            <a:prstGeom prst="rect">
              <a:avLst/>
            </a:prstGeom>
            <a:noFill/>
            <a:ln>
              <a:noFill/>
            </a:ln>
          </p:spPr>
          <p:txBody>
            <a:bodyPr wrap="none" lIns="0" tIns="0" rIns="0" bIns="0" anchor="t" anchorCtr="0">
              <a:spAutoFit/>
            </a:bodyPr>
            <a:lstStyle/>
            <a:p>
              <a:pPr algn="l"/>
              <a:r>
                <a:rPr lang="zh-CN" sz="1350" dirty="0">
                  <a:solidFill>
                    <a:srgbClr val="F7F3EA"/>
                  </a:solidFill>
                  <a:latin typeface="+mn-lt"/>
                  <a:ea typeface="+mn-ea"/>
                  <a:cs typeface="+mn-cs"/>
                </a:rPr>
                <a:t>形成 · 承接 · 改变</a:t>
              </a:r>
            </a:p>
          </p:txBody>
        </p:sp>
      </p:grpSp>
      <p:grpSp>
        <p:nvGrpSpPr>
          <p:cNvPr id="12" name="p01-opening-question"/>
          <p:cNvGrpSpPr/>
          <p:nvPr/>
        </p:nvGrpSpPr>
        <p:grpSpPr>
          <a:xfrm>
            <a:off x="4552950" y="2012950"/>
            <a:ext cx="3371850" cy="1857375"/>
            <a:chOff x="4552950" y="2012950"/>
            <a:chExt cx="3371850" cy="1857375"/>
          </a:xfrm>
        </p:grpSpPr>
        <p:sp>
          <p:nvSpPr>
            <p:cNvPr id="11" name="TextBox 11"/>
            <p:cNvSpPr txBox="1"/>
            <p:nvPr/>
          </p:nvSpPr>
          <p:spPr>
            <a:xfrm>
              <a:off x="4552950" y="2012950"/>
              <a:ext cx="3371850" cy="1857375"/>
            </a:xfrm>
            <a:prstGeom prst="rect">
              <a:avLst/>
            </a:prstGeom>
            <a:noFill/>
            <a:ln>
              <a:noFill/>
            </a:ln>
          </p:spPr>
          <p:txBody>
            <a:bodyPr wrap="none" lIns="0" tIns="0" rIns="0" bIns="0" anchor="t" anchorCtr="0">
              <a:spAutoFit/>
            </a:bodyPr>
            <a:lstStyle/>
            <a:p>
              <a:pPr algn="l">
                <a:lnSpc>
                  <a:spcPts val="6600"/>
                </a:lnSpc>
              </a:pPr>
              <a:r>
                <a:rPr lang="zh-CN" sz="5250" dirty="0">
                  <a:solidFill>
                    <a:schemeClr val="accent1"/>
                  </a:solidFill>
                  <a:latin typeface="+mj-lt"/>
                  <a:ea typeface="+mj-ea"/>
                  <a:cs typeface="+mj-cs"/>
                </a:rPr>
                <a:t>根本规则，</a:t>
              </a:r>
              <a:br>
                <a:rPr lang="zh-CN" sz="5250" dirty="0">
                  <a:solidFill>
                    <a:schemeClr val="accent1"/>
                  </a:solidFill>
                  <a:latin typeface="+mj-lt"/>
                  <a:ea typeface="+mj-ea"/>
                  <a:cs typeface="+mj-cs"/>
                </a:rPr>
              </a:br>
              <a:r>
                <a:rPr lang="zh-CN" sz="5250" dirty="0">
                  <a:solidFill>
                    <a:schemeClr val="accent1"/>
                  </a:solidFill>
                  <a:latin typeface="+mj-lt"/>
                  <a:ea typeface="+mj-ea"/>
                  <a:cs typeface="+mj-cs"/>
                </a:rPr>
                <a:t>从哪里来？</a:t>
              </a:r>
            </a:p>
          </p:txBody>
        </p:sp>
      </p:grpSp>
      <p:grpSp>
        <p:nvGrpSpPr>
          <p:cNvPr id="15" name="p01-following-question"/>
          <p:cNvGrpSpPr/>
          <p:nvPr/>
        </p:nvGrpSpPr>
        <p:grpSpPr>
          <a:xfrm>
            <a:off x="4560570" y="4705350"/>
            <a:ext cx="3354705" cy="779780"/>
            <a:chOff x="4560570" y="4705350"/>
            <a:chExt cx="3354705" cy="779780"/>
          </a:xfrm>
        </p:grpSpPr>
        <p:sp>
          <p:nvSpPr>
            <p:cNvPr id="13" name="Line 13"/>
            <p:cNvSpPr/>
            <p:nvPr/>
          </p:nvSpPr>
          <p:spPr>
            <a:xfrm>
              <a:off x="4572000" y="4705350"/>
              <a:ext cx="742950" cy="9525"/>
            </a:xfrm>
            <a:custGeom>
              <a:avLst/>
              <a:gdLst/>
              <a:ahLst/>
              <a:cxnLst/>
              <a:rect l="l" t="t" r="r" b="b"/>
              <a:pathLst>
                <a:path w="742950" h="9525">
                  <a:moveTo>
                    <a:pt x="0" y="0"/>
                  </a:moveTo>
                  <a:lnTo>
                    <a:pt x="742950" y="0"/>
                  </a:lnTo>
                </a:path>
              </a:pathLst>
            </a:custGeom>
            <a:noFill/>
            <a:ln w="28575">
              <a:solidFill>
                <a:schemeClr val="accent2"/>
              </a:solidFill>
            </a:ln>
          </p:spPr>
        </p:sp>
        <p:sp>
          <p:nvSpPr>
            <p:cNvPr id="14" name="TextBox 14"/>
            <p:cNvSpPr txBox="1"/>
            <p:nvPr/>
          </p:nvSpPr>
          <p:spPr>
            <a:xfrm>
              <a:off x="4560570" y="5045075"/>
              <a:ext cx="335470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遇到新问题，怎样改变？</a:t>
              </a:r>
            </a:p>
          </p:txBody>
        </p:sp>
      </p:grpSp>
      <p:grpSp>
        <p:nvGrpSpPr>
          <p:cNvPr id="18" name="p01-footer"/>
          <p:cNvGrpSpPr/>
          <p:nvPr/>
        </p:nvGrpSpPr>
        <p:grpSpPr>
          <a:xfrm>
            <a:off x="451866" y="6254750"/>
            <a:ext cx="11288268" cy="205359"/>
            <a:chOff x="451866" y="6254750"/>
            <a:chExt cx="11288268" cy="205359"/>
          </a:xfrm>
        </p:grpSpPr>
        <p:sp>
          <p:nvSpPr>
            <p:cNvPr id="16" name="TextBox 16"/>
            <p:cNvSpPr txBox="1"/>
            <p:nvPr/>
          </p:nvSpPr>
          <p:spPr>
            <a:xfrm>
              <a:off x="451866" y="6254750"/>
              <a:ext cx="271754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宪法学 · 上节｜根本规则的形成与完整文本</a:t>
              </a:r>
            </a:p>
          </p:txBody>
        </p:sp>
        <p:sp>
          <p:nvSpPr>
            <p:cNvPr id="17" name="TextBox 17"/>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01 / 42</a:t>
              </a:r>
            </a:p>
          </p:txBody>
        </p:sp>
      </p:grpSp>
    </p:spTree>
  </p:cSld>
  <p:clrMapOvr>
    <a:masterClrMapping/>
  </p:clrMapOvr>
  <p:transition xmlns:p14="http://schemas.microsoft.com/office/powerpoint/2010/main" p14:dur="3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2-title"/>
          <p:cNvGrpSpPr/>
          <p:nvPr/>
        </p:nvGrpSpPr>
        <p:grpSpPr>
          <a:xfrm>
            <a:off x="441198" y="400050"/>
            <a:ext cx="7290511" cy="946277"/>
            <a:chOff x="441198" y="400050"/>
            <a:chExt cx="7290511" cy="946277"/>
          </a:xfrm>
        </p:grpSpPr>
        <p:sp>
          <p:nvSpPr>
            <p:cNvPr id="2" name="TextBox 2"/>
            <p:cNvSpPr txBox="1"/>
            <p:nvPr/>
          </p:nvSpPr>
          <p:spPr>
            <a:xfrm>
              <a:off x="451104" y="400050"/>
              <a:ext cx="165186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宪法的发展 · 题注观察</a:t>
              </a:r>
            </a:p>
          </p:txBody>
        </p:sp>
        <p:sp>
          <p:nvSpPr>
            <p:cNvPr id="3" name="TextBox 3"/>
            <p:cNvSpPr txBox="1"/>
            <p:nvPr/>
          </p:nvSpPr>
          <p:spPr>
            <a:xfrm>
              <a:off x="441198" y="730250"/>
              <a:ext cx="729051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五次修改，为什么仍称1982年宪法？</a:t>
              </a:r>
            </a:p>
          </p:txBody>
        </p:sp>
      </p:grpSp>
      <p:grpSp>
        <p:nvGrpSpPr>
          <p:cNvPr id="17" name="p02-textual-identity"/>
          <p:cNvGrpSpPr/>
          <p:nvPr/>
        </p:nvGrpSpPr>
        <p:grpSpPr>
          <a:xfrm>
            <a:off x="438150" y="1892300"/>
            <a:ext cx="11287125" cy="2902458"/>
            <a:chOff x="438150" y="1892300"/>
            <a:chExt cx="11287125" cy="2902458"/>
          </a:xfrm>
        </p:grpSpPr>
        <p:sp>
          <p:nvSpPr>
            <p:cNvPr id="5" name="TextBox 5"/>
            <p:cNvSpPr txBox="1"/>
            <p:nvPr/>
          </p:nvSpPr>
          <p:spPr>
            <a:xfrm>
              <a:off x="450342" y="1892300"/>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现行宪法题注中的年份</a:t>
              </a:r>
            </a:p>
          </p:txBody>
        </p:sp>
        <p:sp>
          <p:nvSpPr>
            <p:cNvPr id="6" name="TextBox 6"/>
            <p:cNvSpPr txBox="1"/>
            <p:nvPr/>
          </p:nvSpPr>
          <p:spPr>
            <a:xfrm>
              <a:off x="438150" y="2419350"/>
              <a:ext cx="1680972"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1982</a:t>
              </a:r>
            </a:p>
          </p:txBody>
        </p:sp>
        <p:sp>
          <p:nvSpPr>
            <p:cNvPr id="7" name="TextBox 7"/>
            <p:cNvSpPr txBox="1"/>
            <p:nvPr/>
          </p:nvSpPr>
          <p:spPr>
            <a:xfrm>
              <a:off x="2581656" y="2527300"/>
              <a:ext cx="1618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1982年12月4日</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通过并公布施行</a:t>
              </a:r>
            </a:p>
          </p:txBody>
        </p:sp>
        <p:sp>
          <p:nvSpPr>
            <p:cNvPr id="8" name="Line 8"/>
            <p:cNvSpPr/>
            <p:nvPr/>
          </p:nvSpPr>
          <p:spPr>
            <a:xfrm>
              <a:off x="466725" y="3505200"/>
              <a:ext cx="11258550" cy="9525"/>
            </a:xfrm>
            <a:custGeom>
              <a:avLst/>
              <a:gdLst/>
              <a:ahLst/>
              <a:cxnLst/>
              <a:rect l="l" t="t" r="r" b="b"/>
              <a:pathLst>
                <a:path w="11258550" h="9525">
                  <a:moveTo>
                    <a:pt x="0" y="0"/>
                  </a:moveTo>
                  <a:lnTo>
                    <a:pt x="11258550" y="0"/>
                  </a:lnTo>
                </a:path>
              </a:pathLst>
            </a:custGeom>
            <a:noFill/>
            <a:ln w="19050">
              <a:solidFill>
                <a:schemeClr val="accent1"/>
              </a:solidFill>
            </a:ln>
          </p:spPr>
        </p:sp>
        <p:sp>
          <p:nvSpPr>
            <p:cNvPr id="9" name="TextBox 9"/>
            <p:cNvSpPr txBox="1"/>
            <p:nvPr/>
          </p:nvSpPr>
          <p:spPr>
            <a:xfrm>
              <a:off x="450342" y="3787775"/>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后来五次修正</a:t>
              </a:r>
            </a:p>
          </p:txBody>
        </p:sp>
        <p:grpSp>
          <p:nvGrpSpPr>
            <p:cNvPr id="15" name="p02-amendment-years"/>
            <p:cNvGrpSpPr/>
            <p:nvPr/>
          </p:nvGrpSpPr>
          <p:grpSpPr>
            <a:xfrm>
              <a:off x="2654808" y="3975100"/>
              <a:ext cx="8166811" cy="469392"/>
              <a:chOff x="2654808" y="3975100"/>
              <a:chExt cx="8166811" cy="469392"/>
            </a:xfrm>
          </p:grpSpPr>
          <p:sp>
            <p:nvSpPr>
              <p:cNvPr id="10" name="TextBox 10"/>
              <p:cNvSpPr txBox="1"/>
              <p:nvPr/>
            </p:nvSpPr>
            <p:spPr>
              <a:xfrm>
                <a:off x="2654808" y="397510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1988</a:t>
                </a:r>
              </a:p>
            </p:txBody>
          </p:sp>
          <p:sp>
            <p:nvSpPr>
              <p:cNvPr id="11" name="TextBox 11"/>
              <p:cNvSpPr txBox="1"/>
              <p:nvPr/>
            </p:nvSpPr>
            <p:spPr>
              <a:xfrm>
                <a:off x="4502658" y="397510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1993</a:t>
                </a:r>
              </a:p>
            </p:txBody>
          </p:sp>
          <p:sp>
            <p:nvSpPr>
              <p:cNvPr id="12" name="TextBox 12"/>
              <p:cNvSpPr txBox="1"/>
              <p:nvPr/>
            </p:nvSpPr>
            <p:spPr>
              <a:xfrm>
                <a:off x="6350508" y="397510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1999</a:t>
                </a:r>
              </a:p>
            </p:txBody>
          </p:sp>
          <p:sp>
            <p:nvSpPr>
              <p:cNvPr id="13" name="TextBox 13"/>
              <p:cNvSpPr txBox="1"/>
              <p:nvPr/>
            </p:nvSpPr>
            <p:spPr>
              <a:xfrm>
                <a:off x="8198358" y="397510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2004</a:t>
                </a:r>
              </a:p>
            </p:txBody>
          </p:sp>
          <p:sp>
            <p:nvSpPr>
              <p:cNvPr id="14" name="TextBox 14"/>
              <p:cNvSpPr txBox="1"/>
              <p:nvPr/>
            </p:nvSpPr>
            <p:spPr>
              <a:xfrm>
                <a:off x="10046208" y="397510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2018</a:t>
                </a:r>
              </a:p>
            </p:txBody>
          </p:sp>
        </p:grpSp>
        <p:sp>
          <p:nvSpPr>
            <p:cNvPr id="16" name="TextBox 16"/>
            <p:cNvSpPr txBox="1"/>
            <p:nvPr/>
          </p:nvSpPr>
          <p:spPr>
            <a:xfrm>
              <a:off x="450342" y="4530725"/>
              <a:ext cx="310324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按发生顺序定位，不按年数比例排列。</a:t>
              </a:r>
            </a:p>
          </p:txBody>
        </p:sp>
      </p:grpSp>
      <p:grpSp>
        <p:nvGrpSpPr>
          <p:cNvPr id="21" name="p02-open-questions"/>
          <p:cNvGrpSpPr/>
          <p:nvPr/>
        </p:nvGrpSpPr>
        <p:grpSpPr>
          <a:xfrm>
            <a:off x="445770" y="5178425"/>
            <a:ext cx="9544050" cy="940308"/>
            <a:chOff x="445770" y="5178425"/>
            <a:chExt cx="9544050" cy="940308"/>
          </a:xfrm>
        </p:grpSpPr>
        <p:sp>
          <p:nvSpPr>
            <p:cNvPr id="18" name="TextBox 18"/>
            <p:cNvSpPr txBox="1"/>
            <p:nvPr/>
          </p:nvSpPr>
          <p:spPr>
            <a:xfrm>
              <a:off x="445770" y="5178425"/>
              <a:ext cx="396049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还是这部宪法，内容没变吗？</a:t>
              </a:r>
            </a:p>
          </p:txBody>
        </p:sp>
        <p:sp>
          <p:nvSpPr>
            <p:cNvPr id="19" name="TextBox 19"/>
            <p:cNvSpPr txBox="1"/>
            <p:nvPr/>
          </p:nvSpPr>
          <p:spPr>
            <a:xfrm>
              <a:off x="6332220" y="5178425"/>
              <a:ext cx="365760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改了五次，就换了五部吗？</a:t>
              </a:r>
            </a:p>
          </p:txBody>
        </p:sp>
        <p:sp>
          <p:nvSpPr>
            <p:cNvPr id="20" name="TextBox 20"/>
            <p:cNvSpPr txBox="1"/>
            <p:nvPr/>
          </p:nvSpPr>
          <p:spPr>
            <a:xfrm>
              <a:off x="450342" y="5854700"/>
              <a:ext cx="492061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先读三版自由保障，再看国有土地使用安排；最后回到题注。</a:t>
              </a:r>
            </a:p>
          </p:txBody>
        </p:sp>
      </p:grpSp>
      <p:grpSp>
        <p:nvGrpSpPr>
          <p:cNvPr id="24" name="p02-footer"/>
          <p:cNvGrpSpPr/>
          <p:nvPr/>
        </p:nvGrpSpPr>
        <p:grpSpPr>
          <a:xfrm>
            <a:off x="451866" y="6254750"/>
            <a:ext cx="11288268" cy="205359"/>
            <a:chOff x="451866" y="6254750"/>
            <a:chExt cx="11288268" cy="205359"/>
          </a:xfrm>
        </p:grpSpPr>
        <p:sp>
          <p:nvSpPr>
            <p:cNvPr id="22" name="TextBox 22"/>
            <p:cNvSpPr txBox="1"/>
            <p:nvPr/>
          </p:nvSpPr>
          <p:spPr>
            <a:xfrm>
              <a:off x="451866" y="6254750"/>
              <a:ext cx="382714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《中华人民共和国宪法》题注。年份转写，非题注全文影像。</a:t>
              </a:r>
            </a:p>
          </p:txBody>
        </p:sp>
        <p:sp>
          <p:nvSpPr>
            <p:cNvPr id="23" name="TextBox 23"/>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02 / 42</a:t>
              </a:r>
            </a:p>
          </p:txBody>
        </p:sp>
      </p:grpSp>
    </p:spTree>
  </p:cSld>
  <p:clrMapOvr>
    <a:masterClrMapping/>
  </p:clrMapOvr>
  <p:transition xmlns:p14="http://schemas.microsoft.com/office/powerpoint/2010/main" p14:dur="3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3-title"/>
          <p:cNvGrpSpPr/>
          <p:nvPr/>
        </p:nvGrpSpPr>
        <p:grpSpPr>
          <a:xfrm>
            <a:off x="441198" y="400050"/>
            <a:ext cx="4512564" cy="933577"/>
            <a:chOff x="441198" y="400050"/>
            <a:chExt cx="4512564" cy="933577"/>
          </a:xfrm>
        </p:grpSpPr>
        <p:sp>
          <p:nvSpPr>
            <p:cNvPr id="2" name="TextBox 2"/>
            <p:cNvSpPr txBox="1"/>
            <p:nvPr/>
          </p:nvSpPr>
          <p:spPr>
            <a:xfrm>
              <a:off x="451104" y="400050"/>
              <a:ext cx="181340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宪法的发展 · 形成的背景</a:t>
              </a:r>
            </a:p>
          </p:txBody>
        </p:sp>
        <p:sp>
          <p:nvSpPr>
            <p:cNvPr id="3" name="TextBox 3"/>
            <p:cNvSpPr txBox="1"/>
            <p:nvPr/>
          </p:nvSpPr>
          <p:spPr>
            <a:xfrm>
              <a:off x="441198" y="717550"/>
              <a:ext cx="451256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根本规则回应现实问题</a:t>
              </a:r>
            </a:p>
          </p:txBody>
        </p:sp>
      </p:grpSp>
      <p:grpSp>
        <p:nvGrpSpPr>
          <p:cNvPr id="15" name="p03-changing-conditions"/>
          <p:cNvGrpSpPr/>
          <p:nvPr/>
        </p:nvGrpSpPr>
        <p:grpSpPr>
          <a:xfrm>
            <a:off x="445008" y="1771650"/>
            <a:ext cx="6451092" cy="3505200"/>
            <a:chOff x="445008" y="1771650"/>
            <a:chExt cx="6451092" cy="3505200"/>
          </a:xfrm>
        </p:grpSpPr>
        <p:grpSp>
          <p:nvGrpSpPr>
            <p:cNvPr id="9" name="p03-context-labels"/>
            <p:cNvGrpSpPr/>
            <p:nvPr/>
          </p:nvGrpSpPr>
          <p:grpSpPr>
            <a:xfrm>
              <a:off x="445008" y="1797050"/>
              <a:ext cx="707136" cy="3098292"/>
              <a:chOff x="445008" y="1797050"/>
              <a:chExt cx="707136" cy="3098292"/>
            </a:xfrm>
          </p:grpSpPr>
          <p:sp>
            <p:nvSpPr>
              <p:cNvPr id="5" name="TextBox 5"/>
              <p:cNvSpPr txBox="1"/>
              <p:nvPr/>
            </p:nvSpPr>
            <p:spPr>
              <a:xfrm>
                <a:off x="445008" y="179705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经济</a:t>
                </a:r>
              </a:p>
            </p:txBody>
          </p:sp>
          <p:sp>
            <p:nvSpPr>
              <p:cNvPr id="6" name="TextBox 6"/>
              <p:cNvSpPr txBox="1"/>
              <p:nvPr/>
            </p:nvSpPr>
            <p:spPr>
              <a:xfrm>
                <a:off x="445008" y="267335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政治</a:t>
                </a:r>
              </a:p>
            </p:txBody>
          </p:sp>
          <p:sp>
            <p:nvSpPr>
              <p:cNvPr id="7" name="TextBox 7"/>
              <p:cNvSpPr txBox="1"/>
              <p:nvPr/>
            </p:nvSpPr>
            <p:spPr>
              <a:xfrm>
                <a:off x="445008" y="354965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思想</a:t>
                </a:r>
              </a:p>
            </p:txBody>
          </p:sp>
          <p:sp>
            <p:nvSpPr>
              <p:cNvPr id="8" name="TextBox 8"/>
              <p:cNvSpPr txBox="1"/>
              <p:nvPr/>
            </p:nvSpPr>
            <p:spPr>
              <a:xfrm>
                <a:off x="445008" y="442595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法律</a:t>
                </a:r>
              </a:p>
            </p:txBody>
          </p:sp>
        </p:grpSp>
        <p:sp>
          <p:nvSpPr>
            <p:cNvPr id="10" name="TextBox 10"/>
            <p:cNvSpPr txBox="1"/>
            <p:nvPr/>
          </p:nvSpPr>
          <p:spPr>
            <a:xfrm>
              <a:off x="1724406" y="1803400"/>
              <a:ext cx="2761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新的经济活动，</a:t>
              </a:r>
              <a:br>
                <a:rPr lang="zh-CN" sz="1800" dirty="0">
                  <a:solidFill>
                    <a:schemeClr val="dk1"/>
                  </a:solidFill>
                  <a:latin typeface="+mn-lt"/>
                  <a:ea typeface="+mn-ea"/>
                  <a:cs typeface="+mn-cs"/>
                </a:rPr>
              </a:br>
              <a:r>
                <a:rPr lang="zh-CN" sz="1800" dirty="0">
                  <a:solidFill>
                    <a:schemeClr val="dk1"/>
                  </a:solidFill>
                  <a:latin typeface="+mn-lt"/>
                  <a:ea typeface="+mn-ea"/>
                  <a:cs typeface="+mn-cs"/>
                </a:rPr>
                <a:t>要求打破身份与地方特权。</a:t>
              </a:r>
            </a:p>
          </p:txBody>
        </p:sp>
        <p:sp>
          <p:nvSpPr>
            <p:cNvPr id="11" name="TextBox 11"/>
            <p:cNvSpPr txBox="1"/>
            <p:nvPr/>
          </p:nvSpPr>
          <p:spPr>
            <a:xfrm>
              <a:off x="1724406" y="2679700"/>
              <a:ext cx="20756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新的政治力量，</a:t>
              </a:r>
              <a:br>
                <a:rPr lang="zh-CN" sz="1800" dirty="0">
                  <a:solidFill>
                    <a:schemeClr val="dk1"/>
                  </a:solidFill>
                  <a:latin typeface="+mn-lt"/>
                  <a:ea typeface="+mn-ea"/>
                  <a:cs typeface="+mn-cs"/>
                </a:rPr>
              </a:br>
              <a:r>
                <a:rPr lang="zh-CN" sz="1800" dirty="0">
                  <a:solidFill>
                    <a:schemeClr val="dk1"/>
                  </a:solidFill>
                  <a:latin typeface="+mn-lt"/>
                  <a:ea typeface="+mn-ea"/>
                  <a:cs typeface="+mn-cs"/>
                </a:rPr>
                <a:t>要求参与国家决定。</a:t>
              </a:r>
            </a:p>
          </p:txBody>
        </p:sp>
        <p:sp>
          <p:nvSpPr>
            <p:cNvPr id="12" name="TextBox 12"/>
            <p:cNvSpPr txBox="1"/>
            <p:nvPr/>
          </p:nvSpPr>
          <p:spPr>
            <a:xfrm>
              <a:off x="1724406" y="3556000"/>
              <a:ext cx="2761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平等、自由、主权等主张，</a:t>
              </a:r>
              <a:br>
                <a:rPr lang="zh-CN" sz="1800" dirty="0">
                  <a:solidFill>
                    <a:schemeClr val="dk1"/>
                  </a:solidFill>
                  <a:latin typeface="+mn-lt"/>
                  <a:ea typeface="+mn-ea"/>
                  <a:cs typeface="+mn-cs"/>
                </a:rPr>
              </a:br>
              <a:r>
                <a:rPr lang="zh-CN" sz="1800" dirty="0">
                  <a:solidFill>
                    <a:schemeClr val="dk1"/>
                  </a:solidFill>
                  <a:latin typeface="+mn-lt"/>
                  <a:ea typeface="+mn-ea"/>
                  <a:cs typeface="+mn-cs"/>
                </a:rPr>
                <a:t>需要制度上的表达。</a:t>
              </a:r>
            </a:p>
          </p:txBody>
        </p:sp>
        <p:sp>
          <p:nvSpPr>
            <p:cNvPr id="13" name="TextBox 13"/>
            <p:cNvSpPr txBox="1"/>
            <p:nvPr/>
          </p:nvSpPr>
          <p:spPr>
            <a:xfrm>
              <a:off x="1724406" y="4432300"/>
              <a:ext cx="2532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法律分成不同部门，</a:t>
              </a:r>
              <a:br>
                <a:rPr lang="zh-CN" sz="1800" dirty="0">
                  <a:solidFill>
                    <a:schemeClr val="dk1"/>
                  </a:solidFill>
                  <a:latin typeface="+mn-lt"/>
                  <a:ea typeface="+mn-ea"/>
                  <a:cs typeface="+mn-cs"/>
                </a:rPr>
              </a:br>
              <a:r>
                <a:rPr lang="zh-CN" sz="1800" dirty="0">
                  <a:solidFill>
                    <a:schemeClr val="dk1"/>
                  </a:solidFill>
                  <a:latin typeface="+mn-lt"/>
                  <a:ea typeface="+mn-ea"/>
                  <a:cs typeface="+mn-cs"/>
                </a:rPr>
                <a:t>需要更高层次规则联系。</a:t>
              </a:r>
            </a:p>
          </p:txBody>
        </p:sp>
        <p:sp>
          <p:nvSpPr>
            <p:cNvPr id="14" name="Freeform 14"/>
            <p:cNvSpPr/>
            <p:nvPr/>
          </p:nvSpPr>
          <p:spPr>
            <a:xfrm>
              <a:off x="6591300" y="1771650"/>
              <a:ext cx="304800" cy="3505200"/>
            </a:xfrm>
            <a:prstGeom prst="rightBrace">
              <a:avLst/>
            </a:prstGeom>
            <a:noFill/>
            <a:ln w="19050">
              <a:solidFill>
                <a:schemeClr val="accent1"/>
              </a:solidFill>
            </a:ln>
          </p:spPr>
        </p:sp>
      </p:grpSp>
      <p:grpSp>
        <p:nvGrpSpPr>
          <p:cNvPr id="20" name="p03-root-problem"/>
          <p:cNvGrpSpPr/>
          <p:nvPr/>
        </p:nvGrpSpPr>
        <p:grpSpPr>
          <a:xfrm>
            <a:off x="7451598" y="2540000"/>
            <a:ext cx="4273677" cy="2444369"/>
            <a:chOff x="7451598" y="2540000"/>
            <a:chExt cx="4273677" cy="2444369"/>
          </a:xfrm>
        </p:grpSpPr>
        <p:sp>
          <p:nvSpPr>
            <p:cNvPr id="16" name="TextBox 16"/>
            <p:cNvSpPr txBox="1"/>
            <p:nvPr/>
          </p:nvSpPr>
          <p:spPr>
            <a:xfrm>
              <a:off x="7460742" y="2540000"/>
              <a:ext cx="2012823"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需要不同的根本安排回答</a:t>
              </a:r>
            </a:p>
          </p:txBody>
        </p:sp>
        <p:sp>
          <p:nvSpPr>
            <p:cNvPr id="17" name="TextBox 17"/>
            <p:cNvSpPr txBox="1"/>
            <p:nvPr/>
          </p:nvSpPr>
          <p:spPr>
            <a:xfrm>
              <a:off x="7451598" y="3013075"/>
              <a:ext cx="2032254" cy="1206627"/>
            </a:xfrm>
            <a:prstGeom prst="rect">
              <a:avLst/>
            </a:prstGeom>
            <a:noFill/>
            <a:ln>
              <a:noFill/>
            </a:ln>
          </p:spPr>
          <p:txBody>
            <a:bodyPr wrap="none" lIns="0" tIns="0" rIns="0" bIns="0" anchor="t" anchorCtr="0">
              <a:spAutoFit/>
            </a:bodyPr>
            <a:lstStyle/>
            <a:p>
              <a:pPr algn="l">
                <a:lnSpc>
                  <a:spcPts val="4650"/>
                </a:lnSpc>
              </a:pPr>
              <a:r>
                <a:rPr lang="zh-CN" sz="3150" dirty="0">
                  <a:solidFill>
                    <a:schemeClr val="accent1"/>
                  </a:solidFill>
                  <a:latin typeface="+mj-lt"/>
                  <a:ea typeface="+mj-ea"/>
                  <a:cs typeface="+mj-cs"/>
                </a:rPr>
                <a:t>由谁统治？</a:t>
              </a:r>
              <a:br>
                <a:rPr lang="zh-CN" sz="3150" dirty="0">
                  <a:solidFill>
                    <a:schemeClr val="accent1"/>
                  </a:solidFill>
                  <a:latin typeface="+mj-lt"/>
                  <a:ea typeface="+mj-ea"/>
                  <a:cs typeface="+mj-cs"/>
                </a:rPr>
              </a:br>
              <a:r>
                <a:rPr lang="zh-CN" sz="3150" dirty="0">
                  <a:solidFill>
                    <a:schemeClr val="accent1"/>
                  </a:solidFill>
                  <a:latin typeface="+mj-lt"/>
                  <a:ea typeface="+mj-ea"/>
                  <a:cs typeface="+mj-cs"/>
                </a:rPr>
                <a:t>怎样统治？</a:t>
              </a:r>
            </a:p>
          </p:txBody>
        </p:sp>
        <p:sp>
          <p:nvSpPr>
            <p:cNvPr id="18" name="Line 18"/>
            <p:cNvSpPr/>
            <p:nvPr/>
          </p:nvSpPr>
          <p:spPr>
            <a:xfrm>
              <a:off x="7467600" y="4448175"/>
              <a:ext cx="4257675" cy="9525"/>
            </a:xfrm>
            <a:custGeom>
              <a:avLst/>
              <a:gdLst/>
              <a:ahLst/>
              <a:cxnLst/>
              <a:rect l="l" t="t" r="r" b="b"/>
              <a:pathLst>
                <a:path w="4257675" h="9525">
                  <a:moveTo>
                    <a:pt x="0" y="0"/>
                  </a:moveTo>
                  <a:lnTo>
                    <a:pt x="4257675" y="0"/>
                  </a:lnTo>
                </a:path>
              </a:pathLst>
            </a:custGeom>
            <a:noFill/>
            <a:ln w="19050">
              <a:solidFill>
                <a:schemeClr val="accent2"/>
              </a:solidFill>
            </a:ln>
          </p:spPr>
        </p:sp>
        <p:sp>
          <p:nvSpPr>
            <p:cNvPr id="19" name="TextBox 19"/>
            <p:cNvSpPr txBox="1"/>
            <p:nvPr/>
          </p:nvSpPr>
          <p:spPr>
            <a:xfrm>
              <a:off x="7458456" y="4632325"/>
              <a:ext cx="292608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各国面对的困难并不相同。</a:t>
              </a:r>
            </a:p>
          </p:txBody>
        </p:sp>
      </p:grpSp>
      <p:grpSp>
        <p:nvGrpSpPr>
          <p:cNvPr id="22" name="p03-boundary"/>
          <p:cNvGrpSpPr/>
          <p:nvPr/>
        </p:nvGrpSpPr>
        <p:grpSpPr>
          <a:xfrm>
            <a:off x="450342" y="5835650"/>
            <a:ext cx="4557141" cy="264033"/>
            <a:chOff x="450342" y="5835650"/>
            <a:chExt cx="4557141" cy="264033"/>
          </a:xfrm>
        </p:grpSpPr>
        <p:sp>
          <p:nvSpPr>
            <p:cNvPr id="21" name="TextBox 21"/>
            <p:cNvSpPr txBox="1"/>
            <p:nvPr/>
          </p:nvSpPr>
          <p:spPr>
            <a:xfrm>
              <a:off x="450342" y="5835650"/>
              <a:ext cx="455714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这是相互联系的历史背景，不是各国必经的四步流水线。</a:t>
              </a:r>
            </a:p>
          </p:txBody>
        </p:sp>
      </p:grpSp>
      <p:grpSp>
        <p:nvGrpSpPr>
          <p:cNvPr id="25" name="p03-footer"/>
          <p:cNvGrpSpPr/>
          <p:nvPr/>
        </p:nvGrpSpPr>
        <p:grpSpPr>
          <a:xfrm>
            <a:off x="451866" y="6254750"/>
            <a:ext cx="11288268" cy="205359"/>
            <a:chOff x="451866" y="6254750"/>
            <a:chExt cx="11288268" cy="205359"/>
          </a:xfrm>
        </p:grpSpPr>
        <p:sp>
          <p:nvSpPr>
            <p:cNvPr id="23" name="TextBox 23"/>
            <p:cNvSpPr txBox="1"/>
            <p:nvPr/>
          </p:nvSpPr>
          <p:spPr>
            <a:xfrm>
              <a:off x="451866" y="6254750"/>
              <a:ext cx="439254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近代宪法产生的经济、政治、思想与法律背景。教材内容的课堂整理。</a:t>
              </a:r>
            </a:p>
          </p:txBody>
        </p:sp>
        <p:sp>
          <p:nvSpPr>
            <p:cNvPr id="24" name="TextBox 24"/>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03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4-title"/>
          <p:cNvGrpSpPr/>
          <p:nvPr/>
        </p:nvGrpSpPr>
        <p:grpSpPr>
          <a:xfrm>
            <a:off x="441198" y="400050"/>
            <a:ext cx="5408676" cy="933577"/>
            <a:chOff x="441198" y="400050"/>
            <a:chExt cx="5408676" cy="933577"/>
          </a:xfrm>
        </p:grpSpPr>
        <p:sp>
          <p:nvSpPr>
            <p:cNvPr id="2" name="TextBox 2"/>
            <p:cNvSpPr txBox="1"/>
            <p:nvPr/>
          </p:nvSpPr>
          <p:spPr>
            <a:xfrm>
              <a:off x="451104" y="400050"/>
              <a:ext cx="132877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英国 · 王权与议会</a:t>
              </a:r>
            </a:p>
          </p:txBody>
        </p:sp>
        <p:sp>
          <p:nvSpPr>
            <p:cNvPr id="3" name="TextBox 3"/>
            <p:cNvSpPr txBox="1"/>
            <p:nvPr/>
          </p:nvSpPr>
          <p:spPr>
            <a:xfrm>
              <a:off x="441198" y="717550"/>
              <a:ext cx="540867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法律不能由国王一句话搁置</a:t>
              </a:r>
            </a:p>
          </p:txBody>
        </p:sp>
      </p:grpSp>
      <p:grpSp>
        <p:nvGrpSpPr>
          <p:cNvPr id="7" name="p04-source-context"/>
          <p:cNvGrpSpPr/>
          <p:nvPr/>
        </p:nvGrpSpPr>
        <p:grpSpPr>
          <a:xfrm>
            <a:off x="448056" y="1774825"/>
            <a:ext cx="11293602" cy="352044"/>
            <a:chOff x="448056" y="1774825"/>
            <a:chExt cx="11293602" cy="352044"/>
          </a:xfrm>
        </p:grpSpPr>
        <p:sp>
          <p:nvSpPr>
            <p:cNvPr id="5" name="TextBox 5"/>
            <p:cNvSpPr txBox="1"/>
            <p:nvPr/>
          </p:nvSpPr>
          <p:spPr>
            <a:xfrm>
              <a:off x="448056" y="1774825"/>
              <a:ext cx="485249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1688—1689年的政治变动　｜　《权利法案》</a:t>
              </a:r>
            </a:p>
          </p:txBody>
        </p:sp>
        <p:sp>
          <p:nvSpPr>
            <p:cNvPr id="6" name="TextBox 6"/>
            <p:cNvSpPr txBox="1"/>
            <p:nvPr/>
          </p:nvSpPr>
          <p:spPr>
            <a:xfrm>
              <a:off x="8456676" y="1825625"/>
              <a:ext cx="32849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处理王位安排、限制王权、确认议会权利</a:t>
              </a:r>
            </a:p>
          </p:txBody>
        </p:sp>
      </p:grpSp>
      <p:grpSp>
        <p:nvGrpSpPr>
          <p:cNvPr id="14" name="p04-power-under-law"/>
          <p:cNvGrpSpPr/>
          <p:nvPr/>
        </p:nvGrpSpPr>
        <p:grpSpPr>
          <a:xfrm>
            <a:off x="457200" y="2400300"/>
            <a:ext cx="11277600" cy="1962150"/>
            <a:chOff x="457200" y="2400300"/>
            <a:chExt cx="11277600" cy="1962150"/>
          </a:xfrm>
        </p:grpSpPr>
        <p:sp>
          <p:nvSpPr>
            <p:cNvPr id="8" name="Rectangle 8"/>
            <p:cNvSpPr/>
            <p:nvPr/>
          </p:nvSpPr>
          <p:spPr>
            <a:xfrm>
              <a:off x="457200" y="2400300"/>
              <a:ext cx="11277600" cy="1962150"/>
            </a:xfrm>
            <a:prstGeom prst="rect">
              <a:avLst/>
            </a:prstGeom>
            <a:solidFill>
              <a:schemeClr val="lt2"/>
            </a:solidFill>
            <a:ln>
              <a:noFill/>
            </a:ln>
          </p:spPr>
        </p:sp>
        <p:sp>
          <p:nvSpPr>
            <p:cNvPr id="9" name="TextBox 9"/>
            <p:cNvSpPr txBox="1"/>
            <p:nvPr/>
          </p:nvSpPr>
          <p:spPr>
            <a:xfrm>
              <a:off x="749808" y="255905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议会同意</a:t>
              </a:r>
            </a:p>
          </p:txBody>
        </p:sp>
        <p:sp>
          <p:nvSpPr>
            <p:cNvPr id="10" name="Line 10"/>
            <p:cNvSpPr/>
            <p:nvPr/>
          </p:nvSpPr>
          <p:spPr>
            <a:xfrm>
              <a:off x="2590800" y="2800350"/>
              <a:ext cx="5724525" cy="9525"/>
            </a:xfrm>
            <a:custGeom>
              <a:avLst/>
              <a:gdLst/>
              <a:ahLst/>
              <a:cxnLst/>
              <a:rect l="l" t="t" r="r" b="b"/>
              <a:pathLst>
                <a:path w="5724525" h="9525">
                  <a:moveTo>
                    <a:pt x="0" y="0"/>
                  </a:moveTo>
                  <a:lnTo>
                    <a:pt x="5724525" y="0"/>
                  </a:lnTo>
                </a:path>
              </a:pathLst>
            </a:custGeom>
            <a:noFill/>
            <a:ln w="19050">
              <a:solidFill>
                <a:schemeClr val="accent1"/>
              </a:solidFill>
            </a:ln>
          </p:spPr>
        </p:sp>
        <p:sp>
          <p:nvSpPr>
            <p:cNvPr id="11" name="TextBox 11"/>
            <p:cNvSpPr txBox="1"/>
            <p:nvPr/>
          </p:nvSpPr>
          <p:spPr>
            <a:xfrm>
              <a:off x="8827008" y="255905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国王</a:t>
              </a:r>
            </a:p>
          </p:txBody>
        </p:sp>
        <p:sp>
          <p:nvSpPr>
            <p:cNvPr id="12" name="TextBox 12"/>
            <p:cNvSpPr txBox="1"/>
            <p:nvPr/>
          </p:nvSpPr>
          <p:spPr>
            <a:xfrm>
              <a:off x="750570" y="3244850"/>
              <a:ext cx="547497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未经议会同意，不能任意停止法律效力。</a:t>
              </a:r>
            </a:p>
          </p:txBody>
        </p:sp>
        <p:sp>
          <p:nvSpPr>
            <p:cNvPr id="13" name="TextBox 13"/>
            <p:cNvSpPr txBox="1"/>
            <p:nvPr/>
          </p:nvSpPr>
          <p:spPr>
            <a:xfrm>
              <a:off x="755142" y="3873500"/>
              <a:ext cx="328498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条款要旨：把王权也置于法律约束之中。</a:t>
              </a:r>
            </a:p>
          </p:txBody>
        </p:sp>
      </p:grpSp>
      <p:grpSp>
        <p:nvGrpSpPr>
          <p:cNvPr id="17" name="p04-unwritten"/>
          <p:cNvGrpSpPr/>
          <p:nvPr/>
        </p:nvGrpSpPr>
        <p:grpSpPr>
          <a:xfrm>
            <a:off x="445770" y="4664075"/>
            <a:ext cx="6563106" cy="834644"/>
            <a:chOff x="445770" y="4664075"/>
            <a:chExt cx="6563106" cy="834644"/>
          </a:xfrm>
        </p:grpSpPr>
        <p:sp>
          <p:nvSpPr>
            <p:cNvPr id="15" name="TextBox 15"/>
            <p:cNvSpPr txBox="1"/>
            <p:nvPr/>
          </p:nvSpPr>
          <p:spPr>
            <a:xfrm>
              <a:off x="445770" y="4664075"/>
              <a:ext cx="3960495"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不成文</a:t>
              </a:r>
              <a:r>
                <a:rPr lang="zh-CN" sz="2250" dirty="0">
                  <a:solidFill>
                    <a:schemeClr val="dk1"/>
                  </a:solidFill>
                  <a:latin typeface="+mn-lt"/>
                  <a:ea typeface="+mn-ea"/>
                  <a:cs typeface="+mn-cs"/>
                </a:rPr>
                <a:t>：没有统一的宪法法典</a:t>
              </a:r>
            </a:p>
          </p:txBody>
        </p:sp>
        <p:sp>
          <p:nvSpPr>
            <p:cNvPr id="16" name="TextBox 16"/>
            <p:cNvSpPr txBox="1"/>
            <p:nvPr/>
          </p:nvSpPr>
          <p:spPr>
            <a:xfrm>
              <a:off x="448056" y="5146675"/>
              <a:ext cx="656082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法律、判例和惯例共同发挥作用；《权利法案》本身有文字。</a:t>
              </a:r>
            </a:p>
          </p:txBody>
        </p:sp>
      </p:grpSp>
      <p:grpSp>
        <p:nvGrpSpPr>
          <p:cNvPr id="19" name="p04-historical-limit"/>
          <p:cNvGrpSpPr/>
          <p:nvPr/>
        </p:nvGrpSpPr>
        <p:grpSpPr>
          <a:xfrm>
            <a:off x="450342" y="5892800"/>
            <a:ext cx="4920615" cy="264033"/>
            <a:chOff x="450342" y="5892800"/>
            <a:chExt cx="4920615" cy="264033"/>
          </a:xfrm>
        </p:grpSpPr>
        <p:sp>
          <p:nvSpPr>
            <p:cNvPr id="18" name="TextBox 18"/>
            <p:cNvSpPr txBox="1"/>
            <p:nvPr/>
          </p:nvSpPr>
          <p:spPr>
            <a:xfrm>
              <a:off x="450342" y="5892800"/>
              <a:ext cx="492061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回应当时的权力冲突，不等于已经建立今天意义的全民民主。</a:t>
              </a:r>
            </a:p>
          </p:txBody>
        </p:sp>
      </p:grpSp>
      <p:grpSp>
        <p:nvGrpSpPr>
          <p:cNvPr id="22" name="p04-footer"/>
          <p:cNvGrpSpPr/>
          <p:nvPr/>
        </p:nvGrpSpPr>
        <p:grpSpPr>
          <a:xfrm>
            <a:off x="451866" y="6254750"/>
            <a:ext cx="11288268" cy="205359"/>
            <a:chOff x="451866" y="6254750"/>
            <a:chExt cx="11288268" cy="205359"/>
          </a:xfrm>
        </p:grpSpPr>
        <p:sp>
          <p:nvSpPr>
            <p:cNvPr id="20" name="TextBox 20"/>
            <p:cNvSpPr txBox="1"/>
            <p:nvPr/>
          </p:nvSpPr>
          <p:spPr>
            <a:xfrm>
              <a:off x="451866" y="6254750"/>
              <a:ext cx="340309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英国《权利法案》条款要旨；不成文宪法的词义辨析。</a:t>
              </a:r>
            </a:p>
          </p:txBody>
        </p:sp>
        <p:sp>
          <p:nvSpPr>
            <p:cNvPr id="21" name="TextBox 21"/>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04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5-title"/>
          <p:cNvGrpSpPr/>
          <p:nvPr/>
        </p:nvGrpSpPr>
        <p:grpSpPr>
          <a:xfrm>
            <a:off x="441198" y="400050"/>
            <a:ext cx="6304788" cy="933577"/>
            <a:chOff x="441198" y="400050"/>
            <a:chExt cx="6304788" cy="933577"/>
          </a:xfrm>
        </p:grpSpPr>
        <p:sp>
          <p:nvSpPr>
            <p:cNvPr id="2" name="TextBox 2"/>
            <p:cNvSpPr txBox="1"/>
            <p:nvPr/>
          </p:nvSpPr>
          <p:spPr>
            <a:xfrm>
              <a:off x="451104" y="400050"/>
              <a:ext cx="181340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美国 · 共同事务与新权力</a:t>
              </a:r>
            </a:p>
          </p:txBody>
        </p:sp>
        <p:sp>
          <p:nvSpPr>
            <p:cNvPr id="3" name="TextBox 3"/>
            <p:cNvSpPr txBox="1"/>
            <p:nvPr/>
          </p:nvSpPr>
          <p:spPr>
            <a:xfrm>
              <a:off x="441198" y="717550"/>
              <a:ext cx="630478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组织共同事务，也要约束新权力</a:t>
              </a:r>
            </a:p>
          </p:txBody>
        </p:sp>
      </p:grpSp>
      <p:grpSp>
        <p:nvGrpSpPr>
          <p:cNvPr id="7" name="p05-confederation-problem"/>
          <p:cNvGrpSpPr/>
          <p:nvPr/>
        </p:nvGrpSpPr>
        <p:grpSpPr>
          <a:xfrm>
            <a:off x="445770" y="1749425"/>
            <a:ext cx="6805422" cy="882269"/>
            <a:chOff x="445770" y="1749425"/>
            <a:chExt cx="6805422" cy="882269"/>
          </a:xfrm>
        </p:grpSpPr>
        <p:sp>
          <p:nvSpPr>
            <p:cNvPr id="5" name="TextBox 5"/>
            <p:cNvSpPr txBox="1"/>
            <p:nvPr/>
          </p:nvSpPr>
          <p:spPr>
            <a:xfrm>
              <a:off x="445770" y="1749425"/>
              <a:ext cx="396049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邦联：可以作决定、要求经费</a:t>
              </a:r>
            </a:p>
          </p:txBody>
        </p:sp>
        <p:sp>
          <p:nvSpPr>
            <p:cNvPr id="6" name="TextBox 6"/>
            <p:cNvSpPr txBox="1"/>
            <p:nvPr/>
          </p:nvSpPr>
          <p:spPr>
            <a:xfrm>
              <a:off x="448056" y="2279650"/>
              <a:ext cx="68031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却缺少有效执行共同决定的能力；州之间又有税收、贸易争执。</a:t>
              </a:r>
            </a:p>
          </p:txBody>
        </p:sp>
      </p:grpSp>
      <p:grpSp>
        <p:nvGrpSpPr>
          <p:cNvPr id="12" name="p05-capacity"/>
          <p:cNvGrpSpPr/>
          <p:nvPr/>
        </p:nvGrpSpPr>
        <p:grpSpPr>
          <a:xfrm>
            <a:off x="438150" y="3067050"/>
            <a:ext cx="5229225" cy="2307844"/>
            <a:chOff x="438150" y="3067050"/>
            <a:chExt cx="5229225" cy="2307844"/>
          </a:xfrm>
        </p:grpSpPr>
        <p:sp>
          <p:nvSpPr>
            <p:cNvPr id="8" name="Line 8"/>
            <p:cNvSpPr/>
            <p:nvPr/>
          </p:nvSpPr>
          <p:spPr>
            <a:xfrm>
              <a:off x="466725" y="3067050"/>
              <a:ext cx="5200650" cy="9525"/>
            </a:xfrm>
            <a:custGeom>
              <a:avLst/>
              <a:gdLst/>
              <a:ahLst/>
              <a:cxnLst/>
              <a:rect l="l" t="t" r="r" b="b"/>
              <a:pathLst>
                <a:path w="5200650" h="9525">
                  <a:moveTo>
                    <a:pt x="0" y="0"/>
                  </a:moveTo>
                  <a:lnTo>
                    <a:pt x="5200650" y="0"/>
                  </a:lnTo>
                </a:path>
              </a:pathLst>
            </a:custGeom>
            <a:noFill/>
            <a:ln w="19050">
              <a:solidFill>
                <a:schemeClr val="accent1"/>
              </a:solidFill>
            </a:ln>
          </p:spPr>
        </p:sp>
        <p:sp>
          <p:nvSpPr>
            <p:cNvPr id="9" name="TextBox 9"/>
            <p:cNvSpPr txBox="1"/>
            <p:nvPr/>
          </p:nvSpPr>
          <p:spPr>
            <a:xfrm>
              <a:off x="438150" y="3171825"/>
              <a:ext cx="1680972"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1787</a:t>
              </a:r>
            </a:p>
          </p:txBody>
        </p:sp>
        <p:sp>
          <p:nvSpPr>
            <p:cNvPr id="10" name="TextBox 10"/>
            <p:cNvSpPr txBox="1"/>
            <p:nvPr/>
          </p:nvSpPr>
          <p:spPr>
            <a:xfrm>
              <a:off x="445008" y="4130675"/>
              <a:ext cx="309676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使共同事务有人处理</a:t>
              </a:r>
            </a:p>
          </p:txBody>
        </p:sp>
        <p:sp>
          <p:nvSpPr>
            <p:cNvPr id="11" name="TextBox 11"/>
            <p:cNvSpPr txBox="1"/>
            <p:nvPr/>
          </p:nvSpPr>
          <p:spPr>
            <a:xfrm>
              <a:off x="448056" y="4699000"/>
              <a:ext cx="3447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费城会议：从修改《邦联条例》，</a:t>
              </a:r>
              <a:br>
                <a:rPr lang="zh-CN" sz="1800" dirty="0">
                  <a:solidFill>
                    <a:schemeClr val="dk1"/>
                  </a:solidFill>
                  <a:latin typeface="+mn-lt"/>
                  <a:ea typeface="+mn-ea"/>
                  <a:cs typeface="+mn-cs"/>
                </a:rPr>
              </a:br>
              <a:r>
                <a:rPr lang="zh-CN" sz="1800" dirty="0">
                  <a:solidFill>
                    <a:schemeClr val="dk1"/>
                  </a:solidFill>
                  <a:latin typeface="+mn-lt"/>
                  <a:ea typeface="+mn-ea"/>
                  <a:cs typeface="+mn-cs"/>
                </a:rPr>
                <a:t>走到重新组织国家权力的方案。</a:t>
              </a:r>
            </a:p>
          </p:txBody>
        </p:sp>
      </p:grpSp>
      <p:grpSp>
        <p:nvGrpSpPr>
          <p:cNvPr id="18" name="p05-rights"/>
          <p:cNvGrpSpPr/>
          <p:nvPr/>
        </p:nvGrpSpPr>
        <p:grpSpPr>
          <a:xfrm>
            <a:off x="5969508" y="3067050"/>
            <a:ext cx="5755767" cy="3032633"/>
            <a:chOff x="5969508" y="3067050"/>
            <a:chExt cx="5755767" cy="3032633"/>
          </a:xfrm>
        </p:grpSpPr>
        <p:sp>
          <p:nvSpPr>
            <p:cNvPr id="13" name="Line 13"/>
            <p:cNvSpPr/>
            <p:nvPr/>
          </p:nvSpPr>
          <p:spPr>
            <a:xfrm>
              <a:off x="5991225" y="3067050"/>
              <a:ext cx="5734050" cy="9525"/>
            </a:xfrm>
            <a:custGeom>
              <a:avLst/>
              <a:gdLst/>
              <a:ahLst/>
              <a:cxnLst/>
              <a:rect l="l" t="t" r="r" b="b"/>
              <a:pathLst>
                <a:path w="5734050" h="9525">
                  <a:moveTo>
                    <a:pt x="0" y="0"/>
                  </a:moveTo>
                  <a:lnTo>
                    <a:pt x="5734050" y="0"/>
                  </a:lnTo>
                </a:path>
              </a:pathLst>
            </a:custGeom>
            <a:noFill/>
            <a:ln w="19050">
              <a:solidFill>
                <a:schemeClr val="accent2"/>
              </a:solidFill>
            </a:ln>
          </p:spPr>
        </p:sp>
        <p:sp>
          <p:nvSpPr>
            <p:cNvPr id="14" name="TextBox 14"/>
            <p:cNvSpPr txBox="1"/>
            <p:nvPr/>
          </p:nvSpPr>
          <p:spPr>
            <a:xfrm>
              <a:off x="5970270" y="3292475"/>
              <a:ext cx="365760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新权力，怎样不侵害个人？</a:t>
              </a:r>
            </a:p>
          </p:txBody>
        </p:sp>
        <p:sp>
          <p:nvSpPr>
            <p:cNvPr id="15" name="TextBox 15"/>
            <p:cNvSpPr txBox="1"/>
            <p:nvPr/>
          </p:nvSpPr>
          <p:spPr>
            <a:xfrm>
              <a:off x="5969508" y="3816350"/>
              <a:ext cx="3438144" cy="983742"/>
            </a:xfrm>
            <a:prstGeom prst="rect">
              <a:avLst/>
            </a:prstGeom>
            <a:noFill/>
            <a:ln>
              <a:noFill/>
            </a:ln>
          </p:spPr>
          <p:txBody>
            <a:bodyPr wrap="none" lIns="0" tIns="0" rIns="0" bIns="0" anchor="t" anchorCtr="0">
              <a:spAutoFit/>
            </a:bodyPr>
            <a:lstStyle/>
            <a:p>
              <a:pPr algn="l">
                <a:lnSpc>
                  <a:spcPts val="4050"/>
                </a:lnSpc>
              </a:pPr>
              <a:r>
                <a:rPr lang="zh-CN" sz="2400" dirty="0">
                  <a:solidFill>
                    <a:schemeClr val="accent1"/>
                  </a:solidFill>
                  <a:latin typeface="+mj-lt"/>
                  <a:ea typeface="+mj-ea"/>
                  <a:cs typeface="+mj-cs"/>
                </a:rPr>
                <a:t>1789　十二项修正建议</a:t>
              </a:r>
              <a:br>
                <a:rPr lang="zh-CN" sz="2400" dirty="0">
                  <a:solidFill>
                    <a:schemeClr val="accent1"/>
                  </a:solidFill>
                  <a:latin typeface="+mj-lt"/>
                  <a:ea typeface="+mj-ea"/>
                  <a:cs typeface="+mj-cs"/>
                </a:rPr>
              </a:br>
              <a:r>
                <a:rPr lang="zh-CN" sz="2400" dirty="0">
                  <a:solidFill>
                    <a:schemeClr val="accent1"/>
                  </a:solidFill>
                  <a:latin typeface="+mj-lt"/>
                  <a:ea typeface="+mj-ea"/>
                  <a:cs typeface="+mj-cs"/>
                </a:rPr>
                <a:t>1791　其中十项获得批准</a:t>
              </a:r>
            </a:p>
          </p:txBody>
        </p:sp>
        <p:sp>
          <p:nvSpPr>
            <p:cNvPr id="16" name="TextBox 16"/>
            <p:cNvSpPr txBox="1"/>
            <p:nvPr/>
          </p:nvSpPr>
          <p:spPr>
            <a:xfrm>
              <a:off x="5972556" y="4994275"/>
              <a:ext cx="389534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集中列出的权利法案，是随后补充。</a:t>
              </a:r>
            </a:p>
          </p:txBody>
        </p:sp>
        <p:sp>
          <p:nvSpPr>
            <p:cNvPr id="17" name="TextBox 17"/>
            <p:cNvSpPr txBox="1"/>
            <p:nvPr/>
          </p:nvSpPr>
          <p:spPr>
            <a:xfrm>
              <a:off x="5974842" y="5835650"/>
              <a:ext cx="310324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办事能力与权利约束，需要一起考虑。</a:t>
              </a:r>
            </a:p>
          </p:txBody>
        </p:sp>
      </p:grpSp>
      <p:grpSp>
        <p:nvGrpSpPr>
          <p:cNvPr id="21" name="p05-footer"/>
          <p:cNvGrpSpPr/>
          <p:nvPr/>
        </p:nvGrpSpPr>
        <p:grpSpPr>
          <a:xfrm>
            <a:off x="451866" y="6254750"/>
            <a:ext cx="11288268" cy="205359"/>
            <a:chOff x="451866" y="6254750"/>
            <a:chExt cx="11288268" cy="205359"/>
          </a:xfrm>
        </p:grpSpPr>
        <p:sp>
          <p:nvSpPr>
            <p:cNvPr id="19" name="TextBox 19"/>
            <p:cNvSpPr txBox="1"/>
            <p:nvPr/>
          </p:nvSpPr>
          <p:spPr>
            <a:xfrm>
              <a:off x="451866" y="6254750"/>
              <a:ext cx="419465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《邦联条例》、1787美国宪法及1789、1791修正经过。历史概述。</a:t>
              </a:r>
            </a:p>
          </p:txBody>
        </p:sp>
        <p:sp>
          <p:nvSpPr>
            <p:cNvPr id="20" name="TextBox 20"/>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05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6-title"/>
          <p:cNvGrpSpPr/>
          <p:nvPr/>
        </p:nvGrpSpPr>
        <p:grpSpPr>
          <a:xfrm>
            <a:off x="441198" y="400050"/>
            <a:ext cx="5408676" cy="933577"/>
            <a:chOff x="441198" y="400050"/>
            <a:chExt cx="5408676" cy="933577"/>
          </a:xfrm>
        </p:grpSpPr>
        <p:sp>
          <p:nvSpPr>
            <p:cNvPr id="2" name="TextBox 2"/>
            <p:cNvSpPr txBox="1"/>
            <p:nvPr/>
          </p:nvSpPr>
          <p:spPr>
            <a:xfrm>
              <a:off x="451104" y="400050"/>
              <a:ext cx="165186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法国 · 权利与权力安排</a:t>
              </a:r>
            </a:p>
          </p:txBody>
        </p:sp>
        <p:sp>
          <p:nvSpPr>
            <p:cNvPr id="3" name="TextBox 3"/>
            <p:cNvSpPr txBox="1"/>
            <p:nvPr/>
          </p:nvSpPr>
          <p:spPr>
            <a:xfrm>
              <a:off x="441198" y="717550"/>
              <a:ext cx="540867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权利宣言，还需要制度实现</a:t>
              </a:r>
            </a:p>
          </p:txBody>
        </p:sp>
      </p:grpSp>
      <p:grpSp>
        <p:nvGrpSpPr>
          <p:cNvPr id="10" name="p06-declaration"/>
          <p:cNvGrpSpPr/>
          <p:nvPr/>
        </p:nvGrpSpPr>
        <p:grpSpPr>
          <a:xfrm>
            <a:off x="438150" y="1847850"/>
            <a:ext cx="4011930" cy="3057525"/>
            <a:chOff x="438150" y="1847850"/>
            <a:chExt cx="4011930" cy="3057525"/>
          </a:xfrm>
        </p:grpSpPr>
        <p:sp>
          <p:nvSpPr>
            <p:cNvPr id="5" name="TextBox 5"/>
            <p:cNvSpPr txBox="1"/>
            <p:nvPr/>
          </p:nvSpPr>
          <p:spPr>
            <a:xfrm>
              <a:off x="438150" y="1847850"/>
              <a:ext cx="1680972"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1789</a:t>
              </a:r>
            </a:p>
          </p:txBody>
        </p:sp>
        <p:sp>
          <p:nvSpPr>
            <p:cNvPr id="6" name="TextBox 6"/>
            <p:cNvSpPr txBox="1"/>
            <p:nvPr/>
          </p:nvSpPr>
          <p:spPr>
            <a:xfrm>
              <a:off x="448056" y="2736850"/>
              <a:ext cx="341071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《人权和公民权宣言》第十六条</a:t>
              </a:r>
            </a:p>
          </p:txBody>
        </p:sp>
        <p:sp>
          <p:nvSpPr>
            <p:cNvPr id="7" name="TextBox 7"/>
            <p:cNvSpPr txBox="1"/>
            <p:nvPr/>
          </p:nvSpPr>
          <p:spPr>
            <a:xfrm>
              <a:off x="450342" y="3197225"/>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中文译意，非逐字引文</a:t>
              </a:r>
            </a:p>
          </p:txBody>
        </p:sp>
        <p:sp>
          <p:nvSpPr>
            <p:cNvPr id="8" name="Line 8"/>
            <p:cNvSpPr/>
            <p:nvPr/>
          </p:nvSpPr>
          <p:spPr>
            <a:xfrm>
              <a:off x="466725" y="3648075"/>
              <a:ext cx="9525" cy="1257300"/>
            </a:xfrm>
            <a:custGeom>
              <a:avLst/>
              <a:gdLst/>
              <a:ahLst/>
              <a:cxnLst/>
              <a:rect l="l" t="t" r="r" b="b"/>
              <a:pathLst>
                <a:path w="9525" h="1257300">
                  <a:moveTo>
                    <a:pt x="0" y="0"/>
                  </a:moveTo>
                  <a:lnTo>
                    <a:pt x="0" y="1257300"/>
                  </a:lnTo>
                </a:path>
              </a:pathLst>
            </a:custGeom>
            <a:noFill/>
            <a:ln w="28575">
              <a:solidFill>
                <a:schemeClr val="accent2"/>
              </a:solidFill>
            </a:ln>
          </p:spPr>
        </p:sp>
        <p:sp>
          <p:nvSpPr>
            <p:cNvPr id="9" name="TextBox 9"/>
            <p:cNvSpPr txBox="1"/>
            <p:nvPr/>
          </p:nvSpPr>
          <p:spPr>
            <a:xfrm>
              <a:off x="712470" y="3616325"/>
              <a:ext cx="3737610" cy="1278255"/>
            </a:xfrm>
            <a:prstGeom prst="rect">
              <a:avLst/>
            </a:prstGeom>
            <a:noFill/>
            <a:ln>
              <a:noFill/>
            </a:ln>
          </p:spPr>
          <p:txBody>
            <a:bodyPr wrap="none" lIns="0" tIns="0" rIns="0" bIns="0" anchor="t" anchorCtr="0">
              <a:spAutoFit/>
            </a:bodyPr>
            <a:lstStyle/>
            <a:p>
              <a:pPr algn="l">
                <a:lnSpc>
                  <a:spcPts val="3300"/>
                </a:lnSpc>
              </a:pPr>
              <a:r>
                <a:rPr lang="zh-CN" sz="2250" dirty="0">
                  <a:solidFill>
                    <a:schemeClr val="accent1"/>
                  </a:solidFill>
                  <a:latin typeface="+mn-lt"/>
                  <a:ea typeface="+mn-ea"/>
                  <a:cs typeface="+mn-cs"/>
                </a:rPr>
                <a:t>一个社会如果没有保障权利，</a:t>
              </a:r>
              <a:br>
                <a:rPr lang="zh-CN" sz="2250" dirty="0">
                  <a:solidFill>
                    <a:schemeClr val="accent1"/>
                  </a:solidFill>
                  <a:latin typeface="+mn-lt"/>
                  <a:ea typeface="+mn-ea"/>
                  <a:cs typeface="+mn-cs"/>
                </a:rPr>
              </a:br>
              <a:r>
                <a:rPr lang="zh-CN" sz="2250" dirty="0">
                  <a:solidFill>
                    <a:schemeClr val="accent1"/>
                  </a:solidFill>
                  <a:latin typeface="+mn-lt"/>
                  <a:ea typeface="+mn-ea"/>
                  <a:cs typeface="+mn-cs"/>
                </a:rPr>
                <a:t>也没有确定权力的分立，</a:t>
              </a:r>
              <a:br>
                <a:rPr lang="zh-CN" sz="2250" dirty="0">
                  <a:solidFill>
                    <a:schemeClr val="accent1"/>
                  </a:solidFill>
                  <a:latin typeface="+mn-lt"/>
                  <a:ea typeface="+mn-ea"/>
                  <a:cs typeface="+mn-cs"/>
                </a:rPr>
              </a:br>
              <a:r>
                <a:rPr lang="zh-CN" sz="2250" dirty="0">
                  <a:solidFill>
                    <a:schemeClr val="accent1"/>
                  </a:solidFill>
                  <a:latin typeface="+mn-lt"/>
                  <a:ea typeface="+mn-ea"/>
                  <a:cs typeface="+mn-cs"/>
                </a:rPr>
                <a:t>就没有宪法。</a:t>
              </a:r>
            </a:p>
          </p:txBody>
        </p:sp>
      </p:grpSp>
      <p:grpSp>
        <p:nvGrpSpPr>
          <p:cNvPr id="16" name="p06-institutions-after-demand"/>
          <p:cNvGrpSpPr/>
          <p:nvPr/>
        </p:nvGrpSpPr>
        <p:grpSpPr>
          <a:xfrm>
            <a:off x="7950708" y="2152650"/>
            <a:ext cx="3774567" cy="2965958"/>
            <a:chOff x="7950708" y="2152650"/>
            <a:chExt cx="3774567" cy="2965958"/>
          </a:xfrm>
        </p:grpSpPr>
        <p:sp>
          <p:nvSpPr>
            <p:cNvPr id="11" name="TextBox 11"/>
            <p:cNvSpPr txBox="1"/>
            <p:nvPr/>
          </p:nvSpPr>
          <p:spPr>
            <a:xfrm>
              <a:off x="7950708" y="2152650"/>
              <a:ext cx="253349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1791 · 君主立宪</a:t>
              </a:r>
            </a:p>
          </p:txBody>
        </p:sp>
        <p:sp>
          <p:nvSpPr>
            <p:cNvPr id="12" name="TextBox 12"/>
            <p:cNvSpPr txBox="1"/>
            <p:nvPr/>
          </p:nvSpPr>
          <p:spPr>
            <a:xfrm>
              <a:off x="7953756" y="2698750"/>
              <a:ext cx="2304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保留君主，</a:t>
              </a:r>
              <a:br>
                <a:rPr lang="zh-CN" sz="1800" dirty="0">
                  <a:solidFill>
                    <a:schemeClr val="dk1"/>
                  </a:solidFill>
                  <a:latin typeface="+mn-lt"/>
                  <a:ea typeface="+mn-ea"/>
                  <a:cs typeface="+mn-cs"/>
                </a:rPr>
              </a:br>
              <a:r>
                <a:rPr lang="zh-CN" sz="1800" dirty="0">
                  <a:solidFill>
                    <a:schemeClr val="dk1"/>
                  </a:solidFill>
                  <a:latin typeface="+mn-lt"/>
                  <a:ea typeface="+mn-ea"/>
                  <a:cs typeface="+mn-cs"/>
                </a:rPr>
                <a:t>以宪法规定相应权限。</a:t>
              </a:r>
            </a:p>
          </p:txBody>
        </p:sp>
        <p:sp>
          <p:nvSpPr>
            <p:cNvPr id="13" name="Line 13"/>
            <p:cNvSpPr/>
            <p:nvPr/>
          </p:nvSpPr>
          <p:spPr>
            <a:xfrm>
              <a:off x="7972425" y="3667125"/>
              <a:ext cx="3752850" cy="9525"/>
            </a:xfrm>
            <a:custGeom>
              <a:avLst/>
              <a:gdLst/>
              <a:ahLst/>
              <a:cxnLst/>
              <a:rect l="l" t="t" r="r" b="b"/>
              <a:pathLst>
                <a:path w="3752850" h="9525">
                  <a:moveTo>
                    <a:pt x="0" y="0"/>
                  </a:moveTo>
                  <a:lnTo>
                    <a:pt x="3752850" y="0"/>
                  </a:lnTo>
                </a:path>
              </a:pathLst>
            </a:custGeom>
            <a:noFill/>
            <a:ln w="9525">
              <a:solidFill>
                <a:schemeClr val="accent6"/>
              </a:solidFill>
            </a:ln>
          </p:spPr>
        </p:sp>
        <p:sp>
          <p:nvSpPr>
            <p:cNvPr id="14" name="TextBox 14"/>
            <p:cNvSpPr txBox="1"/>
            <p:nvPr/>
          </p:nvSpPr>
          <p:spPr>
            <a:xfrm>
              <a:off x="7951470" y="3740150"/>
              <a:ext cx="2880360" cy="859155"/>
            </a:xfrm>
            <a:prstGeom prst="rect">
              <a:avLst/>
            </a:prstGeom>
            <a:noFill/>
            <a:ln>
              <a:noFill/>
            </a:ln>
          </p:spPr>
          <p:txBody>
            <a:bodyPr wrap="none" lIns="0" tIns="0" rIns="0" bIns="0" anchor="t" anchorCtr="0">
              <a:spAutoFit/>
            </a:bodyPr>
            <a:lstStyle/>
            <a:p>
              <a:pPr algn="l">
                <a:lnSpc>
                  <a:spcPts val="3300"/>
                </a:lnSpc>
              </a:pPr>
              <a:r>
                <a:rPr lang="zh-CN" sz="2250" dirty="0">
                  <a:solidFill>
                    <a:schemeClr val="dk1"/>
                  </a:solidFill>
                  <a:latin typeface="+mn-lt"/>
                  <a:ea typeface="+mn-ea"/>
                  <a:cs typeface="+mn-cs"/>
                </a:rPr>
                <a:t>提出要求以后，</a:t>
              </a:r>
              <a:br>
                <a:rPr lang="zh-CN" sz="2250" dirty="0">
                  <a:solidFill>
                    <a:schemeClr val="dk1"/>
                  </a:solidFill>
                  <a:latin typeface="+mn-lt"/>
                  <a:ea typeface="+mn-ea"/>
                  <a:cs typeface="+mn-cs"/>
                </a:rPr>
              </a:br>
              <a:r>
                <a:rPr lang="zh-CN" sz="2250" dirty="0">
                  <a:solidFill>
                    <a:schemeClr val="dk1"/>
                  </a:solidFill>
                  <a:latin typeface="+mn-lt"/>
                  <a:ea typeface="+mn-ea"/>
                  <a:cs typeface="+mn-cs"/>
                </a:rPr>
                <a:t>还须制度与实践实现。</a:t>
              </a:r>
            </a:p>
          </p:txBody>
        </p:sp>
        <p:sp>
          <p:nvSpPr>
            <p:cNvPr id="15" name="TextBox 15"/>
            <p:cNvSpPr txBox="1"/>
            <p:nvPr/>
          </p:nvSpPr>
          <p:spPr>
            <a:xfrm>
              <a:off x="7956042" y="4854575"/>
              <a:ext cx="255803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革命冲击旧制度的等级与特权。</a:t>
              </a:r>
            </a:p>
          </p:txBody>
        </p:sp>
      </p:grpSp>
      <p:grpSp>
        <p:nvGrpSpPr>
          <p:cNvPr id="21" name="p06-different-problems"/>
          <p:cNvGrpSpPr/>
          <p:nvPr/>
        </p:nvGrpSpPr>
        <p:grpSpPr>
          <a:xfrm>
            <a:off x="450342" y="5562600"/>
            <a:ext cx="11274933" cy="489458"/>
            <a:chOff x="450342" y="5562600"/>
            <a:chExt cx="11274933" cy="489458"/>
          </a:xfrm>
        </p:grpSpPr>
        <p:sp>
          <p:nvSpPr>
            <p:cNvPr id="17" name="Line 17"/>
            <p:cNvSpPr/>
            <p:nvPr/>
          </p:nvSpPr>
          <p:spPr>
            <a:xfrm>
              <a:off x="466725" y="5562600"/>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18" name="TextBox 18"/>
            <p:cNvSpPr txBox="1"/>
            <p:nvPr/>
          </p:nvSpPr>
          <p:spPr>
            <a:xfrm>
              <a:off x="450342" y="5788025"/>
              <a:ext cx="146761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英国：王权与议会</a:t>
              </a:r>
            </a:p>
          </p:txBody>
        </p:sp>
        <p:sp>
          <p:nvSpPr>
            <p:cNvPr id="19" name="TextBox 19"/>
            <p:cNvSpPr txBox="1"/>
            <p:nvPr/>
          </p:nvSpPr>
          <p:spPr>
            <a:xfrm>
              <a:off x="4107942" y="5788025"/>
              <a:ext cx="146761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美国：各州与联邦</a:t>
              </a:r>
            </a:p>
          </p:txBody>
        </p:sp>
        <p:sp>
          <p:nvSpPr>
            <p:cNvPr id="20" name="TextBox 20"/>
            <p:cNvSpPr txBox="1"/>
            <p:nvPr/>
          </p:nvSpPr>
          <p:spPr>
            <a:xfrm>
              <a:off x="7765542" y="5788025"/>
              <a:ext cx="183108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法国：权利与权力安排</a:t>
              </a:r>
            </a:p>
          </p:txBody>
        </p:sp>
      </p:grpSp>
      <p:grpSp>
        <p:nvGrpSpPr>
          <p:cNvPr id="24" name="p06-footer"/>
          <p:cNvGrpSpPr/>
          <p:nvPr/>
        </p:nvGrpSpPr>
        <p:grpSpPr>
          <a:xfrm>
            <a:off x="451866" y="6254750"/>
            <a:ext cx="11288268" cy="205359"/>
            <a:chOff x="451866" y="6254750"/>
            <a:chExt cx="11288268" cy="205359"/>
          </a:xfrm>
        </p:grpSpPr>
        <p:sp>
          <p:nvSpPr>
            <p:cNvPr id="22" name="TextBox 22"/>
            <p:cNvSpPr txBox="1"/>
            <p:nvPr/>
          </p:nvSpPr>
          <p:spPr>
            <a:xfrm>
              <a:off x="451866" y="6254750"/>
              <a:ext cx="418052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1789《人权和公民权宣言》第16条（中文译意）；1791法国宪法。</a:t>
              </a:r>
            </a:p>
          </p:txBody>
        </p:sp>
        <p:sp>
          <p:nvSpPr>
            <p:cNvPr id="23" name="TextBox 23"/>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06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7-title"/>
          <p:cNvGrpSpPr/>
          <p:nvPr/>
        </p:nvGrpSpPr>
        <p:grpSpPr>
          <a:xfrm>
            <a:off x="441198" y="400050"/>
            <a:ext cx="6304788" cy="933577"/>
            <a:chOff x="441198" y="400050"/>
            <a:chExt cx="6304788" cy="933577"/>
          </a:xfrm>
        </p:grpSpPr>
        <p:sp>
          <p:nvSpPr>
            <p:cNvPr id="2" name="TextBox 2"/>
            <p:cNvSpPr txBox="1"/>
            <p:nvPr/>
          </p:nvSpPr>
          <p:spPr>
            <a:xfrm>
              <a:off x="451104" y="400050"/>
              <a:ext cx="213649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社会主义宪法 · 相联系的安排</a:t>
              </a:r>
            </a:p>
          </p:txBody>
        </p:sp>
        <p:sp>
          <p:nvSpPr>
            <p:cNvPr id="3" name="TextBox 3"/>
            <p:cNvSpPr txBox="1"/>
            <p:nvPr/>
          </p:nvSpPr>
          <p:spPr>
            <a:xfrm>
              <a:off x="441198" y="717550"/>
              <a:ext cx="630478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国家地位、经济基础与权利条件</a:t>
              </a:r>
            </a:p>
          </p:txBody>
        </p:sp>
      </p:grpSp>
      <p:grpSp>
        <p:nvGrpSpPr>
          <p:cNvPr id="7" name="p07-historical-start"/>
          <p:cNvGrpSpPr/>
          <p:nvPr/>
        </p:nvGrpSpPr>
        <p:grpSpPr>
          <a:xfrm>
            <a:off x="448056" y="1774825"/>
            <a:ext cx="11293602" cy="352044"/>
            <a:chOff x="448056" y="1774825"/>
            <a:chExt cx="11293602" cy="352044"/>
          </a:xfrm>
        </p:grpSpPr>
        <p:sp>
          <p:nvSpPr>
            <p:cNvPr id="5" name="TextBox 5"/>
            <p:cNvSpPr txBox="1"/>
            <p:nvPr/>
          </p:nvSpPr>
          <p:spPr>
            <a:xfrm>
              <a:off x="448056" y="1774825"/>
              <a:ext cx="588233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1918《苏俄宪法》：劳动人民的政治地位与新政权组织</a:t>
              </a:r>
            </a:p>
          </p:txBody>
        </p:sp>
        <p:sp>
          <p:nvSpPr>
            <p:cNvPr id="6" name="TextBox 6"/>
            <p:cNvSpPr txBox="1"/>
            <p:nvPr/>
          </p:nvSpPr>
          <p:spPr>
            <a:xfrm>
              <a:off x="9365361" y="1825625"/>
              <a:ext cx="237629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革命以后怎样建立、巩固政权</a:t>
              </a:r>
            </a:p>
          </p:txBody>
        </p:sp>
      </p:grpSp>
      <p:grpSp>
        <p:nvGrpSpPr>
          <p:cNvPr id="17" name="p07-connected-arrangements"/>
          <p:cNvGrpSpPr/>
          <p:nvPr/>
        </p:nvGrpSpPr>
        <p:grpSpPr>
          <a:xfrm>
            <a:off x="445008" y="2435225"/>
            <a:ext cx="10867644" cy="2406269"/>
            <a:chOff x="445008" y="2435225"/>
            <a:chExt cx="10867644" cy="2406269"/>
          </a:xfrm>
        </p:grpSpPr>
        <p:sp>
          <p:nvSpPr>
            <p:cNvPr id="8" name="TextBox 8"/>
            <p:cNvSpPr txBox="1"/>
            <p:nvPr/>
          </p:nvSpPr>
          <p:spPr>
            <a:xfrm>
              <a:off x="4888992" y="2435225"/>
              <a:ext cx="2414016"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国家由谁掌握？</a:t>
              </a:r>
            </a:p>
          </p:txBody>
        </p:sp>
        <p:sp>
          <p:nvSpPr>
            <p:cNvPr id="9" name="TextBox 9"/>
            <p:cNvSpPr txBox="1"/>
            <p:nvPr/>
          </p:nvSpPr>
          <p:spPr>
            <a:xfrm>
              <a:off x="4632960" y="2927350"/>
              <a:ext cx="2926080"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人民通过代表机关行使权力</a:t>
              </a:r>
            </a:p>
          </p:txBody>
        </p:sp>
        <p:sp>
          <p:nvSpPr>
            <p:cNvPr id="10" name="Line 10"/>
            <p:cNvSpPr/>
            <p:nvPr/>
          </p:nvSpPr>
          <p:spPr>
            <a:xfrm>
              <a:off x="3105150" y="3333750"/>
              <a:ext cx="1476375" cy="542925"/>
            </a:xfrm>
            <a:custGeom>
              <a:avLst/>
              <a:gdLst/>
              <a:ahLst/>
              <a:cxnLst/>
              <a:rect l="l" t="t" r="r" b="b"/>
              <a:pathLst>
                <a:path w="1476375" h="542925">
                  <a:moveTo>
                    <a:pt x="1476375" y="0"/>
                  </a:moveTo>
                  <a:lnTo>
                    <a:pt x="0" y="542925"/>
                  </a:lnTo>
                </a:path>
              </a:pathLst>
            </a:custGeom>
            <a:noFill/>
            <a:ln w="19050">
              <a:solidFill>
                <a:schemeClr val="accent1"/>
              </a:solidFill>
            </a:ln>
          </p:spPr>
        </p:sp>
        <p:sp>
          <p:nvSpPr>
            <p:cNvPr id="11" name="Line 11"/>
            <p:cNvSpPr/>
            <p:nvPr/>
          </p:nvSpPr>
          <p:spPr>
            <a:xfrm>
              <a:off x="7610475" y="3333750"/>
              <a:ext cx="1457325" cy="542925"/>
            </a:xfrm>
            <a:custGeom>
              <a:avLst/>
              <a:gdLst/>
              <a:ahLst/>
              <a:cxnLst/>
              <a:rect l="l" t="t" r="r" b="b"/>
              <a:pathLst>
                <a:path w="1457325" h="542925">
                  <a:moveTo>
                    <a:pt x="0" y="0"/>
                  </a:moveTo>
                  <a:lnTo>
                    <a:pt x="1457325" y="542925"/>
                  </a:lnTo>
                </a:path>
              </a:pathLst>
            </a:custGeom>
            <a:noFill/>
            <a:ln w="19050">
              <a:solidFill>
                <a:schemeClr val="accent1"/>
              </a:solidFill>
            </a:ln>
          </p:spPr>
        </p:sp>
        <p:sp>
          <p:nvSpPr>
            <p:cNvPr id="12" name="Line 12"/>
            <p:cNvSpPr/>
            <p:nvPr/>
          </p:nvSpPr>
          <p:spPr>
            <a:xfrm>
              <a:off x="4572000" y="4419600"/>
              <a:ext cx="3048000" cy="9525"/>
            </a:xfrm>
            <a:custGeom>
              <a:avLst/>
              <a:gdLst/>
              <a:ahLst/>
              <a:cxnLst/>
              <a:rect l="l" t="t" r="r" b="b"/>
              <a:pathLst>
                <a:path w="3048000" h="9525">
                  <a:moveTo>
                    <a:pt x="0" y="0"/>
                  </a:moveTo>
                  <a:lnTo>
                    <a:pt x="3048000" y="0"/>
                  </a:lnTo>
                </a:path>
              </a:pathLst>
            </a:custGeom>
            <a:noFill/>
            <a:ln w="19050">
              <a:solidFill>
                <a:schemeClr val="accent1"/>
              </a:solidFill>
            </a:ln>
          </p:spPr>
        </p:sp>
        <p:sp>
          <p:nvSpPr>
            <p:cNvPr id="13" name="TextBox 13"/>
            <p:cNvSpPr txBox="1"/>
            <p:nvPr/>
          </p:nvSpPr>
          <p:spPr>
            <a:xfrm>
              <a:off x="445008" y="3949700"/>
              <a:ext cx="309676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经济资源怎样组织？</a:t>
              </a:r>
            </a:p>
          </p:txBody>
        </p:sp>
        <p:sp>
          <p:nvSpPr>
            <p:cNvPr id="14" name="TextBox 14"/>
            <p:cNvSpPr txBox="1"/>
            <p:nvPr/>
          </p:nvSpPr>
          <p:spPr>
            <a:xfrm>
              <a:off x="448056" y="4489450"/>
              <a:ext cx="268376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生产资料公有制作为基础</a:t>
              </a:r>
            </a:p>
          </p:txBody>
        </p:sp>
        <p:sp>
          <p:nvSpPr>
            <p:cNvPr id="15" name="TextBox 15"/>
            <p:cNvSpPr txBox="1"/>
            <p:nvPr/>
          </p:nvSpPr>
          <p:spPr>
            <a:xfrm>
              <a:off x="7874508" y="3949700"/>
              <a:ext cx="343814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普通人怎样行使权利？</a:t>
              </a:r>
            </a:p>
          </p:txBody>
        </p:sp>
        <p:sp>
          <p:nvSpPr>
            <p:cNvPr id="16" name="TextBox 16"/>
            <p:cNvSpPr txBox="1"/>
            <p:nvPr/>
          </p:nvSpPr>
          <p:spPr>
            <a:xfrm>
              <a:off x="7877556" y="4489450"/>
              <a:ext cx="316839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政治及经济、社会、文化权利</a:t>
              </a:r>
            </a:p>
          </p:txBody>
        </p:sp>
      </p:grpSp>
      <p:grpSp>
        <p:nvGrpSpPr>
          <p:cNvPr id="19" name="p07-written-and-realized"/>
          <p:cNvGrpSpPr/>
          <p:nvPr/>
        </p:nvGrpSpPr>
        <p:grpSpPr>
          <a:xfrm>
            <a:off x="450342" y="5321300"/>
            <a:ext cx="7283196" cy="264033"/>
            <a:chOff x="450342" y="5321300"/>
            <a:chExt cx="7283196" cy="264033"/>
          </a:xfrm>
        </p:grpSpPr>
        <p:sp>
          <p:nvSpPr>
            <p:cNvPr id="18" name="TextBox 18"/>
            <p:cNvSpPr txBox="1"/>
            <p:nvPr/>
          </p:nvSpPr>
          <p:spPr>
            <a:xfrm>
              <a:off x="450342" y="5321300"/>
              <a:ext cx="728319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这些是社会主义宪法发展的相联系安排；写入文本，仍有组织工作和保障权利的实际任务。</a:t>
              </a:r>
            </a:p>
          </p:txBody>
        </p:sp>
      </p:grpSp>
      <p:grpSp>
        <p:nvGrpSpPr>
          <p:cNvPr id="22" name="p07-two-tasks"/>
          <p:cNvGrpSpPr/>
          <p:nvPr/>
        </p:nvGrpSpPr>
        <p:grpSpPr>
          <a:xfrm>
            <a:off x="445770" y="5778500"/>
            <a:ext cx="10511028" cy="440055"/>
            <a:chOff x="445770" y="5778500"/>
            <a:chExt cx="10511028" cy="440055"/>
          </a:xfrm>
        </p:grpSpPr>
        <p:sp>
          <p:nvSpPr>
            <p:cNvPr id="20" name="TextBox 20"/>
            <p:cNvSpPr txBox="1"/>
            <p:nvPr/>
          </p:nvSpPr>
          <p:spPr>
            <a:xfrm>
              <a:off x="445770" y="5778500"/>
              <a:ext cx="335470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组织权力　＋　约束权力</a:t>
              </a:r>
            </a:p>
          </p:txBody>
        </p:sp>
        <p:sp>
          <p:nvSpPr>
            <p:cNvPr id="21" name="TextBox 21"/>
            <p:cNvSpPr txBox="1"/>
            <p:nvPr/>
          </p:nvSpPr>
          <p:spPr>
            <a:xfrm>
              <a:off x="7308342" y="5873750"/>
              <a:ext cx="364845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回到中国：谁组织国家，怎样规定权力行使？</a:t>
              </a:r>
            </a:p>
          </p:txBody>
        </p:sp>
      </p:grpSp>
      <p:grpSp>
        <p:nvGrpSpPr>
          <p:cNvPr id="25" name="p07-footer"/>
          <p:cNvGrpSpPr/>
          <p:nvPr/>
        </p:nvGrpSpPr>
        <p:grpSpPr>
          <a:xfrm>
            <a:off x="451866" y="6254750"/>
            <a:ext cx="11288268" cy="205359"/>
            <a:chOff x="451866" y="6254750"/>
            <a:chExt cx="11288268" cy="205359"/>
          </a:xfrm>
        </p:grpSpPr>
        <p:sp>
          <p:nvSpPr>
            <p:cNvPr id="23" name="TextBox 23"/>
            <p:cNvSpPr txBox="1"/>
            <p:nvPr/>
          </p:nvSpPr>
          <p:spPr>
            <a:xfrm>
              <a:off x="451866" y="6254750"/>
              <a:ext cx="357271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1918《苏俄宪法》及社会主义宪法发展。课堂关系整理。</a:t>
              </a:r>
            </a:p>
          </p:txBody>
        </p:sp>
        <p:sp>
          <p:nvSpPr>
            <p:cNvPr id="24" name="TextBox 24"/>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07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8-title"/>
          <p:cNvGrpSpPr/>
          <p:nvPr/>
        </p:nvGrpSpPr>
        <p:grpSpPr>
          <a:xfrm>
            <a:off x="441198" y="400050"/>
            <a:ext cx="5498287" cy="946277"/>
            <a:chOff x="441198" y="400050"/>
            <a:chExt cx="5498287" cy="946277"/>
          </a:xfrm>
        </p:grpSpPr>
        <p:sp>
          <p:nvSpPr>
            <p:cNvPr id="2" name="TextBox 2"/>
            <p:cNvSpPr txBox="1"/>
            <p:nvPr/>
          </p:nvSpPr>
          <p:spPr>
            <a:xfrm>
              <a:off x="451104" y="400050"/>
              <a:ext cx="245958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中国的探索 · 国家最高权力的归属</a:t>
              </a:r>
            </a:p>
          </p:txBody>
        </p:sp>
        <p:sp>
          <p:nvSpPr>
            <p:cNvPr id="3" name="TextBox 3"/>
            <p:cNvSpPr txBox="1"/>
            <p:nvPr/>
          </p:nvSpPr>
          <p:spPr>
            <a:xfrm>
              <a:off x="441198" y="730250"/>
              <a:ext cx="5498287"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从“君上大权”到“国民全体”</a:t>
              </a:r>
            </a:p>
          </p:txBody>
        </p:sp>
      </p:grpSp>
      <p:grpSp>
        <p:nvGrpSpPr>
          <p:cNvPr id="11" name="p08-imperial-order"/>
          <p:cNvGrpSpPr/>
          <p:nvPr/>
        </p:nvGrpSpPr>
        <p:grpSpPr>
          <a:xfrm>
            <a:off x="438150" y="1851025"/>
            <a:ext cx="4543425" cy="3124708"/>
            <a:chOff x="438150" y="1851025"/>
            <a:chExt cx="4543425" cy="3124708"/>
          </a:xfrm>
        </p:grpSpPr>
        <p:sp>
          <p:nvSpPr>
            <p:cNvPr id="5" name="TextBox 5"/>
            <p:cNvSpPr txBox="1"/>
            <p:nvPr/>
          </p:nvSpPr>
          <p:spPr>
            <a:xfrm>
              <a:off x="445008" y="1851025"/>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1908</a:t>
              </a:r>
            </a:p>
          </p:txBody>
        </p:sp>
        <p:sp>
          <p:nvSpPr>
            <p:cNvPr id="6" name="TextBox 6"/>
            <p:cNvSpPr txBox="1"/>
            <p:nvPr/>
          </p:nvSpPr>
          <p:spPr>
            <a:xfrm>
              <a:off x="448056" y="238442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《钦定宪法大纲》</a:t>
              </a:r>
            </a:p>
          </p:txBody>
        </p:sp>
        <p:sp>
          <p:nvSpPr>
            <p:cNvPr id="7" name="Line 7"/>
            <p:cNvSpPr/>
            <p:nvPr/>
          </p:nvSpPr>
          <p:spPr>
            <a:xfrm>
              <a:off x="466725" y="2914650"/>
              <a:ext cx="4514850" cy="9525"/>
            </a:xfrm>
            <a:custGeom>
              <a:avLst/>
              <a:gdLst/>
              <a:ahLst/>
              <a:cxnLst/>
              <a:rect l="l" t="t" r="r" b="b"/>
              <a:pathLst>
                <a:path w="4514850" h="9525">
                  <a:moveTo>
                    <a:pt x="0" y="0"/>
                  </a:moveTo>
                  <a:lnTo>
                    <a:pt x="4514850" y="0"/>
                  </a:lnTo>
                </a:path>
              </a:pathLst>
            </a:custGeom>
            <a:noFill/>
            <a:ln w="9525">
              <a:solidFill>
                <a:schemeClr val="accent6"/>
              </a:solidFill>
            </a:ln>
          </p:spPr>
        </p:sp>
        <p:sp>
          <p:nvSpPr>
            <p:cNvPr id="8" name="TextBox 8"/>
            <p:cNvSpPr txBox="1"/>
            <p:nvPr/>
          </p:nvSpPr>
          <p:spPr>
            <a:xfrm>
              <a:off x="438150" y="3219450"/>
              <a:ext cx="3025140"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君上大权</a:t>
              </a:r>
            </a:p>
          </p:txBody>
        </p:sp>
        <p:sp>
          <p:nvSpPr>
            <p:cNvPr id="9" name="TextBox 9"/>
            <p:cNvSpPr txBox="1"/>
            <p:nvPr/>
          </p:nvSpPr>
          <p:spPr>
            <a:xfrm>
              <a:off x="448056" y="4251325"/>
              <a:ext cx="22233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另附“臣民权利义务”</a:t>
              </a:r>
            </a:p>
          </p:txBody>
        </p:sp>
        <p:sp>
          <p:nvSpPr>
            <p:cNvPr id="10" name="TextBox 10"/>
            <p:cNvSpPr txBox="1"/>
            <p:nvPr/>
          </p:nvSpPr>
          <p:spPr>
            <a:xfrm>
              <a:off x="450342" y="4711700"/>
              <a:ext cx="293968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“钦定”提示它仍从皇帝的地位出发。</a:t>
              </a:r>
            </a:p>
          </p:txBody>
        </p:sp>
      </p:grpSp>
      <p:grpSp>
        <p:nvGrpSpPr>
          <p:cNvPr id="17" name="p08-national-sovereignty"/>
          <p:cNvGrpSpPr/>
          <p:nvPr/>
        </p:nvGrpSpPr>
        <p:grpSpPr>
          <a:xfrm>
            <a:off x="5283708" y="1851025"/>
            <a:ext cx="6441567" cy="2980944"/>
            <a:chOff x="5283708" y="1851025"/>
            <a:chExt cx="6441567" cy="2980944"/>
          </a:xfrm>
        </p:grpSpPr>
        <p:sp>
          <p:nvSpPr>
            <p:cNvPr id="12" name="TextBox 12"/>
            <p:cNvSpPr txBox="1"/>
            <p:nvPr/>
          </p:nvSpPr>
          <p:spPr>
            <a:xfrm>
              <a:off x="5283708" y="1851025"/>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1912</a:t>
              </a:r>
            </a:p>
          </p:txBody>
        </p:sp>
        <p:sp>
          <p:nvSpPr>
            <p:cNvPr id="13" name="TextBox 13"/>
            <p:cNvSpPr txBox="1"/>
            <p:nvPr/>
          </p:nvSpPr>
          <p:spPr>
            <a:xfrm>
              <a:off x="5286756" y="2384425"/>
              <a:ext cx="305935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《中华民国临时约法》第2条</a:t>
              </a:r>
            </a:p>
          </p:txBody>
        </p:sp>
        <p:sp>
          <p:nvSpPr>
            <p:cNvPr id="14" name="Line 14"/>
            <p:cNvSpPr/>
            <p:nvPr/>
          </p:nvSpPr>
          <p:spPr>
            <a:xfrm>
              <a:off x="5305425" y="2914650"/>
              <a:ext cx="6419850" cy="9525"/>
            </a:xfrm>
            <a:custGeom>
              <a:avLst/>
              <a:gdLst/>
              <a:ahLst/>
              <a:cxnLst/>
              <a:rect l="l" t="t" r="r" b="b"/>
              <a:pathLst>
                <a:path w="6419850" h="9525">
                  <a:moveTo>
                    <a:pt x="0" y="0"/>
                  </a:moveTo>
                  <a:lnTo>
                    <a:pt x="6419850" y="0"/>
                  </a:lnTo>
                </a:path>
              </a:pathLst>
            </a:custGeom>
            <a:noFill/>
            <a:ln w="19050">
              <a:solidFill>
                <a:schemeClr val="accent2"/>
              </a:solidFill>
            </a:ln>
          </p:spPr>
        </p:sp>
        <p:sp>
          <p:nvSpPr>
            <p:cNvPr id="15" name="TextBox 15"/>
            <p:cNvSpPr txBox="1"/>
            <p:nvPr/>
          </p:nvSpPr>
          <p:spPr>
            <a:xfrm>
              <a:off x="5284470" y="3292475"/>
              <a:ext cx="2180272" cy="859155"/>
            </a:xfrm>
            <a:prstGeom prst="rect">
              <a:avLst/>
            </a:prstGeom>
            <a:noFill/>
            <a:ln>
              <a:noFill/>
            </a:ln>
          </p:spPr>
          <p:txBody>
            <a:bodyPr wrap="none" lIns="0" tIns="0" rIns="0" bIns="0" anchor="t" anchorCtr="0">
              <a:spAutoFit/>
            </a:bodyPr>
            <a:lstStyle/>
            <a:p>
              <a:pPr algn="l">
                <a:lnSpc>
                  <a:spcPts val="3300"/>
                </a:lnSpc>
              </a:pPr>
              <a:r>
                <a:rPr lang="zh-CN" sz="2250" dirty="0">
                  <a:solidFill>
                    <a:schemeClr val="accent1"/>
                  </a:solidFill>
                  <a:latin typeface="+mn-lt"/>
                  <a:ea typeface="+mn-ea"/>
                  <a:cs typeface="+mn-cs"/>
                </a:rPr>
                <a:t>“中华民国之主权</a:t>
              </a:r>
              <a:br>
                <a:rPr lang="zh-CN" sz="2250" dirty="0">
                  <a:solidFill>
                    <a:schemeClr val="accent1"/>
                  </a:solidFill>
                  <a:latin typeface="+mn-lt"/>
                  <a:ea typeface="+mn-ea"/>
                  <a:cs typeface="+mn-cs"/>
                </a:rPr>
              </a:br>
              <a:r>
                <a:rPr lang="zh-CN" sz="2250" dirty="0">
                  <a:solidFill>
                    <a:schemeClr val="accent1"/>
                  </a:solidFill>
                  <a:latin typeface="+mn-lt"/>
                  <a:ea typeface="+mn-ea"/>
                  <a:cs typeface="+mn-cs"/>
                </a:rPr>
                <a:t>属于</a:t>
              </a:r>
              <a:r>
                <a:rPr lang="zh-CN" sz="2250" dirty="0">
                  <a:solidFill>
                    <a:schemeClr val="accent2"/>
                  </a:solidFill>
                  <a:latin typeface="+mn-lt"/>
                  <a:ea typeface="+mn-ea"/>
                  <a:cs typeface="+mn-cs"/>
                </a:rPr>
                <a:t>国民全体</a:t>
              </a:r>
              <a:r>
                <a:rPr lang="zh-CN" sz="2250" dirty="0">
                  <a:solidFill>
                    <a:schemeClr val="accent1"/>
                  </a:solidFill>
                  <a:latin typeface="+mn-lt"/>
                  <a:ea typeface="+mn-ea"/>
                  <a:cs typeface="+mn-cs"/>
                </a:rPr>
                <a:t>。”</a:t>
              </a:r>
            </a:p>
          </p:txBody>
        </p:sp>
        <p:sp>
          <p:nvSpPr>
            <p:cNvPr id="16" name="TextBox 16"/>
            <p:cNvSpPr txBox="1"/>
            <p:nvPr/>
          </p:nvSpPr>
          <p:spPr>
            <a:xfrm>
              <a:off x="5286756" y="4479925"/>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改变不只在国号：权力根据由原文指认。</a:t>
              </a:r>
            </a:p>
          </p:txBody>
        </p:sp>
      </p:grpSp>
      <p:grpSp>
        <p:nvGrpSpPr>
          <p:cNvPr id="20" name="p08-next-question"/>
          <p:cNvGrpSpPr/>
          <p:nvPr/>
        </p:nvGrpSpPr>
        <p:grpSpPr>
          <a:xfrm>
            <a:off x="445008" y="5416550"/>
            <a:ext cx="6169152" cy="759333"/>
            <a:chOff x="445008" y="5416550"/>
            <a:chExt cx="6169152" cy="759333"/>
          </a:xfrm>
        </p:grpSpPr>
        <p:sp>
          <p:nvSpPr>
            <p:cNvPr id="18" name="TextBox 18"/>
            <p:cNvSpPr txBox="1"/>
            <p:nvPr/>
          </p:nvSpPr>
          <p:spPr>
            <a:xfrm>
              <a:off x="445008" y="5416550"/>
              <a:ext cx="61691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主权属于谁之后，哪些机关怎样作决定？</a:t>
              </a:r>
            </a:p>
          </p:txBody>
        </p:sp>
        <p:sp>
          <p:nvSpPr>
            <p:cNvPr id="19" name="TextBox 19"/>
            <p:cNvSpPr txBox="1"/>
            <p:nvPr/>
          </p:nvSpPr>
          <p:spPr>
            <a:xfrm>
              <a:off x="450342" y="5911850"/>
              <a:ext cx="3466719"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名称提供线索，具体权力安排还须继续读。</a:t>
              </a:r>
            </a:p>
          </p:txBody>
        </p:sp>
      </p:grpSp>
      <p:grpSp>
        <p:nvGrpSpPr>
          <p:cNvPr id="23" name="p08-footer"/>
          <p:cNvGrpSpPr/>
          <p:nvPr/>
        </p:nvGrpSpPr>
        <p:grpSpPr>
          <a:xfrm>
            <a:off x="451866" y="6254750"/>
            <a:ext cx="11288268" cy="205359"/>
            <a:chOff x="451866" y="6254750"/>
            <a:chExt cx="11288268" cy="205359"/>
          </a:xfrm>
        </p:grpSpPr>
        <p:sp>
          <p:nvSpPr>
            <p:cNvPr id="21" name="TextBox 21"/>
            <p:cNvSpPr txBox="1"/>
            <p:nvPr/>
          </p:nvSpPr>
          <p:spPr>
            <a:xfrm>
              <a:off x="451866" y="6254750"/>
              <a:ext cx="382007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1908《钦定宪法大纲》；1912《中华民国临时约法》第2条。</a:t>
              </a:r>
            </a:p>
          </p:txBody>
        </p:sp>
        <p:sp>
          <p:nvSpPr>
            <p:cNvPr id="22" name="TextBox 22"/>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08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9-title"/>
          <p:cNvGrpSpPr/>
          <p:nvPr/>
        </p:nvGrpSpPr>
        <p:grpSpPr>
          <a:xfrm>
            <a:off x="441198" y="400050"/>
            <a:ext cx="6304788" cy="933577"/>
            <a:chOff x="441198" y="400050"/>
            <a:chExt cx="6304788" cy="933577"/>
          </a:xfrm>
        </p:grpSpPr>
        <p:sp>
          <p:nvSpPr>
            <p:cNvPr id="2" name="TextBox 2"/>
            <p:cNvSpPr txBox="1"/>
            <p:nvPr/>
          </p:nvSpPr>
          <p:spPr>
            <a:xfrm>
              <a:off x="451104" y="400050"/>
              <a:ext cx="212034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1912《临时约法》· 具体组织</a:t>
              </a:r>
            </a:p>
          </p:txBody>
        </p:sp>
        <p:sp>
          <p:nvSpPr>
            <p:cNvPr id="3" name="TextBox 3"/>
            <p:cNvSpPr txBox="1"/>
            <p:nvPr/>
          </p:nvSpPr>
          <p:spPr>
            <a:xfrm>
              <a:off x="441198" y="717550"/>
              <a:ext cx="630478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主权宣告之后，怎样组织决定？</a:t>
              </a:r>
            </a:p>
          </p:txBody>
        </p:sp>
      </p:grpSp>
      <p:grpSp>
        <p:nvGrpSpPr>
          <p:cNvPr id="7" name="p09-legislative-power"/>
          <p:cNvGrpSpPr/>
          <p:nvPr/>
        </p:nvGrpSpPr>
        <p:grpSpPr>
          <a:xfrm>
            <a:off x="448056" y="1822450"/>
            <a:ext cx="11293602" cy="352044"/>
            <a:chOff x="448056" y="1822450"/>
            <a:chExt cx="11293602" cy="352044"/>
          </a:xfrm>
        </p:grpSpPr>
        <p:sp>
          <p:nvSpPr>
            <p:cNvPr id="5" name="TextBox 5"/>
            <p:cNvSpPr txBox="1"/>
            <p:nvPr/>
          </p:nvSpPr>
          <p:spPr>
            <a:xfrm>
              <a:off x="448056" y="1822450"/>
              <a:ext cx="319262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第16条：立法权由参议院行使</a:t>
              </a:r>
            </a:p>
          </p:txBody>
        </p:sp>
        <p:sp>
          <p:nvSpPr>
            <p:cNvPr id="6" name="TextBox 6"/>
            <p:cNvSpPr txBox="1"/>
            <p:nvPr/>
          </p:nvSpPr>
          <p:spPr>
            <a:xfrm>
              <a:off x="7893291" y="1873250"/>
              <a:ext cx="384836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以下依第45条概述：有关总统行为须国务员副署</a:t>
              </a:r>
            </a:p>
          </p:txBody>
        </p:sp>
      </p:grpSp>
      <p:grpSp>
        <p:nvGrpSpPr>
          <p:cNvPr id="22" name="p09-countersignature"/>
          <p:cNvGrpSpPr/>
          <p:nvPr/>
        </p:nvGrpSpPr>
        <p:grpSpPr>
          <a:xfrm>
            <a:off x="749808" y="2635250"/>
            <a:ext cx="10279380" cy="2045208"/>
            <a:chOff x="749808" y="2635250"/>
            <a:chExt cx="10279380" cy="2045208"/>
          </a:xfrm>
        </p:grpSpPr>
        <p:grpSp>
          <p:nvGrpSpPr>
            <p:cNvPr id="12" name="p09-actors"/>
            <p:cNvGrpSpPr/>
            <p:nvPr/>
          </p:nvGrpSpPr>
          <p:grpSpPr>
            <a:xfrm>
              <a:off x="749808" y="2635250"/>
              <a:ext cx="10279380" cy="1501394"/>
              <a:chOff x="749808" y="2635250"/>
              <a:chExt cx="10279380" cy="1501394"/>
            </a:xfrm>
          </p:grpSpPr>
          <p:sp>
            <p:nvSpPr>
              <p:cNvPr id="8" name="TextBox 8"/>
              <p:cNvSpPr txBox="1"/>
              <p:nvPr/>
            </p:nvSpPr>
            <p:spPr>
              <a:xfrm>
                <a:off x="749808" y="263525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总统</a:t>
                </a:r>
              </a:p>
            </p:txBody>
          </p:sp>
          <p:sp>
            <p:nvSpPr>
              <p:cNvPr id="9" name="TextBox 9"/>
              <p:cNvSpPr txBox="1"/>
              <p:nvPr/>
            </p:nvSpPr>
            <p:spPr>
              <a:xfrm>
                <a:off x="752856" y="3136900"/>
                <a:ext cx="11612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提出法律案</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公布法律</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发布命令</a:t>
                </a:r>
              </a:p>
            </p:txBody>
          </p:sp>
          <p:sp>
            <p:nvSpPr>
              <p:cNvPr id="10" name="TextBox 10"/>
              <p:cNvSpPr txBox="1"/>
              <p:nvPr/>
            </p:nvSpPr>
            <p:spPr>
              <a:xfrm>
                <a:off x="8827008" y="263525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相应国务员</a:t>
                </a:r>
              </a:p>
            </p:txBody>
          </p:sp>
          <p:sp>
            <p:nvSpPr>
              <p:cNvPr id="11" name="TextBox 11"/>
              <p:cNvSpPr txBox="1"/>
              <p:nvPr/>
            </p:nvSpPr>
            <p:spPr>
              <a:xfrm>
                <a:off x="8830056" y="3660775"/>
                <a:ext cx="21991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国务总理及各部总长</a:t>
                </a:r>
              </a:p>
            </p:txBody>
          </p:sp>
        </p:grpSp>
        <p:sp>
          <p:nvSpPr>
            <p:cNvPr id="13" name="Line 13"/>
            <p:cNvSpPr/>
            <p:nvPr/>
          </p:nvSpPr>
          <p:spPr>
            <a:xfrm>
              <a:off x="3105150" y="3476625"/>
              <a:ext cx="1619250" cy="1"/>
            </a:xfrm>
            <a:prstGeom prst="line">
              <a:avLst/>
            </a:prstGeom>
            <a:noFill/>
            <a:ln w="19050">
              <a:solidFill>
                <a:schemeClr val="accent1"/>
              </a:solidFill>
              <a:tailEnd type="triangle" w="lg" len="lg"/>
            </a:ln>
          </p:spPr>
        </p:sp>
        <p:sp>
          <p:nvSpPr>
            <p:cNvPr id="14" name="Line 14"/>
            <p:cNvSpPr/>
            <p:nvPr/>
          </p:nvSpPr>
          <p:spPr>
            <a:xfrm flipH="1">
              <a:off x="7315200" y="3476625"/>
              <a:ext cx="1162050" cy="1"/>
            </a:xfrm>
            <a:prstGeom prst="line">
              <a:avLst/>
            </a:prstGeom>
            <a:noFill/>
            <a:ln w="19050">
              <a:solidFill>
                <a:schemeClr val="accent1"/>
              </a:solidFill>
              <a:tailEnd type="triangle" w="lg" len="lg"/>
            </a:ln>
          </p:spPr>
        </p:sp>
        <p:sp>
          <p:nvSpPr>
            <p:cNvPr id="15" name="TextBox 15"/>
            <p:cNvSpPr txBox="1"/>
            <p:nvPr/>
          </p:nvSpPr>
          <p:spPr>
            <a:xfrm>
              <a:off x="7441692" y="3073400"/>
              <a:ext cx="558927"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须副署</a:t>
              </a:r>
            </a:p>
          </p:txBody>
        </p:sp>
        <p:sp>
          <p:nvSpPr>
            <p:cNvPr id="16" name="Freeform 16"/>
            <p:cNvSpPr/>
            <p:nvPr/>
          </p:nvSpPr>
          <p:spPr>
            <a:xfrm>
              <a:off x="4876800" y="2724150"/>
              <a:ext cx="2286000" cy="1600200"/>
            </a:xfrm>
            <a:prstGeom prst="foldedCorner">
              <a:avLst/>
            </a:prstGeom>
            <a:solidFill>
              <a:schemeClr val="lt2"/>
            </a:solidFill>
            <a:ln w="19050">
              <a:solidFill>
                <a:schemeClr val="accent1"/>
              </a:solidFill>
            </a:ln>
          </p:spPr>
        </p:sp>
        <p:grpSp>
          <p:nvGrpSpPr>
            <p:cNvPr id="21" name="p09-document-copy"/>
            <p:cNvGrpSpPr/>
            <p:nvPr/>
          </p:nvGrpSpPr>
          <p:grpSpPr>
            <a:xfrm>
              <a:off x="755142" y="2844800"/>
              <a:ext cx="5727954" cy="1835658"/>
              <a:chOff x="755142" y="2844800"/>
              <a:chExt cx="5727954" cy="1835658"/>
            </a:xfrm>
          </p:grpSpPr>
          <p:sp>
            <p:nvSpPr>
              <p:cNvPr id="17" name="TextBox 17"/>
              <p:cNvSpPr txBox="1"/>
              <p:nvPr/>
            </p:nvSpPr>
            <p:spPr>
              <a:xfrm>
                <a:off x="5093208" y="284480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相关文书</a:t>
                </a:r>
              </a:p>
            </p:txBody>
          </p:sp>
          <p:sp>
            <p:nvSpPr>
              <p:cNvPr id="18" name="TextBox 18"/>
              <p:cNvSpPr txBox="1"/>
              <p:nvPr/>
            </p:nvSpPr>
            <p:spPr>
              <a:xfrm>
                <a:off x="5096256" y="3384550"/>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也须签署</a:t>
                </a:r>
              </a:p>
            </p:txBody>
          </p:sp>
          <p:sp>
            <p:nvSpPr>
              <p:cNvPr id="19" name="TextBox 19"/>
              <p:cNvSpPr txBox="1"/>
              <p:nvPr/>
            </p:nvSpPr>
            <p:spPr>
              <a:xfrm>
                <a:off x="5098542" y="3959225"/>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教学示意</a:t>
                </a:r>
              </a:p>
            </p:txBody>
          </p:sp>
          <p:sp>
            <p:nvSpPr>
              <p:cNvPr id="20" name="TextBox 20"/>
              <p:cNvSpPr txBox="1"/>
              <p:nvPr/>
            </p:nvSpPr>
            <p:spPr>
              <a:xfrm>
                <a:off x="755142" y="4416425"/>
                <a:ext cx="328498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参与和职责进入安排；副署不只是抄送。</a:t>
                </a:r>
              </a:p>
            </p:txBody>
          </p:sp>
        </p:grpSp>
      </p:grpSp>
      <p:grpSp>
        <p:nvGrpSpPr>
          <p:cNvPr id="26" name="p09-document-status"/>
          <p:cNvGrpSpPr/>
          <p:nvPr/>
        </p:nvGrpSpPr>
        <p:grpSpPr>
          <a:xfrm>
            <a:off x="448056" y="5048250"/>
            <a:ext cx="11277219" cy="955294"/>
            <a:chOff x="448056" y="5048250"/>
            <a:chExt cx="11277219" cy="955294"/>
          </a:xfrm>
        </p:grpSpPr>
        <p:sp>
          <p:nvSpPr>
            <p:cNvPr id="23" name="Line 23"/>
            <p:cNvSpPr/>
            <p:nvPr/>
          </p:nvSpPr>
          <p:spPr>
            <a:xfrm>
              <a:off x="466725" y="5048250"/>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24" name="TextBox 24"/>
            <p:cNvSpPr txBox="1"/>
            <p:nvPr/>
          </p:nvSpPr>
          <p:spPr>
            <a:xfrm>
              <a:off x="448056" y="5232400"/>
              <a:ext cx="493730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文本安排 ≠ 实际运行　　草案 ≠ 正式通过实施</a:t>
              </a:r>
            </a:p>
          </p:txBody>
        </p:sp>
        <p:sp>
          <p:nvSpPr>
            <p:cNvPr id="25" name="TextBox 25"/>
            <p:cNvSpPr txBox="1"/>
            <p:nvPr/>
          </p:nvSpPr>
          <p:spPr>
            <a:xfrm>
              <a:off x="448056" y="5651500"/>
              <a:ext cx="607618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全国政权沿革，与革命根据地的地域探索，须分别理解。</a:t>
              </a:r>
            </a:p>
          </p:txBody>
        </p:sp>
      </p:grpSp>
      <p:grpSp>
        <p:nvGrpSpPr>
          <p:cNvPr id="29" name="p09-footer"/>
          <p:cNvGrpSpPr/>
          <p:nvPr/>
        </p:nvGrpSpPr>
        <p:grpSpPr>
          <a:xfrm>
            <a:off x="451866" y="6254750"/>
            <a:ext cx="11288268" cy="205359"/>
            <a:chOff x="451866" y="6254750"/>
            <a:chExt cx="11288268" cy="205359"/>
          </a:xfrm>
        </p:grpSpPr>
        <p:sp>
          <p:nvSpPr>
            <p:cNvPr id="27" name="TextBox 27"/>
            <p:cNvSpPr txBox="1"/>
            <p:nvPr/>
          </p:nvSpPr>
          <p:spPr>
            <a:xfrm>
              <a:off x="451866" y="6254750"/>
              <a:ext cx="374233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1912《临时约法》第16、45条（概述）；文书为教学示意。</a:t>
              </a:r>
            </a:p>
          </p:txBody>
        </p:sp>
        <p:sp>
          <p:nvSpPr>
            <p:cNvPr id="28" name="TextBox 28"/>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09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0-title"/>
          <p:cNvGrpSpPr/>
          <p:nvPr/>
        </p:nvGrpSpPr>
        <p:grpSpPr>
          <a:xfrm>
            <a:off x="441198" y="400050"/>
            <a:ext cx="5408676" cy="933577"/>
            <a:chOff x="441198" y="400050"/>
            <a:chExt cx="5408676" cy="933577"/>
          </a:xfrm>
        </p:grpSpPr>
        <p:sp>
          <p:nvSpPr>
            <p:cNvPr id="2" name="TextBox 2"/>
            <p:cNvSpPr txBox="1"/>
            <p:nvPr/>
          </p:nvSpPr>
          <p:spPr>
            <a:xfrm>
              <a:off x="451104" y="400050"/>
              <a:ext cx="2693822"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陕甘宁边区 · 1941年11月 · 实际组成</a:t>
              </a:r>
            </a:p>
          </p:txBody>
        </p:sp>
        <p:sp>
          <p:nvSpPr>
            <p:cNvPr id="3" name="TextBox 3"/>
            <p:cNvSpPr txBox="1"/>
            <p:nvPr/>
          </p:nvSpPr>
          <p:spPr>
            <a:xfrm>
              <a:off x="441198" y="717550"/>
              <a:ext cx="540867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已经当选，为何还要退出？</a:t>
              </a:r>
            </a:p>
          </p:txBody>
        </p:sp>
      </p:grpSp>
      <p:grpSp>
        <p:nvGrpSpPr>
          <p:cNvPr id="7" name="p10-cooperation-principle"/>
          <p:cNvGrpSpPr/>
          <p:nvPr/>
        </p:nvGrpSpPr>
        <p:grpSpPr>
          <a:xfrm>
            <a:off x="448056" y="1784350"/>
            <a:ext cx="8983980" cy="781558"/>
            <a:chOff x="448056" y="1784350"/>
            <a:chExt cx="8983980" cy="781558"/>
          </a:xfrm>
        </p:grpSpPr>
        <p:sp>
          <p:nvSpPr>
            <p:cNvPr id="5" name="TextBox 5"/>
            <p:cNvSpPr txBox="1"/>
            <p:nvPr/>
          </p:nvSpPr>
          <p:spPr>
            <a:xfrm>
              <a:off x="448056" y="1784350"/>
              <a:ext cx="89839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抗日民族统一战线背景下，共产党员、党外左派进步人士、中间人士各约三分之一。</a:t>
              </a:r>
            </a:p>
          </p:txBody>
        </p:sp>
        <p:sp>
          <p:nvSpPr>
            <p:cNvPr id="6" name="TextBox 6"/>
            <p:cNvSpPr txBox="1"/>
            <p:nvPr/>
          </p:nvSpPr>
          <p:spPr>
            <a:xfrm>
              <a:off x="450342" y="2301875"/>
              <a:ext cx="717415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1931《中华苏维埃共和国宪法大纲》与1941《陕甘宁边区施政纲领》回应不同阶段任务。</a:t>
              </a:r>
            </a:p>
          </p:txBody>
        </p:sp>
      </p:grpSp>
      <p:grpSp>
        <p:nvGrpSpPr>
          <p:cNvPr id="15" name="p10-composition-problem"/>
          <p:cNvGrpSpPr/>
          <p:nvPr/>
        </p:nvGrpSpPr>
        <p:grpSpPr>
          <a:xfrm>
            <a:off x="438150" y="3197225"/>
            <a:ext cx="11287125" cy="1403350"/>
            <a:chOff x="438150" y="3197225"/>
            <a:chExt cx="11287125" cy="1403350"/>
          </a:xfrm>
        </p:grpSpPr>
        <p:sp>
          <p:nvSpPr>
            <p:cNvPr id="8" name="TextBox 8"/>
            <p:cNvSpPr txBox="1"/>
            <p:nvPr/>
          </p:nvSpPr>
          <p:spPr>
            <a:xfrm>
              <a:off x="450342" y="3197225"/>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政府委员总数</a:t>
              </a:r>
            </a:p>
          </p:txBody>
        </p:sp>
        <p:sp>
          <p:nvSpPr>
            <p:cNvPr id="9" name="TextBox 9"/>
            <p:cNvSpPr txBox="1"/>
            <p:nvPr/>
          </p:nvSpPr>
          <p:spPr>
            <a:xfrm>
              <a:off x="438150" y="3505200"/>
              <a:ext cx="859536"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18</a:t>
              </a:r>
            </a:p>
          </p:txBody>
        </p:sp>
        <p:sp>
          <p:nvSpPr>
            <p:cNvPr id="10" name="TextBox 10"/>
            <p:cNvSpPr txBox="1"/>
            <p:nvPr/>
          </p:nvSpPr>
          <p:spPr>
            <a:xfrm>
              <a:off x="3803142" y="3197225"/>
              <a:ext cx="240355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其中共产党员 · 三分之一应为</a:t>
              </a:r>
            </a:p>
          </p:txBody>
        </p:sp>
        <p:sp>
          <p:nvSpPr>
            <p:cNvPr id="11" name="TextBox 11"/>
            <p:cNvSpPr txBox="1"/>
            <p:nvPr/>
          </p:nvSpPr>
          <p:spPr>
            <a:xfrm>
              <a:off x="3790950" y="3492500"/>
              <a:ext cx="1195578"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6名</a:t>
              </a:r>
            </a:p>
          </p:txBody>
        </p:sp>
        <p:sp>
          <p:nvSpPr>
            <p:cNvPr id="12" name="TextBox 12"/>
            <p:cNvSpPr txBox="1"/>
            <p:nvPr/>
          </p:nvSpPr>
          <p:spPr>
            <a:xfrm>
              <a:off x="8013192" y="3197225"/>
              <a:ext cx="1649349"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实际当选的共产党员</a:t>
              </a:r>
            </a:p>
          </p:txBody>
        </p:sp>
        <p:sp>
          <p:nvSpPr>
            <p:cNvPr id="13" name="TextBox 13"/>
            <p:cNvSpPr txBox="1"/>
            <p:nvPr/>
          </p:nvSpPr>
          <p:spPr>
            <a:xfrm>
              <a:off x="8001000" y="3492500"/>
              <a:ext cx="1195578" cy="1019175"/>
            </a:xfrm>
            <a:prstGeom prst="rect">
              <a:avLst/>
            </a:prstGeom>
            <a:noFill/>
            <a:ln>
              <a:noFill/>
            </a:ln>
          </p:spPr>
          <p:txBody>
            <a:bodyPr wrap="none" lIns="0" tIns="0" rIns="0" bIns="0" anchor="t" anchorCtr="0">
              <a:spAutoFit/>
            </a:bodyPr>
            <a:lstStyle/>
            <a:p>
              <a:pPr algn="l"/>
              <a:r>
                <a:rPr lang="zh-CN" sz="5250" dirty="0">
                  <a:solidFill>
                    <a:schemeClr val="accent2"/>
                  </a:solidFill>
                  <a:latin typeface="+mj-lt"/>
                  <a:ea typeface="+mj-ea"/>
                  <a:cs typeface="+mj-cs"/>
                </a:rPr>
                <a:t>7名</a:t>
              </a:r>
            </a:p>
          </p:txBody>
        </p:sp>
        <p:sp>
          <p:nvSpPr>
            <p:cNvPr id="14" name="Line 14"/>
            <p:cNvSpPr/>
            <p:nvPr/>
          </p:nvSpPr>
          <p:spPr>
            <a:xfrm>
              <a:off x="466725" y="4591050"/>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grpSp>
        <p:nvGrpSpPr>
          <p:cNvPr id="22" name="p10-actual-adjustment"/>
          <p:cNvGrpSpPr/>
          <p:nvPr/>
        </p:nvGrpSpPr>
        <p:grpSpPr>
          <a:xfrm>
            <a:off x="445770" y="5130800"/>
            <a:ext cx="9081135" cy="949833"/>
            <a:chOff x="445770" y="5130800"/>
            <a:chExt cx="9081135" cy="949833"/>
          </a:xfrm>
        </p:grpSpPr>
        <p:sp>
          <p:nvSpPr>
            <p:cNvPr id="16" name="TextBox 16"/>
            <p:cNvSpPr txBox="1"/>
            <p:nvPr/>
          </p:nvSpPr>
          <p:spPr>
            <a:xfrm>
              <a:off x="445770" y="5130800"/>
              <a:ext cx="214312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徐特立申请退出</a:t>
              </a:r>
            </a:p>
          </p:txBody>
        </p:sp>
        <p:sp>
          <p:nvSpPr>
            <p:cNvPr id="17" name="Line 17"/>
            <p:cNvSpPr/>
            <p:nvPr/>
          </p:nvSpPr>
          <p:spPr>
            <a:xfrm>
              <a:off x="2895600" y="5305425"/>
              <a:ext cx="1428750" cy="1"/>
            </a:xfrm>
            <a:prstGeom prst="line">
              <a:avLst/>
            </a:prstGeom>
            <a:noFill/>
            <a:ln w="19050">
              <a:solidFill>
                <a:schemeClr val="accent1"/>
              </a:solidFill>
              <a:tailEnd type="triangle" w="lg" len="lg"/>
            </a:ln>
          </p:spPr>
        </p:sp>
        <p:sp>
          <p:nvSpPr>
            <p:cNvPr id="18" name="TextBox 18"/>
            <p:cNvSpPr txBox="1"/>
            <p:nvPr/>
          </p:nvSpPr>
          <p:spPr>
            <a:xfrm>
              <a:off x="4560570" y="5130800"/>
              <a:ext cx="123444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大会通过</a:t>
              </a:r>
            </a:p>
          </p:txBody>
        </p:sp>
        <p:sp>
          <p:nvSpPr>
            <p:cNvPr id="19" name="Line 19"/>
            <p:cNvSpPr/>
            <p:nvPr/>
          </p:nvSpPr>
          <p:spPr>
            <a:xfrm>
              <a:off x="6181725" y="5305425"/>
              <a:ext cx="1552575" cy="1"/>
            </a:xfrm>
            <a:prstGeom prst="line">
              <a:avLst/>
            </a:prstGeom>
            <a:noFill/>
            <a:ln w="19050">
              <a:solidFill>
                <a:schemeClr val="accent1"/>
              </a:solidFill>
              <a:tailEnd type="triangle" w="lg" len="lg"/>
            </a:ln>
          </p:spPr>
        </p:sp>
        <p:sp>
          <p:nvSpPr>
            <p:cNvPr id="20" name="TextBox 20"/>
            <p:cNvSpPr txBox="1"/>
            <p:nvPr/>
          </p:nvSpPr>
          <p:spPr>
            <a:xfrm>
              <a:off x="7989570" y="5130800"/>
              <a:ext cx="153733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白文焕递补</a:t>
              </a:r>
            </a:p>
          </p:txBody>
        </p:sp>
        <p:sp>
          <p:nvSpPr>
            <p:cNvPr id="21" name="TextBox 21"/>
            <p:cNvSpPr txBox="1"/>
            <p:nvPr/>
          </p:nvSpPr>
          <p:spPr>
            <a:xfrm>
              <a:off x="450342" y="5816600"/>
              <a:ext cx="473887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原则必须对实际组成发生约束，不能迁就已经出现的结果。</a:t>
              </a:r>
            </a:p>
          </p:txBody>
        </p:sp>
      </p:grpSp>
      <p:grpSp>
        <p:nvGrpSpPr>
          <p:cNvPr id="25" name="p10-footer"/>
          <p:cNvGrpSpPr/>
          <p:nvPr/>
        </p:nvGrpSpPr>
        <p:grpSpPr>
          <a:xfrm>
            <a:off x="451866" y="6254750"/>
            <a:ext cx="11288268" cy="205359"/>
            <a:chOff x="451866" y="6254750"/>
            <a:chExt cx="11288268" cy="205359"/>
          </a:xfrm>
        </p:grpSpPr>
        <p:sp>
          <p:nvSpPr>
            <p:cNvPr id="23" name="TextBox 23"/>
            <p:cNvSpPr txBox="1"/>
            <p:nvPr/>
          </p:nvSpPr>
          <p:spPr>
            <a:xfrm>
              <a:off x="451866" y="6254750"/>
              <a:ext cx="343136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1941《陕甘宁边区施政纲领》及三三制实际组成史料。</a:t>
              </a:r>
            </a:p>
          </p:txBody>
        </p:sp>
        <p:sp>
          <p:nvSpPr>
            <p:cNvPr id="24" name="TextBox 24"/>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10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1-title"/>
          <p:cNvGrpSpPr/>
          <p:nvPr/>
        </p:nvGrpSpPr>
        <p:grpSpPr>
          <a:xfrm>
            <a:off x="441198" y="400050"/>
            <a:ext cx="4064508" cy="933577"/>
            <a:chOff x="441198" y="400050"/>
            <a:chExt cx="4064508" cy="933577"/>
          </a:xfrm>
        </p:grpSpPr>
        <p:sp>
          <p:nvSpPr>
            <p:cNvPr id="2" name="TextBox 2"/>
            <p:cNvSpPr txBox="1"/>
            <p:nvPr/>
          </p:nvSpPr>
          <p:spPr>
            <a:xfrm>
              <a:off x="451104" y="400050"/>
              <a:ext cx="213649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根据地的合作经验 · 具体参与</a:t>
              </a:r>
            </a:p>
          </p:txBody>
        </p:sp>
        <p:sp>
          <p:nvSpPr>
            <p:cNvPr id="3" name="TextBox 3"/>
            <p:cNvSpPr txBox="1"/>
            <p:nvPr/>
          </p:nvSpPr>
          <p:spPr>
            <a:xfrm>
              <a:off x="441198" y="717550"/>
              <a:ext cx="406450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参与不止于一个名额</a:t>
              </a:r>
            </a:p>
          </p:txBody>
        </p:sp>
      </p:grpSp>
      <p:grpSp>
        <p:nvGrpSpPr>
          <p:cNvPr id="9" name="p11-actual-proposal"/>
          <p:cNvGrpSpPr/>
          <p:nvPr/>
        </p:nvGrpSpPr>
        <p:grpSpPr>
          <a:xfrm>
            <a:off x="438150" y="1933575"/>
            <a:ext cx="2451354" cy="2390902"/>
            <a:chOff x="438150" y="1933575"/>
            <a:chExt cx="2451354" cy="2390902"/>
          </a:xfrm>
        </p:grpSpPr>
        <p:sp>
          <p:nvSpPr>
            <p:cNvPr id="5" name="TextBox 5"/>
            <p:cNvSpPr txBox="1"/>
            <p:nvPr/>
          </p:nvSpPr>
          <p:spPr>
            <a:xfrm>
              <a:off x="438150" y="1933575"/>
              <a:ext cx="2278380"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李鼎铭</a:t>
              </a:r>
            </a:p>
          </p:txBody>
        </p:sp>
        <p:sp>
          <p:nvSpPr>
            <p:cNvPr id="6" name="TextBox 6"/>
            <p:cNvSpPr txBox="1"/>
            <p:nvPr/>
          </p:nvSpPr>
          <p:spPr>
            <a:xfrm>
              <a:off x="448056" y="2927350"/>
              <a:ext cx="21991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当选边区政府副主席</a:t>
              </a:r>
            </a:p>
          </p:txBody>
        </p:sp>
        <p:sp>
          <p:nvSpPr>
            <p:cNvPr id="7" name="TextBox 7"/>
            <p:cNvSpPr txBox="1"/>
            <p:nvPr/>
          </p:nvSpPr>
          <p:spPr>
            <a:xfrm>
              <a:off x="448056" y="3346450"/>
              <a:ext cx="244144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与其他参议员共同提出</a:t>
              </a:r>
            </a:p>
          </p:txBody>
        </p:sp>
        <p:sp>
          <p:nvSpPr>
            <p:cNvPr id="8" name="TextBox 8"/>
            <p:cNvSpPr txBox="1"/>
            <p:nvPr/>
          </p:nvSpPr>
          <p:spPr>
            <a:xfrm>
              <a:off x="441198" y="3708400"/>
              <a:ext cx="182422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精兵简政</a:t>
              </a:r>
            </a:p>
          </p:txBody>
        </p:sp>
      </p:grpSp>
      <p:grpSp>
        <p:nvGrpSpPr>
          <p:cNvPr id="14" name="p11-proposal-condition"/>
          <p:cNvGrpSpPr/>
          <p:nvPr/>
        </p:nvGrpSpPr>
        <p:grpSpPr>
          <a:xfrm>
            <a:off x="5703570" y="1920875"/>
            <a:ext cx="6021705" cy="2111883"/>
            <a:chOff x="5703570" y="1920875"/>
            <a:chExt cx="6021705" cy="2111883"/>
          </a:xfrm>
        </p:grpSpPr>
        <p:sp>
          <p:nvSpPr>
            <p:cNvPr id="10" name="TextBox 10"/>
            <p:cNvSpPr txBox="1"/>
            <p:nvPr/>
          </p:nvSpPr>
          <p:spPr>
            <a:xfrm>
              <a:off x="5703570" y="1920875"/>
              <a:ext cx="2143125"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不削弱抗战力量</a:t>
              </a:r>
            </a:p>
          </p:txBody>
        </p:sp>
        <p:sp>
          <p:nvSpPr>
            <p:cNvPr id="11" name="Line 11"/>
            <p:cNvSpPr/>
            <p:nvPr/>
          </p:nvSpPr>
          <p:spPr>
            <a:xfrm>
              <a:off x="5724525" y="2514600"/>
              <a:ext cx="6000750" cy="9525"/>
            </a:xfrm>
            <a:custGeom>
              <a:avLst/>
              <a:gdLst/>
              <a:ahLst/>
              <a:cxnLst/>
              <a:rect l="l" t="t" r="r" b="b"/>
              <a:pathLst>
                <a:path w="6000750" h="9525">
                  <a:moveTo>
                    <a:pt x="0" y="0"/>
                  </a:moveTo>
                  <a:lnTo>
                    <a:pt x="6000750" y="0"/>
                  </a:lnTo>
                </a:path>
              </a:pathLst>
            </a:custGeom>
            <a:noFill/>
            <a:ln w="19050">
              <a:solidFill>
                <a:schemeClr val="accent2"/>
              </a:solidFill>
            </a:ln>
          </p:spPr>
        </p:sp>
        <p:sp>
          <p:nvSpPr>
            <p:cNvPr id="12" name="TextBox 12"/>
            <p:cNvSpPr txBox="1"/>
            <p:nvPr/>
          </p:nvSpPr>
          <p:spPr>
            <a:xfrm>
              <a:off x="5705856" y="2717800"/>
              <a:ext cx="2532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精简臃肿机构和冗余人员</a:t>
              </a:r>
              <a:br>
                <a:rPr lang="zh-CN" sz="1800" dirty="0">
                  <a:solidFill>
                    <a:schemeClr val="dk1"/>
                  </a:solidFill>
                  <a:latin typeface="+mn-lt"/>
                  <a:ea typeface="+mn-ea"/>
                  <a:cs typeface="+mn-cs"/>
                </a:rPr>
              </a:br>
              <a:r>
                <a:rPr lang="zh-CN" sz="1800" dirty="0">
                  <a:solidFill>
                    <a:schemeClr val="dk1"/>
                  </a:solidFill>
                  <a:latin typeface="+mn-lt"/>
                  <a:ea typeface="+mn-ea"/>
                  <a:cs typeface="+mn-cs"/>
                </a:rPr>
                <a:t>提高效能，减少负担</a:t>
              </a:r>
            </a:p>
          </p:txBody>
        </p:sp>
        <p:sp>
          <p:nvSpPr>
            <p:cNvPr id="13" name="TextBox 13"/>
            <p:cNvSpPr txBox="1"/>
            <p:nvPr/>
          </p:nvSpPr>
          <p:spPr>
            <a:xfrm>
              <a:off x="5708142" y="3768725"/>
              <a:ext cx="34667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建议后来被采纳；合作是共同办事的途径。</a:t>
              </a:r>
            </a:p>
          </p:txBody>
        </p:sp>
      </p:grpSp>
      <p:grpSp>
        <p:nvGrpSpPr>
          <p:cNvPr id="19" name="p11-representative-organization"/>
          <p:cNvGrpSpPr/>
          <p:nvPr/>
        </p:nvGrpSpPr>
        <p:grpSpPr>
          <a:xfrm>
            <a:off x="445770" y="4860925"/>
            <a:ext cx="6863715" cy="948055"/>
            <a:chOff x="445770" y="4860925"/>
            <a:chExt cx="6863715" cy="948055"/>
          </a:xfrm>
        </p:grpSpPr>
        <p:sp>
          <p:nvSpPr>
            <p:cNvPr id="15" name="TextBox 15"/>
            <p:cNvSpPr txBox="1"/>
            <p:nvPr/>
          </p:nvSpPr>
          <p:spPr>
            <a:xfrm>
              <a:off x="448056" y="4860925"/>
              <a:ext cx="487672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1946《陕甘宁边区宪法原则》· 组织办法概述</a:t>
              </a:r>
            </a:p>
          </p:txBody>
        </p:sp>
        <p:sp>
          <p:nvSpPr>
            <p:cNvPr id="16" name="TextBox 16"/>
            <p:cNvSpPr txBox="1"/>
            <p:nvPr/>
          </p:nvSpPr>
          <p:spPr>
            <a:xfrm>
              <a:off x="445770" y="5368925"/>
              <a:ext cx="153733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人民选代表</a:t>
              </a:r>
            </a:p>
          </p:txBody>
        </p:sp>
        <p:sp>
          <p:nvSpPr>
            <p:cNvPr id="17" name="Line 17"/>
            <p:cNvSpPr/>
            <p:nvPr/>
          </p:nvSpPr>
          <p:spPr>
            <a:xfrm>
              <a:off x="2419350" y="5543550"/>
              <a:ext cx="1809750" cy="1"/>
            </a:xfrm>
            <a:prstGeom prst="line">
              <a:avLst/>
            </a:prstGeom>
            <a:noFill/>
            <a:ln w="19050">
              <a:solidFill>
                <a:schemeClr val="accent1"/>
              </a:solidFill>
              <a:tailEnd type="triangle" w="lg" len="lg"/>
            </a:ln>
          </p:spPr>
        </p:sp>
        <p:sp>
          <p:nvSpPr>
            <p:cNvPr id="18" name="TextBox 18"/>
            <p:cNvSpPr txBox="1"/>
            <p:nvPr/>
          </p:nvSpPr>
          <p:spPr>
            <a:xfrm>
              <a:off x="4560570" y="5368925"/>
              <a:ext cx="274891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代表会议选政府人员</a:t>
              </a:r>
            </a:p>
          </p:txBody>
        </p:sp>
      </p:grpSp>
      <p:grpSp>
        <p:nvGrpSpPr>
          <p:cNvPr id="21" name="p11-territorial-boundary"/>
          <p:cNvGrpSpPr/>
          <p:nvPr/>
        </p:nvGrpSpPr>
        <p:grpSpPr>
          <a:xfrm>
            <a:off x="450342" y="5930900"/>
            <a:ext cx="6301816" cy="264033"/>
            <a:chOff x="450342" y="5930900"/>
            <a:chExt cx="6301816" cy="264033"/>
          </a:xfrm>
        </p:grpSpPr>
        <p:sp>
          <p:nvSpPr>
            <p:cNvPr id="20" name="TextBox 20"/>
            <p:cNvSpPr txBox="1"/>
            <p:nvPr/>
          </p:nvSpPr>
          <p:spPr>
            <a:xfrm>
              <a:off x="450342" y="5930900"/>
              <a:ext cx="630181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1931、1941、1946各有条件：是根据地探索，不是三部全国统一施行的宪法。</a:t>
              </a:r>
            </a:p>
          </p:txBody>
        </p:sp>
      </p:grpSp>
      <p:grpSp>
        <p:nvGrpSpPr>
          <p:cNvPr id="24" name="p11-footer"/>
          <p:cNvGrpSpPr/>
          <p:nvPr/>
        </p:nvGrpSpPr>
        <p:grpSpPr>
          <a:xfrm>
            <a:off x="451866" y="6254750"/>
            <a:ext cx="11288268" cy="205359"/>
            <a:chOff x="451866" y="6254750"/>
            <a:chExt cx="11288268" cy="205359"/>
          </a:xfrm>
        </p:grpSpPr>
        <p:sp>
          <p:nvSpPr>
            <p:cNvPr id="22" name="TextBox 22"/>
            <p:cNvSpPr txBox="1"/>
            <p:nvPr/>
          </p:nvSpPr>
          <p:spPr>
            <a:xfrm>
              <a:off x="451866" y="6254750"/>
              <a:ext cx="399676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边区合作史料；1946《陕甘宁边区宪法原则》。课堂关系整理。</a:t>
              </a:r>
            </a:p>
          </p:txBody>
        </p:sp>
        <p:sp>
          <p:nvSpPr>
            <p:cNvPr id="23" name="TextBox 23"/>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11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2-title"/>
          <p:cNvGrpSpPr/>
          <p:nvPr/>
        </p:nvGrpSpPr>
        <p:grpSpPr>
          <a:xfrm>
            <a:off x="441198" y="400050"/>
            <a:ext cx="5408676" cy="933577"/>
            <a:chOff x="441198" y="400050"/>
            <a:chExt cx="5408676" cy="933577"/>
          </a:xfrm>
        </p:grpSpPr>
        <p:sp>
          <p:nvSpPr>
            <p:cNvPr id="2" name="TextBox 2"/>
            <p:cNvSpPr txBox="1"/>
            <p:nvPr/>
          </p:nvSpPr>
          <p:spPr>
            <a:xfrm>
              <a:off x="451104" y="400050"/>
              <a:ext cx="213649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新中国 · 完整文本及形成方式</a:t>
              </a:r>
            </a:p>
          </p:txBody>
        </p:sp>
        <p:sp>
          <p:nvSpPr>
            <p:cNvPr id="3" name="TextBox 3"/>
            <p:cNvSpPr txBox="1"/>
            <p:nvPr/>
          </p:nvSpPr>
          <p:spPr>
            <a:xfrm>
              <a:off x="441198" y="717550"/>
              <a:ext cx="540867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四份完整文本，与全面修改</a:t>
              </a:r>
            </a:p>
          </p:txBody>
        </p:sp>
      </p:grpSp>
      <p:grpSp>
        <p:nvGrpSpPr>
          <p:cNvPr id="7" name="p12-prior-arrangement"/>
          <p:cNvGrpSpPr/>
          <p:nvPr/>
        </p:nvGrpSpPr>
        <p:grpSpPr>
          <a:xfrm>
            <a:off x="448056" y="1822450"/>
            <a:ext cx="11293602" cy="352044"/>
            <a:chOff x="448056" y="1822450"/>
            <a:chExt cx="11293602" cy="352044"/>
          </a:xfrm>
        </p:grpSpPr>
        <p:sp>
          <p:nvSpPr>
            <p:cNvPr id="5" name="TextBox 5"/>
            <p:cNvSpPr txBox="1"/>
            <p:nvPr/>
          </p:nvSpPr>
          <p:spPr>
            <a:xfrm>
              <a:off x="448056" y="1822450"/>
              <a:ext cx="418612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1949《共同纲领》：发挥临时宪法作用</a:t>
              </a:r>
            </a:p>
          </p:txBody>
        </p:sp>
        <p:sp>
          <p:nvSpPr>
            <p:cNvPr id="6" name="TextBox 6"/>
            <p:cNvSpPr txBox="1"/>
            <p:nvPr/>
          </p:nvSpPr>
          <p:spPr>
            <a:xfrm>
              <a:off x="9001887" y="1873250"/>
              <a:ext cx="273977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下方为完整文本示意，非原件影像</a:t>
              </a:r>
            </a:p>
          </p:txBody>
        </p:sp>
      </p:grpSp>
      <p:grpSp>
        <p:nvGrpSpPr>
          <p:cNvPr id="13" name="p12-doc1954"/>
          <p:cNvGrpSpPr/>
          <p:nvPr/>
        </p:nvGrpSpPr>
        <p:grpSpPr>
          <a:xfrm>
            <a:off x="476250" y="2495550"/>
            <a:ext cx="2552700" cy="2114550"/>
            <a:chOff x="476250" y="2495550"/>
            <a:chExt cx="2552700" cy="2114550"/>
          </a:xfrm>
        </p:grpSpPr>
        <p:sp>
          <p:nvSpPr>
            <p:cNvPr id="8" name="Freeform 8"/>
            <p:cNvSpPr/>
            <p:nvPr/>
          </p:nvSpPr>
          <p:spPr>
            <a:xfrm>
              <a:off x="476250" y="2495550"/>
              <a:ext cx="2552700" cy="2114550"/>
            </a:xfrm>
            <a:prstGeom prst="foldedCorner">
              <a:avLst/>
            </a:prstGeom>
            <a:solidFill>
              <a:schemeClr val="lt2"/>
            </a:solidFill>
            <a:ln w="9525">
              <a:solidFill>
                <a:schemeClr val="accent1"/>
              </a:solidFill>
            </a:ln>
          </p:spPr>
        </p:sp>
        <p:grpSp>
          <p:nvGrpSpPr>
            <p:cNvPr id="12" name="p12-doc1954-labels"/>
            <p:cNvGrpSpPr/>
            <p:nvPr/>
          </p:nvGrpSpPr>
          <p:grpSpPr>
            <a:xfrm>
              <a:off x="609600" y="2686050"/>
              <a:ext cx="1680972" cy="1699133"/>
              <a:chOff x="609600" y="2686050"/>
              <a:chExt cx="1680972" cy="1699133"/>
            </a:xfrm>
          </p:grpSpPr>
          <p:sp>
            <p:nvSpPr>
              <p:cNvPr id="9" name="TextBox 9"/>
              <p:cNvSpPr txBox="1"/>
              <p:nvPr/>
            </p:nvSpPr>
            <p:spPr>
              <a:xfrm>
                <a:off x="609600" y="2686050"/>
                <a:ext cx="1680972"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1954</a:t>
                </a:r>
              </a:p>
            </p:txBody>
          </p:sp>
          <p:sp>
            <p:nvSpPr>
              <p:cNvPr id="10" name="TextBox 10"/>
              <p:cNvSpPr txBox="1"/>
              <p:nvPr/>
            </p:nvSpPr>
            <p:spPr>
              <a:xfrm>
                <a:off x="619506" y="3660775"/>
                <a:ext cx="90274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9月20日</a:t>
                </a:r>
              </a:p>
            </p:txBody>
          </p:sp>
          <p:sp>
            <p:nvSpPr>
              <p:cNvPr id="11" name="TextBox 11"/>
              <p:cNvSpPr txBox="1"/>
              <p:nvPr/>
            </p:nvSpPr>
            <p:spPr>
              <a:xfrm>
                <a:off x="621792" y="4121150"/>
                <a:ext cx="922401"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第一部宪法</a:t>
                </a:r>
              </a:p>
            </p:txBody>
          </p:sp>
        </p:grpSp>
      </p:grpSp>
      <p:grpSp>
        <p:nvGrpSpPr>
          <p:cNvPr id="19" name="p12-doc1975"/>
          <p:cNvGrpSpPr/>
          <p:nvPr/>
        </p:nvGrpSpPr>
        <p:grpSpPr>
          <a:xfrm>
            <a:off x="3371850" y="2495550"/>
            <a:ext cx="2552700" cy="2114550"/>
            <a:chOff x="3371850" y="2495550"/>
            <a:chExt cx="2552700" cy="2114550"/>
          </a:xfrm>
        </p:grpSpPr>
        <p:sp>
          <p:nvSpPr>
            <p:cNvPr id="14" name="Freeform 14"/>
            <p:cNvSpPr/>
            <p:nvPr/>
          </p:nvSpPr>
          <p:spPr>
            <a:xfrm>
              <a:off x="3371850" y="2495550"/>
              <a:ext cx="2552700" cy="2114550"/>
            </a:xfrm>
            <a:prstGeom prst="foldedCorner">
              <a:avLst/>
            </a:prstGeom>
            <a:solidFill>
              <a:schemeClr val="lt2"/>
            </a:solidFill>
            <a:ln w="9525">
              <a:solidFill>
                <a:schemeClr val="accent1"/>
              </a:solidFill>
            </a:ln>
          </p:spPr>
        </p:sp>
        <p:grpSp>
          <p:nvGrpSpPr>
            <p:cNvPr id="18" name="p12-doc1975-labels"/>
            <p:cNvGrpSpPr/>
            <p:nvPr/>
          </p:nvGrpSpPr>
          <p:grpSpPr>
            <a:xfrm>
              <a:off x="3505200" y="2686050"/>
              <a:ext cx="1680972" cy="1699133"/>
              <a:chOff x="3505200" y="2686050"/>
              <a:chExt cx="1680972" cy="1699133"/>
            </a:xfrm>
          </p:grpSpPr>
          <p:sp>
            <p:nvSpPr>
              <p:cNvPr id="15" name="TextBox 15"/>
              <p:cNvSpPr txBox="1"/>
              <p:nvPr/>
            </p:nvSpPr>
            <p:spPr>
              <a:xfrm>
                <a:off x="3505200" y="2686050"/>
                <a:ext cx="1680972"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1975</a:t>
                </a:r>
              </a:p>
            </p:txBody>
          </p:sp>
          <p:sp>
            <p:nvSpPr>
              <p:cNvPr id="16" name="TextBox 16"/>
              <p:cNvSpPr txBox="1"/>
              <p:nvPr/>
            </p:nvSpPr>
            <p:spPr>
              <a:xfrm>
                <a:off x="3515106" y="3660775"/>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完整文本</a:t>
                </a:r>
              </a:p>
            </p:txBody>
          </p:sp>
          <p:sp>
            <p:nvSpPr>
              <p:cNvPr id="17" name="TextBox 17"/>
              <p:cNvSpPr txBox="1"/>
              <p:nvPr/>
            </p:nvSpPr>
            <p:spPr>
              <a:xfrm>
                <a:off x="3517392" y="4121150"/>
                <a:ext cx="1485786"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“文化大革命”期间</a:t>
                </a:r>
              </a:p>
            </p:txBody>
          </p:sp>
        </p:grpSp>
      </p:grpSp>
      <p:grpSp>
        <p:nvGrpSpPr>
          <p:cNvPr id="25" name="p12-doc1978"/>
          <p:cNvGrpSpPr/>
          <p:nvPr/>
        </p:nvGrpSpPr>
        <p:grpSpPr>
          <a:xfrm>
            <a:off x="6267450" y="2495550"/>
            <a:ext cx="2552700" cy="2114550"/>
            <a:chOff x="6267450" y="2495550"/>
            <a:chExt cx="2552700" cy="2114550"/>
          </a:xfrm>
        </p:grpSpPr>
        <p:sp>
          <p:nvSpPr>
            <p:cNvPr id="20" name="Freeform 20"/>
            <p:cNvSpPr/>
            <p:nvPr/>
          </p:nvSpPr>
          <p:spPr>
            <a:xfrm>
              <a:off x="6267450" y="2495550"/>
              <a:ext cx="2552700" cy="2114550"/>
            </a:xfrm>
            <a:prstGeom prst="foldedCorner">
              <a:avLst/>
            </a:prstGeom>
            <a:solidFill>
              <a:schemeClr val="lt2"/>
            </a:solidFill>
            <a:ln w="9525">
              <a:solidFill>
                <a:schemeClr val="accent1"/>
              </a:solidFill>
            </a:ln>
          </p:spPr>
        </p:sp>
        <p:grpSp>
          <p:nvGrpSpPr>
            <p:cNvPr id="24" name="p12-doc1978-labels"/>
            <p:cNvGrpSpPr/>
            <p:nvPr/>
          </p:nvGrpSpPr>
          <p:grpSpPr>
            <a:xfrm>
              <a:off x="6400800" y="2686050"/>
              <a:ext cx="1843278" cy="1699133"/>
              <a:chOff x="6400800" y="2686050"/>
              <a:chExt cx="1843278" cy="1699133"/>
            </a:xfrm>
          </p:grpSpPr>
          <p:sp>
            <p:nvSpPr>
              <p:cNvPr id="21" name="TextBox 21"/>
              <p:cNvSpPr txBox="1"/>
              <p:nvPr/>
            </p:nvSpPr>
            <p:spPr>
              <a:xfrm>
                <a:off x="6400800" y="2686050"/>
                <a:ext cx="1680972"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1978</a:t>
                </a:r>
              </a:p>
            </p:txBody>
          </p:sp>
          <p:sp>
            <p:nvSpPr>
              <p:cNvPr id="22" name="TextBox 22"/>
              <p:cNvSpPr txBox="1"/>
              <p:nvPr/>
            </p:nvSpPr>
            <p:spPr>
              <a:xfrm>
                <a:off x="6410706" y="3660775"/>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完整文本</a:t>
                </a:r>
              </a:p>
            </p:txBody>
          </p:sp>
          <p:sp>
            <p:nvSpPr>
              <p:cNvPr id="23" name="TextBox 23"/>
              <p:cNvSpPr txBox="1"/>
              <p:nvPr/>
            </p:nvSpPr>
            <p:spPr>
              <a:xfrm>
                <a:off x="6412992" y="4121150"/>
                <a:ext cx="1831086"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恢复与保留的表述并存</a:t>
                </a:r>
              </a:p>
            </p:txBody>
          </p:sp>
        </p:grpSp>
      </p:grpSp>
      <p:grpSp>
        <p:nvGrpSpPr>
          <p:cNvPr id="31" name="p12-doc1982"/>
          <p:cNvGrpSpPr/>
          <p:nvPr/>
        </p:nvGrpSpPr>
        <p:grpSpPr>
          <a:xfrm>
            <a:off x="9163050" y="2495550"/>
            <a:ext cx="2552700" cy="2114550"/>
            <a:chOff x="9163050" y="2495550"/>
            <a:chExt cx="2552700" cy="2114550"/>
          </a:xfrm>
        </p:grpSpPr>
        <p:sp>
          <p:nvSpPr>
            <p:cNvPr id="26" name="Freeform 26"/>
            <p:cNvSpPr/>
            <p:nvPr/>
          </p:nvSpPr>
          <p:spPr>
            <a:xfrm>
              <a:off x="9163050" y="2495550"/>
              <a:ext cx="2552700" cy="2114550"/>
            </a:xfrm>
            <a:prstGeom prst="foldedCorner">
              <a:avLst/>
            </a:prstGeom>
            <a:solidFill>
              <a:schemeClr val="lt2"/>
            </a:solidFill>
            <a:ln w="9525">
              <a:solidFill>
                <a:schemeClr val="accent1"/>
              </a:solidFill>
            </a:ln>
          </p:spPr>
        </p:sp>
        <p:grpSp>
          <p:nvGrpSpPr>
            <p:cNvPr id="30" name="p12-doc1982-labels"/>
            <p:cNvGrpSpPr/>
            <p:nvPr/>
          </p:nvGrpSpPr>
          <p:grpSpPr>
            <a:xfrm>
              <a:off x="9296400" y="2686050"/>
              <a:ext cx="1680972" cy="1699133"/>
              <a:chOff x="9296400" y="2686050"/>
              <a:chExt cx="1680972" cy="1699133"/>
            </a:xfrm>
          </p:grpSpPr>
          <p:sp>
            <p:nvSpPr>
              <p:cNvPr id="27" name="TextBox 27"/>
              <p:cNvSpPr txBox="1"/>
              <p:nvPr/>
            </p:nvSpPr>
            <p:spPr>
              <a:xfrm>
                <a:off x="9296400" y="2686050"/>
                <a:ext cx="1680972"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1982</a:t>
                </a:r>
              </a:p>
            </p:txBody>
          </p:sp>
          <p:sp>
            <p:nvSpPr>
              <p:cNvPr id="28" name="TextBox 28"/>
              <p:cNvSpPr txBox="1"/>
              <p:nvPr/>
            </p:nvSpPr>
            <p:spPr>
              <a:xfrm>
                <a:off x="9306306" y="3660775"/>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完整文本</a:t>
                </a:r>
              </a:p>
            </p:txBody>
          </p:sp>
          <p:sp>
            <p:nvSpPr>
              <p:cNvPr id="29" name="TextBox 29"/>
              <p:cNvSpPr txBox="1"/>
              <p:nvPr/>
            </p:nvSpPr>
            <p:spPr>
              <a:xfrm>
                <a:off x="9308592" y="4121150"/>
                <a:ext cx="1649349"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进一步总结历史经验</a:t>
                </a:r>
              </a:p>
            </p:txBody>
          </p:sp>
        </p:grpSp>
      </p:grpSp>
      <p:grpSp>
        <p:nvGrpSpPr>
          <p:cNvPr id="40" name="p12-count-versus-method"/>
          <p:cNvGrpSpPr/>
          <p:nvPr/>
        </p:nvGrpSpPr>
        <p:grpSpPr>
          <a:xfrm>
            <a:off x="448056" y="5162550"/>
            <a:ext cx="9915144" cy="974344"/>
            <a:chOff x="448056" y="5162550"/>
            <a:chExt cx="9915144" cy="974344"/>
          </a:xfrm>
        </p:grpSpPr>
        <p:sp>
          <p:nvSpPr>
            <p:cNvPr id="32" name="Line 32"/>
            <p:cNvSpPr/>
            <p:nvPr/>
          </p:nvSpPr>
          <p:spPr>
            <a:xfrm>
              <a:off x="1752600" y="5162550"/>
              <a:ext cx="2819400" cy="1"/>
            </a:xfrm>
            <a:prstGeom prst="line">
              <a:avLst/>
            </a:prstGeom>
            <a:noFill/>
            <a:ln w="19050">
              <a:solidFill>
                <a:schemeClr val="accent1"/>
              </a:solidFill>
              <a:tailEnd type="triangle" w="lg" len="lg"/>
            </a:ln>
          </p:spPr>
        </p:sp>
        <p:sp>
          <p:nvSpPr>
            <p:cNvPr id="33" name="Line 33"/>
            <p:cNvSpPr/>
            <p:nvPr/>
          </p:nvSpPr>
          <p:spPr>
            <a:xfrm>
              <a:off x="4724400" y="5162550"/>
              <a:ext cx="2743200" cy="1"/>
            </a:xfrm>
            <a:prstGeom prst="line">
              <a:avLst/>
            </a:prstGeom>
            <a:noFill/>
            <a:ln w="19050">
              <a:solidFill>
                <a:schemeClr val="accent1"/>
              </a:solidFill>
              <a:tailEnd type="triangle" w="lg" len="lg"/>
            </a:ln>
          </p:spPr>
        </p:sp>
        <p:sp>
          <p:nvSpPr>
            <p:cNvPr id="34" name="Line 34"/>
            <p:cNvSpPr/>
            <p:nvPr/>
          </p:nvSpPr>
          <p:spPr>
            <a:xfrm>
              <a:off x="7620000" y="5162550"/>
              <a:ext cx="2743200" cy="1"/>
            </a:xfrm>
            <a:prstGeom prst="line">
              <a:avLst/>
            </a:prstGeom>
            <a:noFill/>
            <a:ln w="19050">
              <a:solidFill>
                <a:schemeClr val="accent1"/>
              </a:solidFill>
              <a:tailEnd type="triangle" w="lg" len="lg"/>
            </a:ln>
          </p:spPr>
        </p:sp>
        <p:grpSp>
          <p:nvGrpSpPr>
            <p:cNvPr id="38" name="p12-revision-labels"/>
            <p:cNvGrpSpPr/>
            <p:nvPr/>
          </p:nvGrpSpPr>
          <p:grpSpPr>
            <a:xfrm>
              <a:off x="2641092" y="5273675"/>
              <a:ext cx="6646164" cy="264033"/>
              <a:chOff x="2641092" y="5273675"/>
              <a:chExt cx="6646164" cy="264033"/>
            </a:xfrm>
          </p:grpSpPr>
          <p:sp>
            <p:nvSpPr>
              <p:cNvPr id="35" name="TextBox 35"/>
              <p:cNvSpPr txBox="1"/>
              <p:nvPr/>
            </p:nvSpPr>
            <p:spPr>
              <a:xfrm>
                <a:off x="2641092" y="5273675"/>
                <a:ext cx="74066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全面修改</a:t>
                </a:r>
              </a:p>
            </p:txBody>
          </p:sp>
          <p:sp>
            <p:nvSpPr>
              <p:cNvPr id="36" name="TextBox 36"/>
              <p:cNvSpPr txBox="1"/>
              <p:nvPr/>
            </p:nvSpPr>
            <p:spPr>
              <a:xfrm>
                <a:off x="5650992" y="5273675"/>
                <a:ext cx="74066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全面修改</a:t>
                </a:r>
              </a:p>
            </p:txBody>
          </p:sp>
          <p:sp>
            <p:nvSpPr>
              <p:cNvPr id="37" name="TextBox 37"/>
              <p:cNvSpPr txBox="1"/>
              <p:nvPr/>
            </p:nvSpPr>
            <p:spPr>
              <a:xfrm>
                <a:off x="8546592" y="5273675"/>
                <a:ext cx="74066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全面修改</a:t>
                </a:r>
              </a:p>
            </p:txBody>
          </p:sp>
        </p:grpSp>
        <p:sp>
          <p:nvSpPr>
            <p:cNvPr id="39" name="TextBox 39"/>
            <p:cNvSpPr txBox="1"/>
            <p:nvPr/>
          </p:nvSpPr>
          <p:spPr>
            <a:xfrm>
              <a:off x="448056" y="5784850"/>
              <a:ext cx="612465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“四部”数完整文本；“全面修改”说明后一文本怎样形成。</a:t>
              </a:r>
            </a:p>
          </p:txBody>
        </p:sp>
      </p:grpSp>
      <p:grpSp>
        <p:nvGrpSpPr>
          <p:cNvPr id="43" name="p12-footer"/>
          <p:cNvGrpSpPr/>
          <p:nvPr/>
        </p:nvGrpSpPr>
        <p:grpSpPr>
          <a:xfrm>
            <a:off x="451866" y="6254750"/>
            <a:ext cx="11288268" cy="205359"/>
            <a:chOff x="451866" y="6254750"/>
            <a:chExt cx="11288268" cy="205359"/>
          </a:xfrm>
        </p:grpSpPr>
        <p:sp>
          <p:nvSpPr>
            <p:cNvPr id="41" name="TextBox 41"/>
            <p:cNvSpPr txBox="1"/>
            <p:nvPr/>
          </p:nvSpPr>
          <p:spPr>
            <a:xfrm>
              <a:off x="451866" y="6254750"/>
              <a:ext cx="478833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《共同纲领》及1954、1975、1978、1982完整宪法文本。文书为教学示意。</a:t>
              </a:r>
            </a:p>
          </p:txBody>
        </p:sp>
        <p:sp>
          <p:nvSpPr>
            <p:cNvPr id="42" name="TextBox 42"/>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12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2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3-title"/>
          <p:cNvGrpSpPr/>
          <p:nvPr/>
        </p:nvGrpSpPr>
        <p:grpSpPr>
          <a:xfrm>
            <a:off x="441198" y="400050"/>
            <a:ext cx="5050231" cy="946277"/>
            <a:chOff x="441198" y="400050"/>
            <a:chExt cx="5050231" cy="946277"/>
          </a:xfrm>
        </p:grpSpPr>
        <p:sp>
          <p:nvSpPr>
            <p:cNvPr id="2" name="TextBox 2"/>
            <p:cNvSpPr txBox="1"/>
            <p:nvPr/>
          </p:nvSpPr>
          <p:spPr>
            <a:xfrm>
              <a:off x="451104" y="400050"/>
              <a:ext cx="265343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1982年的形成 · 实际工作与正式行为</a:t>
              </a:r>
            </a:p>
          </p:txBody>
        </p:sp>
        <p:sp>
          <p:nvSpPr>
            <p:cNvPr id="3" name="TextBox 3"/>
            <p:cNvSpPr txBox="1"/>
            <p:nvPr/>
          </p:nvSpPr>
          <p:spPr>
            <a:xfrm>
              <a:off x="441198" y="730250"/>
              <a:ext cx="505023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意见怎样进入1982年宪法</a:t>
              </a:r>
            </a:p>
          </p:txBody>
        </p:sp>
      </p:grpSp>
      <p:grpSp>
        <p:nvGrpSpPr>
          <p:cNvPr id="6" name="p13-existing-authority"/>
          <p:cNvGrpSpPr/>
          <p:nvPr/>
        </p:nvGrpSpPr>
        <p:grpSpPr>
          <a:xfrm>
            <a:off x="448056" y="1803400"/>
            <a:ext cx="6124651" cy="352044"/>
            <a:chOff x="448056" y="1803400"/>
            <a:chExt cx="6124651" cy="352044"/>
          </a:xfrm>
        </p:grpSpPr>
        <p:sp>
          <p:nvSpPr>
            <p:cNvPr id="5" name="TextBox 5"/>
            <p:cNvSpPr txBox="1"/>
            <p:nvPr/>
          </p:nvSpPr>
          <p:spPr>
            <a:xfrm>
              <a:off x="448056" y="1803400"/>
              <a:ext cx="612465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当时有效的1978年宪法，已经列出全国人大的修宪职权。</a:t>
              </a:r>
            </a:p>
          </p:txBody>
        </p:sp>
      </p:grpSp>
      <p:grpSp>
        <p:nvGrpSpPr>
          <p:cNvPr id="21" name="p13-actual-formation"/>
          <p:cNvGrpSpPr/>
          <p:nvPr/>
        </p:nvGrpSpPr>
        <p:grpSpPr>
          <a:xfrm>
            <a:off x="445008" y="2565400"/>
            <a:ext cx="10661142" cy="2590419"/>
            <a:chOff x="445008" y="2565400"/>
            <a:chExt cx="10661142" cy="2590419"/>
          </a:xfrm>
        </p:grpSpPr>
        <p:sp>
          <p:nvSpPr>
            <p:cNvPr id="7" name="Line 7"/>
            <p:cNvSpPr/>
            <p:nvPr/>
          </p:nvSpPr>
          <p:spPr>
            <a:xfrm>
              <a:off x="990600" y="3714750"/>
              <a:ext cx="10058400" cy="9525"/>
            </a:xfrm>
            <a:custGeom>
              <a:avLst/>
              <a:gdLst/>
              <a:ahLst/>
              <a:cxnLst/>
              <a:rect l="l" t="t" r="r" b="b"/>
              <a:pathLst>
                <a:path w="10058400" h="9525">
                  <a:moveTo>
                    <a:pt x="0" y="0"/>
                  </a:moveTo>
                  <a:lnTo>
                    <a:pt x="10058400" y="0"/>
                  </a:lnTo>
                </a:path>
              </a:pathLst>
            </a:custGeom>
            <a:noFill/>
            <a:ln w="19050">
              <a:solidFill>
                <a:schemeClr val="accent1"/>
              </a:solidFill>
            </a:ln>
          </p:spPr>
        </p:sp>
        <p:grpSp>
          <p:nvGrpSpPr>
            <p:cNvPr id="12" name="p13-milestones"/>
            <p:cNvGrpSpPr/>
            <p:nvPr/>
          </p:nvGrpSpPr>
          <p:grpSpPr>
            <a:xfrm>
              <a:off x="933450" y="3657600"/>
              <a:ext cx="10172700" cy="114300"/>
              <a:chOff x="933450" y="3657600"/>
              <a:chExt cx="10172700" cy="114300"/>
            </a:xfrm>
          </p:grpSpPr>
          <p:sp>
            <p:nvSpPr>
              <p:cNvPr id="8" name="Ellipse 8"/>
              <p:cNvSpPr/>
              <p:nvPr/>
            </p:nvSpPr>
            <p:spPr>
              <a:xfrm>
                <a:off x="933450" y="3657600"/>
                <a:ext cx="114300" cy="114300"/>
              </a:xfrm>
              <a:prstGeom prst="ellipse">
                <a:avLst/>
              </a:prstGeom>
              <a:solidFill>
                <a:schemeClr val="accent1"/>
              </a:solidFill>
              <a:ln>
                <a:noFill/>
              </a:ln>
            </p:spPr>
          </p:sp>
          <p:sp>
            <p:nvSpPr>
              <p:cNvPr id="9" name="Ellipse 9"/>
              <p:cNvSpPr/>
              <p:nvPr/>
            </p:nvSpPr>
            <p:spPr>
              <a:xfrm>
                <a:off x="3867150" y="3657600"/>
                <a:ext cx="114300" cy="114300"/>
              </a:xfrm>
              <a:prstGeom prst="ellipse">
                <a:avLst/>
              </a:prstGeom>
              <a:solidFill>
                <a:schemeClr val="accent1"/>
              </a:solidFill>
              <a:ln>
                <a:noFill/>
              </a:ln>
            </p:spPr>
          </p:sp>
          <p:sp>
            <p:nvSpPr>
              <p:cNvPr id="10" name="Ellipse 10"/>
              <p:cNvSpPr/>
              <p:nvPr/>
            </p:nvSpPr>
            <p:spPr>
              <a:xfrm>
                <a:off x="7600950" y="3657600"/>
                <a:ext cx="114300" cy="114300"/>
              </a:xfrm>
              <a:prstGeom prst="ellipse">
                <a:avLst/>
              </a:prstGeom>
              <a:solidFill>
                <a:schemeClr val="accent1"/>
              </a:solidFill>
              <a:ln>
                <a:noFill/>
              </a:ln>
            </p:spPr>
          </p:sp>
          <p:sp>
            <p:nvSpPr>
              <p:cNvPr id="11" name="Ellipse 11"/>
              <p:cNvSpPr/>
              <p:nvPr/>
            </p:nvSpPr>
            <p:spPr>
              <a:xfrm>
                <a:off x="10991850" y="3657600"/>
                <a:ext cx="114300" cy="114300"/>
              </a:xfrm>
              <a:prstGeom prst="ellipse">
                <a:avLst/>
              </a:prstGeom>
              <a:solidFill>
                <a:schemeClr val="accent1"/>
              </a:solidFill>
              <a:ln>
                <a:noFill/>
              </a:ln>
            </p:spPr>
          </p:sp>
        </p:grpSp>
        <p:sp>
          <p:nvSpPr>
            <p:cNvPr id="13" name="TextBox 13"/>
            <p:cNvSpPr txBox="1"/>
            <p:nvPr/>
          </p:nvSpPr>
          <p:spPr>
            <a:xfrm>
              <a:off x="445008" y="256540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1980</a:t>
              </a:r>
            </a:p>
          </p:txBody>
        </p:sp>
        <p:sp>
          <p:nvSpPr>
            <p:cNvPr id="14" name="TextBox 14"/>
            <p:cNvSpPr txBox="1"/>
            <p:nvPr/>
          </p:nvSpPr>
          <p:spPr>
            <a:xfrm>
              <a:off x="448056" y="2974975"/>
              <a:ext cx="20756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全国人大决定修改</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成立宪法修改委员会</a:t>
              </a:r>
            </a:p>
          </p:txBody>
        </p:sp>
        <p:sp>
          <p:nvSpPr>
            <p:cNvPr id="15" name="TextBox 15"/>
            <p:cNvSpPr txBox="1"/>
            <p:nvPr/>
          </p:nvSpPr>
          <p:spPr>
            <a:xfrm>
              <a:off x="3454908" y="4000500"/>
              <a:ext cx="185074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1982 · 草案</a:t>
              </a:r>
            </a:p>
          </p:txBody>
        </p:sp>
        <p:sp>
          <p:nvSpPr>
            <p:cNvPr id="16" name="TextBox 16"/>
            <p:cNvSpPr txBox="1"/>
            <p:nvPr/>
          </p:nvSpPr>
          <p:spPr>
            <a:xfrm>
              <a:off x="3457956" y="4479925"/>
              <a:ext cx="2304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研究、起草、征求意见</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全国讨论、再修改</a:t>
              </a:r>
            </a:p>
          </p:txBody>
        </p:sp>
        <p:sp>
          <p:nvSpPr>
            <p:cNvPr id="17" name="TextBox 17"/>
            <p:cNvSpPr txBox="1"/>
            <p:nvPr/>
          </p:nvSpPr>
          <p:spPr>
            <a:xfrm>
              <a:off x="7094220" y="2578100"/>
              <a:ext cx="1295019"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11月26日</a:t>
              </a:r>
            </a:p>
          </p:txBody>
        </p:sp>
        <p:sp>
          <p:nvSpPr>
            <p:cNvPr id="18" name="TextBox 18"/>
            <p:cNvSpPr txBox="1"/>
            <p:nvPr/>
          </p:nvSpPr>
          <p:spPr>
            <a:xfrm>
              <a:off x="7096506" y="3089275"/>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彭真报告</a:t>
              </a:r>
            </a:p>
          </p:txBody>
        </p:sp>
        <p:sp>
          <p:nvSpPr>
            <p:cNvPr id="19" name="TextBox 19"/>
            <p:cNvSpPr txBox="1"/>
            <p:nvPr/>
          </p:nvSpPr>
          <p:spPr>
            <a:xfrm>
              <a:off x="9704070" y="4025900"/>
              <a:ext cx="1128427"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12月4日</a:t>
              </a:r>
            </a:p>
          </p:txBody>
        </p:sp>
        <p:sp>
          <p:nvSpPr>
            <p:cNvPr id="20" name="TextBox 20"/>
            <p:cNvSpPr txBox="1"/>
            <p:nvPr/>
          </p:nvSpPr>
          <p:spPr>
            <a:xfrm>
              <a:off x="9706356" y="4479925"/>
              <a:ext cx="1389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全国人大通过</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并公布施行</a:t>
              </a:r>
            </a:p>
          </p:txBody>
        </p:sp>
      </p:grpSp>
      <p:grpSp>
        <p:nvGrpSpPr>
          <p:cNvPr id="24" name="p13-concrete-question"/>
          <p:cNvGrpSpPr/>
          <p:nvPr/>
        </p:nvGrpSpPr>
        <p:grpSpPr>
          <a:xfrm>
            <a:off x="445008" y="5559425"/>
            <a:ext cx="8648700" cy="545592"/>
            <a:chOff x="445008" y="5559425"/>
            <a:chExt cx="8648700" cy="545592"/>
          </a:xfrm>
        </p:grpSpPr>
        <p:sp>
          <p:nvSpPr>
            <p:cNvPr id="22" name="TextBox 22"/>
            <p:cNvSpPr txBox="1"/>
            <p:nvPr/>
          </p:nvSpPr>
          <p:spPr>
            <a:xfrm>
              <a:off x="445008" y="5635625"/>
              <a:ext cx="343814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究竟回应了哪些意见？</a:t>
              </a:r>
            </a:p>
          </p:txBody>
        </p:sp>
        <p:sp>
          <p:nvSpPr>
            <p:cNvPr id="23" name="TextBox 23"/>
            <p:cNvSpPr txBox="1"/>
            <p:nvPr/>
          </p:nvSpPr>
          <p:spPr>
            <a:xfrm>
              <a:off x="6336792" y="5559425"/>
              <a:ext cx="275691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3"/>
                  </a:solidFill>
                  <a:latin typeface="+mn-lt"/>
                  <a:ea typeface="+mn-ea"/>
                  <a:cs typeface="+mn-cs"/>
                </a:rPr>
                <a:t>制定：创制根本规范</a:t>
              </a:r>
              <a:br>
                <a:rPr lang="zh-CN" sz="1350" dirty="0">
                  <a:solidFill>
                    <a:schemeClr val="accent3"/>
                  </a:solidFill>
                  <a:latin typeface="+mn-lt"/>
                  <a:ea typeface="+mn-ea"/>
                  <a:cs typeface="+mn-cs"/>
                </a:rPr>
              </a:br>
              <a:r>
                <a:rPr lang="zh-CN" sz="1350" dirty="0">
                  <a:solidFill>
                    <a:schemeClr val="accent3"/>
                  </a:solidFill>
                  <a:latin typeface="+mn-lt"/>
                  <a:ea typeface="+mn-ea"/>
                  <a:cs typeface="+mn-cs"/>
                </a:rPr>
                <a:t>修改：在既有基础上依权限程序调整</a:t>
              </a:r>
            </a:p>
          </p:txBody>
        </p:sp>
      </p:grpSp>
      <p:grpSp>
        <p:nvGrpSpPr>
          <p:cNvPr id="27" name="p13-footer"/>
          <p:cNvGrpSpPr/>
          <p:nvPr/>
        </p:nvGrpSpPr>
        <p:grpSpPr>
          <a:xfrm>
            <a:off x="451866" y="6254750"/>
            <a:ext cx="11288268" cy="205359"/>
            <a:chOff x="451866" y="6254750"/>
            <a:chExt cx="11288268" cy="205359"/>
          </a:xfrm>
        </p:grpSpPr>
        <p:sp>
          <p:nvSpPr>
            <p:cNvPr id="25" name="TextBox 25"/>
            <p:cNvSpPr txBox="1"/>
            <p:nvPr/>
          </p:nvSpPr>
          <p:spPr>
            <a:xfrm>
              <a:off x="451866" y="6254750"/>
              <a:ext cx="461871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1980修宪决定、1982草案讨论及彭真11月26日修宪报告。形成过程整理。</a:t>
              </a:r>
            </a:p>
          </p:txBody>
        </p:sp>
        <p:sp>
          <p:nvSpPr>
            <p:cNvPr id="26" name="TextBox 26"/>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13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4-title"/>
          <p:cNvGrpSpPr/>
          <p:nvPr/>
        </p:nvGrpSpPr>
        <p:grpSpPr>
          <a:xfrm>
            <a:off x="441198" y="400050"/>
            <a:ext cx="6304788" cy="933577"/>
            <a:chOff x="441198" y="400050"/>
            <a:chExt cx="6304788" cy="933577"/>
          </a:xfrm>
        </p:grpSpPr>
        <p:sp>
          <p:nvSpPr>
            <p:cNvPr id="2" name="TextBox 2"/>
            <p:cNvSpPr txBox="1"/>
            <p:nvPr/>
          </p:nvSpPr>
          <p:spPr>
            <a:xfrm>
              <a:off x="451104" y="400050"/>
              <a:ext cx="229804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彭真报告 · 草案扩大职权的讨论</a:t>
              </a:r>
            </a:p>
          </p:txBody>
        </p:sp>
        <p:sp>
          <p:nvSpPr>
            <p:cNvPr id="3" name="TextBox 3"/>
            <p:cNvSpPr txBox="1"/>
            <p:nvPr/>
          </p:nvSpPr>
          <p:spPr>
            <a:xfrm>
              <a:off x="441198" y="717550"/>
              <a:ext cx="630478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能够及时办事，权力改到哪里？</a:t>
              </a:r>
            </a:p>
          </p:txBody>
        </p:sp>
      </p:grpSp>
      <p:grpSp>
        <p:nvGrpSpPr>
          <p:cNvPr id="6" name="p14-work-need"/>
          <p:cNvGrpSpPr/>
          <p:nvPr/>
        </p:nvGrpSpPr>
        <p:grpSpPr>
          <a:xfrm>
            <a:off x="448056" y="1803400"/>
            <a:ext cx="9468612" cy="352044"/>
            <a:chOff x="448056" y="1803400"/>
            <a:chExt cx="9468612" cy="352044"/>
          </a:xfrm>
        </p:grpSpPr>
        <p:sp>
          <p:nvSpPr>
            <p:cNvPr id="5" name="TextBox 5"/>
            <p:cNvSpPr txBox="1"/>
            <p:nvPr/>
          </p:nvSpPr>
          <p:spPr>
            <a:xfrm>
              <a:off x="448056" y="1803400"/>
              <a:ext cx="94686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拟让常设机关及时处理事务：在全国人大闭会期间，对它制定的法律作部分补充和修改。</a:t>
              </a:r>
            </a:p>
          </p:txBody>
        </p:sp>
      </p:grpSp>
      <p:grpSp>
        <p:nvGrpSpPr>
          <p:cNvPr id="20" name="p14-actors-and-law"/>
          <p:cNvGrpSpPr/>
          <p:nvPr/>
        </p:nvGrpSpPr>
        <p:grpSpPr>
          <a:xfrm>
            <a:off x="445008" y="2514600"/>
            <a:ext cx="10529316" cy="1390650"/>
            <a:chOff x="445008" y="2514600"/>
            <a:chExt cx="10529316" cy="1390650"/>
          </a:xfrm>
        </p:grpSpPr>
        <p:grpSp>
          <p:nvGrpSpPr>
            <p:cNvPr id="11" name="p14-actor-labels"/>
            <p:cNvGrpSpPr/>
            <p:nvPr/>
          </p:nvGrpSpPr>
          <p:grpSpPr>
            <a:xfrm>
              <a:off x="445008" y="2625725"/>
              <a:ext cx="10529316" cy="1177544"/>
              <a:chOff x="445008" y="2625725"/>
              <a:chExt cx="10529316" cy="1177544"/>
            </a:xfrm>
          </p:grpSpPr>
          <p:sp>
            <p:nvSpPr>
              <p:cNvPr id="7" name="TextBox 7"/>
              <p:cNvSpPr txBox="1"/>
              <p:nvPr/>
            </p:nvSpPr>
            <p:spPr>
              <a:xfrm>
                <a:off x="445008" y="2625725"/>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全国人大</a:t>
                </a:r>
              </a:p>
            </p:txBody>
          </p:sp>
          <p:sp>
            <p:nvSpPr>
              <p:cNvPr id="8" name="TextBox 8"/>
              <p:cNvSpPr txBox="1"/>
              <p:nvPr/>
            </p:nvSpPr>
            <p:spPr>
              <a:xfrm>
                <a:off x="448056" y="3232150"/>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每年举行会议</a:t>
                </a:r>
              </a:p>
            </p:txBody>
          </p:sp>
          <p:sp>
            <p:nvSpPr>
              <p:cNvPr id="9" name="TextBox 9"/>
              <p:cNvSpPr txBox="1"/>
              <p:nvPr/>
            </p:nvSpPr>
            <p:spPr>
              <a:xfrm>
                <a:off x="8560308" y="2625725"/>
                <a:ext cx="24140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全国人大常委会</a:t>
                </a:r>
              </a:p>
            </p:txBody>
          </p:sp>
          <p:sp>
            <p:nvSpPr>
              <p:cNvPr id="10" name="TextBox 10"/>
              <p:cNvSpPr txBox="1"/>
              <p:nvPr/>
            </p:nvSpPr>
            <p:spPr>
              <a:xfrm>
                <a:off x="8563356" y="3127375"/>
                <a:ext cx="1618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闭会期间</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部分补充、修改</a:t>
                </a:r>
              </a:p>
            </p:txBody>
          </p:sp>
        </p:grpSp>
        <p:sp>
          <p:nvSpPr>
            <p:cNvPr id="12" name="Rectangle 12"/>
            <p:cNvSpPr/>
            <p:nvPr/>
          </p:nvSpPr>
          <p:spPr>
            <a:xfrm>
              <a:off x="4286250" y="2514600"/>
              <a:ext cx="3581400" cy="1390650"/>
            </a:xfrm>
            <a:prstGeom prst="rect">
              <a:avLst/>
            </a:prstGeom>
            <a:solidFill>
              <a:schemeClr val="lt2"/>
            </a:solidFill>
            <a:ln>
              <a:noFill/>
            </a:ln>
          </p:spPr>
        </p:sp>
        <p:grpSp>
          <p:nvGrpSpPr>
            <p:cNvPr id="16" name="p14-law-identity"/>
            <p:cNvGrpSpPr/>
            <p:nvPr/>
          </p:nvGrpSpPr>
          <p:grpSpPr>
            <a:xfrm>
              <a:off x="4502658" y="2587625"/>
              <a:ext cx="1475232" cy="1216533"/>
              <a:chOff x="4502658" y="2587625"/>
              <a:chExt cx="1475232" cy="1216533"/>
            </a:xfrm>
          </p:grpSpPr>
          <p:sp>
            <p:nvSpPr>
              <p:cNvPr id="13" name="TextBox 13"/>
              <p:cNvSpPr txBox="1"/>
              <p:nvPr/>
            </p:nvSpPr>
            <p:spPr>
              <a:xfrm>
                <a:off x="4502658" y="2587625"/>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法律</a:t>
                </a:r>
              </a:p>
            </p:txBody>
          </p:sp>
          <p:sp>
            <p:nvSpPr>
              <p:cNvPr id="14" name="TextBox 14"/>
              <p:cNvSpPr txBox="1"/>
              <p:nvPr/>
            </p:nvSpPr>
            <p:spPr>
              <a:xfrm>
                <a:off x="4505706" y="3117850"/>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全国人大制定</a:t>
                </a:r>
              </a:p>
            </p:txBody>
          </p:sp>
          <p:sp>
            <p:nvSpPr>
              <p:cNvPr id="15" name="TextBox 15"/>
              <p:cNvSpPr txBox="1"/>
              <p:nvPr/>
            </p:nvSpPr>
            <p:spPr>
              <a:xfrm>
                <a:off x="4507992" y="3540125"/>
                <a:ext cx="146761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其中已有基本原则</a:t>
                </a:r>
              </a:p>
            </p:txBody>
          </p:sp>
        </p:grpSp>
        <p:sp>
          <p:nvSpPr>
            <p:cNvPr id="17" name="Line 17"/>
            <p:cNvSpPr/>
            <p:nvPr/>
          </p:nvSpPr>
          <p:spPr>
            <a:xfrm>
              <a:off x="2324100" y="3181350"/>
              <a:ext cx="1790700" cy="1"/>
            </a:xfrm>
            <a:prstGeom prst="line">
              <a:avLst/>
            </a:prstGeom>
            <a:noFill/>
            <a:ln w="19050">
              <a:solidFill>
                <a:schemeClr val="accent1"/>
              </a:solidFill>
              <a:tailEnd type="triangle" w="lg" len="lg"/>
            </a:ln>
          </p:spPr>
        </p:sp>
        <p:sp>
          <p:nvSpPr>
            <p:cNvPr id="18" name="TextBox 18"/>
            <p:cNvSpPr txBox="1"/>
            <p:nvPr/>
          </p:nvSpPr>
          <p:spPr>
            <a:xfrm>
              <a:off x="2812542" y="2844800"/>
              <a:ext cx="37719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制定</a:t>
              </a:r>
            </a:p>
          </p:txBody>
        </p:sp>
        <p:sp>
          <p:nvSpPr>
            <p:cNvPr id="19" name="Line 19"/>
            <p:cNvSpPr/>
            <p:nvPr/>
          </p:nvSpPr>
          <p:spPr>
            <a:xfrm flipH="1">
              <a:off x="8039100" y="3486150"/>
              <a:ext cx="457200" cy="1"/>
            </a:xfrm>
            <a:prstGeom prst="line">
              <a:avLst/>
            </a:prstGeom>
            <a:noFill/>
            <a:ln w="19050">
              <a:solidFill>
                <a:schemeClr val="accent1"/>
              </a:solidFill>
              <a:tailEnd type="triangle" w="lg" len="lg"/>
            </a:ln>
          </p:spPr>
        </p:sp>
      </p:grpSp>
      <p:grpSp>
        <p:nvGrpSpPr>
          <p:cNvPr id="23" name="p14-principle-boundary"/>
          <p:cNvGrpSpPr/>
          <p:nvPr/>
        </p:nvGrpSpPr>
        <p:grpSpPr>
          <a:xfrm>
            <a:off x="450342" y="4378325"/>
            <a:ext cx="7104698" cy="449580"/>
            <a:chOff x="450342" y="4378325"/>
            <a:chExt cx="7104698" cy="449580"/>
          </a:xfrm>
        </p:grpSpPr>
        <p:sp>
          <p:nvSpPr>
            <p:cNvPr id="21" name="TextBox 21"/>
            <p:cNvSpPr txBox="1"/>
            <p:nvPr/>
          </p:nvSpPr>
          <p:spPr>
            <a:xfrm>
              <a:off x="450342" y="4378325"/>
              <a:ext cx="1467612"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讨论后补写的限制</a:t>
              </a:r>
            </a:p>
          </p:txBody>
        </p:sp>
        <p:sp>
          <p:nvSpPr>
            <p:cNvPr id="22" name="TextBox 22"/>
            <p:cNvSpPr txBox="1"/>
            <p:nvPr/>
          </p:nvSpPr>
          <p:spPr>
            <a:xfrm>
              <a:off x="2655570" y="4387850"/>
              <a:ext cx="4899470"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“不得同这部法律的基本原则相抵触”</a:t>
              </a:r>
            </a:p>
          </p:txBody>
        </p:sp>
      </p:grpSp>
      <p:grpSp>
        <p:nvGrpSpPr>
          <p:cNvPr id="29" name="p14-npc-correction"/>
          <p:cNvGrpSpPr/>
          <p:nvPr/>
        </p:nvGrpSpPr>
        <p:grpSpPr>
          <a:xfrm>
            <a:off x="445008" y="5251450"/>
            <a:ext cx="9455277" cy="933958"/>
            <a:chOff x="445008" y="5251450"/>
            <a:chExt cx="9455277" cy="933958"/>
          </a:xfrm>
        </p:grpSpPr>
        <p:sp>
          <p:nvSpPr>
            <p:cNvPr id="24" name="TextBox 24"/>
            <p:cNvSpPr txBox="1"/>
            <p:nvPr/>
          </p:nvSpPr>
          <p:spPr>
            <a:xfrm>
              <a:off x="445008" y="543560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全国人大</a:t>
              </a:r>
            </a:p>
          </p:txBody>
        </p:sp>
        <p:sp>
          <p:nvSpPr>
            <p:cNvPr id="25" name="TextBox 25"/>
            <p:cNvSpPr txBox="1"/>
            <p:nvPr/>
          </p:nvSpPr>
          <p:spPr>
            <a:xfrm>
              <a:off x="3343656" y="5251450"/>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改变或者撤销</a:t>
              </a:r>
            </a:p>
          </p:txBody>
        </p:sp>
        <p:sp>
          <p:nvSpPr>
            <p:cNvPr id="26" name="Line 26"/>
            <p:cNvSpPr/>
            <p:nvPr/>
          </p:nvSpPr>
          <p:spPr>
            <a:xfrm>
              <a:off x="2324100" y="5657850"/>
              <a:ext cx="4419600" cy="1"/>
            </a:xfrm>
            <a:prstGeom prst="line">
              <a:avLst/>
            </a:prstGeom>
            <a:noFill/>
            <a:ln w="19050">
              <a:solidFill>
                <a:schemeClr val="accent1"/>
              </a:solidFill>
              <a:tailEnd type="triangle" w="lg" len="lg"/>
            </a:ln>
          </p:spPr>
        </p:sp>
        <p:sp>
          <p:nvSpPr>
            <p:cNvPr id="27" name="TextBox 27"/>
            <p:cNvSpPr txBox="1"/>
            <p:nvPr/>
          </p:nvSpPr>
          <p:spPr>
            <a:xfrm>
              <a:off x="7151370" y="5473700"/>
              <a:ext cx="274891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常委会的不适当决定</a:t>
              </a:r>
            </a:p>
          </p:txBody>
        </p:sp>
        <p:sp>
          <p:nvSpPr>
            <p:cNvPr id="28" name="TextBox 28"/>
            <p:cNvSpPr txBox="1"/>
            <p:nvPr/>
          </p:nvSpPr>
          <p:spPr>
            <a:xfrm>
              <a:off x="450342" y="5921375"/>
              <a:ext cx="5647563"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工作能力、内容边界与纠正共同成立；报告目标不证明实际履职效果。</a:t>
              </a:r>
            </a:p>
          </p:txBody>
        </p:sp>
      </p:grpSp>
      <p:grpSp>
        <p:nvGrpSpPr>
          <p:cNvPr id="32" name="p14-footer"/>
          <p:cNvGrpSpPr/>
          <p:nvPr/>
        </p:nvGrpSpPr>
        <p:grpSpPr>
          <a:xfrm>
            <a:off x="451866" y="6254750"/>
            <a:ext cx="11288268" cy="205359"/>
            <a:chOff x="451866" y="6254750"/>
            <a:chExt cx="11288268" cy="205359"/>
          </a:xfrm>
        </p:grpSpPr>
        <p:sp>
          <p:nvSpPr>
            <p:cNvPr id="30" name="TextBox 30"/>
            <p:cNvSpPr txBox="1"/>
            <p:nvPr/>
          </p:nvSpPr>
          <p:spPr>
            <a:xfrm>
              <a:off x="451866" y="6254750"/>
              <a:ext cx="399676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彭真1982修宪报告；常委会部分修改法律与全国人大纠正职权。</a:t>
              </a:r>
            </a:p>
          </p:txBody>
        </p:sp>
        <p:sp>
          <p:nvSpPr>
            <p:cNvPr id="31" name="TextBox 31"/>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14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2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5-title"/>
          <p:cNvGrpSpPr/>
          <p:nvPr/>
        </p:nvGrpSpPr>
        <p:grpSpPr>
          <a:xfrm>
            <a:off x="441198" y="400050"/>
            <a:ext cx="4960620" cy="933577"/>
            <a:chOff x="441198" y="400050"/>
            <a:chExt cx="4960620" cy="933577"/>
          </a:xfrm>
        </p:grpSpPr>
        <p:sp>
          <p:nvSpPr>
            <p:cNvPr id="2" name="TextBox 2"/>
            <p:cNvSpPr txBox="1"/>
            <p:nvPr/>
          </p:nvSpPr>
          <p:spPr>
            <a:xfrm>
              <a:off x="451104" y="400050"/>
              <a:ext cx="181340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生活中的意见 · 土地资源</a:t>
              </a:r>
            </a:p>
          </p:txBody>
        </p:sp>
        <p:sp>
          <p:nvSpPr>
            <p:cNvPr id="3" name="TextBox 3"/>
            <p:cNvSpPr txBox="1"/>
            <p:nvPr/>
          </p:nvSpPr>
          <p:spPr>
            <a:xfrm>
              <a:off x="441198" y="717550"/>
              <a:ext cx="496062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属于谁，怎样合理使用？</a:t>
              </a:r>
            </a:p>
          </p:txBody>
        </p:sp>
      </p:grpSp>
      <p:grpSp>
        <p:nvGrpSpPr>
          <p:cNvPr id="9" name="p15-memoir"/>
          <p:cNvGrpSpPr/>
          <p:nvPr/>
        </p:nvGrpSpPr>
        <p:grpSpPr>
          <a:xfrm>
            <a:off x="441198" y="1920875"/>
            <a:ext cx="3294126" cy="2588133"/>
            <a:chOff x="441198" y="1920875"/>
            <a:chExt cx="3294126" cy="2588133"/>
          </a:xfrm>
        </p:grpSpPr>
        <p:sp>
          <p:nvSpPr>
            <p:cNvPr id="5" name="TextBox 5"/>
            <p:cNvSpPr txBox="1"/>
            <p:nvPr/>
          </p:nvSpPr>
          <p:spPr>
            <a:xfrm>
              <a:off x="450342" y="1920875"/>
              <a:ext cx="258529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廉希圣后来的回忆 · 内蒙古来信</a:t>
              </a:r>
            </a:p>
          </p:txBody>
        </p:sp>
        <p:sp>
          <p:nvSpPr>
            <p:cNvPr id="6" name="TextBox 6"/>
            <p:cNvSpPr txBox="1"/>
            <p:nvPr/>
          </p:nvSpPr>
          <p:spPr>
            <a:xfrm>
              <a:off x="441198" y="2403475"/>
              <a:ext cx="182422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属于谁？</a:t>
              </a:r>
            </a:p>
          </p:txBody>
        </p:sp>
        <p:sp>
          <p:nvSpPr>
            <p:cNvPr id="7" name="TextBox 7"/>
            <p:cNvSpPr txBox="1"/>
            <p:nvPr/>
          </p:nvSpPr>
          <p:spPr>
            <a:xfrm>
              <a:off x="448056" y="3098800"/>
              <a:ext cx="32186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不能只规定土地归谁所有，</a:t>
              </a:r>
              <a:br>
                <a:rPr lang="zh-CN" sz="1800" dirty="0">
                  <a:solidFill>
                    <a:schemeClr val="dk1"/>
                  </a:solidFill>
                  <a:latin typeface="+mn-lt"/>
                  <a:ea typeface="+mn-ea"/>
                  <a:cs typeface="+mn-cs"/>
                </a:rPr>
              </a:br>
              <a:r>
                <a:rPr lang="zh-CN" sz="1800" dirty="0">
                  <a:solidFill>
                    <a:schemeClr val="dk1"/>
                  </a:solidFill>
                  <a:latin typeface="+mn-lt"/>
                  <a:ea typeface="+mn-ea"/>
                  <a:cs typeface="+mn-cs"/>
                </a:rPr>
                <a:t>土地珍贵，还要规定不能滥用。</a:t>
              </a:r>
            </a:p>
          </p:txBody>
        </p:sp>
        <p:sp>
          <p:nvSpPr>
            <p:cNvPr id="8" name="TextBox 8"/>
            <p:cNvSpPr txBox="1"/>
            <p:nvPr/>
          </p:nvSpPr>
          <p:spPr>
            <a:xfrm>
              <a:off x="450342" y="4244975"/>
              <a:ext cx="328498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回忆支持意见故事，不是当年原信影像。</a:t>
              </a:r>
            </a:p>
          </p:txBody>
        </p:sp>
      </p:grpSp>
      <p:grpSp>
        <p:nvGrpSpPr>
          <p:cNvPr id="15" name="p15-formal-clause"/>
          <p:cNvGrpSpPr/>
          <p:nvPr/>
        </p:nvGrpSpPr>
        <p:grpSpPr>
          <a:xfrm>
            <a:off x="5965698" y="1920875"/>
            <a:ext cx="4021074" cy="2664333"/>
            <a:chOff x="5965698" y="1920875"/>
            <a:chExt cx="4021074" cy="2664333"/>
          </a:xfrm>
        </p:grpSpPr>
        <p:sp>
          <p:nvSpPr>
            <p:cNvPr id="10" name="TextBox 10"/>
            <p:cNvSpPr txBox="1"/>
            <p:nvPr/>
          </p:nvSpPr>
          <p:spPr>
            <a:xfrm>
              <a:off x="5974842" y="1920875"/>
              <a:ext cx="191286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1982宪法 · 第10条末款</a:t>
              </a:r>
            </a:p>
          </p:txBody>
        </p:sp>
        <p:sp>
          <p:nvSpPr>
            <p:cNvPr id="11" name="TextBox 11"/>
            <p:cNvSpPr txBox="1"/>
            <p:nvPr/>
          </p:nvSpPr>
          <p:spPr>
            <a:xfrm>
              <a:off x="5965698" y="2403475"/>
              <a:ext cx="227228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怎样使用？</a:t>
              </a:r>
            </a:p>
          </p:txBody>
        </p:sp>
        <p:sp>
          <p:nvSpPr>
            <p:cNvPr id="12" name="Line 12"/>
            <p:cNvSpPr/>
            <p:nvPr/>
          </p:nvSpPr>
          <p:spPr>
            <a:xfrm>
              <a:off x="5991225" y="3114675"/>
              <a:ext cx="9525" cy="1057275"/>
            </a:xfrm>
            <a:custGeom>
              <a:avLst/>
              <a:gdLst/>
              <a:ahLst/>
              <a:cxnLst/>
              <a:rect l="l" t="t" r="r" b="b"/>
              <a:pathLst>
                <a:path w="9525" h="1057275">
                  <a:moveTo>
                    <a:pt x="0" y="0"/>
                  </a:moveTo>
                  <a:lnTo>
                    <a:pt x="0" y="1057275"/>
                  </a:lnTo>
                </a:path>
              </a:pathLst>
            </a:custGeom>
            <a:noFill/>
            <a:ln w="28575">
              <a:solidFill>
                <a:schemeClr val="accent2"/>
              </a:solidFill>
            </a:ln>
          </p:spPr>
        </p:sp>
        <p:sp>
          <p:nvSpPr>
            <p:cNvPr id="13" name="TextBox 13"/>
            <p:cNvSpPr txBox="1"/>
            <p:nvPr/>
          </p:nvSpPr>
          <p:spPr>
            <a:xfrm>
              <a:off x="6217920" y="3121025"/>
              <a:ext cx="3609022" cy="859155"/>
            </a:xfrm>
            <a:prstGeom prst="rect">
              <a:avLst/>
            </a:prstGeom>
            <a:noFill/>
            <a:ln>
              <a:noFill/>
            </a:ln>
          </p:spPr>
          <p:txBody>
            <a:bodyPr wrap="none" lIns="0" tIns="0" rIns="0" bIns="0" anchor="t" anchorCtr="0">
              <a:spAutoFit/>
            </a:bodyPr>
            <a:lstStyle/>
            <a:p>
              <a:pPr algn="l">
                <a:lnSpc>
                  <a:spcPts val="3300"/>
                </a:lnSpc>
              </a:pPr>
              <a:r>
                <a:rPr lang="zh-CN" sz="2250" dirty="0">
                  <a:solidFill>
                    <a:schemeClr val="accent1"/>
                  </a:solidFill>
                  <a:latin typeface="+mn-lt"/>
                  <a:ea typeface="+mn-ea"/>
                  <a:cs typeface="+mn-cs"/>
                </a:rPr>
                <a:t>“一切使用土地的组织和个人</a:t>
              </a:r>
              <a:br>
                <a:rPr lang="zh-CN" sz="2250" dirty="0">
                  <a:solidFill>
                    <a:schemeClr val="accent1"/>
                  </a:solidFill>
                  <a:latin typeface="+mn-lt"/>
                  <a:ea typeface="+mn-ea"/>
                  <a:cs typeface="+mn-cs"/>
                </a:rPr>
              </a:br>
              <a:r>
                <a:rPr lang="zh-CN" sz="2250" dirty="0">
                  <a:solidFill>
                    <a:schemeClr val="accent1"/>
                  </a:solidFill>
                  <a:latin typeface="+mn-lt"/>
                  <a:ea typeface="+mn-ea"/>
                  <a:cs typeface="+mn-cs"/>
                </a:rPr>
                <a:t>必须</a:t>
              </a:r>
              <a:r>
                <a:rPr lang="zh-CN" sz="2250" dirty="0">
                  <a:solidFill>
                    <a:schemeClr val="accent2"/>
                  </a:solidFill>
                  <a:latin typeface="+mn-lt"/>
                  <a:ea typeface="+mn-ea"/>
                  <a:cs typeface="+mn-cs"/>
                </a:rPr>
                <a:t>合理地利用土地</a:t>
              </a:r>
              <a:r>
                <a:rPr lang="zh-CN" sz="2250" dirty="0">
                  <a:solidFill>
                    <a:schemeClr val="accent1"/>
                  </a:solidFill>
                  <a:latin typeface="+mn-lt"/>
                  <a:ea typeface="+mn-ea"/>
                  <a:cs typeface="+mn-cs"/>
                </a:rPr>
                <a:t>。”</a:t>
              </a:r>
            </a:p>
          </p:txBody>
        </p:sp>
        <p:sp>
          <p:nvSpPr>
            <p:cNvPr id="14" name="TextBox 14"/>
            <p:cNvSpPr txBox="1"/>
            <p:nvPr/>
          </p:nvSpPr>
          <p:spPr>
            <a:xfrm>
              <a:off x="5974842" y="4321175"/>
              <a:ext cx="401193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所有权确定，不等于取得使用资格就能任意浪费。</a:t>
              </a:r>
            </a:p>
          </p:txBody>
        </p:sp>
      </p:grpSp>
      <p:grpSp>
        <p:nvGrpSpPr>
          <p:cNvPr id="20" name="p15-task-and-law"/>
          <p:cNvGrpSpPr/>
          <p:nvPr/>
        </p:nvGrpSpPr>
        <p:grpSpPr>
          <a:xfrm>
            <a:off x="445770" y="5076825"/>
            <a:ext cx="11279505" cy="1118108"/>
            <a:chOff x="445770" y="5076825"/>
            <a:chExt cx="11279505" cy="1118108"/>
          </a:xfrm>
        </p:grpSpPr>
        <p:sp>
          <p:nvSpPr>
            <p:cNvPr id="16" name="Line 16"/>
            <p:cNvSpPr/>
            <p:nvPr/>
          </p:nvSpPr>
          <p:spPr>
            <a:xfrm>
              <a:off x="466725" y="5076825"/>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17" name="TextBox 17"/>
            <p:cNvSpPr txBox="1"/>
            <p:nvPr/>
          </p:nvSpPr>
          <p:spPr>
            <a:xfrm>
              <a:off x="448056" y="5260975"/>
              <a:ext cx="548251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序言：现代化建设任务　｜　第5条：遵守宪法法律</a:t>
              </a:r>
            </a:p>
          </p:txBody>
        </p:sp>
        <p:sp>
          <p:nvSpPr>
            <p:cNvPr id="18" name="TextBox 18"/>
            <p:cNvSpPr txBox="1"/>
            <p:nvPr/>
          </p:nvSpPr>
          <p:spPr>
            <a:xfrm>
              <a:off x="445770" y="5578475"/>
              <a:ext cx="517207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任务本身不能代替权限、程序与责任。</a:t>
              </a:r>
            </a:p>
          </p:txBody>
        </p:sp>
        <p:sp>
          <p:nvSpPr>
            <p:cNvPr id="19" name="TextBox 19"/>
            <p:cNvSpPr txBox="1"/>
            <p:nvPr/>
          </p:nvSpPr>
          <p:spPr>
            <a:xfrm>
              <a:off x="7917942" y="5930900"/>
              <a:ext cx="2739771"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接下来：机关分工与一个人的自由</a:t>
              </a:r>
            </a:p>
          </p:txBody>
        </p:sp>
      </p:grpSp>
      <p:grpSp>
        <p:nvGrpSpPr>
          <p:cNvPr id="23" name="p15-footer"/>
          <p:cNvGrpSpPr/>
          <p:nvPr/>
        </p:nvGrpSpPr>
        <p:grpSpPr>
          <a:xfrm>
            <a:off x="451866" y="6254750"/>
            <a:ext cx="11288268" cy="205359"/>
            <a:chOff x="451866" y="6254750"/>
            <a:chExt cx="11288268" cy="205359"/>
          </a:xfrm>
        </p:grpSpPr>
        <p:sp>
          <p:nvSpPr>
            <p:cNvPr id="21" name="TextBox 21"/>
            <p:cNvSpPr txBox="1"/>
            <p:nvPr/>
          </p:nvSpPr>
          <p:spPr>
            <a:xfrm>
              <a:off x="451866" y="6254750"/>
              <a:ext cx="352324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廉希圣后出回忆；1982宪法第10条末款、序言及第5条。</a:t>
              </a:r>
            </a:p>
          </p:txBody>
        </p:sp>
        <p:sp>
          <p:nvSpPr>
            <p:cNvPr id="22" name="TextBox 22"/>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15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6-title"/>
          <p:cNvGrpSpPr/>
          <p:nvPr/>
        </p:nvGrpSpPr>
        <p:grpSpPr>
          <a:xfrm>
            <a:off x="441198" y="387350"/>
            <a:ext cx="5005426" cy="978027"/>
            <a:chOff x="441198" y="387350"/>
            <a:chExt cx="5005426" cy="978027"/>
          </a:xfrm>
        </p:grpSpPr>
        <p:sp>
          <p:nvSpPr>
            <p:cNvPr id="2" name="TextBox 2"/>
            <p:cNvSpPr txBox="1"/>
            <p:nvPr/>
          </p:nvSpPr>
          <p:spPr>
            <a:xfrm>
              <a:off x="450342" y="387350"/>
              <a:ext cx="1858347"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宪法的发展 · 史料观察</a:t>
              </a:r>
            </a:p>
          </p:txBody>
        </p:sp>
        <p:sp>
          <p:nvSpPr>
            <p:cNvPr id="3" name="TextBox 3"/>
            <p:cNvSpPr txBox="1"/>
            <p:nvPr/>
          </p:nvSpPr>
          <p:spPr>
            <a:xfrm>
              <a:off x="441198" y="749300"/>
              <a:ext cx="500542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为什么是“原有”的印章？</a:t>
              </a:r>
            </a:p>
          </p:txBody>
        </p:sp>
      </p:grpSp>
      <p:grpSp>
        <p:nvGrpSpPr>
          <p:cNvPr id="7" name="p16-evidence-identity"/>
          <p:cNvGrpSpPr/>
          <p:nvPr/>
        </p:nvGrpSpPr>
        <p:grpSpPr>
          <a:xfrm>
            <a:off x="597408" y="1752600"/>
            <a:ext cx="2202180" cy="821944"/>
            <a:chOff x="597408" y="1752600"/>
            <a:chExt cx="2202180" cy="821944"/>
          </a:xfrm>
        </p:grpSpPr>
        <p:sp>
          <p:nvSpPr>
            <p:cNvPr id="5" name="TextBox 5"/>
            <p:cNvSpPr txBox="1"/>
            <p:nvPr/>
          </p:nvSpPr>
          <p:spPr>
            <a:xfrm>
              <a:off x="597408" y="1752600"/>
              <a:ext cx="2175053"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1978年6月1日</a:t>
              </a:r>
            </a:p>
          </p:txBody>
        </p:sp>
        <p:sp>
          <p:nvSpPr>
            <p:cNvPr id="6" name="TextBox 6"/>
            <p:cNvSpPr txBox="1"/>
            <p:nvPr/>
          </p:nvSpPr>
          <p:spPr>
            <a:xfrm>
              <a:off x="600456" y="2222500"/>
              <a:ext cx="21991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最高人民检察院通知</a:t>
              </a:r>
            </a:p>
          </p:txBody>
        </p:sp>
      </p:grpSp>
      <p:grpSp>
        <p:nvGrpSpPr>
          <p:cNvPr id="10" name="p16-source-quote"/>
          <p:cNvGrpSpPr/>
          <p:nvPr/>
        </p:nvGrpSpPr>
        <p:grpSpPr>
          <a:xfrm>
            <a:off x="466725" y="2863850"/>
            <a:ext cx="2406967" cy="859155"/>
            <a:chOff x="466725" y="2863850"/>
            <a:chExt cx="2406967" cy="859155"/>
          </a:xfrm>
        </p:grpSpPr>
        <p:sp>
          <p:nvSpPr>
            <p:cNvPr id="8" name="Line 8"/>
            <p:cNvSpPr/>
            <p:nvPr/>
          </p:nvSpPr>
          <p:spPr>
            <a:xfrm>
              <a:off x="466725" y="2867025"/>
              <a:ext cx="9525" cy="828675"/>
            </a:xfrm>
            <a:custGeom>
              <a:avLst/>
              <a:gdLst/>
              <a:ahLst/>
              <a:cxnLst/>
              <a:rect l="l" t="t" r="r" b="b"/>
              <a:pathLst>
                <a:path w="9525" h="828675">
                  <a:moveTo>
                    <a:pt x="0" y="0"/>
                  </a:moveTo>
                  <a:lnTo>
                    <a:pt x="0" y="828675"/>
                  </a:lnTo>
                </a:path>
              </a:pathLst>
            </a:custGeom>
            <a:noFill/>
            <a:ln w="28575">
              <a:solidFill>
                <a:schemeClr val="accent2"/>
              </a:solidFill>
            </a:ln>
          </p:spPr>
        </p:sp>
        <p:sp>
          <p:nvSpPr>
            <p:cNvPr id="9" name="TextBox 9"/>
            <p:cNvSpPr txBox="1"/>
            <p:nvPr/>
          </p:nvSpPr>
          <p:spPr>
            <a:xfrm>
              <a:off x="693420" y="2863850"/>
              <a:ext cx="2180272" cy="859155"/>
            </a:xfrm>
            <a:prstGeom prst="rect">
              <a:avLst/>
            </a:prstGeom>
            <a:noFill/>
            <a:ln>
              <a:noFill/>
            </a:ln>
          </p:spPr>
          <p:txBody>
            <a:bodyPr wrap="none" lIns="0" tIns="0" rIns="0" bIns="0" anchor="t" anchorCtr="0">
              <a:spAutoFit/>
            </a:bodyPr>
            <a:lstStyle/>
            <a:p>
              <a:pPr algn="l">
                <a:lnSpc>
                  <a:spcPts val="3300"/>
                </a:lnSpc>
              </a:pPr>
              <a:r>
                <a:rPr lang="zh-CN" sz="2250" dirty="0">
                  <a:solidFill>
                    <a:schemeClr val="accent1"/>
                  </a:solidFill>
                  <a:latin typeface="+mn-lt"/>
                  <a:ea typeface="+mn-ea"/>
                  <a:cs typeface="+mn-cs"/>
                </a:rPr>
                <a:t>“开始办公，</a:t>
              </a:r>
              <a:br>
                <a:rPr lang="zh-CN" sz="2250" dirty="0">
                  <a:solidFill>
                    <a:schemeClr val="accent1"/>
                  </a:solidFill>
                  <a:latin typeface="+mn-lt"/>
                  <a:ea typeface="+mn-ea"/>
                  <a:cs typeface="+mn-cs"/>
                </a:rPr>
              </a:br>
              <a:r>
                <a:rPr lang="zh-CN" sz="2250" dirty="0">
                  <a:solidFill>
                    <a:schemeClr val="accent1"/>
                  </a:solidFill>
                  <a:latin typeface="+mn-lt"/>
                  <a:ea typeface="+mn-ea"/>
                  <a:cs typeface="+mn-cs"/>
                </a:rPr>
                <a:t>并启用</a:t>
              </a:r>
              <a:r>
                <a:rPr lang="zh-CN" sz="2250" b="1" dirty="0">
                  <a:solidFill>
                    <a:schemeClr val="accent2"/>
                  </a:solidFill>
                  <a:latin typeface="+mn-lt"/>
                  <a:ea typeface="+mn-ea"/>
                  <a:cs typeface="+mn-cs"/>
                </a:rPr>
                <a:t>原有</a:t>
              </a:r>
              <a:r>
                <a:rPr lang="zh-CN" sz="2250" dirty="0">
                  <a:solidFill>
                    <a:schemeClr val="accent1"/>
                  </a:solidFill>
                  <a:latin typeface="+mn-lt"/>
                  <a:ea typeface="+mn-ea"/>
                  <a:cs typeface="+mn-cs"/>
                </a:rPr>
                <a:t>印章”</a:t>
              </a:r>
            </a:p>
          </p:txBody>
        </p:sp>
      </p:grpSp>
      <p:grpSp>
        <p:nvGrpSpPr>
          <p:cNvPr id="14" name="p16-restoration"/>
          <p:cNvGrpSpPr/>
          <p:nvPr/>
        </p:nvGrpSpPr>
        <p:grpSpPr>
          <a:xfrm>
            <a:off x="598170" y="4159250"/>
            <a:ext cx="4592574" cy="1787144"/>
            <a:chOff x="598170" y="4159250"/>
            <a:chExt cx="4592574" cy="1787144"/>
          </a:xfrm>
        </p:grpSpPr>
        <p:sp>
          <p:nvSpPr>
            <p:cNvPr id="11" name="TextBox 11"/>
            <p:cNvSpPr txBox="1"/>
            <p:nvPr/>
          </p:nvSpPr>
          <p:spPr>
            <a:xfrm>
              <a:off x="598170" y="4159250"/>
              <a:ext cx="365760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这是一个恢复工作的机关。</a:t>
              </a:r>
            </a:p>
          </p:txBody>
        </p:sp>
        <p:sp>
          <p:nvSpPr>
            <p:cNvPr id="12" name="TextBox 12"/>
            <p:cNvSpPr txBox="1"/>
            <p:nvPr/>
          </p:nvSpPr>
          <p:spPr>
            <a:xfrm>
              <a:off x="600456" y="4565650"/>
              <a:ext cx="45902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1954年宪法已规定：</a:t>
              </a:r>
              <a:br>
                <a:rPr lang="zh-CN" sz="1800" dirty="0">
                  <a:solidFill>
                    <a:schemeClr val="dk1"/>
                  </a:solidFill>
                  <a:latin typeface="+mn-lt"/>
                  <a:ea typeface="+mn-ea"/>
                  <a:cs typeface="+mn-cs"/>
                </a:rPr>
              </a:br>
              <a:r>
                <a:rPr lang="zh-CN" sz="1800" dirty="0">
                  <a:solidFill>
                    <a:schemeClr val="dk1"/>
                  </a:solidFill>
                  <a:latin typeface="+mn-lt"/>
                  <a:ea typeface="+mn-ea"/>
                  <a:cs typeface="+mn-cs"/>
                </a:rPr>
                <a:t>公民非经人民法院决定或者人民检察院批准，</a:t>
              </a:r>
              <a:br>
                <a:rPr lang="zh-CN" sz="1800" dirty="0">
                  <a:solidFill>
                    <a:schemeClr val="dk1"/>
                  </a:solidFill>
                  <a:latin typeface="+mn-lt"/>
                  <a:ea typeface="+mn-ea"/>
                  <a:cs typeface="+mn-cs"/>
                </a:rPr>
              </a:br>
              <a:r>
                <a:rPr lang="zh-CN" sz="1800" dirty="0">
                  <a:solidFill>
                    <a:schemeClr val="dk1"/>
                  </a:solidFill>
                  <a:latin typeface="+mn-lt"/>
                  <a:ea typeface="+mn-ea"/>
                  <a:cs typeface="+mn-cs"/>
                </a:rPr>
                <a:t>不受逮捕；检察机关后来经历了撤销与恢复。</a:t>
              </a:r>
            </a:p>
          </p:txBody>
        </p:sp>
        <p:sp>
          <p:nvSpPr>
            <p:cNvPr id="13" name="TextBox 13"/>
            <p:cNvSpPr txBox="1"/>
            <p:nvPr/>
          </p:nvSpPr>
          <p:spPr>
            <a:xfrm>
              <a:off x="600456" y="5594350"/>
              <a:ext cx="437997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这次变化，同一个人的自由有什么关系？</a:t>
              </a:r>
            </a:p>
          </p:txBody>
        </p:sp>
      </p:grpSp>
      <p:grpSp>
        <p:nvGrpSpPr>
          <p:cNvPr id="17" name="p16-notice"/>
          <p:cNvGrpSpPr/>
          <p:nvPr/>
        </p:nvGrpSpPr>
        <p:grpSpPr>
          <a:xfrm>
            <a:off x="7862316" y="609600"/>
            <a:ext cx="3720084" cy="5545709"/>
            <a:chOff x="7862316" y="609600"/>
            <a:chExt cx="3720084" cy="5545709"/>
          </a:xfrm>
        </p:grpSpPr>
        <p:pic>
          <p:nvPicPr>
            <p:cNvPr id="15" name="p16-notice-original"/>
            <p:cNvPicPr>
              <a:picLocks noChangeAspect="1"/>
            </p:cNvPicPr>
            <p:nvPr/>
          </p:nvPicPr>
          <p:blipFill>
            <a:blip r:embed="rId2"/>
            <a:stretch>
              <a:fillRect/>
            </a:stretch>
          </p:blipFill>
          <p:spPr>
            <a:xfrm>
              <a:off x="7867650" y="609600"/>
              <a:ext cx="3714750" cy="5238750"/>
            </a:xfrm>
            <a:prstGeom prst="rect">
              <a:avLst/>
            </a:prstGeom>
          </p:spPr>
        </p:pic>
        <p:sp>
          <p:nvSpPr>
            <p:cNvPr id="16" name="TextBox 16"/>
            <p:cNvSpPr txBox="1"/>
            <p:nvPr/>
          </p:nvSpPr>
          <p:spPr>
            <a:xfrm>
              <a:off x="7862316" y="5949950"/>
              <a:ext cx="205319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最高检档案资料 · 1978年6月1日</a:t>
              </a:r>
            </a:p>
          </p:txBody>
        </p:sp>
      </p:grpSp>
      <p:grpSp>
        <p:nvGrpSpPr>
          <p:cNvPr id="20" name="p16-footer"/>
          <p:cNvGrpSpPr/>
          <p:nvPr/>
        </p:nvGrpSpPr>
        <p:grpSpPr>
          <a:xfrm>
            <a:off x="451866" y="6254750"/>
            <a:ext cx="11288269" cy="205359"/>
            <a:chOff x="451866" y="6254750"/>
            <a:chExt cx="11288269" cy="205359"/>
          </a:xfrm>
        </p:grpSpPr>
        <p:sp>
          <p:nvSpPr>
            <p:cNvPr id="18" name="TextBox 18"/>
            <p:cNvSpPr txBox="1"/>
            <p:nvPr/>
          </p:nvSpPr>
          <p:spPr>
            <a:xfrm>
              <a:off x="451866" y="6254750"/>
              <a:ext cx="453390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最高检档案通知（1978年6月1日，spp.gov.cn）；1954宪法相关前史。</a:t>
              </a:r>
            </a:p>
          </p:txBody>
        </p:sp>
        <p:sp>
          <p:nvSpPr>
            <p:cNvPr id="19" name="TextBox 19"/>
            <p:cNvSpPr txBox="1"/>
            <p:nvPr/>
          </p:nvSpPr>
          <p:spPr>
            <a:xfrm>
              <a:off x="10245281" y="6254750"/>
              <a:ext cx="149485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 上节　16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p17-title-task"/>
          <p:cNvGrpSpPr/>
          <p:nvPr/>
        </p:nvGrpSpPr>
        <p:grpSpPr>
          <a:xfrm>
            <a:off x="441198" y="387350"/>
            <a:ext cx="11300460" cy="1244219"/>
            <a:chOff x="441198" y="387350"/>
            <a:chExt cx="11300460" cy="1244219"/>
          </a:xfrm>
        </p:grpSpPr>
        <p:sp>
          <p:nvSpPr>
            <p:cNvPr id="2" name="TextBox 2"/>
            <p:cNvSpPr txBox="1"/>
            <p:nvPr/>
          </p:nvSpPr>
          <p:spPr>
            <a:xfrm>
              <a:off x="450342" y="387350"/>
              <a:ext cx="1858347"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宪法的发展 · 原文对读</a:t>
              </a:r>
            </a:p>
          </p:txBody>
        </p:sp>
        <p:sp>
          <p:nvSpPr>
            <p:cNvPr id="3" name="TextBox 3"/>
            <p:cNvSpPr txBox="1"/>
            <p:nvPr/>
          </p:nvSpPr>
          <p:spPr>
            <a:xfrm>
              <a:off x="9810617" y="387350"/>
              <a:ext cx="1931041"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独立阅读与思考约3分钟</a:t>
              </a:r>
            </a:p>
          </p:txBody>
        </p:sp>
        <p:sp>
          <p:nvSpPr>
            <p:cNvPr id="4" name="TextBox 4"/>
            <p:cNvSpPr txBox="1"/>
            <p:nvPr/>
          </p:nvSpPr>
          <p:spPr>
            <a:xfrm>
              <a:off x="441198" y="660400"/>
              <a:ext cx="675284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三版原文，具体安排有什么变化？</a:t>
              </a:r>
            </a:p>
          </p:txBody>
        </p:sp>
        <p:sp>
          <p:nvSpPr>
            <p:cNvPr id="5" name="TextBox 5"/>
            <p:cNvSpPr txBox="1"/>
            <p:nvPr/>
          </p:nvSpPr>
          <p:spPr>
            <a:xfrm>
              <a:off x="448056" y="1279525"/>
              <a:ext cx="690006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谁作判断？谁执行？禁止什么？1982年哪些安排，1978年已有？</a:t>
              </a:r>
            </a:p>
          </p:txBody>
        </p:sp>
      </p:grpSp>
      <p:grpSp>
        <p:nvGrpSpPr>
          <p:cNvPr id="12" name="p17-text-1975"/>
          <p:cNvGrpSpPr/>
          <p:nvPr/>
        </p:nvGrpSpPr>
        <p:grpSpPr>
          <a:xfrm>
            <a:off x="445008" y="1765300"/>
            <a:ext cx="2764536" cy="2866644"/>
            <a:chOff x="445008" y="1765300"/>
            <a:chExt cx="2764536" cy="2866644"/>
          </a:xfrm>
        </p:grpSpPr>
        <p:sp>
          <p:nvSpPr>
            <p:cNvPr id="7" name="TextBox 7"/>
            <p:cNvSpPr txBox="1"/>
            <p:nvPr/>
          </p:nvSpPr>
          <p:spPr>
            <a:xfrm>
              <a:off x="445008" y="176530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1975</a:t>
              </a:r>
            </a:p>
          </p:txBody>
        </p:sp>
        <p:sp>
          <p:nvSpPr>
            <p:cNvPr id="8" name="TextBox 8"/>
            <p:cNvSpPr txBox="1"/>
            <p:nvPr/>
          </p:nvSpPr>
          <p:spPr>
            <a:xfrm>
              <a:off x="1440942" y="1892300"/>
              <a:ext cx="9405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宪法第28条</a:t>
              </a:r>
            </a:p>
          </p:txBody>
        </p:sp>
        <p:sp>
          <p:nvSpPr>
            <p:cNvPr id="9" name="TextBox 9"/>
            <p:cNvSpPr txBox="1"/>
            <p:nvPr/>
          </p:nvSpPr>
          <p:spPr>
            <a:xfrm>
              <a:off x="448056" y="2317750"/>
              <a:ext cx="2761488" cy="13235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公民的人身自由和住宅</a:t>
              </a:r>
              <a:br>
                <a:rPr lang="zh-CN" sz="1800" dirty="0">
                  <a:solidFill>
                    <a:schemeClr val="dk1"/>
                  </a:solidFill>
                  <a:latin typeface="+mn-lt"/>
                  <a:ea typeface="+mn-ea"/>
                  <a:cs typeface="+mn-cs"/>
                </a:rPr>
              </a:br>
              <a:r>
                <a:rPr lang="zh-CN" sz="1800" dirty="0">
                  <a:solidFill>
                    <a:schemeClr val="dk1"/>
                  </a:solidFill>
                  <a:latin typeface="+mn-lt"/>
                  <a:ea typeface="+mn-ea"/>
                  <a:cs typeface="+mn-cs"/>
                </a:rPr>
                <a:t>不受侵犯。任何公民，</a:t>
              </a:r>
              <a:br>
                <a:rPr lang="zh-CN" sz="1800" dirty="0">
                  <a:solidFill>
                    <a:schemeClr val="dk1"/>
                  </a:solidFill>
                  <a:latin typeface="+mn-lt"/>
                  <a:ea typeface="+mn-ea"/>
                  <a:cs typeface="+mn-cs"/>
                </a:rPr>
              </a:br>
              <a:r>
                <a:rPr lang="zh-CN" sz="1800" dirty="0">
                  <a:solidFill>
                    <a:schemeClr val="dk1"/>
                  </a:solidFill>
                  <a:latin typeface="+mn-lt"/>
                  <a:ea typeface="+mn-ea"/>
                  <a:cs typeface="+mn-cs"/>
                </a:rPr>
                <a:t>非经人民法院决定或者</a:t>
              </a:r>
              <a:br>
                <a:rPr lang="zh-CN" sz="1800" dirty="0">
                  <a:solidFill>
                    <a:schemeClr val="dk1"/>
                  </a:solidFill>
                  <a:latin typeface="+mn-lt"/>
                  <a:ea typeface="+mn-ea"/>
                  <a:cs typeface="+mn-cs"/>
                </a:rPr>
              </a:br>
              <a:r>
                <a:rPr lang="zh-CN" sz="1800" dirty="0">
                  <a:solidFill>
                    <a:schemeClr val="dk1"/>
                  </a:solidFill>
                  <a:latin typeface="+mn-lt"/>
                  <a:ea typeface="+mn-ea"/>
                  <a:cs typeface="+mn-cs"/>
                </a:rPr>
                <a:t>公安机关批准，不受逮捕。</a:t>
              </a:r>
            </a:p>
          </p:txBody>
        </p:sp>
        <p:sp>
          <p:nvSpPr>
            <p:cNvPr id="10" name="TextBox 10"/>
            <p:cNvSpPr txBox="1"/>
            <p:nvPr/>
          </p:nvSpPr>
          <p:spPr>
            <a:xfrm>
              <a:off x="450342" y="3740150"/>
              <a:ext cx="151304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组织背景 · 第25条</a:t>
              </a:r>
            </a:p>
          </p:txBody>
        </p:sp>
        <p:sp>
          <p:nvSpPr>
            <p:cNvPr id="11" name="TextBox 11"/>
            <p:cNvSpPr txBox="1"/>
            <p:nvPr/>
          </p:nvSpPr>
          <p:spPr>
            <a:xfrm>
              <a:off x="448056" y="3956050"/>
              <a:ext cx="2304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检察机关的职权由各级</a:t>
              </a:r>
              <a:br>
                <a:rPr lang="zh-CN" sz="1800" dirty="0">
                  <a:solidFill>
                    <a:schemeClr val="dk1"/>
                  </a:solidFill>
                  <a:latin typeface="+mn-lt"/>
                  <a:ea typeface="+mn-ea"/>
                  <a:cs typeface="+mn-cs"/>
                </a:rPr>
              </a:br>
              <a:r>
                <a:rPr lang="zh-CN" sz="1800" dirty="0">
                  <a:solidFill>
                    <a:schemeClr val="dk1"/>
                  </a:solidFill>
                  <a:latin typeface="+mn-lt"/>
                  <a:ea typeface="+mn-ea"/>
                  <a:cs typeface="+mn-cs"/>
                </a:rPr>
                <a:t>公安机关行使。</a:t>
              </a:r>
            </a:p>
          </p:txBody>
        </p:sp>
      </p:grpSp>
      <p:grpSp>
        <p:nvGrpSpPr>
          <p:cNvPr id="19" name="p17-text-1978"/>
          <p:cNvGrpSpPr/>
          <p:nvPr/>
        </p:nvGrpSpPr>
        <p:grpSpPr>
          <a:xfrm>
            <a:off x="3797808" y="1765300"/>
            <a:ext cx="2764536" cy="2904744"/>
            <a:chOff x="3797808" y="1765300"/>
            <a:chExt cx="2764536" cy="2904744"/>
          </a:xfrm>
        </p:grpSpPr>
        <p:sp>
          <p:nvSpPr>
            <p:cNvPr id="13" name="TextBox 13"/>
            <p:cNvSpPr txBox="1"/>
            <p:nvPr/>
          </p:nvSpPr>
          <p:spPr>
            <a:xfrm>
              <a:off x="3797808" y="176530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1978</a:t>
              </a:r>
            </a:p>
          </p:txBody>
        </p:sp>
        <p:sp>
          <p:nvSpPr>
            <p:cNvPr id="14" name="TextBox 14"/>
            <p:cNvSpPr txBox="1"/>
            <p:nvPr/>
          </p:nvSpPr>
          <p:spPr>
            <a:xfrm>
              <a:off x="4793742" y="1892300"/>
              <a:ext cx="9405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宪法第47条</a:t>
              </a:r>
            </a:p>
          </p:txBody>
        </p:sp>
        <p:sp>
          <p:nvSpPr>
            <p:cNvPr id="15" name="TextBox 15"/>
            <p:cNvSpPr txBox="1"/>
            <p:nvPr/>
          </p:nvSpPr>
          <p:spPr>
            <a:xfrm>
              <a:off x="3804666" y="2159000"/>
              <a:ext cx="110613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1978年3月公布本</a:t>
              </a:r>
            </a:p>
          </p:txBody>
        </p:sp>
        <p:sp>
          <p:nvSpPr>
            <p:cNvPr id="16" name="TextBox 16"/>
            <p:cNvSpPr txBox="1"/>
            <p:nvPr/>
          </p:nvSpPr>
          <p:spPr>
            <a:xfrm>
              <a:off x="3800856" y="2317750"/>
              <a:ext cx="2761488" cy="16474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公民的人身自由和住宅</a:t>
              </a:r>
              <a:br>
                <a:rPr lang="zh-CN" sz="1800" dirty="0">
                  <a:solidFill>
                    <a:schemeClr val="dk1"/>
                  </a:solidFill>
                  <a:latin typeface="+mn-lt"/>
                  <a:ea typeface="+mn-ea"/>
                  <a:cs typeface="+mn-cs"/>
                </a:rPr>
              </a:br>
              <a:r>
                <a:rPr lang="zh-CN" sz="1800" dirty="0">
                  <a:solidFill>
                    <a:schemeClr val="dk1"/>
                  </a:solidFill>
                  <a:latin typeface="+mn-lt"/>
                  <a:ea typeface="+mn-ea"/>
                  <a:cs typeface="+mn-cs"/>
                </a:rPr>
                <a:t>不受侵犯。任何公民，</a:t>
              </a:r>
              <a:br>
                <a:rPr lang="zh-CN" sz="1800" dirty="0">
                  <a:solidFill>
                    <a:schemeClr val="dk1"/>
                  </a:solidFill>
                  <a:latin typeface="+mn-lt"/>
                  <a:ea typeface="+mn-ea"/>
                  <a:cs typeface="+mn-cs"/>
                </a:rPr>
              </a:br>
              <a:r>
                <a:rPr lang="zh-CN" sz="1800" dirty="0">
                  <a:solidFill>
                    <a:schemeClr val="dk1"/>
                  </a:solidFill>
                  <a:latin typeface="+mn-lt"/>
                  <a:ea typeface="+mn-ea"/>
                  <a:cs typeface="+mn-cs"/>
                </a:rPr>
                <a:t>非经人民法院决定或者</a:t>
              </a:r>
              <a:br>
                <a:rPr lang="zh-CN" sz="1800" dirty="0">
                  <a:solidFill>
                    <a:schemeClr val="dk1"/>
                  </a:solidFill>
                  <a:latin typeface="+mn-lt"/>
                  <a:ea typeface="+mn-ea"/>
                  <a:cs typeface="+mn-cs"/>
                </a:rPr>
              </a:br>
              <a:r>
                <a:rPr lang="zh-CN" sz="1800" dirty="0">
                  <a:solidFill>
                    <a:schemeClr val="dk1"/>
                  </a:solidFill>
                  <a:latin typeface="+mn-lt"/>
                  <a:ea typeface="+mn-ea"/>
                  <a:cs typeface="+mn-cs"/>
                </a:rPr>
                <a:t>人民检察院批准并由</a:t>
              </a:r>
              <a:br>
                <a:rPr lang="zh-CN" sz="1800" dirty="0">
                  <a:solidFill>
                    <a:schemeClr val="dk1"/>
                  </a:solidFill>
                  <a:latin typeface="+mn-lt"/>
                  <a:ea typeface="+mn-ea"/>
                  <a:cs typeface="+mn-cs"/>
                </a:rPr>
              </a:br>
              <a:r>
                <a:rPr lang="zh-CN" sz="1800" dirty="0">
                  <a:solidFill>
                    <a:schemeClr val="dk1"/>
                  </a:solidFill>
                  <a:latin typeface="+mn-lt"/>
                  <a:ea typeface="+mn-ea"/>
                  <a:cs typeface="+mn-cs"/>
                </a:rPr>
                <a:t>公安机关执行，不受逮捕。</a:t>
              </a:r>
            </a:p>
          </p:txBody>
        </p:sp>
        <p:sp>
          <p:nvSpPr>
            <p:cNvPr id="17" name="TextBox 17"/>
            <p:cNvSpPr txBox="1"/>
            <p:nvPr/>
          </p:nvSpPr>
          <p:spPr>
            <a:xfrm>
              <a:off x="3803142" y="4044950"/>
              <a:ext cx="151304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第43条背景 · 概述</a:t>
              </a:r>
            </a:p>
          </p:txBody>
        </p:sp>
        <p:sp>
          <p:nvSpPr>
            <p:cNvPr id="18" name="TextBox 18"/>
            <p:cNvSpPr txBox="1"/>
            <p:nvPr/>
          </p:nvSpPr>
          <p:spPr>
            <a:xfrm>
              <a:off x="3800856" y="431800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人民检察院行使检察权</a:t>
              </a:r>
            </a:p>
          </p:txBody>
        </p:sp>
      </p:grpSp>
      <p:grpSp>
        <p:nvGrpSpPr>
          <p:cNvPr id="26" name="p17-text-1982"/>
          <p:cNvGrpSpPr/>
          <p:nvPr/>
        </p:nvGrpSpPr>
        <p:grpSpPr>
          <a:xfrm>
            <a:off x="7322058" y="1765300"/>
            <a:ext cx="3221736" cy="3419094"/>
            <a:chOff x="7322058" y="1765300"/>
            <a:chExt cx="3221736" cy="3419094"/>
          </a:xfrm>
        </p:grpSpPr>
        <p:sp>
          <p:nvSpPr>
            <p:cNvPr id="20" name="TextBox 20"/>
            <p:cNvSpPr txBox="1"/>
            <p:nvPr/>
          </p:nvSpPr>
          <p:spPr>
            <a:xfrm>
              <a:off x="7322058" y="176530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1982</a:t>
              </a:r>
            </a:p>
          </p:txBody>
        </p:sp>
        <p:sp>
          <p:nvSpPr>
            <p:cNvPr id="21" name="TextBox 21"/>
            <p:cNvSpPr txBox="1"/>
            <p:nvPr/>
          </p:nvSpPr>
          <p:spPr>
            <a:xfrm>
              <a:off x="8317992" y="1892300"/>
              <a:ext cx="9405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宪法第37条</a:t>
              </a:r>
            </a:p>
          </p:txBody>
        </p:sp>
        <p:sp>
          <p:nvSpPr>
            <p:cNvPr id="22" name="TextBox 22"/>
            <p:cNvSpPr txBox="1"/>
            <p:nvPr/>
          </p:nvSpPr>
          <p:spPr>
            <a:xfrm>
              <a:off x="7327392" y="2120900"/>
              <a:ext cx="13040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住宅另见第39条</a:t>
              </a:r>
            </a:p>
          </p:txBody>
        </p:sp>
        <p:sp>
          <p:nvSpPr>
            <p:cNvPr id="23" name="TextBox 23"/>
            <p:cNvSpPr txBox="1"/>
            <p:nvPr/>
          </p:nvSpPr>
          <p:spPr>
            <a:xfrm>
              <a:off x="7325106" y="2317750"/>
              <a:ext cx="32186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中华人民共和国公民的人身自由</a:t>
              </a:r>
              <a:br>
                <a:rPr lang="zh-CN" sz="1800" dirty="0">
                  <a:solidFill>
                    <a:schemeClr val="dk1"/>
                  </a:solidFill>
                  <a:latin typeface="+mn-lt"/>
                  <a:ea typeface="+mn-ea"/>
                  <a:cs typeface="+mn-cs"/>
                </a:rPr>
              </a:br>
              <a:r>
                <a:rPr lang="zh-CN" sz="1800" dirty="0">
                  <a:solidFill>
                    <a:schemeClr val="dk1"/>
                  </a:solidFill>
                  <a:latin typeface="+mn-lt"/>
                  <a:ea typeface="+mn-ea"/>
                  <a:cs typeface="+mn-cs"/>
                </a:rPr>
                <a:t>不受侵犯。</a:t>
              </a:r>
            </a:p>
          </p:txBody>
        </p:sp>
        <p:sp>
          <p:nvSpPr>
            <p:cNvPr id="24" name="TextBox 24"/>
            <p:cNvSpPr txBox="1"/>
            <p:nvPr/>
          </p:nvSpPr>
          <p:spPr>
            <a:xfrm>
              <a:off x="7325106" y="3079750"/>
              <a:ext cx="32186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任何公民，非经人民检察院批准</a:t>
              </a:r>
              <a:br>
                <a:rPr lang="zh-CN" sz="1800" dirty="0">
                  <a:solidFill>
                    <a:schemeClr val="dk1"/>
                  </a:solidFill>
                  <a:latin typeface="+mn-lt"/>
                  <a:ea typeface="+mn-ea"/>
                  <a:cs typeface="+mn-cs"/>
                </a:rPr>
              </a:br>
              <a:r>
                <a:rPr lang="zh-CN" sz="1800" dirty="0">
                  <a:solidFill>
                    <a:schemeClr val="dk1"/>
                  </a:solidFill>
                  <a:latin typeface="+mn-lt"/>
                  <a:ea typeface="+mn-ea"/>
                  <a:cs typeface="+mn-cs"/>
                </a:rPr>
                <a:t>或者决定或者人民法院决定，</a:t>
              </a:r>
              <a:br>
                <a:rPr lang="zh-CN" sz="1800" dirty="0">
                  <a:solidFill>
                    <a:schemeClr val="dk1"/>
                  </a:solidFill>
                  <a:latin typeface="+mn-lt"/>
                  <a:ea typeface="+mn-ea"/>
                  <a:cs typeface="+mn-cs"/>
                </a:rPr>
              </a:br>
              <a:r>
                <a:rPr lang="zh-CN" sz="1800" dirty="0">
                  <a:solidFill>
                    <a:schemeClr val="dk1"/>
                  </a:solidFill>
                  <a:latin typeface="+mn-lt"/>
                  <a:ea typeface="+mn-ea"/>
                  <a:cs typeface="+mn-cs"/>
                </a:rPr>
                <a:t>并由公安机关执行，不受逮捕。</a:t>
              </a:r>
            </a:p>
          </p:txBody>
        </p:sp>
        <p:sp>
          <p:nvSpPr>
            <p:cNvPr id="25" name="TextBox 25"/>
            <p:cNvSpPr txBox="1"/>
            <p:nvPr/>
          </p:nvSpPr>
          <p:spPr>
            <a:xfrm>
              <a:off x="7325106" y="4184650"/>
              <a:ext cx="32186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禁止非法拘禁和以其他方法非法</a:t>
              </a:r>
              <a:br>
                <a:rPr lang="zh-CN" sz="1800" dirty="0">
                  <a:solidFill>
                    <a:schemeClr val="dk1"/>
                  </a:solidFill>
                  <a:latin typeface="+mn-lt"/>
                  <a:ea typeface="+mn-ea"/>
                  <a:cs typeface="+mn-cs"/>
                </a:rPr>
              </a:br>
              <a:r>
                <a:rPr lang="zh-CN" sz="1800" dirty="0">
                  <a:solidFill>
                    <a:schemeClr val="dk1"/>
                  </a:solidFill>
                  <a:latin typeface="+mn-lt"/>
                  <a:ea typeface="+mn-ea"/>
                  <a:cs typeface="+mn-cs"/>
                </a:rPr>
                <a:t>剥夺或者限制公民的人身自由，</a:t>
              </a:r>
              <a:br>
                <a:rPr lang="zh-CN" sz="1800" dirty="0">
                  <a:solidFill>
                    <a:schemeClr val="dk1"/>
                  </a:solidFill>
                  <a:latin typeface="+mn-lt"/>
                  <a:ea typeface="+mn-ea"/>
                  <a:cs typeface="+mn-cs"/>
                </a:rPr>
              </a:br>
              <a:r>
                <a:rPr lang="zh-CN" sz="1800" dirty="0">
                  <a:solidFill>
                    <a:schemeClr val="dk1"/>
                  </a:solidFill>
                  <a:latin typeface="+mn-lt"/>
                  <a:ea typeface="+mn-ea"/>
                  <a:cs typeface="+mn-cs"/>
                </a:rPr>
                <a:t>禁止非法搜查公民的身体。</a:t>
              </a:r>
            </a:p>
          </p:txBody>
        </p:sp>
      </p:grpSp>
      <p:grpSp>
        <p:nvGrpSpPr>
          <p:cNvPr id="30" name="p17-restore-comment"/>
          <p:cNvGrpSpPr/>
          <p:nvPr/>
        </p:nvGrpSpPr>
        <p:grpSpPr>
          <a:xfrm>
            <a:off x="448056" y="4972050"/>
            <a:ext cx="6571869" cy="1011809"/>
            <a:chOff x="448056" y="4972050"/>
            <a:chExt cx="6571869" cy="1011809"/>
          </a:xfrm>
        </p:grpSpPr>
        <p:sp>
          <p:nvSpPr>
            <p:cNvPr id="27" name="Line 27"/>
            <p:cNvSpPr/>
            <p:nvPr/>
          </p:nvSpPr>
          <p:spPr>
            <a:xfrm>
              <a:off x="457200" y="4972050"/>
              <a:ext cx="6562725" cy="9525"/>
            </a:xfrm>
            <a:custGeom>
              <a:avLst/>
              <a:gdLst/>
              <a:ahLst/>
              <a:cxnLst/>
              <a:rect l="l" t="t" r="r" b="b"/>
              <a:pathLst>
                <a:path w="6562725" h="9525">
                  <a:moveTo>
                    <a:pt x="0" y="0"/>
                  </a:moveTo>
                  <a:lnTo>
                    <a:pt x="6562725" y="0"/>
                  </a:lnTo>
                </a:path>
              </a:pathLst>
            </a:custGeom>
            <a:noFill/>
            <a:ln w="9525">
              <a:solidFill>
                <a:schemeClr val="accent6"/>
              </a:solidFill>
            </a:ln>
          </p:spPr>
        </p:sp>
        <p:sp>
          <p:nvSpPr>
            <p:cNvPr id="28" name="TextBox 28"/>
            <p:cNvSpPr txBox="1"/>
            <p:nvPr/>
          </p:nvSpPr>
          <p:spPr>
            <a:xfrm>
              <a:off x="448056" y="5041900"/>
              <a:ext cx="513892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2"/>
                  </a:solidFill>
                  <a:latin typeface="+mn-lt"/>
                  <a:ea typeface="+mn-ea"/>
                  <a:cs typeface="+mn-cs"/>
                </a:rPr>
                <a:t>批准机关：公安机关 → 人民检察院</a:t>
              </a:r>
              <a:br>
                <a:rPr lang="zh-CN" sz="1800" dirty="0">
                  <a:solidFill>
                    <a:schemeClr val="accent2"/>
                  </a:solidFill>
                  <a:latin typeface="+mn-lt"/>
                  <a:ea typeface="+mn-ea"/>
                  <a:cs typeface="+mn-cs"/>
                </a:rPr>
              </a:br>
              <a:r>
                <a:rPr lang="zh-CN" sz="1800" dirty="0">
                  <a:solidFill>
                    <a:schemeClr val="accent2"/>
                  </a:solidFill>
                  <a:latin typeface="+mn-lt"/>
                  <a:ea typeface="+mn-ea"/>
                  <a:cs typeface="+mn-cs"/>
                </a:rPr>
                <a:t>1978年已明确公安执行，恢复不能全算到1982年。</a:t>
              </a:r>
            </a:p>
          </p:txBody>
        </p:sp>
        <p:sp>
          <p:nvSpPr>
            <p:cNvPr id="29" name="TextBox 29"/>
            <p:cNvSpPr txBox="1"/>
            <p:nvPr/>
          </p:nvSpPr>
          <p:spPr>
            <a:xfrm>
              <a:off x="451866" y="5778500"/>
              <a:ext cx="255498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箭头表示两版措辞变化，不是办案步骤。</a:t>
              </a:r>
            </a:p>
          </p:txBody>
        </p:sp>
      </p:grpSp>
      <p:grpSp>
        <p:nvGrpSpPr>
          <p:cNvPr id="33" name="p17-continuity-comment"/>
          <p:cNvGrpSpPr/>
          <p:nvPr/>
        </p:nvGrpSpPr>
        <p:grpSpPr>
          <a:xfrm>
            <a:off x="7322058" y="5314950"/>
            <a:ext cx="3847795" cy="783844"/>
            <a:chOff x="7322058" y="5314950"/>
            <a:chExt cx="3847795" cy="783844"/>
          </a:xfrm>
        </p:grpSpPr>
        <p:sp>
          <p:nvSpPr>
            <p:cNvPr id="31" name="TextBox 31"/>
            <p:cNvSpPr txBox="1"/>
            <p:nvPr/>
          </p:nvSpPr>
          <p:spPr>
            <a:xfrm>
              <a:off x="7322058" y="5314950"/>
              <a:ext cx="3847795"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1982：承接并进一步明确</a:t>
              </a:r>
            </a:p>
          </p:txBody>
        </p:sp>
        <p:sp>
          <p:nvSpPr>
            <p:cNvPr id="32" name="TextBox 32"/>
            <p:cNvSpPr txBox="1"/>
            <p:nvPr/>
          </p:nvSpPr>
          <p:spPr>
            <a:xfrm>
              <a:off x="7325106" y="5746750"/>
              <a:ext cx="3653028"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并列出其他非法侵害自由的禁令。</a:t>
              </a:r>
            </a:p>
          </p:txBody>
        </p:sp>
      </p:grpSp>
      <p:grpSp>
        <p:nvGrpSpPr>
          <p:cNvPr id="36" name="p17-footer"/>
          <p:cNvGrpSpPr/>
          <p:nvPr/>
        </p:nvGrpSpPr>
        <p:grpSpPr>
          <a:xfrm>
            <a:off x="451866" y="6254750"/>
            <a:ext cx="11288269" cy="205359"/>
            <a:chOff x="451866" y="6254750"/>
            <a:chExt cx="11288269" cy="205359"/>
          </a:xfrm>
        </p:grpSpPr>
        <p:sp>
          <p:nvSpPr>
            <p:cNvPr id="34" name="TextBox 34"/>
            <p:cNvSpPr txBox="1"/>
            <p:nvPr/>
          </p:nvSpPr>
          <p:spPr>
            <a:xfrm>
              <a:off x="451866" y="6254750"/>
              <a:ext cx="435721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1975宪法第25、28条；1978年3月本第43、47条；1982第37、39条。</a:t>
              </a:r>
            </a:p>
          </p:txBody>
        </p:sp>
        <p:sp>
          <p:nvSpPr>
            <p:cNvPr id="35" name="TextBox 35"/>
            <p:cNvSpPr txBox="1"/>
            <p:nvPr/>
          </p:nvSpPr>
          <p:spPr>
            <a:xfrm>
              <a:off x="10245281" y="6254750"/>
              <a:ext cx="149485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 上节　17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250"/>
                                        <p:tgtEl>
                                          <p:spTgt spid="30"/>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2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8-title"/>
          <p:cNvGrpSpPr/>
          <p:nvPr/>
        </p:nvGrpSpPr>
        <p:grpSpPr>
          <a:xfrm>
            <a:off x="441198" y="387350"/>
            <a:ext cx="4109314" cy="863727"/>
            <a:chOff x="441198" y="387350"/>
            <a:chExt cx="4109314" cy="863727"/>
          </a:xfrm>
        </p:grpSpPr>
        <p:sp>
          <p:nvSpPr>
            <p:cNvPr id="2" name="TextBox 2"/>
            <p:cNvSpPr txBox="1"/>
            <p:nvPr/>
          </p:nvSpPr>
          <p:spPr>
            <a:xfrm>
              <a:off x="450342" y="387350"/>
              <a:ext cx="2221821"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宪法的发展 · 从原句到关系</a:t>
              </a:r>
            </a:p>
          </p:txBody>
        </p:sp>
        <p:sp>
          <p:nvSpPr>
            <p:cNvPr id="3" name="TextBox 3"/>
            <p:cNvSpPr txBox="1"/>
            <p:nvPr/>
          </p:nvSpPr>
          <p:spPr>
            <a:xfrm>
              <a:off x="441198" y="635000"/>
              <a:ext cx="410931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“或者”不是依次签字</a:t>
              </a:r>
            </a:p>
          </p:txBody>
        </p:sp>
      </p:grpSp>
      <p:grpSp>
        <p:nvGrpSpPr>
          <p:cNvPr id="6" name="p18-source-clause"/>
          <p:cNvGrpSpPr/>
          <p:nvPr/>
        </p:nvGrpSpPr>
        <p:grpSpPr>
          <a:xfrm>
            <a:off x="448056" y="1250950"/>
            <a:ext cx="6190488" cy="675894"/>
            <a:chOff x="448056" y="1250950"/>
            <a:chExt cx="6190488" cy="675894"/>
          </a:xfrm>
        </p:grpSpPr>
        <p:sp>
          <p:nvSpPr>
            <p:cNvPr id="5" name="TextBox 5"/>
            <p:cNvSpPr txBox="1"/>
            <p:nvPr/>
          </p:nvSpPr>
          <p:spPr>
            <a:xfrm>
              <a:off x="448056" y="1250950"/>
              <a:ext cx="6190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任何公民，非经人民检察院批准或者决定或者人民法院决定，</a:t>
              </a:r>
              <a:br>
                <a:rPr lang="zh-CN" sz="1800" dirty="0">
                  <a:solidFill>
                    <a:schemeClr val="dk1"/>
                  </a:solidFill>
                  <a:latin typeface="+mn-lt"/>
                  <a:ea typeface="+mn-ea"/>
                  <a:cs typeface="+mn-cs"/>
                </a:rPr>
              </a:br>
              <a:r>
                <a:rPr lang="zh-CN" sz="1800" dirty="0">
                  <a:solidFill>
                    <a:schemeClr val="dk1"/>
                  </a:solidFill>
                  <a:latin typeface="+mn-lt"/>
                  <a:ea typeface="+mn-ea"/>
                  <a:cs typeface="+mn-cs"/>
                </a:rPr>
                <a:t>并由公安机关执行，不受逮捕。</a:t>
              </a:r>
            </a:p>
          </p:txBody>
        </p:sp>
      </p:grpSp>
      <p:grpSp>
        <p:nvGrpSpPr>
          <p:cNvPr id="27" name="p18-paths"/>
          <p:cNvGrpSpPr/>
          <p:nvPr/>
        </p:nvGrpSpPr>
        <p:grpSpPr>
          <a:xfrm>
            <a:off x="657606" y="2051050"/>
            <a:ext cx="7362444" cy="3095244"/>
            <a:chOff x="657606" y="2051050"/>
            <a:chExt cx="7362444" cy="3095244"/>
          </a:xfrm>
        </p:grpSpPr>
        <p:sp>
          <p:nvSpPr>
            <p:cNvPr id="7" name="TextBox 7"/>
            <p:cNvSpPr txBox="1"/>
            <p:nvPr/>
          </p:nvSpPr>
          <p:spPr>
            <a:xfrm>
              <a:off x="752856" y="2051050"/>
              <a:ext cx="2199132"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依法适用的不同路径</a:t>
              </a:r>
            </a:p>
          </p:txBody>
        </p:sp>
        <p:sp>
          <p:nvSpPr>
            <p:cNvPr id="8" name="Freeform 8"/>
            <p:cNvSpPr/>
            <p:nvPr/>
          </p:nvSpPr>
          <p:spPr>
            <a:xfrm>
              <a:off x="666750" y="2343150"/>
              <a:ext cx="3771900" cy="2266950"/>
            </a:xfrm>
            <a:prstGeom prst="bracketPair">
              <a:avLst/>
            </a:prstGeom>
            <a:noFill/>
            <a:ln w="19050">
              <a:solidFill>
                <a:schemeClr val="accent1"/>
              </a:solidFill>
            </a:ln>
          </p:spPr>
        </p:sp>
        <p:grpSp>
          <p:nvGrpSpPr>
            <p:cNvPr id="12" name="p18-judgement-labels"/>
            <p:cNvGrpSpPr/>
            <p:nvPr/>
          </p:nvGrpSpPr>
          <p:grpSpPr>
            <a:xfrm>
              <a:off x="960120" y="2425700"/>
              <a:ext cx="2143125" cy="2116455"/>
              <a:chOff x="960120" y="2425700"/>
              <a:chExt cx="2143125" cy="2116455"/>
            </a:xfrm>
          </p:grpSpPr>
          <p:sp>
            <p:nvSpPr>
              <p:cNvPr id="9" name="TextBox 9"/>
              <p:cNvSpPr txBox="1"/>
              <p:nvPr/>
            </p:nvSpPr>
            <p:spPr>
              <a:xfrm>
                <a:off x="960120" y="2425700"/>
                <a:ext cx="214312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人民检察院</a:t>
                </a:r>
                <a:r>
                  <a:rPr lang="zh-CN" sz="2250" b="1" dirty="0">
                    <a:solidFill>
                      <a:schemeClr val="accent2"/>
                    </a:solidFill>
                    <a:latin typeface="+mn-lt"/>
                    <a:ea typeface="+mn-ea"/>
                    <a:cs typeface="+mn-cs"/>
                  </a:rPr>
                  <a:t>批准</a:t>
                </a:r>
              </a:p>
            </p:txBody>
          </p:sp>
          <p:sp>
            <p:nvSpPr>
              <p:cNvPr id="10" name="TextBox 10"/>
              <p:cNvSpPr txBox="1"/>
              <p:nvPr/>
            </p:nvSpPr>
            <p:spPr>
              <a:xfrm>
                <a:off x="960120" y="3263900"/>
                <a:ext cx="214312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人民检察院</a:t>
                </a:r>
                <a:r>
                  <a:rPr lang="zh-CN" sz="2250" b="1" dirty="0">
                    <a:solidFill>
                      <a:schemeClr val="accent2"/>
                    </a:solidFill>
                    <a:latin typeface="+mn-lt"/>
                    <a:ea typeface="+mn-ea"/>
                    <a:cs typeface="+mn-cs"/>
                  </a:rPr>
                  <a:t>决定</a:t>
                </a:r>
              </a:p>
            </p:txBody>
          </p:sp>
          <p:sp>
            <p:nvSpPr>
              <p:cNvPr id="11" name="TextBox 11"/>
              <p:cNvSpPr txBox="1"/>
              <p:nvPr/>
            </p:nvSpPr>
            <p:spPr>
              <a:xfrm>
                <a:off x="960120" y="4102100"/>
                <a:ext cx="184023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人民法院</a:t>
                </a:r>
                <a:r>
                  <a:rPr lang="zh-CN" sz="2250" b="1" dirty="0">
                    <a:solidFill>
                      <a:schemeClr val="accent2"/>
                    </a:solidFill>
                    <a:latin typeface="+mn-lt"/>
                    <a:ea typeface="+mn-ea"/>
                    <a:cs typeface="+mn-cs"/>
                  </a:rPr>
                  <a:t>决定</a:t>
                </a:r>
              </a:p>
            </p:txBody>
          </p:sp>
        </p:grpSp>
        <p:grpSp>
          <p:nvGrpSpPr>
            <p:cNvPr id="15" name="p18-or-labels"/>
            <p:cNvGrpSpPr/>
            <p:nvPr/>
          </p:nvGrpSpPr>
          <p:grpSpPr>
            <a:xfrm>
              <a:off x="2200656" y="2898775"/>
              <a:ext cx="502920" cy="1190244"/>
              <a:chOff x="2200656" y="2898775"/>
              <a:chExt cx="502920" cy="1190244"/>
            </a:xfrm>
          </p:grpSpPr>
          <p:sp>
            <p:nvSpPr>
              <p:cNvPr id="13" name="TextBox 13"/>
              <p:cNvSpPr txBox="1"/>
              <p:nvPr/>
            </p:nvSpPr>
            <p:spPr>
              <a:xfrm>
                <a:off x="2200656" y="2898775"/>
                <a:ext cx="50292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或者</a:t>
                </a:r>
              </a:p>
            </p:txBody>
          </p:sp>
          <p:sp>
            <p:nvSpPr>
              <p:cNvPr id="14" name="TextBox 14"/>
              <p:cNvSpPr txBox="1"/>
              <p:nvPr/>
            </p:nvSpPr>
            <p:spPr>
              <a:xfrm>
                <a:off x="2200656" y="3736975"/>
                <a:ext cx="50292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或者</a:t>
                </a:r>
              </a:p>
            </p:txBody>
          </p:sp>
        </p:grpSp>
        <p:grpSp>
          <p:nvGrpSpPr>
            <p:cNvPr id="20" name="p18-common-connection"/>
            <p:cNvGrpSpPr/>
            <p:nvPr/>
          </p:nvGrpSpPr>
          <p:grpSpPr>
            <a:xfrm>
              <a:off x="4648200" y="2647950"/>
              <a:ext cx="1143000" cy="1657350"/>
              <a:chOff x="4648200" y="2647950"/>
              <a:chExt cx="1143000" cy="1657350"/>
            </a:xfrm>
          </p:grpSpPr>
          <p:sp>
            <p:nvSpPr>
              <p:cNvPr id="16" name="Line 16"/>
              <p:cNvSpPr/>
              <p:nvPr/>
            </p:nvSpPr>
            <p:spPr>
              <a:xfrm>
                <a:off x="4648200" y="2647950"/>
                <a:ext cx="590550" cy="828675"/>
              </a:xfrm>
              <a:custGeom>
                <a:avLst/>
                <a:gdLst/>
                <a:ahLst/>
                <a:cxnLst/>
                <a:rect l="l" t="t" r="r" b="b"/>
                <a:pathLst>
                  <a:path w="590550" h="828675">
                    <a:moveTo>
                      <a:pt x="0" y="0"/>
                    </a:moveTo>
                    <a:lnTo>
                      <a:pt x="590550" y="828675"/>
                    </a:lnTo>
                  </a:path>
                </a:pathLst>
              </a:custGeom>
              <a:noFill/>
              <a:ln w="19050">
                <a:solidFill>
                  <a:schemeClr val="accent1"/>
                </a:solidFill>
              </a:ln>
            </p:spPr>
          </p:sp>
          <p:sp>
            <p:nvSpPr>
              <p:cNvPr id="17" name="Line 17"/>
              <p:cNvSpPr/>
              <p:nvPr/>
            </p:nvSpPr>
            <p:spPr>
              <a:xfrm>
                <a:off x="4648200" y="3476625"/>
                <a:ext cx="590550" cy="9525"/>
              </a:xfrm>
              <a:custGeom>
                <a:avLst/>
                <a:gdLst/>
                <a:ahLst/>
                <a:cxnLst/>
                <a:rect l="l" t="t" r="r" b="b"/>
                <a:pathLst>
                  <a:path w="590550" h="9525">
                    <a:moveTo>
                      <a:pt x="0" y="0"/>
                    </a:moveTo>
                    <a:lnTo>
                      <a:pt x="590550" y="0"/>
                    </a:lnTo>
                  </a:path>
                </a:pathLst>
              </a:custGeom>
              <a:noFill/>
              <a:ln w="19050">
                <a:solidFill>
                  <a:schemeClr val="accent1"/>
                </a:solidFill>
              </a:ln>
            </p:spPr>
          </p:sp>
          <p:sp>
            <p:nvSpPr>
              <p:cNvPr id="18" name="Line 18"/>
              <p:cNvSpPr/>
              <p:nvPr/>
            </p:nvSpPr>
            <p:spPr>
              <a:xfrm>
                <a:off x="4648200" y="3476625"/>
                <a:ext cx="590550" cy="828675"/>
              </a:xfrm>
              <a:custGeom>
                <a:avLst/>
                <a:gdLst/>
                <a:ahLst/>
                <a:cxnLst/>
                <a:rect l="l" t="t" r="r" b="b"/>
                <a:pathLst>
                  <a:path w="590550" h="828675">
                    <a:moveTo>
                      <a:pt x="0" y="828675"/>
                    </a:moveTo>
                    <a:lnTo>
                      <a:pt x="590550" y="0"/>
                    </a:lnTo>
                  </a:path>
                </a:pathLst>
              </a:custGeom>
              <a:noFill/>
              <a:ln w="19050">
                <a:solidFill>
                  <a:schemeClr val="accent1"/>
                </a:solidFill>
              </a:ln>
            </p:spPr>
          </p:sp>
          <p:sp>
            <p:nvSpPr>
              <p:cNvPr id="19" name="Line 19"/>
              <p:cNvSpPr/>
              <p:nvPr/>
            </p:nvSpPr>
            <p:spPr>
              <a:xfrm>
                <a:off x="5238750" y="3476625"/>
                <a:ext cx="552450" cy="1"/>
              </a:xfrm>
              <a:prstGeom prst="line">
                <a:avLst/>
              </a:prstGeom>
              <a:noFill/>
              <a:ln w="19050">
                <a:solidFill>
                  <a:schemeClr val="accent1"/>
                </a:solidFill>
                <a:tailEnd type="triangle" w="lg" len="lg"/>
              </a:ln>
            </p:spPr>
          </p:sp>
        </p:grpSp>
        <p:sp>
          <p:nvSpPr>
            <p:cNvPr id="21" name="TextBox 21"/>
            <p:cNvSpPr txBox="1"/>
            <p:nvPr/>
          </p:nvSpPr>
          <p:spPr>
            <a:xfrm>
              <a:off x="5267706" y="3003550"/>
              <a:ext cx="502920"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并由</a:t>
              </a:r>
            </a:p>
          </p:txBody>
        </p:sp>
        <p:grpSp>
          <p:nvGrpSpPr>
            <p:cNvPr id="25" name="p18-execution"/>
            <p:cNvGrpSpPr/>
            <p:nvPr/>
          </p:nvGrpSpPr>
          <p:grpSpPr>
            <a:xfrm>
              <a:off x="5924550" y="3105150"/>
              <a:ext cx="2095500" cy="895350"/>
              <a:chOff x="5924550" y="3105150"/>
              <a:chExt cx="2095500" cy="895350"/>
            </a:xfrm>
          </p:grpSpPr>
          <p:sp>
            <p:nvSpPr>
              <p:cNvPr id="22" name="Rectangle 22"/>
              <p:cNvSpPr/>
              <p:nvPr/>
            </p:nvSpPr>
            <p:spPr>
              <a:xfrm>
                <a:off x="5924550" y="3105150"/>
                <a:ext cx="2095500" cy="895350"/>
              </a:xfrm>
              <a:prstGeom prst="roundRect">
                <a:avLst>
                  <a:gd name="adj" fmla="val 6383"/>
                </a:avLst>
              </a:prstGeom>
              <a:solidFill>
                <a:schemeClr val="lt2"/>
              </a:solidFill>
              <a:ln>
                <a:noFill/>
              </a:ln>
            </p:spPr>
          </p:sp>
          <p:sp>
            <p:nvSpPr>
              <p:cNvPr id="23" name="TextBox 23"/>
              <p:cNvSpPr txBox="1"/>
              <p:nvPr/>
            </p:nvSpPr>
            <p:spPr>
              <a:xfrm>
                <a:off x="6355080" y="3159125"/>
                <a:ext cx="1234440" cy="440055"/>
              </a:xfrm>
              <a:prstGeom prst="rect">
                <a:avLst/>
              </a:prstGeom>
              <a:noFill/>
              <a:ln>
                <a:noFill/>
              </a:ln>
            </p:spPr>
            <p:txBody>
              <a:bodyPr wrap="none" lIns="0" tIns="0" rIns="0" bIns="0" anchor="t" anchorCtr="0">
                <a:spAutoFit/>
              </a:bodyPr>
              <a:lstStyle/>
              <a:p>
                <a:pPr algn="ctr"/>
                <a:r>
                  <a:rPr lang="zh-CN" sz="2250" dirty="0">
                    <a:solidFill>
                      <a:schemeClr val="accent1"/>
                    </a:solidFill>
                    <a:latin typeface="+mn-lt"/>
                    <a:ea typeface="+mn-ea"/>
                    <a:cs typeface="+mn-cs"/>
                  </a:rPr>
                  <a:t>公安机关</a:t>
                </a:r>
              </a:p>
            </p:txBody>
          </p:sp>
          <p:sp>
            <p:nvSpPr>
              <p:cNvPr id="24" name="TextBox 24"/>
              <p:cNvSpPr txBox="1"/>
              <p:nvPr/>
            </p:nvSpPr>
            <p:spPr>
              <a:xfrm>
                <a:off x="6657975" y="3549650"/>
                <a:ext cx="628650" cy="440055"/>
              </a:xfrm>
              <a:prstGeom prst="rect">
                <a:avLst/>
              </a:prstGeom>
              <a:noFill/>
              <a:ln>
                <a:noFill/>
              </a:ln>
            </p:spPr>
            <p:txBody>
              <a:bodyPr wrap="none" lIns="0" tIns="0" rIns="0" bIns="0" anchor="t" anchorCtr="0">
                <a:spAutoFit/>
              </a:bodyPr>
              <a:lstStyle/>
              <a:p>
                <a:pPr algn="ctr"/>
                <a:r>
                  <a:rPr lang="zh-CN" sz="2250" dirty="0">
                    <a:solidFill>
                      <a:schemeClr val="accent2"/>
                    </a:solidFill>
                    <a:latin typeface="+mn-lt"/>
                    <a:ea typeface="+mn-ea"/>
                    <a:cs typeface="+mn-cs"/>
                  </a:rPr>
                  <a:t>执行</a:t>
                </a:r>
              </a:p>
            </p:txBody>
          </p:sp>
        </p:grpSp>
        <p:sp>
          <p:nvSpPr>
            <p:cNvPr id="26" name="TextBox 26"/>
            <p:cNvSpPr txBox="1"/>
            <p:nvPr/>
          </p:nvSpPr>
          <p:spPr>
            <a:xfrm>
              <a:off x="657606" y="4794250"/>
              <a:ext cx="534924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不同路径，不是依次审批；执行不等于自行决定。</a:t>
              </a:r>
            </a:p>
          </p:txBody>
        </p:sp>
      </p:grpSp>
      <p:grpSp>
        <p:nvGrpSpPr>
          <p:cNvPr id="32" name="p18-legal-prehistory"/>
          <p:cNvGrpSpPr/>
          <p:nvPr/>
        </p:nvGrpSpPr>
        <p:grpSpPr>
          <a:xfrm>
            <a:off x="8601456" y="2089150"/>
            <a:ext cx="2350008" cy="3019044"/>
            <a:chOff x="8601456" y="2089150"/>
            <a:chExt cx="2350008" cy="3019044"/>
          </a:xfrm>
        </p:grpSpPr>
        <p:sp>
          <p:nvSpPr>
            <p:cNvPr id="28" name="TextBox 28"/>
            <p:cNvSpPr txBox="1"/>
            <p:nvPr/>
          </p:nvSpPr>
          <p:spPr>
            <a:xfrm>
              <a:off x="8601456" y="2089150"/>
              <a:ext cx="2247595"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1979：已有相关安排</a:t>
              </a:r>
            </a:p>
          </p:txBody>
        </p:sp>
        <p:sp>
          <p:nvSpPr>
            <p:cNvPr id="29" name="TextBox 29"/>
            <p:cNvSpPr txBox="1"/>
            <p:nvPr/>
          </p:nvSpPr>
          <p:spPr>
            <a:xfrm>
              <a:off x="8601456" y="2470150"/>
              <a:ext cx="220141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刑诉法已提到法院、</a:t>
              </a:r>
              <a:br>
                <a:rPr lang="zh-CN" sz="1800" dirty="0">
                  <a:solidFill>
                    <a:schemeClr val="dk1"/>
                  </a:solidFill>
                  <a:latin typeface="+mn-lt"/>
                  <a:ea typeface="+mn-ea"/>
                  <a:cs typeface="+mn-cs"/>
                </a:rPr>
              </a:br>
              <a:r>
                <a:rPr lang="zh-CN" sz="1800" dirty="0">
                  <a:solidFill>
                    <a:schemeClr val="dk1"/>
                  </a:solidFill>
                  <a:latin typeface="+mn-lt"/>
                  <a:ea typeface="+mn-ea"/>
                  <a:cs typeface="+mn-cs"/>
                </a:rPr>
                <a:t>检察院对“各自决定</a:t>
              </a:r>
              <a:br>
                <a:rPr lang="zh-CN" sz="1800" dirty="0">
                  <a:solidFill>
                    <a:schemeClr val="dk1"/>
                  </a:solidFill>
                  <a:latin typeface="+mn-lt"/>
                  <a:ea typeface="+mn-ea"/>
                  <a:cs typeface="+mn-cs"/>
                </a:rPr>
              </a:br>
              <a:r>
                <a:rPr lang="zh-CN" sz="1800" dirty="0">
                  <a:solidFill>
                    <a:schemeClr val="dk1"/>
                  </a:solidFill>
                  <a:latin typeface="+mn-lt"/>
                  <a:ea typeface="+mn-ea"/>
                  <a:cs typeface="+mn-cs"/>
                </a:rPr>
                <a:t>逮捕的人”依法讯问。</a:t>
              </a:r>
            </a:p>
          </p:txBody>
        </p:sp>
        <p:sp>
          <p:nvSpPr>
            <p:cNvPr id="30" name="TextBox 30"/>
            <p:cNvSpPr txBox="1"/>
            <p:nvPr/>
          </p:nvSpPr>
          <p:spPr>
            <a:xfrm>
              <a:off x="8601456" y="3632200"/>
              <a:ext cx="235000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1982年明确写入宪法，</a:t>
              </a:r>
              <a:br>
                <a:rPr lang="zh-CN" sz="1800" dirty="0">
                  <a:solidFill>
                    <a:schemeClr val="dk1"/>
                  </a:solidFill>
                  <a:latin typeface="+mn-lt"/>
                  <a:ea typeface="+mn-ea"/>
                  <a:cs typeface="+mn-cs"/>
                </a:rPr>
              </a:br>
              <a:r>
                <a:rPr lang="zh-CN" sz="1800" dirty="0">
                  <a:solidFill>
                    <a:schemeClr val="dk1"/>
                  </a:solidFill>
                  <a:latin typeface="+mn-lt"/>
                  <a:ea typeface="+mn-ea"/>
                  <a:cs typeface="+mn-cs"/>
                </a:rPr>
                <a:t>不等于制度当年才有。</a:t>
              </a:r>
            </a:p>
          </p:txBody>
        </p:sp>
        <p:sp>
          <p:nvSpPr>
            <p:cNvPr id="31" name="TextBox 31"/>
            <p:cNvSpPr txBox="1"/>
            <p:nvPr/>
          </p:nvSpPr>
          <p:spPr>
            <a:xfrm>
              <a:off x="8601456" y="4432300"/>
              <a:ext cx="2304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3"/>
                  </a:solidFill>
                  <a:latin typeface="+mn-lt"/>
                  <a:ea typeface="+mn-ea"/>
                  <a:cs typeface="+mn-cs"/>
                </a:rPr>
                <a:t>将权限纳入自由保障，</a:t>
              </a:r>
              <a:br>
                <a:rPr lang="zh-CN" sz="1800" dirty="0">
                  <a:solidFill>
                    <a:schemeClr val="accent3"/>
                  </a:solidFill>
                  <a:latin typeface="+mn-lt"/>
                  <a:ea typeface="+mn-ea"/>
                  <a:cs typeface="+mn-cs"/>
                </a:rPr>
              </a:br>
              <a:r>
                <a:rPr lang="zh-CN" sz="1800" dirty="0">
                  <a:solidFill>
                    <a:schemeClr val="accent3"/>
                  </a:solidFill>
                  <a:latin typeface="+mn-lt"/>
                  <a:ea typeface="+mn-ea"/>
                  <a:cs typeface="+mn-cs"/>
                </a:rPr>
                <a:t>与执行职责一并规定。</a:t>
              </a:r>
            </a:p>
          </p:txBody>
        </p:sp>
      </p:grpSp>
      <p:grpSp>
        <p:nvGrpSpPr>
          <p:cNvPr id="38" name="p18-person-and-right"/>
          <p:cNvGrpSpPr/>
          <p:nvPr/>
        </p:nvGrpSpPr>
        <p:grpSpPr>
          <a:xfrm>
            <a:off x="457200" y="5391150"/>
            <a:ext cx="11277600" cy="774319"/>
            <a:chOff x="457200" y="5391150"/>
            <a:chExt cx="11277600" cy="774319"/>
          </a:xfrm>
        </p:grpSpPr>
        <p:sp>
          <p:nvSpPr>
            <p:cNvPr id="33" name="Rectangle 33"/>
            <p:cNvSpPr/>
            <p:nvPr/>
          </p:nvSpPr>
          <p:spPr>
            <a:xfrm>
              <a:off x="457200" y="5391150"/>
              <a:ext cx="11277600" cy="762000"/>
            </a:xfrm>
            <a:prstGeom prst="rect">
              <a:avLst/>
            </a:prstGeom>
            <a:solidFill>
              <a:schemeClr val="lt2"/>
            </a:solidFill>
            <a:ln>
              <a:noFill/>
            </a:ln>
          </p:spPr>
        </p:sp>
        <p:sp>
          <p:nvSpPr>
            <p:cNvPr id="34" name="TextBox 34"/>
            <p:cNvSpPr txBox="1"/>
            <p:nvPr/>
          </p:nvSpPr>
          <p:spPr>
            <a:xfrm>
              <a:off x="636270" y="5445125"/>
              <a:ext cx="1234440"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任何公民</a:t>
              </a:r>
            </a:p>
          </p:txBody>
        </p:sp>
        <p:sp>
          <p:nvSpPr>
            <p:cNvPr id="35" name="TextBox 35"/>
            <p:cNvSpPr txBox="1"/>
            <p:nvPr/>
          </p:nvSpPr>
          <p:spPr>
            <a:xfrm>
              <a:off x="2353056" y="550862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包括被怀疑犯罪的人</a:t>
              </a:r>
            </a:p>
          </p:txBody>
        </p:sp>
        <p:sp>
          <p:nvSpPr>
            <p:cNvPr id="36" name="TextBox 36"/>
            <p:cNvSpPr txBox="1"/>
            <p:nvPr/>
          </p:nvSpPr>
          <p:spPr>
            <a:xfrm>
              <a:off x="7915656" y="5508625"/>
              <a:ext cx="268376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合法限制与权利保障并存</a:t>
              </a:r>
            </a:p>
          </p:txBody>
        </p:sp>
        <p:sp>
          <p:nvSpPr>
            <p:cNvPr id="37" name="TextBox 37"/>
            <p:cNvSpPr txBox="1"/>
            <p:nvPr/>
          </p:nvSpPr>
          <p:spPr>
            <a:xfrm>
              <a:off x="638556" y="5813425"/>
              <a:ext cx="87416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公民的基本权利和义务章｜允许依法逮捕，同时要求法律依据、法定判断与执行。</a:t>
              </a:r>
            </a:p>
          </p:txBody>
        </p:sp>
      </p:grpSp>
      <p:grpSp>
        <p:nvGrpSpPr>
          <p:cNvPr id="41" name="p18-footer"/>
          <p:cNvGrpSpPr/>
          <p:nvPr/>
        </p:nvGrpSpPr>
        <p:grpSpPr>
          <a:xfrm>
            <a:off x="451866" y="6254750"/>
            <a:ext cx="11288269" cy="205359"/>
            <a:chOff x="451866" y="6254750"/>
            <a:chExt cx="11288269" cy="205359"/>
          </a:xfrm>
        </p:grpSpPr>
        <p:sp>
          <p:nvSpPr>
            <p:cNvPr id="39" name="TextBox 39"/>
            <p:cNvSpPr txBox="1"/>
            <p:nvPr/>
          </p:nvSpPr>
          <p:spPr>
            <a:xfrm>
              <a:off x="451866" y="6254750"/>
              <a:ext cx="432187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1982宪法第37条；1979刑诉法相关前史。不同路径，不是累加审批。</a:t>
              </a:r>
            </a:p>
          </p:txBody>
        </p:sp>
        <p:sp>
          <p:nvSpPr>
            <p:cNvPr id="40" name="TextBox 40"/>
            <p:cNvSpPr txBox="1"/>
            <p:nvPr/>
          </p:nvSpPr>
          <p:spPr>
            <a:xfrm>
              <a:off x="10245281" y="6254750"/>
              <a:ext cx="149485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 上节　18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50"/>
                                        <p:tgtEl>
                                          <p:spTgt spid="27"/>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250"/>
                                        <p:tgtEl>
                                          <p:spTgt spid="32"/>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9-title"/>
          <p:cNvGrpSpPr/>
          <p:nvPr/>
        </p:nvGrpSpPr>
        <p:grpSpPr>
          <a:xfrm>
            <a:off x="441198" y="400050"/>
            <a:ext cx="5856732" cy="933577"/>
            <a:chOff x="441198" y="400050"/>
            <a:chExt cx="5856732" cy="933577"/>
          </a:xfrm>
        </p:grpSpPr>
        <p:sp>
          <p:nvSpPr>
            <p:cNvPr id="2" name="TextBox 2"/>
            <p:cNvSpPr txBox="1"/>
            <p:nvPr/>
          </p:nvSpPr>
          <p:spPr>
            <a:xfrm>
              <a:off x="451104" y="400050"/>
              <a:ext cx="186187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王桂五 · 1978年11月文章</a:t>
              </a:r>
            </a:p>
          </p:txBody>
        </p:sp>
        <p:sp>
          <p:nvSpPr>
            <p:cNvPr id="3" name="TextBox 3"/>
            <p:cNvSpPr txBox="1"/>
            <p:nvPr/>
          </p:nvSpPr>
          <p:spPr>
            <a:xfrm>
              <a:off x="441198" y="717550"/>
              <a:ext cx="585673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审查，能不能作出不同判断？</a:t>
              </a:r>
            </a:p>
          </p:txBody>
        </p:sp>
      </p:grpSp>
      <p:grpSp>
        <p:nvGrpSpPr>
          <p:cNvPr id="7" name="p19-source-identity"/>
          <p:cNvGrpSpPr/>
          <p:nvPr/>
        </p:nvGrpSpPr>
        <p:grpSpPr>
          <a:xfrm>
            <a:off x="448056" y="1774825"/>
            <a:ext cx="11293602" cy="352044"/>
            <a:chOff x="448056" y="1774825"/>
            <a:chExt cx="11293602" cy="352044"/>
          </a:xfrm>
        </p:grpSpPr>
        <p:sp>
          <p:nvSpPr>
            <p:cNvPr id="5" name="TextBox 5"/>
            <p:cNvSpPr txBox="1"/>
            <p:nvPr/>
          </p:nvSpPr>
          <p:spPr>
            <a:xfrm>
              <a:off x="448056" y="1774825"/>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《政法战线也要冲破禁区》</a:t>
              </a:r>
            </a:p>
          </p:txBody>
        </p:sp>
        <p:sp>
          <p:nvSpPr>
            <p:cNvPr id="6" name="TextBox 6"/>
            <p:cNvSpPr txBox="1"/>
            <p:nvPr/>
          </p:nvSpPr>
          <p:spPr>
            <a:xfrm>
              <a:off x="9547098" y="1825625"/>
              <a:ext cx="219456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人物前史依据后来纪念材料</a:t>
              </a:r>
            </a:p>
          </p:txBody>
        </p:sp>
      </p:grpSp>
      <p:grpSp>
        <p:nvGrpSpPr>
          <p:cNvPr id="12" name="p19-criticized-views"/>
          <p:cNvGrpSpPr/>
          <p:nvPr/>
        </p:nvGrpSpPr>
        <p:grpSpPr>
          <a:xfrm>
            <a:off x="438150" y="2635250"/>
            <a:ext cx="3216250" cy="2453894"/>
            <a:chOff x="438150" y="2635250"/>
            <a:chExt cx="3216250" cy="2453894"/>
          </a:xfrm>
        </p:grpSpPr>
        <p:sp>
          <p:nvSpPr>
            <p:cNvPr id="8" name="TextBox 8"/>
            <p:cNvSpPr txBox="1"/>
            <p:nvPr/>
          </p:nvSpPr>
          <p:spPr>
            <a:xfrm>
              <a:off x="450342" y="2635250"/>
              <a:ext cx="1649349"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文章批评的过去说法</a:t>
              </a:r>
            </a:p>
          </p:txBody>
        </p:sp>
        <p:sp>
          <p:nvSpPr>
            <p:cNvPr id="9" name="TextBox 9"/>
            <p:cNvSpPr txBox="1"/>
            <p:nvPr/>
          </p:nvSpPr>
          <p:spPr>
            <a:xfrm>
              <a:off x="438150" y="2978150"/>
              <a:ext cx="3099816"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“找岔子”</a:t>
              </a:r>
            </a:p>
          </p:txBody>
        </p:sp>
        <p:sp>
          <p:nvSpPr>
            <p:cNvPr id="10" name="TextBox 10"/>
            <p:cNvSpPr txBox="1"/>
            <p:nvPr/>
          </p:nvSpPr>
          <p:spPr>
            <a:xfrm>
              <a:off x="441198" y="3959225"/>
              <a:ext cx="321320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“束缚专政手脚”</a:t>
              </a:r>
            </a:p>
          </p:txBody>
        </p:sp>
        <p:sp>
          <p:nvSpPr>
            <p:cNvPr id="11" name="TextBox 11"/>
            <p:cNvSpPr txBox="1"/>
            <p:nvPr/>
          </p:nvSpPr>
          <p:spPr>
            <a:xfrm>
              <a:off x="448056" y="4737100"/>
              <a:ext cx="292608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把批捕、起诉指作妨碍工作</a:t>
              </a:r>
            </a:p>
          </p:txBody>
        </p:sp>
      </p:grpSp>
      <p:grpSp>
        <p:nvGrpSpPr>
          <p:cNvPr id="14" name="p19-open-question"/>
          <p:cNvGrpSpPr/>
          <p:nvPr/>
        </p:nvGrpSpPr>
        <p:grpSpPr>
          <a:xfrm>
            <a:off x="5970270" y="2578100"/>
            <a:ext cx="3737610" cy="859155"/>
            <a:chOff x="5970270" y="2578100"/>
            <a:chExt cx="3737610" cy="859155"/>
          </a:xfrm>
        </p:grpSpPr>
        <p:sp>
          <p:nvSpPr>
            <p:cNvPr id="13" name="TextBox 13"/>
            <p:cNvSpPr txBox="1"/>
            <p:nvPr/>
          </p:nvSpPr>
          <p:spPr>
            <a:xfrm>
              <a:off x="5970270" y="2578100"/>
              <a:ext cx="3737610" cy="859155"/>
            </a:xfrm>
            <a:prstGeom prst="rect">
              <a:avLst/>
            </a:prstGeom>
            <a:noFill/>
            <a:ln>
              <a:noFill/>
            </a:ln>
          </p:spPr>
          <p:txBody>
            <a:bodyPr wrap="none" lIns="0" tIns="0" rIns="0" bIns="0" anchor="t" anchorCtr="0">
              <a:spAutoFit/>
            </a:bodyPr>
            <a:lstStyle/>
            <a:p>
              <a:pPr algn="l">
                <a:lnSpc>
                  <a:spcPts val="3300"/>
                </a:lnSpc>
              </a:pPr>
              <a:r>
                <a:rPr lang="zh-CN" sz="2250" dirty="0">
                  <a:solidFill>
                    <a:schemeClr val="accent1"/>
                  </a:solidFill>
                  <a:latin typeface="+mn-lt"/>
                  <a:ea typeface="+mn-ea"/>
                  <a:cs typeface="+mn-cs"/>
                </a:rPr>
                <a:t>要求另一机关认真审查，</a:t>
              </a:r>
              <a:br>
                <a:rPr lang="zh-CN" sz="2250" dirty="0">
                  <a:solidFill>
                    <a:schemeClr val="accent1"/>
                  </a:solidFill>
                  <a:latin typeface="+mn-lt"/>
                  <a:ea typeface="+mn-ea"/>
                  <a:cs typeface="+mn-cs"/>
                </a:rPr>
              </a:br>
              <a:r>
                <a:rPr lang="zh-CN" sz="2250" dirty="0">
                  <a:solidFill>
                    <a:schemeClr val="accent1"/>
                  </a:solidFill>
                  <a:latin typeface="+mn-lt"/>
                  <a:ea typeface="+mn-ea"/>
                  <a:cs typeface="+mn-cs"/>
                </a:rPr>
                <a:t>能否允许它形成自己的结论？</a:t>
              </a:r>
            </a:p>
          </p:txBody>
        </p:sp>
      </p:grpSp>
      <p:grpSp>
        <p:nvGrpSpPr>
          <p:cNvPr id="18" name="p19-independent-judgment"/>
          <p:cNvGrpSpPr/>
          <p:nvPr/>
        </p:nvGrpSpPr>
        <p:grpSpPr>
          <a:xfrm>
            <a:off x="5970270" y="4210050"/>
            <a:ext cx="5755005" cy="1574419"/>
            <a:chOff x="5970270" y="4210050"/>
            <a:chExt cx="5755005" cy="1574419"/>
          </a:xfrm>
        </p:grpSpPr>
        <p:sp>
          <p:nvSpPr>
            <p:cNvPr id="15" name="Line 15"/>
            <p:cNvSpPr/>
            <p:nvPr/>
          </p:nvSpPr>
          <p:spPr>
            <a:xfrm>
              <a:off x="5991225" y="4210050"/>
              <a:ext cx="5734050" cy="9525"/>
            </a:xfrm>
            <a:custGeom>
              <a:avLst/>
              <a:gdLst/>
              <a:ahLst/>
              <a:cxnLst/>
              <a:rect l="l" t="t" r="r" b="b"/>
              <a:pathLst>
                <a:path w="5734050" h="9525">
                  <a:moveTo>
                    <a:pt x="0" y="0"/>
                  </a:moveTo>
                  <a:lnTo>
                    <a:pt x="5734050" y="0"/>
                  </a:lnTo>
                </a:path>
              </a:pathLst>
            </a:custGeom>
            <a:noFill/>
            <a:ln w="19050">
              <a:solidFill>
                <a:schemeClr val="accent2"/>
              </a:solidFill>
            </a:ln>
          </p:spPr>
        </p:sp>
        <p:sp>
          <p:nvSpPr>
            <p:cNvPr id="16" name="TextBox 16"/>
            <p:cNvSpPr txBox="1"/>
            <p:nvPr/>
          </p:nvSpPr>
          <p:spPr>
            <a:xfrm>
              <a:off x="5970270" y="4321175"/>
              <a:ext cx="2594610" cy="859155"/>
            </a:xfrm>
            <a:prstGeom prst="rect">
              <a:avLst/>
            </a:prstGeom>
            <a:noFill/>
            <a:ln>
              <a:noFill/>
            </a:ln>
          </p:spPr>
          <p:txBody>
            <a:bodyPr wrap="none" lIns="0" tIns="0" rIns="0" bIns="0" anchor="t" anchorCtr="0">
              <a:spAutoFit/>
            </a:bodyPr>
            <a:lstStyle/>
            <a:p>
              <a:pPr algn="l">
                <a:lnSpc>
                  <a:spcPts val="3300"/>
                </a:lnSpc>
              </a:pPr>
              <a:r>
                <a:rPr lang="zh-CN" sz="2250" dirty="0">
                  <a:solidFill>
                    <a:schemeClr val="dk1"/>
                  </a:solidFill>
                  <a:latin typeface="+mn-lt"/>
                  <a:ea typeface="+mn-ea"/>
                  <a:cs typeface="+mn-cs"/>
                </a:rPr>
                <a:t>侦查判断重要，</a:t>
              </a:r>
              <a:br>
                <a:rPr lang="zh-CN" sz="2250" dirty="0">
                  <a:solidFill>
                    <a:schemeClr val="dk1"/>
                  </a:solidFill>
                  <a:latin typeface="+mn-lt"/>
                  <a:ea typeface="+mn-ea"/>
                  <a:cs typeface="+mn-cs"/>
                </a:rPr>
              </a:br>
              <a:r>
                <a:rPr lang="zh-CN" sz="2250" dirty="0">
                  <a:solidFill>
                    <a:schemeClr val="dk1"/>
                  </a:solidFill>
                  <a:latin typeface="+mn-lt"/>
                  <a:ea typeface="+mn-ea"/>
                  <a:cs typeface="+mn-cs"/>
                </a:rPr>
                <a:t>审查仍要核对根据。</a:t>
              </a:r>
            </a:p>
          </p:txBody>
        </p:sp>
        <p:sp>
          <p:nvSpPr>
            <p:cNvPr id="17" name="TextBox 17"/>
            <p:cNvSpPr txBox="1"/>
            <p:nvPr/>
          </p:nvSpPr>
          <p:spPr>
            <a:xfrm>
              <a:off x="5972556" y="5432425"/>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要求结果只能同意，批准容易成为照签。</a:t>
              </a:r>
            </a:p>
          </p:txBody>
        </p:sp>
      </p:grpSp>
      <p:grpSp>
        <p:nvGrpSpPr>
          <p:cNvPr id="20" name="p19-personal-history"/>
          <p:cNvGrpSpPr/>
          <p:nvPr/>
        </p:nvGrpSpPr>
        <p:grpSpPr>
          <a:xfrm>
            <a:off x="450342" y="5464175"/>
            <a:ext cx="3134106" cy="530733"/>
            <a:chOff x="450342" y="5464175"/>
            <a:chExt cx="3134106" cy="530733"/>
          </a:xfrm>
        </p:grpSpPr>
        <p:sp>
          <p:nvSpPr>
            <p:cNvPr id="19" name="TextBox 19"/>
            <p:cNvSpPr txBox="1"/>
            <p:nvPr/>
          </p:nvSpPr>
          <p:spPr>
            <a:xfrm>
              <a:off x="450342" y="5464175"/>
              <a:ext cx="313410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5"/>
                  </a:solidFill>
                  <a:latin typeface="+mn-lt"/>
                  <a:ea typeface="+mn-ea"/>
                  <a:cs typeface="+mn-cs"/>
                </a:rPr>
                <a:t>参与1954组织法起草；遭错误批判迫害；</a:t>
              </a:r>
              <a:br>
                <a:rPr lang="zh-CN" sz="1350" dirty="0">
                  <a:solidFill>
                    <a:schemeClr val="accent5"/>
                  </a:solidFill>
                  <a:latin typeface="+mn-lt"/>
                  <a:ea typeface="+mn-ea"/>
                  <a:cs typeface="+mn-cs"/>
                </a:rPr>
              </a:br>
              <a:r>
                <a:rPr lang="zh-CN" sz="1350" dirty="0">
                  <a:solidFill>
                    <a:schemeClr val="accent5"/>
                  </a:solidFill>
                  <a:latin typeface="+mn-lt"/>
                  <a:ea typeface="+mn-ea"/>
                  <a:cs typeface="+mn-cs"/>
                </a:rPr>
                <a:t>检察机关恢复后回最高检工作。</a:t>
              </a:r>
            </a:p>
          </p:txBody>
        </p:sp>
      </p:grpSp>
      <p:grpSp>
        <p:nvGrpSpPr>
          <p:cNvPr id="23" name="p19-footer"/>
          <p:cNvGrpSpPr/>
          <p:nvPr/>
        </p:nvGrpSpPr>
        <p:grpSpPr>
          <a:xfrm>
            <a:off x="451866" y="6254750"/>
            <a:ext cx="11288268" cy="205359"/>
            <a:chOff x="451866" y="6254750"/>
            <a:chExt cx="11288268" cy="205359"/>
          </a:xfrm>
        </p:grpSpPr>
        <p:sp>
          <p:nvSpPr>
            <p:cNvPr id="21" name="TextBox 21"/>
            <p:cNvSpPr txBox="1"/>
            <p:nvPr/>
          </p:nvSpPr>
          <p:spPr>
            <a:xfrm>
              <a:off x="451866" y="6254750"/>
              <a:ext cx="500035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王桂五《政法战线也要冲破禁区》（1978年11月）；人物前史据后来纪念材料。</a:t>
              </a:r>
            </a:p>
          </p:txBody>
        </p:sp>
        <p:sp>
          <p:nvSpPr>
            <p:cNvPr id="22" name="TextBox 22"/>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19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0-title"/>
          <p:cNvGrpSpPr/>
          <p:nvPr/>
        </p:nvGrpSpPr>
        <p:grpSpPr>
          <a:xfrm>
            <a:off x="441198" y="400050"/>
            <a:ext cx="5856732" cy="933577"/>
            <a:chOff x="441198" y="400050"/>
            <a:chExt cx="5856732" cy="933577"/>
          </a:xfrm>
        </p:grpSpPr>
        <p:sp>
          <p:nvSpPr>
            <p:cNvPr id="2" name="TextBox 2"/>
            <p:cNvSpPr txBox="1"/>
            <p:nvPr/>
          </p:nvSpPr>
          <p:spPr>
            <a:xfrm>
              <a:off x="451104" y="400050"/>
              <a:ext cx="272613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1979刑诉法 · 1980施行 · 第49条首句</a:t>
              </a:r>
            </a:p>
          </p:txBody>
        </p:sp>
        <p:sp>
          <p:nvSpPr>
            <p:cNvPr id="3" name="TextBox 3"/>
            <p:cNvSpPr txBox="1"/>
            <p:nvPr/>
          </p:nvSpPr>
          <p:spPr>
            <a:xfrm>
              <a:off x="441198" y="717550"/>
              <a:ext cx="585673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可以提出异议，仍须立即释放</a:t>
              </a:r>
            </a:p>
          </p:txBody>
        </p:sp>
      </p:grpSp>
      <p:grpSp>
        <p:nvGrpSpPr>
          <p:cNvPr id="6" name="p20-full-clause"/>
          <p:cNvGrpSpPr/>
          <p:nvPr/>
        </p:nvGrpSpPr>
        <p:grpSpPr>
          <a:xfrm>
            <a:off x="448056" y="1755775"/>
            <a:ext cx="4487418" cy="999744"/>
            <a:chOff x="448056" y="1755775"/>
            <a:chExt cx="4487418" cy="999744"/>
          </a:xfrm>
        </p:grpSpPr>
        <p:sp>
          <p:nvSpPr>
            <p:cNvPr id="5" name="TextBox 5"/>
            <p:cNvSpPr txBox="1"/>
            <p:nvPr/>
          </p:nvSpPr>
          <p:spPr>
            <a:xfrm>
              <a:off x="448056" y="1755775"/>
              <a:ext cx="448741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“公安机关对人民检察院不批准逮捕的决定，</a:t>
              </a:r>
              <a:br>
                <a:rPr lang="zh-CN" sz="1800" dirty="0">
                  <a:solidFill>
                    <a:schemeClr val="dk1"/>
                  </a:solidFill>
                  <a:latin typeface="+mn-lt"/>
                  <a:ea typeface="+mn-ea"/>
                  <a:cs typeface="+mn-cs"/>
                </a:rPr>
              </a:br>
              <a:r>
                <a:rPr lang="zh-CN" sz="1800" dirty="0">
                  <a:solidFill>
                    <a:schemeClr val="dk1"/>
                  </a:solidFill>
                  <a:latin typeface="+mn-lt"/>
                  <a:ea typeface="+mn-ea"/>
                  <a:cs typeface="+mn-cs"/>
                </a:rPr>
                <a:t>认为有错误的时候，可以要求复议，</a:t>
              </a:r>
              <a:br>
                <a:rPr lang="zh-CN" sz="1800" dirty="0">
                  <a:solidFill>
                    <a:schemeClr val="dk1"/>
                  </a:solidFill>
                  <a:latin typeface="+mn-lt"/>
                  <a:ea typeface="+mn-ea"/>
                  <a:cs typeface="+mn-cs"/>
                </a:rPr>
              </a:br>
              <a:r>
                <a:rPr lang="zh-CN" sz="1800" dirty="0">
                  <a:solidFill>
                    <a:schemeClr val="dk1"/>
                  </a:solidFill>
                  <a:latin typeface="+mn-lt"/>
                  <a:ea typeface="+mn-ea"/>
                  <a:cs typeface="+mn-cs"/>
                </a:rPr>
                <a:t>但是必须将被拘留的人立即释放。”</a:t>
              </a:r>
            </a:p>
          </p:txBody>
        </p:sp>
      </p:grpSp>
      <p:grpSp>
        <p:nvGrpSpPr>
          <p:cNvPr id="15" name="p20-held-person"/>
          <p:cNvGrpSpPr/>
          <p:nvPr/>
        </p:nvGrpSpPr>
        <p:grpSpPr>
          <a:xfrm>
            <a:off x="445008" y="3282950"/>
            <a:ext cx="2593848" cy="2663444"/>
            <a:chOff x="445008" y="3282950"/>
            <a:chExt cx="2593848" cy="2663444"/>
          </a:xfrm>
        </p:grpSpPr>
        <p:sp>
          <p:nvSpPr>
            <p:cNvPr id="7" name="TextBox 7"/>
            <p:cNvSpPr txBox="1"/>
            <p:nvPr/>
          </p:nvSpPr>
          <p:spPr>
            <a:xfrm>
              <a:off x="450342" y="3282950"/>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仅取当时法定情形下的一种情况</a:t>
              </a:r>
            </a:p>
          </p:txBody>
        </p:sp>
        <p:sp>
          <p:nvSpPr>
            <p:cNvPr id="8" name="Ellipse 8"/>
            <p:cNvSpPr/>
            <p:nvPr/>
          </p:nvSpPr>
          <p:spPr>
            <a:xfrm>
              <a:off x="1009650" y="3810000"/>
              <a:ext cx="381000" cy="381000"/>
            </a:xfrm>
            <a:prstGeom prst="ellipse">
              <a:avLst/>
            </a:prstGeom>
            <a:noFill/>
            <a:ln w="28575">
              <a:solidFill>
                <a:schemeClr val="accent1"/>
              </a:solidFill>
            </a:ln>
          </p:spPr>
        </p:sp>
        <p:sp>
          <p:nvSpPr>
            <p:cNvPr id="9" name="Rectangle 9"/>
            <p:cNvSpPr/>
            <p:nvPr/>
          </p:nvSpPr>
          <p:spPr>
            <a:xfrm>
              <a:off x="952500" y="4276725"/>
              <a:ext cx="495300" cy="666750"/>
            </a:xfrm>
            <a:prstGeom prst="roundRect">
              <a:avLst>
                <a:gd name="adj" fmla="val 34615"/>
              </a:avLst>
            </a:prstGeom>
            <a:noFill/>
            <a:ln w="28575">
              <a:solidFill>
                <a:schemeClr val="accent1"/>
              </a:solidFill>
            </a:ln>
          </p:spPr>
        </p:sp>
        <p:sp>
          <p:nvSpPr>
            <p:cNvPr id="10" name="Line 10"/>
            <p:cNvSpPr/>
            <p:nvPr/>
          </p:nvSpPr>
          <p:spPr>
            <a:xfrm>
              <a:off x="781050" y="4391025"/>
              <a:ext cx="161925" cy="333375"/>
            </a:xfrm>
            <a:custGeom>
              <a:avLst/>
              <a:gdLst/>
              <a:ahLst/>
              <a:cxnLst/>
              <a:rect l="l" t="t" r="r" b="b"/>
              <a:pathLst>
                <a:path w="161925" h="333375">
                  <a:moveTo>
                    <a:pt x="161925" y="0"/>
                  </a:moveTo>
                  <a:lnTo>
                    <a:pt x="0" y="333375"/>
                  </a:lnTo>
                </a:path>
              </a:pathLst>
            </a:custGeom>
            <a:noFill/>
            <a:ln w="28575">
              <a:solidFill>
                <a:schemeClr val="accent1"/>
              </a:solidFill>
            </a:ln>
          </p:spPr>
        </p:sp>
        <p:sp>
          <p:nvSpPr>
            <p:cNvPr id="11" name="Line 11"/>
            <p:cNvSpPr/>
            <p:nvPr/>
          </p:nvSpPr>
          <p:spPr>
            <a:xfrm>
              <a:off x="1457325" y="4391025"/>
              <a:ext cx="161925" cy="333375"/>
            </a:xfrm>
            <a:custGeom>
              <a:avLst/>
              <a:gdLst/>
              <a:ahLst/>
              <a:cxnLst/>
              <a:rect l="l" t="t" r="r" b="b"/>
              <a:pathLst>
                <a:path w="161925" h="333375">
                  <a:moveTo>
                    <a:pt x="0" y="0"/>
                  </a:moveTo>
                  <a:lnTo>
                    <a:pt x="161925" y="333375"/>
                  </a:lnTo>
                </a:path>
              </a:pathLst>
            </a:custGeom>
            <a:noFill/>
            <a:ln w="28575">
              <a:solidFill>
                <a:schemeClr val="accent1"/>
              </a:solidFill>
            </a:ln>
          </p:spPr>
        </p:sp>
        <p:sp>
          <p:nvSpPr>
            <p:cNvPr id="12" name="TextBox 12"/>
            <p:cNvSpPr txBox="1"/>
            <p:nvPr/>
          </p:nvSpPr>
          <p:spPr>
            <a:xfrm>
              <a:off x="445008" y="505460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被拘留的人</a:t>
              </a:r>
            </a:p>
          </p:txBody>
        </p:sp>
        <p:sp>
          <p:nvSpPr>
            <p:cNvPr id="13" name="TextBox 13"/>
            <p:cNvSpPr txBox="1"/>
            <p:nvPr/>
          </p:nvSpPr>
          <p:spPr>
            <a:xfrm>
              <a:off x="448056" y="5594350"/>
              <a:ext cx="21991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拘留不自动转为逮捕</a:t>
              </a:r>
            </a:p>
          </p:txBody>
        </p:sp>
        <p:sp>
          <p:nvSpPr>
            <p:cNvPr id="14" name="TextBox 14"/>
            <p:cNvSpPr txBox="1"/>
            <p:nvPr/>
          </p:nvSpPr>
          <p:spPr>
            <a:xfrm>
              <a:off x="2298192" y="4683125"/>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教学示意</a:t>
              </a:r>
            </a:p>
          </p:txBody>
        </p:sp>
      </p:grpSp>
      <p:grpSp>
        <p:nvGrpSpPr>
          <p:cNvPr id="20" name="p20-refusal"/>
          <p:cNvGrpSpPr/>
          <p:nvPr/>
        </p:nvGrpSpPr>
        <p:grpSpPr>
          <a:xfrm>
            <a:off x="3991356" y="3317875"/>
            <a:ext cx="5510784" cy="733933"/>
            <a:chOff x="3991356" y="3317875"/>
            <a:chExt cx="5510784" cy="733933"/>
          </a:xfrm>
        </p:grpSpPr>
        <p:sp>
          <p:nvSpPr>
            <p:cNvPr id="16" name="TextBox 16"/>
            <p:cNvSpPr txBox="1"/>
            <p:nvPr/>
          </p:nvSpPr>
          <p:spPr>
            <a:xfrm>
              <a:off x="3991356" y="331787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公安提请批准逮捕</a:t>
              </a:r>
            </a:p>
          </p:txBody>
        </p:sp>
        <p:sp>
          <p:nvSpPr>
            <p:cNvPr id="17" name="Line 17"/>
            <p:cNvSpPr/>
            <p:nvPr/>
          </p:nvSpPr>
          <p:spPr>
            <a:xfrm>
              <a:off x="6419850" y="3438525"/>
              <a:ext cx="1352550" cy="1"/>
            </a:xfrm>
            <a:prstGeom prst="line">
              <a:avLst/>
            </a:prstGeom>
            <a:noFill/>
            <a:ln w="19050">
              <a:solidFill>
                <a:schemeClr val="accent1"/>
              </a:solidFill>
              <a:tailEnd type="triangle" w="lg" len="lg"/>
            </a:ln>
          </p:spPr>
        </p:sp>
        <p:sp>
          <p:nvSpPr>
            <p:cNvPr id="18" name="TextBox 18"/>
            <p:cNvSpPr txBox="1"/>
            <p:nvPr/>
          </p:nvSpPr>
          <p:spPr>
            <a:xfrm>
              <a:off x="8029956" y="3317875"/>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检察院不批准</a:t>
              </a:r>
            </a:p>
          </p:txBody>
        </p:sp>
        <p:sp>
          <p:nvSpPr>
            <p:cNvPr id="19" name="TextBox 19"/>
            <p:cNvSpPr txBox="1"/>
            <p:nvPr/>
          </p:nvSpPr>
          <p:spPr>
            <a:xfrm>
              <a:off x="3993642" y="3787775"/>
              <a:ext cx="292150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不批准约束接下来怎样对待这个人。</a:t>
              </a:r>
            </a:p>
          </p:txBody>
        </p:sp>
      </p:grpSp>
      <p:grpSp>
        <p:nvGrpSpPr>
          <p:cNvPr id="23" name="p20-objection"/>
          <p:cNvGrpSpPr/>
          <p:nvPr/>
        </p:nvGrpSpPr>
        <p:grpSpPr>
          <a:xfrm>
            <a:off x="3989070" y="4283075"/>
            <a:ext cx="5351526" cy="815594"/>
            <a:chOff x="3989070" y="4283075"/>
            <a:chExt cx="5351526" cy="815594"/>
          </a:xfrm>
        </p:grpSpPr>
        <p:sp>
          <p:nvSpPr>
            <p:cNvPr id="21" name="TextBox 21"/>
            <p:cNvSpPr txBox="1"/>
            <p:nvPr/>
          </p:nvSpPr>
          <p:spPr>
            <a:xfrm>
              <a:off x="3989070" y="4283075"/>
              <a:ext cx="274891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有依据的异议可继续</a:t>
              </a:r>
            </a:p>
          </p:txBody>
        </p:sp>
        <p:sp>
          <p:nvSpPr>
            <p:cNvPr id="22" name="TextBox 22"/>
            <p:cNvSpPr txBox="1"/>
            <p:nvPr/>
          </p:nvSpPr>
          <p:spPr>
            <a:xfrm>
              <a:off x="3991356" y="4746625"/>
              <a:ext cx="534924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复议；意见不被接受，可向上级检察院提请复核。</a:t>
              </a:r>
            </a:p>
          </p:txBody>
        </p:sp>
      </p:grpSp>
      <p:grpSp>
        <p:nvGrpSpPr>
          <p:cNvPr id="27" name="p20-immediate-release"/>
          <p:cNvGrpSpPr/>
          <p:nvPr/>
        </p:nvGrpSpPr>
        <p:grpSpPr>
          <a:xfrm>
            <a:off x="3771900" y="5349875"/>
            <a:ext cx="5916930" cy="796544"/>
            <a:chOff x="3771900" y="5349875"/>
            <a:chExt cx="5916930" cy="796544"/>
          </a:xfrm>
        </p:grpSpPr>
        <p:sp>
          <p:nvSpPr>
            <p:cNvPr id="24" name="TextBox 24"/>
            <p:cNvSpPr txBox="1"/>
            <p:nvPr/>
          </p:nvSpPr>
          <p:spPr>
            <a:xfrm>
              <a:off x="4579620" y="5349875"/>
              <a:ext cx="2446020"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公安必须立即释放</a:t>
              </a:r>
            </a:p>
          </p:txBody>
        </p:sp>
        <p:sp>
          <p:nvSpPr>
            <p:cNvPr id="25" name="Line 25"/>
            <p:cNvSpPr/>
            <p:nvPr/>
          </p:nvSpPr>
          <p:spPr>
            <a:xfrm flipH="1">
              <a:off x="3771900" y="5686425"/>
              <a:ext cx="647700" cy="1"/>
            </a:xfrm>
            <a:prstGeom prst="line">
              <a:avLst/>
            </a:prstGeom>
            <a:noFill/>
            <a:ln w="19050">
              <a:solidFill>
                <a:schemeClr val="accent1"/>
              </a:solidFill>
              <a:tailEnd type="triangle" w="lg" len="lg"/>
            </a:ln>
          </p:spPr>
        </p:sp>
        <p:sp>
          <p:nvSpPr>
            <p:cNvPr id="26" name="TextBox 26"/>
            <p:cNvSpPr txBox="1"/>
            <p:nvPr/>
          </p:nvSpPr>
          <p:spPr>
            <a:xfrm>
              <a:off x="4581906" y="5794375"/>
              <a:ext cx="510692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提出异议不暂停释放，不能等待机关争论结束。</a:t>
              </a:r>
            </a:p>
          </p:txBody>
        </p:sp>
      </p:grpSp>
      <p:grpSp>
        <p:nvGrpSpPr>
          <p:cNvPr id="30" name="p20-footer"/>
          <p:cNvGrpSpPr/>
          <p:nvPr/>
        </p:nvGrpSpPr>
        <p:grpSpPr>
          <a:xfrm>
            <a:off x="451866" y="6254750"/>
            <a:ext cx="11288268" cy="205359"/>
            <a:chOff x="451866" y="6254750"/>
            <a:chExt cx="11288268" cy="205359"/>
          </a:xfrm>
        </p:grpSpPr>
        <p:sp>
          <p:nvSpPr>
            <p:cNvPr id="28" name="TextBox 28"/>
            <p:cNvSpPr txBox="1"/>
            <p:nvPr/>
          </p:nvSpPr>
          <p:spPr>
            <a:xfrm>
              <a:off x="451866" y="6254750"/>
              <a:ext cx="460457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1979刑诉法第49条首句及后文（1980施行）。仅取法定情形下一种情况。</a:t>
              </a:r>
            </a:p>
          </p:txBody>
        </p:sp>
        <p:sp>
          <p:nvSpPr>
            <p:cNvPr id="29" name="TextBox 29"/>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20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1-title"/>
          <p:cNvGrpSpPr/>
          <p:nvPr/>
        </p:nvGrpSpPr>
        <p:grpSpPr>
          <a:xfrm>
            <a:off x="441198" y="400050"/>
            <a:ext cx="4960620" cy="933577"/>
            <a:chOff x="441198" y="400050"/>
            <a:chExt cx="4960620" cy="933577"/>
          </a:xfrm>
        </p:grpSpPr>
        <p:sp>
          <p:nvSpPr>
            <p:cNvPr id="2" name="TextBox 2"/>
            <p:cNvSpPr txBox="1"/>
            <p:nvPr/>
          </p:nvSpPr>
          <p:spPr>
            <a:xfrm>
              <a:off x="451104" y="400050"/>
              <a:ext cx="254035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1982原第135条 · 现行对应第140条</a:t>
              </a:r>
            </a:p>
          </p:txBody>
        </p:sp>
        <p:sp>
          <p:nvSpPr>
            <p:cNvPr id="3" name="TextBox 3"/>
            <p:cNvSpPr txBox="1"/>
            <p:nvPr/>
          </p:nvSpPr>
          <p:spPr>
            <a:xfrm>
              <a:off x="441198" y="717550"/>
              <a:ext cx="496062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配合办案，仍能意见不同</a:t>
              </a:r>
            </a:p>
          </p:txBody>
        </p:sp>
      </p:grpSp>
      <p:grpSp>
        <p:nvGrpSpPr>
          <p:cNvPr id="6" name="p21-full-clause"/>
          <p:cNvGrpSpPr/>
          <p:nvPr/>
        </p:nvGrpSpPr>
        <p:grpSpPr>
          <a:xfrm>
            <a:off x="445770" y="1803400"/>
            <a:ext cx="4466272" cy="821055"/>
            <a:chOff x="445770" y="1803400"/>
            <a:chExt cx="4466272" cy="821055"/>
          </a:xfrm>
        </p:grpSpPr>
        <p:sp>
          <p:nvSpPr>
            <p:cNvPr id="5" name="TextBox 5"/>
            <p:cNvSpPr txBox="1"/>
            <p:nvPr/>
          </p:nvSpPr>
          <p:spPr>
            <a:xfrm>
              <a:off x="445770" y="1803400"/>
              <a:ext cx="4466272" cy="821055"/>
            </a:xfrm>
            <a:prstGeom prst="rect">
              <a:avLst/>
            </a:prstGeom>
            <a:noFill/>
            <a:ln>
              <a:noFill/>
            </a:ln>
          </p:spPr>
          <p:txBody>
            <a:bodyPr wrap="none" lIns="0" tIns="0" rIns="0" bIns="0" anchor="t" anchorCtr="0">
              <a:spAutoFit/>
            </a:bodyPr>
            <a:lstStyle/>
            <a:p>
              <a:pPr algn="l">
                <a:lnSpc>
                  <a:spcPts val="3000"/>
                </a:lnSpc>
              </a:pPr>
              <a:r>
                <a:rPr lang="zh-CN" sz="2250" dirty="0">
                  <a:solidFill>
                    <a:schemeClr val="accent1"/>
                  </a:solidFill>
                  <a:latin typeface="+mn-lt"/>
                  <a:ea typeface="+mn-ea"/>
                  <a:cs typeface="+mn-cs"/>
                </a:rPr>
                <a:t>“分工负责，互相配合，互相制约，</a:t>
              </a:r>
              <a:br>
                <a:rPr lang="zh-CN" sz="2250" dirty="0">
                  <a:solidFill>
                    <a:schemeClr val="accent1"/>
                  </a:solidFill>
                  <a:latin typeface="+mn-lt"/>
                  <a:ea typeface="+mn-ea"/>
                  <a:cs typeface="+mn-cs"/>
                </a:rPr>
              </a:br>
              <a:r>
                <a:rPr lang="zh-CN" sz="2250" dirty="0">
                  <a:solidFill>
                    <a:schemeClr val="accent1"/>
                  </a:solidFill>
                  <a:latin typeface="+mn-lt"/>
                  <a:ea typeface="+mn-ea"/>
                  <a:cs typeface="+mn-cs"/>
                </a:rPr>
                <a:t>以保证准确有效地执行法律。”</a:t>
              </a:r>
            </a:p>
          </p:txBody>
        </p:sp>
      </p:grpSp>
      <p:grpSp>
        <p:nvGrpSpPr>
          <p:cNvPr id="16" name="p21-related-duties"/>
          <p:cNvGrpSpPr/>
          <p:nvPr/>
        </p:nvGrpSpPr>
        <p:grpSpPr>
          <a:xfrm>
            <a:off x="445008" y="2844800"/>
            <a:ext cx="10597896" cy="1578483"/>
            <a:chOff x="445008" y="2844800"/>
            <a:chExt cx="10597896" cy="1578483"/>
          </a:xfrm>
        </p:grpSpPr>
        <p:sp>
          <p:nvSpPr>
            <p:cNvPr id="7" name="TextBox 7"/>
            <p:cNvSpPr txBox="1"/>
            <p:nvPr/>
          </p:nvSpPr>
          <p:spPr>
            <a:xfrm>
              <a:off x="445008" y="284480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侦查与移送</a:t>
              </a:r>
            </a:p>
          </p:txBody>
        </p:sp>
        <p:sp>
          <p:nvSpPr>
            <p:cNvPr id="8" name="TextBox 8"/>
            <p:cNvSpPr txBox="1"/>
            <p:nvPr/>
          </p:nvSpPr>
          <p:spPr>
            <a:xfrm>
              <a:off x="4674108" y="284480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依法审查</a:t>
              </a:r>
            </a:p>
          </p:txBody>
        </p:sp>
        <p:sp>
          <p:nvSpPr>
            <p:cNvPr id="9" name="TextBox 9"/>
            <p:cNvSpPr txBox="1"/>
            <p:nvPr/>
          </p:nvSpPr>
          <p:spPr>
            <a:xfrm>
              <a:off x="8598408" y="2844800"/>
              <a:ext cx="24140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异议与法定后果</a:t>
              </a:r>
            </a:p>
          </p:txBody>
        </p:sp>
        <p:sp>
          <p:nvSpPr>
            <p:cNvPr id="10" name="Line 10"/>
            <p:cNvSpPr/>
            <p:nvPr/>
          </p:nvSpPr>
          <p:spPr>
            <a:xfrm>
              <a:off x="2686050" y="3076575"/>
              <a:ext cx="1581150" cy="1"/>
            </a:xfrm>
            <a:prstGeom prst="line">
              <a:avLst/>
            </a:prstGeom>
            <a:noFill/>
            <a:ln w="19050">
              <a:solidFill>
                <a:schemeClr val="accent1"/>
              </a:solidFill>
              <a:tailEnd type="triangle" w="lg" len="lg"/>
            </a:ln>
          </p:spPr>
        </p:sp>
        <p:sp>
          <p:nvSpPr>
            <p:cNvPr id="11" name="Line 11"/>
            <p:cNvSpPr/>
            <p:nvPr/>
          </p:nvSpPr>
          <p:spPr>
            <a:xfrm>
              <a:off x="6400800" y="3076575"/>
              <a:ext cx="1752600" cy="1"/>
            </a:xfrm>
            <a:prstGeom prst="line">
              <a:avLst/>
            </a:prstGeom>
            <a:noFill/>
            <a:ln w="19050">
              <a:solidFill>
                <a:schemeClr val="accent1"/>
              </a:solidFill>
              <a:tailEnd type="triangle" w="lg" len="lg"/>
            </a:ln>
          </p:spPr>
        </p:sp>
        <p:sp>
          <p:nvSpPr>
            <p:cNvPr id="12" name="TextBox 12"/>
            <p:cNvSpPr txBox="1"/>
            <p:nvPr/>
          </p:nvSpPr>
          <p:spPr>
            <a:xfrm>
              <a:off x="448056" y="3441700"/>
              <a:ext cx="122986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材料与证据</a:t>
              </a:r>
            </a:p>
          </p:txBody>
        </p:sp>
        <p:sp>
          <p:nvSpPr>
            <p:cNvPr id="13" name="TextBox 13"/>
            <p:cNvSpPr txBox="1"/>
            <p:nvPr/>
          </p:nvSpPr>
          <p:spPr>
            <a:xfrm>
              <a:off x="4677156" y="3441700"/>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核对逮捕根据</a:t>
              </a:r>
            </a:p>
          </p:txBody>
        </p:sp>
        <p:sp>
          <p:nvSpPr>
            <p:cNvPr id="14" name="TextBox 14"/>
            <p:cNvSpPr txBox="1"/>
            <p:nvPr/>
          </p:nvSpPr>
          <p:spPr>
            <a:xfrm>
              <a:off x="8601456" y="3441700"/>
              <a:ext cx="244144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提出异议，仍履行释放</a:t>
              </a:r>
            </a:p>
          </p:txBody>
        </p:sp>
        <p:sp>
          <p:nvSpPr>
            <p:cNvPr id="15" name="TextBox 15"/>
            <p:cNvSpPr txBox="1"/>
            <p:nvPr/>
          </p:nvSpPr>
          <p:spPr>
            <a:xfrm>
              <a:off x="450342" y="4159250"/>
              <a:ext cx="655624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配合不要求每次意见相同；彭真报告的目标是避免过分集中，也使工作有效进行。</a:t>
              </a:r>
            </a:p>
          </p:txBody>
        </p:sp>
      </p:grpSp>
      <p:grpSp>
        <p:nvGrpSpPr>
          <p:cNvPr id="24" name="p21-common-standard"/>
          <p:cNvGrpSpPr/>
          <p:nvPr/>
        </p:nvGrpSpPr>
        <p:grpSpPr>
          <a:xfrm>
            <a:off x="457200" y="4800600"/>
            <a:ext cx="11277600" cy="1333500"/>
            <a:chOff x="457200" y="4800600"/>
            <a:chExt cx="11277600" cy="1333500"/>
          </a:xfrm>
        </p:grpSpPr>
        <p:sp>
          <p:nvSpPr>
            <p:cNvPr id="17" name="Rectangle 17"/>
            <p:cNvSpPr/>
            <p:nvPr/>
          </p:nvSpPr>
          <p:spPr>
            <a:xfrm>
              <a:off x="457200" y="4800600"/>
              <a:ext cx="11277600" cy="1333500"/>
            </a:xfrm>
            <a:prstGeom prst="rect">
              <a:avLst/>
            </a:prstGeom>
            <a:solidFill>
              <a:schemeClr val="lt2"/>
            </a:solidFill>
            <a:ln>
              <a:noFill/>
            </a:ln>
          </p:spPr>
        </p:sp>
        <p:grpSp>
          <p:nvGrpSpPr>
            <p:cNvPr id="23" name="p21-standard-copy"/>
            <p:cNvGrpSpPr/>
            <p:nvPr/>
          </p:nvGrpSpPr>
          <p:grpSpPr>
            <a:xfrm>
              <a:off x="635508" y="4902200"/>
              <a:ext cx="10226040" cy="1207008"/>
              <a:chOff x="635508" y="4902200"/>
              <a:chExt cx="10226040" cy="1207008"/>
            </a:xfrm>
          </p:grpSpPr>
          <p:sp>
            <p:nvSpPr>
              <p:cNvPr id="18" name="TextBox 18"/>
              <p:cNvSpPr txBox="1"/>
              <p:nvPr/>
            </p:nvSpPr>
            <p:spPr>
              <a:xfrm>
                <a:off x="635508" y="490220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协调成本</a:t>
                </a:r>
              </a:p>
            </p:txBody>
          </p:sp>
          <p:sp>
            <p:nvSpPr>
              <p:cNvPr id="19" name="TextBox 19"/>
              <p:cNvSpPr txBox="1"/>
              <p:nvPr/>
            </p:nvSpPr>
            <p:spPr>
              <a:xfrm>
                <a:off x="638556" y="5394325"/>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移送、沟通、重新核查，可能多花时间。</a:t>
                </a:r>
              </a:p>
            </p:txBody>
          </p:sp>
          <p:sp>
            <p:nvSpPr>
              <p:cNvPr id="20" name="TextBox 20"/>
              <p:cNvSpPr txBox="1"/>
              <p:nvPr/>
            </p:nvSpPr>
            <p:spPr>
              <a:xfrm>
                <a:off x="6236208" y="490220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实质约束</a:t>
                </a:r>
              </a:p>
            </p:txBody>
          </p:sp>
          <p:sp>
            <p:nvSpPr>
              <p:cNvPr id="21" name="TextBox 21"/>
              <p:cNvSpPr txBox="1"/>
              <p:nvPr/>
            </p:nvSpPr>
            <p:spPr>
              <a:xfrm>
                <a:off x="6239256" y="5394325"/>
                <a:ext cx="462229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另一机关核对根据；不同判断有执行后果。</a:t>
                </a:r>
              </a:p>
            </p:txBody>
          </p:sp>
          <p:sp>
            <p:nvSpPr>
              <p:cNvPr id="22" name="TextBox 22"/>
              <p:cNvSpPr txBox="1"/>
              <p:nvPr/>
            </p:nvSpPr>
            <p:spPr>
              <a:xfrm>
                <a:off x="640842" y="5845175"/>
                <a:ext cx="510235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机关数量、签字次数不能独自说明效果，仍要看职责如何履行。</a:t>
                </a:r>
              </a:p>
            </p:txBody>
          </p:sp>
        </p:grpSp>
      </p:grpSp>
      <p:grpSp>
        <p:nvGrpSpPr>
          <p:cNvPr id="27" name="p21-footer"/>
          <p:cNvGrpSpPr/>
          <p:nvPr/>
        </p:nvGrpSpPr>
        <p:grpSpPr>
          <a:xfrm>
            <a:off x="451866" y="6254750"/>
            <a:ext cx="11288268" cy="205359"/>
            <a:chOff x="451866" y="6254750"/>
            <a:chExt cx="11288268" cy="205359"/>
          </a:xfrm>
        </p:grpSpPr>
        <p:sp>
          <p:nvSpPr>
            <p:cNvPr id="25" name="TextBox 25"/>
            <p:cNvSpPr txBox="1"/>
            <p:nvPr/>
          </p:nvSpPr>
          <p:spPr>
            <a:xfrm>
              <a:off x="451866" y="6254750"/>
              <a:ext cx="418052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1982宪法原第135条（节引），现行对应第140条；彭真修宪报告。</a:t>
              </a:r>
            </a:p>
          </p:txBody>
        </p:sp>
        <p:sp>
          <p:nvSpPr>
            <p:cNvPr id="26" name="TextBox 26"/>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21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2-title"/>
          <p:cNvGrpSpPr/>
          <p:nvPr/>
        </p:nvGrpSpPr>
        <p:grpSpPr>
          <a:xfrm>
            <a:off x="441198" y="400050"/>
            <a:ext cx="6304788" cy="933577"/>
            <a:chOff x="441198" y="400050"/>
            <a:chExt cx="6304788" cy="933577"/>
          </a:xfrm>
        </p:grpSpPr>
        <p:sp>
          <p:nvSpPr>
            <p:cNvPr id="2" name="TextBox 2"/>
            <p:cNvSpPr txBox="1"/>
            <p:nvPr/>
          </p:nvSpPr>
          <p:spPr>
            <a:xfrm>
              <a:off x="451104" y="400050"/>
              <a:ext cx="262112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不只正式逮捕 · 自由保障及住宅位置</a:t>
              </a:r>
            </a:p>
          </p:txBody>
        </p:sp>
        <p:sp>
          <p:nvSpPr>
            <p:cNvPr id="3" name="TextBox 3"/>
            <p:cNvSpPr txBox="1"/>
            <p:nvPr/>
          </p:nvSpPr>
          <p:spPr>
            <a:xfrm>
              <a:off x="441198" y="717550"/>
              <a:ext cx="630478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换个名称，也不能避开自由保障</a:t>
              </a:r>
            </a:p>
          </p:txBody>
        </p:sp>
      </p:grpSp>
      <p:grpSp>
        <p:nvGrpSpPr>
          <p:cNvPr id="7" name="p22-full-prohibition"/>
          <p:cNvGrpSpPr/>
          <p:nvPr/>
        </p:nvGrpSpPr>
        <p:grpSpPr>
          <a:xfrm>
            <a:off x="448056" y="1730375"/>
            <a:ext cx="6544818" cy="977519"/>
            <a:chOff x="448056" y="1730375"/>
            <a:chExt cx="6544818" cy="977519"/>
          </a:xfrm>
        </p:grpSpPr>
        <p:sp>
          <p:nvSpPr>
            <p:cNvPr id="5" name="TextBox 5"/>
            <p:cNvSpPr txBox="1"/>
            <p:nvPr/>
          </p:nvSpPr>
          <p:spPr>
            <a:xfrm>
              <a:off x="450342" y="1730375"/>
              <a:ext cx="152213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1982第37条第三款</a:t>
              </a:r>
            </a:p>
          </p:txBody>
        </p:sp>
        <p:sp>
          <p:nvSpPr>
            <p:cNvPr id="6" name="TextBox 6"/>
            <p:cNvSpPr txBox="1"/>
            <p:nvPr/>
          </p:nvSpPr>
          <p:spPr>
            <a:xfrm>
              <a:off x="448056" y="2032000"/>
              <a:ext cx="654481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“禁止非法拘禁和以其他方法非法剥夺或者限制公民的人身自由，</a:t>
              </a:r>
              <a:br>
                <a:rPr lang="zh-CN" sz="1800" dirty="0">
                  <a:solidFill>
                    <a:schemeClr val="dk1"/>
                  </a:solidFill>
                  <a:latin typeface="+mn-lt"/>
                  <a:ea typeface="+mn-ea"/>
                  <a:cs typeface="+mn-cs"/>
                </a:rPr>
              </a:br>
              <a:r>
                <a:rPr lang="zh-CN" sz="1800" dirty="0">
                  <a:solidFill>
                    <a:schemeClr val="dk1"/>
                  </a:solidFill>
                  <a:latin typeface="+mn-lt"/>
                  <a:ea typeface="+mn-ea"/>
                  <a:cs typeface="+mn-cs"/>
                </a:rPr>
                <a:t>禁止非法搜查公民的身体。”</a:t>
              </a:r>
            </a:p>
          </p:txBody>
        </p:sp>
      </p:grpSp>
      <p:grpSp>
        <p:nvGrpSpPr>
          <p:cNvPr id="11" name="p22-name-and-act"/>
          <p:cNvGrpSpPr/>
          <p:nvPr/>
        </p:nvGrpSpPr>
        <p:grpSpPr>
          <a:xfrm>
            <a:off x="441198" y="3140075"/>
            <a:ext cx="6568440" cy="978027"/>
            <a:chOff x="441198" y="3140075"/>
            <a:chExt cx="6568440" cy="978027"/>
          </a:xfrm>
        </p:grpSpPr>
        <p:sp>
          <p:nvSpPr>
            <p:cNvPr id="8" name="TextBox 8"/>
            <p:cNvSpPr txBox="1"/>
            <p:nvPr/>
          </p:nvSpPr>
          <p:spPr>
            <a:xfrm>
              <a:off x="450342" y="3140075"/>
              <a:ext cx="294876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后来最高检工作回顾记载 · 有些场所</a:t>
              </a:r>
            </a:p>
          </p:txBody>
        </p:sp>
        <p:sp>
          <p:nvSpPr>
            <p:cNvPr id="9" name="TextBox 9"/>
            <p:cNvSpPr txBox="1"/>
            <p:nvPr/>
          </p:nvSpPr>
          <p:spPr>
            <a:xfrm>
              <a:off x="441198" y="3502025"/>
              <a:ext cx="276514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名叫“学习班”</a:t>
              </a:r>
            </a:p>
          </p:txBody>
        </p:sp>
        <p:sp>
          <p:nvSpPr>
            <p:cNvPr id="10" name="TextBox 10"/>
            <p:cNvSpPr txBox="1"/>
            <p:nvPr/>
          </p:nvSpPr>
          <p:spPr>
            <a:xfrm>
              <a:off x="4289298" y="3489325"/>
              <a:ext cx="272034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实际变相关押</a:t>
              </a:r>
            </a:p>
          </p:txBody>
        </p:sp>
      </p:grpSp>
      <p:grpSp>
        <p:nvGrpSpPr>
          <p:cNvPr id="14" name="p22-actual-and-legal"/>
          <p:cNvGrpSpPr/>
          <p:nvPr/>
        </p:nvGrpSpPr>
        <p:grpSpPr>
          <a:xfrm>
            <a:off x="445770" y="4330700"/>
            <a:ext cx="6320790" cy="844169"/>
            <a:chOff x="445770" y="4330700"/>
            <a:chExt cx="6320790" cy="844169"/>
          </a:xfrm>
        </p:grpSpPr>
        <p:sp>
          <p:nvSpPr>
            <p:cNvPr id="12" name="TextBox 12"/>
            <p:cNvSpPr txBox="1"/>
            <p:nvPr/>
          </p:nvSpPr>
          <p:spPr>
            <a:xfrm>
              <a:off x="445770" y="4330700"/>
              <a:ext cx="456628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看实际做了什么、有无法律依据。</a:t>
              </a:r>
            </a:p>
          </p:txBody>
        </p:sp>
        <p:sp>
          <p:nvSpPr>
            <p:cNvPr id="13" name="TextBox 13"/>
            <p:cNvSpPr txBox="1"/>
            <p:nvPr/>
          </p:nvSpPr>
          <p:spPr>
            <a:xfrm>
              <a:off x="448056" y="4822825"/>
              <a:ext cx="631850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黄火青等推动停办这些非法场所；不能靠换名称避开保障。</a:t>
              </a:r>
            </a:p>
          </p:txBody>
        </p:sp>
      </p:grpSp>
      <p:grpSp>
        <p:nvGrpSpPr>
          <p:cNvPr id="19" name="p22-housing-location"/>
          <p:cNvGrpSpPr/>
          <p:nvPr/>
        </p:nvGrpSpPr>
        <p:grpSpPr>
          <a:xfrm>
            <a:off x="8560308" y="3025775"/>
            <a:ext cx="2764536" cy="2082419"/>
            <a:chOff x="8560308" y="3025775"/>
            <a:chExt cx="2764536" cy="2082419"/>
          </a:xfrm>
        </p:grpSpPr>
        <p:sp>
          <p:nvSpPr>
            <p:cNvPr id="15" name="TextBox 15"/>
            <p:cNvSpPr txBox="1"/>
            <p:nvPr/>
          </p:nvSpPr>
          <p:spPr>
            <a:xfrm>
              <a:off x="8560308" y="3025775"/>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住宅保障</a:t>
              </a:r>
            </a:p>
          </p:txBody>
        </p:sp>
        <p:sp>
          <p:nvSpPr>
            <p:cNvPr id="16" name="TextBox 16"/>
            <p:cNvSpPr txBox="1"/>
            <p:nvPr/>
          </p:nvSpPr>
          <p:spPr>
            <a:xfrm>
              <a:off x="8563356" y="3594100"/>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前版合写</a:t>
              </a:r>
            </a:p>
          </p:txBody>
        </p:sp>
        <p:sp>
          <p:nvSpPr>
            <p:cNvPr id="17" name="TextBox 17"/>
            <p:cNvSpPr txBox="1"/>
            <p:nvPr/>
          </p:nvSpPr>
          <p:spPr>
            <a:xfrm>
              <a:off x="8560308" y="3943350"/>
              <a:ext cx="2226259"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1982 · 第39条</a:t>
              </a:r>
            </a:p>
          </p:txBody>
        </p:sp>
        <p:sp>
          <p:nvSpPr>
            <p:cNvPr id="18" name="TextBox 18"/>
            <p:cNvSpPr txBox="1"/>
            <p:nvPr/>
          </p:nvSpPr>
          <p:spPr>
            <a:xfrm>
              <a:off x="8563356" y="4432300"/>
              <a:ext cx="2761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单列保护，并明确禁止</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非法搜查、非法侵入住宅。</a:t>
              </a:r>
            </a:p>
          </p:txBody>
        </p:sp>
      </p:grpSp>
      <p:grpSp>
        <p:nvGrpSpPr>
          <p:cNvPr id="21" name="p22-limits"/>
          <p:cNvGrpSpPr/>
          <p:nvPr/>
        </p:nvGrpSpPr>
        <p:grpSpPr>
          <a:xfrm>
            <a:off x="448056" y="5461000"/>
            <a:ext cx="7379208" cy="675894"/>
            <a:chOff x="448056" y="5461000"/>
            <a:chExt cx="7379208" cy="675894"/>
          </a:xfrm>
        </p:grpSpPr>
        <p:sp>
          <p:nvSpPr>
            <p:cNvPr id="20" name="TextBox 20"/>
            <p:cNvSpPr txBox="1"/>
            <p:nvPr/>
          </p:nvSpPr>
          <p:spPr>
            <a:xfrm>
              <a:off x="448056" y="5461000"/>
              <a:ext cx="737920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不是所有学习班有问题，也不是一切限制都禁止。</a:t>
              </a:r>
              <a:br>
                <a:rPr lang="zh-CN" sz="1800" dirty="0">
                  <a:solidFill>
                    <a:schemeClr val="dk1"/>
                  </a:solidFill>
                  <a:latin typeface="+mn-lt"/>
                  <a:ea typeface="+mn-ea"/>
                  <a:cs typeface="+mn-cs"/>
                </a:rPr>
              </a:br>
              <a:r>
                <a:rPr lang="zh-CN" sz="1800" dirty="0">
                  <a:solidFill>
                    <a:schemeClr val="dk1"/>
                  </a:solidFill>
                  <a:latin typeface="+mn-lt"/>
                  <a:ea typeface="+mn-ea"/>
                  <a:cs typeface="+mn-cs"/>
                </a:rPr>
                <a:t>1982写得更明确，不表示旧法允许任意侵害；换位置也不等于删除保护。</a:t>
              </a:r>
            </a:p>
          </p:txBody>
        </p:sp>
      </p:grpSp>
      <p:grpSp>
        <p:nvGrpSpPr>
          <p:cNvPr id="24" name="p22-footer"/>
          <p:cNvGrpSpPr/>
          <p:nvPr/>
        </p:nvGrpSpPr>
        <p:grpSpPr>
          <a:xfrm>
            <a:off x="451866" y="6254750"/>
            <a:ext cx="11288268" cy="205359"/>
            <a:chOff x="451866" y="6254750"/>
            <a:chExt cx="11288268" cy="205359"/>
          </a:xfrm>
        </p:grpSpPr>
        <p:sp>
          <p:nvSpPr>
            <p:cNvPr id="22" name="TextBox 22"/>
            <p:cNvSpPr txBox="1"/>
            <p:nvPr/>
          </p:nvSpPr>
          <p:spPr>
            <a:xfrm>
              <a:off x="451866" y="6254750"/>
              <a:ext cx="444908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最高检后来工作回顾；1982宪法第37条第三款、第39条（后者概述）。</a:t>
              </a:r>
            </a:p>
          </p:txBody>
        </p:sp>
        <p:sp>
          <p:nvSpPr>
            <p:cNvPr id="23" name="TextBox 23"/>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22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3-title"/>
          <p:cNvGrpSpPr/>
          <p:nvPr/>
        </p:nvGrpSpPr>
        <p:grpSpPr>
          <a:xfrm>
            <a:off x="441198" y="400050"/>
            <a:ext cx="7200900" cy="933577"/>
            <a:chOff x="441198" y="400050"/>
            <a:chExt cx="7200900" cy="933577"/>
          </a:xfrm>
        </p:grpSpPr>
        <p:sp>
          <p:nvSpPr>
            <p:cNvPr id="2" name="TextBox 2"/>
            <p:cNvSpPr txBox="1"/>
            <p:nvPr/>
          </p:nvSpPr>
          <p:spPr>
            <a:xfrm>
              <a:off x="451104" y="400050"/>
              <a:ext cx="181340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上节回看 · 改变观察尺度</a:t>
              </a:r>
            </a:p>
          </p:txBody>
        </p:sp>
        <p:sp>
          <p:nvSpPr>
            <p:cNvPr id="3" name="TextBox 3"/>
            <p:cNvSpPr txBox="1"/>
            <p:nvPr/>
          </p:nvSpPr>
          <p:spPr>
            <a:xfrm>
              <a:off x="441198" y="717550"/>
              <a:ext cx="720090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从完整文本，转向同一文本中的改动</a:t>
              </a:r>
            </a:p>
          </p:txBody>
        </p:sp>
      </p:grpSp>
      <p:grpSp>
        <p:nvGrpSpPr>
          <p:cNvPr id="7" name="p23-recovery"/>
          <p:cNvGrpSpPr/>
          <p:nvPr/>
        </p:nvGrpSpPr>
        <p:grpSpPr>
          <a:xfrm>
            <a:off x="438150" y="2143125"/>
            <a:ext cx="1772869" cy="1412494"/>
            <a:chOff x="438150" y="2143125"/>
            <a:chExt cx="1772869" cy="1412494"/>
          </a:xfrm>
        </p:grpSpPr>
        <p:sp>
          <p:nvSpPr>
            <p:cNvPr id="5" name="TextBox 5"/>
            <p:cNvSpPr txBox="1"/>
            <p:nvPr/>
          </p:nvSpPr>
          <p:spPr>
            <a:xfrm>
              <a:off x="438150" y="2143125"/>
              <a:ext cx="1531620"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恢复</a:t>
              </a:r>
            </a:p>
          </p:txBody>
        </p:sp>
        <p:sp>
          <p:nvSpPr>
            <p:cNvPr id="6" name="TextBox 6"/>
            <p:cNvSpPr txBox="1"/>
            <p:nvPr/>
          </p:nvSpPr>
          <p:spPr>
            <a:xfrm>
              <a:off x="448056" y="3203575"/>
              <a:ext cx="1762963"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1978：检察职责</a:t>
              </a:r>
            </a:p>
          </p:txBody>
        </p:sp>
      </p:grpSp>
      <p:grpSp>
        <p:nvGrpSpPr>
          <p:cNvPr id="10" name="p23-continuation"/>
          <p:cNvGrpSpPr/>
          <p:nvPr/>
        </p:nvGrpSpPr>
        <p:grpSpPr>
          <a:xfrm>
            <a:off x="3943350" y="2143125"/>
            <a:ext cx="1772869" cy="1412494"/>
            <a:chOff x="3943350" y="2143125"/>
            <a:chExt cx="1772869" cy="1412494"/>
          </a:xfrm>
        </p:grpSpPr>
        <p:sp>
          <p:nvSpPr>
            <p:cNvPr id="8" name="TextBox 8"/>
            <p:cNvSpPr txBox="1"/>
            <p:nvPr/>
          </p:nvSpPr>
          <p:spPr>
            <a:xfrm>
              <a:off x="3943350" y="2143125"/>
              <a:ext cx="1531620"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承接</a:t>
              </a:r>
            </a:p>
          </p:txBody>
        </p:sp>
        <p:sp>
          <p:nvSpPr>
            <p:cNvPr id="9" name="TextBox 9"/>
            <p:cNvSpPr txBox="1"/>
            <p:nvPr/>
          </p:nvSpPr>
          <p:spPr>
            <a:xfrm>
              <a:off x="3953256" y="3203575"/>
              <a:ext cx="1762963"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1982：相关分工</a:t>
              </a:r>
            </a:p>
          </p:txBody>
        </p:sp>
      </p:grpSp>
      <p:grpSp>
        <p:nvGrpSpPr>
          <p:cNvPr id="13" name="p23-expansion"/>
          <p:cNvGrpSpPr/>
          <p:nvPr/>
        </p:nvGrpSpPr>
        <p:grpSpPr>
          <a:xfrm>
            <a:off x="7753350" y="2143125"/>
            <a:ext cx="2015185" cy="1412494"/>
            <a:chOff x="7753350" y="2143125"/>
            <a:chExt cx="2015185" cy="1412494"/>
          </a:xfrm>
        </p:grpSpPr>
        <p:sp>
          <p:nvSpPr>
            <p:cNvPr id="11" name="TextBox 11"/>
            <p:cNvSpPr txBox="1"/>
            <p:nvPr/>
          </p:nvSpPr>
          <p:spPr>
            <a:xfrm>
              <a:off x="7753350" y="2143125"/>
              <a:ext cx="1531620"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展开</a:t>
              </a:r>
            </a:p>
          </p:txBody>
        </p:sp>
        <p:sp>
          <p:nvSpPr>
            <p:cNvPr id="12" name="TextBox 12"/>
            <p:cNvSpPr txBox="1"/>
            <p:nvPr/>
          </p:nvSpPr>
          <p:spPr>
            <a:xfrm>
              <a:off x="7763256" y="3203575"/>
              <a:ext cx="2005279"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1982：禁止性保障</a:t>
              </a:r>
            </a:p>
          </p:txBody>
        </p:sp>
      </p:grpSp>
      <p:grpSp>
        <p:nvGrpSpPr>
          <p:cNvPr id="17" name="p23-next-scale"/>
          <p:cNvGrpSpPr/>
          <p:nvPr/>
        </p:nvGrpSpPr>
        <p:grpSpPr>
          <a:xfrm>
            <a:off x="445008" y="4171950"/>
            <a:ext cx="11280267" cy="1355344"/>
            <a:chOff x="445008" y="4171950"/>
            <a:chExt cx="11280267" cy="1355344"/>
          </a:xfrm>
        </p:grpSpPr>
        <p:sp>
          <p:nvSpPr>
            <p:cNvPr id="14" name="Line 14"/>
            <p:cNvSpPr/>
            <p:nvPr/>
          </p:nvSpPr>
          <p:spPr>
            <a:xfrm>
              <a:off x="466725" y="4171950"/>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15" name="TextBox 15"/>
            <p:cNvSpPr txBox="1"/>
            <p:nvPr/>
          </p:nvSpPr>
          <p:spPr>
            <a:xfrm>
              <a:off x="445008" y="4464050"/>
              <a:ext cx="719328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下一节：同一土地条款，什么保留，什么改变？</a:t>
              </a:r>
            </a:p>
          </p:txBody>
        </p:sp>
        <p:sp>
          <p:nvSpPr>
            <p:cNvPr id="16" name="TextBox 16"/>
            <p:cNvSpPr txBox="1"/>
            <p:nvPr/>
          </p:nvSpPr>
          <p:spPr>
            <a:xfrm>
              <a:off x="448056" y="5175250"/>
              <a:ext cx="534924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不是重新颁布整部文本，而是修改其中部分规定。</a:t>
              </a:r>
            </a:p>
          </p:txBody>
        </p:sp>
      </p:grpSp>
      <p:grpSp>
        <p:nvGrpSpPr>
          <p:cNvPr id="19" name="p23-effect-boundary"/>
          <p:cNvGrpSpPr/>
          <p:nvPr/>
        </p:nvGrpSpPr>
        <p:grpSpPr>
          <a:xfrm>
            <a:off x="450342" y="5892800"/>
            <a:ext cx="4557141" cy="264033"/>
            <a:chOff x="450342" y="5892800"/>
            <a:chExt cx="4557141" cy="264033"/>
          </a:xfrm>
        </p:grpSpPr>
        <p:sp>
          <p:nvSpPr>
            <p:cNvPr id="18" name="TextBox 18"/>
            <p:cNvSpPr txBox="1"/>
            <p:nvPr/>
          </p:nvSpPr>
          <p:spPr>
            <a:xfrm>
              <a:off x="450342" y="5892800"/>
              <a:ext cx="4557141"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文字与职责已经可指认；运行怎样，仍须实际履职材料。</a:t>
              </a:r>
            </a:p>
          </p:txBody>
        </p:sp>
      </p:grpSp>
      <p:grpSp>
        <p:nvGrpSpPr>
          <p:cNvPr id="22" name="p23-footer"/>
          <p:cNvGrpSpPr/>
          <p:nvPr/>
        </p:nvGrpSpPr>
        <p:grpSpPr>
          <a:xfrm>
            <a:off x="451866" y="6254750"/>
            <a:ext cx="11288268" cy="205359"/>
            <a:chOff x="451866" y="6254750"/>
            <a:chExt cx="11288268" cy="205359"/>
          </a:xfrm>
        </p:grpSpPr>
        <p:sp>
          <p:nvSpPr>
            <p:cNvPr id="20" name="TextBox 20"/>
            <p:cNvSpPr txBox="1"/>
            <p:nvPr/>
          </p:nvSpPr>
          <p:spPr>
            <a:xfrm>
              <a:off x="451866" y="6254750"/>
              <a:ext cx="433600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1978、1982宪法相关条文及1979刑诉法。职责与运行效果分别检验。</a:t>
              </a:r>
            </a:p>
          </p:txBody>
        </p:sp>
        <p:sp>
          <p:nvSpPr>
            <p:cNvPr id="21" name="TextBox 21"/>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23 / 42</a:t>
              </a:r>
            </a:p>
          </p:txBody>
        </p:sp>
      </p:grpSp>
    </p:spTree>
  </p:cSld>
  <p:clrMapOvr>
    <a:masterClrMapping/>
  </p:clrMapOvr>
  <p:transition xmlns:p14="http://schemas.microsoft.com/office/powerpoint/2010/main" p14:dur="3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4-title"/>
          <p:cNvGrpSpPr/>
          <p:nvPr/>
        </p:nvGrpSpPr>
        <p:grpSpPr>
          <a:xfrm>
            <a:off x="441198" y="400050"/>
            <a:ext cx="4960620" cy="933577"/>
            <a:chOff x="441198" y="400050"/>
            <a:chExt cx="4960620" cy="933577"/>
          </a:xfrm>
        </p:grpSpPr>
        <p:sp>
          <p:nvSpPr>
            <p:cNvPr id="2" name="TextBox 2"/>
            <p:cNvSpPr txBox="1"/>
            <p:nvPr/>
          </p:nvSpPr>
          <p:spPr>
            <a:xfrm>
              <a:off x="451104" y="400050"/>
              <a:ext cx="229804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下节 · 同一部宪法怎样依法发展</a:t>
              </a:r>
            </a:p>
          </p:txBody>
        </p:sp>
        <p:sp>
          <p:nvSpPr>
            <p:cNvPr id="3" name="TextBox 3"/>
            <p:cNvSpPr txBox="1"/>
            <p:nvPr/>
          </p:nvSpPr>
          <p:spPr>
            <a:xfrm>
              <a:off x="441198" y="717550"/>
              <a:ext cx="496062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土地属于谁，与怎样使用</a:t>
              </a:r>
            </a:p>
          </p:txBody>
        </p:sp>
      </p:grpSp>
      <p:grpSp>
        <p:nvGrpSpPr>
          <p:cNvPr id="6" name="p24-recalled-question"/>
          <p:cNvGrpSpPr/>
          <p:nvPr/>
        </p:nvGrpSpPr>
        <p:grpSpPr>
          <a:xfrm>
            <a:off x="448056" y="1793875"/>
            <a:ext cx="6803136" cy="352044"/>
            <a:chOff x="448056" y="1793875"/>
            <a:chExt cx="6803136" cy="352044"/>
          </a:xfrm>
        </p:grpSpPr>
        <p:sp>
          <p:nvSpPr>
            <p:cNvPr id="5" name="TextBox 5"/>
            <p:cNvSpPr txBox="1"/>
            <p:nvPr/>
          </p:nvSpPr>
          <p:spPr>
            <a:xfrm>
              <a:off x="448056" y="1793875"/>
              <a:ext cx="68031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回到来信提出的两个对象：归属已经规定，合理使用仍须规定。</a:t>
              </a:r>
            </a:p>
          </p:txBody>
        </p:sp>
      </p:grpSp>
      <p:grpSp>
        <p:nvGrpSpPr>
          <p:cNvPr id="21" name="p24-one-object-two-relationships"/>
          <p:cNvGrpSpPr/>
          <p:nvPr/>
        </p:nvGrpSpPr>
        <p:grpSpPr>
          <a:xfrm>
            <a:off x="445008" y="2559050"/>
            <a:ext cx="10279380" cy="1765300"/>
            <a:chOff x="445008" y="2559050"/>
            <a:chExt cx="10279380" cy="1765300"/>
          </a:xfrm>
        </p:grpSpPr>
        <p:grpSp>
          <p:nvGrpSpPr>
            <p:cNvPr id="13" name="p24-relationship-labels"/>
            <p:cNvGrpSpPr/>
            <p:nvPr/>
          </p:nvGrpSpPr>
          <p:grpSpPr>
            <a:xfrm>
              <a:off x="445008" y="2559050"/>
              <a:ext cx="10279380" cy="1720469"/>
              <a:chOff x="445008" y="2559050"/>
              <a:chExt cx="10279380" cy="1720469"/>
            </a:xfrm>
          </p:grpSpPr>
          <p:sp>
            <p:nvSpPr>
              <p:cNvPr id="7" name="TextBox 7"/>
              <p:cNvSpPr txBox="1"/>
              <p:nvPr/>
            </p:nvSpPr>
            <p:spPr>
              <a:xfrm>
                <a:off x="445008" y="2559050"/>
                <a:ext cx="10485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所有权</a:t>
                </a:r>
              </a:p>
            </p:txBody>
          </p:sp>
          <p:sp>
            <p:nvSpPr>
              <p:cNvPr id="8" name="TextBox 8"/>
              <p:cNvSpPr txBox="1"/>
              <p:nvPr/>
            </p:nvSpPr>
            <p:spPr>
              <a:xfrm>
                <a:off x="445770" y="3263900"/>
                <a:ext cx="62865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国家</a:t>
                </a:r>
              </a:p>
            </p:txBody>
          </p:sp>
          <p:sp>
            <p:nvSpPr>
              <p:cNvPr id="9" name="TextBox 9"/>
              <p:cNvSpPr txBox="1"/>
              <p:nvPr/>
            </p:nvSpPr>
            <p:spPr>
              <a:xfrm>
                <a:off x="448056" y="3927475"/>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回答土地归谁</a:t>
                </a:r>
              </a:p>
            </p:txBody>
          </p:sp>
          <p:sp>
            <p:nvSpPr>
              <p:cNvPr id="10" name="TextBox 10"/>
              <p:cNvSpPr txBox="1"/>
              <p:nvPr/>
            </p:nvSpPr>
            <p:spPr>
              <a:xfrm>
                <a:off x="8522208" y="2559050"/>
                <a:ext cx="10485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使用权</a:t>
                </a:r>
              </a:p>
            </p:txBody>
          </p:sp>
          <p:sp>
            <p:nvSpPr>
              <p:cNvPr id="11" name="TextBox 11"/>
              <p:cNvSpPr txBox="1"/>
              <p:nvPr/>
            </p:nvSpPr>
            <p:spPr>
              <a:xfrm>
                <a:off x="8522970" y="3263900"/>
                <a:ext cx="123444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有关主体</a:t>
                </a:r>
              </a:p>
            </p:txBody>
          </p:sp>
          <p:sp>
            <p:nvSpPr>
              <p:cNvPr id="12" name="TextBox 12"/>
              <p:cNvSpPr txBox="1"/>
              <p:nvPr/>
            </p:nvSpPr>
            <p:spPr>
              <a:xfrm>
                <a:off x="8525256" y="3927475"/>
                <a:ext cx="21991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在什么条件下利用？</a:t>
                </a:r>
              </a:p>
            </p:txBody>
          </p:sp>
        </p:grpSp>
        <p:sp>
          <p:nvSpPr>
            <p:cNvPr id="14" name="Rectangle 14"/>
            <p:cNvSpPr/>
            <p:nvPr/>
          </p:nvSpPr>
          <p:spPr>
            <a:xfrm>
              <a:off x="4286250" y="2800350"/>
              <a:ext cx="3581400" cy="1524000"/>
            </a:xfrm>
            <a:prstGeom prst="rect">
              <a:avLst/>
            </a:prstGeom>
            <a:solidFill>
              <a:schemeClr val="lt2"/>
            </a:solidFill>
            <a:ln>
              <a:noFill/>
            </a:ln>
          </p:spPr>
        </p:sp>
        <p:grpSp>
          <p:nvGrpSpPr>
            <p:cNvPr id="17" name="p24-land-identity"/>
            <p:cNvGrpSpPr/>
            <p:nvPr/>
          </p:nvGrpSpPr>
          <p:grpSpPr>
            <a:xfrm>
              <a:off x="4503420" y="3054350"/>
              <a:ext cx="2744343" cy="902208"/>
              <a:chOff x="4503420" y="3054350"/>
              <a:chExt cx="2744343" cy="902208"/>
            </a:xfrm>
          </p:grpSpPr>
          <p:sp>
            <p:nvSpPr>
              <p:cNvPr id="15" name="TextBox 15"/>
              <p:cNvSpPr txBox="1"/>
              <p:nvPr/>
            </p:nvSpPr>
            <p:spPr>
              <a:xfrm>
                <a:off x="4503420" y="3054350"/>
                <a:ext cx="184023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同一城市土地</a:t>
                </a:r>
              </a:p>
            </p:txBody>
          </p:sp>
          <p:sp>
            <p:nvSpPr>
              <p:cNvPr id="16" name="TextBox 16"/>
              <p:cNvSpPr txBox="1"/>
              <p:nvPr/>
            </p:nvSpPr>
            <p:spPr>
              <a:xfrm>
                <a:off x="4507992" y="3692525"/>
                <a:ext cx="27397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使用者变化，不等于所有权转走。</a:t>
                </a:r>
              </a:p>
            </p:txBody>
          </p:sp>
        </p:grpSp>
        <p:sp>
          <p:nvSpPr>
            <p:cNvPr id="18" name="Line 18"/>
            <p:cNvSpPr/>
            <p:nvPr/>
          </p:nvSpPr>
          <p:spPr>
            <a:xfrm>
              <a:off x="2152650" y="3457575"/>
              <a:ext cx="1962150" cy="9525"/>
            </a:xfrm>
            <a:custGeom>
              <a:avLst/>
              <a:gdLst/>
              <a:ahLst/>
              <a:cxnLst/>
              <a:rect l="l" t="t" r="r" b="b"/>
              <a:pathLst>
                <a:path w="1962150" h="9525">
                  <a:moveTo>
                    <a:pt x="0" y="0"/>
                  </a:moveTo>
                  <a:lnTo>
                    <a:pt x="1962150" y="0"/>
                  </a:lnTo>
                </a:path>
              </a:pathLst>
            </a:custGeom>
            <a:noFill/>
            <a:ln w="19050">
              <a:solidFill>
                <a:schemeClr val="accent1"/>
              </a:solidFill>
            </a:ln>
          </p:spPr>
        </p:sp>
        <p:sp>
          <p:nvSpPr>
            <p:cNvPr id="19" name="TextBox 19"/>
            <p:cNvSpPr txBox="1"/>
            <p:nvPr/>
          </p:nvSpPr>
          <p:spPr>
            <a:xfrm>
              <a:off x="2717292" y="3063875"/>
              <a:ext cx="37719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归属</a:t>
              </a:r>
            </a:p>
          </p:txBody>
        </p:sp>
        <p:sp>
          <p:nvSpPr>
            <p:cNvPr id="20" name="Line 20"/>
            <p:cNvSpPr/>
            <p:nvPr/>
          </p:nvSpPr>
          <p:spPr>
            <a:xfrm>
              <a:off x="8039100" y="3457575"/>
              <a:ext cx="342900" cy="9525"/>
            </a:xfrm>
            <a:custGeom>
              <a:avLst/>
              <a:gdLst/>
              <a:ahLst/>
              <a:cxnLst/>
              <a:rect l="l" t="t" r="r" b="b"/>
              <a:pathLst>
                <a:path w="342900" h="9525">
                  <a:moveTo>
                    <a:pt x="0" y="0"/>
                  </a:moveTo>
                  <a:lnTo>
                    <a:pt x="342900" y="0"/>
                  </a:lnTo>
                </a:path>
              </a:pathLst>
            </a:custGeom>
            <a:noFill/>
            <a:ln w="19050">
              <a:solidFill>
                <a:schemeClr val="accent1"/>
              </a:solidFill>
            </a:ln>
          </p:spPr>
        </p:sp>
      </p:grpSp>
      <p:grpSp>
        <p:nvGrpSpPr>
          <p:cNvPr id="25" name="p24-transfer-question"/>
          <p:cNvGrpSpPr/>
          <p:nvPr/>
        </p:nvGrpSpPr>
        <p:grpSpPr>
          <a:xfrm>
            <a:off x="445770" y="4981575"/>
            <a:ext cx="11279505" cy="1098169"/>
            <a:chOff x="445770" y="4981575"/>
            <a:chExt cx="11279505" cy="1098169"/>
          </a:xfrm>
        </p:grpSpPr>
        <p:sp>
          <p:nvSpPr>
            <p:cNvPr id="22" name="Line 22"/>
            <p:cNvSpPr/>
            <p:nvPr/>
          </p:nvSpPr>
          <p:spPr>
            <a:xfrm>
              <a:off x="466725" y="4981575"/>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23" name="TextBox 23"/>
            <p:cNvSpPr txBox="1"/>
            <p:nvPr/>
          </p:nvSpPr>
          <p:spPr>
            <a:xfrm>
              <a:off x="445770" y="5168900"/>
              <a:ext cx="517207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取得使用权后，能否出租、转给别人？</a:t>
              </a:r>
            </a:p>
          </p:txBody>
        </p:sp>
        <p:sp>
          <p:nvSpPr>
            <p:cNvPr id="24" name="TextBox 24"/>
            <p:cNvSpPr txBox="1"/>
            <p:nvPr/>
          </p:nvSpPr>
          <p:spPr>
            <a:xfrm>
              <a:off x="448056" y="5727700"/>
              <a:ext cx="635485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取得使用权 ≠ 取得所有权，也不等于可以任意处分使用权。</a:t>
              </a:r>
            </a:p>
          </p:txBody>
        </p:sp>
      </p:grpSp>
      <p:grpSp>
        <p:nvGrpSpPr>
          <p:cNvPr id="28" name="p24-footer"/>
          <p:cNvGrpSpPr/>
          <p:nvPr/>
        </p:nvGrpSpPr>
        <p:grpSpPr>
          <a:xfrm>
            <a:off x="451866" y="6254750"/>
            <a:ext cx="11288268" cy="205359"/>
            <a:chOff x="451866" y="6254750"/>
            <a:chExt cx="11288268" cy="205359"/>
          </a:xfrm>
        </p:grpSpPr>
        <p:sp>
          <p:nvSpPr>
            <p:cNvPr id="26" name="TextBox 26"/>
            <p:cNvSpPr txBox="1"/>
            <p:nvPr/>
          </p:nvSpPr>
          <p:spPr>
            <a:xfrm>
              <a:off x="451866" y="6254750"/>
              <a:ext cx="384128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宪法第10条相关问题的课堂示意：所有、使用与处分须分清。</a:t>
              </a:r>
            </a:p>
          </p:txBody>
        </p:sp>
        <p:sp>
          <p:nvSpPr>
            <p:cNvPr id="27" name="TextBox 27"/>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24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25-title"/>
          <p:cNvGrpSpPr/>
          <p:nvPr/>
        </p:nvGrpSpPr>
        <p:grpSpPr>
          <a:xfrm>
            <a:off x="441198" y="387350"/>
            <a:ext cx="11300460" cy="946277"/>
            <a:chOff x="441198" y="387350"/>
            <a:chExt cx="11300460" cy="946277"/>
          </a:xfrm>
        </p:grpSpPr>
        <p:sp>
          <p:nvSpPr>
            <p:cNvPr id="2" name="TextBox 2"/>
            <p:cNvSpPr txBox="1"/>
            <p:nvPr/>
          </p:nvSpPr>
          <p:spPr>
            <a:xfrm>
              <a:off x="451104" y="400050"/>
              <a:ext cx="134493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第10条 · 原文对读</a:t>
              </a:r>
            </a:p>
          </p:txBody>
        </p:sp>
        <p:sp>
          <p:nvSpPr>
            <p:cNvPr id="3" name="TextBox 3"/>
            <p:cNvSpPr txBox="1"/>
            <p:nvPr/>
          </p:nvSpPr>
          <p:spPr>
            <a:xfrm>
              <a:off x="9810617" y="387350"/>
              <a:ext cx="1931041"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独立阅读与思考约3分钟</a:t>
              </a:r>
            </a:p>
          </p:txBody>
        </p:sp>
        <p:sp>
          <p:nvSpPr>
            <p:cNvPr id="4" name="TextBox 4"/>
            <p:cNvSpPr txBox="1"/>
            <p:nvPr/>
          </p:nvSpPr>
          <p:spPr>
            <a:xfrm>
              <a:off x="441198" y="717550"/>
              <a:ext cx="675284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少了什么，多了什么，什么没变？</a:t>
              </a:r>
            </a:p>
          </p:txBody>
        </p:sp>
      </p:grpSp>
      <p:grpSp>
        <p:nvGrpSpPr>
          <p:cNvPr id="8" name="p25-common-first-paragraph"/>
          <p:cNvGrpSpPr/>
          <p:nvPr/>
        </p:nvGrpSpPr>
        <p:grpSpPr>
          <a:xfrm>
            <a:off x="445770" y="1825625"/>
            <a:ext cx="3990784" cy="754380"/>
            <a:chOff x="445770" y="1825625"/>
            <a:chExt cx="3990784" cy="754380"/>
          </a:xfrm>
        </p:grpSpPr>
        <p:sp>
          <p:nvSpPr>
            <p:cNvPr id="6" name="TextBox 6"/>
            <p:cNvSpPr txBox="1"/>
            <p:nvPr/>
          </p:nvSpPr>
          <p:spPr>
            <a:xfrm>
              <a:off x="450342" y="1825625"/>
              <a:ext cx="167661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第一款 · 两版都保留</a:t>
              </a:r>
            </a:p>
          </p:txBody>
        </p:sp>
        <p:sp>
          <p:nvSpPr>
            <p:cNvPr id="7" name="TextBox 7"/>
            <p:cNvSpPr txBox="1"/>
            <p:nvPr/>
          </p:nvSpPr>
          <p:spPr>
            <a:xfrm>
              <a:off x="445770" y="2139950"/>
              <a:ext cx="3990784"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“城市的土地属于国家所有。”</a:t>
              </a:r>
            </a:p>
          </p:txBody>
        </p:sp>
      </p:grpSp>
      <p:grpSp>
        <p:nvGrpSpPr>
          <p:cNvPr id="11" name="p25-old-fourth-paragraph"/>
          <p:cNvGrpSpPr/>
          <p:nvPr/>
        </p:nvGrpSpPr>
        <p:grpSpPr>
          <a:xfrm>
            <a:off x="445008" y="2914650"/>
            <a:ext cx="3804666" cy="1269619"/>
            <a:chOff x="445008" y="2914650"/>
            <a:chExt cx="3804666" cy="1269619"/>
          </a:xfrm>
        </p:grpSpPr>
        <p:sp>
          <p:nvSpPr>
            <p:cNvPr id="9" name="TextBox 9"/>
            <p:cNvSpPr txBox="1"/>
            <p:nvPr/>
          </p:nvSpPr>
          <p:spPr>
            <a:xfrm>
              <a:off x="445008" y="2914650"/>
              <a:ext cx="219212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1982 · 第四款</a:t>
              </a:r>
            </a:p>
          </p:txBody>
        </p:sp>
        <p:sp>
          <p:nvSpPr>
            <p:cNvPr id="10" name="TextBox 10"/>
            <p:cNvSpPr txBox="1"/>
            <p:nvPr/>
          </p:nvSpPr>
          <p:spPr>
            <a:xfrm>
              <a:off x="448056" y="3508375"/>
              <a:ext cx="380161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“任何组织或者个人不得侵占、买卖、</a:t>
              </a:r>
              <a:br>
                <a:rPr lang="zh-CN" sz="1800" dirty="0">
                  <a:solidFill>
                    <a:schemeClr val="dk1"/>
                  </a:solidFill>
                  <a:latin typeface="+mn-lt"/>
                  <a:ea typeface="+mn-ea"/>
                  <a:cs typeface="+mn-cs"/>
                </a:rPr>
              </a:br>
              <a:r>
                <a:rPr lang="zh-CN" sz="1800" dirty="0">
                  <a:solidFill>
                    <a:schemeClr val="dk1"/>
                  </a:solidFill>
                  <a:latin typeface="+mn-lt"/>
                  <a:ea typeface="+mn-ea"/>
                  <a:cs typeface="+mn-cs"/>
                </a:rPr>
                <a:t>出租或者以其他形式非法转让土地。”</a:t>
              </a:r>
            </a:p>
          </p:txBody>
        </p:sp>
      </p:grpSp>
      <p:grpSp>
        <p:nvGrpSpPr>
          <p:cNvPr id="14" name="p25-new-fourth-paragraph"/>
          <p:cNvGrpSpPr/>
          <p:nvPr/>
        </p:nvGrpSpPr>
        <p:grpSpPr>
          <a:xfrm>
            <a:off x="6236208" y="2914650"/>
            <a:ext cx="3576066" cy="2041144"/>
            <a:chOff x="6236208" y="2914650"/>
            <a:chExt cx="3576066" cy="2041144"/>
          </a:xfrm>
        </p:grpSpPr>
        <p:sp>
          <p:nvSpPr>
            <p:cNvPr id="12" name="TextBox 12"/>
            <p:cNvSpPr txBox="1"/>
            <p:nvPr/>
          </p:nvSpPr>
          <p:spPr>
            <a:xfrm>
              <a:off x="6236208" y="2914650"/>
              <a:ext cx="321625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1988修正后 · 第四款</a:t>
              </a:r>
            </a:p>
          </p:txBody>
        </p:sp>
        <p:sp>
          <p:nvSpPr>
            <p:cNvPr id="13" name="TextBox 13"/>
            <p:cNvSpPr txBox="1"/>
            <p:nvPr/>
          </p:nvSpPr>
          <p:spPr>
            <a:xfrm>
              <a:off x="6239256" y="3508375"/>
              <a:ext cx="3573018" cy="1447419"/>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“任何组织或者个人不得侵占、买卖</a:t>
              </a:r>
              <a:br>
                <a:rPr lang="zh-CN" sz="1800" dirty="0">
                  <a:solidFill>
                    <a:schemeClr val="dk1"/>
                  </a:solidFill>
                  <a:latin typeface="+mn-lt"/>
                  <a:ea typeface="+mn-ea"/>
                  <a:cs typeface="+mn-cs"/>
                </a:rPr>
              </a:br>
              <a:r>
                <a:rPr lang="zh-CN" sz="1800" dirty="0">
                  <a:solidFill>
                    <a:schemeClr val="dk1"/>
                  </a:solidFill>
                  <a:latin typeface="+mn-lt"/>
                  <a:ea typeface="+mn-ea"/>
                  <a:cs typeface="+mn-cs"/>
                </a:rPr>
                <a:t>或者以其他形式非法转让土地。</a:t>
              </a:r>
            </a:p>
            <a:p>
              <a:pPr algn="l">
                <a:lnSpc>
                  <a:spcPts val="2550"/>
                </a:lnSpc>
                <a:spcBef>
                  <a:spcPts val="975"/>
                </a:spcBef>
              </a:pPr>
              <a:r>
                <a:rPr lang="zh-CN" sz="1800" dirty="0">
                  <a:solidFill>
                    <a:schemeClr val="dk1"/>
                  </a:solidFill>
                  <a:latin typeface="+mn-lt"/>
                  <a:ea typeface="+mn-ea"/>
                  <a:cs typeface="+mn-cs"/>
                </a:rPr>
                <a:t>土地的使用权可以依照法律的</a:t>
              </a:r>
              <a:br>
                <a:rPr lang="zh-CN" sz="1800" dirty="0">
                  <a:solidFill>
                    <a:schemeClr val="dk1"/>
                  </a:solidFill>
                  <a:latin typeface="+mn-lt"/>
                  <a:ea typeface="+mn-ea"/>
                  <a:cs typeface="+mn-cs"/>
                </a:rPr>
              </a:br>
              <a:r>
                <a:rPr lang="zh-CN" sz="1800" dirty="0">
                  <a:solidFill>
                    <a:schemeClr val="dk1"/>
                  </a:solidFill>
                  <a:latin typeface="+mn-lt"/>
                  <a:ea typeface="+mn-ea"/>
                  <a:cs typeface="+mn-cs"/>
                </a:rPr>
                <a:t>规定转让。”</a:t>
              </a:r>
            </a:p>
          </p:txBody>
        </p:sp>
      </p:grpSp>
      <p:grpSp>
        <p:nvGrpSpPr>
          <p:cNvPr id="17" name="p25-reading-task"/>
          <p:cNvGrpSpPr/>
          <p:nvPr/>
        </p:nvGrpSpPr>
        <p:grpSpPr>
          <a:xfrm>
            <a:off x="448056" y="5505450"/>
            <a:ext cx="11277219" cy="536194"/>
            <a:chOff x="448056" y="5505450"/>
            <a:chExt cx="11277219" cy="536194"/>
          </a:xfrm>
        </p:grpSpPr>
        <p:sp>
          <p:nvSpPr>
            <p:cNvPr id="15" name="Line 15"/>
            <p:cNvSpPr/>
            <p:nvPr/>
          </p:nvSpPr>
          <p:spPr>
            <a:xfrm>
              <a:off x="466725" y="5505450"/>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16" name="TextBox 16"/>
            <p:cNvSpPr txBox="1"/>
            <p:nvPr/>
          </p:nvSpPr>
          <p:spPr>
            <a:xfrm>
              <a:off x="448056" y="5689600"/>
              <a:ext cx="82570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对读旧、新第四款，再带上保留的第一款；用一段话解释对象、基础和条件。</a:t>
              </a:r>
            </a:p>
          </p:txBody>
        </p:sp>
      </p:grpSp>
      <p:grpSp>
        <p:nvGrpSpPr>
          <p:cNvPr id="20" name="p25-footer"/>
          <p:cNvGrpSpPr/>
          <p:nvPr/>
        </p:nvGrpSpPr>
        <p:grpSpPr>
          <a:xfrm>
            <a:off x="451866" y="6254750"/>
            <a:ext cx="11288268" cy="205359"/>
            <a:chOff x="451866" y="6254750"/>
            <a:chExt cx="11288268" cy="205359"/>
          </a:xfrm>
        </p:grpSpPr>
        <p:sp>
          <p:nvSpPr>
            <p:cNvPr id="18" name="TextBox 18"/>
            <p:cNvSpPr txBox="1"/>
            <p:nvPr/>
          </p:nvSpPr>
          <p:spPr>
            <a:xfrm>
              <a:off x="451866" y="6254750"/>
              <a:ext cx="403917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1982宪法第10条第一、四款；1988修正后的第四款。原文对读。</a:t>
              </a:r>
            </a:p>
          </p:txBody>
        </p:sp>
        <p:sp>
          <p:nvSpPr>
            <p:cNvPr id="19" name="TextBox 19"/>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25 / 42</a:t>
              </a:r>
            </a:p>
          </p:txBody>
        </p:sp>
      </p:grpSp>
    </p:spTree>
  </p:cSld>
  <p:clrMapOvr>
    <a:masterClrMapping/>
  </p:clrMapOvr>
  <p:transition xmlns:p14="http://schemas.microsoft.com/office/powerpoint/2010/main" p14:dur="3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6-title"/>
          <p:cNvGrpSpPr/>
          <p:nvPr/>
        </p:nvGrpSpPr>
        <p:grpSpPr>
          <a:xfrm>
            <a:off x="441198" y="400050"/>
            <a:ext cx="5856732" cy="933577"/>
            <a:chOff x="441198" y="400050"/>
            <a:chExt cx="5856732" cy="933577"/>
          </a:xfrm>
        </p:grpSpPr>
        <p:sp>
          <p:nvSpPr>
            <p:cNvPr id="2" name="TextBox 2"/>
            <p:cNvSpPr txBox="1"/>
            <p:nvPr/>
          </p:nvSpPr>
          <p:spPr>
            <a:xfrm>
              <a:off x="451104" y="400050"/>
              <a:ext cx="166801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第10条 · 阅读后的讲评</a:t>
              </a:r>
            </a:p>
          </p:txBody>
        </p:sp>
        <p:sp>
          <p:nvSpPr>
            <p:cNvPr id="3" name="TextBox 3"/>
            <p:cNvSpPr txBox="1"/>
            <p:nvPr/>
          </p:nvSpPr>
          <p:spPr>
            <a:xfrm>
              <a:off x="441198" y="717550"/>
              <a:ext cx="585673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国家所有保留，流转仍有条件</a:t>
              </a:r>
            </a:p>
          </p:txBody>
        </p:sp>
      </p:grpSp>
      <p:grpSp>
        <p:nvGrpSpPr>
          <p:cNvPr id="7" name="p26-common-first-paragraph"/>
          <p:cNvGrpSpPr/>
          <p:nvPr/>
        </p:nvGrpSpPr>
        <p:grpSpPr>
          <a:xfrm>
            <a:off x="445770" y="1825625"/>
            <a:ext cx="3990784" cy="754380"/>
            <a:chOff x="445770" y="1825625"/>
            <a:chExt cx="3990784" cy="754380"/>
          </a:xfrm>
        </p:grpSpPr>
        <p:sp>
          <p:nvSpPr>
            <p:cNvPr id="5" name="TextBox 5"/>
            <p:cNvSpPr txBox="1"/>
            <p:nvPr/>
          </p:nvSpPr>
          <p:spPr>
            <a:xfrm>
              <a:off x="450342" y="1825625"/>
              <a:ext cx="167661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第一款 · 两版都保留</a:t>
              </a:r>
            </a:p>
          </p:txBody>
        </p:sp>
        <p:sp>
          <p:nvSpPr>
            <p:cNvPr id="6" name="TextBox 6"/>
            <p:cNvSpPr txBox="1"/>
            <p:nvPr/>
          </p:nvSpPr>
          <p:spPr>
            <a:xfrm>
              <a:off x="445770" y="2139950"/>
              <a:ext cx="3990784"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“城市的土地属于国家所有。”</a:t>
              </a:r>
            </a:p>
          </p:txBody>
        </p:sp>
      </p:grpSp>
      <p:grpSp>
        <p:nvGrpSpPr>
          <p:cNvPr id="10" name="p26-old-fourth-paragraph"/>
          <p:cNvGrpSpPr/>
          <p:nvPr/>
        </p:nvGrpSpPr>
        <p:grpSpPr>
          <a:xfrm>
            <a:off x="445008" y="2914650"/>
            <a:ext cx="3804666" cy="1269619"/>
            <a:chOff x="445008" y="2914650"/>
            <a:chExt cx="3804666" cy="1269619"/>
          </a:xfrm>
        </p:grpSpPr>
        <p:sp>
          <p:nvSpPr>
            <p:cNvPr id="8" name="TextBox 8"/>
            <p:cNvSpPr txBox="1"/>
            <p:nvPr/>
          </p:nvSpPr>
          <p:spPr>
            <a:xfrm>
              <a:off x="445008" y="2914650"/>
              <a:ext cx="219212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1982 · 第四款</a:t>
              </a:r>
            </a:p>
          </p:txBody>
        </p:sp>
        <p:sp>
          <p:nvSpPr>
            <p:cNvPr id="9" name="TextBox 9"/>
            <p:cNvSpPr txBox="1"/>
            <p:nvPr/>
          </p:nvSpPr>
          <p:spPr>
            <a:xfrm>
              <a:off x="448056" y="3508375"/>
              <a:ext cx="380161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“任何组织或者个人不得侵占、买卖、</a:t>
              </a:r>
              <a:br>
                <a:rPr lang="zh-CN" sz="1800" dirty="0">
                  <a:solidFill>
                    <a:schemeClr val="dk1"/>
                  </a:solidFill>
                  <a:latin typeface="+mn-lt"/>
                  <a:ea typeface="+mn-ea"/>
                  <a:cs typeface="+mn-cs"/>
                </a:rPr>
              </a:br>
              <a:r>
                <a:rPr lang="zh-CN" sz="1800" dirty="0">
                  <a:solidFill>
                    <a:schemeClr val="dk1"/>
                  </a:solidFill>
                  <a:latin typeface="+mn-lt"/>
                  <a:ea typeface="+mn-ea"/>
                  <a:cs typeface="+mn-cs"/>
                </a:rPr>
                <a:t>出租或者以其他形式非法转让土地。”</a:t>
              </a:r>
            </a:p>
          </p:txBody>
        </p:sp>
      </p:grpSp>
      <p:grpSp>
        <p:nvGrpSpPr>
          <p:cNvPr id="13" name="p26-new-fourth-paragraph"/>
          <p:cNvGrpSpPr/>
          <p:nvPr/>
        </p:nvGrpSpPr>
        <p:grpSpPr>
          <a:xfrm>
            <a:off x="6236208" y="2914650"/>
            <a:ext cx="3576066" cy="2041144"/>
            <a:chOff x="6236208" y="2914650"/>
            <a:chExt cx="3576066" cy="2041144"/>
          </a:xfrm>
        </p:grpSpPr>
        <p:sp>
          <p:nvSpPr>
            <p:cNvPr id="11" name="TextBox 11"/>
            <p:cNvSpPr txBox="1"/>
            <p:nvPr/>
          </p:nvSpPr>
          <p:spPr>
            <a:xfrm>
              <a:off x="6236208" y="2914650"/>
              <a:ext cx="321625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1988修正后 · 第四款</a:t>
              </a:r>
            </a:p>
          </p:txBody>
        </p:sp>
        <p:sp>
          <p:nvSpPr>
            <p:cNvPr id="12" name="TextBox 12"/>
            <p:cNvSpPr txBox="1"/>
            <p:nvPr/>
          </p:nvSpPr>
          <p:spPr>
            <a:xfrm>
              <a:off x="6239256" y="3508375"/>
              <a:ext cx="3573018" cy="1447419"/>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“任何组织或者个人不得侵占、买卖</a:t>
              </a:r>
              <a:br>
                <a:rPr lang="zh-CN" sz="1800" dirty="0">
                  <a:solidFill>
                    <a:schemeClr val="dk1"/>
                  </a:solidFill>
                  <a:latin typeface="+mn-lt"/>
                  <a:ea typeface="+mn-ea"/>
                  <a:cs typeface="+mn-cs"/>
                </a:rPr>
              </a:br>
              <a:r>
                <a:rPr lang="zh-CN" sz="1800" dirty="0">
                  <a:solidFill>
                    <a:schemeClr val="dk1"/>
                  </a:solidFill>
                  <a:latin typeface="+mn-lt"/>
                  <a:ea typeface="+mn-ea"/>
                  <a:cs typeface="+mn-cs"/>
                </a:rPr>
                <a:t>或者以其他形式非法转让土地。</a:t>
              </a:r>
            </a:p>
            <a:p>
              <a:pPr algn="l">
                <a:lnSpc>
                  <a:spcPts val="2550"/>
                </a:lnSpc>
                <a:spcBef>
                  <a:spcPts val="975"/>
                </a:spcBef>
              </a:pPr>
              <a:r>
                <a:rPr lang="zh-CN" sz="1800" dirty="0">
                  <a:solidFill>
                    <a:schemeClr val="dk1"/>
                  </a:solidFill>
                  <a:latin typeface="+mn-lt"/>
                  <a:ea typeface="+mn-ea"/>
                  <a:cs typeface="+mn-cs"/>
                </a:rPr>
                <a:t>土地的使用权可以依照法律的</a:t>
              </a:r>
              <a:br>
                <a:rPr lang="zh-CN" sz="1800" dirty="0">
                  <a:solidFill>
                    <a:schemeClr val="dk1"/>
                  </a:solidFill>
                  <a:latin typeface="+mn-lt"/>
                  <a:ea typeface="+mn-ea"/>
                  <a:cs typeface="+mn-cs"/>
                </a:rPr>
              </a:br>
              <a:r>
                <a:rPr lang="zh-CN" sz="1800" dirty="0">
                  <a:solidFill>
                    <a:schemeClr val="dk1"/>
                  </a:solidFill>
                  <a:latin typeface="+mn-lt"/>
                  <a:ea typeface="+mn-ea"/>
                  <a:cs typeface="+mn-cs"/>
                </a:rPr>
                <a:t>规定转让。”</a:t>
              </a:r>
            </a:p>
          </p:txBody>
        </p:sp>
      </p:grpSp>
      <p:grpSp>
        <p:nvGrpSpPr>
          <p:cNvPr id="17" name="p26-actual-change"/>
          <p:cNvGrpSpPr/>
          <p:nvPr/>
        </p:nvGrpSpPr>
        <p:grpSpPr>
          <a:xfrm>
            <a:off x="445770" y="5330825"/>
            <a:ext cx="10226040" cy="440055"/>
            <a:chOff x="445770" y="5330825"/>
            <a:chExt cx="10226040" cy="440055"/>
          </a:xfrm>
        </p:grpSpPr>
        <p:sp>
          <p:nvSpPr>
            <p:cNvPr id="14" name="TextBox 14"/>
            <p:cNvSpPr txBox="1"/>
            <p:nvPr/>
          </p:nvSpPr>
          <p:spPr>
            <a:xfrm>
              <a:off x="445770" y="5330825"/>
              <a:ext cx="1264730"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删“出租”</a:t>
              </a:r>
            </a:p>
          </p:txBody>
        </p:sp>
        <p:sp>
          <p:nvSpPr>
            <p:cNvPr id="15" name="TextBox 15"/>
            <p:cNvSpPr txBox="1"/>
            <p:nvPr/>
          </p:nvSpPr>
          <p:spPr>
            <a:xfrm>
              <a:off x="3703320" y="5330825"/>
              <a:ext cx="2748915"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加：使用权依法转让</a:t>
              </a:r>
            </a:p>
          </p:txBody>
        </p:sp>
        <p:sp>
          <p:nvSpPr>
            <p:cNvPr id="16" name="TextBox 16"/>
            <p:cNvSpPr txBox="1"/>
            <p:nvPr/>
          </p:nvSpPr>
          <p:spPr>
            <a:xfrm>
              <a:off x="9437370" y="5330825"/>
              <a:ext cx="1234440"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国有保留</a:t>
              </a:r>
            </a:p>
          </p:txBody>
        </p:sp>
      </p:grpSp>
      <p:grpSp>
        <p:nvGrpSpPr>
          <p:cNvPr id="20" name="p26-legal-condition"/>
          <p:cNvGrpSpPr/>
          <p:nvPr/>
        </p:nvGrpSpPr>
        <p:grpSpPr>
          <a:xfrm>
            <a:off x="448056" y="5870575"/>
            <a:ext cx="11293602" cy="352044"/>
            <a:chOff x="448056" y="5870575"/>
            <a:chExt cx="11293602" cy="352044"/>
          </a:xfrm>
        </p:grpSpPr>
        <p:sp>
          <p:nvSpPr>
            <p:cNvPr id="18" name="TextBox 18"/>
            <p:cNvSpPr txBox="1"/>
            <p:nvPr/>
          </p:nvSpPr>
          <p:spPr>
            <a:xfrm>
              <a:off x="448056" y="5870575"/>
              <a:ext cx="610042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“依照法律的规定”：谁取得、能否再转、义务仍需制度。</a:t>
              </a:r>
            </a:p>
          </p:txBody>
        </p:sp>
        <p:sp>
          <p:nvSpPr>
            <p:cNvPr id="19" name="TextBox 19"/>
            <p:cNvSpPr txBox="1"/>
            <p:nvPr/>
          </p:nvSpPr>
          <p:spPr>
            <a:xfrm>
              <a:off x="9874225" y="5921375"/>
              <a:ext cx="1867433"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1988才有权利区分吗？</a:t>
              </a:r>
            </a:p>
          </p:txBody>
        </p:sp>
      </p:grpSp>
      <p:grpSp>
        <p:nvGrpSpPr>
          <p:cNvPr id="23" name="p26-footer"/>
          <p:cNvGrpSpPr/>
          <p:nvPr/>
        </p:nvGrpSpPr>
        <p:grpSpPr>
          <a:xfrm>
            <a:off x="451866" y="6254750"/>
            <a:ext cx="11288268" cy="205359"/>
            <a:chOff x="451866" y="6254750"/>
            <a:chExt cx="11288268" cy="205359"/>
          </a:xfrm>
        </p:grpSpPr>
        <p:sp>
          <p:nvSpPr>
            <p:cNvPr id="21" name="TextBox 21"/>
            <p:cNvSpPr txBox="1"/>
            <p:nvPr/>
          </p:nvSpPr>
          <p:spPr>
            <a:xfrm>
              <a:off x="451866" y="6254750"/>
              <a:ext cx="358684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1988宪法修正案及第10条；国有保留，使用权依法流转。</a:t>
              </a:r>
            </a:p>
          </p:txBody>
        </p:sp>
        <p:sp>
          <p:nvSpPr>
            <p:cNvPr id="22" name="TextBox 22"/>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26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7-title"/>
          <p:cNvGrpSpPr/>
          <p:nvPr/>
        </p:nvGrpSpPr>
        <p:grpSpPr>
          <a:xfrm>
            <a:off x="441198" y="400050"/>
            <a:ext cx="6304788" cy="933577"/>
            <a:chOff x="441198" y="400050"/>
            <a:chExt cx="6304788" cy="933577"/>
          </a:xfrm>
        </p:grpSpPr>
        <p:sp>
          <p:nvSpPr>
            <p:cNvPr id="2" name="TextBox 2"/>
            <p:cNvSpPr txBox="1"/>
            <p:nvPr/>
          </p:nvSpPr>
          <p:spPr>
            <a:xfrm>
              <a:off x="451104" y="400050"/>
              <a:ext cx="216880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早于1988 · 已有制度允许什么</a:t>
              </a:r>
            </a:p>
          </p:txBody>
        </p:sp>
        <p:sp>
          <p:nvSpPr>
            <p:cNvPr id="3" name="TextBox 3"/>
            <p:cNvSpPr txBox="1"/>
            <p:nvPr/>
          </p:nvSpPr>
          <p:spPr>
            <a:xfrm>
              <a:off x="441198" y="717550"/>
              <a:ext cx="630478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可以使用，不等于可以任意转出</a:t>
              </a:r>
            </a:p>
          </p:txBody>
        </p:sp>
      </p:grpSp>
      <p:grpSp>
        <p:nvGrpSpPr>
          <p:cNvPr id="11" name="p27-early-evidence"/>
          <p:cNvGrpSpPr/>
          <p:nvPr/>
        </p:nvGrpSpPr>
        <p:grpSpPr>
          <a:xfrm>
            <a:off x="445008" y="1847850"/>
            <a:ext cx="3907917" cy="2545969"/>
            <a:chOff x="445008" y="1847850"/>
            <a:chExt cx="3907917" cy="2545969"/>
          </a:xfrm>
        </p:grpSpPr>
        <p:sp>
          <p:nvSpPr>
            <p:cNvPr id="5" name="TextBox 5"/>
            <p:cNvSpPr txBox="1"/>
            <p:nvPr/>
          </p:nvSpPr>
          <p:spPr>
            <a:xfrm>
              <a:off x="445008" y="1847850"/>
              <a:ext cx="253349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1980 · 特区条例</a:t>
              </a:r>
            </a:p>
          </p:txBody>
        </p:sp>
        <p:sp>
          <p:nvSpPr>
            <p:cNvPr id="6" name="TextBox 6"/>
            <p:cNvSpPr txBox="1"/>
            <p:nvPr/>
          </p:nvSpPr>
          <p:spPr>
            <a:xfrm>
              <a:off x="448056" y="239395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《广东省经济特区条例》</a:t>
              </a:r>
            </a:p>
          </p:txBody>
        </p:sp>
        <p:sp>
          <p:nvSpPr>
            <p:cNvPr id="7" name="TextBox 7"/>
            <p:cNvSpPr txBox="1"/>
            <p:nvPr/>
          </p:nvSpPr>
          <p:spPr>
            <a:xfrm>
              <a:off x="448056" y="2755900"/>
              <a:ext cx="389534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土地归国家；客商依条件付费使用。</a:t>
              </a:r>
            </a:p>
          </p:txBody>
        </p:sp>
        <p:sp>
          <p:nvSpPr>
            <p:cNvPr id="8" name="Line 8"/>
            <p:cNvSpPr/>
            <p:nvPr/>
          </p:nvSpPr>
          <p:spPr>
            <a:xfrm>
              <a:off x="466725" y="3381375"/>
              <a:ext cx="3886200" cy="9525"/>
            </a:xfrm>
            <a:custGeom>
              <a:avLst/>
              <a:gdLst/>
              <a:ahLst/>
              <a:cxnLst/>
              <a:rect l="l" t="t" r="r" b="b"/>
              <a:pathLst>
                <a:path w="3886200" h="9525">
                  <a:moveTo>
                    <a:pt x="0" y="0"/>
                  </a:moveTo>
                  <a:lnTo>
                    <a:pt x="3886200" y="0"/>
                  </a:lnTo>
                </a:path>
              </a:pathLst>
            </a:custGeom>
            <a:noFill/>
            <a:ln w="9525">
              <a:solidFill>
                <a:schemeClr val="accent6"/>
              </a:solidFill>
            </a:ln>
          </p:spPr>
        </p:sp>
        <p:sp>
          <p:nvSpPr>
            <p:cNvPr id="9" name="TextBox 9"/>
            <p:cNvSpPr txBox="1"/>
            <p:nvPr/>
          </p:nvSpPr>
          <p:spPr>
            <a:xfrm>
              <a:off x="445008" y="3495675"/>
              <a:ext cx="185074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1981 · 深圳</a:t>
              </a:r>
            </a:p>
          </p:txBody>
        </p:sp>
        <p:sp>
          <p:nvSpPr>
            <p:cNvPr id="10" name="TextBox 10"/>
            <p:cNvSpPr txBox="1"/>
            <p:nvPr/>
          </p:nvSpPr>
          <p:spPr>
            <a:xfrm>
              <a:off x="448056" y="4041775"/>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土地管理暂行规定</a:t>
              </a:r>
            </a:p>
          </p:txBody>
        </p:sp>
      </p:grpSp>
      <p:grpSp>
        <p:nvGrpSpPr>
          <p:cNvPr id="19" name="p27-approved-user-and-limits"/>
          <p:cNvGrpSpPr/>
          <p:nvPr/>
        </p:nvGrpSpPr>
        <p:grpSpPr>
          <a:xfrm>
            <a:off x="4686300" y="1885950"/>
            <a:ext cx="7048500" cy="2857500"/>
            <a:chOff x="4686300" y="1885950"/>
            <a:chExt cx="7048500" cy="2857500"/>
          </a:xfrm>
        </p:grpSpPr>
        <p:sp>
          <p:nvSpPr>
            <p:cNvPr id="12" name="Rectangle 12"/>
            <p:cNvSpPr/>
            <p:nvPr/>
          </p:nvSpPr>
          <p:spPr>
            <a:xfrm>
              <a:off x="4686300" y="1885950"/>
              <a:ext cx="7048500" cy="2857500"/>
            </a:xfrm>
            <a:prstGeom prst="rect">
              <a:avLst/>
            </a:prstGeom>
            <a:solidFill>
              <a:schemeClr val="lt2"/>
            </a:solidFill>
            <a:ln>
              <a:noFill/>
            </a:ln>
          </p:spPr>
        </p:sp>
        <p:grpSp>
          <p:nvGrpSpPr>
            <p:cNvPr id="18" name="p27-rule-copy"/>
            <p:cNvGrpSpPr/>
            <p:nvPr/>
          </p:nvGrpSpPr>
          <p:grpSpPr>
            <a:xfrm>
              <a:off x="4902708" y="1987550"/>
              <a:ext cx="3898392" cy="2550033"/>
              <a:chOff x="4902708" y="1987550"/>
              <a:chExt cx="3898392" cy="2550033"/>
            </a:xfrm>
          </p:grpSpPr>
          <p:sp>
            <p:nvSpPr>
              <p:cNvPr id="13" name="TextBox 13"/>
              <p:cNvSpPr txBox="1"/>
              <p:nvPr/>
            </p:nvSpPr>
            <p:spPr>
              <a:xfrm>
                <a:off x="4902708" y="1987550"/>
                <a:ext cx="24140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经批准的用地者</a:t>
                </a:r>
              </a:p>
            </p:txBody>
          </p:sp>
          <p:sp>
            <p:nvSpPr>
              <p:cNvPr id="14" name="TextBox 14"/>
              <p:cNvSpPr txBox="1"/>
              <p:nvPr/>
            </p:nvSpPr>
            <p:spPr>
              <a:xfrm>
                <a:off x="4905756" y="2603500"/>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只有使用权，没有所有权。</a:t>
                </a:r>
              </a:p>
            </p:txBody>
          </p:sp>
          <p:sp>
            <p:nvSpPr>
              <p:cNvPr id="15" name="TextBox 15"/>
              <p:cNvSpPr txBox="1"/>
              <p:nvPr/>
            </p:nvSpPr>
            <p:spPr>
              <a:xfrm>
                <a:off x="4905756" y="3108325"/>
                <a:ext cx="389534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申请、批准、交费、领取使用证书。</a:t>
                </a:r>
              </a:p>
            </p:txBody>
          </p:sp>
          <p:sp>
            <p:nvSpPr>
              <p:cNvPr id="16" name="TextBox 16"/>
              <p:cNvSpPr txBox="1"/>
              <p:nvPr/>
            </p:nvSpPr>
            <p:spPr>
              <a:xfrm>
                <a:off x="4903470" y="3673475"/>
                <a:ext cx="3051810"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禁止出租、擅自转让。</a:t>
                </a:r>
              </a:p>
            </p:txBody>
          </p:sp>
          <p:sp>
            <p:nvSpPr>
              <p:cNvPr id="17" name="TextBox 17"/>
              <p:cNvSpPr txBox="1"/>
              <p:nvPr/>
            </p:nvSpPr>
            <p:spPr>
              <a:xfrm>
                <a:off x="4908042" y="4273550"/>
                <a:ext cx="349398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规范概述 · 这里限制的是取得使用资格者。</a:t>
                </a:r>
              </a:p>
            </p:txBody>
          </p:sp>
        </p:grpSp>
      </p:grpSp>
      <p:grpSp>
        <p:nvGrpSpPr>
          <p:cNvPr id="25" name="p27-three-distinct-questions"/>
          <p:cNvGrpSpPr/>
          <p:nvPr/>
        </p:nvGrpSpPr>
        <p:grpSpPr>
          <a:xfrm>
            <a:off x="448056" y="5165725"/>
            <a:ext cx="11277219" cy="942594"/>
            <a:chOff x="448056" y="5165725"/>
            <a:chExt cx="11277219" cy="942594"/>
          </a:xfrm>
        </p:grpSpPr>
        <p:sp>
          <p:nvSpPr>
            <p:cNvPr id="20" name="TextBox 20"/>
            <p:cNvSpPr txBox="1"/>
            <p:nvPr/>
          </p:nvSpPr>
          <p:spPr>
            <a:xfrm>
              <a:off x="448056" y="5165725"/>
              <a:ext cx="244144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所有与使用是否分开？</a:t>
              </a:r>
            </a:p>
          </p:txBody>
        </p:sp>
        <p:sp>
          <p:nvSpPr>
            <p:cNvPr id="21" name="TextBox 21"/>
            <p:cNvSpPr txBox="1"/>
            <p:nvPr/>
          </p:nvSpPr>
          <p:spPr>
            <a:xfrm>
              <a:off x="4658106" y="5165725"/>
              <a:ext cx="171450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使用是否付费？</a:t>
              </a:r>
            </a:p>
          </p:txBody>
        </p:sp>
        <p:sp>
          <p:nvSpPr>
            <p:cNvPr id="22" name="TextBox 22"/>
            <p:cNvSpPr txBox="1"/>
            <p:nvPr/>
          </p:nvSpPr>
          <p:spPr>
            <a:xfrm>
              <a:off x="8849106" y="5165725"/>
              <a:ext cx="195681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使用权能否流转？</a:t>
              </a:r>
            </a:p>
          </p:txBody>
        </p:sp>
        <p:sp>
          <p:nvSpPr>
            <p:cNvPr id="23" name="Line 23"/>
            <p:cNvSpPr/>
            <p:nvPr/>
          </p:nvSpPr>
          <p:spPr>
            <a:xfrm>
              <a:off x="466725" y="5581650"/>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24" name="TextBox 24"/>
            <p:cNvSpPr txBox="1"/>
            <p:nvPr/>
          </p:nvSpPr>
          <p:spPr>
            <a:xfrm>
              <a:off x="448056" y="5756275"/>
              <a:ext cx="8305495"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前两项已有安排，并未自动解决第三项权限；1988的意义超过发现两个名词。</a:t>
              </a:r>
            </a:p>
          </p:txBody>
        </p:sp>
      </p:grpSp>
      <p:grpSp>
        <p:nvGrpSpPr>
          <p:cNvPr id="28" name="p27-footer"/>
          <p:cNvGrpSpPr/>
          <p:nvPr/>
        </p:nvGrpSpPr>
        <p:grpSpPr>
          <a:xfrm>
            <a:off x="451866" y="6254750"/>
            <a:ext cx="11288268" cy="205359"/>
            <a:chOff x="451866" y="6254750"/>
            <a:chExt cx="11288268" cy="205359"/>
          </a:xfrm>
        </p:grpSpPr>
        <p:sp>
          <p:nvSpPr>
            <p:cNvPr id="26" name="TextBox 26"/>
            <p:cNvSpPr txBox="1"/>
            <p:nvPr/>
          </p:nvSpPr>
          <p:spPr>
            <a:xfrm>
              <a:off x="451866" y="6254750"/>
              <a:ext cx="444908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1980《广东省经济特区条例》；1981深圳土地管理暂行规定（概述）。</a:t>
              </a:r>
            </a:p>
          </p:txBody>
        </p:sp>
        <p:sp>
          <p:nvSpPr>
            <p:cNvPr id="27" name="TextBox 27"/>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27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8-title"/>
          <p:cNvGrpSpPr/>
          <p:nvPr/>
        </p:nvGrpSpPr>
        <p:grpSpPr>
          <a:xfrm>
            <a:off x="441198" y="400050"/>
            <a:ext cx="4512564" cy="933577"/>
            <a:chOff x="441198" y="400050"/>
            <a:chExt cx="4512564" cy="933577"/>
          </a:xfrm>
        </p:grpSpPr>
        <p:sp>
          <p:nvSpPr>
            <p:cNvPr id="2" name="TextBox 2"/>
            <p:cNvSpPr txBox="1"/>
            <p:nvPr/>
          </p:nvSpPr>
          <p:spPr>
            <a:xfrm>
              <a:off x="451104" y="400050"/>
              <a:ext cx="233034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1987深圳探索 · 权利对象与行为</a:t>
              </a:r>
            </a:p>
          </p:txBody>
        </p:sp>
        <p:sp>
          <p:nvSpPr>
            <p:cNvPr id="3" name="TextBox 3"/>
            <p:cNvSpPr txBox="1"/>
            <p:nvPr/>
          </p:nvSpPr>
          <p:spPr>
            <a:xfrm>
              <a:off x="441198" y="717550"/>
              <a:ext cx="451256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拍卖提供哪一种权利？</a:t>
              </a:r>
            </a:p>
          </p:txBody>
        </p:sp>
      </p:grpSp>
      <p:grpSp>
        <p:nvGrpSpPr>
          <p:cNvPr id="7" name="p28-historical-identity"/>
          <p:cNvGrpSpPr/>
          <p:nvPr/>
        </p:nvGrpSpPr>
        <p:grpSpPr>
          <a:xfrm>
            <a:off x="448056" y="1774825"/>
            <a:ext cx="8499348" cy="581533"/>
            <a:chOff x="448056" y="1774825"/>
            <a:chExt cx="8499348" cy="581533"/>
          </a:xfrm>
        </p:grpSpPr>
        <p:sp>
          <p:nvSpPr>
            <p:cNvPr id="5" name="TextBox 5"/>
            <p:cNvSpPr txBox="1"/>
            <p:nvPr/>
          </p:nvSpPr>
          <p:spPr>
            <a:xfrm>
              <a:off x="448056" y="1774825"/>
              <a:ext cx="84993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梁振英后来回忆筹备首次土地拍卖；此前已有出租、合作开发等有偿使用探索。</a:t>
              </a:r>
            </a:p>
          </p:txBody>
        </p:sp>
        <p:sp>
          <p:nvSpPr>
            <p:cNvPr id="6" name="TextBox 6"/>
            <p:cNvSpPr txBox="1"/>
            <p:nvPr/>
          </p:nvSpPr>
          <p:spPr>
            <a:xfrm>
              <a:off x="450342" y="2092325"/>
              <a:ext cx="292150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城市建设需要资金，企业需要土地。</a:t>
              </a:r>
            </a:p>
          </p:txBody>
        </p:sp>
      </p:grpSp>
      <p:grpSp>
        <p:nvGrpSpPr>
          <p:cNvPr id="17" name="p28-government-provision"/>
          <p:cNvGrpSpPr/>
          <p:nvPr/>
        </p:nvGrpSpPr>
        <p:grpSpPr>
          <a:xfrm>
            <a:off x="457200" y="2647950"/>
            <a:ext cx="10791444" cy="1717294"/>
            <a:chOff x="457200" y="2647950"/>
            <a:chExt cx="10791444" cy="1717294"/>
          </a:xfrm>
        </p:grpSpPr>
        <p:sp>
          <p:nvSpPr>
            <p:cNvPr id="8" name="Rectangle 8"/>
            <p:cNvSpPr/>
            <p:nvPr/>
          </p:nvSpPr>
          <p:spPr>
            <a:xfrm>
              <a:off x="457200" y="2647950"/>
              <a:ext cx="2743200" cy="1676400"/>
            </a:xfrm>
            <a:prstGeom prst="rect">
              <a:avLst/>
            </a:prstGeom>
            <a:solidFill>
              <a:schemeClr val="lt2"/>
            </a:solidFill>
            <a:ln>
              <a:noFill/>
            </a:ln>
          </p:spPr>
        </p:sp>
        <p:grpSp>
          <p:nvGrpSpPr>
            <p:cNvPr id="15" name="p28-object-copy"/>
            <p:cNvGrpSpPr/>
            <p:nvPr/>
          </p:nvGrpSpPr>
          <p:grpSpPr>
            <a:xfrm>
              <a:off x="655320" y="2806700"/>
              <a:ext cx="10593324" cy="1558544"/>
              <a:chOff x="655320" y="2806700"/>
              <a:chExt cx="10593324" cy="1558544"/>
            </a:xfrm>
          </p:grpSpPr>
          <p:sp>
            <p:nvSpPr>
              <p:cNvPr id="9" name="TextBox 9"/>
              <p:cNvSpPr txBox="1"/>
              <p:nvPr/>
            </p:nvSpPr>
            <p:spPr>
              <a:xfrm>
                <a:off x="655320" y="2844800"/>
                <a:ext cx="184023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同一国有土地</a:t>
                </a:r>
              </a:p>
            </p:txBody>
          </p:sp>
          <p:sp>
            <p:nvSpPr>
              <p:cNvPr id="10" name="TextBox 10"/>
              <p:cNvSpPr txBox="1"/>
              <p:nvPr/>
            </p:nvSpPr>
            <p:spPr>
              <a:xfrm>
                <a:off x="657606" y="3660775"/>
                <a:ext cx="171450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所有权留在国家</a:t>
                </a:r>
              </a:p>
            </p:txBody>
          </p:sp>
          <p:sp>
            <p:nvSpPr>
              <p:cNvPr id="11" name="TextBox 11"/>
              <p:cNvSpPr txBox="1"/>
              <p:nvPr/>
            </p:nvSpPr>
            <p:spPr>
              <a:xfrm>
                <a:off x="3626358" y="280670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政府</a:t>
                </a:r>
              </a:p>
            </p:txBody>
          </p:sp>
          <p:sp>
            <p:nvSpPr>
              <p:cNvPr id="12" name="TextBox 12"/>
              <p:cNvSpPr txBox="1"/>
              <p:nvPr/>
            </p:nvSpPr>
            <p:spPr>
              <a:xfrm>
                <a:off x="4562856" y="3079750"/>
                <a:ext cx="268376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提供一定期限的使用机会</a:t>
                </a:r>
              </a:p>
            </p:txBody>
          </p:sp>
          <p:sp>
            <p:nvSpPr>
              <p:cNvPr id="13" name="TextBox 13"/>
              <p:cNvSpPr txBox="1"/>
              <p:nvPr/>
            </p:nvSpPr>
            <p:spPr>
              <a:xfrm>
                <a:off x="8827008" y="2806700"/>
                <a:ext cx="10485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使用者</a:t>
                </a:r>
              </a:p>
            </p:txBody>
          </p:sp>
          <p:sp>
            <p:nvSpPr>
              <p:cNvPr id="14" name="TextBox 14"/>
              <p:cNvSpPr txBox="1"/>
              <p:nvPr/>
            </p:nvSpPr>
            <p:spPr>
              <a:xfrm>
                <a:off x="8715756" y="3689350"/>
                <a:ext cx="2532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期限、资格、价格、义务</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仍须分别安排</a:t>
                </a:r>
              </a:p>
            </p:txBody>
          </p:sp>
        </p:grpSp>
        <p:sp>
          <p:nvSpPr>
            <p:cNvPr id="16" name="Line 16"/>
            <p:cNvSpPr/>
            <p:nvPr/>
          </p:nvSpPr>
          <p:spPr>
            <a:xfrm>
              <a:off x="4286250" y="3486150"/>
              <a:ext cx="4133850" cy="1"/>
            </a:xfrm>
            <a:prstGeom prst="line">
              <a:avLst/>
            </a:prstGeom>
            <a:noFill/>
            <a:ln w="19050">
              <a:solidFill>
                <a:schemeClr val="accent1"/>
              </a:solidFill>
              <a:tailEnd type="triangle" w="lg" len="lg"/>
            </a:ln>
          </p:spPr>
        </p:sp>
      </p:grpSp>
      <p:grpSp>
        <p:nvGrpSpPr>
          <p:cNvPr id="22" name="p28-two-actions"/>
          <p:cNvGrpSpPr/>
          <p:nvPr/>
        </p:nvGrpSpPr>
        <p:grpSpPr>
          <a:xfrm>
            <a:off x="445770" y="4972050"/>
            <a:ext cx="11279505" cy="1194308"/>
            <a:chOff x="445770" y="4972050"/>
            <a:chExt cx="11279505" cy="1194308"/>
          </a:xfrm>
        </p:grpSpPr>
        <p:sp>
          <p:nvSpPr>
            <p:cNvPr id="18" name="Line 18"/>
            <p:cNvSpPr/>
            <p:nvPr/>
          </p:nvSpPr>
          <p:spPr>
            <a:xfrm>
              <a:off x="466725" y="4972050"/>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19" name="TextBox 19"/>
            <p:cNvSpPr txBox="1"/>
            <p:nvPr/>
          </p:nvSpPr>
          <p:spPr>
            <a:xfrm>
              <a:off x="445770" y="5064125"/>
              <a:ext cx="456628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另一动作：取得者依法再转给别人</a:t>
              </a:r>
            </a:p>
          </p:txBody>
        </p:sp>
        <p:sp>
          <p:nvSpPr>
            <p:cNvPr id="20" name="TextBox 20"/>
            <p:cNvSpPr txBox="1"/>
            <p:nvPr/>
          </p:nvSpPr>
          <p:spPr>
            <a:xfrm>
              <a:off x="448056" y="5480050"/>
              <a:ext cx="68031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仍须有相应依据；不能把它同政府提供使用机会直接混在一起。</a:t>
              </a:r>
            </a:p>
          </p:txBody>
        </p:sp>
        <p:sp>
          <p:nvSpPr>
            <p:cNvPr id="21" name="TextBox 21"/>
            <p:cNvSpPr txBox="1"/>
            <p:nvPr/>
          </p:nvSpPr>
          <p:spPr>
            <a:xfrm>
              <a:off x="450342" y="5902325"/>
              <a:ext cx="6156427"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1990年法规区分“出让”“转让”；1987、1988年的安排仍须依当时规定理解。</a:t>
              </a:r>
            </a:p>
          </p:txBody>
        </p:sp>
      </p:grpSp>
      <p:grpSp>
        <p:nvGrpSpPr>
          <p:cNvPr id="25" name="p28-footer"/>
          <p:cNvGrpSpPr/>
          <p:nvPr/>
        </p:nvGrpSpPr>
        <p:grpSpPr>
          <a:xfrm>
            <a:off x="451866" y="6254750"/>
            <a:ext cx="11288268" cy="205359"/>
            <a:chOff x="451866" y="6254750"/>
            <a:chExt cx="11288268" cy="205359"/>
          </a:xfrm>
        </p:grpSpPr>
        <p:sp>
          <p:nvSpPr>
            <p:cNvPr id="23" name="TextBox 23"/>
            <p:cNvSpPr txBox="1"/>
            <p:nvPr/>
          </p:nvSpPr>
          <p:spPr>
            <a:xfrm>
              <a:off x="451866" y="6254750"/>
              <a:ext cx="498622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梁振英后出回忆及既有改革史料；1990土地使用权法规的术语区分。关系示意。</a:t>
              </a:r>
            </a:p>
          </p:txBody>
        </p:sp>
        <p:sp>
          <p:nvSpPr>
            <p:cNvPr id="24" name="TextBox 24"/>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28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9-title"/>
          <p:cNvGrpSpPr/>
          <p:nvPr/>
        </p:nvGrpSpPr>
        <p:grpSpPr>
          <a:xfrm>
            <a:off x="441198" y="400050"/>
            <a:ext cx="6304788" cy="933577"/>
            <a:chOff x="441198" y="400050"/>
            <a:chExt cx="6304788" cy="933577"/>
          </a:xfrm>
        </p:grpSpPr>
        <p:sp>
          <p:nvSpPr>
            <p:cNvPr id="2" name="TextBox 2"/>
            <p:cNvSpPr txBox="1"/>
            <p:nvPr/>
          </p:nvSpPr>
          <p:spPr>
            <a:xfrm>
              <a:off x="451104" y="400050"/>
              <a:ext cx="1974952"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教学设想 · 使用者需求变化</a:t>
              </a:r>
            </a:p>
          </p:txBody>
        </p:sp>
        <p:sp>
          <p:nvSpPr>
            <p:cNvPr id="3" name="TextBox 3"/>
            <p:cNvSpPr txBox="1"/>
            <p:nvPr/>
          </p:nvSpPr>
          <p:spPr>
            <a:xfrm>
              <a:off x="441198" y="717550"/>
              <a:ext cx="630478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流转给一种途径，公共任务仍在</a:t>
              </a:r>
            </a:p>
          </p:txBody>
        </p:sp>
      </p:grpSp>
      <p:grpSp>
        <p:nvGrpSpPr>
          <p:cNvPr id="7" name="p29-public-background"/>
          <p:cNvGrpSpPr/>
          <p:nvPr/>
        </p:nvGrpSpPr>
        <p:grpSpPr>
          <a:xfrm>
            <a:off x="448056" y="1774825"/>
            <a:ext cx="11293602" cy="352044"/>
            <a:chOff x="448056" y="1774825"/>
            <a:chExt cx="11293602" cy="352044"/>
          </a:xfrm>
        </p:grpSpPr>
        <p:sp>
          <p:nvSpPr>
            <p:cNvPr id="5" name="TextBox 5"/>
            <p:cNvSpPr txBox="1"/>
            <p:nvPr/>
          </p:nvSpPr>
          <p:spPr>
            <a:xfrm>
              <a:off x="448056" y="1774825"/>
              <a:ext cx="631850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行政配置联系道路、公共设施及整体规划，有自己的理由。</a:t>
              </a:r>
            </a:p>
          </p:txBody>
        </p:sp>
        <p:sp>
          <p:nvSpPr>
            <p:cNvPr id="6" name="TextBox 6"/>
            <p:cNvSpPr txBox="1"/>
            <p:nvPr/>
          </p:nvSpPr>
          <p:spPr>
            <a:xfrm>
              <a:off x="9910572" y="1825625"/>
              <a:ext cx="1831086"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下面不是实际历史交易</a:t>
              </a:r>
            </a:p>
          </p:txBody>
        </p:sp>
      </p:grpSp>
      <p:grpSp>
        <p:nvGrpSpPr>
          <p:cNvPr id="18" name="p29-changing-needs"/>
          <p:cNvGrpSpPr/>
          <p:nvPr/>
        </p:nvGrpSpPr>
        <p:grpSpPr>
          <a:xfrm>
            <a:off x="476250" y="2533650"/>
            <a:ext cx="11239500" cy="2000250"/>
            <a:chOff x="476250" y="2533650"/>
            <a:chExt cx="11239500" cy="2000250"/>
          </a:xfrm>
        </p:grpSpPr>
        <p:sp>
          <p:nvSpPr>
            <p:cNvPr id="8" name="Rectangle 8"/>
            <p:cNvSpPr/>
            <p:nvPr/>
          </p:nvSpPr>
          <p:spPr>
            <a:xfrm>
              <a:off x="476250" y="2533650"/>
              <a:ext cx="11239500" cy="2000250"/>
            </a:xfrm>
            <a:prstGeom prst="rect">
              <a:avLst/>
            </a:prstGeom>
            <a:noFill/>
            <a:ln w="19050">
              <a:solidFill>
                <a:schemeClr val="accent3"/>
              </a:solidFill>
            </a:ln>
          </p:spPr>
        </p:sp>
        <p:grpSp>
          <p:nvGrpSpPr>
            <p:cNvPr id="13" name="p29-needs-copy"/>
            <p:cNvGrpSpPr/>
            <p:nvPr/>
          </p:nvGrpSpPr>
          <p:grpSpPr>
            <a:xfrm>
              <a:off x="692658" y="2740025"/>
              <a:ext cx="9808464" cy="1025144"/>
              <a:chOff x="692658" y="2740025"/>
              <a:chExt cx="9808464" cy="1025144"/>
            </a:xfrm>
          </p:grpSpPr>
          <p:sp>
            <p:nvSpPr>
              <p:cNvPr id="9" name="TextBox 9"/>
              <p:cNvSpPr txBox="1"/>
              <p:nvPr/>
            </p:nvSpPr>
            <p:spPr>
              <a:xfrm>
                <a:off x="692658" y="2740025"/>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原使用者</a:t>
                </a:r>
              </a:p>
            </p:txBody>
          </p:sp>
          <p:sp>
            <p:nvSpPr>
              <p:cNvPr id="10" name="TextBox 10"/>
              <p:cNvSpPr txBox="1"/>
              <p:nvPr/>
            </p:nvSpPr>
            <p:spPr>
              <a:xfrm>
                <a:off x="695706" y="3413125"/>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不再需要</a:t>
                </a:r>
              </a:p>
            </p:txBody>
          </p:sp>
          <p:sp>
            <p:nvSpPr>
              <p:cNvPr id="11" name="TextBox 11"/>
              <p:cNvSpPr txBox="1"/>
              <p:nvPr/>
            </p:nvSpPr>
            <p:spPr>
              <a:xfrm>
                <a:off x="8769858" y="2740025"/>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另一经营者</a:t>
                </a:r>
              </a:p>
            </p:txBody>
          </p:sp>
          <p:sp>
            <p:nvSpPr>
              <p:cNvPr id="12" name="TextBox 12"/>
              <p:cNvSpPr txBox="1"/>
              <p:nvPr/>
            </p:nvSpPr>
            <p:spPr>
              <a:xfrm>
                <a:off x="8772906" y="3413125"/>
                <a:ext cx="122986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有用地需求</a:t>
                </a:r>
              </a:p>
            </p:txBody>
          </p:sp>
        </p:grpSp>
        <p:sp>
          <p:nvSpPr>
            <p:cNvPr id="14" name="Rectangle 14"/>
            <p:cNvSpPr/>
            <p:nvPr/>
          </p:nvSpPr>
          <p:spPr>
            <a:xfrm>
              <a:off x="4286250" y="2800350"/>
              <a:ext cx="3581400" cy="1333500"/>
            </a:xfrm>
            <a:prstGeom prst="rect">
              <a:avLst/>
            </a:prstGeom>
            <a:solidFill>
              <a:schemeClr val="lt2"/>
            </a:solidFill>
            <a:ln>
              <a:noFill/>
            </a:ln>
          </p:spPr>
        </p:sp>
        <p:grpSp>
          <p:nvGrpSpPr>
            <p:cNvPr id="17" name="p29-land-copy"/>
            <p:cNvGrpSpPr/>
            <p:nvPr/>
          </p:nvGrpSpPr>
          <p:grpSpPr>
            <a:xfrm>
              <a:off x="4503420" y="3025775"/>
              <a:ext cx="2926080" cy="911733"/>
              <a:chOff x="4503420" y="3025775"/>
              <a:chExt cx="2926080" cy="911733"/>
            </a:xfrm>
          </p:grpSpPr>
          <p:sp>
            <p:nvSpPr>
              <p:cNvPr id="15" name="TextBox 15"/>
              <p:cNvSpPr txBox="1"/>
              <p:nvPr/>
            </p:nvSpPr>
            <p:spPr>
              <a:xfrm>
                <a:off x="4503420" y="3025775"/>
                <a:ext cx="184023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同一经营用地</a:t>
                </a:r>
              </a:p>
            </p:txBody>
          </p:sp>
          <p:sp>
            <p:nvSpPr>
              <p:cNvPr id="16" name="TextBox 16"/>
              <p:cNvSpPr txBox="1"/>
              <p:nvPr/>
            </p:nvSpPr>
            <p:spPr>
              <a:xfrm>
                <a:off x="4507992" y="3673475"/>
                <a:ext cx="292150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使用者调整，公共规划与管理仍在。</a:t>
                </a:r>
              </a:p>
            </p:txBody>
          </p:sp>
        </p:grpSp>
      </p:grpSp>
      <p:grpSp>
        <p:nvGrpSpPr>
          <p:cNvPr id="21" name="p29-two-adjustment-routes"/>
          <p:cNvGrpSpPr/>
          <p:nvPr/>
        </p:nvGrpSpPr>
        <p:grpSpPr>
          <a:xfrm>
            <a:off x="448056" y="4927600"/>
            <a:ext cx="4137660" cy="675894"/>
            <a:chOff x="448056" y="4927600"/>
            <a:chExt cx="4137660" cy="675894"/>
          </a:xfrm>
        </p:grpSpPr>
        <p:sp>
          <p:nvSpPr>
            <p:cNvPr id="19" name="TextBox 19"/>
            <p:cNvSpPr txBox="1"/>
            <p:nvPr/>
          </p:nvSpPr>
          <p:spPr>
            <a:xfrm>
              <a:off x="448056" y="492760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重新等待行政配置</a:t>
              </a:r>
            </a:p>
          </p:txBody>
        </p:sp>
        <p:sp>
          <p:nvSpPr>
            <p:cNvPr id="20" name="TextBox 20"/>
            <p:cNvSpPr txBox="1"/>
            <p:nvPr/>
          </p:nvSpPr>
          <p:spPr>
            <a:xfrm>
              <a:off x="448056" y="5251450"/>
              <a:ext cx="413766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符合条件的依法流转，提供另一途径。</a:t>
              </a:r>
            </a:p>
          </p:txBody>
        </p:sp>
      </p:grpSp>
      <p:grpSp>
        <p:nvGrpSpPr>
          <p:cNvPr id="23" name="p29-continuing-public-duties"/>
          <p:cNvGrpSpPr/>
          <p:nvPr/>
        </p:nvGrpSpPr>
        <p:grpSpPr>
          <a:xfrm>
            <a:off x="7610856" y="4889500"/>
            <a:ext cx="2761488" cy="999744"/>
            <a:chOff x="7610856" y="4889500"/>
            <a:chExt cx="2761488" cy="999744"/>
          </a:xfrm>
        </p:grpSpPr>
        <p:sp>
          <p:nvSpPr>
            <p:cNvPr id="22" name="TextBox 22"/>
            <p:cNvSpPr txBox="1"/>
            <p:nvPr/>
          </p:nvSpPr>
          <p:spPr>
            <a:xfrm>
              <a:off x="7610856" y="4889500"/>
              <a:ext cx="27614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价高不能包办规划、权益与</a:t>
              </a:r>
              <a:br>
                <a:rPr lang="zh-CN" sz="1800" dirty="0">
                  <a:solidFill>
                    <a:schemeClr val="dk1"/>
                  </a:solidFill>
                  <a:latin typeface="+mn-lt"/>
                  <a:ea typeface="+mn-ea"/>
                  <a:cs typeface="+mn-cs"/>
                </a:rPr>
              </a:br>
              <a:r>
                <a:rPr lang="zh-CN" sz="1800" dirty="0">
                  <a:solidFill>
                    <a:schemeClr val="dk1"/>
                  </a:solidFill>
                  <a:latin typeface="+mn-lt"/>
                  <a:ea typeface="+mn-ea"/>
                  <a:cs typeface="+mn-cs"/>
                </a:rPr>
                <a:t>公共利益；管理职责不随</a:t>
              </a:r>
              <a:br>
                <a:rPr lang="zh-CN" sz="1800" dirty="0">
                  <a:solidFill>
                    <a:schemeClr val="dk1"/>
                  </a:solidFill>
                  <a:latin typeface="+mn-lt"/>
                  <a:ea typeface="+mn-ea"/>
                  <a:cs typeface="+mn-cs"/>
                </a:rPr>
              </a:br>
              <a:r>
                <a:rPr lang="zh-CN" sz="1800" dirty="0">
                  <a:solidFill>
                    <a:schemeClr val="dk1"/>
                  </a:solidFill>
                  <a:latin typeface="+mn-lt"/>
                  <a:ea typeface="+mn-ea"/>
                  <a:cs typeface="+mn-cs"/>
                </a:rPr>
                <a:t>使用权交易转走。</a:t>
              </a:r>
            </a:p>
          </p:txBody>
        </p:sp>
      </p:grpSp>
      <p:grpSp>
        <p:nvGrpSpPr>
          <p:cNvPr id="25" name="p29-shared-requirement"/>
          <p:cNvGrpSpPr/>
          <p:nvPr/>
        </p:nvGrpSpPr>
        <p:grpSpPr>
          <a:xfrm>
            <a:off x="450342" y="5949950"/>
            <a:ext cx="4920615" cy="264033"/>
            <a:chOff x="450342" y="5949950"/>
            <a:chExt cx="4920615" cy="264033"/>
          </a:xfrm>
        </p:grpSpPr>
        <p:sp>
          <p:nvSpPr>
            <p:cNvPr id="24" name="TextBox 24"/>
            <p:cNvSpPr txBox="1"/>
            <p:nvPr/>
          </p:nvSpPr>
          <p:spPr>
            <a:xfrm>
              <a:off x="450342" y="5949950"/>
              <a:ext cx="492061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公共规划、依法管理与一定范围的流转，需要结合起来安排。</a:t>
              </a:r>
            </a:p>
          </p:txBody>
        </p:sp>
      </p:grpSp>
      <p:grpSp>
        <p:nvGrpSpPr>
          <p:cNvPr id="28" name="p29-footer"/>
          <p:cNvGrpSpPr/>
          <p:nvPr/>
        </p:nvGrpSpPr>
        <p:grpSpPr>
          <a:xfrm>
            <a:off x="451866" y="6254750"/>
            <a:ext cx="11288268" cy="205359"/>
            <a:chOff x="451866" y="6254750"/>
            <a:chExt cx="11288268" cy="205359"/>
          </a:xfrm>
        </p:grpSpPr>
        <p:sp>
          <p:nvSpPr>
            <p:cNvPr id="26" name="TextBox 26"/>
            <p:cNvSpPr txBox="1"/>
            <p:nvPr/>
          </p:nvSpPr>
          <p:spPr>
            <a:xfrm>
              <a:off x="451866" y="6254750"/>
              <a:ext cx="439254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课堂教学设想：经营用地的需求变化。公共任务与依法流转同时考虑。</a:t>
              </a:r>
            </a:p>
          </p:txBody>
        </p:sp>
        <p:sp>
          <p:nvSpPr>
            <p:cNvPr id="27" name="TextBox 27"/>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29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250"/>
                                        <p:tgtEl>
                                          <p:spTgt spid="23"/>
                                        </p:tgtEl>
                                      </p:cBhvr>
                                    </p:animEffect>
                                  </p:childTnLst>
                                </p:cTn>
                              </p:par>
                            </p:childTnLst>
                          </p:cTn>
                        </p:par>
                        <p:par>
                          <p:cTn id="13" fill="hold">
                            <p:stCondLst>
                              <p:cond delay="0"/>
                            </p:stCondLst>
                            <p:childTnLst>
                              <p:par>
                                <p:cTn xmlns:p="http://schemas.openxmlformats.org/presentationml/2006/mai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0-title"/>
          <p:cNvGrpSpPr/>
          <p:nvPr/>
        </p:nvGrpSpPr>
        <p:grpSpPr>
          <a:xfrm>
            <a:off x="441198" y="400050"/>
            <a:ext cx="5856732" cy="933577"/>
            <a:chOff x="441198" y="400050"/>
            <a:chExt cx="5856732" cy="933577"/>
          </a:xfrm>
        </p:grpSpPr>
        <p:sp>
          <p:nvSpPr>
            <p:cNvPr id="2" name="TextBox 2"/>
            <p:cNvSpPr txBox="1"/>
            <p:nvPr/>
          </p:nvSpPr>
          <p:spPr>
            <a:xfrm>
              <a:off x="451104" y="400050"/>
              <a:ext cx="245958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改革理由与规范依据 · 真正的张力</a:t>
              </a:r>
            </a:p>
          </p:txBody>
        </p:sp>
        <p:sp>
          <p:nvSpPr>
            <p:cNvPr id="3" name="TextBox 3"/>
            <p:cNvSpPr txBox="1"/>
            <p:nvPr/>
          </p:nvSpPr>
          <p:spPr>
            <a:xfrm>
              <a:off x="441198" y="717550"/>
              <a:ext cx="585673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改革需要，还没有回答旧禁令</a:t>
              </a:r>
            </a:p>
          </p:txBody>
        </p:sp>
      </p:grpSp>
      <p:grpSp>
        <p:nvGrpSpPr>
          <p:cNvPr id="7" name="p30-old-prohibition"/>
          <p:cNvGrpSpPr/>
          <p:nvPr/>
        </p:nvGrpSpPr>
        <p:grpSpPr>
          <a:xfrm>
            <a:off x="445770" y="1778000"/>
            <a:ext cx="5323522" cy="1154430"/>
            <a:chOff x="445770" y="1778000"/>
            <a:chExt cx="5323522" cy="1154430"/>
          </a:xfrm>
        </p:grpSpPr>
        <p:sp>
          <p:nvSpPr>
            <p:cNvPr id="5" name="TextBox 5"/>
            <p:cNvSpPr txBox="1"/>
            <p:nvPr/>
          </p:nvSpPr>
          <p:spPr>
            <a:xfrm>
              <a:off x="450342" y="1778000"/>
              <a:ext cx="337585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1987探索时仍存在的1982第10条旧第四款</a:t>
              </a:r>
            </a:p>
          </p:txBody>
        </p:sp>
        <p:sp>
          <p:nvSpPr>
            <p:cNvPr id="6" name="TextBox 6"/>
            <p:cNvSpPr txBox="1"/>
            <p:nvPr/>
          </p:nvSpPr>
          <p:spPr>
            <a:xfrm>
              <a:off x="445770" y="2073275"/>
              <a:ext cx="5323522" cy="859155"/>
            </a:xfrm>
            <a:prstGeom prst="rect">
              <a:avLst/>
            </a:prstGeom>
            <a:noFill/>
            <a:ln>
              <a:noFill/>
            </a:ln>
          </p:spPr>
          <p:txBody>
            <a:bodyPr wrap="none" lIns="0" tIns="0" rIns="0" bIns="0" anchor="t" anchorCtr="0">
              <a:spAutoFit/>
            </a:bodyPr>
            <a:lstStyle/>
            <a:p>
              <a:pPr algn="l">
                <a:lnSpc>
                  <a:spcPts val="3300"/>
                </a:lnSpc>
              </a:pPr>
              <a:r>
                <a:rPr lang="zh-CN" sz="2250" dirty="0">
                  <a:solidFill>
                    <a:schemeClr val="accent1"/>
                  </a:solidFill>
                  <a:latin typeface="+mn-lt"/>
                  <a:ea typeface="+mn-ea"/>
                  <a:cs typeface="+mn-cs"/>
                </a:rPr>
                <a:t>“任何组织或者个人不得侵占、买卖、</a:t>
              </a:r>
              <a:r>
                <a:rPr lang="zh-CN" sz="2250" dirty="0">
                  <a:solidFill>
                    <a:schemeClr val="accent2"/>
                  </a:solidFill>
                  <a:latin typeface="+mn-lt"/>
                  <a:ea typeface="+mn-ea"/>
                  <a:cs typeface="+mn-cs"/>
                </a:rPr>
                <a:t>出租</a:t>
              </a:r>
              <a:br>
                <a:rPr lang="zh-CN" sz="2250" dirty="0">
                  <a:solidFill>
                    <a:schemeClr val="accent2"/>
                  </a:solidFill>
                  <a:latin typeface="+mn-lt"/>
                  <a:ea typeface="+mn-ea"/>
                  <a:cs typeface="+mn-cs"/>
                </a:rPr>
              </a:br>
              <a:r>
                <a:rPr lang="zh-CN" sz="2250" dirty="0">
                  <a:solidFill>
                    <a:schemeClr val="accent1"/>
                  </a:solidFill>
                  <a:latin typeface="+mn-lt"/>
                  <a:ea typeface="+mn-ea"/>
                  <a:cs typeface="+mn-cs"/>
                </a:rPr>
                <a:t>或者以其他形式非法转让土地。”</a:t>
              </a:r>
            </a:p>
          </p:txBody>
        </p:sp>
      </p:grpSp>
      <p:grpSp>
        <p:nvGrpSpPr>
          <p:cNvPr id="13" name="p30-practice-before-change"/>
          <p:cNvGrpSpPr/>
          <p:nvPr/>
        </p:nvGrpSpPr>
        <p:grpSpPr>
          <a:xfrm>
            <a:off x="445008" y="3362325"/>
            <a:ext cx="11280267" cy="1499108"/>
            <a:chOff x="445008" y="3362325"/>
            <a:chExt cx="11280267" cy="1499108"/>
          </a:xfrm>
        </p:grpSpPr>
        <p:sp>
          <p:nvSpPr>
            <p:cNvPr id="8" name="TextBox 8"/>
            <p:cNvSpPr txBox="1"/>
            <p:nvPr/>
          </p:nvSpPr>
          <p:spPr>
            <a:xfrm>
              <a:off x="445008" y="3362325"/>
              <a:ext cx="287487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1987 · 拍卖使用权</a:t>
              </a:r>
            </a:p>
          </p:txBody>
        </p:sp>
        <p:sp>
          <p:nvSpPr>
            <p:cNvPr id="9" name="TextBox 9"/>
            <p:cNvSpPr txBox="1"/>
            <p:nvPr/>
          </p:nvSpPr>
          <p:spPr>
            <a:xfrm>
              <a:off x="6236208" y="3362325"/>
              <a:ext cx="253349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1988 · 正式修宪</a:t>
              </a:r>
            </a:p>
          </p:txBody>
        </p:sp>
        <p:sp>
          <p:nvSpPr>
            <p:cNvPr id="10" name="Line 10"/>
            <p:cNvSpPr/>
            <p:nvPr/>
          </p:nvSpPr>
          <p:spPr>
            <a:xfrm>
              <a:off x="466725" y="3971925"/>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11" name="TextBox 11"/>
            <p:cNvSpPr txBox="1"/>
            <p:nvPr/>
          </p:nvSpPr>
          <p:spPr>
            <a:xfrm>
              <a:off x="448056" y="4175125"/>
              <a:ext cx="559155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李灏后来访谈提到规范矛盾，以及研讨、立法支持。</a:t>
              </a:r>
            </a:p>
          </p:txBody>
        </p:sp>
        <p:sp>
          <p:nvSpPr>
            <p:cNvPr id="12" name="TextBox 12"/>
            <p:cNvSpPr txBox="1"/>
            <p:nvPr/>
          </p:nvSpPr>
          <p:spPr>
            <a:xfrm>
              <a:off x="450342" y="4597400"/>
              <a:ext cx="455714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参与者的回顾，不是有权机关已经作出的正式宪法解释。</a:t>
              </a:r>
            </a:p>
          </p:txBody>
        </p:sp>
      </p:grpSp>
      <p:grpSp>
        <p:nvGrpSpPr>
          <p:cNvPr id="16" name="p30-unanswered-question"/>
          <p:cNvGrpSpPr/>
          <p:nvPr/>
        </p:nvGrpSpPr>
        <p:grpSpPr>
          <a:xfrm>
            <a:off x="445770" y="5235575"/>
            <a:ext cx="8806815" cy="901319"/>
            <a:chOff x="445770" y="5235575"/>
            <a:chExt cx="8806815" cy="901319"/>
          </a:xfrm>
        </p:grpSpPr>
        <p:sp>
          <p:nvSpPr>
            <p:cNvPr id="14" name="TextBox 14"/>
            <p:cNvSpPr txBox="1"/>
            <p:nvPr/>
          </p:nvSpPr>
          <p:spPr>
            <a:xfrm>
              <a:off x="445770" y="5235575"/>
              <a:ext cx="880681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出租通常不转所有权，仅说没有卖国家所有权，仍未答完旧禁令。</a:t>
              </a:r>
            </a:p>
          </p:txBody>
        </p:sp>
        <p:sp>
          <p:nvSpPr>
            <p:cNvPr id="15" name="TextBox 15"/>
            <p:cNvSpPr txBox="1"/>
            <p:nvPr/>
          </p:nvSpPr>
          <p:spPr>
            <a:xfrm>
              <a:off x="448056" y="5784850"/>
              <a:ext cx="82570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政府供地与使用者再处分须分清；区别权利以后，还要解释原句限制的对象。</a:t>
              </a:r>
            </a:p>
          </p:txBody>
        </p:sp>
      </p:grpSp>
      <p:grpSp>
        <p:nvGrpSpPr>
          <p:cNvPr id="19" name="p30-footer"/>
          <p:cNvGrpSpPr/>
          <p:nvPr/>
        </p:nvGrpSpPr>
        <p:grpSpPr>
          <a:xfrm>
            <a:off x="451866" y="6254750"/>
            <a:ext cx="11288268" cy="205359"/>
            <a:chOff x="451866" y="6254750"/>
            <a:chExt cx="11288268" cy="205359"/>
          </a:xfrm>
        </p:grpSpPr>
        <p:sp>
          <p:nvSpPr>
            <p:cNvPr id="17" name="TextBox 17"/>
            <p:cNvSpPr txBox="1"/>
            <p:nvPr/>
          </p:nvSpPr>
          <p:spPr>
            <a:xfrm>
              <a:off x="451866" y="6254750"/>
              <a:ext cx="449149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1982第10条旧文、1987深圳探索及李灏2012访谈回顾。并非正式释宪。</a:t>
              </a:r>
            </a:p>
          </p:txBody>
        </p:sp>
        <p:sp>
          <p:nvSpPr>
            <p:cNvPr id="18" name="TextBox 18"/>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30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1-title"/>
          <p:cNvGrpSpPr/>
          <p:nvPr/>
        </p:nvGrpSpPr>
        <p:grpSpPr>
          <a:xfrm>
            <a:off x="441198" y="400050"/>
            <a:ext cx="4512564" cy="933577"/>
            <a:chOff x="441198" y="400050"/>
            <a:chExt cx="4512564" cy="933577"/>
          </a:xfrm>
        </p:grpSpPr>
        <p:sp>
          <p:nvSpPr>
            <p:cNvPr id="2" name="TextBox 2"/>
            <p:cNvSpPr txBox="1"/>
            <p:nvPr/>
          </p:nvSpPr>
          <p:spPr>
            <a:xfrm>
              <a:off x="451104" y="400050"/>
              <a:ext cx="229804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旧句解释 · 比较作用范围与根据</a:t>
              </a:r>
            </a:p>
          </p:txBody>
        </p:sp>
        <p:sp>
          <p:nvSpPr>
            <p:cNvPr id="3" name="TextBox 3"/>
            <p:cNvSpPr txBox="1"/>
            <p:nvPr/>
          </p:nvSpPr>
          <p:spPr>
            <a:xfrm>
              <a:off x="441198" y="717550"/>
              <a:ext cx="451256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同一句禁令，两种读法</a:t>
              </a:r>
            </a:p>
          </p:txBody>
        </p:sp>
      </p:grpSp>
      <p:grpSp>
        <p:nvGrpSpPr>
          <p:cNvPr id="7" name="p31-shared-original-and-status"/>
          <p:cNvGrpSpPr/>
          <p:nvPr/>
        </p:nvGrpSpPr>
        <p:grpSpPr>
          <a:xfrm>
            <a:off x="445770" y="1758950"/>
            <a:ext cx="7625524" cy="802005"/>
            <a:chOff x="445770" y="1758950"/>
            <a:chExt cx="7625524" cy="802005"/>
          </a:xfrm>
        </p:grpSpPr>
        <p:sp>
          <p:nvSpPr>
            <p:cNvPr id="5" name="TextBox 5"/>
            <p:cNvSpPr txBox="1"/>
            <p:nvPr/>
          </p:nvSpPr>
          <p:spPr>
            <a:xfrm>
              <a:off x="450342" y="1758950"/>
              <a:ext cx="665620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沈岿 · 2012年事后解释实验；不是1987年的正式释宪。下面为旧第四款连续节选。</a:t>
              </a:r>
            </a:p>
          </p:txBody>
        </p:sp>
        <p:sp>
          <p:nvSpPr>
            <p:cNvPr id="6" name="TextBox 6"/>
            <p:cNvSpPr txBox="1"/>
            <p:nvPr/>
          </p:nvSpPr>
          <p:spPr>
            <a:xfrm>
              <a:off x="445770" y="2120900"/>
              <a:ext cx="7625524"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“不得侵占、买卖、出租或者以其他形式</a:t>
              </a:r>
              <a:r>
                <a:rPr lang="zh-CN" sz="2250" dirty="0">
                  <a:solidFill>
                    <a:schemeClr val="accent2"/>
                  </a:solidFill>
                  <a:latin typeface="+mn-lt"/>
                  <a:ea typeface="+mn-ea"/>
                  <a:cs typeface="+mn-cs"/>
                </a:rPr>
                <a:t>非法</a:t>
              </a:r>
              <a:r>
                <a:rPr lang="zh-CN" sz="2250" dirty="0">
                  <a:solidFill>
                    <a:schemeClr val="accent1"/>
                  </a:solidFill>
                  <a:latin typeface="+mn-lt"/>
                  <a:ea typeface="+mn-ea"/>
                  <a:cs typeface="+mn-cs"/>
                </a:rPr>
                <a:t>转让土地。”</a:t>
              </a:r>
            </a:p>
          </p:txBody>
        </p:sp>
      </p:grpSp>
      <p:grpSp>
        <p:nvGrpSpPr>
          <p:cNvPr id="21" name="p31-two-readings"/>
          <p:cNvGrpSpPr/>
          <p:nvPr/>
        </p:nvGrpSpPr>
        <p:grpSpPr>
          <a:xfrm>
            <a:off x="445008" y="3035300"/>
            <a:ext cx="9570720" cy="1626108"/>
            <a:chOff x="445008" y="3035300"/>
            <a:chExt cx="9570720" cy="1626108"/>
          </a:xfrm>
        </p:grpSpPr>
        <p:grpSp>
          <p:nvGrpSpPr>
            <p:cNvPr id="10" name="p31-reading-titles"/>
            <p:cNvGrpSpPr/>
            <p:nvPr/>
          </p:nvGrpSpPr>
          <p:grpSpPr>
            <a:xfrm>
              <a:off x="445008" y="3035300"/>
              <a:ext cx="9570720" cy="469392"/>
              <a:chOff x="445008" y="3035300"/>
              <a:chExt cx="9570720" cy="469392"/>
            </a:xfrm>
          </p:grpSpPr>
          <p:sp>
            <p:nvSpPr>
              <p:cNvPr id="8" name="TextBox 8"/>
              <p:cNvSpPr txBox="1"/>
              <p:nvPr/>
            </p:nvSpPr>
            <p:spPr>
              <a:xfrm>
                <a:off x="445008" y="3035300"/>
                <a:ext cx="275539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读法一：列明禁项</a:t>
                </a:r>
              </a:p>
            </p:txBody>
          </p:sp>
          <p:sp>
            <p:nvSpPr>
              <p:cNvPr id="9" name="TextBox 9"/>
              <p:cNvSpPr txBox="1"/>
              <p:nvPr/>
            </p:nvSpPr>
            <p:spPr>
              <a:xfrm>
                <a:off x="6236208" y="3035300"/>
                <a:ext cx="377952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读法二：非法也限定前列</a:t>
                </a:r>
              </a:p>
            </p:txBody>
          </p:sp>
        </p:grpSp>
        <p:grpSp>
          <p:nvGrpSpPr>
            <p:cNvPr id="17" name="p31-category-labels"/>
            <p:cNvGrpSpPr/>
            <p:nvPr/>
          </p:nvGrpSpPr>
          <p:grpSpPr>
            <a:xfrm>
              <a:off x="445770" y="3651250"/>
              <a:ext cx="8675370" cy="728980"/>
              <a:chOff x="445770" y="3651250"/>
              <a:chExt cx="8675370" cy="728980"/>
            </a:xfrm>
          </p:grpSpPr>
          <p:sp>
            <p:nvSpPr>
              <p:cNvPr id="11" name="TextBox 11"/>
              <p:cNvSpPr txBox="1"/>
              <p:nvPr/>
            </p:nvSpPr>
            <p:spPr>
              <a:xfrm>
                <a:off x="1857756" y="365125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买卖、出租</a:t>
                </a:r>
              </a:p>
            </p:txBody>
          </p:sp>
          <p:sp>
            <p:nvSpPr>
              <p:cNvPr id="12" name="TextBox 12"/>
              <p:cNvSpPr txBox="1"/>
              <p:nvPr/>
            </p:nvSpPr>
            <p:spPr>
              <a:xfrm>
                <a:off x="1857756" y="397510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其他形式转让</a:t>
                </a:r>
              </a:p>
            </p:txBody>
          </p:sp>
          <p:sp>
            <p:nvSpPr>
              <p:cNvPr id="13" name="TextBox 13"/>
              <p:cNvSpPr txBox="1"/>
              <p:nvPr/>
            </p:nvSpPr>
            <p:spPr>
              <a:xfrm>
                <a:off x="7648956" y="365125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买卖、出租</a:t>
                </a:r>
              </a:p>
            </p:txBody>
          </p:sp>
          <p:sp>
            <p:nvSpPr>
              <p:cNvPr id="14" name="TextBox 14"/>
              <p:cNvSpPr txBox="1"/>
              <p:nvPr/>
            </p:nvSpPr>
            <p:spPr>
              <a:xfrm>
                <a:off x="7648956" y="397510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其他形式转让</a:t>
                </a:r>
              </a:p>
            </p:txBody>
          </p:sp>
          <p:sp>
            <p:nvSpPr>
              <p:cNvPr id="15" name="TextBox 15"/>
              <p:cNvSpPr txBox="1"/>
              <p:nvPr/>
            </p:nvSpPr>
            <p:spPr>
              <a:xfrm>
                <a:off x="445770" y="3940175"/>
                <a:ext cx="628650"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非法</a:t>
                </a:r>
              </a:p>
            </p:txBody>
          </p:sp>
          <p:sp>
            <p:nvSpPr>
              <p:cNvPr id="16" name="TextBox 16"/>
              <p:cNvSpPr txBox="1"/>
              <p:nvPr/>
            </p:nvSpPr>
            <p:spPr>
              <a:xfrm>
                <a:off x="6236970" y="3792538"/>
                <a:ext cx="628650"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非法</a:t>
                </a:r>
              </a:p>
            </p:txBody>
          </p:sp>
        </p:grpSp>
        <p:sp>
          <p:nvSpPr>
            <p:cNvPr id="18" name="Freeform 18"/>
            <p:cNvSpPr/>
            <p:nvPr/>
          </p:nvSpPr>
          <p:spPr>
            <a:xfrm>
              <a:off x="1333500" y="3981450"/>
              <a:ext cx="266700" cy="323850"/>
            </a:xfrm>
            <a:prstGeom prst="leftBrace">
              <a:avLst/>
            </a:prstGeom>
            <a:noFill/>
            <a:ln w="19050">
              <a:solidFill>
                <a:schemeClr val="accent1"/>
              </a:solidFill>
            </a:ln>
          </p:spPr>
        </p:sp>
        <p:sp>
          <p:nvSpPr>
            <p:cNvPr id="19" name="Freeform 19"/>
            <p:cNvSpPr/>
            <p:nvPr/>
          </p:nvSpPr>
          <p:spPr>
            <a:xfrm>
              <a:off x="7143750" y="3638550"/>
              <a:ext cx="266700" cy="723900"/>
            </a:xfrm>
            <a:prstGeom prst="leftBrace">
              <a:avLst/>
            </a:prstGeom>
            <a:noFill/>
            <a:ln w="19050">
              <a:solidFill>
                <a:schemeClr val="accent1"/>
              </a:solidFill>
            </a:ln>
          </p:spPr>
        </p:sp>
        <p:sp>
          <p:nvSpPr>
            <p:cNvPr id="20" name="TextBox 20"/>
            <p:cNvSpPr txBox="1"/>
            <p:nvPr/>
          </p:nvSpPr>
          <p:spPr>
            <a:xfrm>
              <a:off x="450342" y="4397375"/>
              <a:ext cx="582930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作用范围示意，不改变原句标点；第一读法不为前列出租留下合法例外。</a:t>
              </a:r>
            </a:p>
          </p:txBody>
        </p:sp>
      </p:grpSp>
      <p:grpSp>
        <p:nvGrpSpPr>
          <p:cNvPr id="24" name="p31-grounds-and-limits"/>
          <p:cNvGrpSpPr/>
          <p:nvPr/>
        </p:nvGrpSpPr>
        <p:grpSpPr>
          <a:xfrm>
            <a:off x="448056" y="4908550"/>
            <a:ext cx="10838688" cy="675894"/>
            <a:chOff x="448056" y="4908550"/>
            <a:chExt cx="10838688" cy="675894"/>
          </a:xfrm>
        </p:grpSpPr>
        <p:sp>
          <p:nvSpPr>
            <p:cNvPr id="22" name="TextBox 22"/>
            <p:cNvSpPr txBox="1"/>
            <p:nvPr/>
          </p:nvSpPr>
          <p:spPr>
            <a:xfrm>
              <a:off x="448056" y="4908550"/>
              <a:ext cx="392734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文义：买卖、出租已列在“不得”之后。</a:t>
              </a:r>
              <a:br>
                <a:rPr lang="zh-CN" sz="1800" dirty="0">
                  <a:solidFill>
                    <a:schemeClr val="dk1"/>
                  </a:solidFill>
                  <a:latin typeface="+mn-lt"/>
                  <a:ea typeface="+mn-ea"/>
                  <a:cs typeface="+mn-cs"/>
                </a:rPr>
              </a:br>
              <a:r>
                <a:rPr lang="zh-CN" sz="1800" dirty="0">
                  <a:solidFill>
                    <a:schemeClr val="dk1"/>
                  </a:solidFill>
                  <a:latin typeface="+mn-lt"/>
                  <a:ea typeface="+mn-ea"/>
                  <a:cs typeface="+mn-cs"/>
                </a:rPr>
                <a:t>“其他形式非法转让”为补充禁项。</a:t>
              </a:r>
            </a:p>
          </p:txBody>
        </p:sp>
        <p:sp>
          <p:nvSpPr>
            <p:cNvPr id="23" name="TextBox 23"/>
            <p:cNvSpPr txBox="1"/>
            <p:nvPr/>
          </p:nvSpPr>
          <p:spPr>
            <a:xfrm>
              <a:off x="6239256" y="4908550"/>
              <a:ext cx="5047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合营企业付费用地、合理利用要求，</a:t>
              </a:r>
              <a:br>
                <a:rPr lang="zh-CN" sz="1800" dirty="0">
                  <a:solidFill>
                    <a:schemeClr val="dk1"/>
                  </a:solidFill>
                  <a:latin typeface="+mn-lt"/>
                  <a:ea typeface="+mn-ea"/>
                  <a:cs typeface="+mn-cs"/>
                </a:rPr>
              </a:br>
              <a:r>
                <a:rPr lang="zh-CN" sz="1800" dirty="0">
                  <a:solidFill>
                    <a:schemeClr val="dk1"/>
                  </a:solidFill>
                  <a:latin typeface="+mn-lt"/>
                  <a:ea typeface="+mn-ea"/>
                  <a:cs typeface="+mn-cs"/>
                </a:rPr>
                <a:t>为第二读法提供根据；推广到其他拍卖仍须检验。</a:t>
              </a:r>
            </a:p>
          </p:txBody>
        </p:sp>
      </p:grpSp>
      <p:grpSp>
        <p:nvGrpSpPr>
          <p:cNvPr id="26" name="p31-common-boundary"/>
          <p:cNvGrpSpPr/>
          <p:nvPr/>
        </p:nvGrpSpPr>
        <p:grpSpPr>
          <a:xfrm>
            <a:off x="448056" y="5870575"/>
            <a:ext cx="7808747" cy="352044"/>
            <a:chOff x="448056" y="5870575"/>
            <a:chExt cx="7808747" cy="352044"/>
          </a:xfrm>
        </p:grpSpPr>
        <p:sp>
          <p:nvSpPr>
            <p:cNvPr id="25" name="TextBox 25"/>
            <p:cNvSpPr txBox="1"/>
            <p:nvPr/>
          </p:nvSpPr>
          <p:spPr>
            <a:xfrm>
              <a:off x="448056" y="5870575"/>
              <a:ext cx="7808747"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解释空间 ≠ 某笔交易全部合法；有相应依据的使用权交易才可能被允许。</a:t>
              </a:r>
            </a:p>
          </p:txBody>
        </p:sp>
      </p:grpSp>
      <p:grpSp>
        <p:nvGrpSpPr>
          <p:cNvPr id="29" name="p31-footer"/>
          <p:cNvGrpSpPr/>
          <p:nvPr/>
        </p:nvGrpSpPr>
        <p:grpSpPr>
          <a:xfrm>
            <a:off x="451866" y="6254750"/>
            <a:ext cx="11288268" cy="205359"/>
            <a:chOff x="451866" y="6254750"/>
            <a:chExt cx="11288268" cy="205359"/>
          </a:xfrm>
        </p:grpSpPr>
        <p:sp>
          <p:nvSpPr>
            <p:cNvPr id="27" name="TextBox 27"/>
            <p:cNvSpPr txBox="1"/>
            <p:nvPr/>
          </p:nvSpPr>
          <p:spPr>
            <a:xfrm>
              <a:off x="451866" y="6254750"/>
              <a:ext cx="456217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沈岿《宪法规范层次论：一种解释方法》（2012）。解释图为课堂整理。</a:t>
              </a:r>
            </a:p>
          </p:txBody>
        </p:sp>
        <p:sp>
          <p:nvSpPr>
            <p:cNvPr id="28" name="TextBox 28"/>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31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childTnLst>
                          </p:cTn>
                        </p:par>
                        <p:par>
                          <p:cTn id="13" fill="hold">
                            <p:stCondLst>
                              <p:cond delay="0"/>
                            </p:stCondLst>
                            <p:childTnLst>
                              <p:par>
                                <p:cTn xmlns:p="http://schemas.openxmlformats.org/presentationml/2006/mai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2-title"/>
          <p:cNvGrpSpPr/>
          <p:nvPr/>
        </p:nvGrpSpPr>
        <p:grpSpPr>
          <a:xfrm>
            <a:off x="441198" y="400050"/>
            <a:ext cx="5408676" cy="933577"/>
            <a:chOff x="441198" y="400050"/>
            <a:chExt cx="5408676" cy="933577"/>
          </a:xfrm>
        </p:grpSpPr>
        <p:sp>
          <p:nvSpPr>
            <p:cNvPr id="2" name="TextBox 2"/>
            <p:cNvSpPr txBox="1"/>
            <p:nvPr/>
          </p:nvSpPr>
          <p:spPr>
            <a:xfrm>
              <a:off x="451104" y="400050"/>
              <a:ext cx="181340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特区立法空间 · 正式改文</a:t>
              </a:r>
            </a:p>
          </p:txBody>
        </p:sp>
        <p:sp>
          <p:nvSpPr>
            <p:cNvPr id="3" name="TextBox 3"/>
            <p:cNvSpPr txBox="1"/>
            <p:nvPr/>
          </p:nvSpPr>
          <p:spPr>
            <a:xfrm>
              <a:off x="441198" y="717550"/>
              <a:ext cx="540867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特区法规权限，与正式修宪</a:t>
              </a:r>
            </a:p>
          </p:txBody>
        </p:sp>
      </p:grpSp>
      <p:grpSp>
        <p:nvGrpSpPr>
          <p:cNvPr id="7" name="p32-economic-rule-authority"/>
          <p:cNvGrpSpPr/>
          <p:nvPr/>
        </p:nvGrpSpPr>
        <p:grpSpPr>
          <a:xfrm>
            <a:off x="445008" y="1771650"/>
            <a:ext cx="7775448" cy="907669"/>
            <a:chOff x="445008" y="1771650"/>
            <a:chExt cx="7775448" cy="907669"/>
          </a:xfrm>
        </p:grpSpPr>
        <p:sp>
          <p:nvSpPr>
            <p:cNvPr id="5" name="TextBox 5"/>
            <p:cNvSpPr txBox="1"/>
            <p:nvPr/>
          </p:nvSpPr>
          <p:spPr>
            <a:xfrm>
              <a:off x="445008" y="1771650"/>
              <a:ext cx="458175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1981 · 制定特区单行经济法规</a:t>
              </a:r>
            </a:p>
          </p:txBody>
        </p:sp>
        <p:sp>
          <p:nvSpPr>
            <p:cNvPr id="6" name="TextBox 6"/>
            <p:cNvSpPr txBox="1"/>
            <p:nvPr/>
          </p:nvSpPr>
          <p:spPr>
            <a:xfrm>
              <a:off x="448056" y="2327275"/>
              <a:ext cx="77724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全国人大常委会授权广东、福建人大及常委会制定所属特区的相应法规。</a:t>
              </a:r>
            </a:p>
          </p:txBody>
        </p:sp>
      </p:grpSp>
      <p:grpSp>
        <p:nvGrpSpPr>
          <p:cNvPr id="11" name="p32-different-authority"/>
          <p:cNvGrpSpPr/>
          <p:nvPr/>
        </p:nvGrpSpPr>
        <p:grpSpPr>
          <a:xfrm>
            <a:off x="445770" y="3121025"/>
            <a:ext cx="11279505" cy="1187069"/>
            <a:chOff x="445770" y="3121025"/>
            <a:chExt cx="11279505" cy="1187069"/>
          </a:xfrm>
        </p:grpSpPr>
        <p:sp>
          <p:nvSpPr>
            <p:cNvPr id="8" name="TextBox 8"/>
            <p:cNvSpPr txBox="1"/>
            <p:nvPr/>
          </p:nvSpPr>
          <p:spPr>
            <a:xfrm>
              <a:off x="445770" y="3121025"/>
              <a:ext cx="4308824"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专门立法空间 ≠ 改变宪法的权限</a:t>
              </a:r>
            </a:p>
          </p:txBody>
        </p:sp>
        <p:sp>
          <p:nvSpPr>
            <p:cNvPr id="9" name="Line 9"/>
            <p:cNvSpPr/>
            <p:nvPr/>
          </p:nvSpPr>
          <p:spPr>
            <a:xfrm>
              <a:off x="466725" y="3714750"/>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10" name="TextBox 10"/>
            <p:cNvSpPr txBox="1"/>
            <p:nvPr/>
          </p:nvSpPr>
          <p:spPr>
            <a:xfrm>
              <a:off x="448056" y="3956050"/>
              <a:ext cx="832972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1988正式删“出租”，写明使用权依法转让，使后来制度有更清楚的宪法表达。</a:t>
              </a:r>
            </a:p>
          </p:txBody>
        </p:sp>
      </p:grpSp>
      <p:grpSp>
        <p:nvGrpSpPr>
          <p:cNvPr id="19" name="p32-formal-change-and-target"/>
          <p:cNvGrpSpPr/>
          <p:nvPr/>
        </p:nvGrpSpPr>
        <p:grpSpPr>
          <a:xfrm>
            <a:off x="445770" y="4803775"/>
            <a:ext cx="9037320" cy="1305433"/>
            <a:chOff x="445770" y="4803775"/>
            <a:chExt cx="9037320" cy="1305433"/>
          </a:xfrm>
        </p:grpSpPr>
        <p:sp>
          <p:nvSpPr>
            <p:cNvPr id="12" name="TextBox 12"/>
            <p:cNvSpPr txBox="1"/>
            <p:nvPr/>
          </p:nvSpPr>
          <p:spPr>
            <a:xfrm>
              <a:off x="448056" y="4803775"/>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中共中央建议</a:t>
              </a:r>
            </a:p>
          </p:txBody>
        </p:sp>
        <p:sp>
          <p:nvSpPr>
            <p:cNvPr id="13" name="Line 13"/>
            <p:cNvSpPr/>
            <p:nvPr/>
          </p:nvSpPr>
          <p:spPr>
            <a:xfrm>
              <a:off x="2266950" y="4924425"/>
              <a:ext cx="1562100" cy="1"/>
            </a:xfrm>
            <a:prstGeom prst="line">
              <a:avLst/>
            </a:prstGeom>
            <a:noFill/>
            <a:ln w="19050">
              <a:solidFill>
                <a:schemeClr val="accent1"/>
              </a:solidFill>
              <a:tailEnd type="triangle" w="lg" len="lg"/>
            </a:ln>
          </p:spPr>
        </p:sp>
        <p:sp>
          <p:nvSpPr>
            <p:cNvPr id="14" name="TextBox 14"/>
            <p:cNvSpPr txBox="1"/>
            <p:nvPr/>
          </p:nvSpPr>
          <p:spPr>
            <a:xfrm>
              <a:off x="4105656" y="4803775"/>
              <a:ext cx="171450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常委会依法提请</a:t>
              </a:r>
            </a:p>
          </p:txBody>
        </p:sp>
        <p:sp>
          <p:nvSpPr>
            <p:cNvPr id="15" name="Line 15"/>
            <p:cNvSpPr/>
            <p:nvPr/>
          </p:nvSpPr>
          <p:spPr>
            <a:xfrm>
              <a:off x="6191250" y="4924425"/>
              <a:ext cx="1543050" cy="1"/>
            </a:xfrm>
            <a:prstGeom prst="line">
              <a:avLst/>
            </a:prstGeom>
            <a:noFill/>
            <a:ln w="19050">
              <a:solidFill>
                <a:schemeClr val="accent1"/>
              </a:solidFill>
              <a:tailEnd type="triangle" w="lg" len="lg"/>
            </a:ln>
          </p:spPr>
        </p:sp>
        <p:sp>
          <p:nvSpPr>
            <p:cNvPr id="16" name="TextBox 16"/>
            <p:cNvSpPr txBox="1"/>
            <p:nvPr/>
          </p:nvSpPr>
          <p:spPr>
            <a:xfrm>
              <a:off x="8010906" y="4803775"/>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全国人大通过</a:t>
              </a:r>
            </a:p>
          </p:txBody>
        </p:sp>
        <p:sp>
          <p:nvSpPr>
            <p:cNvPr id="17" name="TextBox 17"/>
            <p:cNvSpPr txBox="1"/>
            <p:nvPr/>
          </p:nvSpPr>
          <p:spPr>
            <a:xfrm>
              <a:off x="445770" y="5264150"/>
              <a:ext cx="4793456"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修正案第2条　→　宪法第10条第4款</a:t>
              </a:r>
            </a:p>
          </p:txBody>
        </p:sp>
        <p:sp>
          <p:nvSpPr>
            <p:cNvPr id="18" name="TextBox 18"/>
            <p:cNvSpPr txBox="1"/>
            <p:nvPr/>
          </p:nvSpPr>
          <p:spPr>
            <a:xfrm>
              <a:off x="450342" y="5845175"/>
              <a:ext cx="6374511"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改革与开放的形成过程，不由一场拍卖单独解释；两个条号是两份文书的位置。</a:t>
              </a:r>
            </a:p>
          </p:txBody>
        </p:sp>
      </p:grpSp>
      <p:grpSp>
        <p:nvGrpSpPr>
          <p:cNvPr id="22" name="p32-footer"/>
          <p:cNvGrpSpPr/>
          <p:nvPr/>
        </p:nvGrpSpPr>
        <p:grpSpPr>
          <a:xfrm>
            <a:off x="451866" y="6254750"/>
            <a:ext cx="11288268" cy="205359"/>
            <a:chOff x="451866" y="6254750"/>
            <a:chExt cx="11288268" cy="205359"/>
          </a:xfrm>
        </p:grpSpPr>
        <p:sp>
          <p:nvSpPr>
            <p:cNvPr id="20" name="TextBox 20"/>
            <p:cNvSpPr txBox="1"/>
            <p:nvPr/>
          </p:nvSpPr>
          <p:spPr>
            <a:xfrm>
              <a:off x="451866" y="6254750"/>
              <a:ext cx="405330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1981特区立法授权、1988宪法修正案第2条及宪法第10条第4款。</a:t>
              </a:r>
            </a:p>
          </p:txBody>
        </p:sp>
        <p:sp>
          <p:nvSpPr>
            <p:cNvPr id="21" name="TextBox 21"/>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32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3-title"/>
          <p:cNvGrpSpPr/>
          <p:nvPr/>
        </p:nvGrpSpPr>
        <p:grpSpPr>
          <a:xfrm>
            <a:off x="441198" y="400050"/>
            <a:ext cx="5856732" cy="933577"/>
            <a:chOff x="441198" y="400050"/>
            <a:chExt cx="5856732" cy="933577"/>
          </a:xfrm>
        </p:grpSpPr>
        <p:sp>
          <p:nvSpPr>
            <p:cNvPr id="2" name="TextBox 2"/>
            <p:cNvSpPr txBox="1"/>
            <p:nvPr/>
          </p:nvSpPr>
          <p:spPr>
            <a:xfrm>
              <a:off x="451104" y="400050"/>
              <a:ext cx="200726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1988 · 根本调整与制度接续</a:t>
              </a:r>
            </a:p>
          </p:txBody>
        </p:sp>
        <p:sp>
          <p:nvSpPr>
            <p:cNvPr id="3" name="TextBox 3"/>
            <p:cNvSpPr txBox="1"/>
            <p:nvPr/>
          </p:nvSpPr>
          <p:spPr>
            <a:xfrm>
              <a:off x="441198" y="717550"/>
              <a:ext cx="585673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宪法已经生效，法律仍须接续</a:t>
              </a:r>
            </a:p>
          </p:txBody>
        </p:sp>
      </p:grpSp>
      <p:grpSp>
        <p:nvGrpSpPr>
          <p:cNvPr id="9" name="p33-distinct-formal-events"/>
          <p:cNvGrpSpPr/>
          <p:nvPr/>
        </p:nvGrpSpPr>
        <p:grpSpPr>
          <a:xfrm>
            <a:off x="445008" y="1790700"/>
            <a:ext cx="9621926" cy="926719"/>
            <a:chOff x="445008" y="1790700"/>
            <a:chExt cx="9621926" cy="926719"/>
          </a:xfrm>
        </p:grpSpPr>
        <p:sp>
          <p:nvSpPr>
            <p:cNvPr id="5" name="TextBox 5"/>
            <p:cNvSpPr txBox="1"/>
            <p:nvPr/>
          </p:nvSpPr>
          <p:spPr>
            <a:xfrm>
              <a:off x="445008" y="1790700"/>
              <a:ext cx="383072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四月 · 修宪通过公布施行</a:t>
              </a:r>
            </a:p>
          </p:txBody>
        </p:sp>
        <p:sp>
          <p:nvSpPr>
            <p:cNvPr id="6" name="TextBox 6"/>
            <p:cNvSpPr txBox="1"/>
            <p:nvPr/>
          </p:nvSpPr>
          <p:spPr>
            <a:xfrm>
              <a:off x="448056" y="2365375"/>
              <a:ext cx="2441448"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宪法的约束力已经生效</a:t>
              </a:r>
            </a:p>
          </p:txBody>
        </p:sp>
        <p:sp>
          <p:nvSpPr>
            <p:cNvPr id="7" name="TextBox 7"/>
            <p:cNvSpPr txBox="1"/>
            <p:nvPr/>
          </p:nvSpPr>
          <p:spPr>
            <a:xfrm>
              <a:off x="6236208" y="1790700"/>
              <a:ext cx="383072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十二月 · 土地管理法修改</a:t>
              </a:r>
            </a:p>
          </p:txBody>
        </p:sp>
        <p:sp>
          <p:nvSpPr>
            <p:cNvPr id="8" name="TextBox 8"/>
            <p:cNvSpPr txBox="1"/>
            <p:nvPr/>
          </p:nvSpPr>
          <p:spPr>
            <a:xfrm>
              <a:off x="6239256" y="2365375"/>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继续安排具体制度</a:t>
              </a:r>
            </a:p>
          </p:txBody>
        </p:sp>
      </p:grpSp>
      <p:grpSp>
        <p:nvGrpSpPr>
          <p:cNvPr id="14" name="p33-full-law-clause"/>
          <p:cNvGrpSpPr/>
          <p:nvPr/>
        </p:nvGrpSpPr>
        <p:grpSpPr>
          <a:xfrm>
            <a:off x="450342" y="3101975"/>
            <a:ext cx="5647182" cy="1930908"/>
            <a:chOff x="450342" y="3101975"/>
            <a:chExt cx="5647182" cy="1930908"/>
          </a:xfrm>
        </p:grpSpPr>
        <p:sp>
          <p:nvSpPr>
            <p:cNvPr id="10" name="TextBox 10"/>
            <p:cNvSpPr txBox="1"/>
            <p:nvPr/>
          </p:nvSpPr>
          <p:spPr>
            <a:xfrm>
              <a:off x="450342" y="3101975"/>
              <a:ext cx="243990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1988修改后的短款 · 历史原文</a:t>
              </a:r>
            </a:p>
          </p:txBody>
        </p:sp>
        <p:sp>
          <p:nvSpPr>
            <p:cNvPr id="11" name="Line 11"/>
            <p:cNvSpPr/>
            <p:nvPr/>
          </p:nvSpPr>
          <p:spPr>
            <a:xfrm>
              <a:off x="466725" y="3524250"/>
              <a:ext cx="9525" cy="809625"/>
            </a:xfrm>
            <a:custGeom>
              <a:avLst/>
              <a:gdLst/>
              <a:ahLst/>
              <a:cxnLst/>
              <a:rect l="l" t="t" r="r" b="b"/>
              <a:pathLst>
                <a:path w="9525" h="809625">
                  <a:moveTo>
                    <a:pt x="0" y="0"/>
                  </a:moveTo>
                  <a:lnTo>
                    <a:pt x="0" y="809625"/>
                  </a:lnTo>
                </a:path>
              </a:pathLst>
            </a:custGeom>
            <a:noFill/>
            <a:ln w="28575">
              <a:solidFill>
                <a:schemeClr val="accent2"/>
              </a:solidFill>
            </a:ln>
          </p:spPr>
        </p:sp>
        <p:sp>
          <p:nvSpPr>
            <p:cNvPr id="12" name="TextBox 12"/>
            <p:cNvSpPr txBox="1"/>
            <p:nvPr/>
          </p:nvSpPr>
          <p:spPr>
            <a:xfrm>
              <a:off x="695706" y="3603625"/>
              <a:ext cx="540181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“国有土地和集体所有的土地的使用权可以依法转让。</a:t>
              </a:r>
              <a:br>
                <a:rPr lang="zh-CN" sz="1800" dirty="0">
                  <a:solidFill>
                    <a:schemeClr val="dk1"/>
                  </a:solidFill>
                  <a:latin typeface="+mn-lt"/>
                  <a:ea typeface="+mn-ea"/>
                  <a:cs typeface="+mn-cs"/>
                </a:rPr>
              </a:br>
              <a:r>
                <a:rPr lang="zh-CN" sz="1800" dirty="0">
                  <a:solidFill>
                    <a:schemeClr val="dk1"/>
                  </a:solidFill>
                  <a:latin typeface="+mn-lt"/>
                  <a:ea typeface="+mn-ea"/>
                  <a:cs typeface="+mn-cs"/>
                </a:rPr>
                <a:t>土地使用权转让的具体办法，由国务院另行规定。”</a:t>
              </a:r>
            </a:p>
          </p:txBody>
        </p:sp>
        <p:sp>
          <p:nvSpPr>
            <p:cNvPr id="13" name="TextBox 13"/>
            <p:cNvSpPr txBox="1"/>
            <p:nvPr/>
          </p:nvSpPr>
          <p:spPr>
            <a:xfrm>
              <a:off x="450342" y="4768850"/>
              <a:ext cx="4193667"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法律有实际安排工作，不能另写与宪法相反的要求。</a:t>
              </a:r>
            </a:p>
          </p:txBody>
        </p:sp>
      </p:grpSp>
      <p:grpSp>
        <p:nvGrpSpPr>
          <p:cNvPr id="18" name="p33-concrete-methods"/>
          <p:cNvGrpSpPr/>
          <p:nvPr/>
        </p:nvGrpSpPr>
        <p:grpSpPr>
          <a:xfrm>
            <a:off x="8293608" y="3540125"/>
            <a:ext cx="2199894" cy="1492758"/>
            <a:chOff x="8293608" y="3540125"/>
            <a:chExt cx="2199894" cy="1492758"/>
          </a:xfrm>
        </p:grpSpPr>
        <p:sp>
          <p:nvSpPr>
            <p:cNvPr id="15" name="TextBox 15"/>
            <p:cNvSpPr txBox="1"/>
            <p:nvPr/>
          </p:nvSpPr>
          <p:spPr>
            <a:xfrm>
              <a:off x="8293608" y="3540125"/>
              <a:ext cx="10485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国务院</a:t>
              </a:r>
            </a:p>
          </p:txBody>
        </p:sp>
        <p:sp>
          <p:nvSpPr>
            <p:cNvPr id="16" name="TextBox 16"/>
            <p:cNvSpPr txBox="1"/>
            <p:nvPr/>
          </p:nvSpPr>
          <p:spPr>
            <a:xfrm>
              <a:off x="8296656" y="415607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具体办法的制定者</a:t>
              </a:r>
            </a:p>
          </p:txBody>
        </p:sp>
        <p:sp>
          <p:nvSpPr>
            <p:cNvPr id="17" name="TextBox 17"/>
            <p:cNvSpPr txBox="1"/>
            <p:nvPr/>
          </p:nvSpPr>
          <p:spPr>
            <a:xfrm>
              <a:off x="8298942" y="4768850"/>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这是本条给出的职权对象。</a:t>
              </a:r>
            </a:p>
          </p:txBody>
        </p:sp>
      </p:grpSp>
      <p:grpSp>
        <p:nvGrpSpPr>
          <p:cNvPr id="21" name="p33-effect-versus-completion"/>
          <p:cNvGrpSpPr/>
          <p:nvPr/>
        </p:nvGrpSpPr>
        <p:grpSpPr>
          <a:xfrm>
            <a:off x="445770" y="5445125"/>
            <a:ext cx="6383655" cy="730758"/>
            <a:chOff x="445770" y="5445125"/>
            <a:chExt cx="6383655" cy="730758"/>
          </a:xfrm>
        </p:grpSpPr>
        <p:sp>
          <p:nvSpPr>
            <p:cNvPr id="19" name="TextBox 19"/>
            <p:cNvSpPr txBox="1"/>
            <p:nvPr/>
          </p:nvSpPr>
          <p:spPr>
            <a:xfrm>
              <a:off x="445770" y="5445125"/>
              <a:ext cx="638365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规范已经约束，不等于全部制度工作已经完成。</a:t>
              </a:r>
            </a:p>
          </p:txBody>
        </p:sp>
        <p:sp>
          <p:nvSpPr>
            <p:cNvPr id="20" name="TextBox 20"/>
            <p:cNvSpPr txBox="1"/>
            <p:nvPr/>
          </p:nvSpPr>
          <p:spPr>
            <a:xfrm>
              <a:off x="450342" y="5911850"/>
              <a:ext cx="582930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某笔历史交易的效力仍须查当时具体行为及依据，不能由后来修正倒推。</a:t>
              </a:r>
            </a:p>
          </p:txBody>
        </p:sp>
      </p:grpSp>
      <p:grpSp>
        <p:nvGrpSpPr>
          <p:cNvPr id="24" name="p33-footer"/>
          <p:cNvGrpSpPr/>
          <p:nvPr/>
        </p:nvGrpSpPr>
        <p:grpSpPr>
          <a:xfrm>
            <a:off x="451866" y="6254750"/>
            <a:ext cx="11288268" cy="205359"/>
            <a:chOff x="451866" y="6254750"/>
            <a:chExt cx="11288268" cy="205359"/>
          </a:xfrm>
        </p:grpSpPr>
        <p:sp>
          <p:nvSpPr>
            <p:cNvPr id="22" name="TextBox 22"/>
            <p:cNvSpPr txBox="1"/>
            <p:nvPr/>
          </p:nvSpPr>
          <p:spPr>
            <a:xfrm>
              <a:off x="451866" y="6254750"/>
              <a:ext cx="456217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1988宪法修正案、同年土地管理法修改。宪法效力不等待后续制度工作。</a:t>
              </a:r>
            </a:p>
          </p:txBody>
        </p:sp>
        <p:sp>
          <p:nvSpPr>
            <p:cNvPr id="23" name="TextBox 23"/>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33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4-title"/>
          <p:cNvGrpSpPr/>
          <p:nvPr/>
        </p:nvGrpSpPr>
        <p:grpSpPr>
          <a:xfrm>
            <a:off x="441198" y="400050"/>
            <a:ext cx="6752844" cy="933577"/>
            <a:chOff x="441198" y="400050"/>
            <a:chExt cx="6752844" cy="933577"/>
          </a:xfrm>
        </p:grpSpPr>
        <p:sp>
          <p:nvSpPr>
            <p:cNvPr id="2" name="TextBox 2"/>
            <p:cNvSpPr txBox="1"/>
            <p:nvPr/>
          </p:nvSpPr>
          <p:spPr>
            <a:xfrm>
              <a:off x="451104" y="400050"/>
              <a:ext cx="281498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1982文本中的五次部分修正 · 代表内容</a:t>
              </a:r>
            </a:p>
          </p:txBody>
        </p:sp>
        <p:sp>
          <p:nvSpPr>
            <p:cNvPr id="3" name="TextBox 3"/>
            <p:cNvSpPr txBox="1"/>
            <p:nvPr/>
          </p:nvSpPr>
          <p:spPr>
            <a:xfrm>
              <a:off x="441198" y="717550"/>
              <a:ext cx="675284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五次修正：承接，也增加一般要求</a:t>
              </a:r>
            </a:p>
          </p:txBody>
        </p:sp>
      </p:grpSp>
      <p:grpSp>
        <p:nvGrpSpPr>
          <p:cNvPr id="19" name="p34-representative-changes"/>
          <p:cNvGrpSpPr/>
          <p:nvPr/>
        </p:nvGrpSpPr>
        <p:grpSpPr>
          <a:xfrm>
            <a:off x="445008" y="1784350"/>
            <a:ext cx="11280267" cy="2877058"/>
            <a:chOff x="445008" y="1784350"/>
            <a:chExt cx="11280267" cy="2877058"/>
          </a:xfrm>
        </p:grpSpPr>
        <p:sp>
          <p:nvSpPr>
            <p:cNvPr id="5" name="Line 5"/>
            <p:cNvSpPr/>
            <p:nvPr/>
          </p:nvSpPr>
          <p:spPr>
            <a:xfrm>
              <a:off x="466725" y="2190750"/>
              <a:ext cx="11258550" cy="9525"/>
            </a:xfrm>
            <a:custGeom>
              <a:avLst/>
              <a:gdLst/>
              <a:ahLst/>
              <a:cxnLst/>
              <a:rect l="l" t="t" r="r" b="b"/>
              <a:pathLst>
                <a:path w="11258550" h="9525">
                  <a:moveTo>
                    <a:pt x="0" y="0"/>
                  </a:moveTo>
                  <a:lnTo>
                    <a:pt x="11258550" y="0"/>
                  </a:lnTo>
                </a:path>
              </a:pathLst>
            </a:custGeom>
            <a:noFill/>
            <a:ln w="19050">
              <a:solidFill>
                <a:schemeClr val="accent1"/>
              </a:solidFill>
            </a:ln>
          </p:spPr>
        </p:sp>
        <p:grpSp>
          <p:nvGrpSpPr>
            <p:cNvPr id="11" name="p34-year-labels"/>
            <p:cNvGrpSpPr/>
            <p:nvPr/>
          </p:nvGrpSpPr>
          <p:grpSpPr>
            <a:xfrm>
              <a:off x="445008" y="1784350"/>
              <a:ext cx="9919411" cy="469392"/>
              <a:chOff x="445008" y="1784350"/>
              <a:chExt cx="9919411" cy="469392"/>
            </a:xfrm>
          </p:grpSpPr>
          <p:sp>
            <p:nvSpPr>
              <p:cNvPr id="6" name="TextBox 6"/>
              <p:cNvSpPr txBox="1"/>
              <p:nvPr/>
            </p:nvSpPr>
            <p:spPr>
              <a:xfrm>
                <a:off x="445008" y="178435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1988</a:t>
                </a:r>
              </a:p>
            </p:txBody>
          </p:sp>
          <p:sp>
            <p:nvSpPr>
              <p:cNvPr id="7" name="TextBox 7"/>
              <p:cNvSpPr txBox="1"/>
              <p:nvPr/>
            </p:nvSpPr>
            <p:spPr>
              <a:xfrm>
                <a:off x="2731008" y="178435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1993</a:t>
                </a:r>
              </a:p>
            </p:txBody>
          </p:sp>
          <p:sp>
            <p:nvSpPr>
              <p:cNvPr id="8" name="TextBox 8"/>
              <p:cNvSpPr txBox="1"/>
              <p:nvPr/>
            </p:nvSpPr>
            <p:spPr>
              <a:xfrm>
                <a:off x="5017008" y="178435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1999</a:t>
                </a:r>
              </a:p>
            </p:txBody>
          </p:sp>
          <p:sp>
            <p:nvSpPr>
              <p:cNvPr id="9" name="TextBox 9"/>
              <p:cNvSpPr txBox="1"/>
              <p:nvPr/>
            </p:nvSpPr>
            <p:spPr>
              <a:xfrm>
                <a:off x="7303008" y="178435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2004</a:t>
                </a:r>
              </a:p>
            </p:txBody>
          </p:sp>
          <p:sp>
            <p:nvSpPr>
              <p:cNvPr id="10" name="TextBox 10"/>
              <p:cNvSpPr txBox="1"/>
              <p:nvPr/>
            </p:nvSpPr>
            <p:spPr>
              <a:xfrm>
                <a:off x="9589008" y="178435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2018</a:t>
                </a:r>
              </a:p>
            </p:txBody>
          </p:sp>
        </p:grpSp>
        <p:grpSp>
          <p:nvGrpSpPr>
            <p:cNvPr id="17" name="p34-selected-change-copy"/>
            <p:cNvGrpSpPr/>
            <p:nvPr/>
          </p:nvGrpSpPr>
          <p:grpSpPr>
            <a:xfrm>
              <a:off x="448056" y="2527300"/>
              <a:ext cx="10533888" cy="999744"/>
              <a:chOff x="448056" y="2527300"/>
              <a:chExt cx="10533888" cy="999744"/>
            </a:xfrm>
          </p:grpSpPr>
          <p:sp>
            <p:nvSpPr>
              <p:cNvPr id="12" name="TextBox 12"/>
              <p:cNvSpPr txBox="1"/>
              <p:nvPr/>
            </p:nvSpPr>
            <p:spPr>
              <a:xfrm>
                <a:off x="448056" y="2527300"/>
                <a:ext cx="1161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私营经济</a:t>
                </a:r>
                <a:br>
                  <a:rPr lang="zh-CN" sz="1800" dirty="0">
                    <a:solidFill>
                      <a:schemeClr val="dk1"/>
                    </a:solidFill>
                    <a:latin typeface="+mn-lt"/>
                    <a:ea typeface="+mn-ea"/>
                    <a:cs typeface="+mn-cs"/>
                  </a:rPr>
                </a:br>
                <a:r>
                  <a:rPr lang="zh-CN" sz="1800" dirty="0">
                    <a:solidFill>
                      <a:schemeClr val="dk1"/>
                    </a:solidFill>
                    <a:latin typeface="+mn-lt"/>
                    <a:ea typeface="+mn-ea"/>
                    <a:cs typeface="+mn-cs"/>
                  </a:rPr>
                  <a:t>土地使用权</a:t>
                </a:r>
              </a:p>
            </p:txBody>
          </p:sp>
          <p:sp>
            <p:nvSpPr>
              <p:cNvPr id="13" name="TextBox 13"/>
              <p:cNvSpPr txBox="1"/>
              <p:nvPr/>
            </p:nvSpPr>
            <p:spPr>
              <a:xfrm>
                <a:off x="2734056" y="2527300"/>
                <a:ext cx="9326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社会主义</a:t>
                </a:r>
                <a:br>
                  <a:rPr lang="zh-CN" sz="1800" dirty="0">
                    <a:solidFill>
                      <a:schemeClr val="dk1"/>
                    </a:solidFill>
                    <a:latin typeface="+mn-lt"/>
                    <a:ea typeface="+mn-ea"/>
                    <a:cs typeface="+mn-cs"/>
                  </a:rPr>
                </a:br>
                <a:r>
                  <a:rPr lang="zh-CN" sz="1800" dirty="0">
                    <a:solidFill>
                      <a:schemeClr val="dk1"/>
                    </a:solidFill>
                    <a:latin typeface="+mn-lt"/>
                    <a:ea typeface="+mn-ea"/>
                    <a:cs typeface="+mn-cs"/>
                  </a:rPr>
                  <a:t>市场经济</a:t>
                </a:r>
              </a:p>
            </p:txBody>
          </p:sp>
          <p:sp>
            <p:nvSpPr>
              <p:cNvPr id="14" name="TextBox 14"/>
              <p:cNvSpPr txBox="1"/>
              <p:nvPr/>
            </p:nvSpPr>
            <p:spPr>
              <a:xfrm>
                <a:off x="5020056" y="2527300"/>
                <a:ext cx="9326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依法治国</a:t>
                </a:r>
                <a:br>
                  <a:rPr lang="zh-CN" sz="1800" dirty="0">
                    <a:solidFill>
                      <a:schemeClr val="dk1"/>
                    </a:solidFill>
                    <a:latin typeface="+mn-lt"/>
                    <a:ea typeface="+mn-ea"/>
                    <a:cs typeface="+mn-cs"/>
                  </a:rPr>
                </a:br>
                <a:r>
                  <a:rPr lang="zh-CN" sz="1800" dirty="0">
                    <a:solidFill>
                      <a:schemeClr val="dk1"/>
                    </a:solidFill>
                    <a:latin typeface="+mn-lt"/>
                    <a:ea typeface="+mn-ea"/>
                    <a:cs typeface="+mn-cs"/>
                  </a:rPr>
                  <a:t>社会主义</a:t>
                </a:r>
                <a:br>
                  <a:rPr lang="zh-CN" sz="1800" dirty="0">
                    <a:solidFill>
                      <a:schemeClr val="dk1"/>
                    </a:solidFill>
                    <a:latin typeface="+mn-lt"/>
                    <a:ea typeface="+mn-ea"/>
                    <a:cs typeface="+mn-cs"/>
                  </a:rPr>
                </a:br>
                <a:r>
                  <a:rPr lang="zh-CN" sz="1800" dirty="0">
                    <a:solidFill>
                      <a:schemeClr val="dk1"/>
                    </a:solidFill>
                    <a:latin typeface="+mn-lt"/>
                    <a:ea typeface="+mn-ea"/>
                    <a:cs typeface="+mn-cs"/>
                  </a:rPr>
                  <a:t>法治国家</a:t>
                </a:r>
              </a:p>
            </p:txBody>
          </p:sp>
          <p:sp>
            <p:nvSpPr>
              <p:cNvPr id="15" name="TextBox 15"/>
              <p:cNvSpPr txBox="1"/>
              <p:nvPr/>
            </p:nvSpPr>
            <p:spPr>
              <a:xfrm>
                <a:off x="7306056" y="2527300"/>
                <a:ext cx="1161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人权</a:t>
                </a:r>
                <a:br>
                  <a:rPr lang="zh-CN" sz="1800" dirty="0">
                    <a:solidFill>
                      <a:schemeClr val="dk1"/>
                    </a:solidFill>
                    <a:latin typeface="+mn-lt"/>
                    <a:ea typeface="+mn-ea"/>
                    <a:cs typeface="+mn-cs"/>
                  </a:rPr>
                </a:br>
                <a:r>
                  <a:rPr lang="zh-CN" sz="1800" dirty="0">
                    <a:solidFill>
                      <a:schemeClr val="dk1"/>
                    </a:solidFill>
                    <a:latin typeface="+mn-lt"/>
                    <a:ea typeface="+mn-ea"/>
                    <a:cs typeface="+mn-cs"/>
                  </a:rPr>
                  <a:t>私有财产等</a:t>
                </a:r>
              </a:p>
            </p:txBody>
          </p:sp>
          <p:sp>
            <p:nvSpPr>
              <p:cNvPr id="16" name="TextBox 16"/>
              <p:cNvSpPr txBox="1"/>
              <p:nvPr/>
            </p:nvSpPr>
            <p:spPr>
              <a:xfrm>
                <a:off x="9592056" y="2527300"/>
                <a:ext cx="1389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多方面修改，</a:t>
                </a:r>
                <a:br>
                  <a:rPr lang="zh-CN" sz="1800" dirty="0">
                    <a:solidFill>
                      <a:schemeClr val="dk1"/>
                    </a:solidFill>
                    <a:latin typeface="+mn-lt"/>
                    <a:ea typeface="+mn-ea"/>
                    <a:cs typeface="+mn-cs"/>
                  </a:rPr>
                </a:br>
                <a:r>
                  <a:rPr lang="zh-CN" sz="1800" dirty="0">
                    <a:solidFill>
                      <a:schemeClr val="dk1"/>
                    </a:solidFill>
                    <a:latin typeface="+mn-lt"/>
                    <a:ea typeface="+mn-ea"/>
                    <a:cs typeface="+mn-cs"/>
                  </a:rPr>
                  <a:t>包括监察制度</a:t>
                </a:r>
              </a:p>
            </p:txBody>
          </p:sp>
        </p:grpSp>
        <p:sp>
          <p:nvSpPr>
            <p:cNvPr id="18" name="TextBox 18"/>
            <p:cNvSpPr txBox="1"/>
            <p:nvPr/>
          </p:nvSpPr>
          <p:spPr>
            <a:xfrm>
              <a:off x="450342" y="4397375"/>
              <a:ext cx="528408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并非各次修正的全部内容；年份间距不表示时间长度或修改幅度。</a:t>
              </a:r>
            </a:p>
          </p:txBody>
        </p:sp>
      </p:grpSp>
      <p:grpSp>
        <p:nvGrpSpPr>
          <p:cNvPr id="22" name="p34-general-requirements"/>
          <p:cNvGrpSpPr/>
          <p:nvPr/>
        </p:nvGrpSpPr>
        <p:grpSpPr>
          <a:xfrm>
            <a:off x="445770" y="5254625"/>
            <a:ext cx="8743950" cy="844169"/>
            <a:chOff x="445770" y="5254625"/>
            <a:chExt cx="8743950" cy="844169"/>
          </a:xfrm>
        </p:grpSpPr>
        <p:sp>
          <p:nvSpPr>
            <p:cNvPr id="20" name="TextBox 20"/>
            <p:cNvSpPr txBox="1"/>
            <p:nvPr/>
          </p:nvSpPr>
          <p:spPr>
            <a:xfrm>
              <a:off x="445770" y="5254625"/>
              <a:ext cx="6141339"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1982已有具体保障；新增一般原则仍有意义。</a:t>
              </a:r>
            </a:p>
          </p:txBody>
        </p:sp>
        <p:sp>
          <p:nvSpPr>
            <p:cNvPr id="21" name="TextBox 21"/>
            <p:cNvSpPr txBox="1"/>
            <p:nvPr/>
          </p:nvSpPr>
          <p:spPr>
            <a:xfrm>
              <a:off x="448056" y="5746750"/>
              <a:ext cx="87416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自由保障及遵守宪法法律，接到更明确的概括要求，联系分布在不同位置的制度。</a:t>
              </a:r>
            </a:p>
          </p:txBody>
        </p:sp>
      </p:grpSp>
      <p:grpSp>
        <p:nvGrpSpPr>
          <p:cNvPr id="25" name="p34-footer"/>
          <p:cNvGrpSpPr/>
          <p:nvPr/>
        </p:nvGrpSpPr>
        <p:grpSpPr>
          <a:xfrm>
            <a:off x="451866" y="6254750"/>
            <a:ext cx="11288268" cy="205359"/>
            <a:chOff x="451866" y="6254750"/>
            <a:chExt cx="11288268" cy="205359"/>
          </a:xfrm>
        </p:grpSpPr>
        <p:sp>
          <p:nvSpPr>
            <p:cNvPr id="23" name="TextBox 23"/>
            <p:cNvSpPr txBox="1"/>
            <p:nvPr/>
          </p:nvSpPr>
          <p:spPr>
            <a:xfrm>
              <a:off x="451866" y="6254750"/>
              <a:ext cx="410984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1988、1993、1999、2004、2018宪法修正案；以上为代表内容。</a:t>
              </a:r>
            </a:p>
          </p:txBody>
        </p:sp>
        <p:sp>
          <p:nvSpPr>
            <p:cNvPr id="24" name="TextBox 24"/>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34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5-title"/>
          <p:cNvGrpSpPr/>
          <p:nvPr/>
        </p:nvGrpSpPr>
        <p:grpSpPr>
          <a:xfrm>
            <a:off x="441198" y="400050"/>
            <a:ext cx="7648956" cy="933577"/>
            <a:chOff x="441198" y="400050"/>
            <a:chExt cx="7648956" cy="933577"/>
          </a:xfrm>
        </p:grpSpPr>
        <p:sp>
          <p:nvSpPr>
            <p:cNvPr id="2" name="TextBox 2"/>
            <p:cNvSpPr txBox="1"/>
            <p:nvPr/>
          </p:nvSpPr>
          <p:spPr>
            <a:xfrm>
              <a:off x="451104" y="400050"/>
              <a:ext cx="281498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李建国2018草案说明 · 覆盖与部分整合</a:t>
              </a:r>
            </a:p>
          </p:txBody>
        </p:sp>
        <p:sp>
          <p:nvSpPr>
            <p:cNvPr id="3" name="TextBox 3"/>
            <p:cNvSpPr txBox="1"/>
            <p:nvPr/>
          </p:nvSpPr>
          <p:spPr>
            <a:xfrm>
              <a:off x="441198" y="717550"/>
              <a:ext cx="764895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整合部分职能，不是全部交给一个机关</a:t>
              </a:r>
            </a:p>
          </p:txBody>
        </p:sp>
      </p:grpSp>
      <p:grpSp>
        <p:nvGrpSpPr>
          <p:cNvPr id="6" name="p35-reform-reasons"/>
          <p:cNvGrpSpPr/>
          <p:nvPr/>
        </p:nvGrpSpPr>
        <p:grpSpPr>
          <a:xfrm>
            <a:off x="448056" y="1736725"/>
            <a:ext cx="7104888" cy="733044"/>
            <a:chOff x="448056" y="1736725"/>
            <a:chExt cx="7104888" cy="733044"/>
          </a:xfrm>
        </p:grpSpPr>
        <p:sp>
          <p:nvSpPr>
            <p:cNvPr id="5" name="TextBox 5"/>
            <p:cNvSpPr txBox="1"/>
            <p:nvPr/>
          </p:nvSpPr>
          <p:spPr>
            <a:xfrm>
              <a:off x="448056" y="1736725"/>
              <a:ext cx="71048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原行政监察主要面向行政机关及工作人员，监督对象的覆盖需要扩大。</a:t>
              </a:r>
              <a:br>
                <a:rPr lang="zh-CN" sz="1800" dirty="0">
                  <a:solidFill>
                    <a:schemeClr val="dk1"/>
                  </a:solidFill>
                  <a:latin typeface="+mn-lt"/>
                  <a:ea typeface="+mn-ea"/>
                  <a:cs typeface="+mn-cs"/>
                </a:rPr>
              </a:br>
              <a:r>
                <a:rPr lang="zh-CN" sz="1800" dirty="0">
                  <a:solidFill>
                    <a:schemeClr val="dk1"/>
                  </a:solidFill>
                  <a:latin typeface="+mn-lt"/>
                  <a:ea typeface="+mn-ea"/>
                  <a:cs typeface="+mn-cs"/>
                </a:rPr>
                <a:t>相关职能分散，需要整合；不表示其他人员此前完全没有法律约束。</a:t>
              </a:r>
            </a:p>
          </p:txBody>
        </p:sp>
      </p:grpSp>
      <p:grpSp>
        <p:nvGrpSpPr>
          <p:cNvPr id="16" name="p35-partial-functions"/>
          <p:cNvGrpSpPr/>
          <p:nvPr/>
        </p:nvGrpSpPr>
        <p:grpSpPr>
          <a:xfrm>
            <a:off x="448056" y="2844800"/>
            <a:ext cx="7024116" cy="1348994"/>
            <a:chOff x="448056" y="2844800"/>
            <a:chExt cx="7024116" cy="1348994"/>
          </a:xfrm>
        </p:grpSpPr>
        <p:sp>
          <p:nvSpPr>
            <p:cNvPr id="7" name="TextBox 7"/>
            <p:cNvSpPr txBox="1"/>
            <p:nvPr/>
          </p:nvSpPr>
          <p:spPr>
            <a:xfrm>
              <a:off x="450342" y="2844800"/>
              <a:ext cx="403919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拟整合的部分职能 · 下面是工作，不是三个新机关</a:t>
              </a:r>
            </a:p>
          </p:txBody>
        </p:sp>
        <p:grpSp>
          <p:nvGrpSpPr>
            <p:cNvPr id="12" name="p35-function-copy"/>
            <p:cNvGrpSpPr/>
            <p:nvPr/>
          </p:nvGrpSpPr>
          <p:grpSpPr>
            <a:xfrm>
              <a:off x="448056" y="3244850"/>
              <a:ext cx="7024116" cy="948944"/>
              <a:chOff x="448056" y="3244850"/>
              <a:chExt cx="7024116" cy="948944"/>
            </a:xfrm>
          </p:grpSpPr>
          <p:sp>
            <p:nvSpPr>
              <p:cNvPr id="8" name="TextBox 8"/>
              <p:cNvSpPr txBox="1"/>
              <p:nvPr/>
            </p:nvSpPr>
            <p:spPr>
              <a:xfrm>
                <a:off x="448056" y="3317875"/>
                <a:ext cx="21991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政府监察、预防腐败</a:t>
                </a:r>
              </a:p>
            </p:txBody>
          </p:sp>
          <p:sp>
            <p:nvSpPr>
              <p:cNvPr id="9" name="TextBox 9"/>
              <p:cNvSpPr txBox="1"/>
              <p:nvPr/>
            </p:nvSpPr>
            <p:spPr>
              <a:xfrm>
                <a:off x="448056" y="3775075"/>
                <a:ext cx="244144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检察查处相关职务犯罪</a:t>
                </a:r>
              </a:p>
            </p:txBody>
          </p:sp>
          <p:sp>
            <p:nvSpPr>
              <p:cNvPr id="10" name="TextBox 10"/>
              <p:cNvSpPr txBox="1"/>
              <p:nvPr/>
            </p:nvSpPr>
            <p:spPr>
              <a:xfrm>
                <a:off x="5740908" y="324485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监察委员会</a:t>
                </a:r>
              </a:p>
            </p:txBody>
          </p:sp>
          <p:sp>
            <p:nvSpPr>
              <p:cNvPr id="11" name="TextBox 11"/>
              <p:cNvSpPr txBox="1"/>
              <p:nvPr/>
            </p:nvSpPr>
            <p:spPr>
              <a:xfrm>
                <a:off x="5743956" y="3841750"/>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新设机关</a:t>
                </a:r>
              </a:p>
            </p:txBody>
          </p:sp>
        </p:grpSp>
        <p:sp>
          <p:nvSpPr>
            <p:cNvPr id="13" name="Freeform 13"/>
            <p:cNvSpPr/>
            <p:nvPr/>
          </p:nvSpPr>
          <p:spPr>
            <a:xfrm>
              <a:off x="3409950" y="3143250"/>
              <a:ext cx="266700" cy="990600"/>
            </a:xfrm>
            <a:prstGeom prst="rightBrace">
              <a:avLst/>
            </a:prstGeom>
            <a:noFill/>
            <a:ln w="19050">
              <a:solidFill>
                <a:schemeClr val="accent1"/>
              </a:solidFill>
            </a:ln>
          </p:spPr>
        </p:sp>
        <p:sp>
          <p:nvSpPr>
            <p:cNvPr id="14" name="Line 14"/>
            <p:cNvSpPr/>
            <p:nvPr/>
          </p:nvSpPr>
          <p:spPr>
            <a:xfrm>
              <a:off x="3848100" y="3638550"/>
              <a:ext cx="1543050" cy="1"/>
            </a:xfrm>
            <a:prstGeom prst="line">
              <a:avLst/>
            </a:prstGeom>
            <a:noFill/>
            <a:ln w="19050">
              <a:solidFill>
                <a:schemeClr val="accent1"/>
              </a:solidFill>
              <a:tailEnd type="triangle" w="lg" len="lg"/>
            </a:ln>
          </p:spPr>
        </p:sp>
        <p:sp>
          <p:nvSpPr>
            <p:cNvPr id="15" name="TextBox 15"/>
            <p:cNvSpPr txBox="1"/>
            <p:nvPr/>
          </p:nvSpPr>
          <p:spPr>
            <a:xfrm>
              <a:off x="4012692" y="3263900"/>
              <a:ext cx="74066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部分整合</a:t>
              </a:r>
            </a:p>
          </p:txBody>
        </p:sp>
      </p:grpSp>
      <p:grpSp>
        <p:nvGrpSpPr>
          <p:cNvPr id="20" name="p35-procuratorate-remains"/>
          <p:cNvGrpSpPr/>
          <p:nvPr/>
        </p:nvGrpSpPr>
        <p:grpSpPr>
          <a:xfrm>
            <a:off x="8560308" y="3244850"/>
            <a:ext cx="2381631" cy="1368933"/>
            <a:chOff x="8560308" y="3244850"/>
            <a:chExt cx="2381631" cy="1368933"/>
          </a:xfrm>
        </p:grpSpPr>
        <p:sp>
          <p:nvSpPr>
            <p:cNvPr id="17" name="TextBox 17"/>
            <p:cNvSpPr txBox="1"/>
            <p:nvPr/>
          </p:nvSpPr>
          <p:spPr>
            <a:xfrm>
              <a:off x="8560308" y="324485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检察院仍在</a:t>
              </a:r>
            </a:p>
          </p:txBody>
        </p:sp>
        <p:sp>
          <p:nvSpPr>
            <p:cNvPr id="18" name="TextBox 18"/>
            <p:cNvSpPr txBox="1"/>
            <p:nvPr/>
          </p:nvSpPr>
          <p:spPr>
            <a:xfrm>
              <a:off x="8563356" y="3841750"/>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继续承担法定职责</a:t>
              </a:r>
            </a:p>
          </p:txBody>
        </p:sp>
        <p:sp>
          <p:nvSpPr>
            <p:cNvPr id="19" name="TextBox 19"/>
            <p:cNvSpPr txBox="1"/>
            <p:nvPr/>
          </p:nvSpPr>
          <p:spPr>
            <a:xfrm>
              <a:off x="8565642" y="4349750"/>
              <a:ext cx="2376297"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整合部分职能，并不是改名。</a:t>
              </a:r>
            </a:p>
          </p:txBody>
        </p:sp>
      </p:grpSp>
      <p:grpSp>
        <p:nvGrpSpPr>
          <p:cNvPr id="27" name="p35-continuing-judgments"/>
          <p:cNvGrpSpPr/>
          <p:nvPr/>
        </p:nvGrpSpPr>
        <p:grpSpPr>
          <a:xfrm>
            <a:off x="445770" y="5099050"/>
            <a:ext cx="10635234" cy="1114933"/>
            <a:chOff x="445770" y="5099050"/>
            <a:chExt cx="10635234" cy="1114933"/>
          </a:xfrm>
        </p:grpSpPr>
        <p:sp>
          <p:nvSpPr>
            <p:cNvPr id="21" name="TextBox 21"/>
            <p:cNvSpPr txBox="1"/>
            <p:nvPr/>
          </p:nvSpPr>
          <p:spPr>
            <a:xfrm>
              <a:off x="448056" y="5099050"/>
              <a:ext cx="612465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2017试点决定：涉嫌职务犯罪移送检察，依法提起公诉。</a:t>
              </a:r>
            </a:p>
          </p:txBody>
        </p:sp>
        <p:sp>
          <p:nvSpPr>
            <p:cNvPr id="22" name="TextBox 22"/>
            <p:cNvSpPr txBox="1"/>
            <p:nvPr/>
          </p:nvSpPr>
          <p:spPr>
            <a:xfrm>
              <a:off x="445770" y="5549900"/>
              <a:ext cx="62865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调查</a:t>
              </a:r>
            </a:p>
          </p:txBody>
        </p:sp>
        <p:sp>
          <p:nvSpPr>
            <p:cNvPr id="23" name="TextBox 23"/>
            <p:cNvSpPr txBox="1"/>
            <p:nvPr/>
          </p:nvSpPr>
          <p:spPr>
            <a:xfrm>
              <a:off x="2998470" y="5549900"/>
              <a:ext cx="123444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检察判断</a:t>
              </a:r>
            </a:p>
          </p:txBody>
        </p:sp>
        <p:sp>
          <p:nvSpPr>
            <p:cNvPr id="24" name="TextBox 24"/>
            <p:cNvSpPr txBox="1"/>
            <p:nvPr/>
          </p:nvSpPr>
          <p:spPr>
            <a:xfrm>
              <a:off x="6370320" y="5549900"/>
              <a:ext cx="123444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审判判断</a:t>
              </a:r>
            </a:p>
          </p:txBody>
        </p:sp>
        <p:sp>
          <p:nvSpPr>
            <p:cNvPr id="25" name="TextBox 25"/>
            <p:cNvSpPr txBox="1"/>
            <p:nvPr/>
          </p:nvSpPr>
          <p:spPr>
            <a:xfrm>
              <a:off x="9613392" y="5664200"/>
              <a:ext cx="146761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新机关也须受监督</a:t>
              </a:r>
            </a:p>
          </p:txBody>
        </p:sp>
        <p:sp>
          <p:nvSpPr>
            <p:cNvPr id="26" name="TextBox 26"/>
            <p:cNvSpPr txBox="1"/>
            <p:nvPr/>
          </p:nvSpPr>
          <p:spPr>
            <a:xfrm>
              <a:off x="450342" y="5949950"/>
              <a:ext cx="619277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前项不能代替后续判断；能力和实质约束同时考虑，实际效果仍须履职事实。</a:t>
              </a:r>
            </a:p>
          </p:txBody>
        </p:sp>
      </p:grpSp>
      <p:grpSp>
        <p:nvGrpSpPr>
          <p:cNvPr id="30" name="p35-footer"/>
          <p:cNvGrpSpPr/>
          <p:nvPr/>
        </p:nvGrpSpPr>
        <p:grpSpPr>
          <a:xfrm>
            <a:off x="451866" y="6254750"/>
            <a:ext cx="11288268" cy="205359"/>
            <a:chOff x="451866" y="6254750"/>
            <a:chExt cx="11288268" cy="205359"/>
          </a:xfrm>
        </p:grpSpPr>
        <p:sp>
          <p:nvSpPr>
            <p:cNvPr id="28" name="TextBox 28"/>
            <p:cNvSpPr txBox="1"/>
            <p:nvPr/>
          </p:nvSpPr>
          <p:spPr>
            <a:xfrm>
              <a:off x="451866" y="6254750"/>
              <a:ext cx="515584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李建国2018监察法草案说明；2017全国人大常委会地方监察试点决定。职能示意。</a:t>
              </a:r>
            </a:p>
          </p:txBody>
        </p:sp>
        <p:sp>
          <p:nvSpPr>
            <p:cNvPr id="29" name="TextBox 29"/>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35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6-title"/>
          <p:cNvGrpSpPr/>
          <p:nvPr/>
        </p:nvGrpSpPr>
        <p:grpSpPr>
          <a:xfrm>
            <a:off x="441198" y="400050"/>
            <a:ext cx="7648956" cy="933577"/>
            <a:chOff x="441198" y="400050"/>
            <a:chExt cx="7648956" cy="933577"/>
          </a:xfrm>
        </p:grpSpPr>
        <p:sp>
          <p:nvSpPr>
            <p:cNvPr id="2" name="TextBox 2"/>
            <p:cNvSpPr txBox="1"/>
            <p:nvPr/>
          </p:nvSpPr>
          <p:spPr>
            <a:xfrm>
              <a:off x="451104" y="400050"/>
              <a:ext cx="229804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试点任务、范围与权限 · 分别看</a:t>
              </a:r>
            </a:p>
          </p:txBody>
        </p:sp>
        <p:sp>
          <p:nvSpPr>
            <p:cNvPr id="3" name="TextBox 3"/>
            <p:cNvSpPr txBox="1"/>
            <p:nvPr/>
          </p:nvSpPr>
          <p:spPr>
            <a:xfrm>
              <a:off x="441198" y="717550"/>
              <a:ext cx="764895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试点探索什么，又遇到什么权限问题？</a:t>
              </a:r>
            </a:p>
          </p:txBody>
        </p:sp>
      </p:grpSp>
      <p:grpSp>
        <p:nvGrpSpPr>
          <p:cNvPr id="7" name="p36-concrete-tasks"/>
          <p:cNvGrpSpPr/>
          <p:nvPr/>
        </p:nvGrpSpPr>
        <p:grpSpPr>
          <a:xfrm>
            <a:off x="448056" y="1825625"/>
            <a:ext cx="7530084" cy="787019"/>
            <a:chOff x="448056" y="1825625"/>
            <a:chExt cx="7530084" cy="787019"/>
          </a:xfrm>
        </p:grpSpPr>
        <p:sp>
          <p:nvSpPr>
            <p:cNvPr id="5" name="TextBox 5"/>
            <p:cNvSpPr txBox="1"/>
            <p:nvPr/>
          </p:nvSpPr>
          <p:spPr>
            <a:xfrm>
              <a:off x="450342" y="1825625"/>
              <a:ext cx="622912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2017官方工作综述：未办结案件接续、管辖交叉、司法执法衔接与制衡机制。</a:t>
              </a:r>
            </a:p>
          </p:txBody>
        </p:sp>
        <p:sp>
          <p:nvSpPr>
            <p:cNvPr id="6" name="TextBox 6"/>
            <p:cNvSpPr txBox="1"/>
            <p:nvPr/>
          </p:nvSpPr>
          <p:spPr>
            <a:xfrm>
              <a:off x="448056" y="2260600"/>
              <a:ext cx="75300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限定范围可以积累经验，但已对人和事产生法律后果，不是纸上练习。</a:t>
              </a:r>
            </a:p>
          </p:txBody>
        </p:sp>
      </p:grpSp>
      <p:grpSp>
        <p:nvGrpSpPr>
          <p:cNvPr id="16" name="p36-different-stages"/>
          <p:cNvGrpSpPr/>
          <p:nvPr/>
        </p:nvGrpSpPr>
        <p:grpSpPr>
          <a:xfrm>
            <a:off x="445008" y="3038475"/>
            <a:ext cx="10934548" cy="1479169"/>
            <a:chOff x="445008" y="3038475"/>
            <a:chExt cx="10934548" cy="1479169"/>
          </a:xfrm>
        </p:grpSpPr>
        <p:grpSp>
          <p:nvGrpSpPr>
            <p:cNvPr id="11" name="p36-year-headings"/>
            <p:cNvGrpSpPr/>
            <p:nvPr/>
          </p:nvGrpSpPr>
          <p:grpSpPr>
            <a:xfrm>
              <a:off x="445008" y="3038475"/>
              <a:ext cx="10934548" cy="469392"/>
              <a:chOff x="445008" y="3038475"/>
              <a:chExt cx="10934548" cy="469392"/>
            </a:xfrm>
          </p:grpSpPr>
          <p:sp>
            <p:nvSpPr>
              <p:cNvPr id="8" name="TextBox 8"/>
              <p:cNvSpPr txBox="1"/>
              <p:nvPr/>
            </p:nvSpPr>
            <p:spPr>
              <a:xfrm>
                <a:off x="445008" y="3038475"/>
                <a:ext cx="253349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2016 · 三地试点</a:t>
                </a:r>
              </a:p>
            </p:txBody>
          </p:sp>
          <p:sp>
            <p:nvSpPr>
              <p:cNvPr id="9" name="TextBox 9"/>
              <p:cNvSpPr txBox="1"/>
              <p:nvPr/>
            </p:nvSpPr>
            <p:spPr>
              <a:xfrm>
                <a:off x="4655058" y="3038475"/>
                <a:ext cx="253349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2017 · 全国地方</a:t>
                </a:r>
              </a:p>
            </p:txBody>
          </p:sp>
          <p:sp>
            <p:nvSpPr>
              <p:cNvPr id="10" name="TextBox 10"/>
              <p:cNvSpPr txBox="1"/>
              <p:nvPr/>
            </p:nvSpPr>
            <p:spPr>
              <a:xfrm>
                <a:off x="8846058" y="3038475"/>
                <a:ext cx="253349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2018 · 正式制度</a:t>
                </a:r>
              </a:p>
            </p:txBody>
          </p:sp>
        </p:grpSp>
        <p:sp>
          <p:nvSpPr>
            <p:cNvPr id="12" name="TextBox 12"/>
            <p:cNvSpPr txBox="1"/>
            <p:nvPr/>
          </p:nvSpPr>
          <p:spPr>
            <a:xfrm>
              <a:off x="448056" y="364172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北京、山西、浙江</a:t>
              </a:r>
            </a:p>
          </p:txBody>
        </p:sp>
        <p:sp>
          <p:nvSpPr>
            <p:cNvPr id="13" name="TextBox 13"/>
            <p:cNvSpPr txBox="1"/>
            <p:nvPr/>
          </p:nvSpPr>
          <p:spPr>
            <a:xfrm>
              <a:off x="4658106" y="3641725"/>
              <a:ext cx="244144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省、市、县等地方机关</a:t>
              </a:r>
            </a:p>
          </p:txBody>
        </p:sp>
        <p:sp>
          <p:nvSpPr>
            <p:cNvPr id="14" name="TextBox 14"/>
            <p:cNvSpPr txBox="1"/>
            <p:nvPr/>
          </p:nvSpPr>
          <p:spPr>
            <a:xfrm>
              <a:off x="8849106" y="3641725"/>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监察机关入宪</a:t>
              </a:r>
            </a:p>
          </p:txBody>
        </p:sp>
        <p:sp>
          <p:nvSpPr>
            <p:cNvPr id="15" name="TextBox 15"/>
            <p:cNvSpPr txBox="1"/>
            <p:nvPr/>
          </p:nvSpPr>
          <p:spPr>
            <a:xfrm>
              <a:off x="448056" y="4165600"/>
              <a:ext cx="7336231"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2017决定没有设立国家监察委员会；三个阶段不是相同的成立事件。</a:t>
              </a:r>
            </a:p>
          </p:txBody>
        </p:sp>
      </p:grpSp>
      <p:grpSp>
        <p:nvGrpSpPr>
          <p:cNvPr id="22" name="p36-constitutional-question"/>
          <p:cNvGrpSpPr/>
          <p:nvPr/>
        </p:nvGrpSpPr>
        <p:grpSpPr>
          <a:xfrm>
            <a:off x="445770" y="4892675"/>
            <a:ext cx="9204198" cy="1301369"/>
            <a:chOff x="445770" y="4892675"/>
            <a:chExt cx="9204198" cy="1301369"/>
          </a:xfrm>
        </p:grpSpPr>
        <p:sp>
          <p:nvSpPr>
            <p:cNvPr id="17" name="TextBox 17"/>
            <p:cNvSpPr txBox="1"/>
            <p:nvPr/>
          </p:nvSpPr>
          <p:spPr>
            <a:xfrm>
              <a:off x="445770" y="4892675"/>
              <a:ext cx="335470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当时宪法：政府监察职权</a:t>
              </a:r>
            </a:p>
          </p:txBody>
        </p:sp>
        <p:sp>
          <p:nvSpPr>
            <p:cNvPr id="18" name="TextBox 18"/>
            <p:cNvSpPr txBox="1"/>
            <p:nvPr/>
          </p:nvSpPr>
          <p:spPr>
            <a:xfrm>
              <a:off x="6236970" y="4892675"/>
              <a:ext cx="335470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试点：政府之外的新机关</a:t>
              </a:r>
            </a:p>
          </p:txBody>
        </p:sp>
        <p:sp>
          <p:nvSpPr>
            <p:cNvPr id="19" name="TextBox 19"/>
            <p:cNvSpPr txBox="1"/>
            <p:nvPr/>
          </p:nvSpPr>
          <p:spPr>
            <a:xfrm>
              <a:off x="448056" y="5375275"/>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国务院与县级以上地方政府</a:t>
              </a:r>
            </a:p>
          </p:txBody>
        </p:sp>
        <p:sp>
          <p:nvSpPr>
            <p:cNvPr id="20" name="TextBox 20"/>
            <p:cNvSpPr txBox="1"/>
            <p:nvPr/>
          </p:nvSpPr>
          <p:spPr>
            <a:xfrm>
              <a:off x="6239256" y="5375275"/>
              <a:ext cx="34107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由人大产生，原关系怎样相容？</a:t>
              </a:r>
            </a:p>
          </p:txBody>
        </p:sp>
        <p:sp>
          <p:nvSpPr>
            <p:cNvPr id="21" name="TextBox 21"/>
            <p:cNvSpPr txBox="1"/>
            <p:nvPr/>
          </p:nvSpPr>
          <p:spPr>
            <a:xfrm>
              <a:off x="448056" y="5842000"/>
              <a:ext cx="417400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暂调普通法 ≠ 改变宪法机关关系的权限</a:t>
              </a:r>
            </a:p>
          </p:txBody>
        </p:sp>
      </p:grpSp>
      <p:grpSp>
        <p:nvGrpSpPr>
          <p:cNvPr id="25" name="p36-footer"/>
          <p:cNvGrpSpPr/>
          <p:nvPr/>
        </p:nvGrpSpPr>
        <p:grpSpPr>
          <a:xfrm>
            <a:off x="451866" y="6254750"/>
            <a:ext cx="11288268" cy="205359"/>
            <a:chOff x="451866" y="6254750"/>
            <a:chExt cx="11288268" cy="205359"/>
          </a:xfrm>
        </p:grpSpPr>
        <p:sp>
          <p:nvSpPr>
            <p:cNvPr id="23" name="TextBox 23"/>
            <p:cNvSpPr txBox="1"/>
            <p:nvPr/>
          </p:nvSpPr>
          <p:spPr>
            <a:xfrm>
              <a:off x="451866" y="6254750"/>
              <a:ext cx="490141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2016、2017监察试点决定及2017官方工作综述；试点时期宪法职权（概述）。</a:t>
              </a:r>
            </a:p>
          </p:txBody>
        </p:sp>
        <p:sp>
          <p:nvSpPr>
            <p:cNvPr id="24" name="TextBox 24"/>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36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7-title"/>
          <p:cNvGrpSpPr/>
          <p:nvPr/>
        </p:nvGrpSpPr>
        <p:grpSpPr>
          <a:xfrm>
            <a:off x="441198" y="400050"/>
            <a:ext cx="5856732" cy="933577"/>
            <a:chOff x="441198" y="400050"/>
            <a:chExt cx="5856732" cy="933577"/>
          </a:xfrm>
        </p:grpSpPr>
        <p:sp>
          <p:nvSpPr>
            <p:cNvPr id="2" name="TextBox 2"/>
            <p:cNvSpPr txBox="1"/>
            <p:nvPr/>
          </p:nvSpPr>
          <p:spPr>
            <a:xfrm>
              <a:off x="451104" y="400050"/>
              <a:ext cx="265343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2017学术意见 · 同一问题及不同理由</a:t>
              </a:r>
            </a:p>
          </p:txBody>
        </p:sp>
        <p:sp>
          <p:nvSpPr>
            <p:cNvPr id="3" name="TextBox 3"/>
            <p:cNvSpPr txBox="1"/>
            <p:nvPr/>
          </p:nvSpPr>
          <p:spPr>
            <a:xfrm>
              <a:off x="441198" y="717550"/>
              <a:ext cx="585673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同一三地试点，两种授权理由</a:t>
              </a:r>
            </a:p>
          </p:txBody>
        </p:sp>
      </p:grpSp>
      <p:grpSp>
        <p:nvGrpSpPr>
          <p:cNvPr id="7" name="p37-shared-question"/>
          <p:cNvGrpSpPr/>
          <p:nvPr/>
        </p:nvGrpSpPr>
        <p:grpSpPr>
          <a:xfrm>
            <a:off x="445770" y="1749425"/>
            <a:ext cx="7050024" cy="778383"/>
            <a:chOff x="445770" y="1749425"/>
            <a:chExt cx="7050024" cy="778383"/>
          </a:xfrm>
        </p:grpSpPr>
        <p:sp>
          <p:nvSpPr>
            <p:cNvPr id="5" name="TextBox 5"/>
            <p:cNvSpPr txBox="1"/>
            <p:nvPr/>
          </p:nvSpPr>
          <p:spPr>
            <a:xfrm>
              <a:off x="445770" y="1749425"/>
              <a:ext cx="7050024"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2016年三地试点，可不可以由全国人大常委会决定？</a:t>
              </a:r>
            </a:p>
          </p:txBody>
        </p:sp>
        <p:sp>
          <p:nvSpPr>
            <p:cNvPr id="6" name="TextBox 6"/>
            <p:cNvSpPr txBox="1"/>
            <p:nvPr/>
          </p:nvSpPr>
          <p:spPr>
            <a:xfrm>
              <a:off x="450342" y="2263775"/>
              <a:ext cx="56475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两组研究对准同一阶段；下面是观点整理，不是官方释宪或胜负结论。</a:t>
              </a:r>
            </a:p>
          </p:txBody>
        </p:sp>
      </p:grpSp>
      <p:grpSp>
        <p:nvGrpSpPr>
          <p:cNvPr id="18" name="p37-competing-grounds"/>
          <p:cNvGrpSpPr/>
          <p:nvPr/>
        </p:nvGrpSpPr>
        <p:grpSpPr>
          <a:xfrm>
            <a:off x="445008" y="2828925"/>
            <a:ext cx="9931908" cy="2345944"/>
            <a:chOff x="445008" y="2828925"/>
            <a:chExt cx="9931908" cy="2345944"/>
          </a:xfrm>
        </p:grpSpPr>
        <p:grpSp>
          <p:nvGrpSpPr>
            <p:cNvPr id="10" name="p37-author-headings"/>
            <p:cNvGrpSpPr/>
            <p:nvPr/>
          </p:nvGrpSpPr>
          <p:grpSpPr>
            <a:xfrm>
              <a:off x="445008" y="2828925"/>
              <a:ext cx="7641946" cy="469392"/>
              <a:chOff x="445008" y="2828925"/>
              <a:chExt cx="7641946" cy="469392"/>
            </a:xfrm>
          </p:grpSpPr>
          <p:sp>
            <p:nvSpPr>
              <p:cNvPr id="8" name="TextBox 8"/>
              <p:cNvSpPr txBox="1"/>
              <p:nvPr/>
            </p:nvSpPr>
            <p:spPr>
              <a:xfrm>
                <a:off x="445008" y="2828925"/>
                <a:ext cx="389900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焦洪昌、古龙元 · 2017春</a:t>
                </a:r>
              </a:p>
            </p:txBody>
          </p:sp>
          <p:sp>
            <p:nvSpPr>
              <p:cNvPr id="9" name="TextBox 9"/>
              <p:cNvSpPr txBox="1"/>
              <p:nvPr/>
            </p:nvSpPr>
            <p:spPr>
              <a:xfrm>
                <a:off x="6236208" y="2828925"/>
                <a:ext cx="185074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沈岿 · 2017</a:t>
                </a:r>
              </a:p>
            </p:txBody>
          </p:sp>
        </p:grpSp>
        <p:sp>
          <p:nvSpPr>
            <p:cNvPr id="11" name="TextBox 11"/>
            <p:cNvSpPr txBox="1"/>
            <p:nvPr/>
          </p:nvSpPr>
          <p:spPr>
            <a:xfrm>
              <a:off x="448056" y="3336925"/>
              <a:ext cx="462229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全国人大授常委会其他职权条款＋授权实践</a:t>
              </a:r>
            </a:p>
          </p:txBody>
        </p:sp>
        <p:sp>
          <p:nvSpPr>
            <p:cNvPr id="12" name="TextBox 12"/>
            <p:cNvSpPr txBox="1"/>
            <p:nvPr/>
          </p:nvSpPr>
          <p:spPr>
            <a:xfrm>
              <a:off x="448056" y="3717925"/>
              <a:ext cx="41376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上海自贸区：暂调法律规定的行政审批</a:t>
              </a:r>
            </a:p>
          </p:txBody>
        </p:sp>
        <p:sp>
          <p:nvSpPr>
            <p:cNvPr id="13" name="TextBox 13"/>
            <p:cNvSpPr txBox="1"/>
            <p:nvPr/>
          </p:nvSpPr>
          <p:spPr>
            <a:xfrm>
              <a:off x="450342" y="4168775"/>
              <a:ext cx="74066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据此类推</a:t>
              </a:r>
            </a:p>
          </p:txBody>
        </p:sp>
        <p:sp>
          <p:nvSpPr>
            <p:cNvPr id="14" name="TextBox 14"/>
            <p:cNvSpPr txBox="1"/>
            <p:nvPr/>
          </p:nvSpPr>
          <p:spPr>
            <a:xfrm>
              <a:off x="448056" y="4460875"/>
              <a:ext cx="32186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常委会批准有限试验已有先例，</a:t>
              </a:r>
              <a:br>
                <a:rPr lang="zh-CN" sz="1800" dirty="0">
                  <a:solidFill>
                    <a:schemeClr val="dk1"/>
                  </a:solidFill>
                  <a:latin typeface="+mn-lt"/>
                  <a:ea typeface="+mn-ea"/>
                  <a:cs typeface="+mn-cs"/>
                </a:rPr>
              </a:br>
              <a:r>
                <a:rPr lang="zh-CN" sz="1800" dirty="0">
                  <a:solidFill>
                    <a:schemeClr val="dk1"/>
                  </a:solidFill>
                  <a:latin typeface="+mn-lt"/>
                  <a:ea typeface="+mn-ea"/>
                  <a:cs typeface="+mn-cs"/>
                </a:rPr>
                <a:t>为三地试点寻找解释空间。</a:t>
              </a:r>
            </a:p>
          </p:txBody>
        </p:sp>
        <p:sp>
          <p:nvSpPr>
            <p:cNvPr id="15" name="TextBox 15"/>
            <p:cNvSpPr txBox="1"/>
            <p:nvPr/>
          </p:nvSpPr>
          <p:spPr>
            <a:xfrm>
              <a:off x="6239256" y="3336925"/>
              <a:ext cx="41376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普通法改革先例，未必覆盖宪制结构。</a:t>
              </a:r>
            </a:p>
          </p:txBody>
        </p:sp>
        <p:sp>
          <p:nvSpPr>
            <p:cNvPr id="16" name="TextBox 16"/>
            <p:cNvSpPr txBox="1"/>
            <p:nvPr/>
          </p:nvSpPr>
          <p:spPr>
            <a:xfrm>
              <a:off x="6239256" y="3679825"/>
              <a:ext cx="372160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比较1988以来六次国务院机构改革：</a:t>
              </a:r>
              <a:br>
                <a:rPr lang="zh-CN" sz="1800" dirty="0">
                  <a:solidFill>
                    <a:schemeClr val="dk1"/>
                  </a:solidFill>
                  <a:latin typeface="+mn-lt"/>
                  <a:ea typeface="+mn-ea"/>
                  <a:cs typeface="+mn-cs"/>
                </a:rPr>
              </a:br>
              <a:r>
                <a:rPr lang="zh-CN" sz="1800" dirty="0">
                  <a:solidFill>
                    <a:schemeClr val="dk1"/>
                  </a:solidFill>
                  <a:latin typeface="+mn-lt"/>
                  <a:ea typeface="+mn-ea"/>
                  <a:cs typeface="+mn-cs"/>
                </a:rPr>
                <a:t>都由全国人大决定；</a:t>
              </a:r>
              <a:br>
                <a:rPr lang="zh-CN" sz="1800" dirty="0">
                  <a:solidFill>
                    <a:schemeClr val="dk1"/>
                  </a:solidFill>
                  <a:latin typeface="+mn-lt"/>
                  <a:ea typeface="+mn-ea"/>
                  <a:cs typeface="+mn-cs"/>
                </a:rPr>
              </a:br>
              <a:r>
                <a:rPr lang="zh-CN" sz="1800" dirty="0">
                  <a:solidFill>
                    <a:schemeClr val="dk1"/>
                  </a:solidFill>
                  <a:latin typeface="+mn-lt"/>
                  <a:ea typeface="+mn-ea"/>
                  <a:cs typeface="+mn-cs"/>
                </a:rPr>
                <a:t>政府外新机关影响更大。</a:t>
              </a:r>
            </a:p>
          </p:txBody>
        </p:sp>
        <p:sp>
          <p:nvSpPr>
            <p:cNvPr id="17" name="TextBox 17"/>
            <p:cNvSpPr txBox="1"/>
            <p:nvPr/>
          </p:nvSpPr>
          <p:spPr>
            <a:xfrm>
              <a:off x="6239256" y="4822825"/>
              <a:ext cx="31683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因此主张全国人大有限授权。</a:t>
              </a:r>
            </a:p>
          </p:txBody>
        </p:sp>
      </p:grpSp>
      <p:grpSp>
        <p:nvGrpSpPr>
          <p:cNvPr id="22" name="p37-stage-and-boundary"/>
          <p:cNvGrpSpPr/>
          <p:nvPr/>
        </p:nvGrpSpPr>
        <p:grpSpPr>
          <a:xfrm>
            <a:off x="448056" y="5537200"/>
            <a:ext cx="9928860" cy="648208"/>
            <a:chOff x="448056" y="5537200"/>
            <a:chExt cx="9928860" cy="648208"/>
          </a:xfrm>
        </p:grpSpPr>
        <p:sp>
          <p:nvSpPr>
            <p:cNvPr id="19" name="TextBox 19"/>
            <p:cNvSpPr txBox="1"/>
            <p:nvPr/>
          </p:nvSpPr>
          <p:spPr>
            <a:xfrm>
              <a:off x="448056" y="5537200"/>
              <a:ext cx="534924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全国推开：更主张全国人大先决定，再修宪固定。</a:t>
              </a:r>
            </a:p>
          </p:txBody>
        </p:sp>
        <p:sp>
          <p:nvSpPr>
            <p:cNvPr id="20" name="TextBox 20"/>
            <p:cNvSpPr txBox="1"/>
            <p:nvPr/>
          </p:nvSpPr>
          <p:spPr>
            <a:xfrm>
              <a:off x="6239256" y="5537200"/>
              <a:ext cx="41376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全国人大授权仍须限范围、保障权利。</a:t>
              </a:r>
            </a:p>
          </p:txBody>
        </p:sp>
        <p:sp>
          <p:nvSpPr>
            <p:cNvPr id="21" name="TextBox 21"/>
            <p:cNvSpPr txBox="1"/>
            <p:nvPr/>
          </p:nvSpPr>
          <p:spPr>
            <a:xfrm>
              <a:off x="450342" y="5921375"/>
              <a:ext cx="619277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三地论证不能直接覆盖全国地方试点；另有正式解释建议，提出不等于采用。</a:t>
              </a:r>
            </a:p>
          </p:txBody>
        </p:sp>
      </p:grpSp>
      <p:grpSp>
        <p:nvGrpSpPr>
          <p:cNvPr id="25" name="p37-footer"/>
          <p:cNvGrpSpPr/>
          <p:nvPr/>
        </p:nvGrpSpPr>
        <p:grpSpPr>
          <a:xfrm>
            <a:off x="451866" y="6254750"/>
            <a:ext cx="11288268" cy="205359"/>
            <a:chOff x="451866" y="6254750"/>
            <a:chExt cx="11288268" cy="205359"/>
          </a:xfrm>
        </p:grpSpPr>
        <p:sp>
          <p:nvSpPr>
            <p:cNvPr id="23" name="TextBox 23"/>
            <p:cNvSpPr txBox="1"/>
            <p:nvPr/>
          </p:nvSpPr>
          <p:spPr>
            <a:xfrm>
              <a:off x="451866" y="6254750"/>
              <a:ext cx="509223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焦洪昌、古龙元（2017报告）；沈岿（《当代法学》2017年第4期）。观点整理。</a:t>
              </a:r>
            </a:p>
          </p:txBody>
        </p:sp>
        <p:sp>
          <p:nvSpPr>
            <p:cNvPr id="24" name="TextBox 24"/>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37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8-title"/>
          <p:cNvGrpSpPr/>
          <p:nvPr/>
        </p:nvGrpSpPr>
        <p:grpSpPr>
          <a:xfrm>
            <a:off x="441198" y="400050"/>
            <a:ext cx="5408676" cy="933577"/>
            <a:chOff x="441198" y="400050"/>
            <a:chExt cx="5408676" cy="933577"/>
          </a:xfrm>
        </p:grpSpPr>
        <p:sp>
          <p:nvSpPr>
            <p:cNvPr id="2" name="TextBox 2"/>
            <p:cNvSpPr txBox="1"/>
            <p:nvPr/>
          </p:nvSpPr>
          <p:spPr>
            <a:xfrm>
              <a:off x="451104" y="400050"/>
              <a:ext cx="233034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2018正式修宪 · 相互配合的改文</a:t>
              </a:r>
            </a:p>
          </p:txBody>
        </p:sp>
        <p:sp>
          <p:nvSpPr>
            <p:cNvPr id="3" name="TextBox 3"/>
            <p:cNvSpPr txBox="1"/>
            <p:nvPr/>
          </p:nvSpPr>
          <p:spPr>
            <a:xfrm>
              <a:off x="441198" y="717550"/>
              <a:ext cx="540867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新机关入宪，牵动一组关系</a:t>
              </a:r>
            </a:p>
          </p:txBody>
        </p:sp>
      </p:grpSp>
      <p:grpSp>
        <p:nvGrpSpPr>
          <p:cNvPr id="7" name="p38-old-government-clause"/>
          <p:cNvGrpSpPr/>
          <p:nvPr/>
        </p:nvGrpSpPr>
        <p:grpSpPr>
          <a:xfrm>
            <a:off x="448056" y="1749425"/>
            <a:ext cx="5373472" cy="739394"/>
            <a:chOff x="448056" y="1749425"/>
            <a:chExt cx="5373472" cy="739394"/>
          </a:xfrm>
        </p:grpSpPr>
        <p:sp>
          <p:nvSpPr>
            <p:cNvPr id="5" name="TextBox 5"/>
            <p:cNvSpPr txBox="1"/>
            <p:nvPr/>
          </p:nvSpPr>
          <p:spPr>
            <a:xfrm>
              <a:off x="450342" y="1749425"/>
              <a:ext cx="33667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2018修改前 · 国务院第89条相关职权节选</a:t>
              </a:r>
            </a:p>
          </p:txBody>
        </p:sp>
        <p:sp>
          <p:nvSpPr>
            <p:cNvPr id="6" name="TextBox 6"/>
            <p:cNvSpPr txBox="1"/>
            <p:nvPr/>
          </p:nvSpPr>
          <p:spPr>
            <a:xfrm>
              <a:off x="448056" y="2136775"/>
              <a:ext cx="537347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“领导和管理民政、公安、司法行政和监察等工作”</a:t>
              </a:r>
            </a:p>
          </p:txBody>
        </p:sp>
      </p:grpSp>
      <p:grpSp>
        <p:nvGrpSpPr>
          <p:cNvPr id="24" name="p38-new-organ-relationships"/>
          <p:cNvGrpSpPr/>
          <p:nvPr/>
        </p:nvGrpSpPr>
        <p:grpSpPr>
          <a:xfrm>
            <a:off x="450342" y="2692400"/>
            <a:ext cx="11265408" cy="1993900"/>
            <a:chOff x="450342" y="2692400"/>
            <a:chExt cx="11265408" cy="1993900"/>
          </a:xfrm>
        </p:grpSpPr>
        <p:sp>
          <p:nvSpPr>
            <p:cNvPr id="8" name="TextBox 8"/>
            <p:cNvSpPr txBox="1"/>
            <p:nvPr/>
          </p:nvSpPr>
          <p:spPr>
            <a:xfrm>
              <a:off x="450342" y="2692400"/>
              <a:ext cx="650172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第3条组织关系概述 · 只展开监察分支，行政、审判、检察机关仍在该条规定中。</a:t>
              </a:r>
            </a:p>
          </p:txBody>
        </p:sp>
        <p:sp>
          <p:nvSpPr>
            <p:cNvPr id="9" name="Rectangle 9"/>
            <p:cNvSpPr/>
            <p:nvPr/>
          </p:nvSpPr>
          <p:spPr>
            <a:xfrm>
              <a:off x="476250" y="3067050"/>
              <a:ext cx="2571750" cy="1619250"/>
            </a:xfrm>
            <a:prstGeom prst="rect">
              <a:avLst/>
            </a:prstGeom>
            <a:solidFill>
              <a:schemeClr val="lt2"/>
            </a:solidFill>
            <a:ln>
              <a:noFill/>
            </a:ln>
          </p:spPr>
        </p:sp>
        <p:sp>
          <p:nvSpPr>
            <p:cNvPr id="10" name="Rectangle 10"/>
            <p:cNvSpPr/>
            <p:nvPr/>
          </p:nvSpPr>
          <p:spPr>
            <a:xfrm>
              <a:off x="8229600" y="3067050"/>
              <a:ext cx="3486150" cy="1619250"/>
            </a:xfrm>
            <a:prstGeom prst="rect">
              <a:avLst/>
            </a:prstGeom>
            <a:solidFill>
              <a:schemeClr val="lt2"/>
            </a:solidFill>
            <a:ln>
              <a:noFill/>
            </a:ln>
          </p:spPr>
        </p:sp>
        <p:grpSp>
          <p:nvGrpSpPr>
            <p:cNvPr id="17" name="p38-organ-labels"/>
            <p:cNvGrpSpPr/>
            <p:nvPr/>
          </p:nvGrpSpPr>
          <p:grpSpPr>
            <a:xfrm>
              <a:off x="692658" y="3178175"/>
              <a:ext cx="10173081" cy="1483233"/>
              <a:chOff x="692658" y="3178175"/>
              <a:chExt cx="10173081" cy="1483233"/>
            </a:xfrm>
          </p:grpSpPr>
          <p:sp>
            <p:nvSpPr>
              <p:cNvPr id="11" name="TextBox 11"/>
              <p:cNvSpPr txBox="1"/>
              <p:nvPr/>
            </p:nvSpPr>
            <p:spPr>
              <a:xfrm>
                <a:off x="692658" y="3406775"/>
                <a:ext cx="20726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人民代表大会</a:t>
                </a:r>
              </a:p>
            </p:txBody>
          </p:sp>
          <p:sp>
            <p:nvSpPr>
              <p:cNvPr id="12" name="TextBox 12"/>
              <p:cNvSpPr txBox="1"/>
              <p:nvPr/>
            </p:nvSpPr>
            <p:spPr>
              <a:xfrm>
                <a:off x="697992" y="4006850"/>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一般组织关系，非穷尽责任图</a:t>
                </a:r>
              </a:p>
            </p:txBody>
          </p:sp>
          <p:sp>
            <p:nvSpPr>
              <p:cNvPr id="13" name="TextBox 13"/>
              <p:cNvSpPr txBox="1"/>
              <p:nvPr/>
            </p:nvSpPr>
            <p:spPr>
              <a:xfrm>
                <a:off x="8484108" y="3178175"/>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监察机关</a:t>
                </a:r>
              </a:p>
            </p:txBody>
          </p:sp>
          <p:sp>
            <p:nvSpPr>
              <p:cNvPr id="14" name="TextBox 14"/>
              <p:cNvSpPr txBox="1"/>
              <p:nvPr/>
            </p:nvSpPr>
            <p:spPr>
              <a:xfrm>
                <a:off x="8489442" y="3721100"/>
                <a:ext cx="215821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第123条 · 各级监察委员会</a:t>
                </a:r>
              </a:p>
            </p:txBody>
          </p:sp>
          <p:sp>
            <p:nvSpPr>
              <p:cNvPr id="15" name="TextBox 15"/>
              <p:cNvSpPr txBox="1"/>
              <p:nvPr/>
            </p:nvSpPr>
            <p:spPr>
              <a:xfrm>
                <a:off x="8487156" y="4041775"/>
                <a:ext cx="21991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都是国家的监察机关</a:t>
                </a:r>
              </a:p>
            </p:txBody>
          </p:sp>
          <p:sp>
            <p:nvSpPr>
              <p:cNvPr id="16" name="TextBox 16"/>
              <p:cNvSpPr txBox="1"/>
              <p:nvPr/>
            </p:nvSpPr>
            <p:spPr>
              <a:xfrm>
                <a:off x="8489442" y="4397375"/>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有独立位置，不在政府内部。</a:t>
                </a:r>
              </a:p>
            </p:txBody>
          </p:sp>
        </p:grpSp>
        <p:sp>
          <p:nvSpPr>
            <p:cNvPr id="18" name="Line 18"/>
            <p:cNvSpPr/>
            <p:nvPr/>
          </p:nvSpPr>
          <p:spPr>
            <a:xfrm>
              <a:off x="3048000" y="3333750"/>
              <a:ext cx="5181600" cy="1"/>
            </a:xfrm>
            <a:prstGeom prst="line">
              <a:avLst/>
            </a:prstGeom>
            <a:noFill/>
            <a:ln w="19050">
              <a:solidFill>
                <a:schemeClr val="accent1"/>
              </a:solidFill>
              <a:tailEnd type="triangle" w="lg" len="lg"/>
            </a:ln>
          </p:spPr>
        </p:sp>
        <p:sp>
          <p:nvSpPr>
            <p:cNvPr id="19" name="TextBox 19"/>
            <p:cNvSpPr txBox="1"/>
            <p:nvPr/>
          </p:nvSpPr>
          <p:spPr>
            <a:xfrm>
              <a:off x="5324856" y="2984500"/>
              <a:ext cx="50292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产生</a:t>
              </a:r>
            </a:p>
          </p:txBody>
        </p:sp>
        <p:sp>
          <p:nvSpPr>
            <p:cNvPr id="20" name="Line 20"/>
            <p:cNvSpPr/>
            <p:nvPr/>
          </p:nvSpPr>
          <p:spPr>
            <a:xfrm flipH="1">
              <a:off x="3048000" y="3848100"/>
              <a:ext cx="5181600" cy="1"/>
            </a:xfrm>
            <a:prstGeom prst="line">
              <a:avLst/>
            </a:prstGeom>
            <a:noFill/>
            <a:ln w="19050">
              <a:solidFill>
                <a:schemeClr val="accent2"/>
              </a:solidFill>
              <a:tailEnd type="triangle" w="lg" len="lg"/>
            </a:ln>
          </p:spPr>
        </p:sp>
        <p:sp>
          <p:nvSpPr>
            <p:cNvPr id="21" name="TextBox 21"/>
            <p:cNvSpPr txBox="1"/>
            <p:nvPr/>
          </p:nvSpPr>
          <p:spPr>
            <a:xfrm>
              <a:off x="5324856" y="3498850"/>
              <a:ext cx="50292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负责</a:t>
              </a:r>
            </a:p>
          </p:txBody>
        </p:sp>
        <p:sp>
          <p:nvSpPr>
            <p:cNvPr id="22" name="Line 22"/>
            <p:cNvSpPr/>
            <p:nvPr/>
          </p:nvSpPr>
          <p:spPr>
            <a:xfrm>
              <a:off x="3048000" y="4362450"/>
              <a:ext cx="5181600" cy="1"/>
            </a:xfrm>
            <a:prstGeom prst="line">
              <a:avLst/>
            </a:prstGeom>
            <a:noFill/>
            <a:ln w="19050">
              <a:solidFill>
                <a:schemeClr val="accent3"/>
              </a:solidFill>
              <a:tailEnd type="triangle" w="lg" len="lg"/>
            </a:ln>
          </p:spPr>
        </p:sp>
        <p:sp>
          <p:nvSpPr>
            <p:cNvPr id="23" name="TextBox 23"/>
            <p:cNvSpPr txBox="1"/>
            <p:nvPr/>
          </p:nvSpPr>
          <p:spPr>
            <a:xfrm>
              <a:off x="5324856" y="4013200"/>
              <a:ext cx="502920"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监督</a:t>
              </a:r>
            </a:p>
          </p:txBody>
        </p:sp>
      </p:grpSp>
      <p:grpSp>
        <p:nvGrpSpPr>
          <p:cNvPr id="26" name="p38-associated-text-edits"/>
          <p:cNvGrpSpPr/>
          <p:nvPr/>
        </p:nvGrpSpPr>
        <p:grpSpPr>
          <a:xfrm>
            <a:off x="448056" y="5022850"/>
            <a:ext cx="8196453" cy="352044"/>
            <a:chOff x="448056" y="5022850"/>
            <a:chExt cx="8196453" cy="352044"/>
          </a:xfrm>
        </p:grpSpPr>
        <p:sp>
          <p:nvSpPr>
            <p:cNvPr id="25" name="TextBox 25"/>
            <p:cNvSpPr txBox="1"/>
            <p:nvPr/>
          </p:nvSpPr>
          <p:spPr>
            <a:xfrm>
              <a:off x="448056" y="5022850"/>
              <a:ext cx="8196453"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第3条增列监察机关；第89条删“和监察”；国家机构章增加监察委员会一节。</a:t>
              </a:r>
            </a:p>
          </p:txBody>
        </p:sp>
      </p:grpSp>
      <p:grpSp>
        <p:nvGrpSpPr>
          <p:cNvPr id="28" name="p38-specific-basis-and-limit"/>
          <p:cNvGrpSpPr/>
          <p:nvPr/>
        </p:nvGrpSpPr>
        <p:grpSpPr>
          <a:xfrm>
            <a:off x="448056" y="5499100"/>
            <a:ext cx="7104888" cy="675894"/>
            <a:chOff x="448056" y="5499100"/>
            <a:chExt cx="7104888" cy="675894"/>
          </a:xfrm>
        </p:grpSpPr>
        <p:sp>
          <p:nvSpPr>
            <p:cNvPr id="27" name="TextBox 27"/>
            <p:cNvSpPr txBox="1"/>
            <p:nvPr/>
          </p:nvSpPr>
          <p:spPr>
            <a:xfrm>
              <a:off x="448056" y="5499100"/>
              <a:ext cx="7104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第126条进一步规定国家、地方监察委员会的负责关系。</a:t>
              </a:r>
              <a:br>
                <a:rPr lang="zh-CN" sz="1800" dirty="0">
                  <a:solidFill>
                    <a:schemeClr val="dk1"/>
                  </a:solidFill>
                  <a:latin typeface="+mn-lt"/>
                  <a:ea typeface="+mn-ea"/>
                  <a:cs typeface="+mn-cs"/>
                </a:rPr>
              </a:br>
              <a:r>
                <a:rPr lang="zh-CN" sz="1800" dirty="0">
                  <a:solidFill>
                    <a:schemeClr val="dk1"/>
                  </a:solidFill>
                  <a:latin typeface="+mn-lt"/>
                  <a:ea typeface="+mn-ea"/>
                  <a:cs typeface="+mn-cs"/>
                </a:rPr>
                <a:t>此后依据明确；不增常委会一般改宪权限，也不统一裁断旧试点争论。</a:t>
              </a:r>
            </a:p>
          </p:txBody>
        </p:sp>
      </p:grpSp>
      <p:grpSp>
        <p:nvGrpSpPr>
          <p:cNvPr id="31" name="p38-footer"/>
          <p:cNvGrpSpPr/>
          <p:nvPr/>
        </p:nvGrpSpPr>
        <p:grpSpPr>
          <a:xfrm>
            <a:off x="451866" y="6254750"/>
            <a:ext cx="11288268" cy="205359"/>
            <a:chOff x="451866" y="6254750"/>
            <a:chExt cx="11288268" cy="205359"/>
          </a:xfrm>
        </p:grpSpPr>
        <p:sp>
          <p:nvSpPr>
            <p:cNvPr id="29" name="TextBox 29"/>
            <p:cNvSpPr txBox="1"/>
            <p:nvPr/>
          </p:nvSpPr>
          <p:spPr>
            <a:xfrm>
              <a:off x="451866" y="6254750"/>
              <a:ext cx="483780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2018修正案及宪法第3、89、123、126条；王晨草案说明。只展开监察分支。</a:t>
              </a:r>
            </a:p>
          </p:txBody>
        </p:sp>
        <p:sp>
          <p:nvSpPr>
            <p:cNvPr id="30" name="TextBox 30"/>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38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9-title"/>
          <p:cNvGrpSpPr/>
          <p:nvPr/>
        </p:nvGrpSpPr>
        <p:grpSpPr>
          <a:xfrm>
            <a:off x="441198" y="400050"/>
            <a:ext cx="4960620" cy="933577"/>
            <a:chOff x="441198" y="400050"/>
            <a:chExt cx="4960620" cy="933577"/>
          </a:xfrm>
        </p:grpSpPr>
        <p:sp>
          <p:nvSpPr>
            <p:cNvPr id="2" name="TextBox 2"/>
            <p:cNvSpPr txBox="1"/>
            <p:nvPr/>
          </p:nvSpPr>
          <p:spPr>
            <a:xfrm>
              <a:off x="451104" y="400050"/>
              <a:ext cx="291998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第64条第1款 · 法定路径与2018实际过程</a:t>
              </a:r>
            </a:p>
          </p:txBody>
        </p:sp>
        <p:sp>
          <p:nvSpPr>
            <p:cNvPr id="3" name="TextBox 3"/>
            <p:cNvSpPr txBox="1"/>
            <p:nvPr/>
          </p:nvSpPr>
          <p:spPr>
            <a:xfrm>
              <a:off x="441198" y="717550"/>
              <a:ext cx="496062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建议、拟稿、提议与通过</a:t>
              </a:r>
            </a:p>
          </p:txBody>
        </p:sp>
      </p:grpSp>
      <p:grpSp>
        <p:nvGrpSpPr>
          <p:cNvPr id="6" name="p39-full-constitutional-clause"/>
          <p:cNvGrpSpPr/>
          <p:nvPr/>
        </p:nvGrpSpPr>
        <p:grpSpPr>
          <a:xfrm>
            <a:off x="448056" y="1746250"/>
            <a:ext cx="6773418" cy="999744"/>
            <a:chOff x="448056" y="1746250"/>
            <a:chExt cx="6773418" cy="999744"/>
          </a:xfrm>
        </p:grpSpPr>
        <p:sp>
          <p:nvSpPr>
            <p:cNvPr id="5" name="TextBox 5"/>
            <p:cNvSpPr txBox="1"/>
            <p:nvPr/>
          </p:nvSpPr>
          <p:spPr>
            <a:xfrm>
              <a:off x="448056" y="1746250"/>
              <a:ext cx="677341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“宪法的修改，由全国人民代表大会常务委员会或者五分之一以上的</a:t>
              </a:r>
              <a:br>
                <a:rPr lang="zh-CN" sz="1800" dirty="0">
                  <a:solidFill>
                    <a:schemeClr val="dk1"/>
                  </a:solidFill>
                  <a:latin typeface="+mn-lt"/>
                  <a:ea typeface="+mn-ea"/>
                  <a:cs typeface="+mn-cs"/>
                </a:rPr>
              </a:br>
              <a:r>
                <a:rPr lang="zh-CN" sz="1800" dirty="0">
                  <a:solidFill>
                    <a:schemeClr val="dk1"/>
                  </a:solidFill>
                  <a:latin typeface="+mn-lt"/>
                  <a:ea typeface="+mn-ea"/>
                  <a:cs typeface="+mn-cs"/>
                </a:rPr>
                <a:t>全国人民代表大会代表提议，并由全国人民代表大会以全体代表的</a:t>
              </a:r>
              <a:br>
                <a:rPr lang="zh-CN" sz="1800" dirty="0">
                  <a:solidFill>
                    <a:schemeClr val="dk1"/>
                  </a:solidFill>
                  <a:latin typeface="+mn-lt"/>
                  <a:ea typeface="+mn-ea"/>
                  <a:cs typeface="+mn-cs"/>
                </a:rPr>
              </a:br>
              <a:r>
                <a:rPr lang="zh-CN" sz="1800" dirty="0">
                  <a:solidFill>
                    <a:schemeClr val="dk1"/>
                  </a:solidFill>
                  <a:latin typeface="+mn-lt"/>
                  <a:ea typeface="+mn-ea"/>
                  <a:cs typeface="+mn-cs"/>
                </a:rPr>
                <a:t>三分之二以上的多数通过。”</a:t>
              </a:r>
            </a:p>
          </p:txBody>
        </p:sp>
      </p:grpSp>
      <p:grpSp>
        <p:nvGrpSpPr>
          <p:cNvPr id="16" name="p39-statutory-paths"/>
          <p:cNvGrpSpPr/>
          <p:nvPr/>
        </p:nvGrpSpPr>
        <p:grpSpPr>
          <a:xfrm>
            <a:off x="445770" y="3282950"/>
            <a:ext cx="9753600" cy="1416558"/>
            <a:chOff x="445770" y="3282950"/>
            <a:chExt cx="9753600" cy="1416558"/>
          </a:xfrm>
        </p:grpSpPr>
        <p:sp>
          <p:nvSpPr>
            <p:cNvPr id="7" name="TextBox 7"/>
            <p:cNvSpPr txBox="1"/>
            <p:nvPr/>
          </p:nvSpPr>
          <p:spPr>
            <a:xfrm>
              <a:off x="445770" y="3282950"/>
              <a:ext cx="214312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全国人大常委会</a:t>
              </a:r>
            </a:p>
          </p:txBody>
        </p:sp>
        <p:sp>
          <p:nvSpPr>
            <p:cNvPr id="8" name="TextBox 8"/>
            <p:cNvSpPr txBox="1"/>
            <p:nvPr/>
          </p:nvSpPr>
          <p:spPr>
            <a:xfrm>
              <a:off x="448056" y="4241800"/>
              <a:ext cx="365302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全体全国人大代表的五分之一以上</a:t>
              </a:r>
            </a:p>
          </p:txBody>
        </p:sp>
        <p:sp>
          <p:nvSpPr>
            <p:cNvPr id="9" name="Line 9"/>
            <p:cNvSpPr/>
            <p:nvPr/>
          </p:nvSpPr>
          <p:spPr>
            <a:xfrm>
              <a:off x="2743200" y="3457575"/>
              <a:ext cx="1600200" cy="504825"/>
            </a:xfrm>
            <a:custGeom>
              <a:avLst/>
              <a:gdLst/>
              <a:ahLst/>
              <a:cxnLst/>
              <a:rect l="l" t="t" r="r" b="b"/>
              <a:pathLst>
                <a:path w="1600200" h="504825">
                  <a:moveTo>
                    <a:pt x="0" y="0"/>
                  </a:moveTo>
                  <a:lnTo>
                    <a:pt x="1600200" y="504825"/>
                  </a:lnTo>
                </a:path>
              </a:pathLst>
            </a:custGeom>
            <a:noFill/>
            <a:ln w="19050">
              <a:solidFill>
                <a:schemeClr val="accent1"/>
              </a:solidFill>
            </a:ln>
          </p:spPr>
        </p:sp>
        <p:sp>
          <p:nvSpPr>
            <p:cNvPr id="10" name="Line 10"/>
            <p:cNvSpPr/>
            <p:nvPr/>
          </p:nvSpPr>
          <p:spPr>
            <a:xfrm>
              <a:off x="4267200" y="3962400"/>
              <a:ext cx="76200" cy="419100"/>
            </a:xfrm>
            <a:custGeom>
              <a:avLst/>
              <a:gdLst/>
              <a:ahLst/>
              <a:cxnLst/>
              <a:rect l="l" t="t" r="r" b="b"/>
              <a:pathLst>
                <a:path w="76200" h="419100">
                  <a:moveTo>
                    <a:pt x="0" y="419100"/>
                  </a:moveTo>
                  <a:lnTo>
                    <a:pt x="76200" y="0"/>
                  </a:lnTo>
                </a:path>
              </a:pathLst>
            </a:custGeom>
            <a:noFill/>
            <a:ln w="19050">
              <a:solidFill>
                <a:schemeClr val="accent1"/>
              </a:solidFill>
            </a:ln>
          </p:spPr>
        </p:sp>
        <p:sp>
          <p:nvSpPr>
            <p:cNvPr id="11" name="TextBox 11"/>
            <p:cNvSpPr txBox="1"/>
            <p:nvPr/>
          </p:nvSpPr>
          <p:spPr>
            <a:xfrm>
              <a:off x="2981706" y="3736975"/>
              <a:ext cx="50292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或者</a:t>
              </a:r>
            </a:p>
          </p:txBody>
        </p:sp>
        <p:sp>
          <p:nvSpPr>
            <p:cNvPr id="12" name="Line 12"/>
            <p:cNvSpPr/>
            <p:nvPr/>
          </p:nvSpPr>
          <p:spPr>
            <a:xfrm>
              <a:off x="4343400" y="3962400"/>
              <a:ext cx="1809750" cy="1"/>
            </a:xfrm>
            <a:prstGeom prst="line">
              <a:avLst/>
            </a:prstGeom>
            <a:noFill/>
            <a:ln w="19050">
              <a:solidFill>
                <a:schemeClr val="accent1"/>
              </a:solidFill>
              <a:tailEnd type="triangle" w="lg" len="lg"/>
            </a:ln>
          </p:spPr>
        </p:sp>
        <p:sp>
          <p:nvSpPr>
            <p:cNvPr id="13" name="TextBox 13"/>
            <p:cNvSpPr txBox="1"/>
            <p:nvPr/>
          </p:nvSpPr>
          <p:spPr>
            <a:xfrm>
              <a:off x="6541008" y="3387725"/>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全国人大</a:t>
              </a:r>
            </a:p>
          </p:txBody>
        </p:sp>
        <p:sp>
          <p:nvSpPr>
            <p:cNvPr id="14" name="TextBox 14"/>
            <p:cNvSpPr txBox="1"/>
            <p:nvPr/>
          </p:nvSpPr>
          <p:spPr>
            <a:xfrm>
              <a:off x="6541770" y="3911600"/>
              <a:ext cx="365760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全体代表三分之二以上通过</a:t>
              </a:r>
            </a:p>
          </p:txBody>
        </p:sp>
        <p:sp>
          <p:nvSpPr>
            <p:cNvPr id="15" name="TextBox 15"/>
            <p:cNvSpPr txBox="1"/>
            <p:nvPr/>
          </p:nvSpPr>
          <p:spPr>
            <a:xfrm>
              <a:off x="6546342" y="4435475"/>
              <a:ext cx="2739771"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不是到会代表或投票者作为分母。</a:t>
              </a:r>
            </a:p>
          </p:txBody>
        </p:sp>
      </p:grpSp>
      <p:grpSp>
        <p:nvGrpSpPr>
          <p:cNvPr id="19" name="p39-preparatory-work"/>
          <p:cNvGrpSpPr/>
          <p:nvPr/>
        </p:nvGrpSpPr>
        <p:grpSpPr>
          <a:xfrm>
            <a:off x="448056" y="5137150"/>
            <a:ext cx="7651242" cy="638683"/>
            <a:chOff x="448056" y="5137150"/>
            <a:chExt cx="7651242" cy="638683"/>
          </a:xfrm>
        </p:grpSpPr>
        <p:sp>
          <p:nvSpPr>
            <p:cNvPr id="17" name="TextBox 17"/>
            <p:cNvSpPr txBox="1"/>
            <p:nvPr/>
          </p:nvSpPr>
          <p:spPr>
            <a:xfrm>
              <a:off x="448056" y="5137150"/>
              <a:ext cx="765124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2018实际：中共中央建议 → 法工委受托拟稿 → 常委会依法审议、提请。</a:t>
              </a:r>
            </a:p>
          </p:txBody>
        </p:sp>
        <p:sp>
          <p:nvSpPr>
            <p:cNvPr id="18" name="TextBox 18"/>
            <p:cNvSpPr txBox="1"/>
            <p:nvPr/>
          </p:nvSpPr>
          <p:spPr>
            <a:xfrm>
              <a:off x="450342" y="5511800"/>
              <a:ext cx="582930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法工委不是第三种提议主体；进入大会由代表团、主席团组织相关审议。</a:t>
              </a:r>
            </a:p>
          </p:txBody>
        </p:sp>
      </p:grpSp>
      <p:grpSp>
        <p:nvGrpSpPr>
          <p:cNvPr id="21" name="p39-actual-adoption-and-announcement"/>
          <p:cNvGrpSpPr/>
          <p:nvPr/>
        </p:nvGrpSpPr>
        <p:grpSpPr>
          <a:xfrm>
            <a:off x="448056" y="5870575"/>
            <a:ext cx="8899169" cy="352044"/>
            <a:chOff x="448056" y="5870575"/>
            <a:chExt cx="8899169" cy="352044"/>
          </a:xfrm>
        </p:grpSpPr>
        <p:sp>
          <p:nvSpPr>
            <p:cNvPr id="20" name="TextBox 20"/>
            <p:cNvSpPr txBox="1"/>
            <p:nvPr/>
          </p:nvSpPr>
          <p:spPr>
            <a:xfrm>
              <a:off x="448056" y="5870575"/>
              <a:ext cx="8899169"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3月11日全国人大通过；全国人大公告第一号由主席团署名公布，不是国家主席令。</a:t>
              </a:r>
            </a:p>
          </p:txBody>
        </p:sp>
      </p:grpSp>
      <p:grpSp>
        <p:nvGrpSpPr>
          <p:cNvPr id="24" name="p39-footer"/>
          <p:cNvGrpSpPr/>
          <p:nvPr/>
        </p:nvGrpSpPr>
        <p:grpSpPr>
          <a:xfrm>
            <a:off x="451866" y="6254750"/>
            <a:ext cx="11288268" cy="205359"/>
            <a:chOff x="451866" y="6254750"/>
            <a:chExt cx="11288268" cy="205359"/>
          </a:xfrm>
        </p:grpSpPr>
        <p:sp>
          <p:nvSpPr>
            <p:cNvPr id="22" name="TextBox 22"/>
            <p:cNvSpPr txBox="1"/>
            <p:nvPr/>
          </p:nvSpPr>
          <p:spPr>
            <a:xfrm>
              <a:off x="451866" y="6254750"/>
              <a:ext cx="507810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宪法第64条第1款；2018形成材料、全国人大公告第一号。另一提议路径仍保留。</a:t>
              </a:r>
            </a:p>
          </p:txBody>
        </p:sp>
        <p:sp>
          <p:nvSpPr>
            <p:cNvPr id="23" name="TextBox 23"/>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39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0-title"/>
          <p:cNvGrpSpPr/>
          <p:nvPr/>
        </p:nvGrpSpPr>
        <p:grpSpPr>
          <a:xfrm>
            <a:off x="441198" y="400050"/>
            <a:ext cx="5856732" cy="933577"/>
            <a:chOff x="441198" y="400050"/>
            <a:chExt cx="5856732" cy="933577"/>
          </a:xfrm>
        </p:grpSpPr>
        <p:sp>
          <p:nvSpPr>
            <p:cNvPr id="2" name="TextBox 2"/>
            <p:cNvSpPr txBox="1"/>
            <p:nvPr/>
          </p:nvSpPr>
          <p:spPr>
            <a:xfrm>
              <a:off x="451104" y="400050"/>
              <a:ext cx="281498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2018两次正式通过 · 立法准备早已开始</a:t>
              </a:r>
            </a:p>
          </p:txBody>
        </p:sp>
        <p:sp>
          <p:nvSpPr>
            <p:cNvPr id="3" name="TextBox 3"/>
            <p:cNvSpPr txBox="1"/>
            <p:nvPr/>
          </p:nvSpPr>
          <p:spPr>
            <a:xfrm>
              <a:off x="441198" y="717550"/>
              <a:ext cx="585673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九天，不是全部法律准备时间</a:t>
              </a:r>
            </a:p>
          </p:txBody>
        </p:sp>
      </p:grpSp>
      <p:grpSp>
        <p:nvGrpSpPr>
          <p:cNvPr id="9" name="p40-formal-interval"/>
          <p:cNvGrpSpPr/>
          <p:nvPr/>
        </p:nvGrpSpPr>
        <p:grpSpPr>
          <a:xfrm>
            <a:off x="445008" y="2044700"/>
            <a:ext cx="10383317" cy="1019175"/>
            <a:chOff x="445008" y="2044700"/>
            <a:chExt cx="10383317" cy="1019175"/>
          </a:xfrm>
        </p:grpSpPr>
        <p:sp>
          <p:nvSpPr>
            <p:cNvPr id="5" name="TextBox 5"/>
            <p:cNvSpPr txBox="1"/>
            <p:nvPr/>
          </p:nvSpPr>
          <p:spPr>
            <a:xfrm>
              <a:off x="445008" y="2047875"/>
              <a:ext cx="234574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3月11日 · 修宪</a:t>
              </a:r>
            </a:p>
          </p:txBody>
        </p:sp>
        <p:sp>
          <p:nvSpPr>
            <p:cNvPr id="6" name="TextBox 6"/>
            <p:cNvSpPr txBox="1"/>
            <p:nvPr/>
          </p:nvSpPr>
          <p:spPr>
            <a:xfrm>
              <a:off x="8141208" y="2047875"/>
              <a:ext cx="2687117"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3月20日 · 监察法</a:t>
              </a:r>
            </a:p>
          </p:txBody>
        </p:sp>
        <p:sp>
          <p:nvSpPr>
            <p:cNvPr id="7" name="TextBox 7"/>
            <p:cNvSpPr txBox="1"/>
            <p:nvPr/>
          </p:nvSpPr>
          <p:spPr>
            <a:xfrm>
              <a:off x="5143500" y="2044700"/>
              <a:ext cx="1195578"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9天</a:t>
              </a:r>
            </a:p>
          </p:txBody>
        </p:sp>
        <p:sp>
          <p:nvSpPr>
            <p:cNvPr id="8" name="TextBox 8"/>
            <p:cNvSpPr txBox="1"/>
            <p:nvPr/>
          </p:nvSpPr>
          <p:spPr>
            <a:xfrm>
              <a:off x="450342" y="2787650"/>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这里只计两个正式事件的间隔。</a:t>
              </a:r>
            </a:p>
          </p:txBody>
        </p:sp>
      </p:grpSp>
      <p:grpSp>
        <p:nvGrpSpPr>
          <p:cNvPr id="18" name="p40-earlier-preparation"/>
          <p:cNvGrpSpPr/>
          <p:nvPr/>
        </p:nvGrpSpPr>
        <p:grpSpPr>
          <a:xfrm>
            <a:off x="445008" y="3359150"/>
            <a:ext cx="11280267" cy="1502283"/>
            <a:chOff x="445008" y="3359150"/>
            <a:chExt cx="11280267" cy="1502283"/>
          </a:xfrm>
        </p:grpSpPr>
        <p:sp>
          <p:nvSpPr>
            <p:cNvPr id="10" name="Line 10"/>
            <p:cNvSpPr/>
            <p:nvPr/>
          </p:nvSpPr>
          <p:spPr>
            <a:xfrm>
              <a:off x="466725" y="3790950"/>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11" name="TextBox 11"/>
            <p:cNvSpPr txBox="1"/>
            <p:nvPr/>
          </p:nvSpPr>
          <p:spPr>
            <a:xfrm>
              <a:off x="445008" y="338455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2016</a:t>
              </a:r>
            </a:p>
          </p:txBody>
        </p:sp>
        <p:sp>
          <p:nvSpPr>
            <p:cNvPr id="12" name="TextBox 12"/>
            <p:cNvSpPr txBox="1"/>
            <p:nvPr/>
          </p:nvSpPr>
          <p:spPr>
            <a:xfrm>
              <a:off x="4255008" y="3384550"/>
              <a:ext cx="77541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2017</a:t>
              </a:r>
            </a:p>
          </p:txBody>
        </p:sp>
        <p:sp>
          <p:nvSpPr>
            <p:cNvPr id="13" name="TextBox 13"/>
            <p:cNvSpPr txBox="1"/>
            <p:nvPr/>
          </p:nvSpPr>
          <p:spPr>
            <a:xfrm>
              <a:off x="8522208" y="3359150"/>
              <a:ext cx="20726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继续修改衔接</a:t>
              </a:r>
            </a:p>
          </p:txBody>
        </p:sp>
        <p:sp>
          <p:nvSpPr>
            <p:cNvPr id="14" name="TextBox 14"/>
            <p:cNvSpPr txBox="1"/>
            <p:nvPr/>
          </p:nvSpPr>
          <p:spPr>
            <a:xfrm>
              <a:off x="448056" y="406082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立法工作专班起草</a:t>
              </a:r>
            </a:p>
          </p:txBody>
        </p:sp>
        <p:sp>
          <p:nvSpPr>
            <p:cNvPr id="15" name="TextBox 15"/>
            <p:cNvSpPr txBox="1"/>
            <p:nvPr/>
          </p:nvSpPr>
          <p:spPr>
            <a:xfrm>
              <a:off x="4258056" y="4060825"/>
              <a:ext cx="268376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草案审议、公开征求意见</a:t>
              </a:r>
            </a:p>
          </p:txBody>
        </p:sp>
        <p:sp>
          <p:nvSpPr>
            <p:cNvPr id="16" name="TextBox 16"/>
            <p:cNvSpPr txBox="1"/>
            <p:nvPr/>
          </p:nvSpPr>
          <p:spPr>
            <a:xfrm>
              <a:off x="8525256" y="406082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依据修宪有关安排</a:t>
              </a:r>
            </a:p>
          </p:txBody>
        </p:sp>
        <p:sp>
          <p:nvSpPr>
            <p:cNvPr id="17" name="TextBox 17"/>
            <p:cNvSpPr txBox="1"/>
            <p:nvPr/>
          </p:nvSpPr>
          <p:spPr>
            <a:xfrm>
              <a:off x="450342" y="4597400"/>
              <a:ext cx="56475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只定位先后，不按时长比例；一次实际经过不是每次都要复制的日程。</a:t>
              </a:r>
            </a:p>
          </p:txBody>
        </p:sp>
      </p:grpSp>
      <p:grpSp>
        <p:nvGrpSpPr>
          <p:cNvPr id="23" name="p40-preparation-versus-power"/>
          <p:cNvGrpSpPr/>
          <p:nvPr/>
        </p:nvGrpSpPr>
        <p:grpSpPr>
          <a:xfrm>
            <a:off x="445008" y="5168900"/>
            <a:ext cx="9229344" cy="863219"/>
            <a:chOff x="445008" y="5168900"/>
            <a:chExt cx="9229344" cy="863219"/>
          </a:xfrm>
        </p:grpSpPr>
        <p:sp>
          <p:nvSpPr>
            <p:cNvPr id="19" name="TextBox 19"/>
            <p:cNvSpPr txBox="1"/>
            <p:nvPr/>
          </p:nvSpPr>
          <p:spPr>
            <a:xfrm>
              <a:off x="445008" y="516890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研究、起草</a:t>
              </a:r>
            </a:p>
          </p:txBody>
        </p:sp>
        <p:sp>
          <p:nvSpPr>
            <p:cNvPr id="20" name="TextBox 20"/>
            <p:cNvSpPr txBox="1"/>
            <p:nvPr/>
          </p:nvSpPr>
          <p:spPr>
            <a:xfrm>
              <a:off x="6236208" y="5168900"/>
              <a:ext cx="343814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已经设机关、行使职权</a:t>
              </a:r>
            </a:p>
          </p:txBody>
        </p:sp>
        <p:sp>
          <p:nvSpPr>
            <p:cNvPr id="21" name="TextBox 21"/>
            <p:cNvSpPr txBox="1"/>
            <p:nvPr/>
          </p:nvSpPr>
          <p:spPr>
            <a:xfrm>
              <a:off x="448056" y="5680075"/>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可以在正式修宪之前开展</a:t>
              </a:r>
            </a:p>
          </p:txBody>
        </p:sp>
        <p:sp>
          <p:nvSpPr>
            <p:cNvPr id="22" name="TextBox 22"/>
            <p:cNvSpPr txBox="1"/>
            <p:nvPr/>
          </p:nvSpPr>
          <p:spPr>
            <a:xfrm>
              <a:off x="6239256" y="5680075"/>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必须另行说明当时依据</a:t>
              </a:r>
            </a:p>
          </p:txBody>
        </p:sp>
      </p:grpSp>
      <p:grpSp>
        <p:nvGrpSpPr>
          <p:cNvPr id="26" name="p40-footer"/>
          <p:cNvGrpSpPr/>
          <p:nvPr/>
        </p:nvGrpSpPr>
        <p:grpSpPr>
          <a:xfrm>
            <a:off x="451866" y="6254750"/>
            <a:ext cx="11288268" cy="205359"/>
            <a:chOff x="451866" y="6254750"/>
            <a:chExt cx="11288268" cy="205359"/>
          </a:xfrm>
        </p:grpSpPr>
        <p:sp>
          <p:nvSpPr>
            <p:cNvPr id="24" name="TextBox 24"/>
            <p:cNvSpPr txBox="1"/>
            <p:nvPr/>
          </p:nvSpPr>
          <p:spPr>
            <a:xfrm>
              <a:off x="451866" y="6254750"/>
              <a:ext cx="456217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2018修宪、监察法通过及前期立法材料；九天只计两次正式通过的间隔。</a:t>
              </a:r>
            </a:p>
          </p:txBody>
        </p:sp>
        <p:sp>
          <p:nvSpPr>
            <p:cNvPr id="25" name="TextBox 25"/>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40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1-title"/>
          <p:cNvGrpSpPr/>
          <p:nvPr/>
        </p:nvGrpSpPr>
        <p:grpSpPr>
          <a:xfrm>
            <a:off x="441198" y="400050"/>
            <a:ext cx="5856732" cy="933577"/>
            <a:chOff x="441198" y="400050"/>
            <a:chExt cx="5856732" cy="933577"/>
          </a:xfrm>
        </p:grpSpPr>
        <p:sp>
          <p:nvSpPr>
            <p:cNvPr id="2" name="TextBox 2"/>
            <p:cNvSpPr txBox="1"/>
            <p:nvPr/>
          </p:nvSpPr>
          <p:spPr>
            <a:xfrm>
              <a:off x="451104" y="400050"/>
              <a:ext cx="262112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根本关系与具体工作 · 历史文书对读</a:t>
              </a:r>
            </a:p>
          </p:txBody>
        </p:sp>
        <p:sp>
          <p:nvSpPr>
            <p:cNvPr id="3" name="TextBox 3"/>
            <p:cNvSpPr txBox="1"/>
            <p:nvPr/>
          </p:nvSpPr>
          <p:spPr>
            <a:xfrm>
              <a:off x="441198" y="717550"/>
              <a:ext cx="585673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根本关系，由法律继续具体化</a:t>
              </a:r>
            </a:p>
          </p:txBody>
        </p:sp>
      </p:grpSp>
      <p:grpSp>
        <p:nvGrpSpPr>
          <p:cNvPr id="14" name="p41-two-documents"/>
          <p:cNvGrpSpPr/>
          <p:nvPr/>
        </p:nvGrpSpPr>
        <p:grpSpPr>
          <a:xfrm>
            <a:off x="445008" y="1828800"/>
            <a:ext cx="11280267" cy="2465705"/>
            <a:chOff x="445008" y="1828800"/>
            <a:chExt cx="11280267" cy="2465705"/>
          </a:xfrm>
        </p:grpSpPr>
        <p:sp>
          <p:nvSpPr>
            <p:cNvPr id="5" name="TextBox 5"/>
            <p:cNvSpPr txBox="1"/>
            <p:nvPr/>
          </p:nvSpPr>
          <p:spPr>
            <a:xfrm>
              <a:off x="445008" y="1828800"/>
              <a:ext cx="3028493"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宪法 · 第124条末款</a:t>
              </a:r>
            </a:p>
          </p:txBody>
        </p:sp>
        <p:sp>
          <p:nvSpPr>
            <p:cNvPr id="6" name="TextBox 6"/>
            <p:cNvSpPr txBox="1"/>
            <p:nvPr/>
          </p:nvSpPr>
          <p:spPr>
            <a:xfrm>
              <a:off x="445770" y="2368550"/>
              <a:ext cx="550526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“监察委员会的组织和职权由法律规定。”</a:t>
              </a:r>
            </a:p>
          </p:txBody>
        </p:sp>
        <p:sp>
          <p:nvSpPr>
            <p:cNvPr id="7" name="TextBox 7"/>
            <p:cNvSpPr txBox="1"/>
            <p:nvPr/>
          </p:nvSpPr>
          <p:spPr>
            <a:xfrm>
              <a:off x="8565642" y="2482850"/>
              <a:ext cx="128587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根本地位与关系</a:t>
              </a:r>
            </a:p>
          </p:txBody>
        </p:sp>
        <p:sp>
          <p:nvSpPr>
            <p:cNvPr id="8" name="Line 8"/>
            <p:cNvSpPr/>
            <p:nvPr/>
          </p:nvSpPr>
          <p:spPr>
            <a:xfrm>
              <a:off x="466725" y="3028950"/>
              <a:ext cx="11258550" cy="9525"/>
            </a:xfrm>
            <a:custGeom>
              <a:avLst/>
              <a:gdLst/>
              <a:ahLst/>
              <a:cxnLst/>
              <a:rect l="l" t="t" r="r" b="b"/>
              <a:pathLst>
                <a:path w="11258550" h="9525">
                  <a:moveTo>
                    <a:pt x="0" y="0"/>
                  </a:moveTo>
                  <a:lnTo>
                    <a:pt x="11258550" y="0"/>
                  </a:lnTo>
                </a:path>
              </a:pathLst>
            </a:custGeom>
            <a:noFill/>
            <a:ln w="9525">
              <a:solidFill>
                <a:schemeClr val="accent6"/>
              </a:solidFill>
            </a:ln>
          </p:spPr>
        </p:sp>
        <p:sp>
          <p:nvSpPr>
            <p:cNvPr id="9" name="TextBox 9"/>
            <p:cNvSpPr txBox="1"/>
            <p:nvPr/>
          </p:nvSpPr>
          <p:spPr>
            <a:xfrm>
              <a:off x="445008" y="3238500"/>
              <a:ext cx="540105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2018初版《监察法》第1条（节选）</a:t>
              </a:r>
            </a:p>
          </p:txBody>
        </p:sp>
        <p:sp>
          <p:nvSpPr>
            <p:cNvPr id="10" name="TextBox 10"/>
            <p:cNvSpPr txBox="1"/>
            <p:nvPr/>
          </p:nvSpPr>
          <p:spPr>
            <a:xfrm>
              <a:off x="445770" y="3854450"/>
              <a:ext cx="308210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“根据宪法，制定本法”</a:t>
              </a:r>
            </a:p>
          </p:txBody>
        </p:sp>
        <p:sp>
          <p:nvSpPr>
            <p:cNvPr id="11" name="TextBox 11"/>
            <p:cNvSpPr txBox="1"/>
            <p:nvPr/>
          </p:nvSpPr>
          <p:spPr>
            <a:xfrm>
              <a:off x="8565642" y="3968750"/>
              <a:ext cx="201282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今天须查适用的现行规范</a:t>
              </a:r>
            </a:p>
          </p:txBody>
        </p:sp>
        <p:sp>
          <p:nvSpPr>
            <p:cNvPr id="12" name="Line 12"/>
            <p:cNvSpPr/>
            <p:nvPr/>
          </p:nvSpPr>
          <p:spPr>
            <a:xfrm>
              <a:off x="7848600" y="2705100"/>
              <a:ext cx="1" cy="1314450"/>
            </a:xfrm>
            <a:prstGeom prst="line">
              <a:avLst/>
            </a:prstGeom>
            <a:noFill/>
            <a:ln w="19050">
              <a:solidFill>
                <a:schemeClr val="accent1"/>
              </a:solidFill>
              <a:tailEnd type="triangle" w="lg" len="lg"/>
            </a:ln>
          </p:spPr>
        </p:sp>
        <p:sp>
          <p:nvSpPr>
            <p:cNvPr id="13" name="TextBox 13"/>
            <p:cNvSpPr txBox="1"/>
            <p:nvPr/>
          </p:nvSpPr>
          <p:spPr>
            <a:xfrm>
              <a:off x="8032242" y="3225800"/>
              <a:ext cx="128587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由法律具体安排</a:t>
              </a:r>
            </a:p>
          </p:txBody>
        </p:sp>
      </p:grpSp>
      <p:grpSp>
        <p:nvGrpSpPr>
          <p:cNvPr id="18" name="p41-space-and-constraint"/>
          <p:cNvGrpSpPr/>
          <p:nvPr/>
        </p:nvGrpSpPr>
        <p:grpSpPr>
          <a:xfrm>
            <a:off x="445770" y="4949825"/>
            <a:ext cx="8017002" cy="1216533"/>
            <a:chOff x="445770" y="4949825"/>
            <a:chExt cx="8017002" cy="1216533"/>
          </a:xfrm>
        </p:grpSpPr>
        <p:sp>
          <p:nvSpPr>
            <p:cNvPr id="15" name="TextBox 15"/>
            <p:cNvSpPr txBox="1"/>
            <p:nvPr/>
          </p:nvSpPr>
          <p:spPr>
            <a:xfrm>
              <a:off x="445770" y="4949825"/>
              <a:ext cx="456628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留下具体化空间，保留宪法约束。</a:t>
              </a:r>
            </a:p>
          </p:txBody>
        </p:sp>
        <p:sp>
          <p:nvSpPr>
            <p:cNvPr id="16" name="TextBox 16"/>
            <p:cNvSpPr txBox="1"/>
            <p:nvPr/>
          </p:nvSpPr>
          <p:spPr>
            <a:xfrm>
              <a:off x="448056" y="5432425"/>
              <a:ext cx="80147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法律安排组织、职权与履职细节，不能把产生、负责、监督改成相反安排。</a:t>
              </a:r>
            </a:p>
          </p:txBody>
        </p:sp>
        <p:sp>
          <p:nvSpPr>
            <p:cNvPr id="17" name="TextBox 17"/>
            <p:cNvSpPr txBox="1"/>
            <p:nvPr/>
          </p:nvSpPr>
          <p:spPr>
            <a:xfrm>
              <a:off x="450342" y="5902325"/>
              <a:ext cx="7828407"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不把所有细节都写入宪法，也不将所有问题都交普通法律；土地与监察都要辨对象、依据和权限。</a:t>
              </a:r>
            </a:p>
          </p:txBody>
        </p:sp>
      </p:grpSp>
      <p:grpSp>
        <p:nvGrpSpPr>
          <p:cNvPr id="21" name="p41-footer"/>
          <p:cNvGrpSpPr/>
          <p:nvPr/>
        </p:nvGrpSpPr>
        <p:grpSpPr>
          <a:xfrm>
            <a:off x="451866" y="6254750"/>
            <a:ext cx="11288268" cy="205359"/>
            <a:chOff x="451866" y="6254750"/>
            <a:chExt cx="11288268" cy="205359"/>
          </a:xfrm>
        </p:grpSpPr>
        <p:sp>
          <p:nvSpPr>
            <p:cNvPr id="19" name="TextBox 19"/>
            <p:cNvSpPr txBox="1"/>
            <p:nvPr/>
          </p:nvSpPr>
          <p:spPr>
            <a:xfrm>
              <a:off x="451866" y="6254750"/>
              <a:ext cx="501449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宪法第124条末款；2018初版监察法第1条（节选）。今天须查适用的现行规范。</a:t>
              </a:r>
            </a:p>
          </p:txBody>
        </p:sp>
        <p:sp>
          <p:nvSpPr>
            <p:cNvPr id="20" name="TextBox 20"/>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41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2-title"/>
          <p:cNvGrpSpPr/>
          <p:nvPr/>
        </p:nvGrpSpPr>
        <p:grpSpPr>
          <a:xfrm>
            <a:off x="441198" y="400050"/>
            <a:ext cx="7290511" cy="946277"/>
            <a:chOff x="441198" y="400050"/>
            <a:chExt cx="7290511" cy="946277"/>
          </a:xfrm>
        </p:grpSpPr>
        <p:sp>
          <p:nvSpPr>
            <p:cNvPr id="2" name="TextBox 2"/>
            <p:cNvSpPr txBox="1"/>
            <p:nvPr/>
          </p:nvSpPr>
          <p:spPr>
            <a:xfrm>
              <a:off x="451104" y="400050"/>
              <a:ext cx="181340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回到题注 · 区分三类文书</a:t>
              </a:r>
            </a:p>
          </p:txBody>
        </p:sp>
        <p:sp>
          <p:nvSpPr>
            <p:cNvPr id="3" name="TextBox 3"/>
            <p:cNvSpPr txBox="1"/>
            <p:nvPr/>
          </p:nvSpPr>
          <p:spPr>
            <a:xfrm>
              <a:off x="441198" y="730250"/>
              <a:ext cx="729051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回到开场：为什么仍称1982年宪法？</a:t>
              </a:r>
            </a:p>
          </p:txBody>
        </p:sp>
      </p:grpSp>
      <p:grpSp>
        <p:nvGrpSpPr>
          <p:cNvPr id="10" name="p42-complete-text"/>
          <p:cNvGrpSpPr/>
          <p:nvPr/>
        </p:nvGrpSpPr>
        <p:grpSpPr>
          <a:xfrm>
            <a:off x="476250" y="1809750"/>
            <a:ext cx="3448050" cy="2000250"/>
            <a:chOff x="476250" y="1809750"/>
            <a:chExt cx="3448050" cy="2000250"/>
          </a:xfrm>
        </p:grpSpPr>
        <p:sp>
          <p:nvSpPr>
            <p:cNvPr id="5" name="Freeform 5"/>
            <p:cNvSpPr/>
            <p:nvPr/>
          </p:nvSpPr>
          <p:spPr>
            <a:xfrm>
              <a:off x="476250" y="1809750"/>
              <a:ext cx="3448050" cy="2000250"/>
            </a:xfrm>
            <a:prstGeom prst="foldedCorner">
              <a:avLst/>
            </a:prstGeom>
            <a:solidFill>
              <a:schemeClr val="lt2"/>
            </a:solidFill>
            <a:ln w="9525">
              <a:solidFill>
                <a:schemeClr val="accent1"/>
              </a:solidFill>
            </a:ln>
          </p:spPr>
        </p:sp>
        <p:grpSp>
          <p:nvGrpSpPr>
            <p:cNvPr id="9" name="p42-complete-copy"/>
            <p:cNvGrpSpPr/>
            <p:nvPr/>
          </p:nvGrpSpPr>
          <p:grpSpPr>
            <a:xfrm>
              <a:off x="692658" y="2105025"/>
              <a:ext cx="2140915" cy="1422908"/>
              <a:chOff x="692658" y="2105025"/>
              <a:chExt cx="2140915" cy="1422908"/>
            </a:xfrm>
          </p:grpSpPr>
          <p:sp>
            <p:nvSpPr>
              <p:cNvPr id="6" name="TextBox 6"/>
              <p:cNvSpPr txBox="1"/>
              <p:nvPr/>
            </p:nvSpPr>
            <p:spPr>
              <a:xfrm>
                <a:off x="692658" y="2105025"/>
                <a:ext cx="2140915"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1982完整宪法</a:t>
                </a:r>
              </a:p>
            </p:txBody>
          </p:sp>
          <p:sp>
            <p:nvSpPr>
              <p:cNvPr id="7" name="TextBox 7"/>
              <p:cNvSpPr txBox="1"/>
              <p:nvPr/>
            </p:nvSpPr>
            <p:spPr>
              <a:xfrm>
                <a:off x="695706" y="2736850"/>
                <a:ext cx="1762963"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对1978全面修改</a:t>
                </a:r>
              </a:p>
            </p:txBody>
          </p:sp>
          <p:sp>
            <p:nvSpPr>
              <p:cNvPr id="8" name="TextBox 8"/>
              <p:cNvSpPr txBox="1"/>
              <p:nvPr/>
            </p:nvSpPr>
            <p:spPr>
              <a:xfrm>
                <a:off x="697992" y="3263900"/>
                <a:ext cx="1649349"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完整文本的形成方式</a:t>
                </a:r>
              </a:p>
            </p:txBody>
          </p:sp>
        </p:grpSp>
      </p:grpSp>
      <p:grpSp>
        <p:nvGrpSpPr>
          <p:cNvPr id="16" name="p42-amendments"/>
          <p:cNvGrpSpPr/>
          <p:nvPr/>
        </p:nvGrpSpPr>
        <p:grpSpPr>
          <a:xfrm>
            <a:off x="4362450" y="1809750"/>
            <a:ext cx="3448050" cy="2000250"/>
            <a:chOff x="4362450" y="1809750"/>
            <a:chExt cx="3448050" cy="2000250"/>
          </a:xfrm>
        </p:grpSpPr>
        <p:sp>
          <p:nvSpPr>
            <p:cNvPr id="11" name="Freeform 11"/>
            <p:cNvSpPr/>
            <p:nvPr/>
          </p:nvSpPr>
          <p:spPr>
            <a:xfrm>
              <a:off x="4362450" y="1809750"/>
              <a:ext cx="3448050" cy="2000250"/>
            </a:xfrm>
            <a:prstGeom prst="foldedCorner">
              <a:avLst/>
            </a:prstGeom>
            <a:solidFill>
              <a:schemeClr val="lt2"/>
            </a:solidFill>
            <a:ln w="9525">
              <a:solidFill>
                <a:schemeClr val="accent1"/>
              </a:solidFill>
            </a:ln>
          </p:spPr>
        </p:sp>
        <p:grpSp>
          <p:nvGrpSpPr>
            <p:cNvPr id="15" name="p42-amendment-copy"/>
            <p:cNvGrpSpPr/>
            <p:nvPr/>
          </p:nvGrpSpPr>
          <p:grpSpPr>
            <a:xfrm>
              <a:off x="4578858" y="2105025"/>
              <a:ext cx="2140915" cy="1422908"/>
              <a:chOff x="4578858" y="2105025"/>
              <a:chExt cx="2140915" cy="1422908"/>
            </a:xfrm>
          </p:grpSpPr>
          <p:sp>
            <p:nvSpPr>
              <p:cNvPr id="12" name="TextBox 12"/>
              <p:cNvSpPr txBox="1"/>
              <p:nvPr/>
            </p:nvSpPr>
            <p:spPr>
              <a:xfrm>
                <a:off x="4578858" y="2105025"/>
                <a:ext cx="2140915"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1988等修正案</a:t>
                </a:r>
              </a:p>
            </p:txBody>
          </p:sp>
          <p:sp>
            <p:nvSpPr>
              <p:cNvPr id="13" name="TextBox 13"/>
              <p:cNvSpPr txBox="1"/>
              <p:nvPr/>
            </p:nvSpPr>
            <p:spPr>
              <a:xfrm>
                <a:off x="4581906" y="2736850"/>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指向部分条款</a:t>
                </a:r>
              </a:p>
            </p:txBody>
          </p:sp>
          <p:sp>
            <p:nvSpPr>
              <p:cNvPr id="14" name="TextBox 14"/>
              <p:cNvSpPr txBox="1"/>
              <p:nvPr/>
            </p:nvSpPr>
            <p:spPr>
              <a:xfrm>
                <a:off x="4584192" y="3263900"/>
                <a:ext cx="1831086"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不是每次另换整部文本</a:t>
                </a:r>
              </a:p>
            </p:txBody>
          </p:sp>
        </p:grpSp>
      </p:grpSp>
      <p:grpSp>
        <p:nvGrpSpPr>
          <p:cNvPr id="22" name="p42-ordinary-law"/>
          <p:cNvGrpSpPr/>
          <p:nvPr/>
        </p:nvGrpSpPr>
        <p:grpSpPr>
          <a:xfrm>
            <a:off x="8248650" y="1809750"/>
            <a:ext cx="3467100" cy="2000250"/>
            <a:chOff x="8248650" y="1809750"/>
            <a:chExt cx="3467100" cy="2000250"/>
          </a:xfrm>
        </p:grpSpPr>
        <p:sp>
          <p:nvSpPr>
            <p:cNvPr id="17" name="Freeform 17"/>
            <p:cNvSpPr/>
            <p:nvPr/>
          </p:nvSpPr>
          <p:spPr>
            <a:xfrm>
              <a:off x="8248650" y="1809750"/>
              <a:ext cx="3467100" cy="2000250"/>
            </a:xfrm>
            <a:prstGeom prst="foldedCorner">
              <a:avLst/>
            </a:prstGeom>
            <a:solidFill>
              <a:schemeClr val="lt2"/>
            </a:solidFill>
            <a:ln w="9525">
              <a:solidFill>
                <a:schemeClr val="accent1"/>
              </a:solidFill>
            </a:ln>
          </p:spPr>
        </p:sp>
        <p:grpSp>
          <p:nvGrpSpPr>
            <p:cNvPr id="21" name="p42-law-copy"/>
            <p:cNvGrpSpPr/>
            <p:nvPr/>
          </p:nvGrpSpPr>
          <p:grpSpPr>
            <a:xfrm>
              <a:off x="8465058" y="2092325"/>
              <a:ext cx="1836420" cy="1435608"/>
              <a:chOff x="8465058" y="2092325"/>
              <a:chExt cx="1836420" cy="1435608"/>
            </a:xfrm>
          </p:grpSpPr>
          <p:sp>
            <p:nvSpPr>
              <p:cNvPr id="18" name="TextBox 18"/>
              <p:cNvSpPr txBox="1"/>
              <p:nvPr/>
            </p:nvSpPr>
            <p:spPr>
              <a:xfrm>
                <a:off x="8465058" y="2092325"/>
                <a:ext cx="10485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监察法</a:t>
                </a:r>
              </a:p>
            </p:txBody>
          </p:sp>
          <p:sp>
            <p:nvSpPr>
              <p:cNvPr id="19" name="TextBox 19"/>
              <p:cNvSpPr txBox="1"/>
              <p:nvPr/>
            </p:nvSpPr>
            <p:spPr>
              <a:xfrm>
                <a:off x="8468106" y="2736850"/>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根据宪法制定</a:t>
                </a:r>
              </a:p>
            </p:txBody>
          </p:sp>
          <p:sp>
            <p:nvSpPr>
              <p:cNvPr id="20" name="TextBox 20"/>
              <p:cNvSpPr txBox="1"/>
              <p:nvPr/>
            </p:nvSpPr>
            <p:spPr>
              <a:xfrm>
                <a:off x="8470392" y="3263900"/>
                <a:ext cx="1831086"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普通法律有自己的工作</a:t>
                </a:r>
              </a:p>
            </p:txBody>
          </p:sp>
        </p:grpSp>
      </p:grpSp>
      <p:grpSp>
        <p:nvGrpSpPr>
          <p:cNvPr id="26" name="p42-answer"/>
          <p:cNvGrpSpPr/>
          <p:nvPr/>
        </p:nvGrpSpPr>
        <p:grpSpPr>
          <a:xfrm>
            <a:off x="438150" y="4171950"/>
            <a:ext cx="9928860" cy="1317244"/>
            <a:chOff x="438150" y="4171950"/>
            <a:chExt cx="9928860" cy="1317244"/>
          </a:xfrm>
        </p:grpSpPr>
        <p:sp>
          <p:nvSpPr>
            <p:cNvPr id="23" name="TextBox 23"/>
            <p:cNvSpPr txBox="1"/>
            <p:nvPr/>
          </p:nvSpPr>
          <p:spPr>
            <a:xfrm>
              <a:off x="438150" y="4171950"/>
              <a:ext cx="3025140"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名称延续</a:t>
              </a:r>
            </a:p>
          </p:txBody>
        </p:sp>
        <p:sp>
          <p:nvSpPr>
            <p:cNvPr id="24" name="TextBox 24"/>
            <p:cNvSpPr txBox="1"/>
            <p:nvPr/>
          </p:nvSpPr>
          <p:spPr>
            <a:xfrm>
              <a:off x="5848350" y="4171950"/>
              <a:ext cx="4518660" cy="1019175"/>
            </a:xfrm>
            <a:prstGeom prst="rect">
              <a:avLst/>
            </a:prstGeom>
            <a:noFill/>
            <a:ln>
              <a:noFill/>
            </a:ln>
          </p:spPr>
          <p:txBody>
            <a:bodyPr wrap="none" lIns="0" tIns="0" rIns="0" bIns="0" anchor="t" anchorCtr="0">
              <a:spAutoFit/>
            </a:bodyPr>
            <a:lstStyle/>
            <a:p>
              <a:pPr algn="l"/>
              <a:r>
                <a:rPr lang="zh-CN" sz="5250" dirty="0">
                  <a:solidFill>
                    <a:schemeClr val="accent1"/>
                  </a:solidFill>
                  <a:latin typeface="+mj-lt"/>
                  <a:ea typeface="+mj-ea"/>
                  <a:cs typeface="+mj-cs"/>
                </a:rPr>
                <a:t>内容吸收修正</a:t>
              </a:r>
            </a:p>
          </p:txBody>
        </p:sp>
        <p:sp>
          <p:nvSpPr>
            <p:cNvPr id="25" name="TextBox 25"/>
            <p:cNvSpPr txBox="1"/>
            <p:nvPr/>
          </p:nvSpPr>
          <p:spPr>
            <a:xfrm>
              <a:off x="448056" y="5137150"/>
              <a:ext cx="87416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形成沿革、后续改文与运行效果分别看；不能凭一个名称或修改次数作全部判断。</a:t>
              </a:r>
            </a:p>
          </p:txBody>
        </p:sp>
      </p:grpSp>
      <p:grpSp>
        <p:nvGrpSpPr>
          <p:cNvPr id="29" name="p42-reading-use-and-next"/>
          <p:cNvGrpSpPr/>
          <p:nvPr/>
        </p:nvGrpSpPr>
        <p:grpSpPr>
          <a:xfrm>
            <a:off x="448056" y="5784850"/>
            <a:ext cx="11293602" cy="419608"/>
            <a:chOff x="448056" y="5784850"/>
            <a:chExt cx="11293602" cy="419608"/>
          </a:xfrm>
        </p:grpSpPr>
        <p:sp>
          <p:nvSpPr>
            <p:cNvPr id="27" name="TextBox 27"/>
            <p:cNvSpPr txBox="1"/>
            <p:nvPr/>
          </p:nvSpPr>
          <p:spPr>
            <a:xfrm>
              <a:off x="448056" y="5784850"/>
              <a:ext cx="70454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历史查当时依据，今天查现行文本；后来改文不裁断全部旧行为。</a:t>
              </a:r>
            </a:p>
          </p:txBody>
        </p:sp>
        <p:sp>
          <p:nvSpPr>
            <p:cNvPr id="28" name="TextBox 28"/>
            <p:cNvSpPr txBox="1"/>
            <p:nvPr/>
          </p:nvSpPr>
          <p:spPr>
            <a:xfrm>
              <a:off x="9365361" y="5940425"/>
              <a:ext cx="2376297"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下一讲：国家性质与国家形式</a:t>
              </a:r>
            </a:p>
          </p:txBody>
        </p:sp>
      </p:grpSp>
      <p:grpSp>
        <p:nvGrpSpPr>
          <p:cNvPr id="32" name="p42-footer"/>
          <p:cNvGrpSpPr/>
          <p:nvPr/>
        </p:nvGrpSpPr>
        <p:grpSpPr>
          <a:xfrm>
            <a:off x="451866" y="6254750"/>
            <a:ext cx="11288268" cy="205359"/>
            <a:chOff x="451866" y="6254750"/>
            <a:chExt cx="11288268" cy="205359"/>
          </a:xfrm>
        </p:grpSpPr>
        <p:sp>
          <p:nvSpPr>
            <p:cNvPr id="30" name="TextBox 30"/>
            <p:cNvSpPr txBox="1"/>
            <p:nvPr/>
          </p:nvSpPr>
          <p:spPr>
            <a:xfrm>
              <a:off x="451866" y="6254750"/>
              <a:ext cx="470352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1982宪法、其后修正案及监察法。三类文书为教学示意，各自有不同作用。</a:t>
              </a:r>
            </a:p>
          </p:txBody>
        </p:sp>
        <p:sp>
          <p:nvSpPr>
            <p:cNvPr id="31" name="TextBox 31"/>
            <p:cNvSpPr txBox="1"/>
            <p:nvPr/>
          </p:nvSpPr>
          <p:spPr>
            <a:xfrm>
              <a:off x="10690536" y="6254750"/>
              <a:ext cx="104959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第二讲　42 / 42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2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ecture-02-20261015-student-ready">
  <a:themeElements>
    <a:clrScheme name="lecture-02-20261015-student-ready">
      <a:dk1>
        <a:srgbClr val="2F2D29"/>
      </a:dk1>
      <a:lt1>
        <a:srgbClr val="F7F3EA"/>
      </a:lt1>
      <a:dk2>
        <a:srgbClr val="1F497D"/>
      </a:dk2>
      <a:lt2>
        <a:srgbClr val="ECE5D6"/>
      </a:lt2>
      <a:accent1>
        <a:srgbClr val="202C35"/>
      </a:accent1>
      <a:accent2>
        <a:srgbClr val="A02B2D"/>
      </a:accent2>
      <a:accent3>
        <a:srgbClr val="526774"/>
      </a:accent3>
      <a:accent4>
        <a:srgbClr val="202C35"/>
      </a:accent4>
      <a:accent5>
        <a:srgbClr val="6A645C"/>
      </a:accent5>
      <a:accent6>
        <a:srgbClr val="C7BFB1"/>
      </a:accent6>
      <a:hlink>
        <a:srgbClr val="A02B2D"/>
      </a:hlink>
      <a:folHlink>
        <a:srgbClr val="526774"/>
      </a:folHlink>
    </a:clrScheme>
    <a:fontScheme name="lecture-02-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2-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ecture-02-20261015-student-ready">
  <a:themeElements>
    <a:clrScheme name="lecture-02-20261015-student-ready">
      <a:dk1>
        <a:srgbClr val="2F2D29"/>
      </a:dk1>
      <a:lt1>
        <a:srgbClr val="F7F3EA"/>
      </a:lt1>
      <a:dk2>
        <a:srgbClr val="1F497D"/>
      </a:dk2>
      <a:lt2>
        <a:srgbClr val="ECE5D6"/>
      </a:lt2>
      <a:accent1>
        <a:srgbClr val="202C35"/>
      </a:accent1>
      <a:accent2>
        <a:srgbClr val="A02B2D"/>
      </a:accent2>
      <a:accent3>
        <a:srgbClr val="526774"/>
      </a:accent3>
      <a:accent4>
        <a:srgbClr val="202C35"/>
      </a:accent4>
      <a:accent5>
        <a:srgbClr val="6A645C"/>
      </a:accent5>
      <a:accent6>
        <a:srgbClr val="C7BFB1"/>
      </a:accent6>
      <a:hlink>
        <a:srgbClr val="A02B2D"/>
      </a:hlink>
      <a:folHlink>
        <a:srgbClr val="526774"/>
      </a:folHlink>
    </a:clrScheme>
    <a:fontScheme name="lecture-02-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2-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42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2026-10-15T13:10:32Z</dcterms:created>
  <dcterms:modified xsi:type="dcterms:W3CDTF">2026-10-15T13:10:32Z</dcterms:modified>
  <cp:category/>
  <cp:contentStatus/>
</cp:coreProperties>
</file>