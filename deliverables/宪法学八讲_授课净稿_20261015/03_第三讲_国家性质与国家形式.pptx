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4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  <Relationship Id="rId4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第三讲《国家性质与国家形式》逐字稿</a:t>
            </a:r>
          </a:p>
          <a:p>
            <a:pPr/>
            <a:endParaRPr lang="zh-CN" dirty="0"/>
          </a:p>
          <a:p>
            <a:pPr/>
            <a:r>
              <a:rPr lang="zh-CN" dirty="0"/>
              <a:t>上节｜人民的国家权力怎样组织起来</a:t>
            </a:r>
          </a:p>
          <a:p>
            <a:pPr/>
            <a:endParaRPr lang="zh-CN" dirty="0"/>
          </a:p>
          <a:p>
            <a:pPr/>
            <a:r>
              <a:rPr lang="zh-CN" dirty="0"/>
              <a:t>一、从一个人的自由，再看整个国家</a:t>
            </a:r>
          </a:p>
          <a:p>
            <a:pPr/>
            <a:endParaRPr lang="zh-CN" dirty="0"/>
          </a:p>
          <a:p>
            <a:pPr/>
            <a:r>
              <a:rPr lang="zh-CN" dirty="0"/>
              <a:t>上一讲，我们比较了几版宪法。检察机关有没有恢复，逮捕由谁判断、谁执行，会影响一个人的自由；城市土地仍属于国家，使用土地的安排却可以依法改变。我们看到，宪法的变化不是只增加几个字，它会改变人和国家机关之间的具体关系。</a:t>
            </a:r>
          </a:p>
          <a:p>
            <a:pPr/>
            <a:endParaRPr lang="zh-CN" dirty="0"/>
          </a:p>
          <a:p>
            <a:pPr/>
            <a:r>
              <a:rPr lang="zh-CN" dirty="0"/>
              <a:t>今天转向现行宪法。先不急着记三个定义，请带着三个问题读：这个国家具有怎样的性质，国家权力怎样组织起来，在这么广阔的地域上又怎样安排中央与地方？这三个问题相连，但不能互相替代。</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比如，看到某个国家有议会，还不能仅凭这个机关名称判断国家的性质。看到一张地图上画了许多区域，也不知道各区域的权力从哪里来、受到什么约束。外观给我们线索，具体关系才让我们看懂制度。</a:t>
            </a:r>
          </a:p>
          <a:p>
            <a:pPr/>
            <a:endParaRPr lang="zh-CN" dirty="0"/>
          </a:p>
          <a:p>
            <a:pPr/>
            <a:r>
              <a:rPr lang="zh-CN" dirty="0"/>
              <a:t>本讲会遇到国体、政体、国家结构形式。先知道它们各在问什么，再把我国的规定放进去。上半堂沿人民与国家机关的关系讲，下半堂把目光放到中央、地方与不同区域。最后再看每天可能见到的国旗、国徽，怎样在宪法中取得共同的国家身份。</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二、第一个问题：国家性质说的是什么</a:t>
            </a:r>
          </a:p>
          <a:p>
            <a:pPr/>
            <a:endParaRPr lang="zh-CN" dirty="0"/>
          </a:p>
          <a:p>
            <a:pPr/>
            <a:r>
              <a:rPr lang="zh-CN" dirty="0"/>
              <a:t>宪法第一条有两款。我们不分段照念，按两层来读。</a:t>
            </a:r>
          </a:p>
          <a:p>
            <a:pPr/>
            <a:endParaRPr lang="zh-CN" dirty="0"/>
          </a:p>
          <a:p>
            <a:pPr/>
            <a:r>
              <a:rPr lang="zh-CN" dirty="0"/>
              <a:t>第一款讲国家性质。条文用了三个相互配合的短语：我们国家是“工人阶级领导”的，“以工农联盟为基础”，是“人民民主专政的社会主义国家”。三个短语各有各的说明对象，不能混成一个。</a:t>
            </a:r>
          </a:p>
          <a:p>
            <a:pPr/>
            <a:endParaRPr lang="zh-CN" dirty="0"/>
          </a:p>
          <a:p>
            <a:pPr/>
            <a:r>
              <a:rPr lang="zh-CN" dirty="0"/>
              <a:t>第二款讲两件根本安排：一是“社会主义制度”是国家的根本制度；二是写明中国共产党的领导，是中国特色社会主义最本质的特征——这一点写进了条文。紧接着还有一句禁止性的规定：任何组织或者个人，都不许破坏社会主义制度。</a:t>
            </a:r>
          </a:p>
          <a:p>
            <a:pPr/>
            <a:endParaRPr lang="zh-CN" dirty="0"/>
          </a:p>
          <a:p>
            <a:pPr/>
            <a:r>
              <a:rPr lang="zh-CN" dirty="0"/>
              <a:t>这里有几层意思，不能把其中几个熟悉的名词混成一句答案。第一款说明国家性质；第二款规定根本制度，同时明确党的领导。都是根本安排，却有不同的说明对象。</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把国家性质也称为国体，着重考察社会各阶级、阶层在国家中的地位，也就是国家权力的社会基础和性质。这个“性质”，不是在问国家的面积、人口或者天气，也不是在评一栋机关办公楼是什么风格。它关心哪些社会力量处于怎样的政治地位，国家权力建立在什么基础上。</a:t>
            </a:r>
          </a:p>
          <a:p>
            <a:pPr/>
            <a:endParaRPr lang="zh-CN" dirty="0"/>
          </a:p>
          <a:p>
            <a:pPr/>
            <a:r>
              <a:rPr lang="zh-CN" dirty="0"/>
              <a:t>因此，回答我国的国体，要把第一款读完整：工人阶级领导，以工农联盟为基础，人民民主专政的社会主义国家。只回答“国家有人民”，太宽了；只回答“国家有政府”，又没有答到性质。宪法是在明确国家政权的领导力量、基础和性质。</a:t>
            </a:r>
          </a:p>
          <a:p>
            <a:pPr/>
            <a:endParaRPr lang="zh-CN" dirty="0"/>
          </a:p>
          <a:p>
            <a:pPr/>
            <a:r>
              <a:rPr lang="zh-CN" dirty="0"/>
              <a:t>“工人阶级领导”和“以工农联盟为基础”，说明相互联系的不同地位。工人阶级在国家政权中处于领导地位，工农联盟则构成这一政权的阶级基础。前者回答领导力量，后者回答依靠和联合的基础；人民民主专政再说明国家政权的性质。这样读，第一款就是一组关于国家政权的关系，而不是几种职业并列出现的名单。</a:t>
            </a:r>
          </a:p>
          <a:p>
            <a:pPr/>
            <a:endParaRPr lang="zh-CN" dirty="0"/>
          </a:p>
          <a:p>
            <a:pPr/>
            <a:r>
              <a:rPr lang="zh-CN" dirty="0"/>
              <a:t>教材的这层理解来自马克思主义的国家观。讨论一个人今天从事什么工作，问的是个人职业；讨论各阶级、阶层在国家中的地位，问的是国家政权的社会基础和根本性质。两者有联系，却不是同一张登记表。</a:t>
            </a:r>
          </a:p>
          <a:p>
            <a:pPr/>
            <a:endParaRPr lang="zh-CN" dirty="0"/>
          </a:p>
          <a:p>
            <a:pPr/>
            <a:r>
              <a:rPr lang="zh-CN" dirty="0"/>
              <a:t>为什么特别写工农联盟？这要放回中国革命所面对的社会条件。教材指出，当时工人阶级所占比重较小，农民占很大比重。建立和巩固新的国家政权，需要工人阶级同农民及其他劳动群众形成稳定的联合。新中国成立后，工农联盟又在社会主义基础上发展。这里的“基础”，说的是政权依靠怎样的社会力量建立、维持和发展，不是简单把两种职业的名称排在一起。</a:t>
            </a:r>
          </a:p>
          <a:p>
            <a:pPr/>
            <a:endParaRPr lang="zh-CN" dirty="0"/>
          </a:p>
          <a:p>
            <a:pPr/>
            <a:r>
              <a:rPr lang="zh-CN" dirty="0"/>
              <a:t>有这样的基础，也不意味着只有工人、农民可以参与国家生活。教材接着讲爱国统一战线：在共同目标之下，把不同阶级、阶层、党派、团体等社会政治力量联合起来。宪法序言所说的统一战线，范围很广，可以归成几类人：社会主义的劳动者，社会主义事业的建设者，拥护社会主义的爱国者，以及拥护祖国统一、致力于中华民族伟大复兴的爱国者。大家的社会经历和具体意见可以不同，仍能围绕共同事业形成广泛的政治联合。工农联盟说明阶级基础，统一战线说明更广泛的团结范围，二者不能互相替代。</a:t>
            </a:r>
          </a:p>
          <a:p>
            <a:pPr/>
            <a:endParaRPr lang="zh-CN" dirty="0"/>
          </a:p>
          <a:p>
            <a:pPr/>
            <a:r>
              <a:rPr lang="zh-CN" dirty="0"/>
              <a:t>“人民民主专政”这个名称也保留了我国政权形成的特点。新民主主义革命时期，它是由工人阶级领导、以工农联盟为基础、包括各革命阶级的联合专政；进入社会主义时期，国家的任务和社会关系继续发展。教材说明，这一表述既体现社会主义国家性质，也能反映我国广泛的政治基础。不能把它读成一张永远不变的职业名单，更不能由某个人的职业直接推出他可以行使什么国家职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名称同时包含民主与专政的关系。教材解释，对人民实行民主，使人民依法参与管理国家和社会事务；对敌视、破坏社会主义事业的敌对分子依法实行专政，维护国家政权和社会秩序。两方面共同服务于保障人民当家作主。这里的国家职能，不能被读成只要说是在维护国家，就可以省掉法律依据。</a:t>
            </a:r>
          </a:p>
          <a:p>
            <a:pPr/>
            <a:endParaRPr lang="zh-CN" dirty="0"/>
          </a:p>
          <a:p>
            <a:pPr/>
            <a:r>
              <a:rPr lang="zh-CN" dirty="0"/>
              <a:t>对公安专业来说，这里还要接上一步。宪法第二十八条把维护社会秩序、惩治危害社会治安等犯罪活动规定为国家任务。但能否对一个人采取措施，要查的是具体行为、事实依据和法定条件，不能先凭个人判断把他划为“敌人”，再认为自己因此取得了办案权限。国家性质说明国家职能的根本方向，不能代替具体案件的法律判断。</a:t>
            </a:r>
          </a:p>
          <a:p>
            <a:pPr/>
            <a:endParaRPr lang="zh-CN" dirty="0"/>
          </a:p>
          <a:p>
            <a:pPr/>
            <a:r>
              <a:rPr lang="zh-CN" dirty="0"/>
              <a:t>上一讲已经给了我们提醒：被怀疑犯罪的人，仍受人身自由条款保护。第三十三条规定公民在法律面前一律平等，第三十七条要求限制人身自由遵守相应规定。依法惩治犯罪和依法保障权利，都是国家机关必须履行的要求；不是先选其中一项，再把另一项放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再看第二款中的社会主义制度。条文将它规定为根本制度，讨论国家社会制度的根本性质。下一讲会沿经济和政治等安排展开，看看根本制度怎样体现在具体规定中。</a:t>
            </a:r>
          </a:p>
          <a:p>
            <a:pPr/>
            <a:endParaRPr lang="zh-CN" dirty="0"/>
          </a:p>
          <a:p>
            <a:pPr/>
            <a:r>
              <a:rPr lang="zh-CN" dirty="0"/>
              <a:t>第一条又明文规定，中国共产党的领导，是中国特色社会主义最本质的特征——这一句怎样同前面的国家性质相接？教材说明，工人阶级的领导通过其先锋队中国共产党实现。这里说的领导力量，同前面说的阶级基础各有对象；领导又以支持和保证人民当家作主、维护最广大人民的根本利益为要求。人民是国家的主人，需要能够依法参与国家和社会事务，人民的需要和意见也要进入国家工作。</a:t>
            </a:r>
          </a:p>
          <a:p>
            <a:pPr/>
            <a:endParaRPr lang="zh-CN" dirty="0"/>
          </a:p>
          <a:p>
            <a:pPr/>
            <a:r>
              <a:rPr lang="zh-CN" dirty="0"/>
              <a:t>依法治国使这种领导和人民参与有稳定的制度依据。谁能作什么决定，人民通过什么途径参与，机关须承担什么责任，都需要由宪法和法律规定。领导国家事业，要通过相应制度组织、协调和保障各方面工作；具体机关则依自己的法定职权履职。第一讲读过的第五条要求国家机关、各政党和各种组织遵守宪法法律，不能用某个个人的意志替代这些规定。</a:t>
            </a:r>
          </a:p>
          <a:p>
            <a:pPr/>
            <a:endParaRPr lang="zh-CN" dirty="0"/>
          </a:p>
          <a:p>
            <a:pPr/>
            <a:r>
              <a:rPr lang="zh-CN" dirty="0"/>
              <a:t>因此，党的领导，人民当家作主，依法治国，这三者不能只作为三个名称并排背下来。领导要组织和支持人民依法参与，人民当家作主需要制度使其得到实现，宪法法律又确认并保障这些关系、约束权力的行使。少了实际参与，人民的地位容易只停在一句宣告；少了明确规则，谁来办事、向谁负责就可能取决于临时安排。接下来读第二、三条，我们就看这些要求怎样进入国家权力的组织。</a:t>
            </a:r>
          </a:p>
          <a:p>
            <a:pPr/>
            <a:endParaRPr lang="zh-CN" dirty="0"/>
          </a:p>
          <a:p>
            <a:pPr/>
            <a:r>
              <a:rPr lang="zh-CN" dirty="0"/>
              <a:t>国家性质及其社会政治基础已经有了位置。现在接着问：国家权力属于人民，怎样由人民行使？</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三、“属于人民”怎样进入具体的制度</a:t>
            </a:r>
          </a:p>
          <a:p>
            <a:pPr/>
            <a:endParaRPr lang="zh-CN" dirty="0"/>
          </a:p>
          <a:p>
            <a:pPr/>
            <a:r>
              <a:rPr lang="zh-CN" dirty="0"/>
              <a:t>宪法第二条有三款，我们按三款分别回答三个问题。</a:t>
            </a:r>
          </a:p>
          <a:p>
            <a:pPr/>
            <a:endParaRPr lang="zh-CN" dirty="0"/>
          </a:p>
          <a:p>
            <a:pPr/>
            <a:r>
              <a:rPr lang="zh-CN" dirty="0"/>
              <a:t>第一款只有一句：国家的一切权力属于人民。它回答的是根本归属。</a:t>
            </a:r>
          </a:p>
          <a:p>
            <a:pPr/>
            <a:endParaRPr lang="zh-CN" dirty="0"/>
          </a:p>
          <a:p>
            <a:pPr/>
            <a:r>
              <a:rPr lang="zh-CN" dirty="0"/>
              <a:t>第二款接着回答，人民通过什么机关来行使国家权力。条文点出的机关是全国人民代表大会、地方各级人民代表大会。</a:t>
            </a:r>
          </a:p>
          <a:p>
            <a:pPr/>
            <a:endParaRPr lang="zh-CN" dirty="0"/>
          </a:p>
          <a:p>
            <a:pPr/>
            <a:r>
              <a:rPr lang="zh-CN" dirty="0"/>
              <a:t>第三款回答人民怎样参与。条文写的是：人民依照法律规定，通过各种途径和形式，管理国家事务、经济和文化事业、社会事务。</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款先回答根本归属。国家机关是在行使国家权力，不能因此就把权力看作它自己的财产。机关有名称、有印章、有办公地点，这些都不改变国家权力属于人民的规定。上一讲最高人民检察院恢复工作、重新启用原有印章，意味着重新依法履职，不是给某个办公室恢复一份私人权力。</a:t>
            </a:r>
          </a:p>
          <a:p>
            <a:pPr/>
            <a:endParaRPr lang="zh-CN" dirty="0"/>
          </a:p>
          <a:p>
            <a:pPr/>
            <a:r>
              <a:rPr lang="zh-CN" dirty="0"/>
              <a:t>但是，“属于”不等于“每个人分别领取一小块”。国家权力不是把一张大饼切成许多份，谁拿到哪一份，就能独立决定那一类国家事务。我们说人民是国家的主人，讨论的是根本政治地位；具体由哪个机关作决定、如何参与和监督，还需要制度安排。</a:t>
            </a:r>
          </a:p>
          <a:p>
            <a:pPr/>
            <a:endParaRPr lang="zh-CN" dirty="0"/>
          </a:p>
          <a:p>
            <a:pPr/>
            <a:r>
              <a:rPr lang="zh-CN" dirty="0"/>
              <a:t>这里也要分清人民与公民。宪法说，凡具有中华人民共和国国籍的，都是国家的公民；它确认的是个人同国家的法律身份联系。说一切权力属于人民，则是在说国家权力的整体归属。两个词有关联，各自着眼点不同，不能在所有条文中随意替换。</a:t>
            </a:r>
          </a:p>
          <a:p>
            <a:pPr/>
            <a:endParaRPr lang="zh-CN" dirty="0"/>
          </a:p>
          <a:p>
            <a:pPr/>
            <a:r>
              <a:rPr lang="zh-CN" dirty="0"/>
              <a:t>举一个很小的例子。一个具有中国国籍的孩子也是公民，不是等拿到第一张选票才成为公民。至于某项权利什么时候、按照什么条件行使，是另一个问题。本讲不展开选举权的年龄和其他条件，后面讲具体权利时再看。现在只须知道，公民身份与每项权力、权利的行使条件不能画等号。</a:t>
            </a:r>
          </a:p>
          <a:p>
            <a:pPr/>
            <a:endParaRPr lang="zh-CN" dirty="0"/>
          </a:p>
          <a:p>
            <a:pPr/>
            <a:r>
              <a:rPr lang="zh-CN" dirty="0"/>
              <a:t>同样，课堂上不能把人民解释成一张由自己临时填写的“好人名单”，再把不赞同某项意见的人随意划出去。国家权力的归属，是宪法确立的根本原则；对个人资格、行为和权利的法律判断，要有相应的规范依据。个人的公民身份也不能因为我们不喜欢他的观点就消失。</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在一个人口众多、事务复杂的国家，人民怎样行使国家权力？第二款接着规定了人民代表大会。这一步，把根本归属同国家权力的组织形式联系起来。全国人大和地方各级人大，分别在相应的层次依法行使职权，不能把这一款缩成只存在一个全国性的大会。</a:t>
            </a:r>
          </a:p>
          <a:p>
            <a:pPr/>
            <a:endParaRPr lang="zh-CN" dirty="0"/>
          </a:p>
          <a:p>
            <a:pPr/>
            <a:r>
              <a:rPr lang="zh-CN" dirty="0"/>
              <a:t>为什么还要第三款？因为人民参与国家和社会事务，不是选完代表就可以永远退出。条文写得很清楚：人民依照法律规定，可以通过各种途径和形式，管理相关事务。这里既有国家权力机关的组织，也保留更广的依法参与空间。不能只读第二款，就把所有参与都压缩成投票那一天。</a:t>
            </a:r>
          </a:p>
          <a:p>
            <a:pPr/>
            <a:endParaRPr lang="zh-CN" dirty="0"/>
          </a:p>
          <a:p>
            <a:pPr/>
            <a:r>
              <a:rPr lang="zh-CN" dirty="0"/>
              <a:t>反过来，也不能只读第三款的“各种途径和形式”，就以为任何参与形式都可以取得相同的国家机关权限。提出意见与作出国家决定不是一个动作，参加社会事务与代表国家进行执法也不是一个身份。条文里的“依照法律规定”，正是将参与同法定的组织、权限和办理方式接起来。</a:t>
            </a:r>
          </a:p>
          <a:p>
            <a:pPr/>
            <a:endParaRPr lang="zh-CN" dirty="0"/>
          </a:p>
          <a:p>
            <a:pPr/>
            <a:r>
              <a:rPr lang="zh-CN" dirty="0"/>
              <a:t>我们设想一件具体的事。一片居民区长期缺少安全的过街设施，居民提出意见，代表了解情况，相关部门研究怎样改造。意见从生活问题出发，需要有人认真听、能够进入处理过程。可不能因为居民是国家的主人，就说其中任何一人都可以宣布改道，或者决定动用公共资金。</a:t>
            </a:r>
          </a:p>
          <a:p>
            <a:pPr/>
            <a:endParaRPr lang="zh-CN" dirty="0"/>
          </a:p>
          <a:p>
            <a:pPr/>
            <a:r>
              <a:rPr lang="zh-CN" dirty="0"/>
              <a:t>这并不是把人民放远。相反，若只有一个笼统的“你有权参与”，却不说明意见送给谁、谁负责回答、谁有权决定，参与便很难落实。权力属于人民，需要通过有职责的机关和可辨认的关系成为实际工作；具体办理有规则，也需要让提出问题的人知道事情怎样被处理。</a:t>
            </a:r>
          </a:p>
          <a:p>
            <a:pPr/>
            <a:endParaRPr lang="zh-CN" dirty="0"/>
          </a:p>
          <a:p>
            <a:pPr/>
            <a:r>
              <a:rPr lang="zh-CN" dirty="0"/>
              <a:t>读完三款，就可以准确说：第一款讲国家权力属于谁，第二款讲人民行使国家权力的机关，第三款讲人民依法参与管理事务。它们组成一个连贯安排。只背第一款容易停在宣告，只背第二款容易只看机关，只背第三款又容易混淆参与与法定职权。</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四、人大制度不能只看一张会议照片</a:t>
            </a:r>
          </a:p>
          <a:p>
            <a:pPr/>
            <a:endParaRPr lang="zh-CN" dirty="0"/>
          </a:p>
          <a:p>
            <a:pPr/>
            <a:r>
              <a:rPr lang="zh-CN" dirty="0"/>
              <a:t>我们在新闻里见过人民大会堂，也见过代表开会。这些画面很醒目，但人民代表大会制度并不等于那栋建筑，也不等于一年里几天的会议，更不等于“全国人大”四个字。</a:t>
            </a:r>
          </a:p>
          <a:p>
            <a:pPr/>
            <a:endParaRPr lang="zh-CN" dirty="0"/>
          </a:p>
          <a:p>
            <a:pPr/>
            <a:r>
              <a:rPr lang="zh-CN" dirty="0"/>
              <a:t>先看宪法第三条的前三款。</a:t>
            </a:r>
          </a:p>
          <a:p>
            <a:pPr/>
            <a:endParaRPr lang="zh-CN" dirty="0"/>
          </a:p>
          <a:p>
            <a:pPr/>
            <a:r>
              <a:rPr lang="zh-CN" dirty="0"/>
              <a:t>第一款是一句总原则：国家机构实行民主集中制。</a:t>
            </a:r>
          </a:p>
          <a:p>
            <a:pPr/>
            <a:endParaRPr lang="zh-CN" dirty="0"/>
          </a:p>
          <a:p>
            <a:pPr/>
            <a:r>
              <a:rPr lang="zh-CN" dirty="0"/>
              <a:t>第二款讲人大同人民的关系：全国人大和地方各级人大都由民主选举产生，要对人民负责，受人民监督。</a:t>
            </a:r>
          </a:p>
          <a:p>
            <a:pPr/>
            <a:endParaRPr lang="zh-CN" dirty="0"/>
          </a:p>
          <a:p>
            <a:pPr/>
            <a:r>
              <a:rPr lang="zh-CN" dirty="0"/>
              <a:t>第三款讲人大同其他国家机关的关系：行政、监察、审判、检察机关，都由人民代表大会产生，要对它负责，受它监督。</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把第二条和这三款放在一起。请用自己的话解释：为什么知道“国家权力属于人民”，还需要规定人大怎样产生、向谁负责、受谁监督？再说清，其他国家机关的产生和责任关系，与前面的人民和人大怎样连接。</a:t>
            </a:r>
          </a:p>
          <a:p>
            <a:pPr/>
            <a:endParaRPr lang="zh-CN" dirty="0"/>
          </a:p>
          <a:p>
            <a:pPr/>
            <a:r>
              <a:rPr lang="zh-CN" dirty="0"/>
              <a:t>【独立阅读与思考约三分钟。教师暂停讲述。】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第二条出发，人民是国家权力的归属主体，人民代表大会是行使国家权力的机关。第三条接着说明人大由民主选举产生，向人民负责并接受人民监督。不是先给机关一个地位，再把人民留在图外；机关如何产生，以及成立以后怎样面对人民，都在同一组规定中。</a:t>
            </a:r>
          </a:p>
          <a:p>
            <a:pPr/>
            <a:endParaRPr lang="zh-CN" dirty="0"/>
          </a:p>
          <a:p>
            <a:pPr/>
            <a:r>
              <a:rPr lang="zh-CN" dirty="0"/>
              <a:t>如果只画一条从人民到人大的箭头，容易让人以为选举完成以后关系就结束了。但条文还写着“对人民负责，受人民监督”。我们需要把这个返回的方向读出来：人民并未因为形成代表机关，就变成制度之外只能观看的人。</a:t>
            </a:r>
          </a:p>
          <a:p>
            <a:pPr/>
            <a:endParaRPr lang="zh-CN" dirty="0"/>
          </a:p>
          <a:p>
            <a:pPr/>
            <a:r>
              <a:rPr lang="zh-CN" dirty="0"/>
              <a:t>再向下看，行政、监察、审判和检察机关，都由人民代表大会产生，向它负责，受它监督。这里已经包括监察机关，不能沿用增设监察委员会以前的旧图，漏掉这一类机关。具体中央机关怎样产生、分别行使什么职权，第七讲会逐项读，今天先认识组织和责任的基本关系。</a:t>
            </a:r>
          </a:p>
          <a:p>
            <a:pPr/>
            <a:endParaRPr lang="zh-CN" dirty="0"/>
          </a:p>
          <a:p>
            <a:pPr/>
            <a:r>
              <a:rPr lang="zh-CN" dirty="0"/>
              <a:t>这一组关系，也不等于人大亲自办理所有工作。你们以后会学到行政机关依法履职、法院依法审判、检察院依法履行相应职责。由人大产生、向人大负责，说明组织与监督关系；具体事项仍由相应机关在职权范围内办理。</a:t>
            </a:r>
          </a:p>
          <a:p>
            <a:pPr/>
            <a:endParaRPr lang="zh-CN" dirty="0"/>
          </a:p>
          <a:p>
            <a:pPr/>
            <a:r>
              <a:rPr lang="zh-CN" dirty="0"/>
              <a:t>这同上一讲并不冲突。上一讲讲检察院审查逮捕请求怎样产生实际约束，今天把它放回国家权力组织的整体之中。检察院有法定职责，不能被其他机关随便替代；同时，它也处在宪法规定的产生、负责和监督关系中。履职的分工和组织的联系可以同时存在。</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样看，人民代表大会是国家机关，人民代表大会制度则是一整套组织和活动关系。它包括人民怎样形成代表机关，代表机关怎样行使职权，其他机关怎样产生、履职、负责，以及相应的监督怎样进行。一个机关名称，不能代替这些关系。</a:t>
            </a:r>
          </a:p>
          <a:p>
            <a:pPr/>
            <a:endParaRPr lang="zh-CN" dirty="0"/>
          </a:p>
          <a:p>
            <a:pPr/>
            <a:r>
              <a:rPr lang="zh-CN" dirty="0"/>
              <a:t>为什么教材将人民代表大会制度称作我国的政体，也称根本政治制度？因为它并不是国家活动外围的一个附加安排，而是在组织国家权力：谁形成代表机关，国家权力怎样通过机关运行，其他机关怎样同它发生关系。这些是国家政权组织形式的根本问题。</a:t>
            </a:r>
          </a:p>
          <a:p>
            <a:pPr/>
            <a:endParaRPr lang="zh-CN" dirty="0"/>
          </a:p>
          <a:p>
            <a:pPr/>
            <a:r>
              <a:rPr lang="zh-CN" dirty="0"/>
              <a:t>此处有一对名称要读准。社会主义制度是第一条所说的根本制度；人民代表大会制度是我国的根本政治制度。前者着眼于根本社会制度，后者着眼于国家权力的组织和活动形式。不能因为都含“根本”二字，就在答案中把它们互换。</a:t>
            </a:r>
          </a:p>
          <a:p>
            <a:pPr/>
            <a:endParaRPr lang="zh-CN" dirty="0"/>
          </a:p>
          <a:p>
            <a:pPr/>
            <a:r>
              <a:rPr lang="zh-CN" dirty="0"/>
              <a:t>说“我国政体是全国人民代表大会”，还少了什么？少了制度。全国人大是其中的最高国家权力机关，但我国还有地方各级人大，也有同人民和其他国家机关之间的组织关系。把一个机关直接当作整个政体，像只报出一位参赛队员的名字，却没有说明队伍怎样组成、怎样比赛。</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五、代表怎样产生，决定又由谁作出</a:t>
            </a:r>
          </a:p>
          <a:p>
            <a:pPr/>
            <a:endParaRPr lang="zh-CN" dirty="0"/>
          </a:p>
          <a:p>
            <a:pPr/>
            <a:r>
              <a:rPr lang="zh-CN" dirty="0"/>
              <a:t>既然人大由民主选举产生，我们还需要辨清一点：不是每个层级的人大代表，都由全国人民直接投票选出。不同层级，有相应的产生方式。宪法第九十七条给出了地方代表产生的规定，县、乡两级实行直接选举，更高层级实行间接选举。选举权的具体条件和选举程序，留到相应内容和有关课程再展开，今天只掌握这一层次差别。</a:t>
            </a:r>
          </a:p>
          <a:p>
            <a:pPr/>
            <a:endParaRPr lang="zh-CN" dirty="0"/>
          </a:p>
          <a:p>
            <a:pPr/>
            <a:r>
              <a:rPr lang="zh-CN" dirty="0"/>
              <a:t>“间接”不是没有选举，而是选举由相应下一级人大依法进行。直接选举和间接选举在组织层次上不同，不能把二者的名称当成有没有民主的简单开关。评价选举和代表关系怎样实现，还要看法律规定与实际工作，不能仅用一个形容词代替全部判断。</a:t>
            </a:r>
          </a:p>
          <a:p>
            <a:pPr/>
            <a:endParaRPr lang="zh-CN" dirty="0"/>
          </a:p>
          <a:p>
            <a:pPr/>
            <a:r>
              <a:rPr lang="zh-CN" dirty="0"/>
              <a:t>这也说明，民主选举是人大形成的基本关系，具体由谁选、按什么规则选，需要更细的规范。本讲不会把完整程序塞进来，但必须知道，第一层的原则并没有替代后面依法安排的任务。条文讲得概括，不等于所有地方、所有层级只用一种办法。</a:t>
            </a:r>
          </a:p>
          <a:p>
            <a:pPr/>
            <a:endParaRPr lang="zh-CN" dirty="0"/>
          </a:p>
          <a:p>
            <a:pPr/>
            <a:r>
              <a:rPr lang="zh-CN" dirty="0"/>
              <a:t>代表产生以后，另一个区别也要说清：人大代表个人与人民代表大会集体不是同一主体。一个代表可以依法提出意见、建议，参与审议和表决，联系群众；不能仅凭代表身份，就以自己一个人的意思替整个人大作决定，更不能直接代替政府处理行政事务。</a:t>
            </a:r>
          </a:p>
          <a:p>
            <a:pPr/>
            <a:endParaRPr lang="zh-CN" dirty="0"/>
          </a:p>
          <a:p>
            <a:pPr/>
            <a:r>
              <a:rPr lang="zh-CN" dirty="0"/>
              <a:t>为什么需要这种区分？如果每位代表都可以分别发出同样有效的国家决定，一件事务就可能出现互不相容的指令。代表既要带来具体意见，又需要在法定的组织和程序中形成机关的决定。集体形成判断，既是集中各种意见的需要，也是使决定有确定主体和责任的需要。</a:t>
            </a:r>
          </a:p>
          <a:p>
            <a:pPr/>
            <a:endParaRPr lang="zh-CN" dirty="0"/>
          </a:p>
          <a:p>
            <a:pPr/>
            <a:r>
              <a:rPr lang="zh-CN" dirty="0"/>
              <a:t>不过，不能因此把代表的个人作用说成没有分量。在国家机关作出集体决定之前，首先要有人发现问题、把问题说准确、提出可以审议的主张。来自不同地域、行业和生活处境的代表，可能让原来没有进入视野的需要被看到。代表个人不是最终决定者，不妨碍他在形成决定和推动办理中发挥具体作用。</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看一件实际发生的事。全国人大代表王永澄在2023年提出一项建议：为普通学校随班就读的低视力学生出版大字教材。这个需求很具体。学生来到同一间教室，也领到了教材，可如果普通字号不适合他们的视力，拿到书与能够读书之间，仍隔着一段距离。</a:t>
            </a:r>
          </a:p>
          <a:p>
            <a:pPr/>
            <a:endParaRPr lang="zh-CN" dirty="0"/>
          </a:p>
          <a:p>
            <a:pPr/>
            <a:r>
              <a:rPr lang="zh-CN" dirty="0"/>
              <a:t>我们平时常问，教材有没有发齐。这项建议把注意力又向前推进：发齐之后，不同学生能不能使用？面对同一套教学材料，有些人的困难可能不在缺书，而在材料的呈现方式。</a:t>
            </a:r>
          </a:p>
          <a:p>
            <a:pPr/>
            <a:endParaRPr lang="zh-CN" dirty="0"/>
          </a:p>
          <a:p>
            <a:pPr/>
            <a:r>
              <a:rPr lang="zh-CN" dirty="0"/>
              <a:t>人大网站当年的工作报道记载，王永澄经过调研提出建议，教育部办理时同他沟通，了解学生需要和出版的实际困难。有关部门不是仅凭一个“大字”名称，就把全国教材立即换掉；需要把具体问题放进已有的教育和教材工作中处理。</a:t>
            </a:r>
          </a:p>
          <a:p>
            <a:pPr/>
            <a:endParaRPr lang="zh-CN" dirty="0"/>
          </a:p>
          <a:p>
            <a:pPr/>
            <a:r>
              <a:rPr lang="zh-CN" dirty="0"/>
              <a:t>教育部对这一建议的正式答复落款在2023年9月。它说明，已有推动随班就读、提供相应教科书的政策安排；大字版教材仍须按照教材审定要求送审，并从起始年级逐年出版。同期人大报道记载，该年秋季已推出十三种大字版教材。这里说的是当年所记的具体进展，并不是今天所有学校的配备状况。</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些细节让“提出建议”有了真实的后续：与代表沟通，核对需要和实施条件，按审定要求推动出版，并通过答复说明进展与后续安排。已经存在的政策基础、有关部门的专业工作和逐步推进的条件，都在形成结果的过程中。</a:t>
            </a:r>
          </a:p>
          <a:p>
            <a:pPr/>
            <a:endParaRPr lang="zh-CN" dirty="0"/>
          </a:p>
          <a:p>
            <a:pPr/>
            <a:r>
              <a:rPr lang="zh-CN" dirty="0"/>
              <a:t>现在问，王永澄是否以一个人的身份行使了整个人大的决定权？没有。是否因为代表提出建议，教育部就不再需要依据自己的职责和教材规则工作？也没有。代表把具体需要带进办理，部门在自己的职责内处理，答复又使代表能够了解进展、继续沟通。几种主体共同发生作用，身份和权限仍没有合成一个。</a:t>
            </a:r>
          </a:p>
          <a:p>
            <a:pPr/>
            <a:endParaRPr lang="zh-CN" dirty="0"/>
          </a:p>
          <a:p>
            <a:pPr/>
            <a:r>
              <a:rPr lang="zh-CN" dirty="0"/>
              <a:t>有人也许会觉得，学生和家长可以直接找教育部门，为什么还要经过代表？这个疑问有合理的一面。第二条第三款本来就规定多种依法参与途径，代表渠道并不是所有人表达需要的唯一入口。但代表可以通过调研，把分散、容易被忽略的需要组织成更清楚的公共问题，依法推动有关机关认真办理。多一种能够持续联系的途径，不等于取消其他途径。</a:t>
            </a:r>
          </a:p>
          <a:p>
            <a:pPr/>
            <a:endParaRPr lang="zh-CN" dirty="0"/>
          </a:p>
          <a:p>
            <a:pPr/>
            <a:r>
              <a:rPr lang="zh-CN" dirty="0"/>
              <a:t>这里还有一个需要认真对待的难处。代表提出的需要越具体，越容易让我们希望立刻实行；部门却还要说明教材质量、审定和出版等条件。条件可能确有必要，也可能需要改进，不能仅凭一方的名称便预定谁总是正确。判断办理是否认真，应看它有没有回应所提问题，有没有说明依据和困难，有没有推进能够完成的工作。</a:t>
            </a:r>
          </a:p>
          <a:p>
            <a:pPr/>
            <a:endParaRPr lang="zh-CN" dirty="0"/>
          </a:p>
          <a:p>
            <a:pPr/>
            <a:r>
              <a:rPr lang="zh-CN" dirty="0"/>
              <a:t>我们不凭这一件事证明整个制度的运行效果，却能够从中看见一组关系怎样工作。代表不是替所有机关做事的人；他的一项具体作用，是使一些人的生活困难进入国家事务的视野，并通过法定联系继续被追问。一份教材、一项建议和一份答复，比单独写“代表联系人民”几个字，多告诉了我们一些具体内容。</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可以看出代表性的一个难处：有共同身份，不等于有完全相同的生活经验。有人熟悉乡村道路，有人熟悉制造业，有人注意老年人使用公共设施的困难。把这些经验带入国家事务，不是让每种经验各自占有一份权力，而是使讨论获得更充分的信息，再依法作出面向共同事务的判断。</a:t>
            </a:r>
          </a:p>
          <a:p>
            <a:pPr/>
            <a:endParaRPr lang="zh-CN" dirty="0"/>
          </a:p>
          <a:p>
            <a:pPr/>
            <a:r>
              <a:rPr lang="zh-CN" dirty="0"/>
              <a:t>因此，代表提出一项意见后，我们应当继续问：这项意见如何说明事实，怎样进入审议或者有关机关的办理，办理者需要依据什么作决定，结果怎样向代表和群众说明？问题应当顺着制度往下看，不能一听说代表提了建议，就把后续全部工作算成已经完成。</a:t>
            </a:r>
          </a:p>
          <a:p>
            <a:pPr/>
            <a:endParaRPr lang="zh-CN" dirty="0"/>
          </a:p>
          <a:p>
            <a:pPr/>
            <a:r>
              <a:rPr lang="zh-CN" dirty="0"/>
              <a:t>负责和监督的要求，正是在这些过程中具有意义。选择了代表机关，不意味着人民把关切交出去以后就只能等候；形成了负责关系，也不意味着各机关只须在图上画一条线。关系要由联系、说明、审议、依法办理等实际工作维持。具体监督机制以后再展开，今天先认识为什么组织中需要这一面。</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六、民主与集中要放在同一过程里理解</a:t>
            </a:r>
          </a:p>
          <a:p>
            <a:pPr/>
            <a:endParaRPr lang="zh-CN" dirty="0"/>
          </a:p>
          <a:p>
            <a:pPr/>
            <a:r>
              <a:rPr lang="zh-CN" dirty="0"/>
              <a:t>第三条开头说国家机构实行民主集中制。初学时容易把民主想成大家都有不同意见，把集中想成谁都不能有不同意见，于是两个词像在互相打架。其实，需要认识的是意见怎样进入组织，怎样依法形成共同决定，决定又怎样由相应机关落实。</a:t>
            </a:r>
          </a:p>
          <a:p>
            <a:pPr/>
            <a:endParaRPr lang="zh-CN" dirty="0"/>
          </a:p>
          <a:p>
            <a:pPr/>
            <a:r>
              <a:rPr lang="zh-CN" dirty="0"/>
              <a:t>我们先把一个真实困难讲清。国家事务涉及的地域广、人数多、专业问题也多。让每个人在每一件事上都从头参与全部办理，在现实中会遇到时间、知识和组织条件的限制。建立代表机关和专业履职机关，可以使国家事务有人负责，形成稳定的处理能力。</a:t>
            </a:r>
          </a:p>
          <a:p>
            <a:pPr/>
            <a:endParaRPr lang="zh-CN" dirty="0"/>
          </a:p>
          <a:p>
            <a:pPr/>
            <a:r>
              <a:rPr lang="zh-CN" dirty="0"/>
              <a:t>但能力集中以后，也会出现另一类问题。掌握处理信息和办理权限的人，可能不了解某些人的实际困难；形成决定的过程，可能没有充分听到受到影响者的意见。不能因为安排了一个能工作的机关，就认为人民的参与、机关的负责和监督已经自动得到保证。</a:t>
            </a:r>
          </a:p>
          <a:p>
            <a:pPr/>
            <a:endParaRPr lang="zh-CN" dirty="0"/>
          </a:p>
          <a:p>
            <a:pPr/>
            <a:r>
              <a:rPr lang="zh-CN" dirty="0"/>
              <a:t>所以，组织国家权力，不是在“大家各做各的”和“只有少数人可以说话”之间挑一个。我们需要让意见能够进入，让国家机关能够依法形成决定，又使决定者保持负责和接受监督的关系。人民代表大会制度正要把这些工作联系起来，而不是只完成其中一项。</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刚才的大字教材事例，讲的是代表建议怎样办理；现在看大会怎样作决定。对于同一件事，代表可能提出不同意见。大会再依照法定程序审议、表决，形成属于这个机关的决定。不是把每位代表的个人意见各盖一个同样有效的章，而是在组织中形成确定的决定主体与结果。</a:t>
            </a:r>
          </a:p>
          <a:p>
            <a:pPr/>
            <a:endParaRPr lang="zh-CN" dirty="0"/>
          </a:p>
          <a:p>
            <a:pPr/>
            <a:r>
              <a:rPr lang="zh-CN" dirty="0"/>
              <a:t>集中意味着依法形成可以共同实施的决定，民主则使人民的参与、意见表达和监督进入国家活动。前面有审议，后面有相应机关依法实施，组织关系不能只停在投票的那一刻。意见应当被认真对待，与每个意见一定成为最终决定，是不同要求。</a:t>
            </a:r>
          </a:p>
          <a:p>
            <a:pPr/>
            <a:endParaRPr lang="zh-CN" dirty="0"/>
          </a:p>
          <a:p>
            <a:pPr/>
            <a:r>
              <a:rPr lang="zh-CN" dirty="0"/>
              <a:t>对于有分歧的问题，充分听取意见也不保证立刻找到没有代价的答案。国家机关需要依据事实、法律和公共事务的需要作判断。最后形成一个决定，并不意味着其他意见从此毫无价值；具体办理受到何种监督、能否依法调整，仍是制度需要回答的问题。</a:t>
            </a:r>
          </a:p>
          <a:p>
            <a:pPr/>
            <a:endParaRPr lang="zh-CN" dirty="0"/>
          </a:p>
          <a:p>
            <a:pPr/>
            <a:r>
              <a:rPr lang="zh-CN" dirty="0"/>
              <a:t>更不能把集中理解为，任何具体事项都由人大开会投票。政府、法院等机关有各自的法定职责和办理规则。根本组织原则与具体履职方式是两个层次。把所有国家工作都想成一场大会，不但不准确，还会使大家看不到不同机关为什么要分工。</a:t>
            </a:r>
          </a:p>
          <a:p>
            <a:pPr/>
            <a:endParaRPr lang="zh-CN" dirty="0"/>
          </a:p>
          <a:p>
            <a:pPr/>
            <a:r>
              <a:rPr lang="zh-CN" dirty="0"/>
              <a:t>我们可以把上半堂的认识向前推进一句：国家权力属于人民，并不会因为建立机关而消失；人民当家作主，也不会因为写下一句话便自动完成。需要的是一套把产生、履职、负责和监督接起来的安排。组织使权力能够工作，责任和监督使它继续面对人民。</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七、国体与政体为什么要分开，又不能割开</a:t>
            </a:r>
          </a:p>
          <a:p>
            <a:pPr/>
            <a:endParaRPr lang="zh-CN" dirty="0"/>
          </a:p>
          <a:p>
            <a:pPr/>
            <a:r>
              <a:rPr lang="zh-CN" dirty="0"/>
              <a:t>现在回到最初的两个问题。国体关心国家性质以及社会各阶级、阶层在国家中的地位；政体关心国家权力的组织和活动形式。我国第一条确立的国家性质，与第二、三条展开的人民代表大会制度，说明的是相互联系的不同层次。</a:t>
            </a:r>
          </a:p>
          <a:p>
            <a:pPr/>
            <a:endParaRPr lang="zh-CN" dirty="0"/>
          </a:p>
          <a:p>
            <a:pPr/>
            <a:r>
              <a:rPr lang="zh-CN" dirty="0"/>
              <a:t>教材说国体决定政体，同时提醒，国家性质不是决定具体组织形式的唯一因素，历史条件等也会发生作用。不能把这句话读成，只要给出一种国家性质，便能像查字典一样自动得到世界上唯一一种机关样式。理解我国制度，应当回到我国的宪法安排与形成条件。</a:t>
            </a:r>
          </a:p>
          <a:p>
            <a:pPr/>
            <a:endParaRPr lang="zh-CN" dirty="0"/>
          </a:p>
          <a:p>
            <a:pPr/>
            <a:r>
              <a:rPr lang="zh-CN" dirty="0"/>
              <a:t>人民民主专政的国家性质要求认识人民的主体地位，人民代表大会制度则把这种地位同国家权力组织相连接。反过来，怎样组织和行使权力，也会影响根本地位能否在实际国家活动中体现。性质不能代替组织，组织也不能只看外观。</a:t>
            </a:r>
          </a:p>
          <a:p>
            <a:pPr/>
            <a:endParaRPr lang="zh-CN" dirty="0"/>
          </a:p>
          <a:p>
            <a:pPr/>
            <a:r>
              <a:rPr lang="zh-CN" dirty="0"/>
              <a:t>如果同学问，人民代表大会制度为什么重要，我们可以作出有内容的回答：它不只是让国家有一个会议机关，而是安排人民、代表机关和其他国家机关之间怎样形成、怎样工作、怎样负责。它关系到国家权力怎样保持属于人民的性质，又怎样具备实际处理事务的能力。</a:t>
            </a:r>
          </a:p>
          <a:p>
            <a:pPr/>
            <a:endParaRPr lang="zh-CN" dirty="0"/>
          </a:p>
          <a:p>
            <a:pPr/>
            <a:r>
              <a:rPr lang="zh-CN" dirty="0"/>
              <a:t>上节到这里，国家性质、根本制度和国家政权组织形式已经有了各自位置。接下来还剩一个不能从这组机关关系直接得到答案的问题：同一个国家里，为什么有中央与地方，又有一般行政区域、民族自治地方和特别行政区？下半堂，我们把这组关系放到地域上看。</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下节｜统一国家中的中央、地方与不同区域</a:t>
            </a:r>
          </a:p>
          <a:p>
            <a:pPr/>
            <a:endParaRPr lang="zh-CN" dirty="0"/>
          </a:p>
          <a:p>
            <a:pPr/>
            <a:r>
              <a:rPr lang="zh-CN" dirty="0"/>
              <a:t>八、从机关关系，转向地域关系</a:t>
            </a:r>
          </a:p>
          <a:p>
            <a:pPr/>
            <a:endParaRPr lang="zh-CN" dirty="0"/>
          </a:p>
          <a:p>
            <a:pPr/>
            <a:r>
              <a:rPr lang="zh-CN" dirty="0"/>
              <a:t>上半堂从国家性质走到人民代表大会制度，认识了人民、代表机关与其他国家机关怎样联系。现在换一个观察方向：这些机关不是全都坐在同一座城市里，全国事务同地方事务怎样衔接，不同区域又以什么身份处在同一个国家中？</a:t>
            </a:r>
          </a:p>
          <a:p>
            <a:pPr/>
            <a:endParaRPr lang="zh-CN" dirty="0"/>
          </a:p>
          <a:p>
            <a:pPr/>
            <a:r>
              <a:rPr lang="zh-CN" dirty="0"/>
              <a:t>一个人的地址可能连续写着省、市、县、乡。地址帮助我们找到地方，却没有自动回答哪一件事由哪一级机关决定。寄快递时知道地方在哪里很重要，研究国家结构时还得知道权力怎样安排。地图上画出的线与机关之间的权限关系，需要接起来看。</a:t>
            </a:r>
          </a:p>
          <a:p>
            <a:pPr/>
            <a:endParaRPr lang="zh-CN" dirty="0"/>
          </a:p>
          <a:p>
            <a:pPr/>
            <a:r>
              <a:rPr lang="zh-CN" dirty="0"/>
              <a:t>教材将这种总体安排称为国家结构形式，既包括国家内部的地域组成，也包括国家整体与组成部分、中央与地方的关系。行政区划属于其中地域划分的一面，不能单独代替国家结构形式。画出一个地方在哪一级之后，仍要问它在国家中具有什么法律地位。</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我们先看第三条末款。它说，中央和地方的国家机构职权怎样划分，要遵循一条原则：在中央的统一领导下，充分发挥地方的主动性和积极性。</a:t>
            </a:r>
          </a:p>
          <a:p>
            <a:pPr/>
            <a:endParaRPr lang="zh-CN" dirty="0"/>
          </a:p>
          <a:p>
            <a:pPr/>
            <a:r>
              <a:rPr lang="zh-CN" dirty="0"/>
              <a:t>这句话同时保留两层要求。中央统一领导，说明地方活动处在国家整体安排之中；充分发挥地方的主动性、积极性，说明地方不只是等着把上面每一个细节原样搬下来。地方有其依法承担的事务，也需要根据实际情况做好工作。</a:t>
            </a:r>
          </a:p>
          <a:p>
            <a:pPr/>
            <a:endParaRPr lang="zh-CN" dirty="0"/>
          </a:p>
          <a:p>
            <a:pPr/>
            <a:r>
              <a:rPr lang="zh-CN" dirty="0"/>
              <a:t>为什么不是只留下其中一半？只说地方自己办，就可能忽略跨区域事务和整个国家的共同需要；只说中央统一办，又可能忽略地方掌握的具体情况及实际承担能力。国家既要成为一个能协同的整体，又须使地域广阔、条件不同的地方能够工作。</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问题在实际工作中出现过具体的矛盾。1956年，毛泽东在《论十大关系》中讨论中央和地方的关系时，讲到中央各部门分别通过省市的厅局向地方发出指令、要求填写很多报表，地方办事遇到困难。我们读的是这份讲话的后来公开文本，认识的是当时面临的工作困难。</a:t>
            </a:r>
          </a:p>
          <a:p>
            <a:pPr/>
            <a:endParaRPr lang="zh-CN" dirty="0"/>
          </a:p>
          <a:p>
            <a:pPr/>
            <a:r>
              <a:rPr lang="zh-CN" dirty="0"/>
              <a:t>为什么许多部门都在要求认真办事，合在一起反而可能让地方难办？因为每个部门从自己负责的事项出发，地方却要把许多要求放在同一个时间、同一组人员和具体条件中落实。各条线分别看起来有理由，不表示汇集到同一个地方时已经协调好了。统一的目标，还需要能够接续的工作安排。</a:t>
            </a:r>
          </a:p>
          <a:p>
            <a:pPr/>
            <a:endParaRPr lang="zh-CN" dirty="0"/>
          </a:p>
          <a:p>
            <a:pPr/>
            <a:r>
              <a:rPr lang="zh-CN" dirty="0"/>
              <a:t>这份讲话提出，涉及地方的事项先同地方协商，又区分中央部门直接管理的事务，与提出指导方针、工作规划而由地方办理的事务。同时，国家的统一领导、计划和纪律仍须维持。它没有把扩大地方能动性同国家整体的组织分开，而是在问中央与地方怎样各负其责、使工作能够开展。</a:t>
            </a:r>
          </a:p>
          <a:p>
            <a:pPr/>
            <a:endParaRPr lang="zh-CN" dirty="0"/>
          </a:p>
          <a:p>
            <a:pPr/>
            <a:r>
              <a:rPr lang="zh-CN" dirty="0"/>
              <a:t>这里看到的是当时的问题与所提主张，实际落实还须另看工作材料。今天具体职权怎样配置，仍按现行宪法和法律确认。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带着这个矛盾再读第三条末款，就能理解两项要求为何相接。上面的要求没有协调，地方可能忙于分别应对；地方不承担自己的职责，统一安排也会停在纸面。职权划分需要说明哪些事务由整体协调，哪些工作由地方落实。</a:t>
            </a:r>
          </a:p>
          <a:p>
            <a:pPr/>
            <a:endParaRPr lang="zh-CN" dirty="0"/>
          </a:p>
          <a:p>
            <a:pPr/>
            <a:r>
              <a:rPr lang="zh-CN" dirty="0"/>
              <a:t>也不能因此一概取消共同标准和报送信息。有些要求确实服务于共同事务，关键是掌握的信息能否支持决定、承担者有没有相应权限和条件。把权力集中起来未必总有效，离现场近也不能证明所有事情都应由地方决定。具体分工需要根据法律和事务本身的条件来安排。</a:t>
            </a:r>
          </a:p>
          <a:p>
            <a:pPr/>
            <a:endParaRPr lang="zh-CN" dirty="0"/>
          </a:p>
          <a:p>
            <a:pPr/>
            <a:r>
              <a:rPr lang="zh-CN" dirty="0"/>
              <a:t>我们再设想一个情况：一条河流经过几个地方，上游的使用可能影响下游。各地方只从自己的范围考虑，很难靠地图边界解决全部问题，需要整体协调。但要了解每一处河道、居民分布和实际使用状况，又离不开地方掌握的信息。同一件事，既有跨地域的一面，又有本地落实的一面。</a:t>
            </a:r>
          </a:p>
          <a:p>
            <a:pPr/>
            <a:endParaRPr lang="zh-CN" dirty="0"/>
          </a:p>
          <a:p>
            <a:pPr/>
            <a:r>
              <a:rPr lang="zh-CN" dirty="0"/>
              <a:t>具体事项由谁决定、谁执行，还要看相应法律。第三条末款给出职权划分的原则，并没有列完每一项权限。地方主动与中央统一领导，都需要通过具体的职责配置落实，不能从“离现场近”或者“层级高”一个理由直接推出。</a:t>
            </a:r>
          </a:p>
          <a:p>
            <a:pPr/>
            <a:endParaRPr lang="zh-CN" dirty="0"/>
          </a:p>
          <a:p>
            <a:pPr/>
            <a:r>
              <a:rPr lang="zh-CN" dirty="0"/>
              <a:t>上半堂讲政体，下半堂讲国家结构，两者就这样相接。前者主要看国家权力怎样通过机关组织和活动，后者把这种组织放到地域上看。一个地方不能仅凭位置和名称，获得没有法律依据的职权。</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九、单一制怎样从具体规定中看出来</a:t>
            </a:r>
          </a:p>
          <a:p>
            <a:pPr/>
            <a:endParaRPr lang="zh-CN" dirty="0"/>
          </a:p>
          <a:p>
            <a:pPr/>
            <a:r>
              <a:rPr lang="zh-CN" dirty="0"/>
              <a:t>我国的国家结构形式，在学理上概括为单一制。要说清“学理上”这几个字：宪法相应条款并没有直接写“我国实行单一制”，而是规定了统一国家内的地域组成和权力关系。教材用这个名称把相关安排概括起来。</a:t>
            </a:r>
          </a:p>
          <a:p>
            <a:pPr/>
            <a:endParaRPr lang="zh-CN" dirty="0"/>
          </a:p>
          <a:p>
            <a:pPr/>
            <a:r>
              <a:rPr lang="zh-CN" dirty="0"/>
              <a:t>单一制的组成部分，是统一国家内部的普通行政区域或自治区域。按教材概括的基本关系，地方接受中央的统一领导，地方职权通过国家的宪法和法律加以规定、授予。地方依法办理自己的事务，可以有不同的制度安排；这些权力仍是在统一国家中安排地方治理的权力。</a:t>
            </a:r>
          </a:p>
          <a:p>
            <a:pPr/>
            <a:endParaRPr lang="zh-CN" dirty="0"/>
          </a:p>
          <a:p>
            <a:pPr/>
            <a:r>
              <a:rPr lang="zh-CN" dirty="0"/>
              <a:t>但“单一”不等于每个地方都长得一样，更不等于所有事情只有一个机关才能办。前面第三条末款已经同时写了中央统一领导与地方主动性。如果单一制意味着一切细节必须完全相同，充分发挥地方积极性的要求便很难得到解释。</a:t>
            </a:r>
          </a:p>
          <a:p>
            <a:pPr/>
            <a:endParaRPr lang="zh-CN" dirty="0"/>
          </a:p>
          <a:p>
            <a:pPr/>
            <a:r>
              <a:rPr lang="zh-CN" dirty="0"/>
              <a:t>教材介绍单一制时列了一些一般特征，又特别提醒这些概括不是毫无例外的机械清单。我们不能把“一套完全相同的地方制度”当作定义，再遇到有不同制度的地方就说它一定在国家之外。应当先看国家整体与地方的法律关系，不能先用一个过度整齐的图把实际规定排除掉。</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常见的另一种结构形式是联邦制。它的组成部分，是具有成员地位的政治实体。教材所讲的典型结构，是联邦与成员分享国家权力：成员有自己的政权组织，在宪法确认的权限范围内自主处理事务；联邦也有自己的职权范围。两者的关系，不能简单按中央领导一般地方行政区域来理解。要辨认的是组成部分以什么地位参与国家权力分配，不能只数它管多少事、有没有立法权。联邦仍是一个国家，成员地位也不意味着可以任意脱离。</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种成员地位可以怎样表现？我们只看德国的一个例子。德国《基本法》规定，各邦通过联邦参议院参与联邦的立法和行政。这个机关由各邦政府的成员组成，其中的人员由相应邦政府任免。邦不只办理自己区域内的事务，还以成员单位的身份参与联邦层面的权力运作。《基本法》又明确保护联邦由邦组成、各邦参与立法的原则，不允许通过修改《基本法》将它们取消。</a:t>
            </a:r>
          </a:p>
          <a:p>
            <a:pPr/>
            <a:endParaRPr lang="zh-CN" dirty="0"/>
          </a:p>
          <a:p>
            <a:pPr/>
            <a:r>
              <a:rPr lang="zh-CN" dirty="0"/>
              <a:t>这并不是说单一制下地方不能参与国家事务。德国这个例子让我们看到的是，成员作为组成国家的政治实体，其地位和参与国家整体事务的原则，构成了联邦制度本身的安排，不只是中央机关把几件事交给地方办理。各国具体形式仍有差别，不能将德国这套机关直接当成所有联邦的模板，也不能反过来把我国地方依法享有的权限说成中央某个机关可以随意增减。</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因此，地方管多少事、名称中有没有“州”，都不能单独决定国家结构的类型。那么，我国为什么采取单一制？教材把它同历史传统、民族关系和共同发展的需要联系起来。</a:t>
            </a:r>
          </a:p>
          <a:p>
            <a:pPr/>
            <a:endParaRPr lang="zh-CN" dirty="0"/>
          </a:p>
          <a:p>
            <a:pPr/>
            <a:r>
              <a:rPr lang="zh-CN" dirty="0"/>
              <a:t>先看历史。我国长期形成统一国家的传统，各地域之间的联系和对国家整体的认同，并不是今天画一张行政区划图才建立起来的。教材据此说明，现代国家的结构选择有自己的历史基础。当然，今天的国家制度不能同古代中央集权直接画等号；我们要认识的是统一传统的延续，不是照搬古代的机关和治理办法。</a:t>
            </a:r>
          </a:p>
          <a:p>
            <a:pPr/>
            <a:endParaRPr lang="zh-CN" dirty="0"/>
          </a:p>
          <a:p>
            <a:pPr/>
            <a:r>
              <a:rPr lang="zh-CN" dirty="0"/>
              <a:t>再看民族分布。教材用“大杂居、小聚居”说明一个基本特点：一个民族可能在某些地方较为集中，同时又同其他民族交错居住。长期的人口迁徙、通婚、贸易和日常交往，使各民族之间形成相互依存的联系。不能设想只要沿民族名称画几条线，就能把人们的生活分成彼此独立、互不关联的几块。</a:t>
            </a:r>
          </a:p>
          <a:p>
            <a:pPr/>
            <a:endParaRPr lang="zh-CN" dirty="0"/>
          </a:p>
          <a:p>
            <a:pPr/>
            <a:r>
              <a:rPr lang="zh-CN" dirty="0"/>
              <a:t>这样的历史和现实，使维护国家统一、民族团结成为结构安排需要承担的任务。不同地方共同处在一个主权国家之内，有利于维护共同的国家安全，保持已经形成的社会联系。统一同时要容纳民族和地域的不同特点，所以后面还要解释民族区域自治：在共同国家之内依法安排地方事务，而不是要求所有地方采取完全相同的办法。</a:t>
            </a:r>
          </a:p>
          <a:p>
            <a:pPr/>
            <a:endParaRPr lang="zh-CN" dirty="0"/>
          </a:p>
          <a:p>
            <a:pPr/>
            <a:r>
              <a:rPr lang="zh-CN" dirty="0"/>
              <a:t>共同发展也是一层理由。各地的资源、生产条件、技术和人才并不相同，人们的交往和经济联系也不会恰好止于行政边界。教材强调，在统一国家中把各地优势联系起来，可以互相支持、取长补短，为各民族共同繁荣发展提供条件。这说明制度选择所要解决的问题，不等于仅凭“单一制”三个字，就能证明每一项现实安排都已经取得理想效果。</a:t>
            </a:r>
          </a:p>
          <a:p>
            <a:pPr/>
            <a:endParaRPr lang="zh-CN" dirty="0"/>
          </a:p>
          <a:p>
            <a:pPr/>
            <a:r>
              <a:rPr lang="zh-CN" dirty="0"/>
              <a:t>这些理由要放在我国的历史和现实中理解，不能只因别国也有人口流动或地区差异，就替它的国家结构作同样判断。单一制提供国家整体的安排，各地具体怎样履职，仍要依法确定。</a:t>
            </a:r>
          </a:p>
          <a:p>
            <a:pPr/>
            <a:endParaRPr lang="zh-CN" dirty="0"/>
          </a:p>
          <a:p>
            <a:pPr/>
            <a:r>
              <a:rPr lang="zh-CN" dirty="0"/>
              <a:t>如果同学记住单一制三个字，却觉得有自治地方就一定不是统一国家，说明定义还没有接回条文。接下来我们看第三十条，再看第四条和第三十一条，既读地域组成，也读不同区域的制度根据。三个名词如何放回同一国家，必须由具体文字说明。</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十、行政区划有层次，也有分支</a:t>
            </a:r>
          </a:p>
          <a:p>
            <a:pPr/>
            <a:endParaRPr lang="zh-CN" dirty="0"/>
          </a:p>
          <a:p>
            <a:pPr/>
            <a:r>
              <a:rPr lang="zh-CN" dirty="0"/>
              <a:t>宪法第三十条讲行政区域划分。它不是一个层级的直线，而是分成几条线，我们按条文的分项来看。</a:t>
            </a:r>
          </a:p>
          <a:p>
            <a:pPr/>
            <a:endParaRPr lang="zh-CN" dirty="0"/>
          </a:p>
          <a:p>
            <a:pPr/>
            <a:r>
              <a:rPr lang="zh-CN" dirty="0"/>
              <a:t>第一项，全国分为省、自治区、直辖市。也就是说，国家的第一层区域，是这三类并列。</a:t>
            </a:r>
          </a:p>
          <a:p>
            <a:pPr/>
            <a:endParaRPr lang="zh-CN" dirty="0"/>
          </a:p>
          <a:p>
            <a:pPr/>
            <a:r>
              <a:rPr lang="zh-CN" dirty="0"/>
              <a:t>第二项，省和自治区再往下分：可以分成自治州，也分成县、自治县和市。</a:t>
            </a:r>
          </a:p>
          <a:p>
            <a:pPr/>
            <a:endParaRPr lang="zh-CN" dirty="0"/>
          </a:p>
          <a:p>
            <a:pPr/>
            <a:r>
              <a:rPr lang="zh-CN" dirty="0"/>
              <a:t>第三项，县和自治县再往下分，分成乡、民族乡、镇。到这里，是大家最熟悉的一条主线。</a:t>
            </a:r>
          </a:p>
          <a:p>
            <a:pPr/>
            <a:endParaRPr lang="zh-CN" dirty="0"/>
          </a:p>
          <a:p>
            <a:pPr/>
            <a:r>
              <a:rPr lang="zh-CN" dirty="0"/>
              <a:t>条文并没有到此为止，它另外写了两条分支：直辖市和较大的市，可以再分为区、县；自治州则分为县、自治县、市。</a:t>
            </a:r>
          </a:p>
          <a:p>
            <a:pPr/>
            <a:endParaRPr lang="zh-CN" dirty="0"/>
          </a:p>
          <a:p>
            <a:pPr/>
            <a:r>
              <a:rPr lang="zh-CN" dirty="0"/>
              <a:t>最后一句，点出民族自治地方的范围：自治区、自治州、自治县，这三类都是民族自治地方。</a:t>
            </a:r>
          </a:p>
          <a:p>
            <a:pPr/>
            <a:endParaRPr lang="zh-CN" dirty="0"/>
          </a:p>
          <a:p>
            <a:pPr/>
            <a:r>
              <a:rPr lang="zh-CN" dirty="0"/>
              <a:t>不要急着把它压成“全国一律省、市、县、乡四级”。原文先列全国的区域组成，接着分别规定省、自治区及县、自治县的划分，又另写直辖市和较大的市、自治州的分支。法律文字并没有用一条完全相同的线路串起所有地方。</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其中，省、自治区、直辖市并列在第一项，说明这一层的不同区域安排。不能因为自治区名称里多出“自治”，就说它是一个比省更大或者更小的行政层级。层级上有可比的位置，不意味着法律身份和制度依据也完全一样。</a:t>
            </a:r>
          </a:p>
          <a:p>
            <a:pPr/>
            <a:endParaRPr lang="zh-CN" dirty="0"/>
          </a:p>
          <a:p>
            <a:pPr/>
            <a:r>
              <a:rPr lang="zh-CN" dirty="0"/>
              <a:t>再看自治州和自治县。它们并不是将自治区的全部制度机械缩小后再换一个名称，也不能都放在同一个行政层次上。第三十条让我们根据各自所在的分支去认识位置。一个区域是什么层级，同它为什么具有自治身份，需要分别说明。</a:t>
            </a:r>
          </a:p>
          <a:p>
            <a:pPr/>
            <a:endParaRPr lang="zh-CN" dirty="0"/>
          </a:p>
          <a:p>
            <a:pPr/>
            <a:r>
              <a:rPr lang="zh-CN" dirty="0"/>
              <a:t>我们实际沿一条分支读一次。第一项列出自治区；第二项说明自治区可以分为自治州等区域；接着又规定，自治州分为县、自治县、市。这样便能沿文字看见“自治区—自治州—县、自治县、市”这条分支，而不是把自治区、自治州、自治县同时摆在一排。</a:t>
            </a:r>
          </a:p>
          <a:p>
            <a:pPr/>
            <a:endParaRPr lang="zh-CN" dirty="0"/>
          </a:p>
          <a:p>
            <a:pPr/>
            <a:r>
              <a:rPr lang="zh-CN" dirty="0"/>
              <a:t>再对照直辖市。原文另写“直辖市和较大的市分为区、县”，这是一条不同的分支。按规定逐层读，可以看见区域层次，也能看出为什么一条省、市、县、乡的整齐线路不能代替全部原文。这里读的是宪法列出的安排，具体地方的现实划分还须依据相应规定确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市”也不能仅凭名称认定只有一个层级。条文在不同位置使用这个名称，并另提直辖市和较大的市。我们今天不教全国行政区划的最新数量，也不把整张现实区划统计表背下来。要掌握的是读规则的方法：条文说哪个范围分成哪些区域，有没有另设分支。</a:t>
            </a:r>
          </a:p>
          <a:p>
            <a:pPr/>
            <a:endParaRPr lang="zh-CN" dirty="0"/>
          </a:p>
          <a:p>
            <a:pPr/>
            <a:r>
              <a:rPr lang="zh-CN" dirty="0"/>
              <a:t>这种读法为什么有用？如果先拿自己的家庭地址当全国模板，就可能把熟悉的排列推广到所有地区。经验能帮助进入知识，不能替代制度原文。遇到一个不符合本地排列的地方，应当回到它相应的规定，而不是先说地图一定出了错。</a:t>
            </a:r>
          </a:p>
          <a:p>
            <a:pPr/>
            <a:endParaRPr lang="zh-CN" dirty="0"/>
          </a:p>
          <a:p>
            <a:pPr/>
            <a:r>
              <a:rPr lang="zh-CN" dirty="0"/>
              <a:t>行政区划有管理作用，也同人的生活相连。学校、道路、公共服务和日常事务总要落实到具体地域，地方机关的设立和活动也以相应区域为条件。但画出一条边界，不等于已经决定这片区域能够制定什么规则、可以办理什么事务。这正是行政区划与国家结构形式不能混为一谈的理由。</a:t>
            </a:r>
          </a:p>
          <a:p>
            <a:pPr/>
            <a:endParaRPr lang="zh-CN" dirty="0"/>
          </a:p>
          <a:p>
            <a:pPr/>
            <a:r>
              <a:rPr lang="zh-CN" dirty="0"/>
              <a:t>我们可以把地图和权限说明想成两张需要相互对照的纸。第一张帮助看见各区域的位置、层次与边界；第二张说明谁依法负责什么，与国家整体和其他机关怎样联系。只拿地图，容易把地理名称当权限；只拿机关名单，又不知道工作如何落实到地域。</a:t>
            </a:r>
          </a:p>
          <a:p>
            <a:pPr/>
            <a:endParaRPr lang="zh-CN" dirty="0"/>
          </a:p>
          <a:p>
            <a:pPr/>
            <a:r>
              <a:rPr lang="zh-CN" dirty="0"/>
              <a:t>地方的行政区划也不是一经确定，永远不能调整。但设立、撤销或改变区域安排，涉及国家组织和群众生活，需要有相应的法定主体与程序。本讲不展开审批清单。现在只须认识，地方不能因为希望换一个名字，便自行取得一个新的法律身份。</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十条最后一句尤其值得停下来。我把这句原话读一下：“自治区、自治州、自治县都是民族自治地方。”这里列的是三类。前面第三项中还有民族乡，但最后这一句没有把民族乡列入民族自治地方。名称带有“民族”，与取得这三类自治地方的法定身份，不是同一个判断。</a:t>
            </a:r>
          </a:p>
          <a:p>
            <a:pPr/>
            <a:endParaRPr lang="zh-CN" dirty="0"/>
          </a:p>
          <a:p>
            <a:pPr/>
            <a:r>
              <a:rPr lang="zh-CN" dirty="0"/>
              <a:t>为什么要认真分清？如果名称近似便直接归为同类，后面谈自治权、机关和制度就会一路混下去。我们认识一个地方，需要依据它的法律身份，不是看名字有没有熟悉的关键词。这条规则在理解特别行政区时还会再用到。</a:t>
            </a:r>
          </a:p>
          <a:p>
            <a:pPr/>
            <a:endParaRPr lang="zh-CN" dirty="0"/>
          </a:p>
          <a:p>
            <a:pPr/>
            <a:r>
              <a:rPr lang="zh-CN" dirty="0"/>
              <a:t>十一、自治地方为什么仍在统一国家之内</a:t>
            </a:r>
          </a:p>
          <a:p>
            <a:pPr/>
            <a:endParaRPr lang="zh-CN" dirty="0"/>
          </a:p>
          <a:p>
            <a:pPr/>
            <a:r>
              <a:rPr lang="zh-CN" dirty="0"/>
              <a:t>宪法第四条先规定中华人民共和国各民族一律平等，并规定国家保障少数民族的合法权利和利益，维护和发展各民族平等团结互助和谐的关系。这里既有共同的国家身份，也承认民族之间需要平等、团结和相互支持。</a:t>
            </a:r>
          </a:p>
          <a:p>
            <a:pPr/>
            <a:endParaRPr lang="zh-CN" dirty="0"/>
          </a:p>
          <a:p>
            <a:pPr/>
            <a:r>
              <a:rPr lang="zh-CN" dirty="0"/>
              <a:t>其中关于地域自治的部分，条文其实说了两件事。一件是，少数民族聚居的地方实行“区域自治”，也就是设立自治机关、行使自治权。另一件是，各民族自治地方，都是中华人民共和国不能分离出去的部分。</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区域”两个字不能省略。这不是把某个民族的每一个成员，不论住在哪里，都单独组织成一个国家。它是在统一国家中，按照少数民族聚居等条件，安排地方的区域自治。对象涉及地方地域与国家组织，不是一张按个人民族身份分开的国籍表。</a:t>
            </a:r>
          </a:p>
          <a:p>
            <a:pPr/>
            <a:endParaRPr lang="zh-CN" dirty="0"/>
          </a:p>
          <a:p>
            <a:pPr/>
            <a:r>
              <a:rPr lang="zh-CN" dirty="0"/>
              <a:t>所以，民族自治地方也不能被理解为某个民族的独占领地。不同民族可以共同生活在同一地区，各民族一律平等的规定仍在。区域自治不取消这个共同前提，依法自治也不能变成其他民族来到这里便不具有相同公民身份。</a:t>
            </a:r>
          </a:p>
          <a:p>
            <a:pPr/>
            <a:endParaRPr lang="zh-CN" dirty="0"/>
          </a:p>
          <a:p>
            <a:pPr/>
            <a:r>
              <a:rPr lang="zh-CN" dirty="0"/>
              <a:t>我们再看两个同时存在的规定：一方面设立自治机关、行使自治权，另一方面规定不可分离。前者确认统一国家之内的地方自治安排，后者确认区域与国家整体的关系。二者不是先后收回的两句话，而是需要一起理解的完整规定。</a:t>
            </a:r>
          </a:p>
          <a:p>
            <a:pPr/>
            <a:endParaRPr lang="zh-CN" dirty="0"/>
          </a:p>
          <a:p>
            <a:pPr/>
            <a:r>
              <a:rPr lang="zh-CN" dirty="0"/>
              <a:t>如果只有“统一”而不说明不同地方的制度空间，就可能忽略民族地区的具体情况和需要；如果只有“自治”而抹去不可分离性，就把地方的依法自治误写成另成一个主权国家。条文在统一国家内安排自治，并没有在这两个单独的极端之间选择一个。</a:t>
            </a:r>
          </a:p>
          <a:p>
            <a:pPr/>
            <a:endParaRPr lang="zh-CN" dirty="0"/>
          </a:p>
          <a:p>
            <a:pPr/>
            <a:r>
              <a:rPr lang="zh-CN" dirty="0"/>
              <a:t>“自治”日常听起来像自己管理，但法律中的自治要继续问：什么主体，依据什么规则，在什么范围内行使什么权力？它不是一个只要贴在名称上就能扩大到一切事项的词。不同制度中的自治，也可能具有不同的主体和权限。</a:t>
            </a:r>
          </a:p>
          <a:p>
            <a:pPr/>
            <a:endParaRPr lang="zh-CN" dirty="0"/>
          </a:p>
          <a:p>
            <a:pPr/>
            <a:r>
              <a:rPr lang="zh-CN" dirty="0"/>
              <a:t>这里我们先把区域身份认识清楚。自治区、自治州和自治县，是前面第三十条列出的民族自治地方；自治机关则是依法承担相应工作的组织。地域与机关不能画等号。说一个地方有法院，不表示法院因此就成为民族自治地方的自治机关。</a:t>
            </a:r>
          </a:p>
          <a:p>
            <a:pPr/>
            <a:endParaRPr lang="zh-CN" dirty="0"/>
          </a:p>
          <a:p>
            <a:pPr/>
            <a:r>
              <a:rPr lang="zh-CN" dirty="0"/>
              <a:t>具体哪些机关属于自治机关，具有哪些一般地方国家机关职权和依法自治权，第七讲会分别读条文；民族区域自治作为一项政治制度的性质，下一讲也会联系认识。本堂讲的是它在国家地域结构中的位置，不提前铺开一张自治权大全。</a:t>
            </a:r>
          </a:p>
          <a:p>
            <a:pPr/>
            <a:endParaRPr lang="zh-CN" dirty="0"/>
          </a:p>
          <a:p>
            <a:pPr/>
            <a:r>
              <a:rPr lang="zh-CN" dirty="0"/>
              <a:t>这样分工不是让知识停在三个名词。我们已经能够解释，民族区域自治与统一国家怎样相接，区域自治为什么不等于个人民族自治，不可分离性为什么同依法自治能够并存。掌握这些关系，后面读自治机关和制度细目才有共同的前提。</a:t>
            </a:r>
          </a:p>
          <a:p>
            <a:pPr/>
            <a:endParaRPr lang="zh-CN" dirty="0"/>
          </a:p>
          <a:p>
            <a:pPr/>
            <a:r>
              <a:rPr lang="zh-CN" dirty="0"/>
              <a:t>再读第四条，可以看出国家统一并不要求所有地方的人口和文化特点完全一样。宪法承认并依法安排差异，同时以各民族平等、国家统一为共同基础。不能从“不同”直接推出国家结构被割开，也不能从“统一”直接推出地方特色不值得考虑。</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十二、特别行政区的“特别”从哪里来</a:t>
            </a:r>
          </a:p>
          <a:p>
            <a:pPr/>
            <a:endParaRPr lang="zh-CN" dirty="0"/>
          </a:p>
          <a:p>
            <a:pPr/>
            <a:r>
              <a:rPr lang="zh-CN" dirty="0"/>
              <a:t>接下来看第三十一条。它有两句：一句是国家在“必要时”可以设立特别行政区；另一句是，在特别行政区里实行的制度，按照具体情况，由全国人民代表大会以法律规定。</a:t>
            </a:r>
          </a:p>
          <a:p>
            <a:pPr/>
            <a:endParaRPr lang="zh-CN" dirty="0"/>
          </a:p>
          <a:p>
            <a:pPr/>
            <a:r>
              <a:rPr lang="zh-CN" dirty="0"/>
              <a:t>这条先给设立特别行政区以宪法依据，再规定区域内的制度怎样确定：按照具体情况，由全国人大以法律规定。这里没有说，某个地方自己宣布与众不同，便获得特别行政区身份；也没有把制度内容全部留给地方自行决定。</a:t>
            </a:r>
          </a:p>
          <a:p>
            <a:pPr/>
            <a:endParaRPr lang="zh-CN" dirty="0"/>
          </a:p>
          <a:p>
            <a:pPr/>
            <a:r>
              <a:rPr lang="zh-CN" dirty="0"/>
              <a:t>香港特别行政区和澳门特别行政区，具有相应的基本法。两部基本法第十二条，都把相应特区定位为享有高度自治权、直辖中央人民政府的地方行政区域。大家听清最后几个字：地方行政区域。高度自治与地方身份在同一句中，不能只留下其中一个。</a:t>
            </a:r>
          </a:p>
          <a:p>
            <a:pPr/>
            <a:endParaRPr lang="zh-CN" dirty="0"/>
          </a:p>
          <a:p>
            <a:pPr/>
            <a:r>
              <a:rPr lang="zh-CN" dirty="0"/>
              <a:t>为什么要有这样的特别安排？香港、澳门回归后，原有的社会制度和生活方式如何接续，是需要解决的具体问题。全国人大依据宪法第三十一条，分别用基本法规定特区的制度及相关关系。这里的基本法，是对相应特区制度作基本安排的国家法律，不是特区自行给自己立的一部国家宪法。</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制度差异究竟是什么？两部基本法第五条分别规定，相应特区不实行社会主义制度和政策，而是继续维持原有的资本主义制度和生活方式。这里先认识这项实际安排：统一国家之内，法律对特定区域的制度作了不同规定。具体怎样运作要继续读相应条款，但“特别”已经不只是地图上多出的一种名称。</a:t>
            </a:r>
          </a:p>
          <a:p>
            <a:pPr/>
            <a:endParaRPr lang="zh-CN" dirty="0"/>
          </a:p>
          <a:p>
            <a:pPr/>
            <a:r>
              <a:rPr lang="zh-CN" dirty="0"/>
              <a:t>高度自治的权力又从哪里来？两部基本法第二条都明确由全国人大授权相应特区依照基本法实行高度自治。这里不是几个成员单位共同组成联邦，而是统一国家通过宪法和基本法安排特定地方的制度及自治权限。自治的范围可以很广，仍须依这些规范行使，不因此取得另一个国家的主权。今天先确认这层关系和前面的制度差异，不展开两部基本法的全部具体制度。</a:t>
            </a:r>
          </a:p>
          <a:p>
            <a:pPr/>
            <a:endParaRPr lang="zh-CN" dirty="0"/>
          </a:p>
          <a:p>
            <a:pPr/>
            <a:r>
              <a:rPr lang="zh-CN" dirty="0"/>
              <a:t>这里会遇到一个有意义的问题：第一条规定社会主义制度是国家的根本制度，第三十一条又允许根据具体情况规定特区制度，两条怎样一起读？如果先假定根本制度意味着每一地区的全部具体制度必须相同，就会把第三十一条看成无法解释的例外。</a:t>
            </a:r>
          </a:p>
          <a:p>
            <a:pPr/>
            <a:endParaRPr lang="zh-CN" dirty="0"/>
          </a:p>
          <a:p>
            <a:pPr/>
            <a:r>
              <a:rPr lang="zh-CN" dirty="0"/>
              <a:t>完整读宪法，才能看到国家整体的根本安排与特定区域的制度安排有不同层次。第三十一条不是地方自己取得改变国家根本性质的权力，而是宪法本身为特定区域的制度作了安排。不能因为具体制度存在差异，就直接认定国家根本制度已经被另一句话取消。</a:t>
            </a:r>
          </a:p>
          <a:p>
            <a:pPr/>
            <a:endParaRPr lang="zh-CN" dirty="0"/>
          </a:p>
          <a:p>
            <a:pPr/>
            <a:r>
              <a:rPr lang="zh-CN" dirty="0"/>
              <a:t>上一讲读土地时，我们练过保留与改变可以针对不同对象。今天同样需要辨对象：统一国家的整体地位，地方区域的法律身份，区域内的具体制度，不能用一个“完全一样”或者“完全不同”把它们一口气说完。</a:t>
            </a:r>
          </a:p>
          <a:p>
            <a:pPr/>
            <a:endParaRPr lang="zh-CN" dirty="0"/>
          </a:p>
          <a:p>
            <a:pPr/>
            <a:r>
              <a:rPr lang="zh-CN" dirty="0"/>
              <a:t>特区与民族自治地方因此也不能混为同一种制度。民族区域自治的相关根据是第四条和第三十条等规定，与民族平等、少数民族聚居和区域自治相联系。特别行政区则依据第三十一条及相应法律，按照具体情况安排制度。名称中都有一个可以联想到自主的意味，法律根据与具体安排却不同。</a:t>
            </a:r>
          </a:p>
          <a:p>
            <a:pPr/>
            <a:endParaRPr lang="zh-CN" dirty="0"/>
          </a:p>
          <a:p>
            <a:pPr/>
            <a:r>
              <a:rPr lang="zh-CN" dirty="0"/>
              <a:t>也不能把自治区、自治州、自治县和特别行政区摆成四个同样层级的方格。前面三类本身就处在不同地域层次，后者还须按其相应规范确认地位。分类图可以帮助看共同点和差别，但图的整齐不能比法律关系更重要。</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把第三条末款、第四条有关区域自治的规定、第三十条最后一句和第三十一条连起来读。请试着回答：为什么地方享有依法自治或特殊制度，并不就意味着离开统一国家？民族自治地方与特别行政区有什么共同位置，又为什么不能只用一个“自治”统称它们的制度？</a:t>
            </a:r>
          </a:p>
          <a:p>
            <a:pPr/>
            <a:endParaRPr lang="zh-CN" dirty="0"/>
          </a:p>
          <a:p>
            <a:pPr/>
            <a:r>
              <a:rPr lang="zh-CN" dirty="0"/>
              <a:t>【独立阅读与思考约三分钟。教师暂停讲述。】</a:t>
            </a:r>
          </a:p>
          <a:p>
            <a:pPr/>
            <a:endParaRPr lang="zh-CN" dirty="0"/>
          </a:p>
          <a:p>
            <a:pPr/>
            <a:r>
              <a:rPr lang="zh-CN" dirty="0"/>
              <a:t>先答共同位置。它们都处在中华人民共和国这一统一国家之内；第四条对民族自治地方明确写了不可分离，特区的地方区域身份则由相应基本法规定，第三十一条提供设立及制度规定的宪法依据。地方制度空间与国家主权身份不属于同一层次。</a:t>
            </a:r>
          </a:p>
          <a:p>
            <a:pPr/>
            <a:endParaRPr lang="zh-CN" dirty="0"/>
          </a:p>
          <a:p>
            <a:pPr/>
            <a:r>
              <a:rPr lang="zh-CN" dirty="0"/>
              <a:t>再答制度根据。民族区域自治针对少数民族聚居地方等条件，以相应自治机关和自治权组织地方事务；特区制度按照具体情况由全国人大以法律规定。不能只看名字里有没有“特别”“自治”，还须说清由谁规定、依据什么、面对什么问题。</a:t>
            </a:r>
          </a:p>
          <a:p>
            <a:pPr/>
            <a:endParaRPr lang="zh-CN" dirty="0"/>
          </a:p>
          <a:p>
            <a:pPr/>
            <a:r>
              <a:rPr lang="zh-CN" dirty="0"/>
              <a:t>最后回到第三条末款。统一领导与地方主动性的原则，让我们看见国家整体与地方工作之间需要怎样联系。它本身没有列完所有区域权限，但提供了理解职权配置的基本方向。一般行政区域、民族自治地方和特别行政区，须放回各自规范关系中，而不是从一个词推出一切制度内容。</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十三、为什么还有国旗、国歌、国徽和首都</a:t>
            </a:r>
          </a:p>
          <a:p>
            <a:pPr/>
            <a:endParaRPr lang="zh-CN" dirty="0"/>
          </a:p>
          <a:p>
            <a:pPr/>
            <a:r>
              <a:rPr lang="zh-CN" dirty="0"/>
              <a:t>说完地域和权力关系，我们翻到宪法第四章。这里没有一张新的机关职权清单，而是集中规定国旗、国歌、国徽和首都。教材把这些放在国家标志部分认识，它们让统一国家的身份有了可以识别、可以共同表达的形式。</a:t>
            </a:r>
          </a:p>
          <a:p>
            <a:pPr/>
            <a:endParaRPr lang="zh-CN" dirty="0"/>
          </a:p>
          <a:p>
            <a:pPr/>
            <a:r>
              <a:rPr lang="zh-CN" dirty="0"/>
              <a:t>第一百四十一条写国旗和国歌，原话是：“中华人民共和国国旗是五星红旗”，又说“中华人民共和国国歌是《义勇军进行曲》”。第一百四十二条写国徽的图案，原话是：“中华人民共和国国徽，中间是五星照耀下的天安门，周围是谷穗和齿轮。”第一百四十三条只有一句，原话是：“中华人民共和国首都是北京”。</a:t>
            </a:r>
          </a:p>
          <a:p>
            <a:pPr/>
            <a:endParaRPr lang="zh-CN" dirty="0"/>
          </a:p>
          <a:p>
            <a:pPr/>
            <a:r>
              <a:rPr lang="zh-CN" dirty="0"/>
              <a:t>大家对这些名称和图案并不陌生。现在要增加的认识，是它们并非哪一个地方、哪一个机关或者某一个人的标志，而有共同的国家身份。不同地域中的人和机关，处在同一国家之内，国家标志让这种共同身份能够被识别和表达。</a:t>
            </a:r>
          </a:p>
          <a:p>
            <a:pPr/>
            <a:endParaRPr lang="zh-CN" dirty="0"/>
          </a:p>
          <a:p>
            <a:pPr/>
            <a:r>
              <a:rPr lang="zh-CN" dirty="0"/>
              <a:t>但象征身份不等于规定具体职权。机关门口有国徽，不能仅凭这个标志判断它能够办理什么案件；某个地方悬挂国旗，也不是从旗帜中取得另一项权力授权。权限须回到相应的法律规定，标志表达国家身份，两者都重要，承担的作用不同。</a:t>
            </a:r>
          </a:p>
          <a:p>
            <a:pPr/>
            <a:endParaRPr lang="zh-CN" dirty="0"/>
          </a:p>
          <a:p>
            <a:pPr/>
            <a:r>
              <a:rPr lang="zh-CN" dirty="0"/>
              <a:t>首都又与一面旗帜的识别方式不同。北京是国家首都，同时也是第三十条中直辖市这一地方区域安排中的一员。中央机关位于北京，不表示北京市的地方机关因此都成为中央机关，更不表示它们当然可以处理全国所有事务。地点相同，组织身份仍须分别确认。</a:t>
            </a:r>
          </a:p>
          <a:p>
            <a:pPr/>
            <a:endParaRPr lang="zh-CN" dirty="0"/>
          </a:p>
          <a:p>
            <a:pPr/>
            <a:r>
              <a:rPr lang="zh-CN" dirty="0"/>
              <a:t>这也回应了开头的一张地图。地图上的北京可以表示首都位置，也可以表示一个地方行政区域。我们问的是哪一种身份，就要去找相应的条文。国旗、国徽和首都写在第四章，同前面国家权力组织、地域结构相互联系，却不能代替前面的具体安排。</a:t>
            </a:r>
          </a:p>
          <a:p>
            <a:pPr/>
            <a:endParaRPr lang="zh-CN" dirty="0"/>
          </a:p>
          <a:p>
            <a:pPr/>
            <a:r>
              <a:rPr lang="zh-CN" dirty="0"/>
              <a:t>关于旗、徽的图案历史，升挂、使用和奏唱的详细义务，以及相应责任，还有专门法律。今天先完成宪法中的位置和国家身份认识，不从这三条直接推出所有日常使用要求。遇到具体行为，需要按相应规范继续判断。</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十四、把三个问题放回同一个国家</a:t>
            </a:r>
          </a:p>
          <a:p>
            <a:pPr/>
            <a:endParaRPr lang="zh-CN" dirty="0"/>
          </a:p>
          <a:p>
            <a:pPr/>
            <a:r>
              <a:rPr lang="zh-CN" dirty="0"/>
              <a:t>回到整讲开头。我们提出三个问题：国家具有怎样的性质，国家权力怎样组织起来，怎样在地域上安排中央与地方。现在可以分别回答，又把它们连起来。</a:t>
            </a:r>
          </a:p>
          <a:p>
            <a:pPr/>
            <a:endParaRPr lang="zh-CN" dirty="0"/>
          </a:p>
          <a:p>
            <a:pPr/>
            <a:r>
              <a:rPr lang="zh-CN" dirty="0"/>
              <a:t>第一条规定人民民主专政的社会主义国家及根本制度，国家性质不能只用一个机关名称回答。第二、三条从人民的权力归属走到人大及其他国家机关的组织、负责和监督关系，人民代表大会制度不能只用一栋建筑或者一次会议回答。第三条末款及第四、三十、三十一条，则使我们看见统一国家内的地方和不同区域，国家结构形式不能只用行政区划表回答。</a:t>
            </a:r>
          </a:p>
          <a:p>
            <a:pPr/>
            <a:endParaRPr lang="zh-CN" dirty="0"/>
          </a:p>
          <a:p>
            <a:pPr/>
            <a:r>
              <a:rPr lang="zh-CN" dirty="0"/>
              <a:t>这三层并不是同一个问题重复了三遍。国体使国家权力的根本性质有了位置，政体使权力怎样组织和活动有了制度，国家结构形式使同一国家怎样处理地域与权限关系有了安排。国家标志和首都又从另一面确认共同的国家身份。</a:t>
            </a:r>
          </a:p>
          <a:p>
            <a:pPr/>
            <a:endParaRPr lang="zh-CN" dirty="0"/>
          </a:p>
          <a:p>
            <a:pPr/>
            <a:r>
              <a:rPr lang="zh-CN" dirty="0"/>
              <a:t>我们还可以把几个看似相反的判断一起说清。人民是国家的主人，个人仍须通过法定方式行使相应权利；人大在国家权力组织中具有重要地位，其他机关仍须在各自职权内履职；国家是统一的，各地方仍可以有依法规定的差异和空间。准确理解层次，才不会把这些安排读成互相抵消。</a:t>
            </a:r>
          </a:p>
          <a:p>
            <a:pPr/>
            <a:endParaRPr lang="zh-CN" dirty="0"/>
          </a:p>
          <a:p>
            <a:pPr/>
            <a:r>
              <a:rPr lang="zh-CN" dirty="0"/>
              <a:t>所以，读到一个制度名称时，先别急着用另一个熟悉名称替换它。问清它所说明的对象，是国家性质、机关组织、区域身份，还是具体权限；再看决定主体、负责关系和相应条件。能把这些关系讲清，定义才真正帮助我们认识宪法中的国家。</a:t>
            </a:r>
          </a:p>
          <a:p>
            <a:pPr/>
            <a:endParaRPr lang="zh-CN" dirty="0"/>
          </a:p>
          <a:p>
            <a:pPr/>
            <a:r>
              <a:rPr lang="zh-CN" dirty="0"/>
              <a:t>下一讲学习国家基本制度。今天明确的国家性质、政体和地域结构，会成为前提；接下来我们看经济、政治及其他社会生活安排怎样分别写进宪法。还是同一个国家，观察的对象将进一步展开。</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3-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3-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0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31e1615c909bbba.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72332daae77505a.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1758614d19ed73d.jp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6864da1e9ae25b8.png"/>
  <Relationship Id="rId3" Type="http://schemas.openxmlformats.org/officeDocument/2006/relationships/image" Target="../media/image_fa9674c9fe3d0a22.jpg"/>
  <Relationship Id="rId4"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01 / 38</a:t>
              </a:r>
            </a:p>
          </p:txBody>
        </p:sp>
      </p:grpSp>
      <p:grpSp>
        <p:nvGrpSpPr>
          <p:cNvPr id="7" name="cover-title"/>
          <p:cNvGrpSpPr/>
          <p:nvPr/>
        </p:nvGrpSpPr>
        <p:grpSpPr>
          <a:xfrm>
            <a:off x="590550" y="1517650"/>
            <a:ext cx="7335012" cy="1619250"/>
            <a:chOff x="590550" y="1517650"/>
            <a:chExt cx="7335012" cy="1619250"/>
          </a:xfrm>
        </p:grpSpPr>
        <p:sp>
          <p:nvSpPr>
            <p:cNvPr id="5" name="TextBox 5"/>
            <p:cNvSpPr txBox="1"/>
            <p:nvPr/>
          </p:nvSpPr>
          <p:spPr>
            <a:xfrm>
              <a:off x="598932" y="1517650"/>
              <a:ext cx="86944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第三讲</a:t>
              </a:r>
            </a:p>
          </p:txBody>
        </p:sp>
        <p:sp>
          <p:nvSpPr>
            <p:cNvPr id="6" name="TextBox 6"/>
            <p:cNvSpPr txBox="1"/>
            <p:nvPr/>
          </p:nvSpPr>
          <p:spPr>
            <a:xfrm>
              <a:off x="590550" y="2032000"/>
              <a:ext cx="7335012" cy="1104900"/>
            </a:xfrm>
            <a:prstGeom prst="rect">
              <a:avLst/>
            </a:prstGeom>
            <a:noFill/>
            <a:ln>
              <a:noFill/>
            </a:ln>
          </p:spPr>
          <p:txBody>
            <a:bodyPr wrap="none" lIns="0" tIns="0" rIns="0" bIns="0" anchor="t" anchorCtr="0">
              <a:spAutoFit/>
            </a:bodyPr>
            <a:lstStyle/>
            <a:p>
              <a:pPr algn="l"/>
              <a:r>
                <a:rPr lang="zh-CN" sz="5700" dirty="0">
                  <a:solidFill>
                    <a:schemeClr val="accent1"/>
                  </a:solidFill>
                  <a:latin typeface="+mj-lt"/>
                  <a:ea typeface="+mj-ea"/>
                  <a:cs typeface="+mj-cs"/>
                </a:rPr>
                <a:t>国家性质与国家形式</a:t>
              </a:r>
            </a:p>
          </p:txBody>
        </p:sp>
      </p:grpSp>
      <p:grpSp>
        <p:nvGrpSpPr>
          <p:cNvPr id="20" name="cover-questions"/>
          <p:cNvGrpSpPr/>
          <p:nvPr/>
        </p:nvGrpSpPr>
        <p:grpSpPr>
          <a:xfrm>
            <a:off x="590550" y="3568700"/>
            <a:ext cx="9806940" cy="1965579"/>
            <a:chOff x="590550" y="3568700"/>
            <a:chExt cx="9806940" cy="1965579"/>
          </a:xfrm>
        </p:grpSpPr>
        <p:grpSp>
          <p:nvGrpSpPr>
            <p:cNvPr id="11" name="question-one"/>
            <p:cNvGrpSpPr/>
            <p:nvPr/>
          </p:nvGrpSpPr>
          <p:grpSpPr>
            <a:xfrm>
              <a:off x="590550" y="3568700"/>
              <a:ext cx="2778252" cy="1965579"/>
              <a:chOff x="590550" y="3568700"/>
              <a:chExt cx="2778252" cy="1965579"/>
            </a:xfrm>
          </p:grpSpPr>
          <p:sp>
            <p:nvSpPr>
              <p:cNvPr id="8" name="TextBox 8"/>
              <p:cNvSpPr txBox="1"/>
              <p:nvPr/>
            </p:nvSpPr>
            <p:spPr>
              <a:xfrm>
                <a:off x="590550" y="3568700"/>
                <a:ext cx="484022" cy="1104900"/>
              </a:xfrm>
              <a:prstGeom prst="rect">
                <a:avLst/>
              </a:prstGeom>
              <a:noFill/>
              <a:ln>
                <a:noFill/>
              </a:ln>
            </p:spPr>
            <p:txBody>
              <a:bodyPr wrap="none" lIns="0" tIns="0" rIns="0" bIns="0" anchor="t" anchorCtr="0">
                <a:spAutoFit/>
              </a:bodyPr>
              <a:lstStyle/>
              <a:p>
                <a:pPr algn="l"/>
                <a:r>
                  <a:rPr lang="zh-CN" sz="5700" dirty="0">
                    <a:solidFill>
                      <a:schemeClr val="accent2"/>
                    </a:solidFill>
                    <a:latin typeface="+mj-lt"/>
                    <a:ea typeface="+mj-ea"/>
                    <a:cs typeface="+mj-cs"/>
                  </a:rPr>
                  <a:t>1</a:t>
                </a:r>
              </a:p>
            </p:txBody>
          </p:sp>
          <p:sp>
            <p:nvSpPr>
              <p:cNvPr id="9" name="TextBox 9"/>
              <p:cNvSpPr txBox="1"/>
              <p:nvPr/>
            </p:nvSpPr>
            <p:spPr>
              <a:xfrm>
                <a:off x="596646" y="46355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这个国家</a:t>
                </a:r>
              </a:p>
            </p:txBody>
          </p:sp>
          <p:sp>
            <p:nvSpPr>
              <p:cNvPr id="10" name="TextBox 10"/>
              <p:cNvSpPr txBox="1"/>
              <p:nvPr/>
            </p:nvSpPr>
            <p:spPr>
              <a:xfrm>
                <a:off x="596646" y="5035550"/>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具有怎样的性质？</a:t>
                </a:r>
              </a:p>
            </p:txBody>
          </p:sp>
        </p:grpSp>
        <p:grpSp>
          <p:nvGrpSpPr>
            <p:cNvPr id="15" name="question-two"/>
            <p:cNvGrpSpPr/>
            <p:nvPr/>
          </p:nvGrpSpPr>
          <p:grpSpPr>
            <a:xfrm>
              <a:off x="4448175" y="3568700"/>
              <a:ext cx="2434971" cy="1965579"/>
              <a:chOff x="4448175" y="3568700"/>
              <a:chExt cx="2434971" cy="1965579"/>
            </a:xfrm>
          </p:grpSpPr>
          <p:sp>
            <p:nvSpPr>
              <p:cNvPr id="12" name="TextBox 12"/>
              <p:cNvSpPr txBox="1"/>
              <p:nvPr/>
            </p:nvSpPr>
            <p:spPr>
              <a:xfrm>
                <a:off x="4448175" y="3568700"/>
                <a:ext cx="484022" cy="1104900"/>
              </a:xfrm>
              <a:prstGeom prst="rect">
                <a:avLst/>
              </a:prstGeom>
              <a:noFill/>
              <a:ln>
                <a:noFill/>
              </a:ln>
            </p:spPr>
            <p:txBody>
              <a:bodyPr wrap="none" lIns="0" tIns="0" rIns="0" bIns="0" anchor="t" anchorCtr="0">
                <a:spAutoFit/>
              </a:bodyPr>
              <a:lstStyle/>
              <a:p>
                <a:pPr algn="l"/>
                <a:r>
                  <a:rPr lang="zh-CN" sz="5700" dirty="0">
                    <a:solidFill>
                      <a:schemeClr val="accent2"/>
                    </a:solidFill>
                    <a:latin typeface="+mj-lt"/>
                    <a:ea typeface="+mj-ea"/>
                    <a:cs typeface="+mj-cs"/>
                  </a:rPr>
                  <a:t>2</a:t>
                </a:r>
              </a:p>
            </p:txBody>
          </p:sp>
          <p:sp>
            <p:nvSpPr>
              <p:cNvPr id="13" name="TextBox 13"/>
              <p:cNvSpPr txBox="1"/>
              <p:nvPr/>
            </p:nvSpPr>
            <p:spPr>
              <a:xfrm>
                <a:off x="4454271" y="46355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国家权力</a:t>
                </a:r>
              </a:p>
            </p:txBody>
          </p:sp>
          <p:sp>
            <p:nvSpPr>
              <p:cNvPr id="14" name="TextBox 14"/>
              <p:cNvSpPr txBox="1"/>
              <p:nvPr/>
            </p:nvSpPr>
            <p:spPr>
              <a:xfrm>
                <a:off x="4454271" y="503555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怎样组织起来？</a:t>
                </a:r>
              </a:p>
            </p:txBody>
          </p:sp>
        </p:grpSp>
        <p:grpSp>
          <p:nvGrpSpPr>
            <p:cNvPr id="19" name="question-three"/>
            <p:cNvGrpSpPr/>
            <p:nvPr/>
          </p:nvGrpSpPr>
          <p:grpSpPr>
            <a:xfrm>
              <a:off x="8305800" y="3568700"/>
              <a:ext cx="2091690" cy="1965579"/>
              <a:chOff x="8305800" y="3568700"/>
              <a:chExt cx="2091690" cy="1965579"/>
            </a:xfrm>
          </p:grpSpPr>
          <p:sp>
            <p:nvSpPr>
              <p:cNvPr id="16" name="TextBox 16"/>
              <p:cNvSpPr txBox="1"/>
              <p:nvPr/>
            </p:nvSpPr>
            <p:spPr>
              <a:xfrm>
                <a:off x="8305800" y="3568700"/>
                <a:ext cx="484022" cy="1104900"/>
              </a:xfrm>
              <a:prstGeom prst="rect">
                <a:avLst/>
              </a:prstGeom>
              <a:noFill/>
              <a:ln>
                <a:noFill/>
              </a:ln>
            </p:spPr>
            <p:txBody>
              <a:bodyPr wrap="none" lIns="0" tIns="0" rIns="0" bIns="0" anchor="t" anchorCtr="0">
                <a:spAutoFit/>
              </a:bodyPr>
              <a:lstStyle/>
              <a:p>
                <a:pPr algn="l"/>
                <a:r>
                  <a:rPr lang="zh-CN" sz="5700" dirty="0">
                    <a:solidFill>
                      <a:schemeClr val="accent2"/>
                    </a:solidFill>
                    <a:latin typeface="+mj-lt"/>
                    <a:ea typeface="+mj-ea"/>
                    <a:cs typeface="+mj-cs"/>
                  </a:rPr>
                  <a:t>3</a:t>
                </a:r>
              </a:p>
            </p:txBody>
          </p:sp>
          <p:sp>
            <p:nvSpPr>
              <p:cNvPr id="17" name="TextBox 17"/>
              <p:cNvSpPr txBox="1"/>
              <p:nvPr/>
            </p:nvSpPr>
            <p:spPr>
              <a:xfrm>
                <a:off x="8311896" y="46355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怎样安排</a:t>
                </a:r>
              </a:p>
            </p:txBody>
          </p:sp>
          <p:sp>
            <p:nvSpPr>
              <p:cNvPr id="18" name="TextBox 18"/>
              <p:cNvSpPr txBox="1"/>
              <p:nvPr/>
            </p:nvSpPr>
            <p:spPr>
              <a:xfrm>
                <a:off x="8311896" y="50355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中央与地方？</a:t>
                </a:r>
              </a:p>
            </p:txBody>
          </p:sp>
        </p:grpSp>
      </p:grpSp>
      <p:sp>
        <p:nvSpPr>
          <p:cNvPr id="21" name="Line 21"/>
          <p:cNvSpPr/>
          <p:nvPr/>
        </p:nvSpPr>
        <p:spPr>
          <a:xfrm>
            <a:off x="609600" y="5638800"/>
            <a:ext cx="7105650" cy="9525"/>
          </a:xfrm>
          <a:custGeom>
            <a:avLst/>
            <a:gdLst/>
            <a:ahLst/>
            <a:cxnLst/>
            <a:rect l="l" t="t" r="r" b="b"/>
            <a:pathLst>
              <a:path w="7105650" h="9525">
                <a:moveTo>
                  <a:pt x="0" y="0"/>
                </a:moveTo>
                <a:lnTo>
                  <a:pt x="7105650" y="0"/>
                </a:lnTo>
              </a:path>
            </a:pathLst>
          </a:custGeom>
          <a:noFill/>
          <a:ln w="9525">
            <a:solidFill>
              <a:srgbClr val="CDC8BE"/>
            </a:solidFill>
          </a:ln>
        </p:spPr>
      </p:sp>
      <p:sp>
        <p:nvSpPr>
          <p:cNvPr id="22" name="Line 22"/>
          <p:cNvSpPr/>
          <p:nvPr/>
        </p:nvSpPr>
        <p:spPr>
          <a:xfrm>
            <a:off x="8324850" y="5638800"/>
            <a:ext cx="3257550" cy="9525"/>
          </a:xfrm>
          <a:custGeom>
            <a:avLst/>
            <a:gdLst/>
            <a:ahLst/>
            <a:cxnLst/>
            <a:rect l="l" t="t" r="r" b="b"/>
            <a:pathLst>
              <a:path w="3257550" h="9525">
                <a:moveTo>
                  <a:pt x="0" y="0"/>
                </a:moveTo>
                <a:lnTo>
                  <a:pt x="3257550" y="0"/>
                </a:lnTo>
              </a:path>
            </a:pathLst>
          </a:custGeom>
          <a:noFill/>
          <a:ln w="9525">
            <a:solidFill>
              <a:srgbClr val="CDC8BE"/>
            </a:solidFill>
          </a:ln>
        </p:spPr>
      </p:sp>
      <p:grpSp>
        <p:nvGrpSpPr>
          <p:cNvPr id="25" name="cover-route"/>
          <p:cNvGrpSpPr/>
          <p:nvPr/>
        </p:nvGrpSpPr>
        <p:grpSpPr>
          <a:xfrm>
            <a:off x="598932" y="5803900"/>
            <a:ext cx="10994136" cy="410718"/>
            <a:chOff x="598932" y="5803900"/>
            <a:chExt cx="10994136" cy="410718"/>
          </a:xfrm>
        </p:grpSpPr>
        <p:sp>
          <p:nvSpPr>
            <p:cNvPr id="23" name="TextBox 23"/>
            <p:cNvSpPr txBox="1"/>
            <p:nvPr/>
          </p:nvSpPr>
          <p:spPr>
            <a:xfrm>
              <a:off x="598932" y="5803900"/>
              <a:ext cx="4346677"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上节 人民的国家权力怎样组织起来</a:t>
              </a:r>
            </a:p>
          </p:txBody>
        </p:sp>
        <p:sp>
          <p:nvSpPr>
            <p:cNvPr id="24" name="TextBox 24"/>
            <p:cNvSpPr txBox="1"/>
            <p:nvPr/>
          </p:nvSpPr>
          <p:spPr>
            <a:xfrm>
              <a:off x="8094497" y="5803900"/>
              <a:ext cx="3498571" cy="410718"/>
            </a:xfrm>
            <a:prstGeom prst="rect">
              <a:avLst/>
            </a:prstGeom>
            <a:noFill/>
            <a:ln>
              <a:noFill/>
            </a:ln>
          </p:spPr>
          <p:txBody>
            <a:bodyPr wrap="none" lIns="0" tIns="0" rIns="0" bIns="0" anchor="t" anchorCtr="0">
              <a:spAutoFit/>
            </a:bodyPr>
            <a:lstStyle/>
            <a:p>
              <a:pPr algn="r"/>
              <a:r>
                <a:rPr lang="zh-CN" sz="2100" dirty="0">
                  <a:solidFill>
                    <a:schemeClr val="accent5"/>
                  </a:solidFill>
                  <a:latin typeface="+mn-lt"/>
                  <a:ea typeface="+mn-ea"/>
                  <a:cs typeface="+mn-cs"/>
                </a:rPr>
                <a:t>下节 中央、地方与不同区域</a:t>
              </a:r>
            </a:p>
          </p:txBody>
        </p:sp>
      </p:grpSp>
      <p:sp>
        <p:nvSpPr>
          <p:cNvPr id="26" name="TextBox 26"/>
          <p:cNvSpPr txBox="1"/>
          <p:nvPr/>
        </p:nvSpPr>
        <p:spPr>
          <a:xfrm>
            <a:off x="604266" y="6502400"/>
            <a:ext cx="361511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第三讲《国家性质与国家形式》 现行宪法2018年修正文本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02 / 38</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外观给线索，制度看关系</a:t>
              </a:r>
            </a:p>
          </p:txBody>
        </p:sp>
      </p:grpSp>
      <p:grpSp>
        <p:nvGrpSpPr>
          <p:cNvPr id="11" name="examples"/>
          <p:cNvGrpSpPr/>
          <p:nvPr/>
        </p:nvGrpSpPr>
        <p:grpSpPr>
          <a:xfrm>
            <a:off x="596646" y="2139950"/>
            <a:ext cx="9979152" cy="950468"/>
            <a:chOff x="596646" y="2139950"/>
            <a:chExt cx="9979152" cy="950468"/>
          </a:xfrm>
        </p:grpSpPr>
        <p:sp>
          <p:nvSpPr>
            <p:cNvPr id="7" name="TextBox 7"/>
            <p:cNvSpPr txBox="1"/>
            <p:nvPr/>
          </p:nvSpPr>
          <p:spPr>
            <a:xfrm>
              <a:off x="596646" y="21399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看到议会</a:t>
              </a:r>
            </a:p>
          </p:txBody>
        </p:sp>
        <p:sp>
          <p:nvSpPr>
            <p:cNvPr id="8" name="TextBox 8"/>
            <p:cNvSpPr txBox="1"/>
            <p:nvPr/>
          </p:nvSpPr>
          <p:spPr>
            <a:xfrm>
              <a:off x="598932" y="2679700"/>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还不能判断国家性质</a:t>
              </a:r>
            </a:p>
          </p:txBody>
        </p:sp>
        <p:sp>
          <p:nvSpPr>
            <p:cNvPr id="9" name="TextBox 9"/>
            <p:cNvSpPr txBox="1"/>
            <p:nvPr/>
          </p:nvSpPr>
          <p:spPr>
            <a:xfrm>
              <a:off x="6311646" y="21399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看到地图</a:t>
              </a:r>
            </a:p>
          </p:txBody>
        </p:sp>
        <p:sp>
          <p:nvSpPr>
            <p:cNvPr id="10" name="TextBox 10"/>
            <p:cNvSpPr txBox="1"/>
            <p:nvPr/>
          </p:nvSpPr>
          <p:spPr>
            <a:xfrm>
              <a:off x="6313932" y="2679700"/>
              <a:ext cx="42618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还不知道权力从哪来、受什么约束</a:t>
              </a:r>
            </a:p>
          </p:txBody>
        </p:sp>
      </p:grpSp>
      <p:grpSp>
        <p:nvGrpSpPr>
          <p:cNvPr id="21" name="concept-band"/>
          <p:cNvGrpSpPr/>
          <p:nvPr/>
        </p:nvGrpSpPr>
        <p:grpSpPr>
          <a:xfrm>
            <a:off x="595122" y="3771900"/>
            <a:ext cx="10987278" cy="1905000"/>
            <a:chOff x="595122" y="3771900"/>
            <a:chExt cx="10987278" cy="1905000"/>
          </a:xfrm>
        </p:grpSpPr>
        <p:sp>
          <p:nvSpPr>
            <p:cNvPr id="12" name="Line 12"/>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3" name="Line 13"/>
            <p:cNvSpPr/>
            <p:nvPr/>
          </p:nvSpPr>
          <p:spPr>
            <a:xfrm>
              <a:off x="4210050" y="4038600"/>
              <a:ext cx="9525" cy="1638300"/>
            </a:xfrm>
            <a:custGeom>
              <a:avLst/>
              <a:gdLst/>
              <a:ahLst/>
              <a:cxnLst/>
              <a:rect l="l" t="t" r="r" b="b"/>
              <a:pathLst>
                <a:path w="9525" h="1638300">
                  <a:moveTo>
                    <a:pt x="0" y="0"/>
                  </a:moveTo>
                  <a:lnTo>
                    <a:pt x="0" y="1638300"/>
                  </a:lnTo>
                </a:path>
              </a:pathLst>
            </a:custGeom>
            <a:noFill/>
            <a:ln w="9525">
              <a:solidFill>
                <a:srgbClr val="CDC8BE"/>
              </a:solidFill>
            </a:ln>
          </p:spPr>
        </p:sp>
        <p:sp>
          <p:nvSpPr>
            <p:cNvPr id="14" name="Line 14"/>
            <p:cNvSpPr/>
            <p:nvPr/>
          </p:nvSpPr>
          <p:spPr>
            <a:xfrm>
              <a:off x="7962900" y="4038600"/>
              <a:ext cx="9525" cy="1638300"/>
            </a:xfrm>
            <a:custGeom>
              <a:avLst/>
              <a:gdLst/>
              <a:ahLst/>
              <a:cxnLst/>
              <a:rect l="l" t="t" r="r" b="b"/>
              <a:pathLst>
                <a:path w="9525" h="1638300">
                  <a:moveTo>
                    <a:pt x="0" y="0"/>
                  </a:moveTo>
                  <a:lnTo>
                    <a:pt x="0" y="1638300"/>
                  </a:lnTo>
                </a:path>
              </a:pathLst>
            </a:custGeom>
            <a:noFill/>
            <a:ln w="9525">
              <a:solidFill>
                <a:srgbClr val="CDC8BE"/>
              </a:solidFill>
            </a:ln>
          </p:spPr>
        </p:sp>
        <p:sp>
          <p:nvSpPr>
            <p:cNvPr id="15" name="TextBox 15"/>
            <p:cNvSpPr txBox="1"/>
            <p:nvPr/>
          </p:nvSpPr>
          <p:spPr>
            <a:xfrm>
              <a:off x="595122" y="4381500"/>
              <a:ext cx="796290"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国体</a:t>
              </a:r>
            </a:p>
          </p:txBody>
        </p:sp>
        <p:sp>
          <p:nvSpPr>
            <p:cNvPr id="16" name="TextBox 16"/>
            <p:cNvSpPr txBox="1"/>
            <p:nvPr/>
          </p:nvSpPr>
          <p:spPr>
            <a:xfrm>
              <a:off x="598932" y="5118100"/>
              <a:ext cx="115214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国家性质</a:t>
              </a:r>
            </a:p>
          </p:txBody>
        </p:sp>
        <p:sp>
          <p:nvSpPr>
            <p:cNvPr id="17" name="TextBox 17"/>
            <p:cNvSpPr txBox="1"/>
            <p:nvPr/>
          </p:nvSpPr>
          <p:spPr>
            <a:xfrm>
              <a:off x="4347972" y="4381500"/>
              <a:ext cx="796290"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政体</a:t>
              </a:r>
            </a:p>
          </p:txBody>
        </p:sp>
        <p:sp>
          <p:nvSpPr>
            <p:cNvPr id="18" name="TextBox 18"/>
            <p:cNvSpPr txBox="1"/>
            <p:nvPr/>
          </p:nvSpPr>
          <p:spPr>
            <a:xfrm>
              <a:off x="4351782" y="5118100"/>
              <a:ext cx="284835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权力的组织和活动形式</a:t>
              </a:r>
            </a:p>
          </p:txBody>
        </p:sp>
        <p:sp>
          <p:nvSpPr>
            <p:cNvPr id="19" name="TextBox 19"/>
            <p:cNvSpPr txBox="1"/>
            <p:nvPr/>
          </p:nvSpPr>
          <p:spPr>
            <a:xfrm>
              <a:off x="8100822" y="4381500"/>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国家结构形式</a:t>
              </a:r>
            </a:p>
          </p:txBody>
        </p:sp>
        <p:sp>
          <p:nvSpPr>
            <p:cNvPr id="20" name="TextBox 20"/>
            <p:cNvSpPr txBox="1"/>
            <p:nvPr/>
          </p:nvSpPr>
          <p:spPr>
            <a:xfrm>
              <a:off x="8104632" y="5118100"/>
              <a:ext cx="31310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地域组成与中央地方关系</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03 / 38</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宪法第一条</a:t>
              </a:r>
            </a:p>
          </p:txBody>
        </p:sp>
      </p:grpSp>
      <p:grpSp>
        <p:nvGrpSpPr>
          <p:cNvPr id="8" name="page-claim"/>
          <p:cNvGrpSpPr/>
          <p:nvPr/>
        </p:nvGrpSpPr>
        <p:grpSpPr>
          <a:xfrm>
            <a:off x="598932" y="1803400"/>
            <a:ext cx="4261866" cy="410718"/>
            <a:chOff x="598932" y="1803400"/>
            <a:chExt cx="4261866" cy="410718"/>
          </a:xfrm>
        </p:grpSpPr>
        <p:sp>
          <p:nvSpPr>
            <p:cNvPr id="7" name="TextBox 7"/>
            <p:cNvSpPr txBox="1"/>
            <p:nvPr/>
          </p:nvSpPr>
          <p:spPr>
            <a:xfrm>
              <a:off x="598932" y="1803400"/>
              <a:ext cx="4261866"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两款都是根本安排，说明对象不同</a:t>
              </a:r>
            </a:p>
          </p:txBody>
        </p:sp>
      </p:grpSp>
      <p:sp>
        <p:nvSpPr>
          <p:cNvPr id="9" name="Line 9"/>
          <p:cNvSpPr/>
          <p:nvPr/>
        </p:nvSpPr>
        <p:spPr>
          <a:xfrm>
            <a:off x="6096000" y="3276600"/>
            <a:ext cx="9525" cy="2209800"/>
          </a:xfrm>
          <a:custGeom>
            <a:avLst/>
            <a:gdLst/>
            <a:ahLst/>
            <a:cxnLst/>
            <a:rect l="l" t="t" r="r" b="b"/>
            <a:pathLst>
              <a:path w="9525" h="2209800">
                <a:moveTo>
                  <a:pt x="0" y="0"/>
                </a:moveTo>
                <a:lnTo>
                  <a:pt x="0" y="2209800"/>
                </a:lnTo>
              </a:path>
            </a:pathLst>
          </a:custGeom>
          <a:noFill/>
          <a:ln w="9525">
            <a:solidFill>
              <a:srgbClr val="677276"/>
            </a:solidFill>
          </a:ln>
        </p:spPr>
      </p:sp>
      <p:grpSp>
        <p:nvGrpSpPr>
          <p:cNvPr id="14" name="object-labels"/>
          <p:cNvGrpSpPr/>
          <p:nvPr/>
        </p:nvGrpSpPr>
        <p:grpSpPr>
          <a:xfrm>
            <a:off x="596646" y="2781300"/>
            <a:ext cx="11010519" cy="557403"/>
            <a:chOff x="596646" y="2781300"/>
            <a:chExt cx="11010519" cy="557403"/>
          </a:xfrm>
        </p:grpSpPr>
        <p:sp>
          <p:nvSpPr>
            <p:cNvPr id="10" name="TextBox 10"/>
            <p:cNvSpPr txBox="1"/>
            <p:nvPr/>
          </p:nvSpPr>
          <p:spPr>
            <a:xfrm>
              <a:off x="596646" y="2806700"/>
              <a:ext cx="1055751" cy="498729"/>
            </a:xfrm>
            <a:prstGeom prst="rect">
              <a:avLst/>
            </a:prstGeom>
            <a:noFill/>
            <a:ln>
              <a:noFill/>
            </a:ln>
          </p:spPr>
          <p:txBody>
            <a:bodyPr wrap="none" lIns="0" tIns="0" rIns="0" bIns="0" anchor="t" anchorCtr="0">
              <a:spAutoFit/>
            </a:bodyPr>
            <a:lstStyle/>
            <a:p>
              <a:pPr algn="l"/>
              <a:r>
                <a:rPr lang="zh-CN" sz="2550" dirty="0">
                  <a:solidFill>
                    <a:srgbClr val="CDC8BE"/>
                  </a:solidFill>
                  <a:latin typeface="+mn-lt"/>
                  <a:ea typeface="+mn-ea"/>
                  <a:cs typeface="+mn-cs"/>
                </a:rPr>
                <a:t>第一款</a:t>
              </a:r>
            </a:p>
          </p:txBody>
        </p:sp>
        <p:sp>
          <p:nvSpPr>
            <p:cNvPr id="11" name="TextBox 11"/>
            <p:cNvSpPr txBox="1"/>
            <p:nvPr/>
          </p:nvSpPr>
          <p:spPr>
            <a:xfrm>
              <a:off x="1795272" y="2781300"/>
              <a:ext cx="2330958"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说明国家性质</a:t>
              </a:r>
            </a:p>
          </p:txBody>
        </p:sp>
        <p:sp>
          <p:nvSpPr>
            <p:cNvPr id="12" name="TextBox 12"/>
            <p:cNvSpPr txBox="1"/>
            <p:nvPr/>
          </p:nvSpPr>
          <p:spPr>
            <a:xfrm>
              <a:off x="6159246" y="2806700"/>
              <a:ext cx="1055751" cy="498729"/>
            </a:xfrm>
            <a:prstGeom prst="rect">
              <a:avLst/>
            </a:prstGeom>
            <a:noFill/>
            <a:ln>
              <a:noFill/>
            </a:ln>
          </p:spPr>
          <p:txBody>
            <a:bodyPr wrap="none" lIns="0" tIns="0" rIns="0" bIns="0" anchor="t" anchorCtr="0">
              <a:spAutoFit/>
            </a:bodyPr>
            <a:lstStyle/>
            <a:p>
              <a:pPr algn="l"/>
              <a:r>
                <a:rPr lang="zh-CN" sz="2550" dirty="0">
                  <a:solidFill>
                    <a:srgbClr val="CDC8BE"/>
                  </a:solidFill>
                  <a:latin typeface="+mn-lt"/>
                  <a:ea typeface="+mn-ea"/>
                  <a:cs typeface="+mn-cs"/>
                </a:rPr>
                <a:t>第二款</a:t>
              </a:r>
            </a:p>
          </p:txBody>
        </p:sp>
        <p:sp>
          <p:nvSpPr>
            <p:cNvPr id="13" name="TextBox 13"/>
            <p:cNvSpPr txBox="1"/>
            <p:nvPr/>
          </p:nvSpPr>
          <p:spPr>
            <a:xfrm>
              <a:off x="7357872" y="2781300"/>
              <a:ext cx="4249293"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说明根本制度、党的领导</a:t>
              </a:r>
            </a:p>
          </p:txBody>
        </p:sp>
      </p:grpSp>
      <p:grpSp>
        <p:nvGrpSpPr>
          <p:cNvPr id="18" name="article-first"/>
          <p:cNvGrpSpPr/>
          <p:nvPr/>
        </p:nvGrpSpPr>
        <p:grpSpPr>
          <a:xfrm>
            <a:off x="598932" y="3746500"/>
            <a:ext cx="4544568" cy="1210818"/>
            <a:chOff x="598932" y="3746500"/>
            <a:chExt cx="4544568" cy="1210818"/>
          </a:xfrm>
        </p:grpSpPr>
        <p:sp>
          <p:nvSpPr>
            <p:cNvPr id="15" name="TextBox 15"/>
            <p:cNvSpPr txBox="1"/>
            <p:nvPr/>
          </p:nvSpPr>
          <p:spPr>
            <a:xfrm>
              <a:off x="598932" y="3746500"/>
              <a:ext cx="454456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中华人民共和国是工人阶级领导的、</a:t>
              </a:r>
            </a:p>
          </p:txBody>
        </p:sp>
        <p:sp>
          <p:nvSpPr>
            <p:cNvPr id="16" name="TextBox 16"/>
            <p:cNvSpPr txBox="1"/>
            <p:nvPr/>
          </p:nvSpPr>
          <p:spPr>
            <a:xfrm>
              <a:off x="598932" y="4146550"/>
              <a:ext cx="454456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以工农联盟为基础的人民民主专政的</a:t>
              </a:r>
            </a:p>
          </p:txBody>
        </p:sp>
        <p:sp>
          <p:nvSpPr>
            <p:cNvPr id="17" name="TextBox 17"/>
            <p:cNvSpPr txBox="1"/>
            <p:nvPr/>
          </p:nvSpPr>
          <p:spPr>
            <a:xfrm>
              <a:off x="598932" y="4546600"/>
              <a:ext cx="200025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社会主义国家。</a:t>
              </a:r>
            </a:p>
          </p:txBody>
        </p:sp>
      </p:grpSp>
      <p:grpSp>
        <p:nvGrpSpPr>
          <p:cNvPr id="23" name="article-second"/>
          <p:cNvGrpSpPr/>
          <p:nvPr/>
        </p:nvGrpSpPr>
        <p:grpSpPr>
          <a:xfrm>
            <a:off x="6161532" y="3746500"/>
            <a:ext cx="5675376" cy="1610868"/>
            <a:chOff x="6161532" y="3746500"/>
            <a:chExt cx="5675376" cy="1610868"/>
          </a:xfrm>
        </p:grpSpPr>
        <p:sp>
          <p:nvSpPr>
            <p:cNvPr id="19" name="TextBox 19"/>
            <p:cNvSpPr txBox="1"/>
            <p:nvPr/>
          </p:nvSpPr>
          <p:spPr>
            <a:xfrm>
              <a:off x="6161532" y="3746500"/>
              <a:ext cx="567537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社会主义制度是中华人民共和国的根本制度。</a:t>
              </a:r>
            </a:p>
          </p:txBody>
        </p:sp>
        <p:sp>
          <p:nvSpPr>
            <p:cNvPr id="20" name="TextBox 20"/>
            <p:cNvSpPr txBox="1"/>
            <p:nvPr/>
          </p:nvSpPr>
          <p:spPr>
            <a:xfrm>
              <a:off x="6161532" y="4146550"/>
              <a:ext cx="454456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中国共产党领导是中国特色社会主义</a:t>
              </a:r>
            </a:p>
          </p:txBody>
        </p:sp>
        <p:sp>
          <p:nvSpPr>
            <p:cNvPr id="21" name="TextBox 21"/>
            <p:cNvSpPr txBox="1"/>
            <p:nvPr/>
          </p:nvSpPr>
          <p:spPr>
            <a:xfrm>
              <a:off x="6161532" y="4546600"/>
              <a:ext cx="200025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最本质的特征。</a:t>
              </a:r>
            </a:p>
          </p:txBody>
        </p:sp>
        <p:sp>
          <p:nvSpPr>
            <p:cNvPr id="22" name="TextBox 22"/>
            <p:cNvSpPr txBox="1"/>
            <p:nvPr/>
          </p:nvSpPr>
          <p:spPr>
            <a:xfrm>
              <a:off x="6161532" y="4946650"/>
              <a:ext cx="539267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禁止任何组织或者个人破坏社会主义制度。</a:t>
              </a:r>
            </a:p>
          </p:txBody>
        </p:sp>
      </p:grpSp>
      <p:sp>
        <p:nvSpPr>
          <p:cNvPr id="24" name="TextBox 24"/>
          <p:cNvSpPr txBox="1"/>
          <p:nvPr/>
        </p:nvSpPr>
        <p:spPr>
          <a:xfrm>
            <a:off x="604266" y="6502400"/>
            <a:ext cx="3572713"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宪法：2018年修正文本，第一条（第一款与第二款全文）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04 / 38</a:t>
              </a:r>
            </a:p>
          </p:txBody>
        </p:sp>
      </p:grpSp>
      <p:grpSp>
        <p:nvGrpSpPr>
          <p:cNvPr id="6" name="page-title"/>
          <p:cNvGrpSpPr/>
          <p:nvPr/>
        </p:nvGrpSpPr>
        <p:grpSpPr>
          <a:xfrm>
            <a:off x="590550" y="904875"/>
            <a:ext cx="7527036" cy="790575"/>
            <a:chOff x="590550" y="904875"/>
            <a:chExt cx="7527036" cy="790575"/>
          </a:xfrm>
        </p:grpSpPr>
        <p:sp>
          <p:nvSpPr>
            <p:cNvPr id="5" name="TextBox 5"/>
            <p:cNvSpPr txBox="1"/>
            <p:nvPr/>
          </p:nvSpPr>
          <p:spPr>
            <a:xfrm>
              <a:off x="590550" y="904875"/>
              <a:ext cx="752703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国体：领导、基础与团结范围</a:t>
              </a:r>
            </a:p>
          </p:txBody>
        </p:sp>
      </p:grpSp>
      <p:grpSp>
        <p:nvGrpSpPr>
          <p:cNvPr id="8" name="guoti-question"/>
          <p:cNvGrpSpPr/>
          <p:nvPr/>
        </p:nvGrpSpPr>
        <p:grpSpPr>
          <a:xfrm>
            <a:off x="596646" y="1987550"/>
            <a:ext cx="5518404" cy="498729"/>
            <a:chOff x="596646" y="1987550"/>
            <a:chExt cx="5518404" cy="498729"/>
          </a:xfrm>
        </p:grpSpPr>
        <p:sp>
          <p:nvSpPr>
            <p:cNvPr id="7" name="TextBox 7"/>
            <p:cNvSpPr txBox="1"/>
            <p:nvPr/>
          </p:nvSpPr>
          <p:spPr>
            <a:xfrm>
              <a:off x="596646" y="1987550"/>
              <a:ext cx="55184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国体，看国家权力的社会基础和性质</a:t>
              </a:r>
            </a:p>
          </p:txBody>
        </p:sp>
      </p:grpSp>
      <p:grpSp>
        <p:nvGrpSpPr>
          <p:cNvPr id="18" name="clause-three-roles"/>
          <p:cNvGrpSpPr/>
          <p:nvPr/>
        </p:nvGrpSpPr>
        <p:grpSpPr>
          <a:xfrm>
            <a:off x="595122" y="2819400"/>
            <a:ext cx="10987278" cy="1137793"/>
            <a:chOff x="595122" y="2819400"/>
            <a:chExt cx="10987278" cy="1137793"/>
          </a:xfrm>
        </p:grpSpPr>
        <p:sp>
          <p:nvSpPr>
            <p:cNvPr id="9" name="Line 9"/>
            <p:cNvSpPr/>
            <p:nvPr/>
          </p:nvSpPr>
          <p:spPr>
            <a:xfrm>
              <a:off x="609600" y="2819400"/>
              <a:ext cx="3248025" cy="9525"/>
            </a:xfrm>
            <a:custGeom>
              <a:avLst/>
              <a:gdLst/>
              <a:ahLst/>
              <a:cxnLst/>
              <a:rect l="l" t="t" r="r" b="b"/>
              <a:pathLst>
                <a:path w="3248025" h="9525">
                  <a:moveTo>
                    <a:pt x="0" y="0"/>
                  </a:moveTo>
                  <a:lnTo>
                    <a:pt x="3248025" y="0"/>
                  </a:lnTo>
                </a:path>
              </a:pathLst>
            </a:custGeom>
            <a:noFill/>
            <a:ln w="9525">
              <a:solidFill>
                <a:srgbClr val="CDC8BE"/>
              </a:solidFill>
            </a:ln>
          </p:spPr>
        </p:sp>
        <p:sp>
          <p:nvSpPr>
            <p:cNvPr id="10" name="Line 10"/>
            <p:cNvSpPr/>
            <p:nvPr/>
          </p:nvSpPr>
          <p:spPr>
            <a:xfrm>
              <a:off x="4467225" y="2819400"/>
              <a:ext cx="3248025" cy="9525"/>
            </a:xfrm>
            <a:custGeom>
              <a:avLst/>
              <a:gdLst/>
              <a:ahLst/>
              <a:cxnLst/>
              <a:rect l="l" t="t" r="r" b="b"/>
              <a:pathLst>
                <a:path w="3248025" h="9525">
                  <a:moveTo>
                    <a:pt x="0" y="0"/>
                  </a:moveTo>
                  <a:lnTo>
                    <a:pt x="3248025" y="0"/>
                  </a:lnTo>
                </a:path>
              </a:pathLst>
            </a:custGeom>
            <a:noFill/>
            <a:ln w="9525">
              <a:solidFill>
                <a:srgbClr val="CDC8BE"/>
              </a:solidFill>
            </a:ln>
          </p:spPr>
        </p:sp>
        <p:sp>
          <p:nvSpPr>
            <p:cNvPr id="11" name="Line 11"/>
            <p:cNvSpPr/>
            <p:nvPr/>
          </p:nvSpPr>
          <p:spPr>
            <a:xfrm>
              <a:off x="8324850" y="2819400"/>
              <a:ext cx="3257550" cy="9525"/>
            </a:xfrm>
            <a:custGeom>
              <a:avLst/>
              <a:gdLst/>
              <a:ahLst/>
              <a:cxnLst/>
              <a:rect l="l" t="t" r="r" b="b"/>
              <a:pathLst>
                <a:path w="3257550" h="9525">
                  <a:moveTo>
                    <a:pt x="0" y="0"/>
                  </a:moveTo>
                  <a:lnTo>
                    <a:pt x="3257550" y="0"/>
                  </a:lnTo>
                </a:path>
              </a:pathLst>
            </a:custGeom>
            <a:noFill/>
            <a:ln w="9525">
              <a:solidFill>
                <a:srgbClr val="CDC8BE"/>
              </a:solidFill>
            </a:ln>
          </p:spPr>
        </p:sp>
        <p:sp>
          <p:nvSpPr>
            <p:cNvPr id="12" name="TextBox 12"/>
            <p:cNvSpPr txBox="1"/>
            <p:nvPr/>
          </p:nvSpPr>
          <p:spPr>
            <a:xfrm>
              <a:off x="595122" y="2905125"/>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工人阶级领导</a:t>
              </a:r>
            </a:p>
          </p:txBody>
        </p:sp>
        <p:sp>
          <p:nvSpPr>
            <p:cNvPr id="13" name="TextBox 13"/>
            <p:cNvSpPr txBox="1"/>
            <p:nvPr/>
          </p:nvSpPr>
          <p:spPr>
            <a:xfrm>
              <a:off x="598932" y="3546475"/>
              <a:ext cx="115214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领导力量</a:t>
              </a:r>
            </a:p>
          </p:txBody>
        </p:sp>
        <p:sp>
          <p:nvSpPr>
            <p:cNvPr id="14" name="TextBox 14"/>
            <p:cNvSpPr txBox="1"/>
            <p:nvPr/>
          </p:nvSpPr>
          <p:spPr>
            <a:xfrm>
              <a:off x="4452747" y="2905125"/>
              <a:ext cx="1563624"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工农联盟</a:t>
              </a:r>
            </a:p>
          </p:txBody>
        </p:sp>
        <p:sp>
          <p:nvSpPr>
            <p:cNvPr id="15" name="TextBox 15"/>
            <p:cNvSpPr txBox="1"/>
            <p:nvPr/>
          </p:nvSpPr>
          <p:spPr>
            <a:xfrm>
              <a:off x="4456557" y="3546475"/>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国家政权的阶级基础</a:t>
              </a:r>
            </a:p>
          </p:txBody>
        </p:sp>
        <p:sp>
          <p:nvSpPr>
            <p:cNvPr id="16" name="TextBox 16"/>
            <p:cNvSpPr txBox="1"/>
            <p:nvPr/>
          </p:nvSpPr>
          <p:spPr>
            <a:xfrm>
              <a:off x="8310372" y="2905125"/>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人民民主专政</a:t>
              </a:r>
            </a:p>
          </p:txBody>
        </p:sp>
        <p:sp>
          <p:nvSpPr>
            <p:cNvPr id="17" name="TextBox 17"/>
            <p:cNvSpPr txBox="1"/>
            <p:nvPr/>
          </p:nvSpPr>
          <p:spPr>
            <a:xfrm>
              <a:off x="8314182" y="3546475"/>
              <a:ext cx="200025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国家政权的性质</a:t>
              </a:r>
            </a:p>
          </p:txBody>
        </p:sp>
      </p:grpSp>
      <p:grpSp>
        <p:nvGrpSpPr>
          <p:cNvPr id="25" name="alliance-and-front"/>
          <p:cNvGrpSpPr/>
          <p:nvPr/>
        </p:nvGrpSpPr>
        <p:grpSpPr>
          <a:xfrm>
            <a:off x="609600" y="4495800"/>
            <a:ext cx="10972800" cy="1581150"/>
            <a:chOff x="609600" y="4495800"/>
            <a:chExt cx="10972800" cy="1581150"/>
          </a:xfrm>
        </p:grpSpPr>
        <p:sp>
          <p:nvSpPr>
            <p:cNvPr id="19" name="Rectangle 19"/>
            <p:cNvSpPr/>
            <p:nvPr/>
          </p:nvSpPr>
          <p:spPr>
            <a:xfrm>
              <a:off x="609600" y="4495800"/>
              <a:ext cx="10972800" cy="1581150"/>
            </a:xfrm>
            <a:prstGeom prst="rect">
              <a:avLst/>
            </a:prstGeom>
            <a:solidFill>
              <a:schemeClr val="accent1"/>
            </a:solidFill>
            <a:ln>
              <a:noFill/>
            </a:ln>
          </p:spPr>
        </p:sp>
        <p:sp>
          <p:nvSpPr>
            <p:cNvPr id="20" name="Line 20"/>
            <p:cNvSpPr/>
            <p:nvPr/>
          </p:nvSpPr>
          <p:spPr>
            <a:xfrm>
              <a:off x="6096000" y="4724400"/>
              <a:ext cx="9525" cy="1085850"/>
            </a:xfrm>
            <a:custGeom>
              <a:avLst/>
              <a:gdLst/>
              <a:ahLst/>
              <a:cxnLst/>
              <a:rect l="l" t="t" r="r" b="b"/>
              <a:pathLst>
                <a:path w="9525" h="1085850">
                  <a:moveTo>
                    <a:pt x="0" y="0"/>
                  </a:moveTo>
                  <a:lnTo>
                    <a:pt x="0" y="1085850"/>
                  </a:lnTo>
                </a:path>
              </a:pathLst>
            </a:custGeom>
            <a:noFill/>
            <a:ln w="9525">
              <a:solidFill>
                <a:srgbClr val="B8C4C8"/>
              </a:solidFill>
            </a:ln>
          </p:spPr>
        </p:sp>
        <p:sp>
          <p:nvSpPr>
            <p:cNvPr id="21" name="TextBox 21"/>
            <p:cNvSpPr txBox="1"/>
            <p:nvPr/>
          </p:nvSpPr>
          <p:spPr>
            <a:xfrm>
              <a:off x="825246" y="4654550"/>
              <a:ext cx="311543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工农联盟：阶级基础</a:t>
              </a:r>
            </a:p>
          </p:txBody>
        </p:sp>
        <p:sp>
          <p:nvSpPr>
            <p:cNvPr id="22" name="TextBox 22"/>
            <p:cNvSpPr txBox="1"/>
            <p:nvPr/>
          </p:nvSpPr>
          <p:spPr>
            <a:xfrm>
              <a:off x="827532" y="5086350"/>
              <a:ext cx="3755136" cy="8107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形成、巩固和发展政权所依靠的</a:t>
              </a:r>
              <a:br>
                <a:rPr lang="zh-CN" sz="2100" dirty="0">
                  <a:solidFill>
                    <a:srgbClr val="F4F1EA"/>
                  </a:solidFill>
                  <a:latin typeface="+mn-lt"/>
                  <a:ea typeface="+mn-ea"/>
                  <a:cs typeface="+mn-cs"/>
                </a:rPr>
              </a:br>
              <a:r>
                <a:rPr lang="zh-CN" sz="2100" dirty="0">
                  <a:solidFill>
                    <a:srgbClr val="F4F1EA"/>
                  </a:solidFill>
                  <a:latin typeface="+mn-lt"/>
                  <a:ea typeface="+mn-ea"/>
                  <a:cs typeface="+mn-cs"/>
                </a:rPr>
                <a:t>社会力量；有具体历史条件</a:t>
              </a:r>
            </a:p>
          </p:txBody>
        </p:sp>
        <p:sp>
          <p:nvSpPr>
            <p:cNvPr id="23" name="TextBox 23"/>
            <p:cNvSpPr txBox="1"/>
            <p:nvPr/>
          </p:nvSpPr>
          <p:spPr>
            <a:xfrm>
              <a:off x="6387846" y="4654550"/>
              <a:ext cx="3801999"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统一战线：广泛政治联合</a:t>
              </a:r>
            </a:p>
          </p:txBody>
        </p:sp>
        <p:sp>
          <p:nvSpPr>
            <p:cNvPr id="24" name="TextBox 24"/>
            <p:cNvSpPr txBox="1"/>
            <p:nvPr/>
          </p:nvSpPr>
          <p:spPr>
            <a:xfrm>
              <a:off x="6390132" y="5086350"/>
              <a:ext cx="4021836" cy="810768"/>
            </a:xfrm>
            <a:prstGeom prst="rect">
              <a:avLst/>
            </a:prstGeom>
            <a:noFill/>
            <a:ln>
              <a:noFill/>
            </a:ln>
          </p:spPr>
          <p:txBody>
            <a:bodyPr wrap="none" lIns="0" tIns="0" rIns="0" bIns="0" anchor="t" anchorCtr="0">
              <a:spAutoFit/>
            </a:bodyPr>
            <a:lstStyle/>
            <a:p>
              <a:pPr algn="l">
                <a:lnSpc>
                  <a:spcPts val="3150"/>
                </a:lnSpc>
              </a:pPr>
              <a:r>
                <a:rPr lang="zh-CN" sz="2100" dirty="0">
                  <a:solidFill>
                    <a:srgbClr val="F4F1EA"/>
                  </a:solidFill>
                  <a:latin typeface="+mn-lt"/>
                  <a:ea typeface="+mn-ea"/>
                  <a:cs typeface="+mn-cs"/>
                </a:rPr>
                <a:t>不同阶级、阶层、党派、团体等，</a:t>
              </a:r>
              <a:br>
                <a:rPr lang="zh-CN" sz="2100" dirty="0">
                  <a:solidFill>
                    <a:srgbClr val="F4F1EA"/>
                  </a:solidFill>
                  <a:latin typeface="+mn-lt"/>
                  <a:ea typeface="+mn-ea"/>
                  <a:cs typeface="+mn-cs"/>
                </a:rPr>
              </a:br>
              <a:r>
                <a:rPr lang="zh-CN" sz="2100" dirty="0">
                  <a:solidFill>
                    <a:srgbClr val="F4F1EA"/>
                  </a:solidFill>
                  <a:latin typeface="+mn-lt"/>
                  <a:ea typeface="+mn-ea"/>
                  <a:cs typeface="+mn-cs"/>
                </a:rPr>
                <a:t>围绕共同事业形成广泛团结</a:t>
              </a:r>
            </a:p>
          </p:txBody>
        </p:sp>
      </p:grpSp>
      <p:sp>
        <p:nvSpPr>
          <p:cNvPr id="26" name="TextBox 26"/>
          <p:cNvSpPr txBox="1"/>
          <p:nvPr/>
        </p:nvSpPr>
        <p:spPr>
          <a:xfrm>
            <a:off x="604266" y="6502400"/>
            <a:ext cx="255498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教材第四章第一节；宪法序言、第一条。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05 / 38</a:t>
              </a:r>
            </a:p>
          </p:txBody>
        </p:sp>
      </p:grpSp>
      <p:grpSp>
        <p:nvGrpSpPr>
          <p:cNvPr id="6" name="page-title"/>
          <p:cNvGrpSpPr/>
          <p:nvPr/>
        </p:nvGrpSpPr>
        <p:grpSpPr>
          <a:xfrm>
            <a:off x="590550" y="904875"/>
            <a:ext cx="6950964" cy="790575"/>
            <a:chOff x="590550" y="904875"/>
            <a:chExt cx="6950964" cy="790575"/>
          </a:xfrm>
        </p:grpSpPr>
        <p:sp>
          <p:nvSpPr>
            <p:cNvPr id="5" name="TextBox 5"/>
            <p:cNvSpPr txBox="1"/>
            <p:nvPr/>
          </p:nvSpPr>
          <p:spPr>
            <a:xfrm>
              <a:off x="590550" y="904875"/>
              <a:ext cx="695096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国家任务怎样接到具体措施</a:t>
              </a:r>
            </a:p>
          </p:txBody>
        </p:sp>
      </p:grpSp>
      <p:grpSp>
        <p:nvGrpSpPr>
          <p:cNvPr id="9" name="state-task"/>
          <p:cNvGrpSpPr/>
          <p:nvPr/>
        </p:nvGrpSpPr>
        <p:grpSpPr>
          <a:xfrm>
            <a:off x="596646" y="1968500"/>
            <a:ext cx="6204966" cy="874268"/>
            <a:chOff x="596646" y="1968500"/>
            <a:chExt cx="6204966" cy="874268"/>
          </a:xfrm>
        </p:grpSpPr>
        <p:sp>
          <p:nvSpPr>
            <p:cNvPr id="7" name="TextBox 7"/>
            <p:cNvSpPr txBox="1"/>
            <p:nvPr/>
          </p:nvSpPr>
          <p:spPr>
            <a:xfrm>
              <a:off x="596646" y="1968500"/>
              <a:ext cx="620496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国家任务：维护社会秩序，依法惩治犯罪</a:t>
              </a:r>
            </a:p>
          </p:txBody>
        </p:sp>
        <p:sp>
          <p:nvSpPr>
            <p:cNvPr id="8" name="TextBox 8"/>
            <p:cNvSpPr txBox="1"/>
            <p:nvPr/>
          </p:nvSpPr>
          <p:spPr>
            <a:xfrm>
              <a:off x="598932" y="2432050"/>
              <a:ext cx="595807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宪法第二十八条；国家性质说明职能的根本方向</a:t>
              </a:r>
            </a:p>
          </p:txBody>
        </p:sp>
      </p:grpSp>
      <p:grpSp>
        <p:nvGrpSpPr>
          <p:cNvPr id="18" name="case-conditions"/>
          <p:cNvGrpSpPr/>
          <p:nvPr/>
        </p:nvGrpSpPr>
        <p:grpSpPr>
          <a:xfrm>
            <a:off x="595122" y="3105150"/>
            <a:ext cx="10987278" cy="1661668"/>
            <a:chOff x="595122" y="3105150"/>
            <a:chExt cx="10987278" cy="1661668"/>
          </a:xfrm>
        </p:grpSpPr>
        <p:sp>
          <p:nvSpPr>
            <p:cNvPr id="10" name="TextBox 10"/>
            <p:cNvSpPr txBox="1"/>
            <p:nvPr/>
          </p:nvSpPr>
          <p:spPr>
            <a:xfrm>
              <a:off x="595122" y="3105150"/>
              <a:ext cx="4249293"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不直接等于个案办案权限</a:t>
              </a:r>
            </a:p>
          </p:txBody>
        </p:sp>
        <p:sp>
          <p:nvSpPr>
            <p:cNvPr id="11" name="Line 11"/>
            <p:cNvSpPr/>
            <p:nvPr/>
          </p:nvSpPr>
          <p:spPr>
            <a:xfrm>
              <a:off x="609600" y="37147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2" name="TextBox 12"/>
            <p:cNvSpPr txBox="1"/>
            <p:nvPr/>
          </p:nvSpPr>
          <p:spPr>
            <a:xfrm>
              <a:off x="596646" y="38354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具体行为</a:t>
              </a:r>
            </a:p>
          </p:txBody>
        </p:sp>
        <p:sp>
          <p:nvSpPr>
            <p:cNvPr id="13" name="TextBox 13"/>
            <p:cNvSpPr txBox="1"/>
            <p:nvPr/>
          </p:nvSpPr>
          <p:spPr>
            <a:xfrm>
              <a:off x="598932" y="4356100"/>
              <a:ext cx="228295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针对实际行为判断</a:t>
              </a:r>
            </a:p>
          </p:txBody>
        </p:sp>
        <p:sp>
          <p:nvSpPr>
            <p:cNvPr id="14" name="TextBox 14"/>
            <p:cNvSpPr txBox="1"/>
            <p:nvPr/>
          </p:nvSpPr>
          <p:spPr>
            <a:xfrm>
              <a:off x="4454271" y="38354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事实依据</a:t>
              </a:r>
            </a:p>
          </p:txBody>
        </p:sp>
        <p:sp>
          <p:nvSpPr>
            <p:cNvPr id="15" name="TextBox 15"/>
            <p:cNvSpPr txBox="1"/>
            <p:nvPr/>
          </p:nvSpPr>
          <p:spPr>
            <a:xfrm>
              <a:off x="4456557" y="4356100"/>
              <a:ext cx="315932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不能先自行贴“敌人”标签</a:t>
              </a:r>
            </a:p>
          </p:txBody>
        </p:sp>
        <p:sp>
          <p:nvSpPr>
            <p:cNvPr id="16" name="TextBox 16"/>
            <p:cNvSpPr txBox="1"/>
            <p:nvPr/>
          </p:nvSpPr>
          <p:spPr>
            <a:xfrm>
              <a:off x="8311896" y="38354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法定条件</a:t>
              </a:r>
            </a:p>
          </p:txBody>
        </p:sp>
        <p:sp>
          <p:nvSpPr>
            <p:cNvPr id="17" name="TextBox 17"/>
            <p:cNvSpPr txBox="1"/>
            <p:nvPr/>
          </p:nvSpPr>
          <p:spPr>
            <a:xfrm>
              <a:off x="8314182" y="4356100"/>
              <a:ext cx="228295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主体、权限与程序</a:t>
              </a:r>
            </a:p>
          </p:txBody>
        </p:sp>
      </p:grpSp>
      <p:grpSp>
        <p:nvGrpSpPr>
          <p:cNvPr id="22" name="rights-and-punishment"/>
          <p:cNvGrpSpPr/>
          <p:nvPr/>
        </p:nvGrpSpPr>
        <p:grpSpPr>
          <a:xfrm>
            <a:off x="609600" y="5238750"/>
            <a:ext cx="10972800" cy="937768"/>
            <a:chOff x="609600" y="5238750"/>
            <a:chExt cx="10972800" cy="937768"/>
          </a:xfrm>
        </p:grpSpPr>
        <p:sp>
          <p:nvSpPr>
            <p:cNvPr id="19" name="Rectangle 19"/>
            <p:cNvSpPr/>
            <p:nvPr/>
          </p:nvSpPr>
          <p:spPr>
            <a:xfrm>
              <a:off x="609600" y="5238750"/>
              <a:ext cx="10972800" cy="914400"/>
            </a:xfrm>
            <a:prstGeom prst="rect">
              <a:avLst/>
            </a:prstGeom>
            <a:solidFill>
              <a:schemeClr val="accent1"/>
            </a:solidFill>
            <a:ln>
              <a:noFill/>
            </a:ln>
          </p:spPr>
        </p:sp>
        <p:sp>
          <p:nvSpPr>
            <p:cNvPr id="20" name="TextBox 20"/>
            <p:cNvSpPr txBox="1"/>
            <p:nvPr/>
          </p:nvSpPr>
          <p:spPr>
            <a:xfrm>
              <a:off x="825246" y="5311775"/>
              <a:ext cx="6204966"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依法惩治犯罪与依法保障权利，都须履行</a:t>
              </a:r>
            </a:p>
          </p:txBody>
        </p:sp>
        <p:sp>
          <p:nvSpPr>
            <p:cNvPr id="21" name="TextBox 21"/>
            <p:cNvSpPr txBox="1"/>
            <p:nvPr/>
          </p:nvSpPr>
          <p:spPr>
            <a:xfrm>
              <a:off x="827532" y="5765800"/>
              <a:ext cx="7088886"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法律面前一律平等；被怀疑犯罪，仍受人身自由条款保护</a:t>
              </a:r>
            </a:p>
          </p:txBody>
        </p:sp>
      </p:grpSp>
      <p:sp>
        <p:nvSpPr>
          <p:cNvPr id="23" name="TextBox 23"/>
          <p:cNvSpPr txBox="1"/>
          <p:nvPr/>
        </p:nvSpPr>
        <p:spPr>
          <a:xfrm>
            <a:off x="604266" y="6502400"/>
            <a:ext cx="552335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宪法第一条、第二十八条、第三十三条、第三十七条；判断具体措施仍须回到相应法律。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06 / 38</a:t>
              </a:r>
            </a:p>
          </p:txBody>
        </p:sp>
      </p:grpSp>
      <p:grpSp>
        <p:nvGrpSpPr>
          <p:cNvPr id="6" name="page-title"/>
          <p:cNvGrpSpPr/>
          <p:nvPr/>
        </p:nvGrpSpPr>
        <p:grpSpPr>
          <a:xfrm>
            <a:off x="590550" y="904875"/>
            <a:ext cx="9255252" cy="790575"/>
            <a:chOff x="590550" y="904875"/>
            <a:chExt cx="9255252" cy="790575"/>
          </a:xfrm>
        </p:grpSpPr>
        <p:sp>
          <p:nvSpPr>
            <p:cNvPr id="5" name="TextBox 5"/>
            <p:cNvSpPr txBox="1"/>
            <p:nvPr/>
          </p:nvSpPr>
          <p:spPr>
            <a:xfrm>
              <a:off x="590550" y="904875"/>
              <a:ext cx="925525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党的领导、人民当家作主与依法治国</a:t>
              </a:r>
            </a:p>
          </p:txBody>
        </p:sp>
      </p:grpSp>
      <p:grpSp>
        <p:nvGrpSpPr>
          <p:cNvPr id="8" name="fundamental-system"/>
          <p:cNvGrpSpPr/>
          <p:nvPr/>
        </p:nvGrpSpPr>
        <p:grpSpPr>
          <a:xfrm>
            <a:off x="596646" y="2006600"/>
            <a:ext cx="4831842" cy="498729"/>
            <a:chOff x="596646" y="2006600"/>
            <a:chExt cx="4831842" cy="498729"/>
          </a:xfrm>
        </p:grpSpPr>
        <p:sp>
          <p:nvSpPr>
            <p:cNvPr id="7" name="TextBox 7"/>
            <p:cNvSpPr txBox="1"/>
            <p:nvPr/>
          </p:nvSpPr>
          <p:spPr>
            <a:xfrm>
              <a:off x="596646" y="2006600"/>
              <a:ext cx="483184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社会主义制度：国家的根本制度</a:t>
              </a:r>
            </a:p>
          </p:txBody>
        </p:sp>
      </p:grpSp>
      <p:sp>
        <p:nvSpPr>
          <p:cNvPr id="9" name="law-context-outline"/>
          <p:cNvSpPr/>
          <p:nvPr/>
        </p:nvSpPr>
        <p:spPr>
          <a:xfrm>
            <a:off x="609600" y="2857500"/>
            <a:ext cx="10972800" cy="3219450"/>
          </a:xfrm>
          <a:prstGeom prst="rect">
            <a:avLst/>
          </a:prstGeom>
          <a:noFill/>
          <a:ln w="19050">
            <a:solidFill>
              <a:schemeClr val="accent1"/>
            </a:solidFill>
          </a:ln>
        </p:spPr>
      </p:sp>
      <p:grpSp>
        <p:nvGrpSpPr>
          <p:cNvPr id="11" name="law-field-label"/>
          <p:cNvGrpSpPr/>
          <p:nvPr/>
        </p:nvGrpSpPr>
        <p:grpSpPr>
          <a:xfrm>
            <a:off x="827532" y="3003550"/>
            <a:ext cx="3696462" cy="410718"/>
            <a:chOff x="827532" y="3003550"/>
            <a:chExt cx="3696462" cy="410718"/>
          </a:xfrm>
        </p:grpSpPr>
        <p:sp>
          <p:nvSpPr>
            <p:cNvPr id="10" name="TextBox 10"/>
            <p:cNvSpPr txBox="1"/>
            <p:nvPr/>
          </p:nvSpPr>
          <p:spPr>
            <a:xfrm>
              <a:off x="827532" y="3003550"/>
              <a:ext cx="369646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宪法和法律规定的制度与规则</a:t>
              </a:r>
            </a:p>
          </p:txBody>
        </p:sp>
      </p:grpSp>
      <p:grpSp>
        <p:nvGrpSpPr>
          <p:cNvPr id="19" name="leadership-participation"/>
          <p:cNvGrpSpPr/>
          <p:nvPr/>
        </p:nvGrpSpPr>
        <p:grpSpPr>
          <a:xfrm>
            <a:off x="938022" y="3527425"/>
            <a:ext cx="9802368" cy="1563243"/>
            <a:chOff x="938022" y="3527425"/>
            <a:chExt cx="9802368" cy="1563243"/>
          </a:xfrm>
        </p:grpSpPr>
        <p:sp>
          <p:nvSpPr>
            <p:cNvPr id="12" name="TextBox 12"/>
            <p:cNvSpPr txBox="1"/>
            <p:nvPr/>
          </p:nvSpPr>
          <p:spPr>
            <a:xfrm>
              <a:off x="938022" y="3619500"/>
              <a:ext cx="15636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党的领导</a:t>
              </a:r>
            </a:p>
          </p:txBody>
        </p:sp>
        <p:sp>
          <p:nvSpPr>
            <p:cNvPr id="13" name="TextBox 13"/>
            <p:cNvSpPr txBox="1"/>
            <p:nvPr/>
          </p:nvSpPr>
          <p:spPr>
            <a:xfrm>
              <a:off x="941832" y="4146550"/>
              <a:ext cx="341376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通过相应制度组织协调工作</a:t>
              </a:r>
            </a:p>
          </p:txBody>
        </p:sp>
        <p:sp>
          <p:nvSpPr>
            <p:cNvPr id="14" name="Line 14"/>
            <p:cNvSpPr/>
            <p:nvPr/>
          </p:nvSpPr>
          <p:spPr>
            <a:xfrm>
              <a:off x="4514850" y="4019550"/>
              <a:ext cx="2552700" cy="1"/>
            </a:xfrm>
            <a:prstGeom prst="line">
              <a:avLst/>
            </a:prstGeom>
            <a:noFill/>
            <a:ln w="19050">
              <a:solidFill>
                <a:schemeClr val="accent1"/>
              </a:solidFill>
              <a:tailEnd type="triangle" w="lg" len="lg"/>
            </a:ln>
          </p:spPr>
        </p:sp>
        <p:sp>
          <p:nvSpPr>
            <p:cNvPr id="15" name="TextBox 15"/>
            <p:cNvSpPr txBox="1"/>
            <p:nvPr/>
          </p:nvSpPr>
          <p:spPr>
            <a:xfrm>
              <a:off x="4504182" y="3527425"/>
              <a:ext cx="228295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组织、支持、保证</a:t>
              </a:r>
            </a:p>
          </p:txBody>
        </p:sp>
        <p:sp>
          <p:nvSpPr>
            <p:cNvPr id="16" name="TextBox 16"/>
            <p:cNvSpPr txBox="1"/>
            <p:nvPr/>
          </p:nvSpPr>
          <p:spPr>
            <a:xfrm>
              <a:off x="7605522" y="3619500"/>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人民当家作主</a:t>
              </a:r>
            </a:p>
          </p:txBody>
        </p:sp>
        <p:sp>
          <p:nvSpPr>
            <p:cNvPr id="17" name="TextBox 17"/>
            <p:cNvSpPr txBox="1"/>
            <p:nvPr/>
          </p:nvSpPr>
          <p:spPr>
            <a:xfrm>
              <a:off x="7609332" y="4146550"/>
              <a:ext cx="31310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依法参与国家和社会事务</a:t>
              </a:r>
            </a:p>
          </p:txBody>
        </p:sp>
        <p:sp>
          <p:nvSpPr>
            <p:cNvPr id="18" name="TextBox 18"/>
            <p:cNvSpPr txBox="1"/>
            <p:nvPr/>
          </p:nvSpPr>
          <p:spPr>
            <a:xfrm>
              <a:off x="941832" y="4679950"/>
              <a:ext cx="737158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人民的需要与意见进入国家工作；具体机关依法定职权履职</a:t>
              </a:r>
            </a:p>
          </p:txBody>
        </p:sp>
      </p:grpSp>
      <p:grpSp>
        <p:nvGrpSpPr>
          <p:cNvPr id="22" name="law-realization"/>
          <p:cNvGrpSpPr/>
          <p:nvPr/>
        </p:nvGrpSpPr>
        <p:grpSpPr>
          <a:xfrm>
            <a:off x="838200" y="5334000"/>
            <a:ext cx="10515600" cy="609600"/>
            <a:chOff x="838200" y="5334000"/>
            <a:chExt cx="10515600" cy="609600"/>
          </a:xfrm>
        </p:grpSpPr>
        <p:sp>
          <p:nvSpPr>
            <p:cNvPr id="20" name="Rectangle 20"/>
            <p:cNvSpPr/>
            <p:nvPr/>
          </p:nvSpPr>
          <p:spPr>
            <a:xfrm>
              <a:off x="838200" y="5334000"/>
              <a:ext cx="10515600" cy="609600"/>
            </a:xfrm>
            <a:prstGeom prst="rect">
              <a:avLst/>
            </a:prstGeom>
            <a:solidFill>
              <a:schemeClr val="accent1"/>
            </a:solidFill>
            <a:ln>
              <a:noFill/>
            </a:ln>
          </p:spPr>
        </p:sp>
        <p:sp>
          <p:nvSpPr>
            <p:cNvPr id="21" name="TextBox 21"/>
            <p:cNvSpPr txBox="1"/>
            <p:nvPr/>
          </p:nvSpPr>
          <p:spPr>
            <a:xfrm>
              <a:off x="1056132" y="5470525"/>
              <a:ext cx="821969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制度使参与和履职得以落实；宪法法律确认、保障关系并约束权力</a:t>
              </a:r>
            </a:p>
          </p:txBody>
        </p:sp>
      </p:grpSp>
      <p:sp>
        <p:nvSpPr>
          <p:cNvPr id="23" name="TextBox 23"/>
          <p:cNvSpPr txBox="1"/>
          <p:nvPr/>
        </p:nvSpPr>
        <p:spPr>
          <a:xfrm>
            <a:off x="604266" y="6502400"/>
            <a:ext cx="552335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宪法第一、二、三、五条；教材第四章。领导力量、阶级基础与根本制度各有说明对象。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07 / 38</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宪法第二条</a:t>
              </a:r>
            </a:p>
          </p:txBody>
        </p:sp>
      </p:grpSp>
      <p:grpSp>
        <p:nvGrpSpPr>
          <p:cNvPr id="11" name="article-two"/>
          <p:cNvGrpSpPr/>
          <p:nvPr/>
        </p:nvGrpSpPr>
        <p:grpSpPr>
          <a:xfrm>
            <a:off x="598932" y="2222500"/>
            <a:ext cx="9067800" cy="2639568"/>
            <a:chOff x="598932" y="2222500"/>
            <a:chExt cx="9067800" cy="2639568"/>
          </a:xfrm>
        </p:grpSpPr>
        <p:sp>
          <p:nvSpPr>
            <p:cNvPr id="7" name="TextBox 7"/>
            <p:cNvSpPr txBox="1"/>
            <p:nvPr/>
          </p:nvSpPr>
          <p:spPr>
            <a:xfrm>
              <a:off x="598932" y="2222500"/>
              <a:ext cx="482727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中华人民共和国的一切权力属于人民。</a:t>
              </a:r>
            </a:p>
          </p:txBody>
        </p:sp>
        <p:sp>
          <p:nvSpPr>
            <p:cNvPr id="8" name="TextBox 8"/>
            <p:cNvSpPr txBox="1"/>
            <p:nvPr/>
          </p:nvSpPr>
          <p:spPr>
            <a:xfrm>
              <a:off x="598932" y="3136900"/>
              <a:ext cx="906780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人民行使国家权力的机关是全国人民代表大会和地方各级人民代表大会。</a:t>
              </a:r>
            </a:p>
          </p:txBody>
        </p:sp>
        <p:sp>
          <p:nvSpPr>
            <p:cNvPr id="9" name="TextBox 9"/>
            <p:cNvSpPr txBox="1"/>
            <p:nvPr/>
          </p:nvSpPr>
          <p:spPr>
            <a:xfrm>
              <a:off x="598932" y="4051300"/>
              <a:ext cx="737158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人民依照法律规定，通过各种途径和形式，管理国家事务，</a:t>
              </a:r>
            </a:p>
          </p:txBody>
        </p:sp>
        <p:sp>
          <p:nvSpPr>
            <p:cNvPr id="10" name="TextBox 10"/>
            <p:cNvSpPr txBox="1"/>
            <p:nvPr/>
          </p:nvSpPr>
          <p:spPr>
            <a:xfrm>
              <a:off x="598932" y="4451350"/>
              <a:ext cx="482727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管理经济和文化事业，管理社会事务。</a:t>
              </a:r>
            </a:p>
          </p:txBody>
        </p:sp>
      </p:grpSp>
      <p:grpSp>
        <p:nvGrpSpPr>
          <p:cNvPr id="18" name="clause-tags"/>
          <p:cNvGrpSpPr/>
          <p:nvPr/>
        </p:nvGrpSpPr>
        <p:grpSpPr>
          <a:xfrm>
            <a:off x="9797796" y="2101850"/>
            <a:ext cx="1154430" cy="2626868"/>
            <a:chOff x="9797796" y="2101850"/>
            <a:chExt cx="1154430" cy="2626868"/>
          </a:xfrm>
        </p:grpSpPr>
        <p:sp>
          <p:nvSpPr>
            <p:cNvPr id="12" name="TextBox 12"/>
            <p:cNvSpPr txBox="1"/>
            <p:nvPr/>
          </p:nvSpPr>
          <p:spPr>
            <a:xfrm>
              <a:off x="9797796" y="2101850"/>
              <a:ext cx="105575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第一款</a:t>
              </a:r>
            </a:p>
          </p:txBody>
        </p:sp>
        <p:sp>
          <p:nvSpPr>
            <p:cNvPr id="13" name="TextBox 13"/>
            <p:cNvSpPr txBox="1"/>
            <p:nvPr/>
          </p:nvSpPr>
          <p:spPr>
            <a:xfrm>
              <a:off x="9800082" y="2489200"/>
              <a:ext cx="115214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根本归属</a:t>
              </a:r>
            </a:p>
          </p:txBody>
        </p:sp>
        <p:sp>
          <p:nvSpPr>
            <p:cNvPr id="14" name="TextBox 14"/>
            <p:cNvSpPr txBox="1"/>
            <p:nvPr/>
          </p:nvSpPr>
          <p:spPr>
            <a:xfrm>
              <a:off x="9797796" y="3016250"/>
              <a:ext cx="105575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第二款</a:t>
              </a:r>
            </a:p>
          </p:txBody>
        </p:sp>
        <p:sp>
          <p:nvSpPr>
            <p:cNvPr id="15" name="TextBox 15"/>
            <p:cNvSpPr txBox="1"/>
            <p:nvPr/>
          </p:nvSpPr>
          <p:spPr>
            <a:xfrm>
              <a:off x="9800082" y="3403600"/>
              <a:ext cx="115214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行使机关</a:t>
              </a:r>
            </a:p>
          </p:txBody>
        </p:sp>
        <p:sp>
          <p:nvSpPr>
            <p:cNvPr id="16" name="TextBox 16"/>
            <p:cNvSpPr txBox="1"/>
            <p:nvPr/>
          </p:nvSpPr>
          <p:spPr>
            <a:xfrm>
              <a:off x="9797796" y="3930650"/>
              <a:ext cx="105575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第三款</a:t>
              </a:r>
            </a:p>
          </p:txBody>
        </p:sp>
        <p:sp>
          <p:nvSpPr>
            <p:cNvPr id="17" name="TextBox 17"/>
            <p:cNvSpPr txBox="1"/>
            <p:nvPr/>
          </p:nvSpPr>
          <p:spPr>
            <a:xfrm>
              <a:off x="9800082" y="4318000"/>
              <a:ext cx="115214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依法参与</a:t>
              </a:r>
            </a:p>
          </p:txBody>
        </p:sp>
      </p:grpSp>
      <p:sp>
        <p:nvSpPr>
          <p:cNvPr id="19" name="Line 19"/>
          <p:cNvSpPr/>
          <p:nvPr/>
        </p:nvSpPr>
        <p:spPr>
          <a:xfrm>
            <a:off x="9525000" y="2190750"/>
            <a:ext cx="9525" cy="2571750"/>
          </a:xfrm>
          <a:custGeom>
            <a:avLst/>
            <a:gdLst/>
            <a:ahLst/>
            <a:cxnLst/>
            <a:rect l="l" t="t" r="r" b="b"/>
            <a:pathLst>
              <a:path w="9525" h="2571750">
                <a:moveTo>
                  <a:pt x="0" y="0"/>
                </a:moveTo>
                <a:lnTo>
                  <a:pt x="0" y="2571750"/>
                </a:lnTo>
              </a:path>
            </a:pathLst>
          </a:custGeom>
          <a:noFill/>
          <a:ln w="9525">
            <a:solidFill>
              <a:srgbClr val="3A454A"/>
            </a:solidFill>
          </a:ln>
        </p:spPr>
      </p:sp>
      <p:sp>
        <p:nvSpPr>
          <p:cNvPr id="20" name="TextBox 20"/>
          <p:cNvSpPr txBox="1"/>
          <p:nvPr/>
        </p:nvSpPr>
        <p:spPr>
          <a:xfrm>
            <a:off x="604266" y="6502400"/>
            <a:ext cx="2865958"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宪法：2018年修正文本，第二条（三款全文）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08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归属、行使与参与</a:t>
              </a:r>
            </a:p>
          </p:txBody>
        </p:sp>
      </p:grpSp>
      <p:grpSp>
        <p:nvGrpSpPr>
          <p:cNvPr id="9" name="not-private"/>
          <p:cNvGrpSpPr/>
          <p:nvPr/>
        </p:nvGrpSpPr>
        <p:grpSpPr>
          <a:xfrm>
            <a:off x="596646" y="1892300"/>
            <a:ext cx="6808470" cy="893318"/>
            <a:chOff x="596646" y="1892300"/>
            <a:chExt cx="6808470" cy="893318"/>
          </a:xfrm>
        </p:grpSpPr>
        <p:sp>
          <p:nvSpPr>
            <p:cNvPr id="7" name="TextBox 7"/>
            <p:cNvSpPr txBox="1"/>
            <p:nvPr/>
          </p:nvSpPr>
          <p:spPr>
            <a:xfrm>
              <a:off x="596646" y="1892300"/>
              <a:ext cx="380199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国家机关在行使国家权力</a:t>
              </a:r>
            </a:p>
          </p:txBody>
        </p:sp>
        <p:sp>
          <p:nvSpPr>
            <p:cNvPr id="8" name="TextBox 8"/>
            <p:cNvSpPr txBox="1"/>
            <p:nvPr/>
          </p:nvSpPr>
          <p:spPr>
            <a:xfrm>
              <a:off x="598932" y="2374900"/>
              <a:ext cx="680618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机关有名称、印章、办公地点，都不改变权力属于人民</a:t>
              </a:r>
            </a:p>
          </p:txBody>
        </p:sp>
      </p:grpSp>
      <p:grpSp>
        <p:nvGrpSpPr>
          <p:cNvPr id="12" name="not-a-slice"/>
          <p:cNvGrpSpPr/>
          <p:nvPr/>
        </p:nvGrpSpPr>
        <p:grpSpPr>
          <a:xfrm>
            <a:off x="596646" y="3054350"/>
            <a:ext cx="7091172" cy="969518"/>
            <a:chOff x="596646" y="3054350"/>
            <a:chExt cx="7091172" cy="969518"/>
          </a:xfrm>
        </p:grpSpPr>
        <p:sp>
          <p:nvSpPr>
            <p:cNvPr id="10" name="TextBox 10"/>
            <p:cNvSpPr txBox="1"/>
            <p:nvPr/>
          </p:nvSpPr>
          <p:spPr>
            <a:xfrm>
              <a:off x="596646" y="3054350"/>
              <a:ext cx="6925856"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“属于”两个字，不等于每个人分别领取一小块</a:t>
              </a:r>
            </a:p>
          </p:txBody>
        </p:sp>
        <p:sp>
          <p:nvSpPr>
            <p:cNvPr id="11" name="TextBox 11"/>
            <p:cNvSpPr txBox="1"/>
            <p:nvPr/>
          </p:nvSpPr>
          <p:spPr>
            <a:xfrm>
              <a:off x="598932" y="3613150"/>
              <a:ext cx="708888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不是把一张大饼切成许多份，谁拿到哪一份就能独立决定</a:t>
              </a:r>
            </a:p>
          </p:txBody>
        </p:sp>
      </p:grpSp>
      <p:grpSp>
        <p:nvGrpSpPr>
          <p:cNvPr id="23" name="people-and-citizen"/>
          <p:cNvGrpSpPr/>
          <p:nvPr/>
        </p:nvGrpSpPr>
        <p:grpSpPr>
          <a:xfrm>
            <a:off x="595122" y="4552950"/>
            <a:ext cx="10987278" cy="1581150"/>
            <a:chOff x="595122" y="4552950"/>
            <a:chExt cx="10987278" cy="1581150"/>
          </a:xfrm>
        </p:grpSpPr>
        <p:grpSp>
          <p:nvGrpSpPr>
            <p:cNvPr id="16" name="people-side"/>
            <p:cNvGrpSpPr/>
            <p:nvPr/>
          </p:nvGrpSpPr>
          <p:grpSpPr>
            <a:xfrm>
              <a:off x="595122" y="4552950"/>
              <a:ext cx="5424678" cy="994918"/>
              <a:chOff x="595122" y="4552950"/>
              <a:chExt cx="5424678" cy="994918"/>
            </a:xfrm>
          </p:grpSpPr>
          <p:sp>
            <p:nvSpPr>
              <p:cNvPr id="13" name="Line 13"/>
              <p:cNvSpPr/>
              <p:nvPr/>
            </p:nvSpPr>
            <p:spPr>
              <a:xfrm>
                <a:off x="609600" y="4552950"/>
                <a:ext cx="5410200" cy="9525"/>
              </a:xfrm>
              <a:custGeom>
                <a:avLst/>
                <a:gdLst/>
                <a:ahLst/>
                <a:cxnLst/>
                <a:rect l="l" t="t" r="r" b="b"/>
                <a:pathLst>
                  <a:path w="5410200" h="9525">
                    <a:moveTo>
                      <a:pt x="0" y="0"/>
                    </a:moveTo>
                    <a:lnTo>
                      <a:pt x="5410200" y="0"/>
                    </a:lnTo>
                  </a:path>
                </a:pathLst>
              </a:custGeom>
              <a:noFill/>
              <a:ln w="19050">
                <a:solidFill>
                  <a:srgbClr val="CDC8BE"/>
                </a:solidFill>
              </a:ln>
            </p:spPr>
          </p:sp>
          <p:sp>
            <p:nvSpPr>
              <p:cNvPr id="14" name="TextBox 14"/>
              <p:cNvSpPr txBox="1"/>
              <p:nvPr/>
            </p:nvSpPr>
            <p:spPr>
              <a:xfrm>
                <a:off x="595122" y="4629150"/>
                <a:ext cx="796290"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人民</a:t>
                </a:r>
              </a:p>
            </p:txBody>
          </p:sp>
          <p:sp>
            <p:nvSpPr>
              <p:cNvPr id="15" name="TextBox 15"/>
              <p:cNvSpPr txBox="1"/>
              <p:nvPr/>
            </p:nvSpPr>
            <p:spPr>
              <a:xfrm>
                <a:off x="598932" y="5137150"/>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国家权力的整体归属</a:t>
                </a:r>
              </a:p>
            </p:txBody>
          </p:sp>
        </p:grpSp>
        <p:grpSp>
          <p:nvGrpSpPr>
            <p:cNvPr id="21" name="citizen-side"/>
            <p:cNvGrpSpPr/>
            <p:nvPr/>
          </p:nvGrpSpPr>
          <p:grpSpPr>
            <a:xfrm>
              <a:off x="6172200" y="4552950"/>
              <a:ext cx="5410200" cy="1375283"/>
              <a:chOff x="6172200" y="4552950"/>
              <a:chExt cx="5410200" cy="1375283"/>
            </a:xfrm>
          </p:grpSpPr>
          <p:sp>
            <p:nvSpPr>
              <p:cNvPr id="17" name="Line 17"/>
              <p:cNvSpPr/>
              <p:nvPr/>
            </p:nvSpPr>
            <p:spPr>
              <a:xfrm>
                <a:off x="6172200" y="4552950"/>
                <a:ext cx="5410200" cy="9525"/>
              </a:xfrm>
              <a:custGeom>
                <a:avLst/>
                <a:gdLst/>
                <a:ahLst/>
                <a:cxnLst/>
                <a:rect l="l" t="t" r="r" b="b"/>
                <a:pathLst>
                  <a:path w="5410200" h="9525">
                    <a:moveTo>
                      <a:pt x="0" y="0"/>
                    </a:moveTo>
                    <a:lnTo>
                      <a:pt x="5410200" y="0"/>
                    </a:lnTo>
                  </a:path>
                </a:pathLst>
              </a:custGeom>
              <a:noFill/>
              <a:ln w="19050">
                <a:solidFill>
                  <a:srgbClr val="CDC8BE"/>
                </a:solidFill>
              </a:ln>
            </p:spPr>
          </p:sp>
          <p:sp>
            <p:nvSpPr>
              <p:cNvPr id="18" name="TextBox 18"/>
              <p:cNvSpPr txBox="1"/>
              <p:nvPr/>
            </p:nvSpPr>
            <p:spPr>
              <a:xfrm>
                <a:off x="6386322" y="4629150"/>
                <a:ext cx="796290"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公民</a:t>
                </a:r>
              </a:p>
            </p:txBody>
          </p:sp>
          <p:sp>
            <p:nvSpPr>
              <p:cNvPr id="19" name="TextBox 19"/>
              <p:cNvSpPr txBox="1"/>
              <p:nvPr/>
            </p:nvSpPr>
            <p:spPr>
              <a:xfrm>
                <a:off x="6390132" y="5137150"/>
                <a:ext cx="454456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具有国籍的人同国家的法律身份联系</a:t>
                </a:r>
              </a:p>
            </p:txBody>
          </p:sp>
          <p:sp>
            <p:nvSpPr>
              <p:cNvPr id="20" name="TextBox 20"/>
              <p:cNvSpPr txBox="1"/>
              <p:nvPr/>
            </p:nvSpPr>
            <p:spPr>
              <a:xfrm>
                <a:off x="6393942" y="5664200"/>
                <a:ext cx="401193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有中国国籍的孩子也是公民，不必等到第一张选票</a:t>
                </a:r>
              </a:p>
            </p:txBody>
          </p:sp>
        </p:grpSp>
        <p:sp>
          <p:nvSpPr>
            <p:cNvPr id="22" name="Line 22"/>
            <p:cNvSpPr/>
            <p:nvPr/>
          </p:nvSpPr>
          <p:spPr>
            <a:xfrm>
              <a:off x="6096000" y="4667250"/>
              <a:ext cx="9525" cy="1466850"/>
            </a:xfrm>
            <a:custGeom>
              <a:avLst/>
              <a:gdLst/>
              <a:ahLst/>
              <a:cxnLst/>
              <a:rect l="l" t="t" r="r" b="b"/>
              <a:pathLst>
                <a:path w="9525" h="1466850">
                  <a:moveTo>
                    <a:pt x="0" y="0"/>
                  </a:moveTo>
                  <a:lnTo>
                    <a:pt x="0" y="1466850"/>
                  </a:lnTo>
                </a:path>
              </a:pathLst>
            </a:custGeom>
            <a:noFill/>
            <a:ln w="9525">
              <a:solidFill>
                <a:srgbClr val="CDC8BE"/>
              </a:solidFill>
            </a:ln>
          </p:spPr>
        </p:sp>
      </p:grpSp>
      <p:sp>
        <p:nvSpPr>
          <p:cNvPr id="24" name="TextBox 24"/>
          <p:cNvSpPr txBox="1"/>
          <p:nvPr/>
        </p:nvSpPr>
        <p:spPr>
          <a:xfrm>
            <a:off x="604266" y="6502400"/>
            <a:ext cx="32617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第二条第一款、第三十三条；人民与公民着眼点不同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09 / 38</a:t>
              </a:r>
            </a:p>
          </p:txBody>
        </p:sp>
      </p:grpSp>
      <p:grpSp>
        <p:nvGrpSpPr>
          <p:cNvPr id="6" name="page-title"/>
          <p:cNvGrpSpPr/>
          <p:nvPr/>
        </p:nvGrpSpPr>
        <p:grpSpPr>
          <a:xfrm>
            <a:off x="590550" y="904875"/>
            <a:ext cx="3494532" cy="790575"/>
            <a:chOff x="590550" y="904875"/>
            <a:chExt cx="3494532" cy="790575"/>
          </a:xfrm>
        </p:grpSpPr>
        <p:sp>
          <p:nvSpPr>
            <p:cNvPr id="5" name="TextBox 5"/>
            <p:cNvSpPr txBox="1"/>
            <p:nvPr/>
          </p:nvSpPr>
          <p:spPr>
            <a:xfrm>
              <a:off x="590550" y="904875"/>
              <a:ext cx="349453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三款怎样配合</a:t>
              </a:r>
            </a:p>
          </p:txBody>
        </p:sp>
      </p:grpSp>
      <p:grpSp>
        <p:nvGrpSpPr>
          <p:cNvPr id="10" name="two-clauses"/>
          <p:cNvGrpSpPr/>
          <p:nvPr/>
        </p:nvGrpSpPr>
        <p:grpSpPr>
          <a:xfrm>
            <a:off x="596646" y="2006600"/>
            <a:ext cx="8710917" cy="1521968"/>
            <a:chOff x="596646" y="2006600"/>
            <a:chExt cx="8710917" cy="1521968"/>
          </a:xfrm>
        </p:grpSpPr>
        <p:sp>
          <p:nvSpPr>
            <p:cNvPr id="7" name="TextBox 7"/>
            <p:cNvSpPr txBox="1"/>
            <p:nvPr/>
          </p:nvSpPr>
          <p:spPr>
            <a:xfrm>
              <a:off x="596646" y="2006600"/>
              <a:ext cx="733779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第二款 人民行使国家权力的机关是人民代表大会</a:t>
              </a:r>
            </a:p>
          </p:txBody>
        </p:sp>
        <p:sp>
          <p:nvSpPr>
            <p:cNvPr id="8" name="TextBox 8"/>
            <p:cNvSpPr txBox="1"/>
            <p:nvPr/>
          </p:nvSpPr>
          <p:spPr>
            <a:xfrm>
              <a:off x="596646" y="2540000"/>
              <a:ext cx="871091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第三款 人民依法通过各种途径和形式管理国家和社会事务</a:t>
              </a:r>
            </a:p>
          </p:txBody>
        </p:sp>
        <p:sp>
          <p:nvSpPr>
            <p:cNvPr id="9" name="TextBox 9"/>
            <p:cNvSpPr txBox="1"/>
            <p:nvPr/>
          </p:nvSpPr>
          <p:spPr>
            <a:xfrm>
              <a:off x="598932" y="3117850"/>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参与不限于投票；参与不等于机关职权</a:t>
              </a:r>
            </a:p>
          </p:txBody>
        </p:sp>
      </p:grpSp>
      <p:grpSp>
        <p:nvGrpSpPr>
          <p:cNvPr id="18" name="crossing-example"/>
          <p:cNvGrpSpPr/>
          <p:nvPr/>
        </p:nvGrpSpPr>
        <p:grpSpPr>
          <a:xfrm>
            <a:off x="596646" y="3771900"/>
            <a:ext cx="10985754" cy="1166368"/>
            <a:chOff x="596646" y="3771900"/>
            <a:chExt cx="10985754" cy="1166368"/>
          </a:xfrm>
        </p:grpSpPr>
        <p:sp>
          <p:nvSpPr>
            <p:cNvPr id="11" name="Line 11"/>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2" name="TextBox 12"/>
            <p:cNvSpPr txBox="1"/>
            <p:nvPr/>
          </p:nvSpPr>
          <p:spPr>
            <a:xfrm>
              <a:off x="596646" y="3892550"/>
              <a:ext cx="55184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一片居民区长期缺少安全的过街设施</a:t>
              </a:r>
            </a:p>
          </p:txBody>
        </p:sp>
        <p:sp>
          <p:nvSpPr>
            <p:cNvPr id="13" name="TextBox 13"/>
            <p:cNvSpPr txBox="1"/>
            <p:nvPr/>
          </p:nvSpPr>
          <p:spPr>
            <a:xfrm>
              <a:off x="598932" y="4527550"/>
              <a:ext cx="171754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居民提出意见</a:t>
              </a:r>
            </a:p>
          </p:txBody>
        </p:sp>
        <p:sp>
          <p:nvSpPr>
            <p:cNvPr id="14" name="Line 14"/>
            <p:cNvSpPr/>
            <p:nvPr/>
          </p:nvSpPr>
          <p:spPr>
            <a:xfrm>
              <a:off x="2438400" y="4686300"/>
              <a:ext cx="457200" cy="1"/>
            </a:xfrm>
            <a:prstGeom prst="line">
              <a:avLst/>
            </a:prstGeom>
            <a:noFill/>
            <a:ln w="19050">
              <a:solidFill>
                <a:srgbClr val="CDC8BE"/>
              </a:solidFill>
              <a:tailEnd type="triangle" w="lg" len="lg"/>
            </a:ln>
          </p:spPr>
        </p:sp>
        <p:sp>
          <p:nvSpPr>
            <p:cNvPr id="15" name="TextBox 15"/>
            <p:cNvSpPr txBox="1"/>
            <p:nvPr/>
          </p:nvSpPr>
          <p:spPr>
            <a:xfrm>
              <a:off x="3037332" y="4527550"/>
              <a:ext cx="171754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代表了解情况</a:t>
              </a:r>
            </a:p>
          </p:txBody>
        </p:sp>
        <p:sp>
          <p:nvSpPr>
            <p:cNvPr id="16" name="Line 16"/>
            <p:cNvSpPr/>
            <p:nvPr/>
          </p:nvSpPr>
          <p:spPr>
            <a:xfrm>
              <a:off x="4876800" y="4686300"/>
              <a:ext cx="457200" cy="1"/>
            </a:xfrm>
            <a:prstGeom prst="line">
              <a:avLst/>
            </a:prstGeom>
            <a:noFill/>
            <a:ln w="19050">
              <a:solidFill>
                <a:srgbClr val="CDC8BE"/>
              </a:solidFill>
              <a:tailEnd type="triangle" w="lg" len="lg"/>
            </a:ln>
          </p:spPr>
        </p:sp>
        <p:sp>
          <p:nvSpPr>
            <p:cNvPr id="17" name="TextBox 17"/>
            <p:cNvSpPr txBox="1"/>
            <p:nvPr/>
          </p:nvSpPr>
          <p:spPr>
            <a:xfrm>
              <a:off x="5475732" y="4527550"/>
              <a:ext cx="284835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相关部门研究怎样改造</a:t>
              </a:r>
            </a:p>
          </p:txBody>
        </p:sp>
      </p:grpSp>
      <p:grpSp>
        <p:nvGrpSpPr>
          <p:cNvPr id="22" name="participation-limit"/>
          <p:cNvGrpSpPr/>
          <p:nvPr/>
        </p:nvGrpSpPr>
        <p:grpSpPr>
          <a:xfrm>
            <a:off x="596646" y="5143500"/>
            <a:ext cx="10985754" cy="879983"/>
            <a:chOff x="596646" y="5143500"/>
            <a:chExt cx="10985754" cy="879983"/>
          </a:xfrm>
        </p:grpSpPr>
        <p:sp>
          <p:nvSpPr>
            <p:cNvPr id="19" name="Line 19"/>
            <p:cNvSpPr/>
            <p:nvPr/>
          </p:nvSpPr>
          <p:spPr>
            <a:xfrm>
              <a:off x="609600" y="51435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0" name="TextBox 20"/>
            <p:cNvSpPr txBox="1"/>
            <p:nvPr/>
          </p:nvSpPr>
          <p:spPr>
            <a:xfrm>
              <a:off x="596646" y="5264150"/>
              <a:ext cx="5861685"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提出意见与作出国家决定不是一个动作</a:t>
              </a:r>
            </a:p>
          </p:txBody>
        </p:sp>
        <p:sp>
          <p:nvSpPr>
            <p:cNvPr id="21" name="TextBox 21"/>
            <p:cNvSpPr txBox="1"/>
            <p:nvPr/>
          </p:nvSpPr>
          <p:spPr>
            <a:xfrm>
              <a:off x="602742" y="5759450"/>
              <a:ext cx="384836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“依照法律规定”把参与接到法定的组织与权限上</a:t>
              </a:r>
            </a:p>
          </p:txBody>
        </p:sp>
      </p:grpSp>
      <p:sp>
        <p:nvSpPr>
          <p:cNvPr id="23" name="TextBox 23"/>
          <p:cNvSpPr txBox="1"/>
          <p:nvPr/>
        </p:nvSpPr>
        <p:spPr>
          <a:xfrm>
            <a:off x="604266" y="6502400"/>
            <a:ext cx="312039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第二条第二、三款；课堂示意，不指某一具体地方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10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宪法第三条前三款</a:t>
              </a:r>
            </a:p>
          </p:txBody>
        </p:sp>
      </p:grpSp>
      <p:grpSp>
        <p:nvGrpSpPr>
          <p:cNvPr id="8" name="article-three-one"/>
          <p:cNvGrpSpPr/>
          <p:nvPr/>
        </p:nvGrpSpPr>
        <p:grpSpPr>
          <a:xfrm>
            <a:off x="598932" y="2146300"/>
            <a:ext cx="6523482" cy="410718"/>
            <a:chOff x="598932" y="2146300"/>
            <a:chExt cx="6523482" cy="410718"/>
          </a:xfrm>
        </p:grpSpPr>
        <p:sp>
          <p:nvSpPr>
            <p:cNvPr id="7" name="TextBox 7"/>
            <p:cNvSpPr txBox="1"/>
            <p:nvPr/>
          </p:nvSpPr>
          <p:spPr>
            <a:xfrm>
              <a:off x="598932" y="2146300"/>
              <a:ext cx="652348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中华人民共和国的国家机构实行民主集中制的原则。</a:t>
              </a:r>
            </a:p>
          </p:txBody>
        </p:sp>
      </p:grpSp>
      <p:grpSp>
        <p:nvGrpSpPr>
          <p:cNvPr id="11" name="article-three-two"/>
          <p:cNvGrpSpPr/>
          <p:nvPr/>
        </p:nvGrpSpPr>
        <p:grpSpPr>
          <a:xfrm>
            <a:off x="598932" y="3155950"/>
            <a:ext cx="5958078" cy="810768"/>
            <a:chOff x="598932" y="3155950"/>
            <a:chExt cx="5958078" cy="810768"/>
          </a:xfrm>
        </p:grpSpPr>
        <p:sp>
          <p:nvSpPr>
            <p:cNvPr id="9" name="TextBox 9"/>
            <p:cNvSpPr txBox="1"/>
            <p:nvPr/>
          </p:nvSpPr>
          <p:spPr>
            <a:xfrm>
              <a:off x="598932" y="3155950"/>
              <a:ext cx="539267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全国人民代表大会和地方各级人民代表大会</a:t>
              </a:r>
            </a:p>
          </p:txBody>
        </p:sp>
        <p:sp>
          <p:nvSpPr>
            <p:cNvPr id="10" name="TextBox 10"/>
            <p:cNvSpPr txBox="1"/>
            <p:nvPr/>
          </p:nvSpPr>
          <p:spPr>
            <a:xfrm>
              <a:off x="598932" y="3556000"/>
              <a:ext cx="595807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都由民主选举产生，对人民负责，受人民监督。</a:t>
              </a:r>
            </a:p>
          </p:txBody>
        </p:sp>
      </p:grpSp>
      <p:grpSp>
        <p:nvGrpSpPr>
          <p:cNvPr id="15" name="article-three-three"/>
          <p:cNvGrpSpPr/>
          <p:nvPr/>
        </p:nvGrpSpPr>
        <p:grpSpPr>
          <a:xfrm>
            <a:off x="598932" y="4203700"/>
            <a:ext cx="5958078" cy="1210818"/>
            <a:chOff x="598932" y="4203700"/>
            <a:chExt cx="5958078" cy="1210818"/>
          </a:xfrm>
        </p:grpSpPr>
        <p:sp>
          <p:nvSpPr>
            <p:cNvPr id="12" name="TextBox 12"/>
            <p:cNvSpPr txBox="1"/>
            <p:nvPr/>
          </p:nvSpPr>
          <p:spPr>
            <a:xfrm>
              <a:off x="598932" y="4203700"/>
              <a:ext cx="595807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国家行政机关、监察机关、审判机关、检察机关</a:t>
              </a:r>
            </a:p>
          </p:txBody>
        </p:sp>
        <p:sp>
          <p:nvSpPr>
            <p:cNvPr id="13" name="TextBox 13"/>
            <p:cNvSpPr txBox="1"/>
            <p:nvPr/>
          </p:nvSpPr>
          <p:spPr>
            <a:xfrm>
              <a:off x="598932" y="4603750"/>
              <a:ext cx="313105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都由人民代表大会产生，</a:t>
              </a:r>
            </a:p>
          </p:txBody>
        </p:sp>
        <p:sp>
          <p:nvSpPr>
            <p:cNvPr id="14" name="TextBox 14"/>
            <p:cNvSpPr txBox="1"/>
            <p:nvPr/>
          </p:nvSpPr>
          <p:spPr>
            <a:xfrm>
              <a:off x="598932" y="5003800"/>
              <a:ext cx="284835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对它负责，受它监督。</a:t>
              </a:r>
            </a:p>
          </p:txBody>
        </p:sp>
      </p:grpSp>
      <p:grpSp>
        <p:nvGrpSpPr>
          <p:cNvPr id="22" name="direction-tags"/>
          <p:cNvGrpSpPr/>
          <p:nvPr/>
        </p:nvGrpSpPr>
        <p:grpSpPr>
          <a:xfrm>
            <a:off x="9175242" y="2235200"/>
            <a:ext cx="2167299" cy="3045333"/>
            <a:chOff x="9175242" y="2235200"/>
            <a:chExt cx="2167299" cy="3045333"/>
          </a:xfrm>
        </p:grpSpPr>
        <p:sp>
          <p:nvSpPr>
            <p:cNvPr id="16" name="TextBox 16"/>
            <p:cNvSpPr txBox="1"/>
            <p:nvPr/>
          </p:nvSpPr>
          <p:spPr>
            <a:xfrm>
              <a:off x="9175242" y="2235200"/>
              <a:ext cx="128587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民主集中制原则</a:t>
              </a:r>
            </a:p>
          </p:txBody>
        </p:sp>
        <p:sp>
          <p:nvSpPr>
            <p:cNvPr id="17" name="TextBox 17"/>
            <p:cNvSpPr txBox="1"/>
            <p:nvPr/>
          </p:nvSpPr>
          <p:spPr>
            <a:xfrm>
              <a:off x="9175242" y="3435350"/>
              <a:ext cx="125861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民主选举产生 →</a:t>
              </a:r>
            </a:p>
          </p:txBody>
        </p:sp>
        <p:sp>
          <p:nvSpPr>
            <p:cNvPr id="18" name="TextBox 18"/>
            <p:cNvSpPr txBox="1"/>
            <p:nvPr/>
          </p:nvSpPr>
          <p:spPr>
            <a:xfrm>
              <a:off x="9175242" y="3702050"/>
              <a:ext cx="216729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 对人民负责，受人民监督</a:t>
              </a:r>
            </a:p>
          </p:txBody>
        </p:sp>
        <p:sp>
          <p:nvSpPr>
            <p:cNvPr id="19" name="TextBox 19"/>
            <p:cNvSpPr txBox="1"/>
            <p:nvPr/>
          </p:nvSpPr>
          <p:spPr>
            <a:xfrm>
              <a:off x="9175242" y="4483100"/>
              <a:ext cx="1076877"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由人大产生 →</a:t>
              </a:r>
            </a:p>
          </p:txBody>
        </p:sp>
        <p:sp>
          <p:nvSpPr>
            <p:cNvPr id="20" name="TextBox 20"/>
            <p:cNvSpPr txBox="1"/>
            <p:nvPr/>
          </p:nvSpPr>
          <p:spPr>
            <a:xfrm>
              <a:off x="9175242" y="4749800"/>
              <a:ext cx="180382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 对它负责，受它监督</a:t>
              </a:r>
            </a:p>
          </p:txBody>
        </p:sp>
        <p:sp>
          <p:nvSpPr>
            <p:cNvPr id="21" name="TextBox 21"/>
            <p:cNvSpPr txBox="1"/>
            <p:nvPr/>
          </p:nvSpPr>
          <p:spPr>
            <a:xfrm>
              <a:off x="9175242" y="5016500"/>
              <a:ext cx="1467612"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已经包括监察机关</a:t>
              </a:r>
            </a:p>
          </p:txBody>
        </p:sp>
      </p:grpSp>
      <p:sp>
        <p:nvSpPr>
          <p:cNvPr id="23" name="Line 23"/>
          <p:cNvSpPr/>
          <p:nvPr/>
        </p:nvSpPr>
        <p:spPr>
          <a:xfrm>
            <a:off x="8953500" y="2190750"/>
            <a:ext cx="9525" cy="3048000"/>
          </a:xfrm>
          <a:custGeom>
            <a:avLst/>
            <a:gdLst/>
            <a:ahLst/>
            <a:cxnLst/>
            <a:rect l="l" t="t" r="r" b="b"/>
            <a:pathLst>
              <a:path w="9525" h="3048000">
                <a:moveTo>
                  <a:pt x="0" y="0"/>
                </a:moveTo>
                <a:lnTo>
                  <a:pt x="0" y="3048000"/>
                </a:lnTo>
              </a:path>
            </a:pathLst>
          </a:custGeom>
          <a:noFill/>
          <a:ln w="9525">
            <a:solidFill>
              <a:srgbClr val="3A454A"/>
            </a:solidFill>
          </a:ln>
        </p:spPr>
      </p:sp>
      <p:sp>
        <p:nvSpPr>
          <p:cNvPr id="24" name="TextBox 24"/>
          <p:cNvSpPr txBox="1"/>
          <p:nvPr/>
        </p:nvSpPr>
        <p:spPr>
          <a:xfrm>
            <a:off x="604266" y="6502400"/>
            <a:ext cx="3007309"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宪法：2018年修正文本，第三条前三款（全文）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11 / 38</a:t>
              </a:r>
            </a:p>
          </p:txBody>
        </p:sp>
      </p:grpSp>
      <p:grpSp>
        <p:nvGrpSpPr>
          <p:cNvPr id="7" name="reading-title"/>
          <p:cNvGrpSpPr/>
          <p:nvPr/>
        </p:nvGrpSpPr>
        <p:grpSpPr>
          <a:xfrm>
            <a:off x="590550" y="838200"/>
            <a:ext cx="10998708" cy="790575"/>
            <a:chOff x="590550" y="838200"/>
            <a:chExt cx="10998708" cy="790575"/>
          </a:xfrm>
        </p:grpSpPr>
        <p:sp>
          <p:nvSpPr>
            <p:cNvPr id="5" name="TextBox 5"/>
            <p:cNvSpPr txBox="1"/>
            <p:nvPr/>
          </p:nvSpPr>
          <p:spPr>
            <a:xfrm>
              <a:off x="590550" y="838200"/>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独立阅读与思考</a:t>
              </a:r>
            </a:p>
          </p:txBody>
        </p:sp>
        <p:sp>
          <p:nvSpPr>
            <p:cNvPr id="6" name="TextBox 6"/>
            <p:cNvSpPr txBox="1"/>
            <p:nvPr/>
          </p:nvSpPr>
          <p:spPr>
            <a:xfrm>
              <a:off x="10848594" y="1149350"/>
              <a:ext cx="740664"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约三分钟</a:t>
              </a:r>
            </a:p>
          </p:txBody>
        </p:sp>
      </p:grpSp>
      <p:grpSp>
        <p:nvGrpSpPr>
          <p:cNvPr id="12" name="article-two"/>
          <p:cNvGrpSpPr/>
          <p:nvPr/>
        </p:nvGrpSpPr>
        <p:grpSpPr>
          <a:xfrm>
            <a:off x="599694" y="1911350"/>
            <a:ext cx="4482465" cy="2857881"/>
            <a:chOff x="599694" y="1911350"/>
            <a:chExt cx="4482465" cy="2857881"/>
          </a:xfrm>
        </p:grpSpPr>
        <p:sp>
          <p:nvSpPr>
            <p:cNvPr id="8" name="TextBox 8"/>
            <p:cNvSpPr txBox="1"/>
            <p:nvPr/>
          </p:nvSpPr>
          <p:spPr>
            <a:xfrm>
              <a:off x="602742" y="1911350"/>
              <a:ext cx="1858347"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宪法第二条 · 三款全文</a:t>
              </a:r>
            </a:p>
          </p:txBody>
        </p:sp>
        <p:sp>
          <p:nvSpPr>
            <p:cNvPr id="9" name="TextBox 9"/>
            <p:cNvSpPr txBox="1"/>
            <p:nvPr/>
          </p:nvSpPr>
          <p:spPr>
            <a:xfrm>
              <a:off x="599694" y="2235200"/>
              <a:ext cx="4482465" cy="381381"/>
            </a:xfrm>
            <a:prstGeom prst="rect">
              <a:avLst/>
            </a:prstGeom>
            <a:noFill/>
            <a:ln>
              <a:noFill/>
            </a:ln>
          </p:spPr>
          <p:txBody>
            <a:bodyPr wrap="none" lIns="0" tIns="0" rIns="0" bIns="0" anchor="t" anchorCtr="0">
              <a:spAutoFit/>
            </a:bodyPr>
            <a:lstStyle/>
            <a:p>
              <a:pPr algn="l"/>
              <a:r>
                <a:rPr lang="zh-CN" sz="1950" dirty="0">
                  <a:solidFill>
                    <a:srgbClr val="F4F1EA"/>
                  </a:solidFill>
                  <a:latin typeface="+mn-lt"/>
                  <a:ea typeface="+mn-ea"/>
                  <a:cs typeface="+mn-cs"/>
                </a:rPr>
                <a:t>中华人民共和国的一切权力属于人民。</a:t>
              </a:r>
            </a:p>
          </p:txBody>
        </p:sp>
        <p:sp>
          <p:nvSpPr>
            <p:cNvPr id="10" name="TextBox 10"/>
            <p:cNvSpPr txBox="1"/>
            <p:nvPr/>
          </p:nvSpPr>
          <p:spPr>
            <a:xfrm>
              <a:off x="599694" y="2749550"/>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人民行使国家权力的机关是全国人民</a:t>
              </a:r>
              <a:br>
                <a:rPr lang="zh-CN" sz="1950" dirty="0">
                  <a:solidFill>
                    <a:srgbClr val="F4F1EA"/>
                  </a:solidFill>
                  <a:latin typeface="+mn-lt"/>
                  <a:ea typeface="+mn-ea"/>
                  <a:cs typeface="+mn-cs"/>
                </a:rPr>
              </a:br>
              <a:r>
                <a:rPr lang="zh-CN" sz="1950" dirty="0">
                  <a:solidFill>
                    <a:srgbClr val="F4F1EA"/>
                  </a:solidFill>
                  <a:latin typeface="+mn-lt"/>
                  <a:ea typeface="+mn-ea"/>
                  <a:cs typeface="+mn-cs"/>
                </a:rPr>
                <a:t>代表大会和地方各级人民代表大会。</a:t>
              </a:r>
            </a:p>
          </p:txBody>
        </p:sp>
        <p:sp>
          <p:nvSpPr>
            <p:cNvPr id="11" name="TextBox 11"/>
            <p:cNvSpPr txBox="1"/>
            <p:nvPr/>
          </p:nvSpPr>
          <p:spPr>
            <a:xfrm>
              <a:off x="599694" y="3663950"/>
              <a:ext cx="3734562" cy="110528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人民依照法律规定，通过各种途径</a:t>
              </a:r>
              <a:br>
                <a:rPr lang="zh-CN" sz="1950" dirty="0">
                  <a:solidFill>
                    <a:srgbClr val="F4F1EA"/>
                  </a:solidFill>
                  <a:latin typeface="+mn-lt"/>
                  <a:ea typeface="+mn-ea"/>
                  <a:cs typeface="+mn-cs"/>
                </a:rPr>
              </a:br>
              <a:r>
                <a:rPr lang="zh-CN" sz="1950" dirty="0">
                  <a:solidFill>
                    <a:srgbClr val="F4F1EA"/>
                  </a:solidFill>
                  <a:latin typeface="+mn-lt"/>
                  <a:ea typeface="+mn-ea"/>
                  <a:cs typeface="+mn-cs"/>
                </a:rPr>
                <a:t>和形式，管理国家事务，管理经济</a:t>
              </a:r>
              <a:br>
                <a:rPr lang="zh-CN" sz="1950" dirty="0">
                  <a:solidFill>
                    <a:srgbClr val="F4F1EA"/>
                  </a:solidFill>
                  <a:latin typeface="+mn-lt"/>
                  <a:ea typeface="+mn-ea"/>
                  <a:cs typeface="+mn-cs"/>
                </a:rPr>
              </a:br>
              <a:r>
                <a:rPr lang="zh-CN" sz="1950" dirty="0">
                  <a:solidFill>
                    <a:srgbClr val="F4F1EA"/>
                  </a:solidFill>
                  <a:latin typeface="+mn-lt"/>
                  <a:ea typeface="+mn-ea"/>
                  <a:cs typeface="+mn-cs"/>
                </a:rPr>
                <a:t>和文化事业，管理社会事务。</a:t>
              </a:r>
            </a:p>
          </p:txBody>
        </p:sp>
      </p:grpSp>
      <p:grpSp>
        <p:nvGrpSpPr>
          <p:cNvPr id="17" name="article-three"/>
          <p:cNvGrpSpPr/>
          <p:nvPr/>
        </p:nvGrpSpPr>
        <p:grpSpPr>
          <a:xfrm>
            <a:off x="6390894" y="1911350"/>
            <a:ext cx="4229862" cy="3581781"/>
            <a:chOff x="6390894" y="1911350"/>
            <a:chExt cx="4229862" cy="3581781"/>
          </a:xfrm>
        </p:grpSpPr>
        <p:sp>
          <p:nvSpPr>
            <p:cNvPr id="13" name="TextBox 13"/>
            <p:cNvSpPr txBox="1"/>
            <p:nvPr/>
          </p:nvSpPr>
          <p:spPr>
            <a:xfrm>
              <a:off x="6393942" y="1911350"/>
              <a:ext cx="2040084"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宪法第三条 · 前三款全文</a:t>
              </a:r>
            </a:p>
          </p:txBody>
        </p:sp>
        <p:sp>
          <p:nvSpPr>
            <p:cNvPr id="14" name="TextBox 14"/>
            <p:cNvSpPr txBox="1"/>
            <p:nvPr/>
          </p:nvSpPr>
          <p:spPr>
            <a:xfrm>
              <a:off x="6390894" y="2197100"/>
              <a:ext cx="3486912" cy="74333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中华人民共和国的国家机构实行</a:t>
              </a:r>
              <a:br>
                <a:rPr lang="zh-CN" sz="1950" dirty="0">
                  <a:solidFill>
                    <a:srgbClr val="F4F1EA"/>
                  </a:solidFill>
                  <a:latin typeface="+mn-lt"/>
                  <a:ea typeface="+mn-ea"/>
                  <a:cs typeface="+mn-cs"/>
                </a:rPr>
              </a:br>
              <a:r>
                <a:rPr lang="zh-CN" sz="1950" dirty="0">
                  <a:solidFill>
                    <a:srgbClr val="F4F1EA"/>
                  </a:solidFill>
                  <a:latin typeface="+mn-lt"/>
                  <a:ea typeface="+mn-ea"/>
                  <a:cs typeface="+mn-cs"/>
                </a:rPr>
                <a:t>民主集中制的原则。</a:t>
              </a:r>
            </a:p>
          </p:txBody>
        </p:sp>
        <p:sp>
          <p:nvSpPr>
            <p:cNvPr id="15" name="TextBox 15"/>
            <p:cNvSpPr txBox="1"/>
            <p:nvPr/>
          </p:nvSpPr>
          <p:spPr>
            <a:xfrm>
              <a:off x="6390894" y="3111500"/>
              <a:ext cx="3982212" cy="110528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全国人民代表大会和地方各级人民</a:t>
              </a:r>
              <a:br>
                <a:rPr lang="zh-CN" sz="1950" dirty="0">
                  <a:solidFill>
                    <a:srgbClr val="F4F1EA"/>
                  </a:solidFill>
                  <a:latin typeface="+mn-lt"/>
                  <a:ea typeface="+mn-ea"/>
                  <a:cs typeface="+mn-cs"/>
                </a:rPr>
              </a:br>
              <a:r>
                <a:rPr lang="zh-CN" sz="1950" dirty="0">
                  <a:solidFill>
                    <a:srgbClr val="F4F1EA"/>
                  </a:solidFill>
                  <a:latin typeface="+mn-lt"/>
                  <a:ea typeface="+mn-ea"/>
                  <a:cs typeface="+mn-cs"/>
                </a:rPr>
                <a:t>代表大会都由民主选举产生，对人民</a:t>
              </a:r>
              <a:br>
                <a:rPr lang="zh-CN" sz="1950" dirty="0">
                  <a:solidFill>
                    <a:srgbClr val="F4F1EA"/>
                  </a:solidFill>
                  <a:latin typeface="+mn-lt"/>
                  <a:ea typeface="+mn-ea"/>
                  <a:cs typeface="+mn-cs"/>
                </a:rPr>
              </a:br>
              <a:r>
                <a:rPr lang="zh-CN" sz="1950" dirty="0">
                  <a:solidFill>
                    <a:srgbClr val="F4F1EA"/>
                  </a:solidFill>
                  <a:latin typeface="+mn-lt"/>
                  <a:ea typeface="+mn-ea"/>
                  <a:cs typeface="+mn-cs"/>
                </a:rPr>
                <a:t>负责，受人民监督。</a:t>
              </a:r>
            </a:p>
          </p:txBody>
        </p:sp>
        <p:sp>
          <p:nvSpPr>
            <p:cNvPr id="16" name="TextBox 16"/>
            <p:cNvSpPr txBox="1"/>
            <p:nvPr/>
          </p:nvSpPr>
          <p:spPr>
            <a:xfrm>
              <a:off x="6390894" y="4387850"/>
              <a:ext cx="4229862" cy="110528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国家行政机关、监察机关、审判机关、</a:t>
              </a:r>
              <a:br>
                <a:rPr lang="zh-CN" sz="1950" dirty="0">
                  <a:solidFill>
                    <a:srgbClr val="F4F1EA"/>
                  </a:solidFill>
                  <a:latin typeface="+mn-lt"/>
                  <a:ea typeface="+mn-ea"/>
                  <a:cs typeface="+mn-cs"/>
                </a:rPr>
              </a:br>
              <a:r>
                <a:rPr lang="zh-CN" sz="1950" dirty="0">
                  <a:solidFill>
                    <a:srgbClr val="F4F1EA"/>
                  </a:solidFill>
                  <a:latin typeface="+mn-lt"/>
                  <a:ea typeface="+mn-ea"/>
                  <a:cs typeface="+mn-cs"/>
                </a:rPr>
                <a:t>检察机关都由人民代表大会产生，</a:t>
              </a:r>
              <a:br>
                <a:rPr lang="zh-CN" sz="1950" dirty="0">
                  <a:solidFill>
                    <a:srgbClr val="F4F1EA"/>
                  </a:solidFill>
                  <a:latin typeface="+mn-lt"/>
                  <a:ea typeface="+mn-ea"/>
                  <a:cs typeface="+mn-cs"/>
                </a:rPr>
              </a:br>
              <a:r>
                <a:rPr lang="zh-CN" sz="1950" dirty="0">
                  <a:solidFill>
                    <a:srgbClr val="F4F1EA"/>
                  </a:solidFill>
                  <a:latin typeface="+mn-lt"/>
                  <a:ea typeface="+mn-ea"/>
                  <a:cs typeface="+mn-cs"/>
                </a:rPr>
                <a:t>对它负责，受它监督。</a:t>
              </a:r>
            </a:p>
          </p:txBody>
        </p:sp>
      </p:grpSp>
      <p:grpSp>
        <p:nvGrpSpPr>
          <p:cNvPr id="19" name="reading-question-one"/>
          <p:cNvGrpSpPr/>
          <p:nvPr/>
        </p:nvGrpSpPr>
        <p:grpSpPr>
          <a:xfrm>
            <a:off x="599694" y="5588000"/>
            <a:ext cx="6320028" cy="381381"/>
            <a:chOff x="599694" y="5588000"/>
            <a:chExt cx="6320028" cy="381381"/>
          </a:xfrm>
        </p:grpSpPr>
        <p:sp>
          <p:nvSpPr>
            <p:cNvPr id="18" name="TextBox 18"/>
            <p:cNvSpPr txBox="1"/>
            <p:nvPr/>
          </p:nvSpPr>
          <p:spPr>
            <a:xfrm>
              <a:off x="599694" y="5588000"/>
              <a:ext cx="6320028" cy="381381"/>
            </a:xfrm>
            <a:prstGeom prst="rect">
              <a:avLst/>
            </a:prstGeom>
            <a:noFill/>
            <a:ln>
              <a:noFill/>
            </a:ln>
          </p:spPr>
          <p:txBody>
            <a:bodyPr wrap="none" lIns="0" tIns="0" rIns="0" bIns="0" anchor="t" anchorCtr="0">
              <a:spAutoFit/>
            </a:bodyPr>
            <a:lstStyle/>
            <a:p>
              <a:pPr algn="l"/>
              <a:r>
                <a:rPr lang="zh-CN" sz="1950" dirty="0">
                  <a:solidFill>
                    <a:srgbClr val="F4F1EA"/>
                  </a:solidFill>
                  <a:latin typeface="+mn-lt"/>
                  <a:ea typeface="+mn-ea"/>
                  <a:cs typeface="+mn-cs"/>
                </a:rPr>
                <a:t>为什么还要规定人大怎样产生、向谁负责、受谁监督？</a:t>
              </a:r>
            </a:p>
          </p:txBody>
        </p:sp>
      </p:grpSp>
      <p:grpSp>
        <p:nvGrpSpPr>
          <p:cNvPr id="21" name="reading-question-two"/>
          <p:cNvGrpSpPr/>
          <p:nvPr/>
        </p:nvGrpSpPr>
        <p:grpSpPr>
          <a:xfrm>
            <a:off x="599694" y="5949950"/>
            <a:ext cx="3957447" cy="381381"/>
            <a:chOff x="599694" y="5949950"/>
            <a:chExt cx="3957447" cy="381381"/>
          </a:xfrm>
        </p:grpSpPr>
        <p:sp>
          <p:nvSpPr>
            <p:cNvPr id="20" name="TextBox 20"/>
            <p:cNvSpPr txBox="1"/>
            <p:nvPr/>
          </p:nvSpPr>
          <p:spPr>
            <a:xfrm>
              <a:off x="599694" y="5949950"/>
              <a:ext cx="3957447" cy="381381"/>
            </a:xfrm>
            <a:prstGeom prst="rect">
              <a:avLst/>
            </a:prstGeom>
            <a:noFill/>
            <a:ln>
              <a:noFill/>
            </a:ln>
          </p:spPr>
          <p:txBody>
            <a:bodyPr wrap="none" lIns="0" tIns="0" rIns="0" bIns="0" anchor="t" anchorCtr="0">
              <a:spAutoFit/>
            </a:bodyPr>
            <a:lstStyle/>
            <a:p>
              <a:pPr algn="l"/>
              <a:r>
                <a:rPr lang="zh-CN" sz="1950" dirty="0">
                  <a:solidFill>
                    <a:srgbClr val="F4F1EA"/>
                  </a:solidFill>
                  <a:latin typeface="+mn-lt"/>
                  <a:ea typeface="+mn-ea"/>
                  <a:cs typeface="+mn-cs"/>
                </a:rPr>
                <a:t>其他机关与人民、人大怎样连接？</a:t>
              </a:r>
            </a:p>
          </p:txBody>
        </p:sp>
      </p:grpSp>
      <p:grpSp>
        <p:nvGrpSpPr>
          <p:cNvPr id="23" name="reading-procedure"/>
          <p:cNvGrpSpPr/>
          <p:nvPr/>
        </p:nvGrpSpPr>
        <p:grpSpPr>
          <a:xfrm>
            <a:off x="8304276" y="6026150"/>
            <a:ext cx="3284982" cy="264033"/>
            <a:chOff x="8304276" y="6026150"/>
            <a:chExt cx="3284982" cy="264033"/>
          </a:xfrm>
        </p:grpSpPr>
        <p:sp>
          <p:nvSpPr>
            <p:cNvPr id="22" name="TextBox 22"/>
            <p:cNvSpPr txBox="1"/>
            <p:nvPr/>
          </p:nvSpPr>
          <p:spPr>
            <a:xfrm>
              <a:off x="8304276" y="6026150"/>
              <a:ext cx="3284982"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先答产生与监督，再答与其他机关的连接</a:t>
              </a:r>
            </a:p>
          </p:txBody>
        </p:sp>
      </p:grpSp>
      <p:sp>
        <p:nvSpPr>
          <p:cNvPr id="24" name="TextBox 24"/>
          <p:cNvSpPr txBox="1"/>
          <p:nvPr/>
        </p:nvSpPr>
        <p:spPr>
          <a:xfrm>
            <a:off x="604266" y="6502400"/>
            <a:ext cx="2130933"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宪法第二条、第三条前三款原文。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12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产生、负责、监督</a:t>
              </a:r>
            </a:p>
          </p:txBody>
        </p:sp>
      </p:grpSp>
      <p:grpSp>
        <p:nvGrpSpPr>
          <p:cNvPr id="11" name="people-layer"/>
          <p:cNvGrpSpPr/>
          <p:nvPr/>
        </p:nvGrpSpPr>
        <p:grpSpPr>
          <a:xfrm>
            <a:off x="590550" y="1663700"/>
            <a:ext cx="10991850" cy="1104900"/>
            <a:chOff x="590550" y="1663700"/>
            <a:chExt cx="10991850" cy="1104900"/>
          </a:xfrm>
        </p:grpSpPr>
        <p:sp>
          <p:nvSpPr>
            <p:cNvPr id="7" name="Rectangle 7"/>
            <p:cNvSpPr/>
            <p:nvPr/>
          </p:nvSpPr>
          <p:spPr>
            <a:xfrm>
              <a:off x="2000250" y="1790700"/>
              <a:ext cx="9582150" cy="838200"/>
            </a:xfrm>
            <a:prstGeom prst="rect">
              <a:avLst/>
            </a:prstGeom>
            <a:solidFill>
              <a:schemeClr val="accent1"/>
            </a:solidFill>
            <a:ln>
              <a:noFill/>
            </a:ln>
          </p:spPr>
        </p:sp>
        <p:sp>
          <p:nvSpPr>
            <p:cNvPr id="8" name="TextBox 8"/>
            <p:cNvSpPr txBox="1"/>
            <p:nvPr/>
          </p:nvSpPr>
          <p:spPr>
            <a:xfrm>
              <a:off x="590550" y="1663700"/>
              <a:ext cx="484022" cy="1104900"/>
            </a:xfrm>
            <a:prstGeom prst="rect">
              <a:avLst/>
            </a:prstGeom>
            <a:noFill/>
            <a:ln>
              <a:noFill/>
            </a:ln>
          </p:spPr>
          <p:txBody>
            <a:bodyPr wrap="none" lIns="0" tIns="0" rIns="0" bIns="0" anchor="t" anchorCtr="0">
              <a:spAutoFit/>
            </a:bodyPr>
            <a:lstStyle/>
            <a:p>
              <a:pPr algn="l"/>
              <a:r>
                <a:rPr lang="zh-CN" sz="5700" dirty="0">
                  <a:solidFill>
                    <a:schemeClr val="accent1">
                      <a:alphaMod val="60000"/>
                    </a:schemeClr>
                  </a:solidFill>
                  <a:latin typeface="+mj-lt"/>
                  <a:ea typeface="+mj-ea"/>
                  <a:cs typeface="+mj-cs"/>
                </a:rPr>
                <a:t>1</a:t>
              </a:r>
            </a:p>
          </p:txBody>
        </p:sp>
        <p:sp>
          <p:nvSpPr>
            <p:cNvPr id="9" name="TextBox 9"/>
            <p:cNvSpPr txBox="1"/>
            <p:nvPr/>
          </p:nvSpPr>
          <p:spPr>
            <a:xfrm>
              <a:off x="2366772" y="1841500"/>
              <a:ext cx="839724" cy="557403"/>
            </a:xfrm>
            <a:prstGeom prst="rect">
              <a:avLst/>
            </a:prstGeom>
            <a:noFill/>
            <a:ln>
              <a:noFill/>
            </a:ln>
          </p:spPr>
          <p:txBody>
            <a:bodyPr wrap="none" lIns="0" tIns="0" rIns="0" bIns="0" anchor="t" anchorCtr="0">
              <a:spAutoFit/>
            </a:bodyPr>
            <a:lstStyle/>
            <a:p>
              <a:pPr algn="l"/>
              <a:r>
                <a:rPr lang="zh-CN" sz="2850" dirty="0">
                  <a:solidFill>
                    <a:srgbClr val="F4F1EA"/>
                  </a:solidFill>
                  <a:latin typeface="+mj-lt"/>
                  <a:ea typeface="+mj-ea"/>
                  <a:cs typeface="+mj-cs"/>
                </a:rPr>
                <a:t>人民</a:t>
              </a:r>
            </a:p>
          </p:txBody>
        </p:sp>
        <p:sp>
          <p:nvSpPr>
            <p:cNvPr id="10" name="TextBox 10"/>
            <p:cNvSpPr txBox="1"/>
            <p:nvPr/>
          </p:nvSpPr>
          <p:spPr>
            <a:xfrm>
              <a:off x="2412492" y="2349500"/>
              <a:ext cx="164934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国家权力的归属主体</a:t>
              </a:r>
            </a:p>
          </p:txBody>
        </p:sp>
      </p:grpSp>
      <p:grpSp>
        <p:nvGrpSpPr>
          <p:cNvPr id="16" name="link-one"/>
          <p:cNvGrpSpPr/>
          <p:nvPr/>
        </p:nvGrpSpPr>
        <p:grpSpPr>
          <a:xfrm>
            <a:off x="3962400" y="2686050"/>
            <a:ext cx="5905500" cy="552450"/>
            <a:chOff x="3962400" y="2686050"/>
            <a:chExt cx="5905500" cy="552450"/>
          </a:xfrm>
        </p:grpSpPr>
        <p:sp>
          <p:nvSpPr>
            <p:cNvPr id="12" name="Freeform 12"/>
            <p:cNvSpPr/>
            <p:nvPr/>
          </p:nvSpPr>
          <p:spPr>
            <a:xfrm>
              <a:off x="3962400" y="2686050"/>
              <a:ext cx="323850" cy="552450"/>
            </a:xfrm>
            <a:prstGeom prst="downArrow">
              <a:avLst>
                <a:gd name="adj1" fmla="val 52000"/>
                <a:gd name="adj2" fmla="val 42000"/>
              </a:avLst>
            </a:prstGeom>
            <a:solidFill>
              <a:schemeClr val="accent2"/>
            </a:solidFill>
            <a:ln>
              <a:noFill/>
            </a:ln>
          </p:spPr>
        </p:sp>
        <p:sp>
          <p:nvSpPr>
            <p:cNvPr id="13" name="Freeform 13"/>
            <p:cNvSpPr/>
            <p:nvPr/>
          </p:nvSpPr>
          <p:spPr>
            <a:xfrm>
              <a:off x="9544050" y="2686050"/>
              <a:ext cx="323850" cy="552450"/>
            </a:xfrm>
            <a:prstGeom prst="upArrow">
              <a:avLst>
                <a:gd name="adj1" fmla="val 52000"/>
                <a:gd name="adj2" fmla="val 42000"/>
              </a:avLst>
            </a:prstGeom>
            <a:solidFill>
              <a:schemeClr val="accent1"/>
            </a:solidFill>
            <a:ln>
              <a:noFill/>
            </a:ln>
          </p:spPr>
        </p:sp>
        <p:sp>
          <p:nvSpPr>
            <p:cNvPr id="14" name="TextBox 14"/>
            <p:cNvSpPr txBox="1"/>
            <p:nvPr/>
          </p:nvSpPr>
          <p:spPr>
            <a:xfrm>
              <a:off x="4393692" y="2863850"/>
              <a:ext cx="110413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民主选举产生</a:t>
              </a:r>
            </a:p>
          </p:txBody>
        </p:sp>
        <p:sp>
          <p:nvSpPr>
            <p:cNvPr id="15" name="TextBox 15"/>
            <p:cNvSpPr txBox="1"/>
            <p:nvPr/>
          </p:nvSpPr>
          <p:spPr>
            <a:xfrm>
              <a:off x="7309485" y="2863850"/>
              <a:ext cx="2012823"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对人民负责，受人民监督</a:t>
              </a:r>
            </a:p>
          </p:txBody>
        </p:sp>
      </p:grpSp>
      <p:grpSp>
        <p:nvGrpSpPr>
          <p:cNvPr id="21" name="congress-layer"/>
          <p:cNvGrpSpPr/>
          <p:nvPr/>
        </p:nvGrpSpPr>
        <p:grpSpPr>
          <a:xfrm>
            <a:off x="590550" y="3225800"/>
            <a:ext cx="10991850" cy="1104900"/>
            <a:chOff x="590550" y="3225800"/>
            <a:chExt cx="10991850" cy="1104900"/>
          </a:xfrm>
        </p:grpSpPr>
        <p:sp>
          <p:nvSpPr>
            <p:cNvPr id="17" name="Rectangle 17"/>
            <p:cNvSpPr/>
            <p:nvPr/>
          </p:nvSpPr>
          <p:spPr>
            <a:xfrm>
              <a:off x="2000250" y="3352800"/>
              <a:ext cx="9582150" cy="838200"/>
            </a:xfrm>
            <a:prstGeom prst="rect">
              <a:avLst/>
            </a:prstGeom>
            <a:solidFill>
              <a:schemeClr val="accent1">
                <a:alpha val="10000"/>
              </a:schemeClr>
            </a:solidFill>
            <a:ln>
              <a:noFill/>
            </a:ln>
          </p:spPr>
        </p:sp>
        <p:sp>
          <p:nvSpPr>
            <p:cNvPr id="18" name="TextBox 18"/>
            <p:cNvSpPr txBox="1"/>
            <p:nvPr/>
          </p:nvSpPr>
          <p:spPr>
            <a:xfrm>
              <a:off x="590550" y="3225800"/>
              <a:ext cx="484022" cy="1104900"/>
            </a:xfrm>
            <a:prstGeom prst="rect">
              <a:avLst/>
            </a:prstGeom>
            <a:noFill/>
            <a:ln>
              <a:noFill/>
            </a:ln>
          </p:spPr>
          <p:txBody>
            <a:bodyPr wrap="none" lIns="0" tIns="0" rIns="0" bIns="0" anchor="t" anchorCtr="0">
              <a:spAutoFit/>
            </a:bodyPr>
            <a:lstStyle/>
            <a:p>
              <a:pPr algn="l"/>
              <a:r>
                <a:rPr lang="zh-CN" sz="5700" dirty="0">
                  <a:solidFill>
                    <a:schemeClr val="accent1">
                      <a:alphaMod val="60000"/>
                    </a:schemeClr>
                  </a:solidFill>
                  <a:latin typeface="+mj-lt"/>
                  <a:ea typeface="+mj-ea"/>
                  <a:cs typeface="+mj-cs"/>
                </a:rPr>
                <a:t>2</a:t>
              </a:r>
            </a:p>
          </p:txBody>
        </p:sp>
        <p:sp>
          <p:nvSpPr>
            <p:cNvPr id="19" name="TextBox 19"/>
            <p:cNvSpPr txBox="1"/>
            <p:nvPr/>
          </p:nvSpPr>
          <p:spPr>
            <a:xfrm>
              <a:off x="2366772" y="3403600"/>
              <a:ext cx="7731252"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j-lt"/>
                  <a:ea typeface="+mj-ea"/>
                  <a:cs typeface="+mj-cs"/>
                </a:rPr>
                <a:t>全国人民代表大会和地方各级人民代表大会</a:t>
              </a:r>
            </a:p>
          </p:txBody>
        </p:sp>
        <p:sp>
          <p:nvSpPr>
            <p:cNvPr id="20" name="TextBox 20"/>
            <p:cNvSpPr txBox="1"/>
            <p:nvPr/>
          </p:nvSpPr>
          <p:spPr>
            <a:xfrm>
              <a:off x="2412492" y="3911600"/>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行使国家权力的机关</a:t>
              </a:r>
            </a:p>
          </p:txBody>
        </p:sp>
      </p:grpSp>
      <p:grpSp>
        <p:nvGrpSpPr>
          <p:cNvPr id="26" name="link-two"/>
          <p:cNvGrpSpPr/>
          <p:nvPr/>
        </p:nvGrpSpPr>
        <p:grpSpPr>
          <a:xfrm>
            <a:off x="3962400" y="4248150"/>
            <a:ext cx="5905500" cy="552450"/>
            <a:chOff x="3962400" y="4248150"/>
            <a:chExt cx="5905500" cy="552450"/>
          </a:xfrm>
        </p:grpSpPr>
        <p:sp>
          <p:nvSpPr>
            <p:cNvPr id="22" name="Freeform 22"/>
            <p:cNvSpPr/>
            <p:nvPr/>
          </p:nvSpPr>
          <p:spPr>
            <a:xfrm>
              <a:off x="3962400" y="4248150"/>
              <a:ext cx="323850" cy="552450"/>
            </a:xfrm>
            <a:prstGeom prst="downArrow">
              <a:avLst>
                <a:gd name="adj1" fmla="val 52000"/>
                <a:gd name="adj2" fmla="val 42000"/>
              </a:avLst>
            </a:prstGeom>
            <a:solidFill>
              <a:schemeClr val="accent2"/>
            </a:solidFill>
            <a:ln>
              <a:noFill/>
            </a:ln>
          </p:spPr>
        </p:sp>
        <p:sp>
          <p:nvSpPr>
            <p:cNvPr id="23" name="Freeform 23"/>
            <p:cNvSpPr/>
            <p:nvPr/>
          </p:nvSpPr>
          <p:spPr>
            <a:xfrm>
              <a:off x="9544050" y="4248150"/>
              <a:ext cx="323850" cy="552450"/>
            </a:xfrm>
            <a:prstGeom prst="upArrow">
              <a:avLst>
                <a:gd name="adj1" fmla="val 52000"/>
                <a:gd name="adj2" fmla="val 42000"/>
              </a:avLst>
            </a:prstGeom>
            <a:solidFill>
              <a:schemeClr val="accent1"/>
            </a:solidFill>
            <a:ln>
              <a:noFill/>
            </a:ln>
          </p:spPr>
        </p:sp>
        <p:sp>
          <p:nvSpPr>
            <p:cNvPr id="24" name="TextBox 24"/>
            <p:cNvSpPr txBox="1"/>
            <p:nvPr/>
          </p:nvSpPr>
          <p:spPr>
            <a:xfrm>
              <a:off x="4393692" y="4425950"/>
              <a:ext cx="922401"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由人大产生</a:t>
              </a:r>
            </a:p>
          </p:txBody>
        </p:sp>
        <p:sp>
          <p:nvSpPr>
            <p:cNvPr id="25" name="TextBox 25"/>
            <p:cNvSpPr txBox="1"/>
            <p:nvPr/>
          </p:nvSpPr>
          <p:spPr>
            <a:xfrm>
              <a:off x="7672959" y="4425950"/>
              <a:ext cx="1649349"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对它负责，受它监督</a:t>
              </a:r>
            </a:p>
          </p:txBody>
        </p:sp>
      </p:grpSp>
      <p:grpSp>
        <p:nvGrpSpPr>
          <p:cNvPr id="39" name="organs-layer"/>
          <p:cNvGrpSpPr/>
          <p:nvPr/>
        </p:nvGrpSpPr>
        <p:grpSpPr>
          <a:xfrm>
            <a:off x="590550" y="4730750"/>
            <a:ext cx="10991850" cy="1104900"/>
            <a:chOff x="590550" y="4730750"/>
            <a:chExt cx="10991850" cy="1104900"/>
          </a:xfrm>
        </p:grpSpPr>
        <p:sp>
          <p:nvSpPr>
            <p:cNvPr id="27" name="Rectangle 27"/>
            <p:cNvSpPr/>
            <p:nvPr/>
          </p:nvSpPr>
          <p:spPr>
            <a:xfrm>
              <a:off x="2000250" y="4876800"/>
              <a:ext cx="9582150" cy="800100"/>
            </a:xfrm>
            <a:prstGeom prst="rect">
              <a:avLst/>
            </a:prstGeom>
            <a:solidFill>
              <a:schemeClr val="accent1">
                <a:alpha val="4000"/>
              </a:schemeClr>
            </a:solidFill>
            <a:ln w="9525">
              <a:solidFill>
                <a:srgbClr val="CDC8BE"/>
              </a:solidFill>
            </a:ln>
          </p:spPr>
        </p:sp>
        <p:sp>
          <p:nvSpPr>
            <p:cNvPr id="28" name="TextBox 28"/>
            <p:cNvSpPr txBox="1"/>
            <p:nvPr/>
          </p:nvSpPr>
          <p:spPr>
            <a:xfrm>
              <a:off x="590550" y="4730750"/>
              <a:ext cx="484022" cy="1104900"/>
            </a:xfrm>
            <a:prstGeom prst="rect">
              <a:avLst/>
            </a:prstGeom>
            <a:noFill/>
            <a:ln>
              <a:noFill/>
            </a:ln>
          </p:spPr>
          <p:txBody>
            <a:bodyPr wrap="none" lIns="0" tIns="0" rIns="0" bIns="0" anchor="t" anchorCtr="0">
              <a:spAutoFit/>
            </a:bodyPr>
            <a:lstStyle/>
            <a:p>
              <a:pPr algn="l"/>
              <a:r>
                <a:rPr lang="zh-CN" sz="5700" dirty="0">
                  <a:solidFill>
                    <a:schemeClr val="accent1">
                      <a:alphaMod val="60000"/>
                    </a:schemeClr>
                  </a:solidFill>
                  <a:latin typeface="+mj-lt"/>
                  <a:ea typeface="+mj-ea"/>
                  <a:cs typeface="+mj-cs"/>
                </a:rPr>
                <a:t>3</a:t>
              </a:r>
            </a:p>
          </p:txBody>
        </p:sp>
        <p:sp>
          <p:nvSpPr>
            <p:cNvPr id="29" name="TextBox 29"/>
            <p:cNvSpPr txBox="1"/>
            <p:nvPr/>
          </p:nvSpPr>
          <p:spPr>
            <a:xfrm>
              <a:off x="2366772" y="4908550"/>
              <a:ext cx="1650492"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j-lt"/>
                  <a:ea typeface="+mj-ea"/>
                  <a:cs typeface="+mj-cs"/>
                </a:rPr>
                <a:t>四类机关</a:t>
              </a:r>
            </a:p>
          </p:txBody>
        </p:sp>
        <p:sp>
          <p:nvSpPr>
            <p:cNvPr id="30" name="TextBox 30"/>
            <p:cNvSpPr txBox="1"/>
            <p:nvPr/>
          </p:nvSpPr>
          <p:spPr>
            <a:xfrm>
              <a:off x="2412492" y="5416550"/>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并列，不是上下级顺序</a:t>
              </a:r>
            </a:p>
          </p:txBody>
        </p:sp>
        <p:sp>
          <p:nvSpPr>
            <p:cNvPr id="31" name="Rectangle 31"/>
            <p:cNvSpPr/>
            <p:nvPr/>
          </p:nvSpPr>
          <p:spPr>
            <a:xfrm>
              <a:off x="6553200" y="5029200"/>
              <a:ext cx="1028700" cy="533400"/>
            </a:xfrm>
            <a:prstGeom prst="rect">
              <a:avLst/>
            </a:prstGeom>
            <a:solidFill>
              <a:schemeClr val="accent2">
                <a:alpha val="12000"/>
              </a:schemeClr>
            </a:solidFill>
            <a:ln>
              <a:noFill/>
            </a:ln>
          </p:spPr>
        </p:sp>
        <p:sp>
          <p:nvSpPr>
            <p:cNvPr id="32" name="TextBox 32"/>
            <p:cNvSpPr txBox="1"/>
            <p:nvPr/>
          </p:nvSpPr>
          <p:spPr>
            <a:xfrm>
              <a:off x="6878955" y="5187950"/>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行政</a:t>
              </a:r>
            </a:p>
          </p:txBody>
        </p:sp>
        <p:sp>
          <p:nvSpPr>
            <p:cNvPr id="33" name="Rectangle 33"/>
            <p:cNvSpPr/>
            <p:nvPr/>
          </p:nvSpPr>
          <p:spPr>
            <a:xfrm>
              <a:off x="7810500" y="5029200"/>
              <a:ext cx="1028700" cy="533400"/>
            </a:xfrm>
            <a:prstGeom prst="rect">
              <a:avLst/>
            </a:prstGeom>
            <a:solidFill>
              <a:schemeClr val="accent2">
                <a:alpha val="12000"/>
              </a:schemeClr>
            </a:solidFill>
            <a:ln>
              <a:noFill/>
            </a:ln>
          </p:spPr>
        </p:sp>
        <p:sp>
          <p:nvSpPr>
            <p:cNvPr id="34" name="TextBox 34"/>
            <p:cNvSpPr txBox="1"/>
            <p:nvPr/>
          </p:nvSpPr>
          <p:spPr>
            <a:xfrm>
              <a:off x="8136255" y="5187950"/>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监察</a:t>
              </a:r>
            </a:p>
          </p:txBody>
        </p:sp>
        <p:sp>
          <p:nvSpPr>
            <p:cNvPr id="35" name="Rectangle 35"/>
            <p:cNvSpPr/>
            <p:nvPr/>
          </p:nvSpPr>
          <p:spPr>
            <a:xfrm>
              <a:off x="9067800" y="5029200"/>
              <a:ext cx="1028700" cy="533400"/>
            </a:xfrm>
            <a:prstGeom prst="rect">
              <a:avLst/>
            </a:prstGeom>
            <a:solidFill>
              <a:schemeClr val="accent2">
                <a:alpha val="12000"/>
              </a:schemeClr>
            </a:solidFill>
            <a:ln>
              <a:noFill/>
            </a:ln>
          </p:spPr>
        </p:sp>
        <p:sp>
          <p:nvSpPr>
            <p:cNvPr id="36" name="TextBox 36"/>
            <p:cNvSpPr txBox="1"/>
            <p:nvPr/>
          </p:nvSpPr>
          <p:spPr>
            <a:xfrm>
              <a:off x="9393555" y="5187950"/>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审判</a:t>
              </a:r>
            </a:p>
          </p:txBody>
        </p:sp>
        <p:sp>
          <p:nvSpPr>
            <p:cNvPr id="37" name="Rectangle 37"/>
            <p:cNvSpPr/>
            <p:nvPr/>
          </p:nvSpPr>
          <p:spPr>
            <a:xfrm>
              <a:off x="10325100" y="5029200"/>
              <a:ext cx="1028700" cy="533400"/>
            </a:xfrm>
            <a:prstGeom prst="rect">
              <a:avLst/>
            </a:prstGeom>
            <a:solidFill>
              <a:schemeClr val="accent2">
                <a:alpha val="12000"/>
              </a:schemeClr>
            </a:solidFill>
            <a:ln>
              <a:noFill/>
            </a:ln>
          </p:spPr>
        </p:sp>
        <p:sp>
          <p:nvSpPr>
            <p:cNvPr id="38" name="TextBox 38"/>
            <p:cNvSpPr txBox="1"/>
            <p:nvPr/>
          </p:nvSpPr>
          <p:spPr>
            <a:xfrm>
              <a:off x="10650855" y="5187950"/>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检察</a:t>
              </a:r>
            </a:p>
          </p:txBody>
        </p:sp>
      </p:grpSp>
      <p:grpSp>
        <p:nvGrpSpPr>
          <p:cNvPr id="43" name="takeaway"/>
          <p:cNvGrpSpPr/>
          <p:nvPr/>
        </p:nvGrpSpPr>
        <p:grpSpPr>
          <a:xfrm>
            <a:off x="609600" y="5816600"/>
            <a:ext cx="10972800" cy="498729"/>
            <a:chOff x="609600" y="5816600"/>
            <a:chExt cx="10972800" cy="498729"/>
          </a:xfrm>
        </p:grpSpPr>
        <p:sp>
          <p:nvSpPr>
            <p:cNvPr id="40" name="Rectangle 40"/>
            <p:cNvSpPr/>
            <p:nvPr/>
          </p:nvSpPr>
          <p:spPr>
            <a:xfrm>
              <a:off x="609600" y="5829300"/>
              <a:ext cx="10972800" cy="419100"/>
            </a:xfrm>
            <a:prstGeom prst="rect">
              <a:avLst/>
            </a:prstGeom>
            <a:gradFill>
              <a:gsLst>
                <a:gs pos="0">
                  <a:schemeClr val="accent2">
                    <a:alpha val="16000"/>
                  </a:schemeClr>
                </a:gs>
                <a:gs pos="62000">
                  <a:schemeClr val="accent2">
                    <a:alpha val="5000"/>
                  </a:schemeClr>
                </a:gs>
                <a:gs pos="100000">
                  <a:schemeClr val="accent2">
                    <a:alpha val="0"/>
                  </a:schemeClr>
                </a:gs>
              </a:gsLst>
              <a:lin ang="0" scaled="1"/>
            </a:gradFill>
            <a:ln>
              <a:noFill/>
            </a:ln>
          </p:spPr>
        </p:sp>
        <p:sp>
          <p:nvSpPr>
            <p:cNvPr id="41" name="Rectangle 41"/>
            <p:cNvSpPr/>
            <p:nvPr/>
          </p:nvSpPr>
          <p:spPr>
            <a:xfrm>
              <a:off x="609600" y="5829300"/>
              <a:ext cx="57150" cy="419100"/>
            </a:xfrm>
            <a:prstGeom prst="rect">
              <a:avLst/>
            </a:prstGeom>
            <a:solidFill>
              <a:schemeClr val="accent2"/>
            </a:solidFill>
            <a:ln>
              <a:noFill/>
            </a:ln>
          </p:spPr>
        </p:sp>
        <p:sp>
          <p:nvSpPr>
            <p:cNvPr id="42" name="TextBox 42"/>
            <p:cNvSpPr txBox="1"/>
            <p:nvPr/>
          </p:nvSpPr>
          <p:spPr>
            <a:xfrm>
              <a:off x="863346" y="5816600"/>
              <a:ext cx="654824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不是先给机关一个地位，再把人民留在图外</a:t>
              </a:r>
            </a:p>
          </p:txBody>
        </p:sp>
      </p:grpSp>
      <p:sp>
        <p:nvSpPr>
          <p:cNvPr id="44" name="TextBox 44"/>
          <p:cNvSpPr txBox="1"/>
          <p:nvPr/>
        </p:nvSpPr>
        <p:spPr>
          <a:xfrm>
            <a:off x="604266" y="6502400"/>
            <a:ext cx="470352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宪法：2018年修正文本，第二条、第三条；四类机关并列，不是上下级顺序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350"/>
                                        <p:tgtEl>
                                          <p:spTgt spid="2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3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13 / 38</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机关不等于制度</a:t>
              </a:r>
            </a:p>
          </p:txBody>
        </p:sp>
      </p:grpSp>
      <p:grpSp>
        <p:nvGrpSpPr>
          <p:cNvPr id="15" name="organ-vs-system"/>
          <p:cNvGrpSpPr/>
          <p:nvPr/>
        </p:nvGrpSpPr>
        <p:grpSpPr>
          <a:xfrm>
            <a:off x="596646" y="2025650"/>
            <a:ext cx="8036052" cy="2150618"/>
            <a:chOff x="596646" y="2025650"/>
            <a:chExt cx="8036052" cy="2150618"/>
          </a:xfrm>
        </p:grpSpPr>
        <p:sp>
          <p:nvSpPr>
            <p:cNvPr id="7" name="TextBox 7"/>
            <p:cNvSpPr txBox="1"/>
            <p:nvPr/>
          </p:nvSpPr>
          <p:spPr>
            <a:xfrm>
              <a:off x="596646" y="20256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人民代表大会</a:t>
              </a:r>
            </a:p>
          </p:txBody>
        </p:sp>
        <p:sp>
          <p:nvSpPr>
            <p:cNvPr id="8" name="TextBox 8"/>
            <p:cNvSpPr txBox="1"/>
            <p:nvPr/>
          </p:nvSpPr>
          <p:spPr>
            <a:xfrm>
              <a:off x="598932" y="256540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是国家机关</a:t>
              </a:r>
            </a:p>
          </p:txBody>
        </p:sp>
        <p:sp>
          <p:nvSpPr>
            <p:cNvPr id="9" name="Line 9"/>
            <p:cNvSpPr/>
            <p:nvPr/>
          </p:nvSpPr>
          <p:spPr>
            <a:xfrm>
              <a:off x="3810000" y="2038350"/>
              <a:ext cx="9525" cy="2095500"/>
            </a:xfrm>
            <a:custGeom>
              <a:avLst/>
              <a:gdLst/>
              <a:ahLst/>
              <a:cxnLst/>
              <a:rect l="l" t="t" r="r" b="b"/>
              <a:pathLst>
                <a:path w="9525" h="2095500">
                  <a:moveTo>
                    <a:pt x="0" y="0"/>
                  </a:moveTo>
                  <a:lnTo>
                    <a:pt x="0" y="2095500"/>
                  </a:lnTo>
                </a:path>
              </a:pathLst>
            </a:custGeom>
            <a:noFill/>
            <a:ln w="19050">
              <a:solidFill>
                <a:srgbClr val="CDC8BE"/>
              </a:solidFill>
            </a:ln>
          </p:spPr>
        </p:sp>
        <p:sp>
          <p:nvSpPr>
            <p:cNvPr id="10" name="TextBox 10"/>
            <p:cNvSpPr txBox="1"/>
            <p:nvPr/>
          </p:nvSpPr>
          <p:spPr>
            <a:xfrm>
              <a:off x="4368546" y="2025650"/>
              <a:ext cx="2772156"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人民代表大会制度</a:t>
              </a:r>
            </a:p>
          </p:txBody>
        </p:sp>
        <p:sp>
          <p:nvSpPr>
            <p:cNvPr id="11" name="TextBox 11"/>
            <p:cNvSpPr txBox="1"/>
            <p:nvPr/>
          </p:nvSpPr>
          <p:spPr>
            <a:xfrm>
              <a:off x="4370832" y="2565400"/>
              <a:ext cx="341376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是一整套组织和活动关系：</a:t>
              </a:r>
            </a:p>
          </p:txBody>
        </p:sp>
        <p:sp>
          <p:nvSpPr>
            <p:cNvPr id="12" name="TextBox 12"/>
            <p:cNvSpPr txBox="1"/>
            <p:nvPr/>
          </p:nvSpPr>
          <p:spPr>
            <a:xfrm>
              <a:off x="4370832" y="2965450"/>
              <a:ext cx="42618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形成代表机关　代表机关行使职权</a:t>
              </a:r>
            </a:p>
          </p:txBody>
        </p:sp>
        <p:sp>
          <p:nvSpPr>
            <p:cNvPr id="13" name="TextBox 13"/>
            <p:cNvSpPr txBox="1"/>
            <p:nvPr/>
          </p:nvSpPr>
          <p:spPr>
            <a:xfrm>
              <a:off x="4370832" y="3365500"/>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其他机关产生与负责</a:t>
              </a:r>
            </a:p>
          </p:txBody>
        </p:sp>
        <p:sp>
          <p:nvSpPr>
            <p:cNvPr id="14" name="TextBox 14"/>
            <p:cNvSpPr txBox="1"/>
            <p:nvPr/>
          </p:nvSpPr>
          <p:spPr>
            <a:xfrm>
              <a:off x="4370832" y="3765550"/>
              <a:ext cx="171754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监督怎样进行</a:t>
              </a:r>
            </a:p>
          </p:txBody>
        </p:sp>
      </p:grpSp>
      <p:grpSp>
        <p:nvGrpSpPr>
          <p:cNvPr id="21" name="two-roots"/>
          <p:cNvGrpSpPr/>
          <p:nvPr/>
        </p:nvGrpSpPr>
        <p:grpSpPr>
          <a:xfrm>
            <a:off x="596646" y="4343400"/>
            <a:ext cx="10985754" cy="1135634"/>
            <a:chOff x="596646" y="4343400"/>
            <a:chExt cx="10985754" cy="1135634"/>
          </a:xfrm>
        </p:grpSpPr>
        <p:sp>
          <p:nvSpPr>
            <p:cNvPr id="16" name="Line 16"/>
            <p:cNvSpPr/>
            <p:nvPr/>
          </p:nvSpPr>
          <p:spPr>
            <a:xfrm>
              <a:off x="609600" y="43434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7" name="TextBox 17"/>
            <p:cNvSpPr txBox="1"/>
            <p:nvPr/>
          </p:nvSpPr>
          <p:spPr>
            <a:xfrm>
              <a:off x="596646" y="45593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根本制度</a:t>
              </a:r>
            </a:p>
          </p:txBody>
        </p:sp>
        <p:sp>
          <p:nvSpPr>
            <p:cNvPr id="18" name="TextBox 18"/>
            <p:cNvSpPr txBox="1"/>
            <p:nvPr/>
          </p:nvSpPr>
          <p:spPr>
            <a:xfrm>
              <a:off x="596646" y="4980305"/>
              <a:ext cx="380199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社会主义制度（第一条）</a:t>
              </a:r>
            </a:p>
          </p:txBody>
        </p:sp>
        <p:sp>
          <p:nvSpPr>
            <p:cNvPr id="19" name="TextBox 19"/>
            <p:cNvSpPr txBox="1"/>
            <p:nvPr/>
          </p:nvSpPr>
          <p:spPr>
            <a:xfrm>
              <a:off x="6654546" y="4559300"/>
              <a:ext cx="2085594"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根本政治制度</a:t>
              </a:r>
            </a:p>
          </p:txBody>
        </p:sp>
        <p:sp>
          <p:nvSpPr>
            <p:cNvPr id="20" name="TextBox 20"/>
            <p:cNvSpPr txBox="1"/>
            <p:nvPr/>
          </p:nvSpPr>
          <p:spPr>
            <a:xfrm>
              <a:off x="6654546" y="4980305"/>
              <a:ext cx="4831842"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人民代表大会制度（本讲政体）</a:t>
              </a:r>
            </a:p>
          </p:txBody>
        </p:sp>
      </p:grpSp>
      <p:grpSp>
        <p:nvGrpSpPr>
          <p:cNvPr id="24" name="not-just-congress"/>
          <p:cNvGrpSpPr/>
          <p:nvPr/>
        </p:nvGrpSpPr>
        <p:grpSpPr>
          <a:xfrm>
            <a:off x="598932" y="5461000"/>
            <a:ext cx="4855540" cy="676783"/>
            <a:chOff x="598932" y="5461000"/>
            <a:chExt cx="4855540" cy="676783"/>
          </a:xfrm>
        </p:grpSpPr>
        <p:sp>
          <p:nvSpPr>
            <p:cNvPr id="22" name="TextBox 22"/>
            <p:cNvSpPr txBox="1"/>
            <p:nvPr/>
          </p:nvSpPr>
          <p:spPr>
            <a:xfrm>
              <a:off x="598932" y="5461000"/>
              <a:ext cx="485554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“政体是全国人大”少了什么？少了制度</a:t>
              </a:r>
            </a:p>
          </p:txBody>
        </p:sp>
        <p:sp>
          <p:nvSpPr>
            <p:cNvPr id="23" name="TextBox 23"/>
            <p:cNvSpPr txBox="1"/>
            <p:nvPr/>
          </p:nvSpPr>
          <p:spPr>
            <a:xfrm>
              <a:off x="602742" y="587375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还有地方各级人大与组织关系</a:t>
              </a:r>
            </a:p>
          </p:txBody>
        </p:sp>
      </p:grpSp>
      <p:sp>
        <p:nvSpPr>
          <p:cNvPr id="25" name="TextBox 25"/>
          <p:cNvSpPr txBox="1"/>
          <p:nvPr/>
        </p:nvSpPr>
        <p:spPr>
          <a:xfrm>
            <a:off x="604266" y="6502400"/>
            <a:ext cx="524065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教材把人民代表大会制度称为政体与根本政治制度；与宪法第一条的根本制度分开读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14 / 38</a:t>
              </a:r>
            </a:p>
          </p:txBody>
        </p:sp>
      </p:grpSp>
      <p:grpSp>
        <p:nvGrpSpPr>
          <p:cNvPr id="6" name="page-title"/>
          <p:cNvGrpSpPr/>
          <p:nvPr/>
        </p:nvGrpSpPr>
        <p:grpSpPr>
          <a:xfrm>
            <a:off x="590550" y="904875"/>
            <a:ext cx="3494532" cy="790575"/>
            <a:chOff x="590550" y="904875"/>
            <a:chExt cx="3494532" cy="790575"/>
          </a:xfrm>
        </p:grpSpPr>
        <p:sp>
          <p:nvSpPr>
            <p:cNvPr id="5" name="TextBox 5"/>
            <p:cNvSpPr txBox="1"/>
            <p:nvPr/>
          </p:nvSpPr>
          <p:spPr>
            <a:xfrm>
              <a:off x="590550" y="904875"/>
              <a:ext cx="349453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代表怎样产生</a:t>
              </a:r>
            </a:p>
          </p:txBody>
        </p:sp>
      </p:grpSp>
      <p:grpSp>
        <p:nvGrpSpPr>
          <p:cNvPr id="14" name="election-levels"/>
          <p:cNvGrpSpPr/>
          <p:nvPr/>
        </p:nvGrpSpPr>
        <p:grpSpPr>
          <a:xfrm>
            <a:off x="596646" y="1955800"/>
            <a:ext cx="9560052" cy="1800733"/>
            <a:chOff x="596646" y="1955800"/>
            <a:chExt cx="9560052" cy="1800733"/>
          </a:xfrm>
        </p:grpSpPr>
        <p:sp>
          <p:nvSpPr>
            <p:cNvPr id="7" name="TextBox 7"/>
            <p:cNvSpPr txBox="1"/>
            <p:nvPr/>
          </p:nvSpPr>
          <p:spPr>
            <a:xfrm>
              <a:off x="598932" y="1955800"/>
              <a:ext cx="200025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宪法第九十七条</a:t>
              </a:r>
            </a:p>
          </p:txBody>
        </p:sp>
        <p:sp>
          <p:nvSpPr>
            <p:cNvPr id="8" name="TextBox 8"/>
            <p:cNvSpPr txBox="1"/>
            <p:nvPr/>
          </p:nvSpPr>
          <p:spPr>
            <a:xfrm>
              <a:off x="596646" y="246380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县、乡两级</a:t>
              </a:r>
            </a:p>
          </p:txBody>
        </p:sp>
        <p:sp>
          <p:nvSpPr>
            <p:cNvPr id="9" name="TextBox 9"/>
            <p:cNvSpPr txBox="1"/>
            <p:nvPr/>
          </p:nvSpPr>
          <p:spPr>
            <a:xfrm>
              <a:off x="598932" y="3003550"/>
              <a:ext cx="115214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直接选举</a:t>
              </a:r>
            </a:p>
          </p:txBody>
        </p:sp>
        <p:sp>
          <p:nvSpPr>
            <p:cNvPr id="10" name="Line 10"/>
            <p:cNvSpPr/>
            <p:nvPr/>
          </p:nvSpPr>
          <p:spPr>
            <a:xfrm>
              <a:off x="5334000" y="2495550"/>
              <a:ext cx="9525" cy="895350"/>
            </a:xfrm>
            <a:custGeom>
              <a:avLst/>
              <a:gdLst/>
              <a:ahLst/>
              <a:cxnLst/>
              <a:rect l="l" t="t" r="r" b="b"/>
              <a:pathLst>
                <a:path w="9525" h="895350">
                  <a:moveTo>
                    <a:pt x="0" y="0"/>
                  </a:moveTo>
                  <a:lnTo>
                    <a:pt x="0" y="895350"/>
                  </a:lnTo>
                </a:path>
              </a:pathLst>
            </a:custGeom>
            <a:noFill/>
            <a:ln w="19050">
              <a:solidFill>
                <a:srgbClr val="CDC8BE"/>
              </a:solidFill>
            </a:ln>
          </p:spPr>
        </p:sp>
        <p:sp>
          <p:nvSpPr>
            <p:cNvPr id="11" name="TextBox 11"/>
            <p:cNvSpPr txBox="1"/>
            <p:nvPr/>
          </p:nvSpPr>
          <p:spPr>
            <a:xfrm>
              <a:off x="5892546" y="24638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更高层级</a:t>
              </a:r>
            </a:p>
          </p:txBody>
        </p:sp>
        <p:sp>
          <p:nvSpPr>
            <p:cNvPr id="12" name="TextBox 12"/>
            <p:cNvSpPr txBox="1"/>
            <p:nvPr/>
          </p:nvSpPr>
          <p:spPr>
            <a:xfrm>
              <a:off x="5894832" y="3003550"/>
              <a:ext cx="426186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间接选举，由下一级人大依法进行</a:t>
              </a:r>
            </a:p>
          </p:txBody>
        </p:sp>
        <p:sp>
          <p:nvSpPr>
            <p:cNvPr id="13" name="TextBox 13"/>
            <p:cNvSpPr txBox="1"/>
            <p:nvPr/>
          </p:nvSpPr>
          <p:spPr>
            <a:xfrm>
              <a:off x="602742" y="3492500"/>
              <a:ext cx="184926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“间接”不等于没有选举</a:t>
              </a:r>
            </a:p>
          </p:txBody>
        </p:sp>
      </p:grpSp>
      <p:grpSp>
        <p:nvGrpSpPr>
          <p:cNvPr id="17" name="delegate-personal"/>
          <p:cNvGrpSpPr/>
          <p:nvPr/>
        </p:nvGrpSpPr>
        <p:grpSpPr>
          <a:xfrm>
            <a:off x="596646" y="3879850"/>
            <a:ext cx="6891528" cy="930529"/>
            <a:chOff x="596646" y="3879850"/>
            <a:chExt cx="6891528" cy="930529"/>
          </a:xfrm>
        </p:grpSpPr>
        <p:sp>
          <p:nvSpPr>
            <p:cNvPr id="15" name="TextBox 15"/>
            <p:cNvSpPr txBox="1"/>
            <p:nvPr/>
          </p:nvSpPr>
          <p:spPr>
            <a:xfrm>
              <a:off x="598932" y="3879850"/>
              <a:ext cx="284835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代表个人可以依法做的</a:t>
              </a:r>
            </a:p>
          </p:txBody>
        </p:sp>
        <p:sp>
          <p:nvSpPr>
            <p:cNvPr id="16" name="TextBox 16"/>
            <p:cNvSpPr txBox="1"/>
            <p:nvPr/>
          </p:nvSpPr>
          <p:spPr>
            <a:xfrm>
              <a:off x="596646" y="4311650"/>
              <a:ext cx="68915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提出意见、建议　参与审议和表决　联系群众</a:t>
              </a:r>
            </a:p>
          </p:txBody>
        </p:sp>
      </p:grpSp>
      <p:grpSp>
        <p:nvGrpSpPr>
          <p:cNvPr id="21" name="delegate-limit"/>
          <p:cNvGrpSpPr/>
          <p:nvPr/>
        </p:nvGrpSpPr>
        <p:grpSpPr>
          <a:xfrm>
            <a:off x="596646" y="4953000"/>
            <a:ext cx="10985754" cy="975868"/>
            <a:chOff x="596646" y="4953000"/>
            <a:chExt cx="10985754" cy="975868"/>
          </a:xfrm>
        </p:grpSpPr>
        <p:sp>
          <p:nvSpPr>
            <p:cNvPr id="18" name="Line 18"/>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9" name="TextBox 19"/>
            <p:cNvSpPr txBox="1"/>
            <p:nvPr/>
          </p:nvSpPr>
          <p:spPr>
            <a:xfrm>
              <a:off x="596646" y="5054600"/>
              <a:ext cx="8607933"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不能仅凭代表身份，就以一个人的意思替整个人大作决定</a:t>
              </a:r>
            </a:p>
          </p:txBody>
        </p:sp>
        <p:sp>
          <p:nvSpPr>
            <p:cNvPr id="20" name="TextBox 20"/>
            <p:cNvSpPr txBox="1"/>
            <p:nvPr/>
          </p:nvSpPr>
          <p:spPr>
            <a:xfrm>
              <a:off x="598932" y="5518150"/>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集体形成判断，决定有确定主体和责任</a:t>
              </a:r>
            </a:p>
          </p:txBody>
        </p:sp>
      </p:grpSp>
      <p:sp>
        <p:nvSpPr>
          <p:cNvPr id="22" name="TextBox 22"/>
          <p:cNvSpPr txBox="1"/>
          <p:nvPr/>
        </p:nvSpPr>
        <p:spPr>
          <a:xfrm>
            <a:off x="604266" y="6502400"/>
            <a:ext cx="244190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宪法：2018年修正文本，第九十七条。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15 / 38</a:t>
              </a:r>
            </a:p>
          </p:txBody>
        </p:sp>
      </p:grpSp>
      <p:grpSp>
        <p:nvGrpSpPr>
          <p:cNvPr id="6" name="page-title"/>
          <p:cNvGrpSpPr/>
          <p:nvPr/>
        </p:nvGrpSpPr>
        <p:grpSpPr>
          <a:xfrm>
            <a:off x="590550" y="904875"/>
            <a:ext cx="5222748" cy="790575"/>
            <a:chOff x="590550" y="904875"/>
            <a:chExt cx="5222748" cy="790575"/>
          </a:xfrm>
        </p:grpSpPr>
        <p:sp>
          <p:nvSpPr>
            <p:cNvPr id="5" name="TextBox 5"/>
            <p:cNvSpPr txBox="1"/>
            <p:nvPr/>
          </p:nvSpPr>
          <p:spPr>
            <a:xfrm>
              <a:off x="590550" y="904875"/>
              <a:ext cx="5222748"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一项具体建议的开始</a:t>
              </a:r>
            </a:p>
          </p:txBody>
        </p:sp>
      </p:grpSp>
      <p:grpSp>
        <p:nvGrpSpPr>
          <p:cNvPr id="10" name="wang-reading-photo"/>
          <p:cNvGrpSpPr/>
          <p:nvPr/>
        </p:nvGrpSpPr>
        <p:grpSpPr>
          <a:xfrm>
            <a:off x="602742" y="1962150"/>
            <a:ext cx="2461701" cy="4175633"/>
            <a:chOff x="602742" y="1962150"/>
            <a:chExt cx="2461701" cy="4175633"/>
          </a:xfrm>
        </p:grpSpPr>
        <p:pic>
          <p:nvPicPr>
            <p:cNvPr id="7" name="Image 7"/>
            <p:cNvPicPr>
              <a:picLocks noChangeAspect="1"/>
            </p:cNvPicPr>
            <p:nvPr/>
          </p:nvPicPr>
          <p:blipFill>
            <a:blip r:embed="rId2"/>
            <a:stretch>
              <a:fillRect/>
            </a:stretch>
          </p:blipFill>
          <p:spPr>
            <a:xfrm>
              <a:off x="612207" y="1962150"/>
              <a:ext cx="2452236" cy="3619500"/>
            </a:xfrm>
            <a:prstGeom prst="rect">
              <a:avLst/>
            </a:prstGeom>
          </p:spPr>
        </p:pic>
        <p:sp>
          <p:nvSpPr>
            <p:cNvPr id="8" name="TextBox 8"/>
            <p:cNvSpPr txBox="1"/>
            <p:nvPr/>
          </p:nvSpPr>
          <p:spPr>
            <a:xfrm>
              <a:off x="602742" y="5664200"/>
              <a:ext cx="2194560"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王永澄摸读盲文版建议答复</a:t>
              </a:r>
            </a:p>
          </p:txBody>
        </p:sp>
        <p:sp>
          <p:nvSpPr>
            <p:cNvPr id="9" name="TextBox 9"/>
            <p:cNvSpPr txBox="1"/>
            <p:nvPr/>
          </p:nvSpPr>
          <p:spPr>
            <a:xfrm>
              <a:off x="602742" y="5873750"/>
              <a:ext cx="164934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新华社记者任沁沁摄</a:t>
              </a:r>
            </a:p>
          </p:txBody>
        </p:sp>
      </p:grpSp>
      <p:grpSp>
        <p:nvGrpSpPr>
          <p:cNvPr id="14" name="case-identity"/>
          <p:cNvGrpSpPr/>
          <p:nvPr/>
        </p:nvGrpSpPr>
        <p:grpSpPr>
          <a:xfrm>
            <a:off x="3700272" y="2057400"/>
            <a:ext cx="5961888" cy="1414018"/>
            <a:chOff x="3700272" y="2057400"/>
            <a:chExt cx="5961888" cy="1414018"/>
          </a:xfrm>
        </p:grpSpPr>
        <p:sp>
          <p:nvSpPr>
            <p:cNvPr id="11" name="TextBox 11"/>
            <p:cNvSpPr txBox="1"/>
            <p:nvPr/>
          </p:nvSpPr>
          <p:spPr>
            <a:xfrm>
              <a:off x="3700272" y="2057400"/>
              <a:ext cx="3597059"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全国人大代表 王永澄</a:t>
              </a:r>
            </a:p>
          </p:txBody>
        </p:sp>
        <p:sp>
          <p:nvSpPr>
            <p:cNvPr id="12" name="TextBox 12"/>
            <p:cNvSpPr txBox="1"/>
            <p:nvPr/>
          </p:nvSpPr>
          <p:spPr>
            <a:xfrm>
              <a:off x="3704082" y="2660650"/>
              <a:ext cx="403570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2023年，王永澄提出一项建议：</a:t>
              </a:r>
            </a:p>
          </p:txBody>
        </p:sp>
        <p:sp>
          <p:nvSpPr>
            <p:cNvPr id="13" name="TextBox 13"/>
            <p:cNvSpPr txBox="1"/>
            <p:nvPr/>
          </p:nvSpPr>
          <p:spPr>
            <a:xfrm>
              <a:off x="3704082" y="3060700"/>
              <a:ext cx="595807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为普通学校随班就读的低视力学生出版大字教材</a:t>
              </a:r>
            </a:p>
          </p:txBody>
        </p:sp>
      </p:grpSp>
      <p:grpSp>
        <p:nvGrpSpPr>
          <p:cNvPr id="19" name="case-detail"/>
          <p:cNvGrpSpPr/>
          <p:nvPr/>
        </p:nvGrpSpPr>
        <p:grpSpPr>
          <a:xfrm>
            <a:off x="3701796" y="3657600"/>
            <a:ext cx="7880604" cy="1452118"/>
            <a:chOff x="3701796" y="3657600"/>
            <a:chExt cx="7880604" cy="1452118"/>
          </a:xfrm>
        </p:grpSpPr>
        <p:sp>
          <p:nvSpPr>
            <p:cNvPr id="15" name="Line 15"/>
            <p:cNvSpPr/>
            <p:nvPr/>
          </p:nvSpPr>
          <p:spPr>
            <a:xfrm>
              <a:off x="3714750" y="3657600"/>
              <a:ext cx="7867650" cy="9525"/>
            </a:xfrm>
            <a:custGeom>
              <a:avLst/>
              <a:gdLst/>
              <a:ahLst/>
              <a:cxnLst/>
              <a:rect l="l" t="t" r="r" b="b"/>
              <a:pathLst>
                <a:path w="7867650" h="9525">
                  <a:moveTo>
                    <a:pt x="0" y="0"/>
                  </a:moveTo>
                  <a:lnTo>
                    <a:pt x="7867650" y="0"/>
                  </a:lnTo>
                </a:path>
              </a:pathLst>
            </a:custGeom>
            <a:noFill/>
            <a:ln w="9525">
              <a:solidFill>
                <a:srgbClr val="3A454A"/>
              </a:solidFill>
            </a:ln>
          </p:spPr>
        </p:sp>
        <p:sp>
          <p:nvSpPr>
            <p:cNvPr id="16" name="TextBox 16"/>
            <p:cNvSpPr txBox="1"/>
            <p:nvPr/>
          </p:nvSpPr>
          <p:spPr>
            <a:xfrm>
              <a:off x="3701796" y="3740150"/>
              <a:ext cx="2428875"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学生领到了教材</a:t>
              </a:r>
            </a:p>
          </p:txBody>
        </p:sp>
        <p:sp>
          <p:nvSpPr>
            <p:cNvPr id="17" name="TextBox 17"/>
            <p:cNvSpPr txBox="1"/>
            <p:nvPr/>
          </p:nvSpPr>
          <p:spPr>
            <a:xfrm>
              <a:off x="3704082" y="4298950"/>
              <a:ext cx="115214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拿到书，</a:t>
              </a:r>
            </a:p>
          </p:txBody>
        </p:sp>
        <p:sp>
          <p:nvSpPr>
            <p:cNvPr id="18" name="TextBox 18"/>
            <p:cNvSpPr txBox="1"/>
            <p:nvPr/>
          </p:nvSpPr>
          <p:spPr>
            <a:xfrm>
              <a:off x="3704082" y="4699000"/>
              <a:ext cx="2000250"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不等于读得了书</a:t>
              </a:r>
            </a:p>
          </p:txBody>
        </p:sp>
      </p:grpSp>
      <p:grpSp>
        <p:nvGrpSpPr>
          <p:cNvPr id="22" name="case-question"/>
          <p:cNvGrpSpPr/>
          <p:nvPr/>
        </p:nvGrpSpPr>
        <p:grpSpPr>
          <a:xfrm>
            <a:off x="3700272" y="5143500"/>
            <a:ext cx="5783961" cy="975868"/>
            <a:chOff x="3700272" y="5143500"/>
            <a:chExt cx="5783961" cy="975868"/>
          </a:xfrm>
        </p:grpSpPr>
        <p:sp>
          <p:nvSpPr>
            <p:cNvPr id="20" name="TextBox 20"/>
            <p:cNvSpPr txBox="1"/>
            <p:nvPr/>
          </p:nvSpPr>
          <p:spPr>
            <a:xfrm>
              <a:off x="3700272" y="5143500"/>
              <a:ext cx="5783961"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发齐之后，不同学生能不能使用？</a:t>
              </a:r>
            </a:p>
          </p:txBody>
        </p:sp>
        <p:sp>
          <p:nvSpPr>
            <p:cNvPr id="21" name="TextBox 21"/>
            <p:cNvSpPr txBox="1"/>
            <p:nvPr/>
          </p:nvSpPr>
          <p:spPr>
            <a:xfrm>
              <a:off x="3704082" y="5708650"/>
              <a:ext cx="4261866"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困难不在缺书，在材料的呈现方式</a:t>
              </a:r>
            </a:p>
          </p:txBody>
        </p:sp>
      </p:grpSp>
      <p:sp>
        <p:nvSpPr>
          <p:cNvPr id="23" name="TextBox 23"/>
          <p:cNvSpPr txBox="1"/>
          <p:nvPr/>
        </p:nvSpPr>
        <p:spPr>
          <a:xfrm>
            <a:off x="604266" y="6502400"/>
            <a:ext cx="5848464"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配图：新华社（摄影/任沁沁）；人大网站当年工作报道记载，教育部正式答复落款2023年9月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上节 16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建议怎样进入办理</a:t>
              </a:r>
            </a:p>
          </p:txBody>
        </p:sp>
      </p:grpSp>
      <p:grpSp>
        <p:nvGrpSpPr>
          <p:cNvPr id="15" name="process-chain"/>
          <p:cNvGrpSpPr/>
          <p:nvPr/>
        </p:nvGrpSpPr>
        <p:grpSpPr>
          <a:xfrm>
            <a:off x="723900" y="2063750"/>
            <a:ext cx="3387090" cy="2264918"/>
            <a:chOff x="723900" y="2063750"/>
            <a:chExt cx="3387090" cy="2264918"/>
          </a:xfrm>
        </p:grpSpPr>
        <p:sp>
          <p:nvSpPr>
            <p:cNvPr id="7" name="Line 7"/>
            <p:cNvSpPr/>
            <p:nvPr/>
          </p:nvSpPr>
          <p:spPr>
            <a:xfrm>
              <a:off x="723900" y="2247900"/>
              <a:ext cx="9525" cy="2057400"/>
            </a:xfrm>
            <a:custGeom>
              <a:avLst/>
              <a:gdLst/>
              <a:ahLst/>
              <a:cxnLst/>
              <a:rect l="l" t="t" r="r" b="b"/>
              <a:pathLst>
                <a:path w="9525" h="2057400">
                  <a:moveTo>
                    <a:pt x="0" y="0"/>
                  </a:moveTo>
                  <a:lnTo>
                    <a:pt x="0" y="2057400"/>
                  </a:lnTo>
                </a:path>
              </a:pathLst>
            </a:custGeom>
            <a:noFill/>
            <a:ln w="9525">
              <a:solidFill>
                <a:srgbClr val="B8C4C8"/>
              </a:solidFill>
            </a:ln>
          </p:spPr>
        </p:sp>
        <p:sp>
          <p:nvSpPr>
            <p:cNvPr id="8" name="Line 8"/>
            <p:cNvSpPr/>
            <p:nvPr/>
          </p:nvSpPr>
          <p:spPr>
            <a:xfrm>
              <a:off x="723900" y="2457450"/>
              <a:ext cx="1" cy="285750"/>
            </a:xfrm>
            <a:prstGeom prst="line">
              <a:avLst/>
            </a:prstGeom>
            <a:noFill/>
            <a:ln w="19050">
              <a:solidFill>
                <a:srgbClr val="B8C4C8"/>
              </a:solidFill>
              <a:tailEnd type="triangle" w="lg" len="lg"/>
            </a:ln>
          </p:spPr>
        </p:sp>
        <p:sp>
          <p:nvSpPr>
            <p:cNvPr id="9" name="Line 9"/>
            <p:cNvSpPr/>
            <p:nvPr/>
          </p:nvSpPr>
          <p:spPr>
            <a:xfrm>
              <a:off x="723900" y="3352800"/>
              <a:ext cx="1" cy="285750"/>
            </a:xfrm>
            <a:prstGeom prst="line">
              <a:avLst/>
            </a:prstGeom>
            <a:noFill/>
            <a:ln w="19050">
              <a:solidFill>
                <a:srgbClr val="B8C4C8"/>
              </a:solidFill>
              <a:tailEnd type="triangle" w="lg" len="lg"/>
            </a:ln>
          </p:spPr>
        </p:sp>
        <p:sp>
          <p:nvSpPr>
            <p:cNvPr id="10" name="TextBox 10"/>
            <p:cNvSpPr txBox="1"/>
            <p:nvPr/>
          </p:nvSpPr>
          <p:spPr>
            <a:xfrm>
              <a:off x="977646" y="2063750"/>
              <a:ext cx="2772156"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经过调研提出建议</a:t>
              </a:r>
            </a:p>
          </p:txBody>
        </p:sp>
        <p:sp>
          <p:nvSpPr>
            <p:cNvPr id="11" name="TextBox 11"/>
            <p:cNvSpPr txBox="1"/>
            <p:nvPr/>
          </p:nvSpPr>
          <p:spPr>
            <a:xfrm>
              <a:off x="977646" y="2597150"/>
              <a:ext cx="2772156"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办理时同代表沟通</a:t>
              </a:r>
            </a:p>
          </p:txBody>
        </p:sp>
        <p:sp>
          <p:nvSpPr>
            <p:cNvPr id="12" name="TextBox 12"/>
            <p:cNvSpPr txBox="1"/>
            <p:nvPr/>
          </p:nvSpPr>
          <p:spPr>
            <a:xfrm>
              <a:off x="979932" y="3022600"/>
              <a:ext cx="3131058"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核对学生需要与实际困难</a:t>
              </a:r>
            </a:p>
          </p:txBody>
        </p:sp>
        <p:sp>
          <p:nvSpPr>
            <p:cNvPr id="13" name="TextBox 13"/>
            <p:cNvSpPr txBox="1"/>
            <p:nvPr/>
          </p:nvSpPr>
          <p:spPr>
            <a:xfrm>
              <a:off x="977646" y="3492500"/>
              <a:ext cx="3115437"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按审定要求推动出版</a:t>
              </a:r>
            </a:p>
          </p:txBody>
        </p:sp>
        <p:sp>
          <p:nvSpPr>
            <p:cNvPr id="14" name="TextBox 14"/>
            <p:cNvSpPr txBox="1"/>
            <p:nvPr/>
          </p:nvSpPr>
          <p:spPr>
            <a:xfrm>
              <a:off x="979932" y="3917950"/>
              <a:ext cx="256565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答复进展与后续安排</a:t>
              </a:r>
            </a:p>
          </p:txBody>
        </p:sp>
      </p:grpSp>
      <p:grpSp>
        <p:nvGrpSpPr>
          <p:cNvPr id="20" name="answer-facts"/>
          <p:cNvGrpSpPr/>
          <p:nvPr/>
        </p:nvGrpSpPr>
        <p:grpSpPr>
          <a:xfrm>
            <a:off x="4466082" y="2152650"/>
            <a:ext cx="3979164" cy="1642618"/>
            <a:chOff x="4466082" y="2152650"/>
            <a:chExt cx="3979164" cy="1642618"/>
          </a:xfrm>
        </p:grpSpPr>
        <p:sp>
          <p:nvSpPr>
            <p:cNvPr id="16" name="Line 16"/>
            <p:cNvSpPr/>
            <p:nvPr/>
          </p:nvSpPr>
          <p:spPr>
            <a:xfrm>
              <a:off x="4476750" y="2152650"/>
              <a:ext cx="3905250" cy="9525"/>
            </a:xfrm>
            <a:custGeom>
              <a:avLst/>
              <a:gdLst/>
              <a:ahLst/>
              <a:cxnLst/>
              <a:rect l="l" t="t" r="r" b="b"/>
              <a:pathLst>
                <a:path w="3905250" h="9525">
                  <a:moveTo>
                    <a:pt x="0" y="0"/>
                  </a:moveTo>
                  <a:lnTo>
                    <a:pt x="3905250" y="0"/>
                  </a:lnTo>
                </a:path>
              </a:pathLst>
            </a:custGeom>
            <a:noFill/>
            <a:ln w="9525">
              <a:solidFill>
                <a:srgbClr val="3A454A"/>
              </a:solidFill>
            </a:ln>
          </p:spPr>
        </p:sp>
        <p:sp>
          <p:nvSpPr>
            <p:cNvPr id="17" name="TextBox 17"/>
            <p:cNvSpPr txBox="1"/>
            <p:nvPr/>
          </p:nvSpPr>
          <p:spPr>
            <a:xfrm>
              <a:off x="4466082" y="2508250"/>
              <a:ext cx="397916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已有随班就读与教科书政策安排</a:t>
              </a:r>
            </a:p>
          </p:txBody>
        </p:sp>
        <p:sp>
          <p:nvSpPr>
            <p:cNvPr id="18" name="TextBox 18"/>
            <p:cNvSpPr txBox="1"/>
            <p:nvPr/>
          </p:nvSpPr>
          <p:spPr>
            <a:xfrm>
              <a:off x="4466082" y="2984500"/>
              <a:ext cx="369646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大字版仍须按审定要求送审，</a:t>
              </a:r>
            </a:p>
          </p:txBody>
        </p:sp>
        <p:sp>
          <p:nvSpPr>
            <p:cNvPr id="19" name="TextBox 19"/>
            <p:cNvSpPr txBox="1"/>
            <p:nvPr/>
          </p:nvSpPr>
          <p:spPr>
            <a:xfrm>
              <a:off x="4466082" y="3384550"/>
              <a:ext cx="284835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并从起始年级逐年出版</a:t>
              </a:r>
            </a:p>
          </p:txBody>
        </p:sp>
      </p:grpSp>
      <p:grpSp>
        <p:nvGrpSpPr>
          <p:cNvPr id="24" name="braille-reply-photo"/>
          <p:cNvGrpSpPr/>
          <p:nvPr/>
        </p:nvGrpSpPr>
        <p:grpSpPr>
          <a:xfrm>
            <a:off x="8667750" y="2286000"/>
            <a:ext cx="2921508" cy="3661283"/>
            <a:chOff x="8667750" y="2286000"/>
            <a:chExt cx="2921508" cy="3661283"/>
          </a:xfrm>
        </p:grpSpPr>
        <p:pic>
          <p:nvPicPr>
            <p:cNvPr id="21" name="Image 21"/>
            <p:cNvPicPr>
              <a:picLocks noChangeAspect="1"/>
            </p:cNvPicPr>
            <p:nvPr/>
          </p:nvPicPr>
          <p:blipFill>
            <a:blip r:embed="rId2"/>
            <a:stretch>
              <a:fillRect/>
            </a:stretch>
          </p:blipFill>
          <p:spPr>
            <a:xfrm>
              <a:off x="9010650" y="2286000"/>
              <a:ext cx="2571750" cy="3048000"/>
            </a:xfrm>
            <a:prstGeom prst="rect">
              <a:avLst/>
            </a:prstGeom>
          </p:spPr>
        </p:pic>
        <p:sp>
          <p:nvSpPr>
            <p:cNvPr id="22" name="TextBox 22"/>
            <p:cNvSpPr txBox="1"/>
            <p:nvPr/>
          </p:nvSpPr>
          <p:spPr>
            <a:xfrm>
              <a:off x="8667750" y="5435600"/>
              <a:ext cx="2921508"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《王永澄代表建议答复（盲文版）》</a:t>
              </a:r>
            </a:p>
          </p:txBody>
        </p:sp>
        <p:sp>
          <p:nvSpPr>
            <p:cNvPr id="23" name="TextBox 23"/>
            <p:cNvSpPr txBox="1"/>
            <p:nvPr/>
          </p:nvSpPr>
          <p:spPr>
            <a:xfrm>
              <a:off x="9939909" y="5683250"/>
              <a:ext cx="1649349"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新华社记者任沁沁摄</a:t>
              </a:r>
            </a:p>
          </p:txBody>
        </p:sp>
      </p:grpSp>
      <p:grpSp>
        <p:nvGrpSpPr>
          <p:cNvPr id="27" name="identities-separate"/>
          <p:cNvGrpSpPr/>
          <p:nvPr/>
        </p:nvGrpSpPr>
        <p:grpSpPr>
          <a:xfrm>
            <a:off x="598932" y="4705350"/>
            <a:ext cx="7630668" cy="480568"/>
            <a:chOff x="598932" y="4705350"/>
            <a:chExt cx="7630668" cy="480568"/>
          </a:xfrm>
        </p:grpSpPr>
        <p:sp>
          <p:nvSpPr>
            <p:cNvPr id="25" name="Line 25"/>
            <p:cNvSpPr/>
            <p:nvPr/>
          </p:nvSpPr>
          <p:spPr>
            <a:xfrm>
              <a:off x="609600" y="4705350"/>
              <a:ext cx="7620000" cy="9525"/>
            </a:xfrm>
            <a:custGeom>
              <a:avLst/>
              <a:gdLst/>
              <a:ahLst/>
              <a:cxnLst/>
              <a:rect l="l" t="t" r="r" b="b"/>
              <a:pathLst>
                <a:path w="7620000" h="9525">
                  <a:moveTo>
                    <a:pt x="0" y="0"/>
                  </a:moveTo>
                  <a:lnTo>
                    <a:pt x="7620000" y="0"/>
                  </a:lnTo>
                </a:path>
              </a:pathLst>
            </a:custGeom>
            <a:noFill/>
            <a:ln w="9525">
              <a:solidFill>
                <a:srgbClr val="3A454A"/>
              </a:solidFill>
            </a:ln>
          </p:spPr>
        </p:sp>
        <p:sp>
          <p:nvSpPr>
            <p:cNvPr id="26" name="TextBox 26"/>
            <p:cNvSpPr txBox="1"/>
            <p:nvPr/>
          </p:nvSpPr>
          <p:spPr>
            <a:xfrm>
              <a:off x="598932" y="4775200"/>
              <a:ext cx="5958078"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代表提出需要，部门依职责办理，答复继续沟通</a:t>
              </a:r>
            </a:p>
          </p:txBody>
        </p:sp>
      </p:grpSp>
      <p:sp>
        <p:nvSpPr>
          <p:cNvPr id="28" name="Line 28"/>
          <p:cNvSpPr/>
          <p:nvPr/>
        </p:nvSpPr>
        <p:spPr>
          <a:xfrm>
            <a:off x="4191000" y="2190750"/>
            <a:ext cx="9525" cy="2114550"/>
          </a:xfrm>
          <a:custGeom>
            <a:avLst/>
            <a:gdLst/>
            <a:ahLst/>
            <a:cxnLst/>
            <a:rect l="l" t="t" r="r" b="b"/>
            <a:pathLst>
              <a:path w="9525" h="2114550">
                <a:moveTo>
                  <a:pt x="0" y="0"/>
                </a:moveTo>
                <a:lnTo>
                  <a:pt x="0" y="2114550"/>
                </a:lnTo>
              </a:path>
            </a:pathLst>
          </a:custGeom>
          <a:noFill/>
          <a:ln w="9525">
            <a:solidFill>
              <a:srgbClr val="3A454A"/>
            </a:solidFill>
          </a:ln>
        </p:spPr>
      </p:sp>
      <p:sp>
        <p:nvSpPr>
          <p:cNvPr id="29" name="TextBox 29"/>
          <p:cNvSpPr txBox="1"/>
          <p:nvPr/>
        </p:nvSpPr>
        <p:spPr>
          <a:xfrm>
            <a:off x="604266" y="6502400"/>
            <a:ext cx="6979272"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配图：新华社（摄影/任沁沁）；教育部2023年9月正式答复；同期报道十三种大字版教材，不由此推出整体成效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17 / 38</a:t>
              </a:r>
            </a:p>
          </p:txBody>
        </p:sp>
      </p:grpSp>
      <p:grpSp>
        <p:nvGrpSpPr>
          <p:cNvPr id="6" name="page-title"/>
          <p:cNvGrpSpPr/>
          <p:nvPr/>
        </p:nvGrpSpPr>
        <p:grpSpPr>
          <a:xfrm>
            <a:off x="590550" y="904875"/>
            <a:ext cx="3494532" cy="790575"/>
            <a:chOff x="590550" y="904875"/>
            <a:chExt cx="3494532" cy="790575"/>
          </a:xfrm>
        </p:grpSpPr>
        <p:sp>
          <p:nvSpPr>
            <p:cNvPr id="5" name="TextBox 5"/>
            <p:cNvSpPr txBox="1"/>
            <p:nvPr/>
          </p:nvSpPr>
          <p:spPr>
            <a:xfrm>
              <a:off x="590550" y="904875"/>
              <a:ext cx="349453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代表性的难处</a:t>
              </a:r>
            </a:p>
          </p:txBody>
        </p:sp>
      </p:grpSp>
      <p:sp>
        <p:nvSpPr>
          <p:cNvPr id="7" name="Line 7"/>
          <p:cNvSpPr/>
          <p:nvPr/>
        </p:nvSpPr>
        <p:spPr>
          <a:xfrm>
            <a:off x="5715000" y="2019300"/>
            <a:ext cx="9525" cy="1828800"/>
          </a:xfrm>
          <a:custGeom>
            <a:avLst/>
            <a:gdLst/>
            <a:ahLst/>
            <a:cxnLst/>
            <a:rect l="l" t="t" r="r" b="b"/>
            <a:pathLst>
              <a:path w="9525" h="1828800">
                <a:moveTo>
                  <a:pt x="0" y="0"/>
                </a:moveTo>
                <a:lnTo>
                  <a:pt x="0" y="1828800"/>
                </a:lnTo>
              </a:path>
            </a:pathLst>
          </a:custGeom>
          <a:noFill/>
          <a:ln w="9525">
            <a:solidFill>
              <a:srgbClr val="CDC8BE"/>
            </a:solidFill>
          </a:ln>
        </p:spPr>
      </p:sp>
      <p:grpSp>
        <p:nvGrpSpPr>
          <p:cNvPr id="11" name="experience-gap"/>
          <p:cNvGrpSpPr/>
          <p:nvPr/>
        </p:nvGrpSpPr>
        <p:grpSpPr>
          <a:xfrm>
            <a:off x="595122" y="2006600"/>
            <a:ext cx="5016627" cy="1711833"/>
            <a:chOff x="595122" y="2006600"/>
            <a:chExt cx="5016627" cy="1711833"/>
          </a:xfrm>
        </p:grpSpPr>
        <p:sp>
          <p:nvSpPr>
            <p:cNvPr id="8" name="TextBox 8"/>
            <p:cNvSpPr txBox="1"/>
            <p:nvPr/>
          </p:nvSpPr>
          <p:spPr>
            <a:xfrm>
              <a:off x="596646" y="200660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有共同身份</a:t>
              </a:r>
            </a:p>
          </p:txBody>
        </p:sp>
        <p:sp>
          <p:nvSpPr>
            <p:cNvPr id="9" name="TextBox 9"/>
            <p:cNvSpPr txBox="1"/>
            <p:nvPr/>
          </p:nvSpPr>
          <p:spPr>
            <a:xfrm>
              <a:off x="595122" y="2628900"/>
              <a:ext cx="5016627"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不等于有完全相同的生活经验</a:t>
              </a:r>
            </a:p>
          </p:txBody>
        </p:sp>
        <p:sp>
          <p:nvSpPr>
            <p:cNvPr id="10" name="TextBox 10"/>
            <p:cNvSpPr txBox="1"/>
            <p:nvPr/>
          </p:nvSpPr>
          <p:spPr>
            <a:xfrm>
              <a:off x="602742" y="3454400"/>
              <a:ext cx="383019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乡村道路、制造业、老年人设施，各有各的困难</a:t>
              </a:r>
            </a:p>
          </p:txBody>
        </p:sp>
      </p:grpSp>
      <p:grpSp>
        <p:nvGrpSpPr>
          <p:cNvPr id="21" name="follow-through"/>
          <p:cNvGrpSpPr/>
          <p:nvPr/>
        </p:nvGrpSpPr>
        <p:grpSpPr>
          <a:xfrm>
            <a:off x="6006846" y="1885950"/>
            <a:ext cx="5708523" cy="2448179"/>
            <a:chOff x="6006846" y="1885950"/>
            <a:chExt cx="5708523" cy="2448179"/>
          </a:xfrm>
        </p:grpSpPr>
        <p:sp>
          <p:nvSpPr>
            <p:cNvPr id="12" name="Line 12"/>
            <p:cNvSpPr/>
            <p:nvPr/>
          </p:nvSpPr>
          <p:spPr>
            <a:xfrm>
              <a:off x="6019800" y="1885950"/>
              <a:ext cx="5562600" cy="9525"/>
            </a:xfrm>
            <a:custGeom>
              <a:avLst/>
              <a:gdLst/>
              <a:ahLst/>
              <a:cxnLst/>
              <a:rect l="l" t="t" r="r" b="b"/>
              <a:pathLst>
                <a:path w="5562600" h="9525">
                  <a:moveTo>
                    <a:pt x="0" y="0"/>
                  </a:moveTo>
                  <a:lnTo>
                    <a:pt x="5562600" y="0"/>
                  </a:lnTo>
                </a:path>
              </a:pathLst>
            </a:custGeom>
            <a:noFill/>
            <a:ln w="9525">
              <a:solidFill>
                <a:srgbClr val="CDC8BE"/>
              </a:solidFill>
            </a:ln>
          </p:spPr>
        </p:sp>
        <p:sp>
          <p:nvSpPr>
            <p:cNvPr id="13" name="TextBox 13"/>
            <p:cNvSpPr txBox="1"/>
            <p:nvPr/>
          </p:nvSpPr>
          <p:spPr>
            <a:xfrm>
              <a:off x="6006846" y="2006600"/>
              <a:ext cx="214713"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1</a:t>
              </a:r>
            </a:p>
          </p:txBody>
        </p:sp>
        <p:sp>
          <p:nvSpPr>
            <p:cNvPr id="14" name="TextBox 14"/>
            <p:cNvSpPr txBox="1"/>
            <p:nvPr/>
          </p:nvSpPr>
          <p:spPr>
            <a:xfrm>
              <a:off x="6540246" y="2006600"/>
              <a:ext cx="345871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这项意见怎样说明事实</a:t>
              </a:r>
            </a:p>
          </p:txBody>
        </p:sp>
        <p:sp>
          <p:nvSpPr>
            <p:cNvPr id="15" name="Line 15"/>
            <p:cNvSpPr/>
            <p:nvPr/>
          </p:nvSpPr>
          <p:spPr>
            <a:xfrm>
              <a:off x="6019800" y="2800350"/>
              <a:ext cx="5562600" cy="9525"/>
            </a:xfrm>
            <a:custGeom>
              <a:avLst/>
              <a:gdLst/>
              <a:ahLst/>
              <a:cxnLst/>
              <a:rect l="l" t="t" r="r" b="b"/>
              <a:pathLst>
                <a:path w="5562600" h="9525">
                  <a:moveTo>
                    <a:pt x="0" y="0"/>
                  </a:moveTo>
                  <a:lnTo>
                    <a:pt x="5562600" y="0"/>
                  </a:lnTo>
                </a:path>
              </a:pathLst>
            </a:custGeom>
            <a:noFill/>
            <a:ln w="9525">
              <a:solidFill>
                <a:srgbClr val="CDC8BE"/>
              </a:solidFill>
            </a:ln>
          </p:spPr>
        </p:sp>
        <p:sp>
          <p:nvSpPr>
            <p:cNvPr id="16" name="TextBox 16"/>
            <p:cNvSpPr txBox="1"/>
            <p:nvPr/>
          </p:nvSpPr>
          <p:spPr>
            <a:xfrm>
              <a:off x="6006846" y="2921000"/>
              <a:ext cx="214713"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2</a:t>
              </a:r>
            </a:p>
          </p:txBody>
        </p:sp>
        <p:sp>
          <p:nvSpPr>
            <p:cNvPr id="17" name="TextBox 17"/>
            <p:cNvSpPr txBox="1"/>
            <p:nvPr/>
          </p:nvSpPr>
          <p:spPr>
            <a:xfrm>
              <a:off x="6540246" y="2921000"/>
              <a:ext cx="517512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怎样进入审议或者有关机关的办理</a:t>
              </a:r>
            </a:p>
          </p:txBody>
        </p:sp>
        <p:sp>
          <p:nvSpPr>
            <p:cNvPr id="18" name="Line 18"/>
            <p:cNvSpPr/>
            <p:nvPr/>
          </p:nvSpPr>
          <p:spPr>
            <a:xfrm>
              <a:off x="6019800" y="3714750"/>
              <a:ext cx="5562600" cy="9525"/>
            </a:xfrm>
            <a:custGeom>
              <a:avLst/>
              <a:gdLst/>
              <a:ahLst/>
              <a:cxnLst/>
              <a:rect l="l" t="t" r="r" b="b"/>
              <a:pathLst>
                <a:path w="5562600" h="9525">
                  <a:moveTo>
                    <a:pt x="0" y="0"/>
                  </a:moveTo>
                  <a:lnTo>
                    <a:pt x="5562600" y="0"/>
                  </a:lnTo>
                </a:path>
              </a:pathLst>
            </a:custGeom>
            <a:noFill/>
            <a:ln w="9525">
              <a:solidFill>
                <a:srgbClr val="CDC8BE"/>
              </a:solidFill>
            </a:ln>
          </p:spPr>
        </p:sp>
        <p:sp>
          <p:nvSpPr>
            <p:cNvPr id="19" name="TextBox 19"/>
            <p:cNvSpPr txBox="1"/>
            <p:nvPr/>
          </p:nvSpPr>
          <p:spPr>
            <a:xfrm>
              <a:off x="6006846" y="3835400"/>
              <a:ext cx="214713"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3</a:t>
              </a:r>
            </a:p>
          </p:txBody>
        </p:sp>
        <p:sp>
          <p:nvSpPr>
            <p:cNvPr id="20" name="TextBox 20"/>
            <p:cNvSpPr txBox="1"/>
            <p:nvPr/>
          </p:nvSpPr>
          <p:spPr>
            <a:xfrm>
              <a:off x="6540246" y="3835400"/>
              <a:ext cx="483184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依据什么作决定，结果怎样说明</a:t>
              </a:r>
            </a:p>
          </p:txBody>
        </p:sp>
      </p:grpSp>
      <p:grpSp>
        <p:nvGrpSpPr>
          <p:cNvPr id="24" name="not-all-done"/>
          <p:cNvGrpSpPr/>
          <p:nvPr/>
        </p:nvGrpSpPr>
        <p:grpSpPr>
          <a:xfrm>
            <a:off x="598932" y="4914900"/>
            <a:ext cx="10983468" cy="480568"/>
            <a:chOff x="598932" y="4914900"/>
            <a:chExt cx="10983468" cy="480568"/>
          </a:xfrm>
        </p:grpSpPr>
        <p:sp>
          <p:nvSpPr>
            <p:cNvPr id="22" name="Line 22"/>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3" name="TextBox 23"/>
            <p:cNvSpPr txBox="1"/>
            <p:nvPr/>
          </p:nvSpPr>
          <p:spPr>
            <a:xfrm>
              <a:off x="598932" y="4984750"/>
              <a:ext cx="397916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提了建议不等于后续工作已完成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18 / 38</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民主与集中的真实困难</a:t>
              </a:r>
            </a:p>
          </p:txBody>
        </p:sp>
      </p:grpSp>
      <p:grpSp>
        <p:nvGrpSpPr>
          <p:cNvPr id="14" name="difficulty-a"/>
          <p:cNvGrpSpPr/>
          <p:nvPr/>
        </p:nvGrpSpPr>
        <p:grpSpPr>
          <a:xfrm>
            <a:off x="596646" y="2114550"/>
            <a:ext cx="5194554" cy="2271268"/>
            <a:chOff x="596646" y="2114550"/>
            <a:chExt cx="5194554" cy="2271268"/>
          </a:xfrm>
        </p:grpSpPr>
        <p:sp>
          <p:nvSpPr>
            <p:cNvPr id="7" name="Line 7"/>
            <p:cNvSpPr/>
            <p:nvPr/>
          </p:nvSpPr>
          <p:spPr>
            <a:xfrm>
              <a:off x="609600" y="2114550"/>
              <a:ext cx="5181600" cy="9525"/>
            </a:xfrm>
            <a:custGeom>
              <a:avLst/>
              <a:gdLst/>
              <a:ahLst/>
              <a:cxnLst/>
              <a:rect l="l" t="t" r="r" b="b"/>
              <a:pathLst>
                <a:path w="5181600" h="9525">
                  <a:moveTo>
                    <a:pt x="0" y="0"/>
                  </a:moveTo>
                  <a:lnTo>
                    <a:pt x="5181600" y="0"/>
                  </a:lnTo>
                </a:path>
              </a:pathLst>
            </a:custGeom>
            <a:noFill/>
            <a:ln w="9525">
              <a:solidFill>
                <a:srgbClr val="CDC8BE"/>
              </a:solidFill>
            </a:ln>
          </p:spPr>
        </p:sp>
        <p:grpSp>
          <p:nvGrpSpPr>
            <p:cNvPr id="13" name="difficulty-a-body"/>
            <p:cNvGrpSpPr/>
            <p:nvPr/>
          </p:nvGrpSpPr>
          <p:grpSpPr>
            <a:xfrm>
              <a:off x="596646" y="2178050"/>
              <a:ext cx="4488561" cy="2207768"/>
              <a:chOff x="596646" y="2178050"/>
              <a:chExt cx="4488561" cy="2207768"/>
            </a:xfrm>
          </p:grpSpPr>
          <p:sp>
            <p:nvSpPr>
              <p:cNvPr id="8" name="TextBox 8"/>
              <p:cNvSpPr txBox="1"/>
              <p:nvPr/>
            </p:nvSpPr>
            <p:spPr>
              <a:xfrm>
                <a:off x="596646" y="2178050"/>
                <a:ext cx="448856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事项多、地域广、专业问题多</a:t>
                </a:r>
              </a:p>
            </p:txBody>
          </p:sp>
          <p:sp>
            <p:nvSpPr>
              <p:cNvPr id="9" name="TextBox 9"/>
              <p:cNvSpPr txBox="1"/>
              <p:nvPr/>
            </p:nvSpPr>
            <p:spPr>
              <a:xfrm>
                <a:off x="598932" y="2717800"/>
                <a:ext cx="31310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每件事都人人从头办理，</a:t>
                </a:r>
              </a:p>
            </p:txBody>
          </p:sp>
          <p:sp>
            <p:nvSpPr>
              <p:cNvPr id="10" name="TextBox 10"/>
              <p:cNvSpPr txBox="1"/>
              <p:nvPr/>
            </p:nvSpPr>
            <p:spPr>
              <a:xfrm>
                <a:off x="598932" y="3117850"/>
                <a:ext cx="36964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受时间、知识和组织条件限制</a:t>
                </a:r>
              </a:p>
            </p:txBody>
          </p:sp>
          <p:sp>
            <p:nvSpPr>
              <p:cNvPr id="11" name="TextBox 11"/>
              <p:cNvSpPr txBox="1"/>
              <p:nvPr/>
            </p:nvSpPr>
            <p:spPr>
              <a:xfrm>
                <a:off x="598932" y="3575050"/>
                <a:ext cx="397916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建立代表机关和专业履职机关，</a:t>
                </a:r>
              </a:p>
            </p:txBody>
          </p:sp>
          <p:sp>
            <p:nvSpPr>
              <p:cNvPr id="12" name="TextBox 12"/>
              <p:cNvSpPr txBox="1"/>
              <p:nvPr/>
            </p:nvSpPr>
            <p:spPr>
              <a:xfrm>
                <a:off x="598932" y="3975100"/>
                <a:ext cx="256565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使国家事务有人负责</a:t>
                </a:r>
              </a:p>
            </p:txBody>
          </p:sp>
        </p:grpSp>
      </p:grpSp>
      <p:grpSp>
        <p:nvGrpSpPr>
          <p:cNvPr id="22" name="difficulty-b"/>
          <p:cNvGrpSpPr/>
          <p:nvPr/>
        </p:nvGrpSpPr>
        <p:grpSpPr>
          <a:xfrm>
            <a:off x="6387846" y="2114550"/>
            <a:ext cx="5194554" cy="2271268"/>
            <a:chOff x="6387846" y="2114550"/>
            <a:chExt cx="5194554" cy="2271268"/>
          </a:xfrm>
        </p:grpSpPr>
        <p:sp>
          <p:nvSpPr>
            <p:cNvPr id="15" name="Line 15"/>
            <p:cNvSpPr/>
            <p:nvPr/>
          </p:nvSpPr>
          <p:spPr>
            <a:xfrm>
              <a:off x="6400800" y="2114550"/>
              <a:ext cx="5181600" cy="9525"/>
            </a:xfrm>
            <a:custGeom>
              <a:avLst/>
              <a:gdLst/>
              <a:ahLst/>
              <a:cxnLst/>
              <a:rect l="l" t="t" r="r" b="b"/>
              <a:pathLst>
                <a:path w="5181600" h="9525">
                  <a:moveTo>
                    <a:pt x="0" y="0"/>
                  </a:moveTo>
                  <a:lnTo>
                    <a:pt x="5181600" y="0"/>
                  </a:lnTo>
                </a:path>
              </a:pathLst>
            </a:custGeom>
            <a:noFill/>
            <a:ln w="9525">
              <a:solidFill>
                <a:srgbClr val="CDC8BE"/>
              </a:solidFill>
            </a:ln>
          </p:spPr>
        </p:sp>
        <p:grpSp>
          <p:nvGrpSpPr>
            <p:cNvPr id="21" name="difficulty-b-body"/>
            <p:cNvGrpSpPr/>
            <p:nvPr/>
          </p:nvGrpSpPr>
          <p:grpSpPr>
            <a:xfrm>
              <a:off x="6387846" y="2178050"/>
              <a:ext cx="4546854" cy="2207768"/>
              <a:chOff x="6387846" y="2178050"/>
              <a:chExt cx="4546854" cy="2207768"/>
            </a:xfrm>
          </p:grpSpPr>
          <p:sp>
            <p:nvSpPr>
              <p:cNvPr id="16" name="TextBox 16"/>
              <p:cNvSpPr txBox="1"/>
              <p:nvPr/>
            </p:nvSpPr>
            <p:spPr>
              <a:xfrm>
                <a:off x="6387846" y="21780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能力集中以后</a:t>
                </a:r>
              </a:p>
            </p:txBody>
          </p:sp>
          <p:sp>
            <p:nvSpPr>
              <p:cNvPr id="17" name="TextBox 17"/>
              <p:cNvSpPr txBox="1"/>
              <p:nvPr/>
            </p:nvSpPr>
            <p:spPr>
              <a:xfrm>
                <a:off x="6390132" y="2717800"/>
                <a:ext cx="284835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掌握信息和权限的人，</a:t>
                </a:r>
              </a:p>
            </p:txBody>
          </p:sp>
          <p:sp>
            <p:nvSpPr>
              <p:cNvPr id="18" name="TextBox 18"/>
              <p:cNvSpPr txBox="1"/>
              <p:nvPr/>
            </p:nvSpPr>
            <p:spPr>
              <a:xfrm>
                <a:off x="6390132" y="3117850"/>
                <a:ext cx="31310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可能不了解某些人的困难</a:t>
                </a:r>
              </a:p>
            </p:txBody>
          </p:sp>
          <p:sp>
            <p:nvSpPr>
              <p:cNvPr id="19" name="TextBox 19"/>
              <p:cNvSpPr txBox="1"/>
              <p:nvPr/>
            </p:nvSpPr>
            <p:spPr>
              <a:xfrm>
                <a:off x="6390132" y="3575050"/>
                <a:ext cx="228295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形成决定的过程，</a:t>
                </a:r>
              </a:p>
            </p:txBody>
          </p:sp>
          <p:sp>
            <p:nvSpPr>
              <p:cNvPr id="20" name="TextBox 20"/>
              <p:cNvSpPr txBox="1"/>
              <p:nvPr/>
            </p:nvSpPr>
            <p:spPr>
              <a:xfrm>
                <a:off x="6390132" y="3975100"/>
                <a:ext cx="4544568"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可能没有充分听到受到影响者的意见</a:t>
                </a:r>
              </a:p>
            </p:txBody>
          </p:sp>
        </p:grpSp>
      </p:grpSp>
      <p:sp>
        <p:nvSpPr>
          <p:cNvPr id="23" name="Line 23"/>
          <p:cNvSpPr/>
          <p:nvPr/>
        </p:nvSpPr>
        <p:spPr>
          <a:xfrm>
            <a:off x="6096000" y="2228850"/>
            <a:ext cx="9525" cy="1962150"/>
          </a:xfrm>
          <a:custGeom>
            <a:avLst/>
            <a:gdLst/>
            <a:ahLst/>
            <a:cxnLst/>
            <a:rect l="l" t="t" r="r" b="b"/>
            <a:pathLst>
              <a:path w="9525" h="1962150">
                <a:moveTo>
                  <a:pt x="0" y="0"/>
                </a:moveTo>
                <a:lnTo>
                  <a:pt x="0" y="1962150"/>
                </a:lnTo>
              </a:path>
            </a:pathLst>
          </a:custGeom>
          <a:noFill/>
          <a:ln w="9525">
            <a:solidFill>
              <a:srgbClr val="CDC8BE"/>
            </a:solidFill>
          </a:ln>
        </p:spPr>
      </p:sp>
      <p:grpSp>
        <p:nvGrpSpPr>
          <p:cNvPr id="27" name="common-demand"/>
          <p:cNvGrpSpPr/>
          <p:nvPr/>
        </p:nvGrpSpPr>
        <p:grpSpPr>
          <a:xfrm>
            <a:off x="596646" y="4591050"/>
            <a:ext cx="10985754" cy="975868"/>
            <a:chOff x="596646" y="4591050"/>
            <a:chExt cx="10985754" cy="975868"/>
          </a:xfrm>
        </p:grpSpPr>
        <p:sp>
          <p:nvSpPr>
            <p:cNvPr id="24" name="Line 24"/>
            <p:cNvSpPr/>
            <p:nvPr/>
          </p:nvSpPr>
          <p:spPr>
            <a:xfrm>
              <a:off x="609600" y="45910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5" name="TextBox 25"/>
            <p:cNvSpPr txBox="1"/>
            <p:nvPr/>
          </p:nvSpPr>
          <p:spPr>
            <a:xfrm>
              <a:off x="596646" y="4654550"/>
              <a:ext cx="7269137"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不是在“各做各的”和只有少数人说话之间挑一个</a:t>
              </a:r>
            </a:p>
          </p:txBody>
        </p:sp>
        <p:sp>
          <p:nvSpPr>
            <p:cNvPr id="26" name="TextBox 26"/>
            <p:cNvSpPr txBox="1"/>
            <p:nvPr/>
          </p:nvSpPr>
          <p:spPr>
            <a:xfrm>
              <a:off x="598932" y="515620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意见能进入，决定依法形成，决定者负责并受监督</a:t>
              </a:r>
            </a:p>
          </p:txBody>
        </p:sp>
      </p:grpSp>
      <p:sp>
        <p:nvSpPr>
          <p:cNvPr id="28" name="TextBox 28"/>
          <p:cNvSpPr txBox="1"/>
          <p:nvPr/>
        </p:nvSpPr>
        <p:spPr>
          <a:xfrm>
            <a:off x="604266" y="6502400"/>
            <a:ext cx="382714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宪法第三条第一款；两句为课堂解释，不表示两难只能二选一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19 / 38</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审议、表决与依法实施</a:t>
              </a:r>
            </a:p>
          </p:txBody>
        </p:sp>
      </p:grpSp>
      <p:grpSp>
        <p:nvGrpSpPr>
          <p:cNvPr id="16" name="decision-sequence"/>
          <p:cNvGrpSpPr/>
          <p:nvPr/>
        </p:nvGrpSpPr>
        <p:grpSpPr>
          <a:xfrm>
            <a:off x="596646" y="2101850"/>
            <a:ext cx="10448925" cy="1426718"/>
            <a:chOff x="596646" y="2101850"/>
            <a:chExt cx="10448925" cy="1426718"/>
          </a:xfrm>
        </p:grpSpPr>
        <p:sp>
          <p:nvSpPr>
            <p:cNvPr id="7" name="TextBox 7"/>
            <p:cNvSpPr txBox="1"/>
            <p:nvPr/>
          </p:nvSpPr>
          <p:spPr>
            <a:xfrm>
              <a:off x="596646" y="2101850"/>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代表提出不同意见</a:t>
              </a:r>
            </a:p>
          </p:txBody>
        </p:sp>
        <p:sp>
          <p:nvSpPr>
            <p:cNvPr id="8" name="Line 8"/>
            <p:cNvSpPr/>
            <p:nvPr/>
          </p:nvSpPr>
          <p:spPr>
            <a:xfrm>
              <a:off x="3524250" y="2305050"/>
              <a:ext cx="438150" cy="1"/>
            </a:xfrm>
            <a:prstGeom prst="line">
              <a:avLst/>
            </a:prstGeom>
            <a:noFill/>
            <a:ln w="19050">
              <a:solidFill>
                <a:srgbClr val="CDC8BE"/>
              </a:solidFill>
              <a:tailEnd type="triangle" w="lg" len="lg"/>
            </a:ln>
          </p:spPr>
        </p:sp>
        <p:sp>
          <p:nvSpPr>
            <p:cNvPr id="9" name="TextBox 9"/>
            <p:cNvSpPr txBox="1"/>
            <p:nvPr/>
          </p:nvSpPr>
          <p:spPr>
            <a:xfrm>
              <a:off x="4082796" y="2101850"/>
              <a:ext cx="242887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依法定程序审议</a:t>
              </a:r>
            </a:p>
          </p:txBody>
        </p:sp>
        <p:sp>
          <p:nvSpPr>
            <p:cNvPr id="10" name="Line 10"/>
            <p:cNvSpPr/>
            <p:nvPr/>
          </p:nvSpPr>
          <p:spPr>
            <a:xfrm>
              <a:off x="6667500" y="2305050"/>
              <a:ext cx="438150" cy="1"/>
            </a:xfrm>
            <a:prstGeom prst="line">
              <a:avLst/>
            </a:prstGeom>
            <a:noFill/>
            <a:ln w="19050">
              <a:solidFill>
                <a:srgbClr val="CDC8BE"/>
              </a:solidFill>
              <a:tailEnd type="triangle" w="lg" len="lg"/>
            </a:ln>
          </p:spPr>
        </p:sp>
        <p:sp>
          <p:nvSpPr>
            <p:cNvPr id="11" name="TextBox 11"/>
            <p:cNvSpPr txBox="1"/>
            <p:nvPr/>
          </p:nvSpPr>
          <p:spPr>
            <a:xfrm>
              <a:off x="7226046" y="21018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表决</a:t>
              </a:r>
            </a:p>
          </p:txBody>
        </p:sp>
        <p:sp>
          <p:nvSpPr>
            <p:cNvPr id="12" name="Line 12"/>
            <p:cNvSpPr/>
            <p:nvPr/>
          </p:nvSpPr>
          <p:spPr>
            <a:xfrm>
              <a:off x="8058150" y="2305050"/>
              <a:ext cx="438150" cy="1"/>
            </a:xfrm>
            <a:prstGeom prst="line">
              <a:avLst/>
            </a:prstGeom>
            <a:noFill/>
            <a:ln w="19050">
              <a:solidFill>
                <a:srgbClr val="CDC8BE"/>
              </a:solidFill>
              <a:tailEnd type="triangle" w="lg" len="lg"/>
            </a:ln>
          </p:spPr>
        </p:sp>
        <p:sp>
          <p:nvSpPr>
            <p:cNvPr id="13" name="TextBox 13"/>
            <p:cNvSpPr txBox="1"/>
            <p:nvPr/>
          </p:nvSpPr>
          <p:spPr>
            <a:xfrm>
              <a:off x="8616696" y="2101850"/>
              <a:ext cx="2428875"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形成机关的决定</a:t>
              </a:r>
            </a:p>
          </p:txBody>
        </p:sp>
        <p:sp>
          <p:nvSpPr>
            <p:cNvPr id="14" name="TextBox 14"/>
            <p:cNvSpPr txBox="1"/>
            <p:nvPr/>
          </p:nvSpPr>
          <p:spPr>
            <a:xfrm>
              <a:off x="598932" y="2774950"/>
              <a:ext cx="624078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不是把每位代表的个人意见各盖一个同样有效的章</a:t>
              </a:r>
            </a:p>
          </p:txBody>
        </p:sp>
        <p:sp>
          <p:nvSpPr>
            <p:cNvPr id="15" name="TextBox 15"/>
            <p:cNvSpPr txBox="1"/>
            <p:nvPr/>
          </p:nvSpPr>
          <p:spPr>
            <a:xfrm>
              <a:off x="598932" y="3117850"/>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前面有审议，后面有相应机关依法实施</a:t>
              </a:r>
            </a:p>
          </p:txBody>
        </p:sp>
      </p:grpSp>
      <p:grpSp>
        <p:nvGrpSpPr>
          <p:cNvPr id="25" name="centralism-and-limit"/>
          <p:cNvGrpSpPr/>
          <p:nvPr/>
        </p:nvGrpSpPr>
        <p:grpSpPr>
          <a:xfrm>
            <a:off x="596646" y="3676650"/>
            <a:ext cx="10985754" cy="2195068"/>
            <a:chOff x="596646" y="3676650"/>
            <a:chExt cx="10985754" cy="2195068"/>
          </a:xfrm>
        </p:grpSpPr>
        <p:sp>
          <p:nvSpPr>
            <p:cNvPr id="17" name="Line 17"/>
            <p:cNvSpPr/>
            <p:nvPr/>
          </p:nvSpPr>
          <p:spPr>
            <a:xfrm>
              <a:off x="609600" y="36766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8" name="TextBox 18"/>
            <p:cNvSpPr txBox="1"/>
            <p:nvPr/>
          </p:nvSpPr>
          <p:spPr>
            <a:xfrm>
              <a:off x="596646" y="38163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集中</a:t>
              </a:r>
            </a:p>
          </p:txBody>
        </p:sp>
        <p:sp>
          <p:nvSpPr>
            <p:cNvPr id="19" name="TextBox 19"/>
            <p:cNvSpPr txBox="1"/>
            <p:nvPr/>
          </p:nvSpPr>
          <p:spPr>
            <a:xfrm>
              <a:off x="598932" y="4356100"/>
              <a:ext cx="36964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依法形成可以共同实施的决定</a:t>
              </a:r>
            </a:p>
          </p:txBody>
        </p:sp>
        <p:sp>
          <p:nvSpPr>
            <p:cNvPr id="20" name="TextBox 20"/>
            <p:cNvSpPr txBox="1"/>
            <p:nvPr/>
          </p:nvSpPr>
          <p:spPr>
            <a:xfrm>
              <a:off x="6083046" y="381635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民主</a:t>
              </a:r>
            </a:p>
          </p:txBody>
        </p:sp>
        <p:sp>
          <p:nvSpPr>
            <p:cNvPr id="21" name="TextBox 21"/>
            <p:cNvSpPr txBox="1"/>
            <p:nvPr/>
          </p:nvSpPr>
          <p:spPr>
            <a:xfrm>
              <a:off x="6085332" y="4356100"/>
              <a:ext cx="454456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参与、意见表达和监督进入国家活动</a:t>
              </a:r>
            </a:p>
          </p:txBody>
        </p:sp>
        <p:sp>
          <p:nvSpPr>
            <p:cNvPr id="22" name="Line 22"/>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3" name="TextBox 23"/>
            <p:cNvSpPr txBox="1"/>
            <p:nvPr/>
          </p:nvSpPr>
          <p:spPr>
            <a:xfrm>
              <a:off x="596646" y="5035550"/>
              <a:ext cx="757809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不能把集中理解为任何具体事项都由人大开会投票</a:t>
              </a:r>
            </a:p>
          </p:txBody>
        </p:sp>
        <p:sp>
          <p:nvSpPr>
            <p:cNvPr id="24" name="TextBox 24"/>
            <p:cNvSpPr txBox="1"/>
            <p:nvPr/>
          </p:nvSpPr>
          <p:spPr>
            <a:xfrm>
              <a:off x="598932" y="5461000"/>
              <a:ext cx="737158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政府、法院各有法定职责；根本原则与履职方式是两个层次</a:t>
              </a:r>
            </a:p>
          </p:txBody>
        </p:sp>
      </p:grpSp>
      <p:sp>
        <p:nvSpPr>
          <p:cNvPr id="26" name="TextBox 26"/>
          <p:cNvSpPr txBox="1"/>
          <p:nvPr/>
        </p:nvSpPr>
        <p:spPr>
          <a:xfrm>
            <a:off x="604266" y="6502400"/>
            <a:ext cx="340309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宪法第三条第一款；根本组织原则与具体履职方式分开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上节 20 / 38</a:t>
              </a:r>
            </a:p>
          </p:txBody>
        </p:sp>
      </p:grpSp>
      <p:grpSp>
        <p:nvGrpSpPr>
          <p:cNvPr id="6" name="page-title"/>
          <p:cNvGrpSpPr/>
          <p:nvPr/>
        </p:nvGrpSpPr>
        <p:grpSpPr>
          <a:xfrm>
            <a:off x="590550" y="904875"/>
            <a:ext cx="2918460" cy="790575"/>
            <a:chOff x="590550" y="904875"/>
            <a:chExt cx="2918460" cy="790575"/>
          </a:xfrm>
        </p:grpSpPr>
        <p:sp>
          <p:nvSpPr>
            <p:cNvPr id="5" name="TextBox 5"/>
            <p:cNvSpPr txBox="1"/>
            <p:nvPr/>
          </p:nvSpPr>
          <p:spPr>
            <a:xfrm>
              <a:off x="590550" y="904875"/>
              <a:ext cx="291846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国体与政体</a:t>
              </a:r>
            </a:p>
          </p:txBody>
        </p:sp>
      </p:grpSp>
      <p:grpSp>
        <p:nvGrpSpPr>
          <p:cNvPr id="17" name="guoti-ti"/>
          <p:cNvGrpSpPr/>
          <p:nvPr/>
        </p:nvGrpSpPr>
        <p:grpSpPr>
          <a:xfrm>
            <a:off x="595122" y="2114550"/>
            <a:ext cx="10987278" cy="1433068"/>
            <a:chOff x="595122" y="2114550"/>
            <a:chExt cx="10987278" cy="1433068"/>
          </a:xfrm>
        </p:grpSpPr>
        <p:grpSp>
          <p:nvGrpSpPr>
            <p:cNvPr id="11" name="guoti-side"/>
            <p:cNvGrpSpPr/>
            <p:nvPr/>
          </p:nvGrpSpPr>
          <p:grpSpPr>
            <a:xfrm>
              <a:off x="595122" y="2114550"/>
              <a:ext cx="5196078" cy="1433068"/>
              <a:chOff x="595122" y="2114550"/>
              <a:chExt cx="5196078" cy="1433068"/>
            </a:xfrm>
          </p:grpSpPr>
          <p:sp>
            <p:nvSpPr>
              <p:cNvPr id="7" name="Line 7"/>
              <p:cNvSpPr/>
              <p:nvPr/>
            </p:nvSpPr>
            <p:spPr>
              <a:xfrm>
                <a:off x="609600" y="21145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8" name="TextBox 8"/>
              <p:cNvSpPr txBox="1"/>
              <p:nvPr/>
            </p:nvSpPr>
            <p:spPr>
              <a:xfrm>
                <a:off x="595122" y="2152650"/>
                <a:ext cx="796290"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国体</a:t>
                </a:r>
              </a:p>
            </p:txBody>
          </p:sp>
          <p:sp>
            <p:nvSpPr>
              <p:cNvPr id="9" name="TextBox 9"/>
              <p:cNvSpPr txBox="1"/>
              <p:nvPr/>
            </p:nvSpPr>
            <p:spPr>
              <a:xfrm>
                <a:off x="598932" y="2736850"/>
                <a:ext cx="143484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国家性质；</a:t>
                </a:r>
              </a:p>
            </p:txBody>
          </p:sp>
          <p:sp>
            <p:nvSpPr>
              <p:cNvPr id="10" name="TextBox 10"/>
              <p:cNvSpPr txBox="1"/>
              <p:nvPr/>
            </p:nvSpPr>
            <p:spPr>
              <a:xfrm>
                <a:off x="598932" y="3136900"/>
                <a:ext cx="36964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各阶级、阶层在国家中的地位</a:t>
                </a:r>
              </a:p>
            </p:txBody>
          </p:sp>
        </p:grpSp>
        <p:grpSp>
          <p:nvGrpSpPr>
            <p:cNvPr id="15" name="ti-side"/>
            <p:cNvGrpSpPr/>
            <p:nvPr/>
          </p:nvGrpSpPr>
          <p:grpSpPr>
            <a:xfrm>
              <a:off x="6386322" y="2114550"/>
              <a:ext cx="5196078" cy="1033018"/>
              <a:chOff x="6386322" y="2114550"/>
              <a:chExt cx="5196078" cy="1033018"/>
            </a:xfrm>
          </p:grpSpPr>
          <p:sp>
            <p:nvSpPr>
              <p:cNvPr id="12" name="Line 12"/>
              <p:cNvSpPr/>
              <p:nvPr/>
            </p:nvSpPr>
            <p:spPr>
              <a:xfrm>
                <a:off x="6400800" y="211455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3" name="TextBox 13"/>
              <p:cNvSpPr txBox="1"/>
              <p:nvPr/>
            </p:nvSpPr>
            <p:spPr>
              <a:xfrm>
                <a:off x="6386322" y="2152650"/>
                <a:ext cx="796290"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政体</a:t>
                </a:r>
              </a:p>
            </p:txBody>
          </p:sp>
          <p:sp>
            <p:nvSpPr>
              <p:cNvPr id="14" name="TextBox 14"/>
              <p:cNvSpPr txBox="1"/>
              <p:nvPr/>
            </p:nvSpPr>
            <p:spPr>
              <a:xfrm>
                <a:off x="6390132" y="2736850"/>
                <a:ext cx="341376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国家权力的组织和活动形式</a:t>
                </a:r>
              </a:p>
            </p:txBody>
          </p:sp>
        </p:grpSp>
        <p:sp>
          <p:nvSpPr>
            <p:cNvPr id="16" name="Line 16"/>
            <p:cNvSpPr/>
            <p:nvPr/>
          </p:nvSpPr>
          <p:spPr>
            <a:xfrm>
              <a:off x="6096000" y="2228850"/>
              <a:ext cx="9525" cy="1314450"/>
            </a:xfrm>
            <a:custGeom>
              <a:avLst/>
              <a:gdLst/>
              <a:ahLst/>
              <a:cxnLst/>
              <a:rect l="l" t="t" r="r" b="b"/>
              <a:pathLst>
                <a:path w="9525" h="1314450">
                  <a:moveTo>
                    <a:pt x="0" y="0"/>
                  </a:moveTo>
                  <a:lnTo>
                    <a:pt x="0" y="1314450"/>
                  </a:lnTo>
                </a:path>
              </a:pathLst>
            </a:custGeom>
            <a:noFill/>
            <a:ln w="9525">
              <a:solidFill>
                <a:srgbClr val="CDC8BE"/>
              </a:solidFill>
            </a:ln>
          </p:spPr>
        </p:sp>
      </p:grpSp>
      <p:grpSp>
        <p:nvGrpSpPr>
          <p:cNvPr id="20" name="decide-not-only"/>
          <p:cNvGrpSpPr/>
          <p:nvPr/>
        </p:nvGrpSpPr>
        <p:grpSpPr>
          <a:xfrm>
            <a:off x="596646" y="3987800"/>
            <a:ext cx="8951214" cy="912368"/>
            <a:chOff x="596646" y="3987800"/>
            <a:chExt cx="8951214" cy="912368"/>
          </a:xfrm>
        </p:grpSpPr>
        <p:sp>
          <p:nvSpPr>
            <p:cNvPr id="18" name="TextBox 18"/>
            <p:cNvSpPr txBox="1"/>
            <p:nvPr/>
          </p:nvSpPr>
          <p:spPr>
            <a:xfrm>
              <a:off x="596646" y="3987800"/>
              <a:ext cx="895121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国体决定政体；国家性质不是决定具体组织形式的唯一因素</a:t>
              </a:r>
            </a:p>
          </p:txBody>
        </p:sp>
        <p:sp>
          <p:nvSpPr>
            <p:cNvPr id="19" name="TextBox 19"/>
            <p:cNvSpPr txBox="1"/>
            <p:nvPr/>
          </p:nvSpPr>
          <p:spPr>
            <a:xfrm>
              <a:off x="598932" y="4489450"/>
              <a:ext cx="42618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历史条件也在起作用，不是查字典</a:t>
              </a:r>
            </a:p>
          </p:txBody>
        </p:sp>
      </p:grpSp>
      <p:grpSp>
        <p:nvGrpSpPr>
          <p:cNvPr id="24" name="next-question"/>
          <p:cNvGrpSpPr/>
          <p:nvPr/>
        </p:nvGrpSpPr>
        <p:grpSpPr>
          <a:xfrm>
            <a:off x="598932" y="5105400"/>
            <a:ext cx="10983468" cy="918718"/>
            <a:chOff x="598932" y="5105400"/>
            <a:chExt cx="10983468" cy="918718"/>
          </a:xfrm>
        </p:grpSpPr>
        <p:sp>
          <p:nvSpPr>
            <p:cNvPr id="21" name="Line 21"/>
            <p:cNvSpPr/>
            <p:nvPr/>
          </p:nvSpPr>
          <p:spPr>
            <a:xfrm>
              <a:off x="609600" y="51054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2" name="TextBox 22"/>
            <p:cNvSpPr txBox="1"/>
            <p:nvPr/>
          </p:nvSpPr>
          <p:spPr>
            <a:xfrm>
              <a:off x="598932" y="5213350"/>
              <a:ext cx="397916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下一问：为什么有中央与地方，</a:t>
              </a:r>
            </a:p>
          </p:txBody>
        </p:sp>
        <p:sp>
          <p:nvSpPr>
            <p:cNvPr id="23" name="TextBox 23"/>
            <p:cNvSpPr txBox="1"/>
            <p:nvPr/>
          </p:nvSpPr>
          <p:spPr>
            <a:xfrm>
              <a:off x="598932" y="5613400"/>
              <a:ext cx="680618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为什么有一般行政区域、民族自治地方和特别行政区？</a:t>
              </a:r>
            </a:p>
          </p:txBody>
        </p:sp>
      </p:grpSp>
      <p:sp>
        <p:nvSpPr>
          <p:cNvPr id="25" name="TextBox 25"/>
          <p:cNvSpPr txBox="1"/>
          <p:nvPr/>
        </p:nvSpPr>
        <p:spPr>
          <a:xfrm>
            <a:off x="604266" y="6502400"/>
            <a:ext cx="71742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教材归纳。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21 / 38</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从机关关系转向地域关系</a:t>
              </a:r>
            </a:p>
          </p:txBody>
        </p:sp>
      </p:grpSp>
      <p:grpSp>
        <p:nvGrpSpPr>
          <p:cNvPr id="11" name="address-half"/>
          <p:cNvGrpSpPr/>
          <p:nvPr/>
        </p:nvGrpSpPr>
        <p:grpSpPr>
          <a:xfrm>
            <a:off x="596646" y="1854200"/>
            <a:ext cx="5499354" cy="1260475"/>
            <a:chOff x="596646" y="1854200"/>
            <a:chExt cx="5499354" cy="1260475"/>
          </a:xfrm>
        </p:grpSpPr>
        <p:sp>
          <p:nvSpPr>
            <p:cNvPr id="7" name="TextBox 7"/>
            <p:cNvSpPr txBox="1"/>
            <p:nvPr/>
          </p:nvSpPr>
          <p:spPr>
            <a:xfrm>
              <a:off x="596646" y="1854200"/>
              <a:ext cx="483184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一个人的地址：省、市、县、乡</a:t>
              </a:r>
            </a:p>
          </p:txBody>
        </p:sp>
        <p:sp>
          <p:nvSpPr>
            <p:cNvPr id="8" name="TextBox 8"/>
            <p:cNvSpPr txBox="1"/>
            <p:nvPr/>
          </p:nvSpPr>
          <p:spPr>
            <a:xfrm>
              <a:off x="598932" y="2298700"/>
              <a:ext cx="31310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地址帮助我们找到地方，</a:t>
              </a:r>
            </a:p>
          </p:txBody>
        </p:sp>
        <p:sp>
          <p:nvSpPr>
            <p:cNvPr id="9" name="TextBox 9"/>
            <p:cNvSpPr txBox="1"/>
            <p:nvPr/>
          </p:nvSpPr>
          <p:spPr>
            <a:xfrm>
              <a:off x="598932" y="2603500"/>
              <a:ext cx="539267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却没有自动回答哪一件事由哪一级机关决定</a:t>
              </a:r>
            </a:p>
          </p:txBody>
        </p:sp>
        <p:sp>
          <p:nvSpPr>
            <p:cNvPr id="10" name="Line 10"/>
            <p:cNvSpPr/>
            <p:nvPr/>
          </p:nvSpPr>
          <p:spPr>
            <a:xfrm>
              <a:off x="609600" y="3105150"/>
              <a:ext cx="5486400" cy="9525"/>
            </a:xfrm>
            <a:custGeom>
              <a:avLst/>
              <a:gdLst/>
              <a:ahLst/>
              <a:cxnLst/>
              <a:rect l="l" t="t" r="r" b="b"/>
              <a:pathLst>
                <a:path w="5486400" h="9525">
                  <a:moveTo>
                    <a:pt x="0" y="0"/>
                  </a:moveTo>
                  <a:lnTo>
                    <a:pt x="5486400" y="0"/>
                  </a:lnTo>
                </a:path>
              </a:pathLst>
            </a:custGeom>
            <a:noFill/>
            <a:ln w="9525">
              <a:solidFill>
                <a:srgbClr val="CDC8BE"/>
              </a:solidFill>
            </a:ln>
          </p:spPr>
        </p:sp>
      </p:grpSp>
      <p:grpSp>
        <p:nvGrpSpPr>
          <p:cNvPr id="14" name="map-conclusion"/>
          <p:cNvGrpSpPr/>
          <p:nvPr/>
        </p:nvGrpSpPr>
        <p:grpSpPr>
          <a:xfrm>
            <a:off x="598932" y="3155950"/>
            <a:ext cx="5109972" cy="715518"/>
            <a:chOff x="598932" y="3155950"/>
            <a:chExt cx="5109972" cy="715518"/>
          </a:xfrm>
        </p:grpSpPr>
        <p:sp>
          <p:nvSpPr>
            <p:cNvPr id="12" name="TextBox 12"/>
            <p:cNvSpPr txBox="1"/>
            <p:nvPr/>
          </p:nvSpPr>
          <p:spPr>
            <a:xfrm>
              <a:off x="598932" y="3155950"/>
              <a:ext cx="510997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地图上画出的线与机关之间的权限关系，</a:t>
              </a:r>
            </a:p>
          </p:txBody>
        </p:sp>
        <p:sp>
          <p:nvSpPr>
            <p:cNvPr id="13" name="TextBox 13"/>
            <p:cNvSpPr txBox="1"/>
            <p:nvPr/>
          </p:nvSpPr>
          <p:spPr>
            <a:xfrm>
              <a:off x="598932" y="3460750"/>
              <a:ext cx="1717548"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需要接起来看</a:t>
              </a:r>
            </a:p>
          </p:txBody>
        </p:sp>
      </p:grpSp>
      <p:grpSp>
        <p:nvGrpSpPr>
          <p:cNvPr id="20" name="state-structure"/>
          <p:cNvGrpSpPr/>
          <p:nvPr/>
        </p:nvGrpSpPr>
        <p:grpSpPr>
          <a:xfrm>
            <a:off x="595122" y="3829050"/>
            <a:ext cx="5113782" cy="1718818"/>
            <a:chOff x="595122" y="3829050"/>
            <a:chExt cx="5113782" cy="1718818"/>
          </a:xfrm>
        </p:grpSpPr>
        <p:sp>
          <p:nvSpPr>
            <p:cNvPr id="15" name="TextBox 15"/>
            <p:cNvSpPr txBox="1"/>
            <p:nvPr/>
          </p:nvSpPr>
          <p:spPr>
            <a:xfrm>
              <a:off x="595122" y="3829050"/>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国家结构形式</a:t>
              </a:r>
            </a:p>
          </p:txBody>
        </p:sp>
        <p:sp>
          <p:nvSpPr>
            <p:cNvPr id="16" name="TextBox 16"/>
            <p:cNvSpPr txBox="1"/>
            <p:nvPr/>
          </p:nvSpPr>
          <p:spPr>
            <a:xfrm>
              <a:off x="598932" y="4222750"/>
              <a:ext cx="256565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国家内部的地域组成</a:t>
              </a:r>
            </a:p>
          </p:txBody>
        </p:sp>
        <p:sp>
          <p:nvSpPr>
            <p:cNvPr id="17" name="TextBox 17"/>
            <p:cNvSpPr txBox="1"/>
            <p:nvPr/>
          </p:nvSpPr>
          <p:spPr>
            <a:xfrm>
              <a:off x="598932" y="4527550"/>
              <a:ext cx="510997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国家整体与组成部分、中央与地方的关系</a:t>
              </a:r>
            </a:p>
          </p:txBody>
        </p:sp>
        <p:sp>
          <p:nvSpPr>
            <p:cNvPr id="18" name="TextBox 18"/>
            <p:cNvSpPr txBox="1"/>
            <p:nvPr/>
          </p:nvSpPr>
          <p:spPr>
            <a:xfrm>
              <a:off x="598932" y="4832350"/>
              <a:ext cx="454456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行政区划属于其中地域划分的一面，</a:t>
              </a:r>
            </a:p>
          </p:txBody>
        </p:sp>
        <p:sp>
          <p:nvSpPr>
            <p:cNvPr id="19" name="TextBox 19"/>
            <p:cNvSpPr txBox="1"/>
            <p:nvPr/>
          </p:nvSpPr>
          <p:spPr>
            <a:xfrm>
              <a:off x="598932" y="5137150"/>
              <a:ext cx="341376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不能单独代替国家结构形式</a:t>
              </a:r>
            </a:p>
          </p:txBody>
        </p:sp>
      </p:grpSp>
      <p:grpSp>
        <p:nvGrpSpPr>
          <p:cNvPr id="23" name="place-identity"/>
          <p:cNvGrpSpPr/>
          <p:nvPr/>
        </p:nvGrpSpPr>
        <p:grpSpPr>
          <a:xfrm>
            <a:off x="598932" y="5480050"/>
            <a:ext cx="4544568" cy="715518"/>
            <a:chOff x="598932" y="5480050"/>
            <a:chExt cx="4544568" cy="715518"/>
          </a:xfrm>
        </p:grpSpPr>
        <p:sp>
          <p:nvSpPr>
            <p:cNvPr id="21" name="TextBox 21"/>
            <p:cNvSpPr txBox="1"/>
            <p:nvPr/>
          </p:nvSpPr>
          <p:spPr>
            <a:xfrm>
              <a:off x="598932" y="5480050"/>
              <a:ext cx="36964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画出一个地方在哪一级之后，</a:t>
              </a:r>
            </a:p>
          </p:txBody>
        </p:sp>
        <p:sp>
          <p:nvSpPr>
            <p:cNvPr id="22" name="TextBox 22"/>
            <p:cNvSpPr txBox="1"/>
            <p:nvPr/>
          </p:nvSpPr>
          <p:spPr>
            <a:xfrm>
              <a:off x="598932" y="5784850"/>
              <a:ext cx="454456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仍要问它在国家中具有什么法律地位</a:t>
              </a:r>
            </a:p>
          </p:txBody>
        </p:sp>
      </p:grpSp>
      <p:grpSp>
        <p:nvGrpSpPr>
          <p:cNvPr id="26" name="china-map"/>
          <p:cNvGrpSpPr/>
          <p:nvPr/>
        </p:nvGrpSpPr>
        <p:grpSpPr>
          <a:xfrm>
            <a:off x="6357366" y="1943100"/>
            <a:ext cx="5225034" cy="4269359"/>
            <a:chOff x="6357366" y="1943100"/>
            <a:chExt cx="5225034" cy="4269359"/>
          </a:xfrm>
        </p:grpSpPr>
        <p:pic>
          <p:nvPicPr>
            <p:cNvPr id="24" name="Image 24"/>
            <p:cNvPicPr>
              <a:picLocks noChangeAspect="1"/>
            </p:cNvPicPr>
            <p:nvPr/>
          </p:nvPicPr>
          <p:blipFill>
            <a:blip r:embed="rId2"/>
            <a:stretch>
              <a:fillRect/>
            </a:stretch>
          </p:blipFill>
          <p:spPr>
            <a:xfrm>
              <a:off x="6362700" y="1943100"/>
              <a:ext cx="5219700" cy="3924300"/>
            </a:xfrm>
            <a:prstGeom prst="rect">
              <a:avLst/>
            </a:prstGeom>
          </p:spPr>
        </p:pic>
        <p:sp>
          <p:nvSpPr>
            <p:cNvPr id="25" name="TextBox 25"/>
            <p:cNvSpPr txBox="1"/>
            <p:nvPr/>
          </p:nvSpPr>
          <p:spPr>
            <a:xfrm>
              <a:off x="6357366" y="6007100"/>
              <a:ext cx="354070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中国地图　自然资源部监制　审图号：GS(2016)1600号</a:t>
              </a:r>
            </a:p>
          </p:txBody>
        </p:sp>
      </p:grpSp>
      <p:sp>
        <p:nvSpPr>
          <p:cNvPr id="27" name="TextBox 27"/>
          <p:cNvSpPr txBox="1"/>
          <p:nvPr/>
        </p:nvSpPr>
        <p:spPr>
          <a:xfrm>
            <a:off x="604266" y="6502400"/>
            <a:ext cx="580605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教材对国家结构形式的归纳；行政区划只是其中一面；地图取自自然资源部标准地图服务系统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22 / 38</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宪法第三条末款</a:t>
              </a:r>
            </a:p>
          </p:txBody>
        </p:sp>
      </p:grpSp>
      <p:grpSp>
        <p:nvGrpSpPr>
          <p:cNvPr id="10" name="article-three-last"/>
          <p:cNvGrpSpPr/>
          <p:nvPr/>
        </p:nvGrpSpPr>
        <p:grpSpPr>
          <a:xfrm>
            <a:off x="596646" y="1974850"/>
            <a:ext cx="9637776" cy="1740154"/>
            <a:chOff x="596646" y="1974850"/>
            <a:chExt cx="9637776" cy="1740154"/>
          </a:xfrm>
        </p:grpSpPr>
        <p:sp>
          <p:nvSpPr>
            <p:cNvPr id="7" name="TextBox 7"/>
            <p:cNvSpPr txBox="1"/>
            <p:nvPr/>
          </p:nvSpPr>
          <p:spPr>
            <a:xfrm>
              <a:off x="598932" y="1974850"/>
              <a:ext cx="2085061"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宪法第三条 末款</a:t>
              </a:r>
            </a:p>
          </p:txBody>
        </p:sp>
        <p:sp>
          <p:nvSpPr>
            <p:cNvPr id="8" name="TextBox 8"/>
            <p:cNvSpPr txBox="1"/>
            <p:nvPr/>
          </p:nvSpPr>
          <p:spPr>
            <a:xfrm>
              <a:off x="596646" y="2730500"/>
              <a:ext cx="9637776"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中央和地方的国家机构职权的划分，遵循在中央的统一领导下，</a:t>
              </a:r>
            </a:p>
          </p:txBody>
        </p:sp>
        <p:sp>
          <p:nvSpPr>
            <p:cNvPr id="9" name="TextBox 9"/>
            <p:cNvSpPr txBox="1"/>
            <p:nvPr/>
          </p:nvSpPr>
          <p:spPr>
            <a:xfrm>
              <a:off x="596646" y="3216275"/>
              <a:ext cx="6204966"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充分发挥地方的主动性、积极性的原则。</a:t>
              </a:r>
            </a:p>
          </p:txBody>
        </p:sp>
      </p:grpSp>
      <p:grpSp>
        <p:nvGrpSpPr>
          <p:cNvPr id="18" name="two-demands"/>
          <p:cNvGrpSpPr/>
          <p:nvPr/>
        </p:nvGrpSpPr>
        <p:grpSpPr>
          <a:xfrm>
            <a:off x="595122" y="3905250"/>
            <a:ext cx="10987278" cy="1947418"/>
            <a:chOff x="595122" y="3905250"/>
            <a:chExt cx="10987278" cy="1947418"/>
          </a:xfrm>
        </p:grpSpPr>
        <p:sp>
          <p:nvSpPr>
            <p:cNvPr id="11" name="Line 11"/>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2" name="TextBox 12"/>
            <p:cNvSpPr txBox="1"/>
            <p:nvPr/>
          </p:nvSpPr>
          <p:spPr>
            <a:xfrm>
              <a:off x="595122" y="4038600"/>
              <a:ext cx="2330958"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中央统一领导</a:t>
              </a:r>
            </a:p>
          </p:txBody>
        </p:sp>
        <p:sp>
          <p:nvSpPr>
            <p:cNvPr id="13" name="TextBox 13"/>
            <p:cNvSpPr txBox="1"/>
            <p:nvPr/>
          </p:nvSpPr>
          <p:spPr>
            <a:xfrm>
              <a:off x="4652772" y="4038600"/>
              <a:ext cx="5400294"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充分发挥地方的主动性、积极性</a:t>
              </a:r>
            </a:p>
          </p:txBody>
        </p:sp>
        <p:sp>
          <p:nvSpPr>
            <p:cNvPr id="14" name="TextBox 14"/>
            <p:cNvSpPr txBox="1"/>
            <p:nvPr/>
          </p:nvSpPr>
          <p:spPr>
            <a:xfrm>
              <a:off x="598932" y="4584700"/>
              <a:ext cx="397916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地方活动处在国家整体安排之中</a:t>
              </a:r>
            </a:p>
          </p:txBody>
        </p:sp>
        <p:sp>
          <p:nvSpPr>
            <p:cNvPr id="15" name="TextBox 15"/>
            <p:cNvSpPr txBox="1"/>
            <p:nvPr/>
          </p:nvSpPr>
          <p:spPr>
            <a:xfrm>
              <a:off x="4656582" y="4584700"/>
              <a:ext cx="510997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地方依法承担事务，按实际情况做好工作</a:t>
              </a:r>
            </a:p>
          </p:txBody>
        </p:sp>
        <p:sp>
          <p:nvSpPr>
            <p:cNvPr id="16" name="TextBox 16"/>
            <p:cNvSpPr txBox="1"/>
            <p:nvPr/>
          </p:nvSpPr>
          <p:spPr>
            <a:xfrm>
              <a:off x="598932" y="5060950"/>
              <a:ext cx="793699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只说地方自己办，就可能忽略跨区域事务和整个国家的共同需要</a:t>
              </a:r>
            </a:p>
          </p:txBody>
        </p:sp>
        <p:sp>
          <p:nvSpPr>
            <p:cNvPr id="17" name="TextBox 17"/>
            <p:cNvSpPr txBox="1"/>
            <p:nvPr/>
          </p:nvSpPr>
          <p:spPr>
            <a:xfrm>
              <a:off x="598932" y="5441950"/>
              <a:ext cx="821969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只说中央统一办，又可能忽略地方掌握的具体情况及实际承担能力</a:t>
              </a:r>
            </a:p>
          </p:txBody>
        </p:sp>
      </p:grpSp>
      <p:sp>
        <p:nvSpPr>
          <p:cNvPr id="19" name="TextBox 19"/>
          <p:cNvSpPr txBox="1"/>
          <p:nvPr/>
        </p:nvSpPr>
        <p:spPr>
          <a:xfrm>
            <a:off x="604266" y="6502400"/>
            <a:ext cx="3007309"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宪法：2018年修正文本，第三条第四款（全文）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23 / 38</a:t>
              </a:r>
            </a:p>
          </p:txBody>
        </p:sp>
      </p:grpSp>
      <p:grpSp>
        <p:nvGrpSpPr>
          <p:cNvPr id="6" name="page-title"/>
          <p:cNvGrpSpPr/>
          <p:nvPr/>
        </p:nvGrpSpPr>
        <p:grpSpPr>
          <a:xfrm>
            <a:off x="590550" y="930275"/>
            <a:ext cx="4761890" cy="790575"/>
            <a:chOff x="590550" y="930275"/>
            <a:chExt cx="4761890" cy="790575"/>
          </a:xfrm>
        </p:grpSpPr>
        <p:sp>
          <p:nvSpPr>
            <p:cNvPr id="5" name="TextBox 5"/>
            <p:cNvSpPr txBox="1"/>
            <p:nvPr/>
          </p:nvSpPr>
          <p:spPr>
            <a:xfrm>
              <a:off x="590550" y="930275"/>
              <a:ext cx="476189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1956年的实际困难</a:t>
              </a:r>
            </a:p>
          </p:txBody>
        </p:sp>
      </p:grpSp>
      <p:grpSp>
        <p:nvGrpSpPr>
          <p:cNvPr id="15" name="department-orders"/>
          <p:cNvGrpSpPr/>
          <p:nvPr/>
        </p:nvGrpSpPr>
        <p:grpSpPr>
          <a:xfrm>
            <a:off x="596646" y="2063750"/>
            <a:ext cx="10588752" cy="950468"/>
            <a:chOff x="596646" y="2063750"/>
            <a:chExt cx="10588752" cy="950468"/>
          </a:xfrm>
        </p:grpSpPr>
        <p:sp>
          <p:nvSpPr>
            <p:cNvPr id="7" name="TextBox 7"/>
            <p:cNvSpPr txBox="1"/>
            <p:nvPr/>
          </p:nvSpPr>
          <p:spPr>
            <a:xfrm>
              <a:off x="596646" y="2063750"/>
              <a:ext cx="174231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中央各部门</a:t>
              </a:r>
            </a:p>
          </p:txBody>
        </p:sp>
        <p:sp>
          <p:nvSpPr>
            <p:cNvPr id="8" name="TextBox 8"/>
            <p:cNvSpPr txBox="1"/>
            <p:nvPr/>
          </p:nvSpPr>
          <p:spPr>
            <a:xfrm>
              <a:off x="598932" y="2603500"/>
              <a:ext cx="171754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分别提出要求</a:t>
              </a:r>
            </a:p>
          </p:txBody>
        </p:sp>
        <p:sp>
          <p:nvSpPr>
            <p:cNvPr id="9" name="Line 9"/>
            <p:cNvSpPr/>
            <p:nvPr/>
          </p:nvSpPr>
          <p:spPr>
            <a:xfrm>
              <a:off x="2857500" y="2552700"/>
              <a:ext cx="438150" cy="1"/>
            </a:xfrm>
            <a:prstGeom prst="line">
              <a:avLst/>
            </a:prstGeom>
            <a:noFill/>
            <a:ln w="19050">
              <a:solidFill>
                <a:srgbClr val="CDC8BE"/>
              </a:solidFill>
              <a:tailEnd type="triangle" w="lg" len="lg"/>
            </a:ln>
          </p:spPr>
        </p:sp>
        <p:sp>
          <p:nvSpPr>
            <p:cNvPr id="10" name="TextBox 10"/>
            <p:cNvSpPr txBox="1"/>
            <p:nvPr/>
          </p:nvSpPr>
          <p:spPr>
            <a:xfrm>
              <a:off x="3416046" y="2063750"/>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通过省、市的厅局</a:t>
              </a:r>
            </a:p>
          </p:txBody>
        </p:sp>
        <p:sp>
          <p:nvSpPr>
            <p:cNvPr id="11" name="TextBox 11"/>
            <p:cNvSpPr txBox="1"/>
            <p:nvPr/>
          </p:nvSpPr>
          <p:spPr>
            <a:xfrm>
              <a:off x="3418332" y="2603500"/>
              <a:ext cx="200025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向地方发出指令</a:t>
              </a:r>
            </a:p>
          </p:txBody>
        </p:sp>
        <p:sp>
          <p:nvSpPr>
            <p:cNvPr id="12" name="Line 12"/>
            <p:cNvSpPr/>
            <p:nvPr/>
          </p:nvSpPr>
          <p:spPr>
            <a:xfrm>
              <a:off x="6362700" y="2552700"/>
              <a:ext cx="438150" cy="1"/>
            </a:xfrm>
            <a:prstGeom prst="line">
              <a:avLst/>
            </a:prstGeom>
            <a:noFill/>
            <a:ln w="19050">
              <a:solidFill>
                <a:srgbClr val="CDC8BE"/>
              </a:solidFill>
              <a:tailEnd type="triangle" w="lg" len="lg"/>
            </a:ln>
          </p:spPr>
        </p:sp>
        <p:sp>
          <p:nvSpPr>
            <p:cNvPr id="13" name="TextBox 13"/>
            <p:cNvSpPr txBox="1"/>
            <p:nvPr/>
          </p:nvSpPr>
          <p:spPr>
            <a:xfrm>
              <a:off x="6921246" y="2063750"/>
              <a:ext cx="712470"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地方</a:t>
              </a:r>
            </a:p>
          </p:txBody>
        </p:sp>
        <p:sp>
          <p:nvSpPr>
            <p:cNvPr id="14" name="TextBox 14"/>
            <p:cNvSpPr txBox="1"/>
            <p:nvPr/>
          </p:nvSpPr>
          <p:spPr>
            <a:xfrm>
              <a:off x="6923532" y="2603500"/>
              <a:ext cx="42618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要求填写很多报表，办事遇到困难</a:t>
              </a:r>
            </a:p>
          </p:txBody>
        </p:sp>
      </p:grpSp>
      <p:grpSp>
        <p:nvGrpSpPr>
          <p:cNvPr id="19" name="why-hard"/>
          <p:cNvGrpSpPr/>
          <p:nvPr/>
        </p:nvGrpSpPr>
        <p:grpSpPr>
          <a:xfrm>
            <a:off x="596646" y="3162300"/>
            <a:ext cx="10985754" cy="1128268"/>
            <a:chOff x="596646" y="3162300"/>
            <a:chExt cx="10985754" cy="1128268"/>
          </a:xfrm>
        </p:grpSpPr>
        <p:sp>
          <p:nvSpPr>
            <p:cNvPr id="16" name="Line 16"/>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7" name="TextBox 17"/>
            <p:cNvSpPr txBox="1"/>
            <p:nvPr/>
          </p:nvSpPr>
          <p:spPr>
            <a:xfrm>
              <a:off x="596646" y="3302000"/>
              <a:ext cx="1032433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各条线分别看起来有理由，不表示汇集到同一个地方时已经协调好了</a:t>
              </a:r>
            </a:p>
          </p:txBody>
        </p:sp>
        <p:sp>
          <p:nvSpPr>
            <p:cNvPr id="18" name="TextBox 18"/>
            <p:cNvSpPr txBox="1"/>
            <p:nvPr/>
          </p:nvSpPr>
          <p:spPr>
            <a:xfrm>
              <a:off x="598932" y="3879850"/>
              <a:ext cx="850239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地方却要把许多要求放在同一个时间、同一组人员和具体条件中落实</a:t>
              </a:r>
            </a:p>
          </p:txBody>
        </p:sp>
      </p:grpSp>
      <p:grpSp>
        <p:nvGrpSpPr>
          <p:cNvPr id="24" name="talk-proposals"/>
          <p:cNvGrpSpPr/>
          <p:nvPr/>
        </p:nvGrpSpPr>
        <p:grpSpPr>
          <a:xfrm>
            <a:off x="598932" y="4438650"/>
            <a:ext cx="10983468" cy="1164780"/>
            <a:chOff x="598932" y="4438650"/>
            <a:chExt cx="10983468" cy="1164780"/>
          </a:xfrm>
        </p:grpSpPr>
        <p:sp>
          <p:nvSpPr>
            <p:cNvPr id="20" name="Line 20"/>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1" name="TextBox 21"/>
            <p:cNvSpPr txBox="1"/>
            <p:nvPr/>
          </p:nvSpPr>
          <p:spPr>
            <a:xfrm>
              <a:off x="598932" y="4622800"/>
              <a:ext cx="652348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涉及地方的事项先同地方协商，并区分事务由谁来办</a:t>
              </a:r>
            </a:p>
          </p:txBody>
        </p:sp>
        <p:sp>
          <p:nvSpPr>
            <p:cNvPr id="22" name="TextBox 22"/>
            <p:cNvSpPr txBox="1"/>
            <p:nvPr/>
          </p:nvSpPr>
          <p:spPr>
            <a:xfrm>
              <a:off x="602742" y="5073650"/>
              <a:ext cx="604738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1956年毛泽东《论十大关系》关于中央和地方关系的讲话（后来公开文本）</a:t>
              </a:r>
            </a:p>
          </p:txBody>
        </p:sp>
        <p:sp>
          <p:nvSpPr>
            <p:cNvPr id="23" name="TextBox 23"/>
            <p:cNvSpPr txBox="1"/>
            <p:nvPr/>
          </p:nvSpPr>
          <p:spPr>
            <a:xfrm>
              <a:off x="602742" y="5339397"/>
              <a:ext cx="582930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历史问题与所提主张；今天具体职权怎样配置，仍按现行宪法和法律确认</a:t>
              </a:r>
            </a:p>
          </p:txBody>
        </p:sp>
      </p:grpSp>
      <p:sp>
        <p:nvSpPr>
          <p:cNvPr id="25" name="TextBox 25"/>
          <p:cNvSpPr txBox="1"/>
          <p:nvPr/>
        </p:nvSpPr>
        <p:spPr>
          <a:xfrm>
            <a:off x="604266" y="6502400"/>
            <a:ext cx="410984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《论十大关系》讲话后来公开文本；不作现行授权或入宪单因证据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4-header"/>
          <p:cNvGrpSpPr/>
          <p:nvPr/>
        </p:nvGrpSpPr>
        <p:grpSpPr>
          <a:xfrm>
            <a:off x="602742" y="368300"/>
            <a:ext cx="11060830" cy="264033"/>
            <a:chOff x="602742" y="368300"/>
            <a:chExt cx="11060830" cy="264033"/>
          </a:xfrm>
        </p:grpSpPr>
        <p:sp>
          <p:nvSpPr>
            <p:cNvPr id="2" name="TextBox 2"/>
            <p:cNvSpPr txBox="1"/>
            <p:nvPr/>
          </p:nvSpPr>
          <p:spPr>
            <a:xfrm>
              <a:off x="602742" y="36830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623042" y="368300"/>
              <a:ext cx="104053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下节 24 / 38</a:t>
              </a:r>
            </a:p>
          </p:txBody>
        </p:sp>
      </p:grpSp>
      <p:grpSp>
        <p:nvGrpSpPr>
          <p:cNvPr id="6" name="p24-title"/>
          <p:cNvGrpSpPr/>
          <p:nvPr/>
        </p:nvGrpSpPr>
        <p:grpSpPr>
          <a:xfrm>
            <a:off x="590550" y="762000"/>
            <a:ext cx="8679180" cy="790575"/>
            <a:chOff x="590550" y="762000"/>
            <a:chExt cx="8679180" cy="790575"/>
          </a:xfrm>
        </p:grpSpPr>
        <p:sp>
          <p:nvSpPr>
            <p:cNvPr id="5" name="TextBox 5"/>
            <p:cNvSpPr txBox="1"/>
            <p:nvPr/>
          </p:nvSpPr>
          <p:spPr>
            <a:xfrm>
              <a:off x="590550" y="762000"/>
              <a:ext cx="8679180" cy="790575"/>
            </a:xfrm>
            <a:prstGeom prst="rect">
              <a:avLst/>
            </a:prstGeom>
            <a:noFill/>
            <a:ln>
              <a:noFill/>
            </a:ln>
          </p:spPr>
          <p:txBody>
            <a:bodyPr wrap="none" lIns="0" tIns="0" rIns="0" bIns="0" anchor="t" anchorCtr="0">
              <a:spAutoFit/>
            </a:bodyPr>
            <a:lstStyle/>
            <a:p>
              <a:pPr algn="l"/>
              <a:r>
                <a:rPr lang="zh-CN" sz="4050" dirty="0">
                  <a:solidFill>
                    <a:schemeClr val="accent1"/>
                  </a:solidFill>
                  <a:latin typeface="+mj-lt"/>
                  <a:ea typeface="+mj-ea"/>
                  <a:cs typeface="+mj-cs"/>
                </a:rPr>
                <a:t>同一条河，怎样兼顾统一与地方？</a:t>
              </a:r>
            </a:p>
          </p:txBody>
        </p:sp>
      </p:grpSp>
      <p:grpSp>
        <p:nvGrpSpPr>
          <p:cNvPr id="8" name="p24-constitutional-clause"/>
          <p:cNvGrpSpPr/>
          <p:nvPr/>
        </p:nvGrpSpPr>
        <p:grpSpPr>
          <a:xfrm>
            <a:off x="598932" y="1651000"/>
            <a:ext cx="7488936" cy="791718"/>
            <a:chOff x="598932" y="1651000"/>
            <a:chExt cx="7488936" cy="791718"/>
          </a:xfrm>
        </p:grpSpPr>
        <p:sp>
          <p:nvSpPr>
            <p:cNvPr id="7" name="TextBox 7"/>
            <p:cNvSpPr txBox="1"/>
            <p:nvPr/>
          </p:nvSpPr>
          <p:spPr>
            <a:xfrm>
              <a:off x="598932" y="1651000"/>
              <a:ext cx="7488936" cy="791718"/>
            </a:xfrm>
            <a:prstGeom prst="rect">
              <a:avLst/>
            </a:prstGeom>
            <a:noFill/>
            <a:ln>
              <a:noFill/>
            </a:ln>
          </p:spPr>
          <p:txBody>
            <a:bodyPr wrap="none" lIns="0" tIns="0" rIns="0" bIns="0" anchor="t" anchorCtr="0">
              <a:spAutoFit/>
            </a:bodyPr>
            <a:lstStyle/>
            <a:p>
              <a:pPr algn="l">
                <a:lnSpc>
                  <a:spcPts val="3000"/>
                </a:lnSpc>
              </a:pPr>
              <a:r>
                <a:rPr lang="zh-CN" sz="2100" dirty="0">
                  <a:solidFill>
                    <a:schemeClr val="dk1"/>
                  </a:solidFill>
                  <a:latin typeface="+mn-lt"/>
                  <a:ea typeface="+mn-ea"/>
                  <a:cs typeface="+mn-cs"/>
                </a:rPr>
                <a:t>中央和地方的国家机构职权的划分，遵循在</a:t>
              </a:r>
              <a:r>
                <a:rPr lang="zh-CN" sz="2100" dirty="0">
                  <a:solidFill>
                    <a:schemeClr val="accent2"/>
                  </a:solidFill>
                  <a:latin typeface="+mn-lt"/>
                  <a:ea typeface="+mn-ea"/>
                  <a:cs typeface="+mn-cs"/>
                </a:rPr>
                <a:t>中央的统一领导</a:t>
              </a:r>
              <a:r>
                <a:rPr lang="zh-CN" sz="2100" dirty="0">
                  <a:solidFill>
                    <a:schemeClr val="dk1"/>
                  </a:solidFill>
                  <a:latin typeface="+mn-lt"/>
                  <a:ea typeface="+mn-ea"/>
                  <a:cs typeface="+mn-cs"/>
                </a:rPr>
                <a:t>下，</a:t>
              </a:r>
              <a:br>
                <a:rPr lang="zh-CN" sz="2100" dirty="0">
                  <a:solidFill>
                    <a:schemeClr val="dk1"/>
                  </a:solidFill>
                  <a:latin typeface="+mn-lt"/>
                  <a:ea typeface="+mn-ea"/>
                  <a:cs typeface="+mn-cs"/>
                </a:rPr>
              </a:br>
              <a:r>
                <a:rPr lang="zh-CN" sz="2100" dirty="0">
                  <a:solidFill>
                    <a:schemeClr val="dk1"/>
                  </a:solidFill>
                  <a:latin typeface="+mn-lt"/>
                  <a:ea typeface="+mn-ea"/>
                  <a:cs typeface="+mn-cs"/>
                </a:rPr>
                <a:t>充分发挥</a:t>
              </a:r>
              <a:r>
                <a:rPr lang="zh-CN" sz="2100" dirty="0">
                  <a:solidFill>
                    <a:schemeClr val="accent2"/>
                  </a:solidFill>
                  <a:latin typeface="+mn-lt"/>
                  <a:ea typeface="+mn-ea"/>
                  <a:cs typeface="+mn-cs"/>
                </a:rPr>
                <a:t>地方的主动性、积极性</a:t>
              </a:r>
              <a:r>
                <a:rPr lang="zh-CN" sz="2100" dirty="0">
                  <a:solidFill>
                    <a:schemeClr val="dk1"/>
                  </a:solidFill>
                  <a:latin typeface="+mn-lt"/>
                  <a:ea typeface="+mn-ea"/>
                  <a:cs typeface="+mn-cs"/>
                </a:rPr>
                <a:t>的原则。</a:t>
              </a:r>
            </a:p>
          </p:txBody>
        </p:sp>
      </p:grpSp>
      <p:grpSp>
        <p:nvGrpSpPr>
          <p:cNvPr id="28" name="p24-river-explanation"/>
          <p:cNvGrpSpPr/>
          <p:nvPr/>
        </p:nvGrpSpPr>
        <p:grpSpPr>
          <a:xfrm>
            <a:off x="596646" y="2654300"/>
            <a:ext cx="10985754" cy="2979293"/>
            <a:chOff x="596646" y="2654300"/>
            <a:chExt cx="10985754" cy="2979293"/>
          </a:xfrm>
        </p:grpSpPr>
        <p:sp>
          <p:nvSpPr>
            <p:cNvPr id="9" name="TextBox 9"/>
            <p:cNvSpPr txBox="1"/>
            <p:nvPr/>
          </p:nvSpPr>
          <p:spPr>
            <a:xfrm>
              <a:off x="602742" y="2654300"/>
              <a:ext cx="458440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教学示意 · 非真实水系和行政区划，不按距离或流量比例</a:t>
              </a:r>
            </a:p>
          </p:txBody>
        </p:sp>
        <p:sp>
          <p:nvSpPr>
            <p:cNvPr id="10" name="TextBox 10"/>
            <p:cNvSpPr txBox="1"/>
            <p:nvPr/>
          </p:nvSpPr>
          <p:spPr>
            <a:xfrm>
              <a:off x="1052322" y="2927350"/>
              <a:ext cx="8397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j-lt"/>
                  <a:ea typeface="+mj-ea"/>
                  <a:cs typeface="+mj-cs"/>
                </a:rPr>
                <a:t>甲地</a:t>
              </a:r>
            </a:p>
          </p:txBody>
        </p:sp>
        <p:sp>
          <p:nvSpPr>
            <p:cNvPr id="11" name="TextBox 11"/>
            <p:cNvSpPr txBox="1"/>
            <p:nvPr/>
          </p:nvSpPr>
          <p:spPr>
            <a:xfrm>
              <a:off x="4748022" y="2927350"/>
              <a:ext cx="8397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j-lt"/>
                  <a:ea typeface="+mj-ea"/>
                  <a:cs typeface="+mj-cs"/>
                </a:rPr>
                <a:t>乙地</a:t>
              </a:r>
            </a:p>
          </p:txBody>
        </p:sp>
        <p:sp>
          <p:nvSpPr>
            <p:cNvPr id="12" name="TextBox 12"/>
            <p:cNvSpPr txBox="1"/>
            <p:nvPr/>
          </p:nvSpPr>
          <p:spPr>
            <a:xfrm>
              <a:off x="8462772" y="2927350"/>
              <a:ext cx="8397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j-lt"/>
                  <a:ea typeface="+mj-ea"/>
                  <a:cs typeface="+mj-cs"/>
                </a:rPr>
                <a:t>丙地</a:t>
              </a:r>
            </a:p>
          </p:txBody>
        </p:sp>
        <p:sp>
          <p:nvSpPr>
            <p:cNvPr id="13" name="Line 13"/>
            <p:cNvSpPr/>
            <p:nvPr/>
          </p:nvSpPr>
          <p:spPr>
            <a:xfrm>
              <a:off x="4229100" y="3009900"/>
              <a:ext cx="9525" cy="485775"/>
            </a:xfrm>
            <a:custGeom>
              <a:avLst/>
              <a:gdLst/>
              <a:ahLst/>
              <a:cxnLst/>
              <a:rect l="l" t="t" r="r" b="b"/>
              <a:pathLst>
                <a:path w="9525" h="485775">
                  <a:moveTo>
                    <a:pt x="0" y="0"/>
                  </a:moveTo>
                  <a:lnTo>
                    <a:pt x="0" y="485775"/>
                  </a:lnTo>
                </a:path>
              </a:pathLst>
            </a:custGeom>
            <a:noFill/>
            <a:ln w="14288">
              <a:solidFill>
                <a:srgbClr val="CDC8BE"/>
              </a:solidFill>
              <a:prstDash val="dash"/>
            </a:ln>
          </p:spPr>
        </p:sp>
        <p:sp>
          <p:nvSpPr>
            <p:cNvPr id="14" name="Line 14"/>
            <p:cNvSpPr/>
            <p:nvPr/>
          </p:nvSpPr>
          <p:spPr>
            <a:xfrm>
              <a:off x="7886700" y="3009900"/>
              <a:ext cx="9525" cy="485775"/>
            </a:xfrm>
            <a:custGeom>
              <a:avLst/>
              <a:gdLst/>
              <a:ahLst/>
              <a:cxnLst/>
              <a:rect l="l" t="t" r="r" b="b"/>
              <a:pathLst>
                <a:path w="9525" h="485775">
                  <a:moveTo>
                    <a:pt x="0" y="0"/>
                  </a:moveTo>
                  <a:lnTo>
                    <a:pt x="0" y="485775"/>
                  </a:lnTo>
                </a:path>
              </a:pathLst>
            </a:custGeom>
            <a:noFill/>
            <a:ln w="14288">
              <a:solidFill>
                <a:srgbClr val="CDC8BE"/>
              </a:solidFill>
              <a:prstDash val="dash"/>
            </a:ln>
          </p:spPr>
        </p:sp>
        <p:sp>
          <p:nvSpPr>
            <p:cNvPr id="15" name="Rectangle 15"/>
            <p:cNvSpPr/>
            <p:nvPr/>
          </p:nvSpPr>
          <p:spPr>
            <a:xfrm>
              <a:off x="609600" y="3514725"/>
              <a:ext cx="10972800" cy="666750"/>
            </a:xfrm>
            <a:prstGeom prst="rect">
              <a:avLst/>
            </a:prstGeom>
            <a:solidFill>
              <a:srgbClr val="677276">
                <a:alpha val="13000"/>
              </a:srgbClr>
            </a:solidFill>
            <a:ln>
              <a:noFill/>
            </a:ln>
          </p:spPr>
        </p:sp>
        <p:sp>
          <p:nvSpPr>
            <p:cNvPr id="16" name="TextBox 16"/>
            <p:cNvSpPr txBox="1"/>
            <p:nvPr/>
          </p:nvSpPr>
          <p:spPr>
            <a:xfrm>
              <a:off x="964692" y="3559175"/>
              <a:ext cx="37719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上游</a:t>
              </a:r>
            </a:p>
          </p:txBody>
        </p:sp>
        <p:sp>
          <p:nvSpPr>
            <p:cNvPr id="17" name="TextBox 17"/>
            <p:cNvSpPr txBox="1"/>
            <p:nvPr/>
          </p:nvSpPr>
          <p:spPr>
            <a:xfrm>
              <a:off x="10470642" y="3559175"/>
              <a:ext cx="37719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下游</a:t>
              </a:r>
            </a:p>
          </p:txBody>
        </p:sp>
        <p:sp>
          <p:nvSpPr>
            <p:cNvPr id="18" name="TextBox 18"/>
            <p:cNvSpPr txBox="1"/>
            <p:nvPr/>
          </p:nvSpPr>
          <p:spPr>
            <a:xfrm>
              <a:off x="4275582" y="3470275"/>
              <a:ext cx="28483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上游使用可能影响下游</a:t>
              </a:r>
            </a:p>
          </p:txBody>
        </p:sp>
        <p:sp>
          <p:nvSpPr>
            <p:cNvPr id="19" name="Line 19"/>
            <p:cNvSpPr/>
            <p:nvPr/>
          </p:nvSpPr>
          <p:spPr>
            <a:xfrm>
              <a:off x="990600" y="3943350"/>
              <a:ext cx="10191750" cy="1"/>
            </a:xfrm>
            <a:prstGeom prst="line">
              <a:avLst/>
            </a:prstGeom>
            <a:noFill/>
            <a:ln w="19050">
              <a:solidFill>
                <a:schemeClr val="accent1"/>
              </a:solidFill>
              <a:tailEnd type="triangle" w="lg" len="lg"/>
            </a:ln>
          </p:spPr>
        </p:sp>
        <p:sp>
          <p:nvSpPr>
            <p:cNvPr id="20" name="Line 20"/>
            <p:cNvSpPr/>
            <p:nvPr/>
          </p:nvSpPr>
          <p:spPr>
            <a:xfrm>
              <a:off x="4229100" y="4191000"/>
              <a:ext cx="9525" cy="247650"/>
            </a:xfrm>
            <a:custGeom>
              <a:avLst/>
              <a:gdLst/>
              <a:ahLst/>
              <a:cxnLst/>
              <a:rect l="l" t="t" r="r" b="b"/>
              <a:pathLst>
                <a:path w="9525" h="247650">
                  <a:moveTo>
                    <a:pt x="0" y="0"/>
                  </a:moveTo>
                  <a:lnTo>
                    <a:pt x="0" y="247650"/>
                  </a:lnTo>
                </a:path>
              </a:pathLst>
            </a:custGeom>
            <a:noFill/>
            <a:ln w="14288">
              <a:solidFill>
                <a:srgbClr val="CDC8BE"/>
              </a:solidFill>
              <a:prstDash val="dash"/>
            </a:ln>
          </p:spPr>
        </p:sp>
        <p:sp>
          <p:nvSpPr>
            <p:cNvPr id="21" name="Line 21"/>
            <p:cNvSpPr/>
            <p:nvPr/>
          </p:nvSpPr>
          <p:spPr>
            <a:xfrm>
              <a:off x="7886700" y="4191000"/>
              <a:ext cx="9525" cy="247650"/>
            </a:xfrm>
            <a:custGeom>
              <a:avLst/>
              <a:gdLst/>
              <a:ahLst/>
              <a:cxnLst/>
              <a:rect l="l" t="t" r="r" b="b"/>
              <a:pathLst>
                <a:path w="9525" h="247650">
                  <a:moveTo>
                    <a:pt x="0" y="0"/>
                  </a:moveTo>
                  <a:lnTo>
                    <a:pt x="0" y="247650"/>
                  </a:lnTo>
                </a:path>
              </a:pathLst>
            </a:custGeom>
            <a:noFill/>
            <a:ln w="14288">
              <a:solidFill>
                <a:srgbClr val="CDC8BE"/>
              </a:solidFill>
              <a:prstDash val="dash"/>
            </a:ln>
          </p:spPr>
        </p:sp>
        <p:sp>
          <p:nvSpPr>
            <p:cNvPr id="22" name="Line 22"/>
            <p:cNvSpPr/>
            <p:nvPr/>
          </p:nvSpPr>
          <p:spPr>
            <a:xfrm>
              <a:off x="2952750" y="4419600"/>
              <a:ext cx="3143250" cy="333375"/>
            </a:xfrm>
            <a:custGeom>
              <a:avLst/>
              <a:gdLst/>
              <a:ahLst/>
              <a:cxnLst/>
              <a:rect l="l" t="t" r="r" b="b"/>
              <a:pathLst>
                <a:path w="3143250" h="333375">
                  <a:moveTo>
                    <a:pt x="3143250" y="0"/>
                  </a:moveTo>
                  <a:lnTo>
                    <a:pt x="0" y="333375"/>
                  </a:lnTo>
                </a:path>
              </a:pathLst>
            </a:custGeom>
            <a:noFill/>
            <a:ln w="14288">
              <a:solidFill>
                <a:srgbClr val="677276"/>
              </a:solidFill>
            </a:ln>
          </p:spPr>
        </p:sp>
        <p:sp>
          <p:nvSpPr>
            <p:cNvPr id="23" name="Line 23"/>
            <p:cNvSpPr/>
            <p:nvPr/>
          </p:nvSpPr>
          <p:spPr>
            <a:xfrm>
              <a:off x="6096000" y="4419600"/>
              <a:ext cx="3143250" cy="333375"/>
            </a:xfrm>
            <a:custGeom>
              <a:avLst/>
              <a:gdLst/>
              <a:ahLst/>
              <a:cxnLst/>
              <a:rect l="l" t="t" r="r" b="b"/>
              <a:pathLst>
                <a:path w="3143250" h="333375">
                  <a:moveTo>
                    <a:pt x="0" y="0"/>
                  </a:moveTo>
                  <a:lnTo>
                    <a:pt x="3143250" y="333375"/>
                  </a:lnTo>
                </a:path>
              </a:pathLst>
            </a:custGeom>
            <a:noFill/>
            <a:ln w="14288">
              <a:solidFill>
                <a:srgbClr val="677276"/>
              </a:solidFill>
            </a:ln>
          </p:spPr>
        </p:sp>
        <p:sp>
          <p:nvSpPr>
            <p:cNvPr id="24" name="TextBox 24"/>
            <p:cNvSpPr txBox="1"/>
            <p:nvPr/>
          </p:nvSpPr>
          <p:spPr>
            <a:xfrm>
              <a:off x="596646" y="4778375"/>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跨地域：整体协调</a:t>
              </a:r>
            </a:p>
          </p:txBody>
        </p:sp>
        <p:sp>
          <p:nvSpPr>
            <p:cNvPr id="25" name="TextBox 25"/>
            <p:cNvSpPr txBox="1"/>
            <p:nvPr/>
          </p:nvSpPr>
          <p:spPr>
            <a:xfrm>
              <a:off x="6654546" y="4778375"/>
              <a:ext cx="27721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本地：信息与落实</a:t>
              </a:r>
            </a:p>
          </p:txBody>
        </p:sp>
        <p:sp>
          <p:nvSpPr>
            <p:cNvPr id="26" name="TextBox 26"/>
            <p:cNvSpPr txBox="1"/>
            <p:nvPr/>
          </p:nvSpPr>
          <p:spPr>
            <a:xfrm>
              <a:off x="598932" y="5222875"/>
              <a:ext cx="341376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共同标准、影响与职责衔接</a:t>
              </a:r>
            </a:p>
          </p:txBody>
        </p:sp>
        <p:sp>
          <p:nvSpPr>
            <p:cNvPr id="27" name="TextBox 27"/>
            <p:cNvSpPr txBox="1"/>
            <p:nvPr/>
          </p:nvSpPr>
          <p:spPr>
            <a:xfrm>
              <a:off x="6656832" y="5222875"/>
              <a:ext cx="341376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河道、居民分布、使用状况</a:t>
              </a:r>
            </a:p>
          </p:txBody>
        </p:sp>
      </p:grpSp>
      <p:grpSp>
        <p:nvGrpSpPr>
          <p:cNvPr id="32" name="p24-decision-boundary"/>
          <p:cNvGrpSpPr/>
          <p:nvPr/>
        </p:nvGrpSpPr>
        <p:grpSpPr>
          <a:xfrm>
            <a:off x="598932" y="5695950"/>
            <a:ext cx="10983468" cy="689483"/>
            <a:chOff x="598932" y="5695950"/>
            <a:chExt cx="10983468" cy="689483"/>
          </a:xfrm>
        </p:grpSpPr>
        <p:sp>
          <p:nvSpPr>
            <p:cNvPr id="29" name="Line 29"/>
            <p:cNvSpPr/>
            <p:nvPr/>
          </p:nvSpPr>
          <p:spPr>
            <a:xfrm>
              <a:off x="609600" y="56959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30" name="TextBox 30"/>
            <p:cNvSpPr txBox="1"/>
            <p:nvPr/>
          </p:nvSpPr>
          <p:spPr>
            <a:xfrm>
              <a:off x="598932" y="5746750"/>
              <a:ext cx="567537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谁决定、谁执行，仍须相应法律与具体条件。</a:t>
              </a:r>
            </a:p>
          </p:txBody>
        </p:sp>
        <p:sp>
          <p:nvSpPr>
            <p:cNvPr id="31" name="TextBox 31"/>
            <p:cNvSpPr txBox="1"/>
            <p:nvPr/>
          </p:nvSpPr>
          <p:spPr>
            <a:xfrm>
              <a:off x="602742" y="6121400"/>
              <a:ext cx="564756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职权划分原则不列完每项权限，不能只凭层级高或离现场近直接推出。</a:t>
              </a:r>
            </a:p>
          </p:txBody>
        </p:sp>
      </p:grpSp>
      <p:sp>
        <p:nvSpPr>
          <p:cNvPr id="33" name="TextBox 33"/>
          <p:cNvSpPr txBox="1"/>
          <p:nvPr/>
        </p:nvSpPr>
        <p:spPr>
          <a:xfrm>
            <a:off x="604266" y="6483350"/>
            <a:ext cx="410984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宪法第三条末款原文；河流为课堂示意。具体权限须由法律明确。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25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单一制是学理概括</a:t>
              </a:r>
            </a:p>
          </p:txBody>
        </p:sp>
      </p:grpSp>
      <p:grpSp>
        <p:nvGrpSpPr>
          <p:cNvPr id="9" name="concept-status"/>
          <p:cNvGrpSpPr/>
          <p:nvPr/>
        </p:nvGrpSpPr>
        <p:grpSpPr>
          <a:xfrm>
            <a:off x="596646" y="2006600"/>
            <a:ext cx="6035307" cy="740283"/>
            <a:chOff x="596646" y="2006600"/>
            <a:chExt cx="6035307" cy="740283"/>
          </a:xfrm>
        </p:grpSpPr>
        <p:sp>
          <p:nvSpPr>
            <p:cNvPr id="7" name="TextBox 7"/>
            <p:cNvSpPr txBox="1"/>
            <p:nvPr/>
          </p:nvSpPr>
          <p:spPr>
            <a:xfrm>
              <a:off x="596646" y="2006600"/>
              <a:ext cx="586168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从相关条款，概括地域组成和权力关系</a:t>
              </a:r>
            </a:p>
          </p:txBody>
        </p:sp>
        <p:sp>
          <p:nvSpPr>
            <p:cNvPr id="8" name="TextBox 8"/>
            <p:cNvSpPr txBox="1"/>
            <p:nvPr/>
          </p:nvSpPr>
          <p:spPr>
            <a:xfrm>
              <a:off x="602742" y="2482850"/>
              <a:ext cx="602921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宪法相应条款没有直接写“我国实行单一制”；学理名称仍须接回具体规定。</a:t>
              </a:r>
            </a:p>
          </p:txBody>
        </p:sp>
      </p:grpSp>
      <p:grpSp>
        <p:nvGrpSpPr>
          <p:cNvPr id="18" name="unitary-regions"/>
          <p:cNvGrpSpPr/>
          <p:nvPr/>
        </p:nvGrpSpPr>
        <p:grpSpPr>
          <a:xfrm>
            <a:off x="596646" y="2952750"/>
            <a:ext cx="10985754" cy="3133979"/>
            <a:chOff x="596646" y="2952750"/>
            <a:chExt cx="10985754" cy="3133979"/>
          </a:xfrm>
        </p:grpSpPr>
        <p:sp>
          <p:nvSpPr>
            <p:cNvPr id="10" name="Rectangle 10"/>
            <p:cNvSpPr/>
            <p:nvPr/>
          </p:nvSpPr>
          <p:spPr>
            <a:xfrm>
              <a:off x="609600" y="2952750"/>
              <a:ext cx="10972800" cy="2381250"/>
            </a:xfrm>
            <a:prstGeom prst="rect">
              <a:avLst/>
            </a:prstGeom>
            <a:noFill/>
            <a:ln w="19050">
              <a:solidFill>
                <a:schemeClr val="accent1"/>
              </a:solidFill>
            </a:ln>
          </p:spPr>
        </p:sp>
        <p:sp>
          <p:nvSpPr>
            <p:cNvPr id="11" name="TextBox 11"/>
            <p:cNvSpPr txBox="1"/>
            <p:nvPr/>
          </p:nvSpPr>
          <p:spPr>
            <a:xfrm>
              <a:off x="823722" y="3028950"/>
              <a:ext cx="3481959"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一个统一的主权国家</a:t>
              </a:r>
            </a:p>
          </p:txBody>
        </p:sp>
        <p:sp>
          <p:nvSpPr>
            <p:cNvPr id="12" name="TextBox 12"/>
            <p:cNvSpPr txBox="1"/>
            <p:nvPr/>
          </p:nvSpPr>
          <p:spPr>
            <a:xfrm>
              <a:off x="827532" y="3536950"/>
              <a:ext cx="680618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地方的法律地位和职权，由国家宪法、法律规定和授予</a:t>
              </a:r>
            </a:p>
          </p:txBody>
        </p:sp>
        <p:sp>
          <p:nvSpPr>
            <p:cNvPr id="13" name="Rectangle 13"/>
            <p:cNvSpPr/>
            <p:nvPr/>
          </p:nvSpPr>
          <p:spPr>
            <a:xfrm>
              <a:off x="952500" y="4095750"/>
              <a:ext cx="4381500" cy="952500"/>
            </a:xfrm>
            <a:prstGeom prst="rect">
              <a:avLst/>
            </a:prstGeom>
            <a:solidFill>
              <a:schemeClr val="accent1"/>
            </a:solidFill>
            <a:ln>
              <a:noFill/>
            </a:ln>
          </p:spPr>
        </p:sp>
        <p:sp>
          <p:nvSpPr>
            <p:cNvPr id="14" name="TextBox 14"/>
            <p:cNvSpPr txBox="1"/>
            <p:nvPr/>
          </p:nvSpPr>
          <p:spPr>
            <a:xfrm>
              <a:off x="1168146" y="4349750"/>
              <a:ext cx="2085594"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普通行政区域</a:t>
              </a:r>
            </a:p>
          </p:txBody>
        </p:sp>
        <p:sp>
          <p:nvSpPr>
            <p:cNvPr id="15" name="Rectangle 15"/>
            <p:cNvSpPr/>
            <p:nvPr/>
          </p:nvSpPr>
          <p:spPr>
            <a:xfrm>
              <a:off x="6705600" y="4095750"/>
              <a:ext cx="4381500" cy="952500"/>
            </a:xfrm>
            <a:prstGeom prst="rect">
              <a:avLst/>
            </a:prstGeom>
            <a:solidFill>
              <a:schemeClr val="accent1"/>
            </a:solidFill>
            <a:ln>
              <a:noFill/>
            </a:ln>
          </p:spPr>
        </p:sp>
        <p:sp>
          <p:nvSpPr>
            <p:cNvPr id="16" name="TextBox 16"/>
            <p:cNvSpPr txBox="1"/>
            <p:nvPr/>
          </p:nvSpPr>
          <p:spPr>
            <a:xfrm>
              <a:off x="6921246" y="4349750"/>
              <a:ext cx="1399032"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自治区域</a:t>
              </a:r>
            </a:p>
          </p:txBody>
        </p:sp>
        <p:sp>
          <p:nvSpPr>
            <p:cNvPr id="17" name="TextBox 17"/>
            <p:cNvSpPr txBox="1"/>
            <p:nvPr/>
          </p:nvSpPr>
          <p:spPr>
            <a:xfrm>
              <a:off x="596646" y="5588000"/>
              <a:ext cx="4488561"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统一不等于地方制度完全相同</a:t>
              </a:r>
            </a:p>
          </p:txBody>
        </p:sp>
      </p:grpSp>
      <p:sp>
        <p:nvSpPr>
          <p:cNvPr id="19" name="TextBox 19"/>
          <p:cNvSpPr txBox="1"/>
          <p:nvPr/>
        </p:nvSpPr>
        <p:spPr>
          <a:xfrm>
            <a:off x="604266" y="6502400"/>
            <a:ext cx="693686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教材第四章第二节；宪法第三条末款、第四条、第三十条、第三十一条。地域框为教学示意，不表示面积比例。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26 / 38</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单一制与联邦制，看什么</a:t>
              </a:r>
            </a:p>
          </p:txBody>
        </p:sp>
      </p:grpSp>
      <p:grpSp>
        <p:nvGrpSpPr>
          <p:cNvPr id="9" name="compare-headings"/>
          <p:cNvGrpSpPr/>
          <p:nvPr/>
        </p:nvGrpSpPr>
        <p:grpSpPr>
          <a:xfrm>
            <a:off x="595122" y="2000250"/>
            <a:ext cx="6971157" cy="557403"/>
            <a:chOff x="595122" y="2000250"/>
            <a:chExt cx="6971157" cy="557403"/>
          </a:xfrm>
        </p:grpSpPr>
        <p:sp>
          <p:nvSpPr>
            <p:cNvPr id="7" name="TextBox 7"/>
            <p:cNvSpPr txBox="1"/>
            <p:nvPr/>
          </p:nvSpPr>
          <p:spPr>
            <a:xfrm>
              <a:off x="595122" y="2000250"/>
              <a:ext cx="1179957"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单一制</a:t>
              </a:r>
            </a:p>
          </p:txBody>
        </p:sp>
        <p:sp>
          <p:nvSpPr>
            <p:cNvPr id="8" name="TextBox 8"/>
            <p:cNvSpPr txBox="1"/>
            <p:nvPr/>
          </p:nvSpPr>
          <p:spPr>
            <a:xfrm>
              <a:off x="6386322" y="2000250"/>
              <a:ext cx="1179957"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联邦制</a:t>
              </a:r>
            </a:p>
          </p:txBody>
        </p:sp>
      </p:grpSp>
      <p:grpSp>
        <p:nvGrpSpPr>
          <p:cNvPr id="25" name="positive-comparison"/>
          <p:cNvGrpSpPr/>
          <p:nvPr/>
        </p:nvGrpSpPr>
        <p:grpSpPr>
          <a:xfrm>
            <a:off x="596646" y="2743200"/>
            <a:ext cx="10985754" cy="3471418"/>
            <a:chOff x="596646" y="2743200"/>
            <a:chExt cx="10985754" cy="3471418"/>
          </a:xfrm>
        </p:grpSpPr>
        <p:sp>
          <p:nvSpPr>
            <p:cNvPr id="10" name="Rectangle 10"/>
            <p:cNvSpPr/>
            <p:nvPr/>
          </p:nvSpPr>
          <p:spPr>
            <a:xfrm>
              <a:off x="609600" y="2743200"/>
              <a:ext cx="5181600" cy="2362200"/>
            </a:xfrm>
            <a:prstGeom prst="rect">
              <a:avLst/>
            </a:prstGeom>
            <a:noFill/>
            <a:ln w="19050">
              <a:solidFill>
                <a:schemeClr val="accent1"/>
              </a:solidFill>
            </a:ln>
          </p:spPr>
        </p:sp>
        <p:sp>
          <p:nvSpPr>
            <p:cNvPr id="11" name="TextBox 11"/>
            <p:cNvSpPr txBox="1"/>
            <p:nvPr/>
          </p:nvSpPr>
          <p:spPr>
            <a:xfrm>
              <a:off x="827532" y="2908300"/>
              <a:ext cx="31310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统一国家内部的地方治理</a:t>
              </a:r>
            </a:p>
          </p:txBody>
        </p:sp>
        <p:sp>
          <p:nvSpPr>
            <p:cNvPr id="12" name="TextBox 12"/>
            <p:cNvSpPr txBox="1"/>
            <p:nvPr/>
          </p:nvSpPr>
          <p:spPr>
            <a:xfrm>
              <a:off x="825246" y="33210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中央统一领导</a:t>
              </a:r>
            </a:p>
          </p:txBody>
        </p:sp>
        <p:sp>
          <p:nvSpPr>
            <p:cNvPr id="13" name="Line 13"/>
            <p:cNvSpPr/>
            <p:nvPr/>
          </p:nvSpPr>
          <p:spPr>
            <a:xfrm>
              <a:off x="1657350" y="3848100"/>
              <a:ext cx="1" cy="400050"/>
            </a:xfrm>
            <a:prstGeom prst="line">
              <a:avLst/>
            </a:prstGeom>
            <a:noFill/>
            <a:ln w="19050">
              <a:solidFill>
                <a:schemeClr val="accent1"/>
              </a:solidFill>
              <a:tailEnd type="triangle" w="lg" len="lg"/>
            </a:ln>
          </p:spPr>
        </p:sp>
        <p:sp>
          <p:nvSpPr>
            <p:cNvPr id="14" name="TextBox 14"/>
            <p:cNvSpPr txBox="1"/>
            <p:nvPr/>
          </p:nvSpPr>
          <p:spPr>
            <a:xfrm>
              <a:off x="1951482" y="3879850"/>
              <a:ext cx="28483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宪法法律规定地方职权</a:t>
              </a:r>
            </a:p>
          </p:txBody>
        </p:sp>
        <p:sp>
          <p:nvSpPr>
            <p:cNvPr id="15" name="TextBox 15"/>
            <p:cNvSpPr txBox="1"/>
            <p:nvPr/>
          </p:nvSpPr>
          <p:spPr>
            <a:xfrm>
              <a:off x="825246" y="4387850"/>
              <a:ext cx="380199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普通行政区域或自治区域</a:t>
              </a:r>
            </a:p>
          </p:txBody>
        </p:sp>
        <p:sp>
          <p:nvSpPr>
            <p:cNvPr id="16" name="Rectangle 16"/>
            <p:cNvSpPr/>
            <p:nvPr/>
          </p:nvSpPr>
          <p:spPr>
            <a:xfrm>
              <a:off x="6400800" y="2743200"/>
              <a:ext cx="5181600" cy="2362200"/>
            </a:xfrm>
            <a:prstGeom prst="rect">
              <a:avLst/>
            </a:prstGeom>
            <a:noFill/>
            <a:ln w="19050">
              <a:solidFill>
                <a:schemeClr val="accent1"/>
              </a:solidFill>
            </a:ln>
          </p:spPr>
        </p:sp>
        <p:sp>
          <p:nvSpPr>
            <p:cNvPr id="17" name="TextBox 17"/>
            <p:cNvSpPr txBox="1"/>
            <p:nvPr/>
          </p:nvSpPr>
          <p:spPr>
            <a:xfrm>
              <a:off x="6618732" y="2908300"/>
              <a:ext cx="228295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一个联邦国家内部</a:t>
              </a:r>
            </a:p>
          </p:txBody>
        </p:sp>
        <p:sp>
          <p:nvSpPr>
            <p:cNvPr id="18" name="TextBox 18"/>
            <p:cNvSpPr txBox="1"/>
            <p:nvPr/>
          </p:nvSpPr>
          <p:spPr>
            <a:xfrm>
              <a:off x="6616446" y="339725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联邦层面</a:t>
              </a:r>
            </a:p>
          </p:txBody>
        </p:sp>
        <p:sp>
          <p:nvSpPr>
            <p:cNvPr id="19" name="TextBox 19"/>
            <p:cNvSpPr txBox="1"/>
            <p:nvPr/>
          </p:nvSpPr>
          <p:spPr>
            <a:xfrm>
              <a:off x="9226296" y="3397250"/>
              <a:ext cx="208559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成员政治实体</a:t>
              </a:r>
            </a:p>
          </p:txBody>
        </p:sp>
        <p:sp>
          <p:nvSpPr>
            <p:cNvPr id="20" name="Line 20"/>
            <p:cNvSpPr/>
            <p:nvPr/>
          </p:nvSpPr>
          <p:spPr>
            <a:xfrm>
              <a:off x="8096250" y="3600450"/>
              <a:ext cx="895350" cy="1"/>
            </a:xfrm>
            <a:prstGeom prst="line">
              <a:avLst/>
            </a:prstGeom>
            <a:noFill/>
            <a:ln w="19050">
              <a:solidFill>
                <a:schemeClr val="accent1"/>
              </a:solidFill>
              <a:headEnd type="triangle" w="lg" len="lg"/>
              <a:tailEnd type="triangle" w="lg" len="lg"/>
            </a:ln>
          </p:spPr>
        </p:sp>
        <p:sp>
          <p:nvSpPr>
            <p:cNvPr id="21" name="TextBox 21"/>
            <p:cNvSpPr txBox="1"/>
            <p:nvPr/>
          </p:nvSpPr>
          <p:spPr>
            <a:xfrm>
              <a:off x="6618732" y="3984625"/>
              <a:ext cx="1717548"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分享国家权力</a:t>
              </a:r>
            </a:p>
          </p:txBody>
        </p:sp>
        <p:sp>
          <p:nvSpPr>
            <p:cNvPr id="22" name="TextBox 22"/>
            <p:cNvSpPr txBox="1"/>
            <p:nvPr/>
          </p:nvSpPr>
          <p:spPr>
            <a:xfrm>
              <a:off x="6618732" y="4451350"/>
              <a:ext cx="397916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各在宪法确认的职权范围内办事</a:t>
              </a:r>
            </a:p>
          </p:txBody>
        </p:sp>
        <p:sp>
          <p:nvSpPr>
            <p:cNvPr id="23" name="TextBox 23"/>
            <p:cNvSpPr txBox="1"/>
            <p:nvPr/>
          </p:nvSpPr>
          <p:spPr>
            <a:xfrm>
              <a:off x="596646" y="5283200"/>
              <a:ext cx="7234809"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关键：组成单位的地位，与国家整体的权力关系</a:t>
              </a:r>
            </a:p>
          </p:txBody>
        </p:sp>
        <p:sp>
          <p:nvSpPr>
            <p:cNvPr id="24" name="TextBox 24"/>
            <p:cNvSpPr txBox="1"/>
            <p:nvPr/>
          </p:nvSpPr>
          <p:spPr>
            <a:xfrm>
              <a:off x="598932" y="5803900"/>
              <a:ext cx="708888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两者仍各是一个国家；联邦成员地位不等于可以任意脱离</a:t>
              </a:r>
            </a:p>
          </p:txBody>
        </p:sp>
      </p:grpSp>
      <p:sp>
        <p:nvSpPr>
          <p:cNvPr id="26" name="TextBox 26"/>
          <p:cNvSpPr txBox="1"/>
          <p:nvPr/>
        </p:nvSpPr>
        <p:spPr>
          <a:xfrm>
            <a:off x="604266" y="6502400"/>
            <a:ext cx="580605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教材第四章第二节的基本类型比较；示意不表示国家权力份额、面积或一切国家的机关形式。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27 / 38</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德国：成员地位怎样表现</a:t>
              </a:r>
            </a:p>
          </p:txBody>
        </p:sp>
      </p:grpSp>
      <p:grpSp>
        <p:nvGrpSpPr>
          <p:cNvPr id="8" name="german-example"/>
          <p:cNvGrpSpPr/>
          <p:nvPr/>
        </p:nvGrpSpPr>
        <p:grpSpPr>
          <a:xfrm>
            <a:off x="596646" y="2025650"/>
            <a:ext cx="5518404" cy="498729"/>
            <a:chOff x="596646" y="2025650"/>
            <a:chExt cx="5518404" cy="498729"/>
          </a:xfrm>
        </p:grpSpPr>
        <p:sp>
          <p:nvSpPr>
            <p:cNvPr id="7" name="TextBox 7"/>
            <p:cNvSpPr txBox="1"/>
            <p:nvPr/>
          </p:nvSpPr>
          <p:spPr>
            <a:xfrm>
              <a:off x="596646" y="2025650"/>
              <a:ext cx="55184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各邦，以成员单位身份参与联邦事务</a:t>
              </a:r>
            </a:p>
          </p:txBody>
        </p:sp>
      </p:grpSp>
      <p:grpSp>
        <p:nvGrpSpPr>
          <p:cNvPr id="18" name="german-membership"/>
          <p:cNvGrpSpPr/>
          <p:nvPr/>
        </p:nvGrpSpPr>
        <p:grpSpPr>
          <a:xfrm>
            <a:off x="595122" y="2813050"/>
            <a:ext cx="9590532" cy="1125093"/>
            <a:chOff x="595122" y="2813050"/>
            <a:chExt cx="9590532" cy="1125093"/>
          </a:xfrm>
        </p:grpSpPr>
        <p:sp>
          <p:nvSpPr>
            <p:cNvPr id="9" name="TextBox 9"/>
            <p:cNvSpPr txBox="1"/>
            <p:nvPr/>
          </p:nvSpPr>
          <p:spPr>
            <a:xfrm>
              <a:off x="595122" y="2962275"/>
              <a:ext cx="2330958"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各邦政府成员</a:t>
              </a:r>
            </a:p>
          </p:txBody>
        </p:sp>
        <p:sp>
          <p:nvSpPr>
            <p:cNvPr id="10" name="TextBox 10"/>
            <p:cNvSpPr txBox="1"/>
            <p:nvPr/>
          </p:nvSpPr>
          <p:spPr>
            <a:xfrm>
              <a:off x="598932" y="3527425"/>
              <a:ext cx="284835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相应人员由邦政府任免</a:t>
              </a:r>
            </a:p>
          </p:txBody>
        </p:sp>
        <p:sp>
          <p:nvSpPr>
            <p:cNvPr id="11" name="Line 11"/>
            <p:cNvSpPr/>
            <p:nvPr/>
          </p:nvSpPr>
          <p:spPr>
            <a:xfrm>
              <a:off x="3143250" y="3305175"/>
              <a:ext cx="1257300" cy="1"/>
            </a:xfrm>
            <a:prstGeom prst="line">
              <a:avLst/>
            </a:prstGeom>
            <a:noFill/>
            <a:ln w="19050">
              <a:solidFill>
                <a:schemeClr val="accent1"/>
              </a:solidFill>
              <a:tailEnd type="triangle" w="lg" len="lg"/>
            </a:ln>
          </p:spPr>
        </p:sp>
        <p:sp>
          <p:nvSpPr>
            <p:cNvPr id="12" name="TextBox 12"/>
            <p:cNvSpPr txBox="1"/>
            <p:nvPr/>
          </p:nvSpPr>
          <p:spPr>
            <a:xfrm>
              <a:off x="3361182" y="2813050"/>
              <a:ext cx="58674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组成</a:t>
              </a:r>
            </a:p>
          </p:txBody>
        </p:sp>
        <p:sp>
          <p:nvSpPr>
            <p:cNvPr id="13" name="TextBox 13"/>
            <p:cNvSpPr txBox="1"/>
            <p:nvPr/>
          </p:nvSpPr>
          <p:spPr>
            <a:xfrm>
              <a:off x="4671822" y="2962275"/>
              <a:ext cx="1947291"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联邦参议院</a:t>
              </a:r>
            </a:p>
          </p:txBody>
        </p:sp>
        <p:sp>
          <p:nvSpPr>
            <p:cNvPr id="14" name="TextBox 14"/>
            <p:cNvSpPr txBox="1"/>
            <p:nvPr/>
          </p:nvSpPr>
          <p:spPr>
            <a:xfrm>
              <a:off x="4675632" y="3527425"/>
              <a:ext cx="256565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各邦参与的制度渠道</a:t>
              </a:r>
            </a:p>
          </p:txBody>
        </p:sp>
        <p:sp>
          <p:nvSpPr>
            <p:cNvPr id="15" name="Line 15"/>
            <p:cNvSpPr/>
            <p:nvPr/>
          </p:nvSpPr>
          <p:spPr>
            <a:xfrm>
              <a:off x="7029450" y="3305175"/>
              <a:ext cx="1524000" cy="1"/>
            </a:xfrm>
            <a:prstGeom prst="line">
              <a:avLst/>
            </a:prstGeom>
            <a:noFill/>
            <a:ln w="19050">
              <a:solidFill>
                <a:schemeClr val="accent1"/>
              </a:solidFill>
              <a:tailEnd type="triangle" w="lg" len="lg"/>
            </a:ln>
          </p:spPr>
        </p:sp>
        <p:sp>
          <p:nvSpPr>
            <p:cNvPr id="16" name="TextBox 16"/>
            <p:cNvSpPr txBox="1"/>
            <p:nvPr/>
          </p:nvSpPr>
          <p:spPr>
            <a:xfrm>
              <a:off x="7437882" y="2813050"/>
              <a:ext cx="58674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参与</a:t>
              </a:r>
            </a:p>
          </p:txBody>
        </p:sp>
        <p:sp>
          <p:nvSpPr>
            <p:cNvPr id="17" name="TextBox 17"/>
            <p:cNvSpPr txBox="1"/>
            <p:nvPr/>
          </p:nvSpPr>
          <p:spPr>
            <a:xfrm>
              <a:off x="8864346" y="2962275"/>
              <a:ext cx="1321308" cy="955929"/>
            </a:xfrm>
            <a:prstGeom prst="rect">
              <a:avLst/>
            </a:prstGeom>
            <a:noFill/>
            <a:ln>
              <a:noFill/>
            </a:ln>
          </p:spPr>
          <p:txBody>
            <a:bodyPr wrap="none" lIns="0" tIns="0" rIns="0" bIns="0" anchor="t" anchorCtr="0">
              <a:spAutoFit/>
            </a:bodyPr>
            <a:lstStyle/>
            <a:p>
              <a:pPr algn="l">
                <a:lnSpc>
                  <a:spcPts val="3600"/>
                </a:lnSpc>
              </a:pPr>
              <a:r>
                <a:rPr lang="zh-CN" sz="2550" dirty="0">
                  <a:solidFill>
                    <a:schemeClr val="accent1"/>
                  </a:solidFill>
                  <a:latin typeface="+mn-lt"/>
                  <a:ea typeface="+mn-ea"/>
                  <a:cs typeface="+mn-cs"/>
                </a:rPr>
                <a:t>联邦立法</a:t>
              </a:r>
              <a:br>
                <a:rPr lang="zh-CN" sz="2550" dirty="0">
                  <a:solidFill>
                    <a:schemeClr val="accent1"/>
                  </a:solidFill>
                  <a:latin typeface="+mn-lt"/>
                  <a:ea typeface="+mn-ea"/>
                  <a:cs typeface="+mn-cs"/>
                </a:rPr>
              </a:br>
              <a:r>
                <a:rPr lang="zh-CN" sz="2550" dirty="0">
                  <a:solidFill>
                    <a:schemeClr val="accent1"/>
                  </a:solidFill>
                  <a:latin typeface="+mn-lt"/>
                  <a:ea typeface="+mn-ea"/>
                  <a:cs typeface="+mn-cs"/>
                </a:rPr>
                <a:t>与行政</a:t>
              </a:r>
            </a:p>
          </p:txBody>
        </p:sp>
      </p:grpSp>
      <p:grpSp>
        <p:nvGrpSpPr>
          <p:cNvPr id="23" name="protected-principles"/>
          <p:cNvGrpSpPr/>
          <p:nvPr/>
        </p:nvGrpSpPr>
        <p:grpSpPr>
          <a:xfrm>
            <a:off x="598932" y="4572000"/>
            <a:ext cx="10983468" cy="1623568"/>
            <a:chOff x="598932" y="4572000"/>
            <a:chExt cx="10983468" cy="1623568"/>
          </a:xfrm>
        </p:grpSpPr>
        <p:sp>
          <p:nvSpPr>
            <p:cNvPr id="19" name="Rectangle 19"/>
            <p:cNvSpPr/>
            <p:nvPr/>
          </p:nvSpPr>
          <p:spPr>
            <a:xfrm>
              <a:off x="609600" y="4572000"/>
              <a:ext cx="10972800" cy="1047750"/>
            </a:xfrm>
            <a:prstGeom prst="rect">
              <a:avLst/>
            </a:prstGeom>
            <a:solidFill>
              <a:schemeClr val="accent1"/>
            </a:solidFill>
            <a:ln>
              <a:noFill/>
            </a:ln>
          </p:spPr>
        </p:sp>
        <p:sp>
          <p:nvSpPr>
            <p:cNvPr id="20" name="TextBox 20"/>
            <p:cNvSpPr txBox="1"/>
            <p:nvPr/>
          </p:nvSpPr>
          <p:spPr>
            <a:xfrm>
              <a:off x="825246" y="4664075"/>
              <a:ext cx="4488561"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受到保护的是组成与参与原则</a:t>
              </a:r>
            </a:p>
          </p:txBody>
        </p:sp>
        <p:sp>
          <p:nvSpPr>
            <p:cNvPr id="21" name="TextBox 21"/>
            <p:cNvSpPr txBox="1"/>
            <p:nvPr/>
          </p:nvSpPr>
          <p:spPr>
            <a:xfrm>
              <a:off x="827532" y="5137150"/>
              <a:ext cx="850239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联邦由邦组成、各邦参与立法的原则，不得通过修改《基本法》取消</a:t>
              </a:r>
            </a:p>
          </p:txBody>
        </p:sp>
        <p:sp>
          <p:nvSpPr>
            <p:cNvPr id="22" name="TextBox 22"/>
            <p:cNvSpPr txBox="1"/>
            <p:nvPr/>
          </p:nvSpPr>
          <p:spPr>
            <a:xfrm>
              <a:off x="598932" y="5784850"/>
              <a:ext cx="821969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只看德国一例；单一制地方也可参与国家事务，各国形式仍有差别</a:t>
              </a:r>
            </a:p>
          </p:txBody>
        </p:sp>
      </p:grpSp>
      <p:sp>
        <p:nvSpPr>
          <p:cNvPr id="24" name="TextBox 24"/>
          <p:cNvSpPr txBox="1"/>
          <p:nvPr/>
        </p:nvSpPr>
        <p:spPr>
          <a:xfrm>
            <a:off x="604266" y="6502400"/>
            <a:ext cx="649161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德国《基本法》第50、51条及第79条第3款。图示为成员地位的一种表现，不表示所有联邦的统一模板。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28 / 38</a:t>
              </a:r>
            </a:p>
          </p:txBody>
        </p:sp>
      </p:grpSp>
      <p:grpSp>
        <p:nvGrpSpPr>
          <p:cNvPr id="6" name="page-title"/>
          <p:cNvGrpSpPr/>
          <p:nvPr/>
        </p:nvGrpSpPr>
        <p:grpSpPr>
          <a:xfrm>
            <a:off x="590550" y="904875"/>
            <a:ext cx="5798820" cy="790575"/>
            <a:chOff x="590550" y="904875"/>
            <a:chExt cx="5798820" cy="790575"/>
          </a:xfrm>
        </p:grpSpPr>
        <p:sp>
          <p:nvSpPr>
            <p:cNvPr id="5" name="TextBox 5"/>
            <p:cNvSpPr txBox="1"/>
            <p:nvPr/>
          </p:nvSpPr>
          <p:spPr>
            <a:xfrm>
              <a:off x="590550" y="904875"/>
              <a:ext cx="5798820"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我国为什么采取单一制</a:t>
              </a:r>
            </a:p>
          </p:txBody>
        </p:sp>
      </p:grpSp>
      <p:grpSp>
        <p:nvGrpSpPr>
          <p:cNvPr id="8" name="reason-context"/>
          <p:cNvGrpSpPr/>
          <p:nvPr/>
        </p:nvGrpSpPr>
        <p:grpSpPr>
          <a:xfrm>
            <a:off x="596646" y="2025650"/>
            <a:ext cx="5518404" cy="498729"/>
            <a:chOff x="596646" y="2025650"/>
            <a:chExt cx="5518404" cy="498729"/>
          </a:xfrm>
        </p:grpSpPr>
        <p:sp>
          <p:nvSpPr>
            <p:cNvPr id="7" name="TextBox 7"/>
            <p:cNvSpPr txBox="1"/>
            <p:nvPr/>
          </p:nvSpPr>
          <p:spPr>
            <a:xfrm>
              <a:off x="596646" y="2025650"/>
              <a:ext cx="55184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结合我国历史和现实，理解结构选择</a:t>
              </a:r>
            </a:p>
          </p:txBody>
        </p:sp>
      </p:grpSp>
      <p:grpSp>
        <p:nvGrpSpPr>
          <p:cNvPr id="15" name="historical-social-bases"/>
          <p:cNvGrpSpPr/>
          <p:nvPr/>
        </p:nvGrpSpPr>
        <p:grpSpPr>
          <a:xfrm>
            <a:off x="596646" y="2857500"/>
            <a:ext cx="10985754" cy="1013968"/>
            <a:chOff x="596646" y="2857500"/>
            <a:chExt cx="10985754" cy="1013968"/>
          </a:xfrm>
        </p:grpSpPr>
        <p:sp>
          <p:nvSpPr>
            <p:cNvPr id="9" name="Line 9"/>
            <p:cNvSpPr/>
            <p:nvPr/>
          </p:nvSpPr>
          <p:spPr>
            <a:xfrm>
              <a:off x="609600" y="285750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0" name="TextBox 10"/>
            <p:cNvSpPr txBox="1"/>
            <p:nvPr/>
          </p:nvSpPr>
          <p:spPr>
            <a:xfrm>
              <a:off x="596646" y="2959100"/>
              <a:ext cx="311543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统一国家的历史传统</a:t>
              </a:r>
            </a:p>
          </p:txBody>
        </p:sp>
        <p:sp>
          <p:nvSpPr>
            <p:cNvPr id="11" name="TextBox 11"/>
            <p:cNvSpPr txBox="1"/>
            <p:nvPr/>
          </p:nvSpPr>
          <p:spPr>
            <a:xfrm>
              <a:off x="598932" y="3460750"/>
              <a:ext cx="397916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传统延续，不等于照搬古代制度</a:t>
              </a:r>
            </a:p>
          </p:txBody>
        </p:sp>
        <p:sp>
          <p:nvSpPr>
            <p:cNvPr id="12" name="Line 12"/>
            <p:cNvSpPr/>
            <p:nvPr/>
          </p:nvSpPr>
          <p:spPr>
            <a:xfrm>
              <a:off x="6400800" y="285750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3" name="TextBox 13"/>
            <p:cNvSpPr txBox="1"/>
            <p:nvPr/>
          </p:nvSpPr>
          <p:spPr>
            <a:xfrm>
              <a:off x="6387846" y="2959100"/>
              <a:ext cx="380199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民族交错居住与社会联系</a:t>
              </a:r>
            </a:p>
          </p:txBody>
        </p:sp>
        <p:sp>
          <p:nvSpPr>
            <p:cNvPr id="14" name="TextBox 14"/>
            <p:cNvSpPr txBox="1"/>
            <p:nvPr/>
          </p:nvSpPr>
          <p:spPr>
            <a:xfrm>
              <a:off x="6390132" y="3460750"/>
              <a:ext cx="42618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大杂居、小聚居；长期交往与依存</a:t>
              </a:r>
            </a:p>
          </p:txBody>
        </p:sp>
      </p:grpSp>
      <p:grpSp>
        <p:nvGrpSpPr>
          <p:cNvPr id="23" name="common-tasks"/>
          <p:cNvGrpSpPr/>
          <p:nvPr/>
        </p:nvGrpSpPr>
        <p:grpSpPr>
          <a:xfrm>
            <a:off x="598932" y="4095750"/>
            <a:ext cx="10983468" cy="2156968"/>
            <a:chOff x="598932" y="4095750"/>
            <a:chExt cx="10983468" cy="2156968"/>
          </a:xfrm>
        </p:grpSpPr>
        <p:sp>
          <p:nvSpPr>
            <p:cNvPr id="16" name="Line 16"/>
            <p:cNvSpPr/>
            <p:nvPr/>
          </p:nvSpPr>
          <p:spPr>
            <a:xfrm>
              <a:off x="2952750" y="4095750"/>
              <a:ext cx="1" cy="266700"/>
            </a:xfrm>
            <a:prstGeom prst="line">
              <a:avLst/>
            </a:prstGeom>
            <a:noFill/>
            <a:ln w="19050">
              <a:solidFill>
                <a:schemeClr val="accent1"/>
              </a:solidFill>
              <a:tailEnd type="triangle" w="lg" len="lg"/>
            </a:ln>
          </p:spPr>
        </p:sp>
        <p:sp>
          <p:nvSpPr>
            <p:cNvPr id="17" name="Line 17"/>
            <p:cNvSpPr/>
            <p:nvPr/>
          </p:nvSpPr>
          <p:spPr>
            <a:xfrm>
              <a:off x="9010650" y="4095750"/>
              <a:ext cx="1" cy="266700"/>
            </a:xfrm>
            <a:prstGeom prst="line">
              <a:avLst/>
            </a:prstGeom>
            <a:noFill/>
            <a:ln w="19050">
              <a:solidFill>
                <a:schemeClr val="accent1"/>
              </a:solidFill>
              <a:tailEnd type="triangle" w="lg" len="lg"/>
            </a:ln>
          </p:spPr>
        </p:sp>
        <p:sp>
          <p:nvSpPr>
            <p:cNvPr id="18" name="Rectangle 18"/>
            <p:cNvSpPr/>
            <p:nvPr/>
          </p:nvSpPr>
          <p:spPr>
            <a:xfrm>
              <a:off x="609600" y="4419600"/>
              <a:ext cx="10972800" cy="1200150"/>
            </a:xfrm>
            <a:prstGeom prst="rect">
              <a:avLst/>
            </a:prstGeom>
            <a:solidFill>
              <a:schemeClr val="accent1"/>
            </a:solidFill>
            <a:ln>
              <a:noFill/>
            </a:ln>
          </p:spPr>
        </p:sp>
        <p:sp>
          <p:nvSpPr>
            <p:cNvPr id="19" name="TextBox 19"/>
            <p:cNvSpPr txBox="1"/>
            <p:nvPr/>
          </p:nvSpPr>
          <p:spPr>
            <a:xfrm>
              <a:off x="827532" y="4575175"/>
              <a:ext cx="595807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统一国家内，依法安排地方治理，要承担的任务</a:t>
              </a:r>
            </a:p>
          </p:txBody>
        </p:sp>
        <p:sp>
          <p:nvSpPr>
            <p:cNvPr id="20" name="TextBox 20"/>
            <p:cNvSpPr txBox="1"/>
            <p:nvPr/>
          </p:nvSpPr>
          <p:spPr>
            <a:xfrm>
              <a:off x="825246" y="4997450"/>
              <a:ext cx="311543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国家统一、民族团结</a:t>
              </a:r>
            </a:p>
          </p:txBody>
        </p:sp>
        <p:sp>
          <p:nvSpPr>
            <p:cNvPr id="21" name="TextBox 21"/>
            <p:cNvSpPr txBox="1"/>
            <p:nvPr/>
          </p:nvSpPr>
          <p:spPr>
            <a:xfrm>
              <a:off x="6540246" y="4997450"/>
              <a:ext cx="311543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相互支持、共同发展</a:t>
              </a:r>
            </a:p>
          </p:txBody>
        </p:sp>
        <p:sp>
          <p:nvSpPr>
            <p:cNvPr id="22" name="TextBox 22"/>
            <p:cNvSpPr txBox="1"/>
            <p:nvPr/>
          </p:nvSpPr>
          <p:spPr>
            <a:xfrm>
              <a:off x="598932" y="5842000"/>
              <a:ext cx="821969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这些理由不自动证明每项现实安排有效，也不替别国决定结构类型</a:t>
              </a:r>
            </a:p>
          </p:txBody>
        </p:sp>
      </p:grpSp>
      <p:sp>
        <p:nvSpPr>
          <p:cNvPr id="24" name="TextBox 24"/>
          <p:cNvSpPr txBox="1"/>
          <p:nvPr/>
        </p:nvSpPr>
        <p:spPr>
          <a:xfrm>
            <a:off x="604266" y="6502400"/>
            <a:ext cx="693686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教材第四章第二节：我国采取单一制的历史、民族关系与共同发展理由。箭头表示解释联系，不表示必然因果。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29 / 38</a:t>
              </a:r>
            </a:p>
          </p:txBody>
        </p:sp>
      </p:grpSp>
      <p:grpSp>
        <p:nvGrpSpPr>
          <p:cNvPr id="6" name="page-title"/>
          <p:cNvGrpSpPr/>
          <p:nvPr/>
        </p:nvGrpSpPr>
        <p:grpSpPr>
          <a:xfrm>
            <a:off x="590550" y="904875"/>
            <a:ext cx="3494532" cy="790575"/>
            <a:chOff x="590550" y="904875"/>
            <a:chExt cx="3494532" cy="790575"/>
          </a:xfrm>
        </p:grpSpPr>
        <p:sp>
          <p:nvSpPr>
            <p:cNvPr id="5" name="TextBox 5"/>
            <p:cNvSpPr txBox="1"/>
            <p:nvPr/>
          </p:nvSpPr>
          <p:spPr>
            <a:xfrm>
              <a:off x="590550" y="904875"/>
              <a:ext cx="3494532"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宪法第三十条</a:t>
              </a:r>
            </a:p>
          </p:txBody>
        </p:sp>
      </p:grpSp>
      <p:grpSp>
        <p:nvGrpSpPr>
          <p:cNvPr id="13" name="article-thirty"/>
          <p:cNvGrpSpPr/>
          <p:nvPr/>
        </p:nvGrpSpPr>
        <p:grpSpPr>
          <a:xfrm>
            <a:off x="598932" y="2146300"/>
            <a:ext cx="7654290" cy="2887218"/>
            <a:chOff x="598932" y="2146300"/>
            <a:chExt cx="7654290" cy="2887218"/>
          </a:xfrm>
        </p:grpSpPr>
        <p:sp>
          <p:nvSpPr>
            <p:cNvPr id="7" name="TextBox 7"/>
            <p:cNvSpPr txBox="1"/>
            <p:nvPr/>
          </p:nvSpPr>
          <p:spPr>
            <a:xfrm>
              <a:off x="598932" y="2146300"/>
              <a:ext cx="482727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中华人民共和国的行政区域划分如下：</a:t>
              </a:r>
            </a:p>
          </p:txBody>
        </p:sp>
        <p:sp>
          <p:nvSpPr>
            <p:cNvPr id="8" name="TextBox 8"/>
            <p:cNvSpPr txBox="1"/>
            <p:nvPr/>
          </p:nvSpPr>
          <p:spPr>
            <a:xfrm>
              <a:off x="598932" y="2641600"/>
              <a:ext cx="482727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（一）全国分为省、自治区、直辖市；</a:t>
              </a:r>
            </a:p>
          </p:txBody>
        </p:sp>
        <p:sp>
          <p:nvSpPr>
            <p:cNvPr id="9" name="TextBox 9"/>
            <p:cNvSpPr txBox="1"/>
            <p:nvPr/>
          </p:nvSpPr>
          <p:spPr>
            <a:xfrm>
              <a:off x="598932" y="3136900"/>
              <a:ext cx="624078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（二）省、自治区分为自治州、县、自治县、市；</a:t>
              </a:r>
            </a:p>
          </p:txBody>
        </p:sp>
        <p:sp>
          <p:nvSpPr>
            <p:cNvPr id="10" name="TextBox 10"/>
            <p:cNvSpPr txBox="1"/>
            <p:nvPr/>
          </p:nvSpPr>
          <p:spPr>
            <a:xfrm>
              <a:off x="598932" y="3632200"/>
              <a:ext cx="510997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（三）县、自治县分为乡、民族乡、镇。</a:t>
              </a:r>
            </a:p>
          </p:txBody>
        </p:sp>
        <p:sp>
          <p:nvSpPr>
            <p:cNvPr id="11" name="TextBox 11"/>
            <p:cNvSpPr txBox="1"/>
            <p:nvPr/>
          </p:nvSpPr>
          <p:spPr>
            <a:xfrm>
              <a:off x="598932" y="4127500"/>
              <a:ext cx="7654290"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直辖市和较大的市分为区、县。自治州分为县、自治县、市。</a:t>
              </a:r>
            </a:p>
          </p:txBody>
        </p:sp>
        <p:sp>
          <p:nvSpPr>
            <p:cNvPr id="12" name="TextBox 12"/>
            <p:cNvSpPr txBox="1"/>
            <p:nvPr/>
          </p:nvSpPr>
          <p:spPr>
            <a:xfrm>
              <a:off x="598932" y="4622800"/>
              <a:ext cx="5675376"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自治区、自治州、自治县都是民族自治地方。</a:t>
              </a:r>
            </a:p>
          </p:txBody>
        </p:sp>
      </p:grpSp>
      <p:grpSp>
        <p:nvGrpSpPr>
          <p:cNvPr id="20" name="structure-tags"/>
          <p:cNvGrpSpPr/>
          <p:nvPr/>
        </p:nvGrpSpPr>
        <p:grpSpPr>
          <a:xfrm>
            <a:off x="8946642" y="2235200"/>
            <a:ext cx="2194560" cy="2207133"/>
            <a:chOff x="8946642" y="2235200"/>
            <a:chExt cx="2194560" cy="2207133"/>
          </a:xfrm>
        </p:grpSpPr>
        <p:sp>
          <p:nvSpPr>
            <p:cNvPr id="14" name="TextBox 14"/>
            <p:cNvSpPr txBox="1"/>
            <p:nvPr/>
          </p:nvSpPr>
          <p:spPr>
            <a:xfrm>
              <a:off x="8946642" y="2235200"/>
              <a:ext cx="1831086"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先列全国的区域组成，</a:t>
              </a:r>
            </a:p>
          </p:txBody>
        </p:sp>
        <p:sp>
          <p:nvSpPr>
            <p:cNvPr id="15" name="TextBox 15"/>
            <p:cNvSpPr txBox="1"/>
            <p:nvPr/>
          </p:nvSpPr>
          <p:spPr>
            <a:xfrm>
              <a:off x="8946642" y="2540000"/>
              <a:ext cx="1831086"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再分别规定省、自治区</a:t>
              </a:r>
            </a:p>
          </p:txBody>
        </p:sp>
        <p:sp>
          <p:nvSpPr>
            <p:cNvPr id="16" name="TextBox 16"/>
            <p:cNvSpPr txBox="1"/>
            <p:nvPr/>
          </p:nvSpPr>
          <p:spPr>
            <a:xfrm>
              <a:off x="8946642" y="2844800"/>
              <a:ext cx="164934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与县、自治县的划分</a:t>
              </a:r>
            </a:p>
          </p:txBody>
        </p:sp>
        <p:sp>
          <p:nvSpPr>
            <p:cNvPr id="17" name="TextBox 17"/>
            <p:cNvSpPr txBox="1"/>
            <p:nvPr/>
          </p:nvSpPr>
          <p:spPr>
            <a:xfrm>
              <a:off x="8946642" y="3568700"/>
              <a:ext cx="2194560"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直辖市和较大的市、自治州</a:t>
              </a:r>
            </a:p>
          </p:txBody>
        </p:sp>
        <p:sp>
          <p:nvSpPr>
            <p:cNvPr id="18" name="TextBox 18"/>
            <p:cNvSpPr txBox="1"/>
            <p:nvPr/>
          </p:nvSpPr>
          <p:spPr>
            <a:xfrm>
              <a:off x="8946642" y="3873500"/>
              <a:ext cx="128587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另写一条分支；</a:t>
              </a:r>
            </a:p>
          </p:txBody>
        </p:sp>
        <p:sp>
          <p:nvSpPr>
            <p:cNvPr id="19" name="TextBox 19"/>
            <p:cNvSpPr txBox="1"/>
            <p:nvPr/>
          </p:nvSpPr>
          <p:spPr>
            <a:xfrm>
              <a:off x="8946642" y="4178300"/>
              <a:ext cx="219456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末句单列三类民族自治地方</a:t>
              </a:r>
            </a:p>
          </p:txBody>
        </p:sp>
      </p:grpSp>
      <p:sp>
        <p:nvSpPr>
          <p:cNvPr id="21" name="Line 21"/>
          <p:cNvSpPr/>
          <p:nvPr/>
        </p:nvSpPr>
        <p:spPr>
          <a:xfrm>
            <a:off x="8686800" y="2190750"/>
            <a:ext cx="9525" cy="2857500"/>
          </a:xfrm>
          <a:custGeom>
            <a:avLst/>
            <a:gdLst/>
            <a:ahLst/>
            <a:cxnLst/>
            <a:rect l="l" t="t" r="r" b="b"/>
            <a:pathLst>
              <a:path w="9525" h="2857500">
                <a:moveTo>
                  <a:pt x="0" y="0"/>
                </a:moveTo>
                <a:lnTo>
                  <a:pt x="0" y="2857500"/>
                </a:lnTo>
              </a:path>
            </a:pathLst>
          </a:custGeom>
          <a:noFill/>
          <a:ln w="9525">
            <a:solidFill>
              <a:srgbClr val="3A454A"/>
            </a:solidFill>
          </a:ln>
        </p:spPr>
      </p:sp>
      <p:sp>
        <p:nvSpPr>
          <p:cNvPr id="22" name="TextBox 22"/>
          <p:cNvSpPr txBox="1"/>
          <p:nvPr/>
        </p:nvSpPr>
        <p:spPr>
          <a:xfrm>
            <a:off x="604266" y="6502400"/>
            <a:ext cx="3007309"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宪法：2018年修正文本，第三十条（正文全文）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30 / 38</a:t>
              </a:r>
            </a:p>
          </p:txBody>
        </p:sp>
      </p:grpSp>
      <p:grpSp>
        <p:nvGrpSpPr>
          <p:cNvPr id="6" name="page-title"/>
          <p:cNvGrpSpPr/>
          <p:nvPr/>
        </p:nvGrpSpPr>
        <p:grpSpPr>
          <a:xfrm>
            <a:off x="590550" y="904875"/>
            <a:ext cx="3494532" cy="790575"/>
            <a:chOff x="590550" y="904875"/>
            <a:chExt cx="3494532" cy="790575"/>
          </a:xfrm>
        </p:grpSpPr>
        <p:sp>
          <p:nvSpPr>
            <p:cNvPr id="5" name="TextBox 5"/>
            <p:cNvSpPr txBox="1"/>
            <p:nvPr/>
          </p:nvSpPr>
          <p:spPr>
            <a:xfrm>
              <a:off x="590550" y="904875"/>
              <a:ext cx="349453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沿分支读原文</a:t>
              </a:r>
            </a:p>
          </p:txBody>
        </p:sp>
      </p:grpSp>
      <p:grpSp>
        <p:nvGrpSpPr>
          <p:cNvPr id="15" name="branch-a"/>
          <p:cNvGrpSpPr/>
          <p:nvPr/>
        </p:nvGrpSpPr>
        <p:grpSpPr>
          <a:xfrm>
            <a:off x="595122" y="2032000"/>
            <a:ext cx="7940802" cy="1915668"/>
            <a:chOff x="595122" y="2032000"/>
            <a:chExt cx="7940802" cy="1915668"/>
          </a:xfrm>
        </p:grpSpPr>
        <p:sp>
          <p:nvSpPr>
            <p:cNvPr id="7" name="TextBox 7"/>
            <p:cNvSpPr txBox="1"/>
            <p:nvPr/>
          </p:nvSpPr>
          <p:spPr>
            <a:xfrm>
              <a:off x="598932" y="2032000"/>
              <a:ext cx="86944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分支一</a:t>
              </a:r>
            </a:p>
          </p:txBody>
        </p:sp>
        <p:sp>
          <p:nvSpPr>
            <p:cNvPr id="8" name="TextBox 8"/>
            <p:cNvSpPr txBox="1"/>
            <p:nvPr/>
          </p:nvSpPr>
          <p:spPr>
            <a:xfrm>
              <a:off x="595122" y="2571750"/>
              <a:ext cx="1179957"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自治区</a:t>
              </a:r>
            </a:p>
          </p:txBody>
        </p:sp>
        <p:sp>
          <p:nvSpPr>
            <p:cNvPr id="9" name="Line 9"/>
            <p:cNvSpPr/>
            <p:nvPr/>
          </p:nvSpPr>
          <p:spPr>
            <a:xfrm>
              <a:off x="1905000" y="2800350"/>
              <a:ext cx="438150" cy="1"/>
            </a:xfrm>
            <a:prstGeom prst="line">
              <a:avLst/>
            </a:prstGeom>
            <a:noFill/>
            <a:ln w="19050">
              <a:solidFill>
                <a:schemeClr val="accent1"/>
              </a:solidFill>
              <a:tailEnd type="triangle" w="lg" len="lg"/>
            </a:ln>
          </p:spPr>
        </p:sp>
        <p:sp>
          <p:nvSpPr>
            <p:cNvPr id="10" name="TextBox 10"/>
            <p:cNvSpPr txBox="1"/>
            <p:nvPr/>
          </p:nvSpPr>
          <p:spPr>
            <a:xfrm>
              <a:off x="2462022" y="2571750"/>
              <a:ext cx="1179957"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自治州</a:t>
              </a:r>
            </a:p>
          </p:txBody>
        </p:sp>
        <p:sp>
          <p:nvSpPr>
            <p:cNvPr id="11" name="Line 11"/>
            <p:cNvSpPr/>
            <p:nvPr/>
          </p:nvSpPr>
          <p:spPr>
            <a:xfrm>
              <a:off x="3771900" y="2800350"/>
              <a:ext cx="438150" cy="1"/>
            </a:xfrm>
            <a:prstGeom prst="line">
              <a:avLst/>
            </a:prstGeom>
            <a:noFill/>
            <a:ln w="19050">
              <a:solidFill>
                <a:schemeClr val="accent1"/>
              </a:solidFill>
              <a:tailEnd type="triangle" w="lg" len="lg"/>
            </a:ln>
          </p:spPr>
        </p:sp>
        <p:sp>
          <p:nvSpPr>
            <p:cNvPr id="12" name="TextBox 12"/>
            <p:cNvSpPr txBox="1"/>
            <p:nvPr/>
          </p:nvSpPr>
          <p:spPr>
            <a:xfrm>
              <a:off x="4328922" y="2571750"/>
              <a:ext cx="2714625"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县、自治县、市</a:t>
              </a:r>
            </a:p>
          </p:txBody>
        </p:sp>
        <p:sp>
          <p:nvSpPr>
            <p:cNvPr id="13" name="TextBox 13"/>
            <p:cNvSpPr txBox="1"/>
            <p:nvPr/>
          </p:nvSpPr>
          <p:spPr>
            <a:xfrm>
              <a:off x="598932" y="313690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第一项列出自治区；第二项说明自治区可以分为自治州等区域；</a:t>
              </a:r>
            </a:p>
          </p:txBody>
        </p:sp>
        <p:sp>
          <p:nvSpPr>
            <p:cNvPr id="14" name="TextBox 14"/>
            <p:cNvSpPr txBox="1"/>
            <p:nvPr/>
          </p:nvSpPr>
          <p:spPr>
            <a:xfrm>
              <a:off x="598932" y="3536950"/>
              <a:ext cx="510997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接着又规定，自治州分为县、自治县、市</a:t>
              </a:r>
            </a:p>
          </p:txBody>
        </p:sp>
      </p:grpSp>
      <p:grpSp>
        <p:nvGrpSpPr>
          <p:cNvPr id="22" name="branch-b"/>
          <p:cNvGrpSpPr/>
          <p:nvPr/>
        </p:nvGrpSpPr>
        <p:grpSpPr>
          <a:xfrm>
            <a:off x="595122" y="4076700"/>
            <a:ext cx="10987278" cy="1585468"/>
            <a:chOff x="595122" y="4076700"/>
            <a:chExt cx="10987278" cy="1585468"/>
          </a:xfrm>
        </p:grpSpPr>
        <p:sp>
          <p:nvSpPr>
            <p:cNvPr id="16" name="Line 16"/>
            <p:cNvSpPr/>
            <p:nvPr/>
          </p:nvSpPr>
          <p:spPr>
            <a:xfrm>
              <a:off x="609600" y="40767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7" name="TextBox 17"/>
            <p:cNvSpPr txBox="1"/>
            <p:nvPr/>
          </p:nvSpPr>
          <p:spPr>
            <a:xfrm>
              <a:off x="598932" y="4184650"/>
              <a:ext cx="86944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分支二</a:t>
              </a:r>
            </a:p>
          </p:txBody>
        </p:sp>
        <p:sp>
          <p:nvSpPr>
            <p:cNvPr id="18" name="TextBox 18"/>
            <p:cNvSpPr txBox="1"/>
            <p:nvPr/>
          </p:nvSpPr>
          <p:spPr>
            <a:xfrm>
              <a:off x="595122" y="4686300"/>
              <a:ext cx="3098292"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直辖市和较大的市</a:t>
              </a:r>
            </a:p>
          </p:txBody>
        </p:sp>
        <p:sp>
          <p:nvSpPr>
            <p:cNvPr id="19" name="Line 19"/>
            <p:cNvSpPr/>
            <p:nvPr/>
          </p:nvSpPr>
          <p:spPr>
            <a:xfrm>
              <a:off x="3867150" y="4914900"/>
              <a:ext cx="438150" cy="1"/>
            </a:xfrm>
            <a:prstGeom prst="line">
              <a:avLst/>
            </a:prstGeom>
            <a:noFill/>
            <a:ln w="19050">
              <a:solidFill>
                <a:schemeClr val="accent2"/>
              </a:solidFill>
              <a:tailEnd type="triangle" w="lg" len="lg"/>
            </a:ln>
          </p:spPr>
        </p:sp>
        <p:sp>
          <p:nvSpPr>
            <p:cNvPr id="20" name="TextBox 20"/>
            <p:cNvSpPr txBox="1"/>
            <p:nvPr/>
          </p:nvSpPr>
          <p:spPr>
            <a:xfrm>
              <a:off x="4424172" y="4686300"/>
              <a:ext cx="1179957" cy="557403"/>
            </a:xfrm>
            <a:prstGeom prst="rect">
              <a:avLst/>
            </a:prstGeom>
            <a:noFill/>
            <a:ln>
              <a:noFill/>
            </a:ln>
          </p:spPr>
          <p:txBody>
            <a:bodyPr wrap="none" lIns="0" tIns="0" rIns="0" bIns="0" anchor="t" anchorCtr="0">
              <a:spAutoFit/>
            </a:bodyPr>
            <a:lstStyle/>
            <a:p>
              <a:pPr algn="l"/>
              <a:r>
                <a:rPr lang="zh-CN" sz="2850" dirty="0">
                  <a:solidFill>
                    <a:schemeClr val="accent2"/>
                  </a:solidFill>
                  <a:latin typeface="+mn-lt"/>
                  <a:ea typeface="+mn-ea"/>
                  <a:cs typeface="+mn-cs"/>
                </a:rPr>
                <a:t>区、县</a:t>
              </a:r>
            </a:p>
          </p:txBody>
        </p:sp>
        <p:sp>
          <p:nvSpPr>
            <p:cNvPr id="21" name="TextBox 21"/>
            <p:cNvSpPr txBox="1"/>
            <p:nvPr/>
          </p:nvSpPr>
          <p:spPr>
            <a:xfrm>
              <a:off x="598932" y="5251450"/>
              <a:ext cx="966147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原文另写“直辖市和较大的市分为区、县”，按规定逐层读，可以看见区域层次</a:t>
              </a:r>
            </a:p>
          </p:txBody>
        </p:sp>
      </p:grpSp>
      <p:grpSp>
        <p:nvGrpSpPr>
          <p:cNvPr id="24" name="not-four-levels"/>
          <p:cNvGrpSpPr/>
          <p:nvPr/>
        </p:nvGrpSpPr>
        <p:grpSpPr>
          <a:xfrm>
            <a:off x="596646" y="5683250"/>
            <a:ext cx="7612418" cy="498729"/>
            <a:chOff x="596646" y="5683250"/>
            <a:chExt cx="7612418" cy="498729"/>
          </a:xfrm>
        </p:grpSpPr>
        <p:sp>
          <p:nvSpPr>
            <p:cNvPr id="23" name="TextBox 23"/>
            <p:cNvSpPr txBox="1"/>
            <p:nvPr/>
          </p:nvSpPr>
          <p:spPr>
            <a:xfrm>
              <a:off x="596646" y="5683250"/>
              <a:ext cx="761241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不要急着把它压成“全国一律省、市、县、乡四级”</a:t>
              </a:r>
            </a:p>
          </p:txBody>
        </p:sp>
      </p:grpSp>
      <p:sp>
        <p:nvSpPr>
          <p:cNvPr id="25" name="TextBox 25"/>
          <p:cNvSpPr txBox="1"/>
          <p:nvPr/>
        </p:nvSpPr>
        <p:spPr>
          <a:xfrm>
            <a:off x="604266" y="6502400"/>
            <a:ext cx="54102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宪法：2018年修正文本，第三十条；只读宪法列出的安排，具体地方划分另依相应规定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31 / 38</a:t>
              </a:r>
            </a:p>
          </p:txBody>
        </p:sp>
      </p:grpSp>
      <p:grpSp>
        <p:nvGrpSpPr>
          <p:cNvPr id="6" name="page-title"/>
          <p:cNvGrpSpPr/>
          <p:nvPr/>
        </p:nvGrpSpPr>
        <p:grpSpPr>
          <a:xfrm>
            <a:off x="590550" y="930275"/>
            <a:ext cx="11041075" cy="790575"/>
            <a:chOff x="590550" y="930275"/>
            <a:chExt cx="11041075" cy="790575"/>
          </a:xfrm>
        </p:grpSpPr>
        <p:sp>
          <p:nvSpPr>
            <p:cNvPr id="5" name="TextBox 5"/>
            <p:cNvSpPr txBox="1"/>
            <p:nvPr/>
          </p:nvSpPr>
          <p:spPr>
            <a:xfrm>
              <a:off x="590550" y="930275"/>
              <a:ext cx="11041075"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“市”的层级与读规则的方法，要从原文看起</a:t>
              </a:r>
            </a:p>
          </p:txBody>
        </p:sp>
      </p:grpSp>
      <p:grpSp>
        <p:nvGrpSpPr>
          <p:cNvPr id="11" name="city-in-text"/>
          <p:cNvGrpSpPr/>
          <p:nvPr/>
        </p:nvGrpSpPr>
        <p:grpSpPr>
          <a:xfrm>
            <a:off x="596646" y="2044700"/>
            <a:ext cx="7269137" cy="1826768"/>
            <a:chOff x="596646" y="2044700"/>
            <a:chExt cx="7269137" cy="1826768"/>
          </a:xfrm>
        </p:grpSpPr>
        <p:sp>
          <p:nvSpPr>
            <p:cNvPr id="7" name="TextBox 7"/>
            <p:cNvSpPr txBox="1"/>
            <p:nvPr/>
          </p:nvSpPr>
          <p:spPr>
            <a:xfrm>
              <a:off x="596646" y="2044700"/>
              <a:ext cx="726913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同一个“市”这个字，可以出现在条文的不同位置</a:t>
              </a:r>
            </a:p>
          </p:txBody>
        </p:sp>
        <p:sp>
          <p:nvSpPr>
            <p:cNvPr id="8" name="TextBox 8"/>
            <p:cNvSpPr txBox="1"/>
            <p:nvPr/>
          </p:nvSpPr>
          <p:spPr>
            <a:xfrm>
              <a:off x="598932" y="2660650"/>
              <a:ext cx="626905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原文：“省、自治区分为自治州、县、自治县、市”</a:t>
              </a:r>
            </a:p>
          </p:txBody>
        </p:sp>
        <p:sp>
          <p:nvSpPr>
            <p:cNvPr id="9" name="TextBox 9"/>
            <p:cNvSpPr txBox="1"/>
            <p:nvPr/>
          </p:nvSpPr>
          <p:spPr>
            <a:xfrm>
              <a:off x="598932" y="3060700"/>
              <a:ext cx="485554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原文：“直辖市和较大的市分为区、县”</a:t>
              </a:r>
            </a:p>
          </p:txBody>
        </p:sp>
        <p:sp>
          <p:nvSpPr>
            <p:cNvPr id="10" name="TextBox 10"/>
            <p:cNvSpPr txBox="1"/>
            <p:nvPr/>
          </p:nvSpPr>
          <p:spPr>
            <a:xfrm>
              <a:off x="598932" y="3460750"/>
              <a:ext cx="513824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同条原文：“自治州分为县、自治县、市”</a:t>
              </a:r>
            </a:p>
          </p:txBody>
        </p:sp>
      </p:grpSp>
      <p:grpSp>
        <p:nvGrpSpPr>
          <p:cNvPr id="16" name="read-method"/>
          <p:cNvGrpSpPr/>
          <p:nvPr/>
        </p:nvGrpSpPr>
        <p:grpSpPr>
          <a:xfrm>
            <a:off x="596646" y="3924300"/>
            <a:ext cx="10985754" cy="1090168"/>
            <a:chOff x="596646" y="3924300"/>
            <a:chExt cx="10985754" cy="1090168"/>
          </a:xfrm>
        </p:grpSpPr>
        <p:sp>
          <p:nvSpPr>
            <p:cNvPr id="12" name="Line 12"/>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3" name="TextBox 13"/>
            <p:cNvSpPr txBox="1"/>
            <p:nvPr/>
          </p:nvSpPr>
          <p:spPr>
            <a:xfrm>
              <a:off x="596646" y="4064000"/>
              <a:ext cx="2085594"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读规则的方法</a:t>
              </a:r>
            </a:p>
          </p:txBody>
        </p:sp>
        <p:sp>
          <p:nvSpPr>
            <p:cNvPr id="14" name="TextBox 14"/>
            <p:cNvSpPr txBox="1"/>
            <p:nvPr/>
          </p:nvSpPr>
          <p:spPr>
            <a:xfrm>
              <a:off x="3418332" y="4127500"/>
              <a:ext cx="595807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条文说哪个范围分成哪些区域，有没有另设分支</a:t>
              </a:r>
            </a:p>
          </p:txBody>
        </p:sp>
        <p:sp>
          <p:nvSpPr>
            <p:cNvPr id="15" name="TextBox 15"/>
            <p:cNvSpPr txBox="1"/>
            <p:nvPr/>
          </p:nvSpPr>
          <p:spPr>
            <a:xfrm>
              <a:off x="598932" y="4603750"/>
              <a:ext cx="878509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先拿自己的家庭地址当全国模板，就可能把熟悉的排列推广到所有地区</a:t>
              </a:r>
            </a:p>
          </p:txBody>
        </p:sp>
      </p:grpSp>
      <p:grpSp>
        <p:nvGrpSpPr>
          <p:cNvPr id="20" name="border-limit"/>
          <p:cNvGrpSpPr/>
          <p:nvPr/>
        </p:nvGrpSpPr>
        <p:grpSpPr>
          <a:xfrm>
            <a:off x="598932" y="5162550"/>
            <a:ext cx="10983468" cy="860933"/>
            <a:chOff x="598932" y="5162550"/>
            <a:chExt cx="10983468" cy="860933"/>
          </a:xfrm>
        </p:grpSpPr>
        <p:sp>
          <p:nvSpPr>
            <p:cNvPr id="17" name="Line 17"/>
            <p:cNvSpPr/>
            <p:nvPr/>
          </p:nvSpPr>
          <p:spPr>
            <a:xfrm>
              <a:off x="609600" y="51625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8" name="TextBox 18"/>
            <p:cNvSpPr txBox="1"/>
            <p:nvPr/>
          </p:nvSpPr>
          <p:spPr>
            <a:xfrm>
              <a:off x="598932" y="5346700"/>
              <a:ext cx="935050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画出边界，不等于已经决定这片区域能够制定什么规则、可以办理什么事务</a:t>
              </a:r>
            </a:p>
          </p:txBody>
        </p:sp>
        <p:sp>
          <p:nvSpPr>
            <p:cNvPr id="19" name="TextBox 19"/>
            <p:cNvSpPr txBox="1"/>
            <p:nvPr/>
          </p:nvSpPr>
          <p:spPr>
            <a:xfrm>
              <a:off x="602742" y="5759450"/>
              <a:ext cx="419366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这正是行政区划与国家结构形式不能混为一谈的理由</a:t>
              </a:r>
            </a:p>
          </p:txBody>
        </p:sp>
      </p:grpSp>
      <p:sp>
        <p:nvSpPr>
          <p:cNvPr id="21" name="TextBox 21"/>
          <p:cNvSpPr txBox="1"/>
          <p:nvPr/>
        </p:nvSpPr>
        <p:spPr>
          <a:xfrm>
            <a:off x="604266" y="6502400"/>
            <a:ext cx="230055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宪法：2018年修正文本，第三十条。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32 / 38</a:t>
              </a:r>
            </a:p>
          </p:txBody>
        </p:sp>
      </p:grpSp>
      <p:grpSp>
        <p:nvGrpSpPr>
          <p:cNvPr id="6" name="page-title"/>
          <p:cNvGrpSpPr/>
          <p:nvPr/>
        </p:nvGrpSpPr>
        <p:grpSpPr>
          <a:xfrm>
            <a:off x="590550" y="904875"/>
            <a:ext cx="4646676" cy="790575"/>
            <a:chOff x="590550" y="904875"/>
            <a:chExt cx="4646676" cy="790575"/>
          </a:xfrm>
        </p:grpSpPr>
        <p:sp>
          <p:nvSpPr>
            <p:cNvPr id="5" name="TextBox 5"/>
            <p:cNvSpPr txBox="1"/>
            <p:nvPr/>
          </p:nvSpPr>
          <p:spPr>
            <a:xfrm>
              <a:off x="590550" y="904875"/>
              <a:ext cx="4646676"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三类民族自治地方</a:t>
              </a:r>
            </a:p>
          </p:txBody>
        </p:sp>
      </p:grpSp>
      <p:grpSp>
        <p:nvGrpSpPr>
          <p:cNvPr id="9" name="last-sentence"/>
          <p:cNvGrpSpPr/>
          <p:nvPr/>
        </p:nvGrpSpPr>
        <p:grpSpPr>
          <a:xfrm>
            <a:off x="595122" y="1993900"/>
            <a:ext cx="7702296" cy="1287653"/>
            <a:chOff x="595122" y="1993900"/>
            <a:chExt cx="7702296" cy="1287653"/>
          </a:xfrm>
        </p:grpSpPr>
        <p:sp>
          <p:nvSpPr>
            <p:cNvPr id="7" name="TextBox 7"/>
            <p:cNvSpPr txBox="1"/>
            <p:nvPr/>
          </p:nvSpPr>
          <p:spPr>
            <a:xfrm>
              <a:off x="598932" y="1993900"/>
              <a:ext cx="2367763"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宪法第三十条 末句</a:t>
              </a:r>
            </a:p>
          </p:txBody>
        </p:sp>
        <p:sp>
          <p:nvSpPr>
            <p:cNvPr id="8" name="TextBox 8"/>
            <p:cNvSpPr txBox="1"/>
            <p:nvPr/>
          </p:nvSpPr>
          <p:spPr>
            <a:xfrm>
              <a:off x="595122" y="2724150"/>
              <a:ext cx="7702296" cy="557403"/>
            </a:xfrm>
            <a:prstGeom prst="rect">
              <a:avLst/>
            </a:prstGeom>
            <a:noFill/>
            <a:ln>
              <a:noFill/>
            </a:ln>
          </p:spPr>
          <p:txBody>
            <a:bodyPr wrap="none" lIns="0" tIns="0" rIns="0" bIns="0" anchor="t" anchorCtr="0">
              <a:spAutoFit/>
            </a:bodyPr>
            <a:lstStyle/>
            <a:p>
              <a:pPr algn="l"/>
              <a:r>
                <a:rPr lang="zh-CN" sz="2850" dirty="0">
                  <a:solidFill>
                    <a:schemeClr val="accent3"/>
                  </a:solidFill>
                  <a:latin typeface="+mn-lt"/>
                  <a:ea typeface="+mn-ea"/>
                  <a:cs typeface="+mn-cs"/>
                </a:rPr>
                <a:t>自治区、自治州、自治县都是民族自治地方。</a:t>
              </a:r>
            </a:p>
          </p:txBody>
        </p:sp>
      </p:grpSp>
      <p:grpSp>
        <p:nvGrpSpPr>
          <p:cNvPr id="17" name="three-plus-one"/>
          <p:cNvGrpSpPr/>
          <p:nvPr/>
        </p:nvGrpSpPr>
        <p:grpSpPr>
          <a:xfrm>
            <a:off x="596646" y="3771900"/>
            <a:ext cx="10985754" cy="1470533"/>
            <a:chOff x="596646" y="3771900"/>
            <a:chExt cx="10985754" cy="1470533"/>
          </a:xfrm>
        </p:grpSpPr>
        <p:sp>
          <p:nvSpPr>
            <p:cNvPr id="10" name="Line 10"/>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1" name="TextBox 11"/>
            <p:cNvSpPr txBox="1"/>
            <p:nvPr/>
          </p:nvSpPr>
          <p:spPr>
            <a:xfrm>
              <a:off x="596646" y="3911600"/>
              <a:ext cx="2085594"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民族自治地方</a:t>
              </a:r>
            </a:p>
          </p:txBody>
        </p:sp>
        <p:sp>
          <p:nvSpPr>
            <p:cNvPr id="12" name="TextBox 12"/>
            <p:cNvSpPr txBox="1"/>
            <p:nvPr/>
          </p:nvSpPr>
          <p:spPr>
            <a:xfrm>
              <a:off x="598932" y="4527550"/>
              <a:ext cx="3131058"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自治区　自治州　自治县</a:t>
              </a:r>
            </a:p>
          </p:txBody>
        </p:sp>
        <p:sp>
          <p:nvSpPr>
            <p:cNvPr id="13" name="TextBox 13"/>
            <p:cNvSpPr txBox="1"/>
            <p:nvPr/>
          </p:nvSpPr>
          <p:spPr>
            <a:xfrm>
              <a:off x="602742" y="4978400"/>
              <a:ext cx="2739771"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三类，按各自所在的分支认识位置</a:t>
              </a:r>
            </a:p>
          </p:txBody>
        </p:sp>
        <p:sp>
          <p:nvSpPr>
            <p:cNvPr id="14" name="TextBox 14"/>
            <p:cNvSpPr txBox="1"/>
            <p:nvPr/>
          </p:nvSpPr>
          <p:spPr>
            <a:xfrm>
              <a:off x="6464046" y="3911600"/>
              <a:ext cx="1055751" cy="498729"/>
            </a:xfrm>
            <a:prstGeom prst="rect">
              <a:avLst/>
            </a:prstGeom>
            <a:noFill/>
            <a:ln>
              <a:noFill/>
            </a:ln>
          </p:spPr>
          <p:txBody>
            <a:bodyPr wrap="none" lIns="0" tIns="0" rIns="0" bIns="0" anchor="t" anchorCtr="0">
              <a:spAutoFit/>
            </a:bodyPr>
            <a:lstStyle/>
            <a:p>
              <a:pPr algn="l"/>
              <a:r>
                <a:rPr lang="zh-CN" sz="2550" dirty="0">
                  <a:solidFill>
                    <a:srgbClr val="F4F1EA"/>
                  </a:solidFill>
                  <a:latin typeface="+mn-lt"/>
                  <a:ea typeface="+mn-ea"/>
                  <a:cs typeface="+mn-cs"/>
                </a:rPr>
                <a:t>民族乡</a:t>
              </a:r>
            </a:p>
          </p:txBody>
        </p:sp>
        <p:sp>
          <p:nvSpPr>
            <p:cNvPr id="15" name="TextBox 15"/>
            <p:cNvSpPr txBox="1"/>
            <p:nvPr/>
          </p:nvSpPr>
          <p:spPr>
            <a:xfrm>
              <a:off x="6466332" y="4527550"/>
              <a:ext cx="4544568"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末句没有把民族乡列入民族自治地方</a:t>
              </a:r>
            </a:p>
          </p:txBody>
        </p:sp>
        <p:sp>
          <p:nvSpPr>
            <p:cNvPr id="16" name="TextBox 16"/>
            <p:cNvSpPr txBox="1"/>
            <p:nvPr/>
          </p:nvSpPr>
          <p:spPr>
            <a:xfrm>
              <a:off x="6470142" y="4978400"/>
              <a:ext cx="4030104"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名称带有“民族”，与取得法定身份不是同一个判断</a:t>
              </a:r>
            </a:p>
          </p:txBody>
        </p:sp>
      </p:grpSp>
      <p:grpSp>
        <p:nvGrpSpPr>
          <p:cNvPr id="19" name="why-careful"/>
          <p:cNvGrpSpPr/>
          <p:nvPr/>
        </p:nvGrpSpPr>
        <p:grpSpPr>
          <a:xfrm>
            <a:off x="598932" y="5480050"/>
            <a:ext cx="9350502" cy="410718"/>
            <a:chOff x="598932" y="5480050"/>
            <a:chExt cx="9350502" cy="410718"/>
          </a:xfrm>
        </p:grpSpPr>
        <p:sp>
          <p:nvSpPr>
            <p:cNvPr id="18" name="TextBox 18"/>
            <p:cNvSpPr txBox="1"/>
            <p:nvPr/>
          </p:nvSpPr>
          <p:spPr>
            <a:xfrm>
              <a:off x="598932" y="5480050"/>
              <a:ext cx="935050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如果名称近似便直接归为同类，后面谈自治权、机关和制度就会一路混下去</a:t>
              </a:r>
            </a:p>
          </p:txBody>
        </p:sp>
      </p:grpSp>
      <p:sp>
        <p:nvSpPr>
          <p:cNvPr id="20" name="TextBox 20"/>
          <p:cNvSpPr txBox="1"/>
          <p:nvPr/>
        </p:nvSpPr>
        <p:spPr>
          <a:xfrm>
            <a:off x="604266" y="6502400"/>
            <a:ext cx="5410276"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宪法：2018年修正文本，第三十条末句；依据法律身份，不看名字有没有熟悉的关键词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33 / 38</a:t>
              </a:r>
            </a:p>
          </p:txBody>
        </p:sp>
      </p:grpSp>
      <p:grpSp>
        <p:nvGrpSpPr>
          <p:cNvPr id="6" name="page-title"/>
          <p:cNvGrpSpPr/>
          <p:nvPr/>
        </p:nvGrpSpPr>
        <p:grpSpPr>
          <a:xfrm>
            <a:off x="590550" y="904875"/>
            <a:ext cx="5222748" cy="790575"/>
            <a:chOff x="590550" y="904875"/>
            <a:chExt cx="5222748" cy="790575"/>
          </a:xfrm>
        </p:grpSpPr>
        <p:sp>
          <p:nvSpPr>
            <p:cNvPr id="5" name="TextBox 5"/>
            <p:cNvSpPr txBox="1"/>
            <p:nvPr/>
          </p:nvSpPr>
          <p:spPr>
            <a:xfrm>
              <a:off x="590550" y="904875"/>
              <a:ext cx="5222748"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区域自治与不可分离</a:t>
              </a:r>
            </a:p>
          </p:txBody>
        </p:sp>
      </p:grpSp>
      <p:grpSp>
        <p:nvGrpSpPr>
          <p:cNvPr id="8" name="equality-clause"/>
          <p:cNvGrpSpPr/>
          <p:nvPr/>
        </p:nvGrpSpPr>
        <p:grpSpPr>
          <a:xfrm>
            <a:off x="598932" y="1917700"/>
            <a:ext cx="10481310" cy="410718"/>
            <a:chOff x="598932" y="1917700"/>
            <a:chExt cx="10481310" cy="410718"/>
          </a:xfrm>
        </p:grpSpPr>
        <p:sp>
          <p:nvSpPr>
            <p:cNvPr id="7" name="TextBox 7"/>
            <p:cNvSpPr txBox="1"/>
            <p:nvPr/>
          </p:nvSpPr>
          <p:spPr>
            <a:xfrm>
              <a:off x="598932" y="1917700"/>
              <a:ext cx="1048131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宪法第四条：中华人民共和国各民族一律平等，国家保障少数民族的合法权利和利益</a:t>
              </a:r>
            </a:p>
          </p:txBody>
        </p:sp>
      </p:grpSp>
      <p:grpSp>
        <p:nvGrpSpPr>
          <p:cNvPr id="11" name="regional-autonomy"/>
          <p:cNvGrpSpPr/>
          <p:nvPr/>
        </p:nvGrpSpPr>
        <p:grpSpPr>
          <a:xfrm>
            <a:off x="596646" y="2444750"/>
            <a:ext cx="10324338" cy="994029"/>
            <a:chOff x="596646" y="2444750"/>
            <a:chExt cx="10324338" cy="994029"/>
          </a:xfrm>
        </p:grpSpPr>
        <p:sp>
          <p:nvSpPr>
            <p:cNvPr id="9" name="TextBox 9"/>
            <p:cNvSpPr txBox="1"/>
            <p:nvPr/>
          </p:nvSpPr>
          <p:spPr>
            <a:xfrm>
              <a:off x="596646" y="2444750"/>
              <a:ext cx="10324338"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各少数民族聚居的地方实行区域自治，设立自治机关，行使自治权。</a:t>
              </a:r>
            </a:p>
          </p:txBody>
        </p:sp>
        <p:sp>
          <p:nvSpPr>
            <p:cNvPr id="10" name="TextBox 10"/>
            <p:cNvSpPr txBox="1"/>
            <p:nvPr/>
          </p:nvSpPr>
          <p:spPr>
            <a:xfrm>
              <a:off x="596646" y="2940050"/>
              <a:ext cx="826465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各民族自治地方都是中华人民共和国不可分离的部分。</a:t>
              </a:r>
            </a:p>
          </p:txBody>
        </p:sp>
      </p:grpSp>
      <p:grpSp>
        <p:nvGrpSpPr>
          <p:cNvPr id="25" name="two-sides"/>
          <p:cNvGrpSpPr/>
          <p:nvPr/>
        </p:nvGrpSpPr>
        <p:grpSpPr>
          <a:xfrm>
            <a:off x="598932" y="3848100"/>
            <a:ext cx="10983468" cy="1737868"/>
            <a:chOff x="598932" y="3848100"/>
            <a:chExt cx="10983468" cy="1737868"/>
          </a:xfrm>
        </p:grpSpPr>
        <p:grpSp>
          <p:nvGrpSpPr>
            <p:cNvPr id="17" name="region-side"/>
            <p:cNvGrpSpPr/>
            <p:nvPr/>
          </p:nvGrpSpPr>
          <p:grpSpPr>
            <a:xfrm>
              <a:off x="598932" y="3848100"/>
              <a:ext cx="5192268" cy="1737868"/>
              <a:chOff x="598932" y="3848100"/>
              <a:chExt cx="5192268" cy="1737868"/>
            </a:xfrm>
          </p:grpSpPr>
          <p:sp>
            <p:nvSpPr>
              <p:cNvPr id="12" name="Line 12"/>
              <p:cNvSpPr/>
              <p:nvPr/>
            </p:nvSpPr>
            <p:spPr>
              <a:xfrm>
                <a:off x="609600" y="384810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3" name="TextBox 13"/>
              <p:cNvSpPr txBox="1"/>
              <p:nvPr/>
            </p:nvSpPr>
            <p:spPr>
              <a:xfrm>
                <a:off x="598932" y="3975100"/>
                <a:ext cx="429013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条文里的“区域”两个字不能省略，</a:t>
                </a:r>
              </a:p>
            </p:txBody>
          </p:sp>
          <p:sp>
            <p:nvSpPr>
              <p:cNvPr id="14" name="TextBox 14"/>
              <p:cNvSpPr txBox="1"/>
              <p:nvPr/>
            </p:nvSpPr>
            <p:spPr>
              <a:xfrm>
                <a:off x="598932" y="4375150"/>
                <a:ext cx="143484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也不能改写</a:t>
                </a:r>
              </a:p>
            </p:txBody>
          </p:sp>
          <p:sp>
            <p:nvSpPr>
              <p:cNvPr id="15" name="TextBox 15"/>
              <p:cNvSpPr txBox="1"/>
              <p:nvPr/>
            </p:nvSpPr>
            <p:spPr>
              <a:xfrm>
                <a:off x="598932" y="4775200"/>
                <a:ext cx="397916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不是把某个民族的每一个成员，</a:t>
                </a:r>
              </a:p>
            </p:txBody>
          </p:sp>
          <p:sp>
            <p:nvSpPr>
              <p:cNvPr id="16" name="TextBox 16"/>
              <p:cNvSpPr txBox="1"/>
              <p:nvPr/>
            </p:nvSpPr>
            <p:spPr>
              <a:xfrm>
                <a:off x="598932" y="5175250"/>
                <a:ext cx="510997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不论住在哪里，都单独组织成一个国家；</a:t>
                </a:r>
              </a:p>
            </p:txBody>
          </p:sp>
        </p:grpSp>
        <p:grpSp>
          <p:nvGrpSpPr>
            <p:cNvPr id="23" name="together-side"/>
            <p:cNvGrpSpPr/>
            <p:nvPr/>
          </p:nvGrpSpPr>
          <p:grpSpPr>
            <a:xfrm>
              <a:off x="6390132" y="3848100"/>
              <a:ext cx="5192268" cy="1737868"/>
              <a:chOff x="6390132" y="3848100"/>
              <a:chExt cx="5192268" cy="1737868"/>
            </a:xfrm>
          </p:grpSpPr>
          <p:sp>
            <p:nvSpPr>
              <p:cNvPr id="18" name="Line 18"/>
              <p:cNvSpPr/>
              <p:nvPr/>
            </p:nvSpPr>
            <p:spPr>
              <a:xfrm>
                <a:off x="6400800" y="3848100"/>
                <a:ext cx="5181600" cy="9525"/>
              </a:xfrm>
              <a:custGeom>
                <a:avLst/>
                <a:gdLst/>
                <a:ahLst/>
                <a:cxnLst/>
                <a:rect l="l" t="t" r="r" b="b"/>
                <a:pathLst>
                  <a:path w="5181600" h="9525">
                    <a:moveTo>
                      <a:pt x="0" y="0"/>
                    </a:moveTo>
                    <a:lnTo>
                      <a:pt x="5181600" y="0"/>
                    </a:lnTo>
                  </a:path>
                </a:pathLst>
              </a:custGeom>
              <a:noFill/>
              <a:ln w="9525">
                <a:solidFill>
                  <a:srgbClr val="CDC8BE"/>
                </a:solidFill>
              </a:ln>
            </p:spPr>
          </p:sp>
          <p:sp>
            <p:nvSpPr>
              <p:cNvPr id="19" name="TextBox 19"/>
              <p:cNvSpPr txBox="1"/>
              <p:nvPr/>
            </p:nvSpPr>
            <p:spPr>
              <a:xfrm>
                <a:off x="6390132" y="3975100"/>
                <a:ext cx="369646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民族自治地方也不能被理解为</a:t>
                </a:r>
              </a:p>
            </p:txBody>
          </p:sp>
          <p:sp>
            <p:nvSpPr>
              <p:cNvPr id="20" name="TextBox 20"/>
              <p:cNvSpPr txBox="1"/>
              <p:nvPr/>
            </p:nvSpPr>
            <p:spPr>
              <a:xfrm>
                <a:off x="6390132" y="4375150"/>
                <a:ext cx="256565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某个民族的独占领地</a:t>
                </a:r>
              </a:p>
            </p:txBody>
          </p:sp>
          <p:sp>
            <p:nvSpPr>
              <p:cNvPr id="21" name="TextBox 21"/>
              <p:cNvSpPr txBox="1"/>
              <p:nvPr/>
            </p:nvSpPr>
            <p:spPr>
              <a:xfrm>
                <a:off x="6390132" y="4775200"/>
                <a:ext cx="510997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设立自治机关、行使自治权与不可分离，</a:t>
                </a:r>
              </a:p>
            </p:txBody>
          </p:sp>
          <p:sp>
            <p:nvSpPr>
              <p:cNvPr id="22" name="TextBox 22"/>
              <p:cNvSpPr txBox="1"/>
              <p:nvPr/>
            </p:nvSpPr>
            <p:spPr>
              <a:xfrm>
                <a:off x="6390132" y="5175250"/>
                <a:ext cx="341376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是需要一起理解的完整规定</a:t>
                </a:r>
              </a:p>
            </p:txBody>
          </p:sp>
        </p:grpSp>
        <p:sp>
          <p:nvSpPr>
            <p:cNvPr id="24" name="Line 24"/>
            <p:cNvSpPr/>
            <p:nvPr/>
          </p:nvSpPr>
          <p:spPr>
            <a:xfrm>
              <a:off x="6096000" y="3962400"/>
              <a:ext cx="9525" cy="1466850"/>
            </a:xfrm>
            <a:custGeom>
              <a:avLst/>
              <a:gdLst/>
              <a:ahLst/>
              <a:cxnLst/>
              <a:rect l="l" t="t" r="r" b="b"/>
              <a:pathLst>
                <a:path w="9525" h="1466850">
                  <a:moveTo>
                    <a:pt x="0" y="0"/>
                  </a:moveTo>
                  <a:lnTo>
                    <a:pt x="0" y="1466850"/>
                  </a:lnTo>
                </a:path>
              </a:pathLst>
            </a:custGeom>
            <a:noFill/>
            <a:ln w="9525">
              <a:solidFill>
                <a:srgbClr val="CDC8BE"/>
              </a:solidFill>
            </a:ln>
          </p:spPr>
        </p:sp>
      </p:grpSp>
      <p:grpSp>
        <p:nvGrpSpPr>
          <p:cNvPr id="28" name="place-not-organ"/>
          <p:cNvGrpSpPr/>
          <p:nvPr/>
        </p:nvGrpSpPr>
        <p:grpSpPr>
          <a:xfrm>
            <a:off x="598932" y="5880100"/>
            <a:ext cx="10983468" cy="410718"/>
            <a:chOff x="598932" y="5880100"/>
            <a:chExt cx="10983468" cy="410718"/>
          </a:xfrm>
        </p:grpSpPr>
        <p:sp>
          <p:nvSpPr>
            <p:cNvPr id="26" name="Line 26"/>
            <p:cNvSpPr/>
            <p:nvPr/>
          </p:nvSpPr>
          <p:spPr>
            <a:xfrm>
              <a:off x="609600" y="59055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27" name="TextBox 27"/>
            <p:cNvSpPr txBox="1"/>
            <p:nvPr/>
          </p:nvSpPr>
          <p:spPr>
            <a:xfrm>
              <a:off x="598932" y="5880100"/>
              <a:ext cx="821969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地域与机关不能画等号：自治机关的主体和职权，第七讲再读条文</a:t>
              </a:r>
            </a:p>
          </p:txBody>
        </p:sp>
      </p:grpSp>
      <p:sp>
        <p:nvSpPr>
          <p:cNvPr id="29" name="TextBox 29"/>
          <p:cNvSpPr txBox="1"/>
          <p:nvPr/>
        </p:nvSpPr>
        <p:spPr>
          <a:xfrm>
            <a:off x="604266" y="6502400"/>
            <a:ext cx="456217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宪法：2018年修正文本，第四条；民族区域自治作为政治制度留待下一讲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50"/>
                                        <p:tgtEl>
                                          <p:spTgt spid="25"/>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34 / 38</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宪法第三十一条</a:t>
              </a:r>
            </a:p>
          </p:txBody>
        </p:sp>
      </p:grpSp>
      <p:grpSp>
        <p:nvGrpSpPr>
          <p:cNvPr id="10" name="article-thirty-one"/>
          <p:cNvGrpSpPr/>
          <p:nvPr/>
        </p:nvGrpSpPr>
        <p:grpSpPr>
          <a:xfrm>
            <a:off x="595122" y="1993900"/>
            <a:ext cx="9354312" cy="1744218"/>
            <a:chOff x="595122" y="1993900"/>
            <a:chExt cx="9354312" cy="1744218"/>
          </a:xfrm>
        </p:grpSpPr>
        <p:sp>
          <p:nvSpPr>
            <p:cNvPr id="7" name="TextBox 7"/>
            <p:cNvSpPr txBox="1"/>
            <p:nvPr/>
          </p:nvSpPr>
          <p:spPr>
            <a:xfrm>
              <a:off x="598932" y="1993900"/>
              <a:ext cx="2000250"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宪法第三十一条</a:t>
              </a:r>
            </a:p>
          </p:txBody>
        </p:sp>
        <p:sp>
          <p:nvSpPr>
            <p:cNvPr id="8" name="TextBox 8"/>
            <p:cNvSpPr txBox="1"/>
            <p:nvPr/>
          </p:nvSpPr>
          <p:spPr>
            <a:xfrm>
              <a:off x="595122" y="2647950"/>
              <a:ext cx="5783961" cy="557403"/>
            </a:xfrm>
            <a:prstGeom prst="rect">
              <a:avLst/>
            </a:prstGeom>
            <a:noFill/>
            <a:ln>
              <a:noFill/>
            </a:ln>
          </p:spPr>
          <p:txBody>
            <a:bodyPr wrap="none" lIns="0" tIns="0" rIns="0" bIns="0" anchor="t" anchorCtr="0">
              <a:spAutoFit/>
            </a:bodyPr>
            <a:lstStyle/>
            <a:p>
              <a:pPr algn="l"/>
              <a:r>
                <a:rPr lang="zh-CN" sz="2850" dirty="0">
                  <a:solidFill>
                    <a:srgbClr val="F4F1EA"/>
                  </a:solidFill>
                  <a:latin typeface="+mn-lt"/>
                  <a:ea typeface="+mn-ea"/>
                  <a:cs typeface="+mn-cs"/>
                </a:rPr>
                <a:t>国家在必要时得设立特别行政区。</a:t>
              </a:r>
            </a:p>
          </p:txBody>
        </p:sp>
        <p:sp>
          <p:nvSpPr>
            <p:cNvPr id="9" name="TextBox 9"/>
            <p:cNvSpPr txBox="1"/>
            <p:nvPr/>
          </p:nvSpPr>
          <p:spPr>
            <a:xfrm>
              <a:off x="598932" y="3327400"/>
              <a:ext cx="935050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在特别行政区内实行的制度按照具体情况由全国人民代表大会以法律规定。</a:t>
              </a:r>
            </a:p>
          </p:txBody>
        </p:sp>
      </p:grpSp>
      <p:grpSp>
        <p:nvGrpSpPr>
          <p:cNvPr id="16" name="basic-law-identity"/>
          <p:cNvGrpSpPr/>
          <p:nvPr/>
        </p:nvGrpSpPr>
        <p:grpSpPr>
          <a:xfrm>
            <a:off x="596646" y="3810000"/>
            <a:ext cx="10985754" cy="1680083"/>
            <a:chOff x="596646" y="3810000"/>
            <a:chExt cx="10985754" cy="1680083"/>
          </a:xfrm>
        </p:grpSpPr>
        <p:sp>
          <p:nvSpPr>
            <p:cNvPr id="11" name="Line 11"/>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rgbClr val="3A454A"/>
              </a:solidFill>
            </a:ln>
          </p:spPr>
        </p:sp>
        <p:sp>
          <p:nvSpPr>
            <p:cNvPr id="12" name="TextBox 12"/>
            <p:cNvSpPr txBox="1"/>
            <p:nvPr/>
          </p:nvSpPr>
          <p:spPr>
            <a:xfrm>
              <a:off x="596646" y="3911600"/>
              <a:ext cx="5175123"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香港特别行政区　澳门特别行政区</a:t>
              </a:r>
            </a:p>
          </p:txBody>
        </p:sp>
        <p:sp>
          <p:nvSpPr>
            <p:cNvPr id="13" name="TextBox 13"/>
            <p:cNvSpPr txBox="1"/>
            <p:nvPr/>
          </p:nvSpPr>
          <p:spPr>
            <a:xfrm>
              <a:off x="598932" y="4451350"/>
              <a:ext cx="9350502"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两部基本法第十二条：享有高度自治权、直辖中央人民政府的地方行政区域</a:t>
              </a:r>
            </a:p>
          </p:txBody>
        </p:sp>
        <p:sp>
          <p:nvSpPr>
            <p:cNvPr id="14" name="TextBox 14"/>
            <p:cNvSpPr txBox="1"/>
            <p:nvPr/>
          </p:nvSpPr>
          <p:spPr>
            <a:xfrm>
              <a:off x="598932" y="4794250"/>
              <a:ext cx="8219694"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这里没有说，某个地方自己宣布与众不同，便获得特别行政区身份</a:t>
              </a:r>
            </a:p>
          </p:txBody>
        </p:sp>
        <p:sp>
          <p:nvSpPr>
            <p:cNvPr id="15" name="TextBox 15"/>
            <p:cNvSpPr txBox="1"/>
            <p:nvPr/>
          </p:nvSpPr>
          <p:spPr>
            <a:xfrm>
              <a:off x="602742" y="5226050"/>
              <a:ext cx="6374511"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基本法是对相应特区制度作基本安排的国家法律，不是特区自行给自己立的宪法</a:t>
              </a:r>
            </a:p>
          </p:txBody>
        </p:sp>
      </p:grpSp>
      <p:grpSp>
        <p:nvGrpSpPr>
          <p:cNvPr id="18" name="place-region"/>
          <p:cNvGrpSpPr/>
          <p:nvPr/>
        </p:nvGrpSpPr>
        <p:grpSpPr>
          <a:xfrm>
            <a:off x="598932" y="5556250"/>
            <a:ext cx="5958078" cy="410718"/>
            <a:chOff x="598932" y="5556250"/>
            <a:chExt cx="5958078" cy="410718"/>
          </a:xfrm>
        </p:grpSpPr>
        <p:sp>
          <p:nvSpPr>
            <p:cNvPr id="17" name="TextBox 17"/>
            <p:cNvSpPr txBox="1"/>
            <p:nvPr/>
          </p:nvSpPr>
          <p:spPr>
            <a:xfrm>
              <a:off x="598932" y="5556250"/>
              <a:ext cx="5958078"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地方行政区域：高度自治与地方身份在同一句中</a:t>
              </a:r>
            </a:p>
          </p:txBody>
        </p:sp>
      </p:grpSp>
      <p:sp>
        <p:nvSpPr>
          <p:cNvPr id="19" name="TextBox 19"/>
          <p:cNvSpPr txBox="1"/>
          <p:nvPr/>
        </p:nvSpPr>
        <p:spPr>
          <a:xfrm>
            <a:off x="604266" y="6502400"/>
            <a:ext cx="3544443"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宪法第三十一条；香港、澳门特别行政区基本法第十二条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35 / 38</a:t>
              </a:r>
            </a:p>
          </p:txBody>
        </p:sp>
      </p:grpSp>
      <p:grpSp>
        <p:nvGrpSpPr>
          <p:cNvPr id="6" name="page-title"/>
          <p:cNvGrpSpPr/>
          <p:nvPr/>
        </p:nvGrpSpPr>
        <p:grpSpPr>
          <a:xfrm>
            <a:off x="590550" y="904875"/>
            <a:ext cx="6374892" cy="790575"/>
            <a:chOff x="590550" y="904875"/>
            <a:chExt cx="6374892" cy="790575"/>
          </a:xfrm>
        </p:grpSpPr>
        <p:sp>
          <p:nvSpPr>
            <p:cNvPr id="5" name="TextBox 5"/>
            <p:cNvSpPr txBox="1"/>
            <p:nvPr/>
          </p:nvSpPr>
          <p:spPr>
            <a:xfrm>
              <a:off x="590550" y="904875"/>
              <a:ext cx="6374892"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制度有差异，自治有授权</a:t>
              </a:r>
            </a:p>
          </p:txBody>
        </p:sp>
      </p:grpSp>
      <p:grpSp>
        <p:nvGrpSpPr>
          <p:cNvPr id="9" name="system-difference"/>
          <p:cNvGrpSpPr/>
          <p:nvPr/>
        </p:nvGrpSpPr>
        <p:grpSpPr>
          <a:xfrm>
            <a:off x="596646" y="2025650"/>
            <a:ext cx="5175123" cy="1299718"/>
            <a:chOff x="596646" y="2025650"/>
            <a:chExt cx="5175123" cy="1299718"/>
          </a:xfrm>
        </p:grpSpPr>
        <p:sp>
          <p:nvSpPr>
            <p:cNvPr id="7" name="TextBox 7"/>
            <p:cNvSpPr txBox="1"/>
            <p:nvPr/>
          </p:nvSpPr>
          <p:spPr>
            <a:xfrm>
              <a:off x="596646" y="2025650"/>
              <a:ext cx="517512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基本法第五条：区域内的制度差异</a:t>
              </a:r>
            </a:p>
          </p:txBody>
        </p:sp>
        <p:sp>
          <p:nvSpPr>
            <p:cNvPr id="8" name="TextBox 8"/>
            <p:cNvSpPr txBox="1"/>
            <p:nvPr/>
          </p:nvSpPr>
          <p:spPr>
            <a:xfrm>
              <a:off x="598932" y="2514600"/>
              <a:ext cx="4821936" cy="810768"/>
            </a:xfrm>
            <a:prstGeom prst="rect">
              <a:avLst/>
            </a:prstGeom>
            <a:noFill/>
            <a:ln>
              <a:noFill/>
            </a:ln>
          </p:spPr>
          <p:txBody>
            <a:bodyPr wrap="none" lIns="0" tIns="0" rIns="0" bIns="0" anchor="t" anchorCtr="0">
              <a:spAutoFit/>
            </a:bodyPr>
            <a:lstStyle/>
            <a:p>
              <a:pPr algn="l">
                <a:lnSpc>
                  <a:spcPts val="3150"/>
                </a:lnSpc>
              </a:pPr>
              <a:r>
                <a:rPr lang="zh-CN" sz="2100" dirty="0">
                  <a:solidFill>
                    <a:schemeClr val="accent1"/>
                  </a:solidFill>
                  <a:latin typeface="+mn-lt"/>
                  <a:ea typeface="+mn-ea"/>
                  <a:cs typeface="+mn-cs"/>
                </a:rPr>
                <a:t>相应特区不实行社会主义制度和政策，</a:t>
              </a:r>
              <a:br>
                <a:rPr lang="zh-CN" sz="2100" dirty="0">
                  <a:solidFill>
                    <a:schemeClr val="accent1"/>
                  </a:solidFill>
                  <a:latin typeface="+mn-lt"/>
                  <a:ea typeface="+mn-ea"/>
                  <a:cs typeface="+mn-cs"/>
                </a:rPr>
              </a:br>
              <a:r>
                <a:rPr lang="zh-CN" sz="2100" dirty="0">
                  <a:solidFill>
                    <a:schemeClr val="accent1"/>
                  </a:solidFill>
                  <a:latin typeface="+mn-lt"/>
                  <a:ea typeface="+mn-ea"/>
                  <a:cs typeface="+mn-cs"/>
                </a:rPr>
                <a:t>继续维持原有的资本主义制度和生活方式</a:t>
              </a:r>
            </a:p>
          </p:txBody>
        </p:sp>
      </p:grpSp>
      <p:grpSp>
        <p:nvGrpSpPr>
          <p:cNvPr id="16" name="autonomy-authorization"/>
          <p:cNvGrpSpPr/>
          <p:nvPr/>
        </p:nvGrpSpPr>
        <p:grpSpPr>
          <a:xfrm>
            <a:off x="595122" y="3771900"/>
            <a:ext cx="10987278" cy="1261618"/>
            <a:chOff x="595122" y="3771900"/>
            <a:chExt cx="10987278" cy="1261618"/>
          </a:xfrm>
        </p:grpSpPr>
        <p:sp>
          <p:nvSpPr>
            <p:cNvPr id="10" name="Line 10"/>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1" name="TextBox 11"/>
            <p:cNvSpPr txBox="1"/>
            <p:nvPr/>
          </p:nvSpPr>
          <p:spPr>
            <a:xfrm>
              <a:off x="595122" y="4019550"/>
              <a:ext cx="1563624"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全国人大</a:t>
              </a:r>
            </a:p>
          </p:txBody>
        </p:sp>
        <p:sp>
          <p:nvSpPr>
            <p:cNvPr id="12" name="Line 12"/>
            <p:cNvSpPr/>
            <p:nvPr/>
          </p:nvSpPr>
          <p:spPr>
            <a:xfrm>
              <a:off x="2609850" y="4267200"/>
              <a:ext cx="5676900" cy="1"/>
            </a:xfrm>
            <a:prstGeom prst="line">
              <a:avLst/>
            </a:prstGeom>
            <a:noFill/>
            <a:ln w="19050">
              <a:solidFill>
                <a:schemeClr val="accent1"/>
              </a:solidFill>
              <a:tailEnd type="triangle" w="lg" len="lg"/>
            </a:ln>
          </p:spPr>
        </p:sp>
        <p:sp>
          <p:nvSpPr>
            <p:cNvPr id="13" name="TextBox 13"/>
            <p:cNvSpPr txBox="1"/>
            <p:nvPr/>
          </p:nvSpPr>
          <p:spPr>
            <a:xfrm>
              <a:off x="2884932" y="3832225"/>
              <a:ext cx="4544568"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依基本法第二条，授权实行高度自治</a:t>
              </a:r>
            </a:p>
          </p:txBody>
        </p:sp>
        <p:sp>
          <p:nvSpPr>
            <p:cNvPr id="14" name="TextBox 14"/>
            <p:cNvSpPr txBox="1"/>
            <p:nvPr/>
          </p:nvSpPr>
          <p:spPr>
            <a:xfrm>
              <a:off x="8653272" y="4019550"/>
              <a:ext cx="2714625" cy="557403"/>
            </a:xfrm>
            <a:prstGeom prst="rect">
              <a:avLst/>
            </a:prstGeom>
            <a:noFill/>
            <a:ln>
              <a:noFill/>
            </a:ln>
          </p:spPr>
          <p:txBody>
            <a:bodyPr wrap="none" lIns="0" tIns="0" rIns="0" bIns="0" anchor="t" anchorCtr="0">
              <a:spAutoFit/>
            </a:bodyPr>
            <a:lstStyle/>
            <a:p>
              <a:pPr algn="l"/>
              <a:r>
                <a:rPr lang="zh-CN" sz="2850" dirty="0">
                  <a:solidFill>
                    <a:schemeClr val="accent1"/>
                  </a:solidFill>
                  <a:latin typeface="+mn-lt"/>
                  <a:ea typeface="+mn-ea"/>
                  <a:cs typeface="+mn-cs"/>
                </a:rPr>
                <a:t>相应特别行政区</a:t>
              </a:r>
            </a:p>
          </p:txBody>
        </p:sp>
        <p:sp>
          <p:nvSpPr>
            <p:cNvPr id="15" name="TextBox 15"/>
            <p:cNvSpPr txBox="1"/>
            <p:nvPr/>
          </p:nvSpPr>
          <p:spPr>
            <a:xfrm>
              <a:off x="598932" y="4622800"/>
              <a:ext cx="850239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自治权限很广，仍须依照基本法行使；不因此取得另一个国家的主权</a:t>
              </a:r>
            </a:p>
          </p:txBody>
        </p:sp>
      </p:grpSp>
      <p:grpSp>
        <p:nvGrpSpPr>
          <p:cNvPr id="20" name="different-levels"/>
          <p:cNvGrpSpPr/>
          <p:nvPr/>
        </p:nvGrpSpPr>
        <p:grpSpPr>
          <a:xfrm>
            <a:off x="609600" y="5334000"/>
            <a:ext cx="10972800" cy="871093"/>
            <a:chOff x="609600" y="5334000"/>
            <a:chExt cx="10972800" cy="871093"/>
          </a:xfrm>
        </p:grpSpPr>
        <p:sp>
          <p:nvSpPr>
            <p:cNvPr id="17" name="Rectangle 17"/>
            <p:cNvSpPr/>
            <p:nvPr/>
          </p:nvSpPr>
          <p:spPr>
            <a:xfrm>
              <a:off x="609600" y="5334000"/>
              <a:ext cx="10972800" cy="838200"/>
            </a:xfrm>
            <a:prstGeom prst="rect">
              <a:avLst/>
            </a:prstGeom>
            <a:solidFill>
              <a:schemeClr val="accent1"/>
            </a:solidFill>
            <a:ln>
              <a:noFill/>
            </a:ln>
          </p:spPr>
        </p:sp>
        <p:sp>
          <p:nvSpPr>
            <p:cNvPr id="18" name="TextBox 18"/>
            <p:cNvSpPr txBox="1"/>
            <p:nvPr/>
          </p:nvSpPr>
          <p:spPr>
            <a:xfrm>
              <a:off x="827532" y="5441950"/>
              <a:ext cx="8785098"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第一条：国家整体的根本制度　／　第三十一条：特定区域的制度安排</a:t>
              </a:r>
            </a:p>
          </p:txBody>
        </p:sp>
        <p:sp>
          <p:nvSpPr>
            <p:cNvPr id="19" name="TextBox 19"/>
            <p:cNvSpPr txBox="1"/>
            <p:nvPr/>
          </p:nvSpPr>
          <p:spPr>
            <a:xfrm>
              <a:off x="827532" y="5794375"/>
              <a:ext cx="7371588"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仍是统一国家内的地方区域；不因此取得另一个国家的主权</a:t>
              </a:r>
            </a:p>
          </p:txBody>
        </p:sp>
      </p:grpSp>
      <p:sp>
        <p:nvSpPr>
          <p:cNvPr id="21" name="TextBox 21"/>
          <p:cNvSpPr txBox="1"/>
          <p:nvPr/>
        </p:nvSpPr>
        <p:spPr>
          <a:xfrm>
            <a:off x="604266" y="6502400"/>
            <a:ext cx="679551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宪法第一条、第三十一条；香港、澳门基本法第二、五、十二条。区域身份、授权来源与制度内容分别确认。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36 / 38</a:t>
              </a:r>
            </a:p>
          </p:txBody>
        </p:sp>
      </p:grpSp>
      <p:grpSp>
        <p:nvGrpSpPr>
          <p:cNvPr id="7" name="reading-title"/>
          <p:cNvGrpSpPr/>
          <p:nvPr/>
        </p:nvGrpSpPr>
        <p:grpSpPr>
          <a:xfrm>
            <a:off x="590550" y="838200"/>
            <a:ext cx="10998708" cy="790575"/>
            <a:chOff x="590550" y="838200"/>
            <a:chExt cx="10998708" cy="790575"/>
          </a:xfrm>
        </p:grpSpPr>
        <p:sp>
          <p:nvSpPr>
            <p:cNvPr id="5" name="TextBox 5"/>
            <p:cNvSpPr txBox="1"/>
            <p:nvPr/>
          </p:nvSpPr>
          <p:spPr>
            <a:xfrm>
              <a:off x="590550" y="838200"/>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独立阅读与思考</a:t>
              </a:r>
            </a:p>
          </p:txBody>
        </p:sp>
        <p:sp>
          <p:nvSpPr>
            <p:cNvPr id="6" name="TextBox 6"/>
            <p:cNvSpPr txBox="1"/>
            <p:nvPr/>
          </p:nvSpPr>
          <p:spPr>
            <a:xfrm>
              <a:off x="10848594" y="1149350"/>
              <a:ext cx="740664"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约三分钟</a:t>
              </a:r>
            </a:p>
          </p:txBody>
        </p:sp>
      </p:grpSp>
      <p:grpSp>
        <p:nvGrpSpPr>
          <p:cNvPr id="12" name="article-three-four"/>
          <p:cNvGrpSpPr/>
          <p:nvPr/>
        </p:nvGrpSpPr>
        <p:grpSpPr>
          <a:xfrm>
            <a:off x="599694" y="1911350"/>
            <a:ext cx="4229862" cy="3181731"/>
            <a:chOff x="599694" y="1911350"/>
            <a:chExt cx="4229862" cy="3181731"/>
          </a:xfrm>
        </p:grpSpPr>
        <p:sp>
          <p:nvSpPr>
            <p:cNvPr id="8" name="TextBox 8"/>
            <p:cNvSpPr txBox="1"/>
            <p:nvPr/>
          </p:nvSpPr>
          <p:spPr>
            <a:xfrm>
              <a:off x="602742" y="1911350"/>
              <a:ext cx="1858347"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宪法第三条 · 末款全文</a:t>
              </a:r>
            </a:p>
          </p:txBody>
        </p:sp>
        <p:sp>
          <p:nvSpPr>
            <p:cNvPr id="9" name="TextBox 9"/>
            <p:cNvSpPr txBox="1"/>
            <p:nvPr/>
          </p:nvSpPr>
          <p:spPr>
            <a:xfrm>
              <a:off x="599694" y="2139950"/>
              <a:ext cx="3982212" cy="110528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中央和地方的国家机构职权的划分，</a:t>
              </a:r>
              <a:br>
                <a:rPr lang="zh-CN" sz="1950" dirty="0">
                  <a:solidFill>
                    <a:srgbClr val="F4F1EA"/>
                  </a:solidFill>
                  <a:latin typeface="+mn-lt"/>
                  <a:ea typeface="+mn-ea"/>
                  <a:cs typeface="+mn-cs"/>
                </a:rPr>
              </a:br>
              <a:r>
                <a:rPr lang="zh-CN" sz="1950" dirty="0">
                  <a:solidFill>
                    <a:srgbClr val="F4F1EA"/>
                  </a:solidFill>
                  <a:latin typeface="+mn-lt"/>
                  <a:ea typeface="+mn-ea"/>
                  <a:cs typeface="+mn-cs"/>
                </a:rPr>
                <a:t>遵循在中央的统一领导下，充分发挥</a:t>
              </a:r>
              <a:br>
                <a:rPr lang="zh-CN" sz="1950" dirty="0">
                  <a:solidFill>
                    <a:srgbClr val="F4F1EA"/>
                  </a:solidFill>
                  <a:latin typeface="+mn-lt"/>
                  <a:ea typeface="+mn-ea"/>
                  <a:cs typeface="+mn-cs"/>
                </a:rPr>
              </a:br>
              <a:r>
                <a:rPr lang="zh-CN" sz="1950" dirty="0">
                  <a:solidFill>
                    <a:srgbClr val="F4F1EA"/>
                  </a:solidFill>
                  <a:latin typeface="+mn-lt"/>
                  <a:ea typeface="+mn-ea"/>
                  <a:cs typeface="+mn-cs"/>
                </a:rPr>
                <a:t>地方的主动性、积极性的原则。</a:t>
              </a:r>
            </a:p>
          </p:txBody>
        </p:sp>
        <p:sp>
          <p:nvSpPr>
            <p:cNvPr id="10" name="TextBox 10"/>
            <p:cNvSpPr txBox="1"/>
            <p:nvPr/>
          </p:nvSpPr>
          <p:spPr>
            <a:xfrm>
              <a:off x="602742" y="3397250"/>
              <a:ext cx="2585295"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宪法第四条 · 区域自治相关两句</a:t>
              </a:r>
            </a:p>
          </p:txBody>
        </p:sp>
        <p:sp>
          <p:nvSpPr>
            <p:cNvPr id="11" name="TextBox 11"/>
            <p:cNvSpPr txBox="1"/>
            <p:nvPr/>
          </p:nvSpPr>
          <p:spPr>
            <a:xfrm>
              <a:off x="599694" y="3625850"/>
              <a:ext cx="4229862" cy="146723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各少数民族聚居的地方实行区域自治，</a:t>
              </a:r>
              <a:br>
                <a:rPr lang="zh-CN" sz="1950" dirty="0">
                  <a:solidFill>
                    <a:srgbClr val="F4F1EA"/>
                  </a:solidFill>
                  <a:latin typeface="+mn-lt"/>
                  <a:ea typeface="+mn-ea"/>
                  <a:cs typeface="+mn-cs"/>
                </a:rPr>
              </a:br>
              <a:r>
                <a:rPr lang="zh-CN" sz="1950" dirty="0">
                  <a:solidFill>
                    <a:srgbClr val="F4F1EA"/>
                  </a:solidFill>
                  <a:latin typeface="+mn-lt"/>
                  <a:ea typeface="+mn-ea"/>
                  <a:cs typeface="+mn-cs"/>
                </a:rPr>
                <a:t>设立自治机关，行使自治权。</a:t>
              </a:r>
              <a:br>
                <a:rPr lang="zh-CN" sz="1950" dirty="0">
                  <a:solidFill>
                    <a:srgbClr val="F4F1EA"/>
                  </a:solidFill>
                  <a:latin typeface="+mn-lt"/>
                  <a:ea typeface="+mn-ea"/>
                  <a:cs typeface="+mn-cs"/>
                </a:rPr>
              </a:br>
              <a:r>
                <a:rPr lang="zh-CN" sz="1950" dirty="0">
                  <a:solidFill>
                    <a:srgbClr val="F4F1EA"/>
                  </a:solidFill>
                  <a:latin typeface="+mn-lt"/>
                  <a:ea typeface="+mn-ea"/>
                  <a:cs typeface="+mn-cs"/>
                </a:rPr>
                <a:t>各民族自治地方都是中华人民共和国</a:t>
              </a:r>
              <a:br>
                <a:rPr lang="zh-CN" sz="1950" dirty="0">
                  <a:solidFill>
                    <a:srgbClr val="F4F1EA"/>
                  </a:solidFill>
                  <a:latin typeface="+mn-lt"/>
                  <a:ea typeface="+mn-ea"/>
                  <a:cs typeface="+mn-cs"/>
                </a:rPr>
              </a:br>
              <a:r>
                <a:rPr lang="zh-CN" sz="1950" dirty="0">
                  <a:solidFill>
                    <a:srgbClr val="F4F1EA"/>
                  </a:solidFill>
                  <a:latin typeface="+mn-lt"/>
                  <a:ea typeface="+mn-ea"/>
                  <a:cs typeface="+mn-cs"/>
                </a:rPr>
                <a:t>不可分离的部分。</a:t>
              </a:r>
            </a:p>
          </p:txBody>
        </p:sp>
      </p:grpSp>
      <p:grpSp>
        <p:nvGrpSpPr>
          <p:cNvPr id="19" name="article-thirty-thirtyone"/>
          <p:cNvGrpSpPr/>
          <p:nvPr/>
        </p:nvGrpSpPr>
        <p:grpSpPr>
          <a:xfrm>
            <a:off x="6390894" y="1911350"/>
            <a:ext cx="4229862" cy="3524631"/>
            <a:chOff x="6390894" y="1911350"/>
            <a:chExt cx="4229862" cy="3524631"/>
          </a:xfrm>
        </p:grpSpPr>
        <p:sp>
          <p:nvSpPr>
            <p:cNvPr id="13" name="TextBox 13"/>
            <p:cNvSpPr txBox="1"/>
            <p:nvPr/>
          </p:nvSpPr>
          <p:spPr>
            <a:xfrm>
              <a:off x="6393942" y="1911350"/>
              <a:ext cx="1676610"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宪法第三十条 · 末句</a:t>
              </a:r>
            </a:p>
          </p:txBody>
        </p:sp>
        <p:sp>
          <p:nvSpPr>
            <p:cNvPr id="14" name="TextBox 14"/>
            <p:cNvSpPr txBox="1"/>
            <p:nvPr/>
          </p:nvSpPr>
          <p:spPr>
            <a:xfrm>
              <a:off x="6390894" y="2139950"/>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自治区、自治州、自治县都是</a:t>
              </a:r>
              <a:br>
                <a:rPr lang="zh-CN" sz="1950" dirty="0">
                  <a:solidFill>
                    <a:srgbClr val="F4F1EA"/>
                  </a:solidFill>
                  <a:latin typeface="+mn-lt"/>
                  <a:ea typeface="+mn-ea"/>
                  <a:cs typeface="+mn-cs"/>
                </a:rPr>
              </a:br>
              <a:r>
                <a:rPr lang="zh-CN" sz="1950" dirty="0">
                  <a:solidFill>
                    <a:srgbClr val="F4F1EA"/>
                  </a:solidFill>
                  <a:latin typeface="+mn-lt"/>
                  <a:ea typeface="+mn-ea"/>
                  <a:cs typeface="+mn-cs"/>
                </a:rPr>
                <a:t>民族自治地方。</a:t>
              </a:r>
            </a:p>
          </p:txBody>
        </p:sp>
        <p:sp>
          <p:nvSpPr>
            <p:cNvPr id="15" name="TextBox 15"/>
            <p:cNvSpPr txBox="1"/>
            <p:nvPr/>
          </p:nvSpPr>
          <p:spPr>
            <a:xfrm>
              <a:off x="6393942" y="3016250"/>
              <a:ext cx="1858347"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宪法第三十一条 · 全文</a:t>
              </a:r>
            </a:p>
          </p:txBody>
        </p:sp>
        <p:sp>
          <p:nvSpPr>
            <p:cNvPr id="16" name="TextBox 16"/>
            <p:cNvSpPr txBox="1"/>
            <p:nvPr/>
          </p:nvSpPr>
          <p:spPr>
            <a:xfrm>
              <a:off x="6390894" y="3244850"/>
              <a:ext cx="4229862" cy="110528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国家在必要时得设立特别行政区。</a:t>
              </a:r>
              <a:br>
                <a:rPr lang="zh-CN" sz="1950" dirty="0">
                  <a:solidFill>
                    <a:srgbClr val="F4F1EA"/>
                  </a:solidFill>
                  <a:latin typeface="+mn-lt"/>
                  <a:ea typeface="+mn-ea"/>
                  <a:cs typeface="+mn-cs"/>
                </a:rPr>
              </a:br>
              <a:r>
                <a:rPr lang="zh-CN" sz="1950" dirty="0">
                  <a:solidFill>
                    <a:srgbClr val="F4F1EA"/>
                  </a:solidFill>
                  <a:latin typeface="+mn-lt"/>
                  <a:ea typeface="+mn-ea"/>
                  <a:cs typeface="+mn-cs"/>
                </a:rPr>
                <a:t>在特别行政区内实行的制度按照具体</a:t>
              </a:r>
              <a:br>
                <a:rPr lang="zh-CN" sz="1950" dirty="0">
                  <a:solidFill>
                    <a:srgbClr val="F4F1EA"/>
                  </a:solidFill>
                  <a:latin typeface="+mn-lt"/>
                  <a:ea typeface="+mn-ea"/>
                  <a:cs typeface="+mn-cs"/>
                </a:rPr>
              </a:br>
              <a:r>
                <a:rPr lang="zh-CN" sz="1950" dirty="0">
                  <a:solidFill>
                    <a:srgbClr val="F4F1EA"/>
                  </a:solidFill>
                  <a:latin typeface="+mn-lt"/>
                  <a:ea typeface="+mn-ea"/>
                  <a:cs typeface="+mn-cs"/>
                </a:rPr>
                <a:t>情况由全国人民代表大会以法律规定。</a:t>
              </a:r>
            </a:p>
          </p:txBody>
        </p:sp>
        <p:sp>
          <p:nvSpPr>
            <p:cNvPr id="17" name="TextBox 17"/>
            <p:cNvSpPr txBox="1"/>
            <p:nvPr/>
          </p:nvSpPr>
          <p:spPr>
            <a:xfrm>
              <a:off x="6393942" y="4464050"/>
              <a:ext cx="3312243"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两部基本法第十二条 · 要旨，非逐字合引</a:t>
              </a:r>
            </a:p>
          </p:txBody>
        </p:sp>
        <p:sp>
          <p:nvSpPr>
            <p:cNvPr id="18" name="TextBox 18"/>
            <p:cNvSpPr txBox="1"/>
            <p:nvPr/>
          </p:nvSpPr>
          <p:spPr>
            <a:xfrm>
              <a:off x="6390894" y="4692650"/>
              <a:ext cx="3982212" cy="743331"/>
            </a:xfrm>
            <a:prstGeom prst="rect">
              <a:avLst/>
            </a:prstGeom>
            <a:noFill/>
            <a:ln>
              <a:noFill/>
            </a:ln>
          </p:spPr>
          <p:txBody>
            <a:bodyPr wrap="none" lIns="0" tIns="0" rIns="0" bIns="0" anchor="t" anchorCtr="0">
              <a:spAutoFit/>
            </a:bodyPr>
            <a:lstStyle/>
            <a:p>
              <a:pPr algn="l">
                <a:lnSpc>
                  <a:spcPts val="2850"/>
                </a:lnSpc>
              </a:pPr>
              <a:r>
                <a:rPr lang="zh-CN" sz="1950" dirty="0">
                  <a:solidFill>
                    <a:srgbClr val="F4F1EA"/>
                  </a:solidFill>
                  <a:latin typeface="+mn-lt"/>
                  <a:ea typeface="+mn-ea"/>
                  <a:cs typeface="+mn-cs"/>
                </a:rPr>
                <a:t>享有高度自治权、直辖中央人民政府</a:t>
              </a:r>
              <a:br>
                <a:rPr lang="zh-CN" sz="1950" dirty="0">
                  <a:solidFill>
                    <a:srgbClr val="F4F1EA"/>
                  </a:solidFill>
                  <a:latin typeface="+mn-lt"/>
                  <a:ea typeface="+mn-ea"/>
                  <a:cs typeface="+mn-cs"/>
                </a:rPr>
              </a:br>
              <a:r>
                <a:rPr lang="zh-CN" sz="1950" dirty="0">
                  <a:solidFill>
                    <a:srgbClr val="F4F1EA"/>
                  </a:solidFill>
                  <a:latin typeface="+mn-lt"/>
                  <a:ea typeface="+mn-ea"/>
                  <a:cs typeface="+mn-cs"/>
                </a:rPr>
                <a:t>的地方行政区域。</a:t>
              </a:r>
            </a:p>
          </p:txBody>
        </p:sp>
      </p:grpSp>
      <p:grpSp>
        <p:nvGrpSpPr>
          <p:cNvPr id="22" name="reading-questions"/>
          <p:cNvGrpSpPr/>
          <p:nvPr/>
        </p:nvGrpSpPr>
        <p:grpSpPr>
          <a:xfrm>
            <a:off x="599694" y="5588000"/>
            <a:ext cx="8708860" cy="743331"/>
            <a:chOff x="599694" y="5588000"/>
            <a:chExt cx="8708860" cy="743331"/>
          </a:xfrm>
        </p:grpSpPr>
        <p:sp>
          <p:nvSpPr>
            <p:cNvPr id="20" name="TextBox 20"/>
            <p:cNvSpPr txBox="1"/>
            <p:nvPr/>
          </p:nvSpPr>
          <p:spPr>
            <a:xfrm>
              <a:off x="599694" y="5588000"/>
              <a:ext cx="6582537" cy="381381"/>
            </a:xfrm>
            <a:prstGeom prst="rect">
              <a:avLst/>
            </a:prstGeom>
            <a:noFill/>
            <a:ln>
              <a:noFill/>
            </a:ln>
          </p:spPr>
          <p:txBody>
            <a:bodyPr wrap="none" lIns="0" tIns="0" rIns="0" bIns="0" anchor="t" anchorCtr="0">
              <a:spAutoFit/>
            </a:bodyPr>
            <a:lstStyle/>
            <a:p>
              <a:pPr algn="l"/>
              <a:r>
                <a:rPr lang="zh-CN" sz="1950" dirty="0">
                  <a:solidFill>
                    <a:srgbClr val="F4F1EA"/>
                  </a:solidFill>
                  <a:latin typeface="+mn-lt"/>
                  <a:ea typeface="+mn-ea"/>
                  <a:cs typeface="+mn-cs"/>
                </a:rPr>
                <a:t>地方自治或特殊制度，为什么并不意味着离开统一国家？</a:t>
              </a:r>
            </a:p>
          </p:txBody>
        </p:sp>
        <p:sp>
          <p:nvSpPr>
            <p:cNvPr id="21" name="TextBox 21"/>
            <p:cNvSpPr txBox="1"/>
            <p:nvPr/>
          </p:nvSpPr>
          <p:spPr>
            <a:xfrm>
              <a:off x="599694" y="5949950"/>
              <a:ext cx="8708860" cy="381381"/>
            </a:xfrm>
            <a:prstGeom prst="rect">
              <a:avLst/>
            </a:prstGeom>
            <a:noFill/>
            <a:ln>
              <a:noFill/>
            </a:ln>
          </p:spPr>
          <p:txBody>
            <a:bodyPr wrap="none" lIns="0" tIns="0" rIns="0" bIns="0" anchor="t" anchorCtr="0">
              <a:spAutoFit/>
            </a:bodyPr>
            <a:lstStyle/>
            <a:p>
              <a:pPr algn="l"/>
              <a:r>
                <a:rPr lang="zh-CN" sz="1950" dirty="0">
                  <a:solidFill>
                    <a:srgbClr val="F4F1EA"/>
                  </a:solidFill>
                  <a:latin typeface="+mn-lt"/>
                  <a:ea typeface="+mn-ea"/>
                  <a:cs typeface="+mn-cs"/>
                </a:rPr>
                <a:t>民族自治地方与特别行政区有什么共同位置，为什么不能只用“自治”统称？</a:t>
              </a:r>
            </a:p>
          </p:txBody>
        </p:sp>
      </p:grpSp>
      <p:grpSp>
        <p:nvGrpSpPr>
          <p:cNvPr id="24" name="reading-procedure"/>
          <p:cNvGrpSpPr/>
          <p:nvPr/>
        </p:nvGrpSpPr>
        <p:grpSpPr>
          <a:xfrm>
            <a:off x="9212961" y="1568450"/>
            <a:ext cx="2376297" cy="264033"/>
            <a:chOff x="9212961" y="1568450"/>
            <a:chExt cx="2376297" cy="264033"/>
          </a:xfrm>
        </p:grpSpPr>
        <p:sp>
          <p:nvSpPr>
            <p:cNvPr id="23" name="TextBox 23"/>
            <p:cNvSpPr txBox="1"/>
            <p:nvPr/>
          </p:nvSpPr>
          <p:spPr>
            <a:xfrm>
              <a:off x="9212961" y="1568450"/>
              <a:ext cx="2376297"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先答共同位置，再答制度根据</a:t>
              </a:r>
            </a:p>
          </p:txBody>
        </p:sp>
      </p:grpSp>
      <p:sp>
        <p:nvSpPr>
          <p:cNvPr id="25" name="TextBox 25"/>
          <p:cNvSpPr txBox="1"/>
          <p:nvPr/>
        </p:nvSpPr>
        <p:spPr>
          <a:xfrm>
            <a:off x="604266" y="6502400"/>
            <a:ext cx="4109847"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宪法第三、四、三十、三十一条原文；两部基本法第十二条要旨。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rgbClr val="B8C4C8"/>
                  </a:solidFill>
                  <a:latin typeface="+mn-lt"/>
                  <a:ea typeface="+mn-ea"/>
                  <a:cs typeface="+mn-cs"/>
                </a:rPr>
                <a:t>下节 37 / 38</a:t>
              </a:r>
            </a:p>
          </p:txBody>
        </p:sp>
      </p:grpSp>
      <p:grpSp>
        <p:nvGrpSpPr>
          <p:cNvPr id="6" name="page-title"/>
          <p:cNvGrpSpPr/>
          <p:nvPr/>
        </p:nvGrpSpPr>
        <p:grpSpPr>
          <a:xfrm>
            <a:off x="590550" y="904875"/>
            <a:ext cx="4070604" cy="790575"/>
            <a:chOff x="590550" y="904875"/>
            <a:chExt cx="4070604" cy="790575"/>
          </a:xfrm>
        </p:grpSpPr>
        <p:sp>
          <p:nvSpPr>
            <p:cNvPr id="5" name="TextBox 5"/>
            <p:cNvSpPr txBox="1"/>
            <p:nvPr/>
          </p:nvSpPr>
          <p:spPr>
            <a:xfrm>
              <a:off x="590550" y="904875"/>
              <a:ext cx="4070604" cy="790575"/>
            </a:xfrm>
            <a:prstGeom prst="rect">
              <a:avLst/>
            </a:prstGeom>
            <a:noFill/>
            <a:ln>
              <a:noFill/>
            </a:ln>
          </p:spPr>
          <p:txBody>
            <a:bodyPr wrap="none" lIns="0" tIns="0" rIns="0" bIns="0" anchor="t" anchorCtr="0">
              <a:spAutoFit/>
            </a:bodyPr>
            <a:lstStyle/>
            <a:p>
              <a:pPr algn="l"/>
              <a:r>
                <a:rPr lang="zh-CN" sz="4050" dirty="0">
                  <a:solidFill>
                    <a:srgbClr val="F4F1EA"/>
                  </a:solidFill>
                  <a:latin typeface="+mj-lt"/>
                  <a:ea typeface="+mj-ea"/>
                  <a:cs typeface="+mj-cs"/>
                </a:rPr>
                <a:t>国家标志与首都</a:t>
              </a:r>
            </a:p>
          </p:txBody>
        </p:sp>
      </p:grpSp>
      <p:grpSp>
        <p:nvGrpSpPr>
          <p:cNvPr id="11" name="standard-symbols"/>
          <p:cNvGrpSpPr/>
          <p:nvPr/>
        </p:nvGrpSpPr>
        <p:grpSpPr>
          <a:xfrm>
            <a:off x="8946642" y="1962150"/>
            <a:ext cx="2292858" cy="3889883"/>
            <a:chOff x="8946642" y="1962150"/>
            <a:chExt cx="2292858" cy="3889883"/>
          </a:xfrm>
        </p:grpSpPr>
        <p:pic>
          <p:nvPicPr>
            <p:cNvPr id="7" name="Image 7"/>
            <p:cNvPicPr>
              <a:picLocks noChangeAspect="1"/>
            </p:cNvPicPr>
            <p:nvPr/>
          </p:nvPicPr>
          <p:blipFill>
            <a:blip r:embed="rId2"/>
            <a:stretch>
              <a:fillRect/>
            </a:stretch>
          </p:blipFill>
          <p:spPr>
            <a:xfrm>
              <a:off x="8953500" y="1962150"/>
              <a:ext cx="2286000" cy="1524000"/>
            </a:xfrm>
            <a:prstGeom prst="rect">
              <a:avLst/>
            </a:prstGeom>
          </p:spPr>
        </p:pic>
        <p:sp>
          <p:nvSpPr>
            <p:cNvPr id="8" name="TextBox 8"/>
            <p:cNvSpPr txBox="1"/>
            <p:nvPr/>
          </p:nvSpPr>
          <p:spPr>
            <a:xfrm>
              <a:off x="8946642" y="3549650"/>
              <a:ext cx="1104138"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国旗标准图案</a:t>
              </a:r>
            </a:p>
          </p:txBody>
        </p:sp>
        <p:pic>
          <p:nvPicPr>
            <p:cNvPr id="9" name="Image 9"/>
            <p:cNvPicPr>
              <a:picLocks noChangeAspect="1"/>
            </p:cNvPicPr>
            <p:nvPr/>
          </p:nvPicPr>
          <p:blipFill>
            <a:blip r:embed="rId3"/>
            <a:stretch>
              <a:fillRect/>
            </a:stretch>
          </p:blipFill>
          <p:spPr>
            <a:xfrm>
              <a:off x="9810750" y="4000500"/>
              <a:ext cx="1400175" cy="1524000"/>
            </a:xfrm>
            <a:prstGeom prst="rect">
              <a:avLst/>
            </a:prstGeom>
          </p:spPr>
        </p:pic>
        <p:sp>
          <p:nvSpPr>
            <p:cNvPr id="10" name="TextBox 10"/>
            <p:cNvSpPr txBox="1"/>
            <p:nvPr/>
          </p:nvSpPr>
          <p:spPr>
            <a:xfrm>
              <a:off x="9803892" y="5588000"/>
              <a:ext cx="1104138" cy="264033"/>
            </a:xfrm>
            <a:prstGeom prst="rect">
              <a:avLst/>
            </a:prstGeom>
            <a:noFill/>
            <a:ln>
              <a:noFill/>
            </a:ln>
          </p:spPr>
          <p:txBody>
            <a:bodyPr wrap="none" lIns="0" tIns="0" rIns="0" bIns="0" anchor="t" anchorCtr="0">
              <a:spAutoFit/>
            </a:bodyPr>
            <a:lstStyle/>
            <a:p>
              <a:pPr algn="l"/>
              <a:r>
                <a:rPr lang="zh-CN" sz="1350" dirty="0">
                  <a:solidFill>
                    <a:srgbClr val="B8C4C8"/>
                  </a:solidFill>
                  <a:latin typeface="+mn-lt"/>
                  <a:ea typeface="+mn-ea"/>
                  <a:cs typeface="+mn-cs"/>
                </a:rPr>
                <a:t>国徽标准图案</a:t>
              </a:r>
            </a:p>
          </p:txBody>
        </p:sp>
      </p:grpSp>
      <p:grpSp>
        <p:nvGrpSpPr>
          <p:cNvPr id="18" name="article-four"/>
          <p:cNvGrpSpPr/>
          <p:nvPr/>
        </p:nvGrpSpPr>
        <p:grpSpPr>
          <a:xfrm>
            <a:off x="598932" y="1993900"/>
            <a:ext cx="6523482" cy="2582418"/>
            <a:chOff x="598932" y="1993900"/>
            <a:chExt cx="6523482" cy="2582418"/>
          </a:xfrm>
        </p:grpSpPr>
        <p:sp>
          <p:nvSpPr>
            <p:cNvPr id="12" name="TextBox 12"/>
            <p:cNvSpPr txBox="1"/>
            <p:nvPr/>
          </p:nvSpPr>
          <p:spPr>
            <a:xfrm>
              <a:off x="598932" y="1993900"/>
              <a:ext cx="3498571"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宪法第四章 国家标志与首都</a:t>
              </a:r>
            </a:p>
          </p:txBody>
        </p:sp>
        <p:sp>
          <p:nvSpPr>
            <p:cNvPr id="13" name="TextBox 13"/>
            <p:cNvSpPr txBox="1"/>
            <p:nvPr/>
          </p:nvSpPr>
          <p:spPr>
            <a:xfrm>
              <a:off x="598932" y="2565400"/>
              <a:ext cx="4261866"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中华人民共和国国旗是五星红旗。</a:t>
              </a:r>
            </a:p>
          </p:txBody>
        </p:sp>
        <p:sp>
          <p:nvSpPr>
            <p:cNvPr id="14" name="TextBox 14"/>
            <p:cNvSpPr txBox="1"/>
            <p:nvPr/>
          </p:nvSpPr>
          <p:spPr>
            <a:xfrm>
              <a:off x="598932" y="2965450"/>
              <a:ext cx="539267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中华人民共和国国歌是《义勇军进行曲》。</a:t>
              </a:r>
            </a:p>
          </p:txBody>
        </p:sp>
        <p:sp>
          <p:nvSpPr>
            <p:cNvPr id="15" name="TextBox 15"/>
            <p:cNvSpPr txBox="1"/>
            <p:nvPr/>
          </p:nvSpPr>
          <p:spPr>
            <a:xfrm>
              <a:off x="598932" y="3365500"/>
              <a:ext cx="652348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中华人民共和国国徽，中间是五星照耀下的天安门，</a:t>
              </a:r>
            </a:p>
          </p:txBody>
        </p:sp>
        <p:sp>
          <p:nvSpPr>
            <p:cNvPr id="16" name="TextBox 16"/>
            <p:cNvSpPr txBox="1"/>
            <p:nvPr/>
          </p:nvSpPr>
          <p:spPr>
            <a:xfrm>
              <a:off x="598932" y="3765550"/>
              <a:ext cx="2565654"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周围是谷穗和齿轮。</a:t>
              </a:r>
            </a:p>
          </p:txBody>
        </p:sp>
        <p:sp>
          <p:nvSpPr>
            <p:cNvPr id="17" name="TextBox 17"/>
            <p:cNvSpPr txBox="1"/>
            <p:nvPr/>
          </p:nvSpPr>
          <p:spPr>
            <a:xfrm>
              <a:off x="598932" y="4165600"/>
              <a:ext cx="369646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中华人民共和国首都是北京。</a:t>
              </a:r>
            </a:p>
          </p:txBody>
        </p:sp>
      </p:grpSp>
      <p:grpSp>
        <p:nvGrpSpPr>
          <p:cNvPr id="22" name="symbol-vs-power"/>
          <p:cNvGrpSpPr/>
          <p:nvPr/>
        </p:nvGrpSpPr>
        <p:grpSpPr>
          <a:xfrm>
            <a:off x="596646" y="4724400"/>
            <a:ext cx="8166354" cy="1033018"/>
            <a:chOff x="596646" y="4724400"/>
            <a:chExt cx="8166354" cy="1033018"/>
          </a:xfrm>
        </p:grpSpPr>
        <p:sp>
          <p:nvSpPr>
            <p:cNvPr id="19" name="Line 19"/>
            <p:cNvSpPr/>
            <p:nvPr/>
          </p:nvSpPr>
          <p:spPr>
            <a:xfrm>
              <a:off x="609600" y="4724400"/>
              <a:ext cx="8153400" cy="9525"/>
            </a:xfrm>
            <a:custGeom>
              <a:avLst/>
              <a:gdLst/>
              <a:ahLst/>
              <a:cxnLst/>
              <a:rect l="l" t="t" r="r" b="b"/>
              <a:pathLst>
                <a:path w="8153400" h="9525">
                  <a:moveTo>
                    <a:pt x="0" y="0"/>
                  </a:moveTo>
                  <a:lnTo>
                    <a:pt x="8153400" y="0"/>
                  </a:lnTo>
                </a:path>
              </a:pathLst>
            </a:custGeom>
            <a:noFill/>
            <a:ln w="9525">
              <a:solidFill>
                <a:srgbClr val="3A454A"/>
              </a:solidFill>
            </a:ln>
          </p:spPr>
        </p:sp>
        <p:sp>
          <p:nvSpPr>
            <p:cNvPr id="20" name="TextBox 20"/>
            <p:cNvSpPr txBox="1"/>
            <p:nvPr/>
          </p:nvSpPr>
          <p:spPr>
            <a:xfrm>
              <a:off x="596646" y="4806950"/>
              <a:ext cx="6548247" cy="498729"/>
            </a:xfrm>
            <a:prstGeom prst="rect">
              <a:avLst/>
            </a:prstGeom>
            <a:noFill/>
            <a:ln>
              <a:noFill/>
            </a:ln>
          </p:spPr>
          <p:txBody>
            <a:bodyPr wrap="none" lIns="0" tIns="0" rIns="0" bIns="0" anchor="t" anchorCtr="0">
              <a:spAutoFit/>
            </a:bodyPr>
            <a:lstStyle/>
            <a:p>
              <a:pPr algn="l"/>
              <a:r>
                <a:rPr lang="zh-CN" sz="2550" dirty="0">
                  <a:solidFill>
                    <a:schemeClr val="accent3"/>
                  </a:solidFill>
                  <a:latin typeface="+mn-lt"/>
                  <a:ea typeface="+mn-ea"/>
                  <a:cs typeface="+mn-cs"/>
                </a:rPr>
                <a:t>标志确认共同的国家身份，不提供具体职权</a:t>
              </a:r>
            </a:p>
          </p:txBody>
        </p:sp>
        <p:sp>
          <p:nvSpPr>
            <p:cNvPr id="21" name="TextBox 21"/>
            <p:cNvSpPr txBox="1"/>
            <p:nvPr/>
          </p:nvSpPr>
          <p:spPr>
            <a:xfrm>
              <a:off x="598932" y="5346700"/>
              <a:ext cx="7654290" cy="410718"/>
            </a:xfrm>
            <a:prstGeom prst="rect">
              <a:avLst/>
            </a:prstGeom>
            <a:noFill/>
            <a:ln>
              <a:noFill/>
            </a:ln>
          </p:spPr>
          <p:txBody>
            <a:bodyPr wrap="none" lIns="0" tIns="0" rIns="0" bIns="0" anchor="t" anchorCtr="0">
              <a:spAutoFit/>
            </a:bodyPr>
            <a:lstStyle/>
            <a:p>
              <a:pPr algn="l"/>
              <a:r>
                <a:rPr lang="zh-CN" sz="2100" dirty="0">
                  <a:solidFill>
                    <a:srgbClr val="B8C4C8"/>
                  </a:solidFill>
                  <a:latin typeface="+mn-lt"/>
                  <a:ea typeface="+mn-ea"/>
                  <a:cs typeface="+mn-cs"/>
                </a:rPr>
                <a:t>机关门口有国徽，不能仅凭这个标志判断它能够办理什么案件</a:t>
              </a:r>
            </a:p>
          </p:txBody>
        </p:sp>
      </p:grpSp>
      <p:grpSp>
        <p:nvGrpSpPr>
          <p:cNvPr id="24" name="capital-two-identities"/>
          <p:cNvGrpSpPr/>
          <p:nvPr/>
        </p:nvGrpSpPr>
        <p:grpSpPr>
          <a:xfrm>
            <a:off x="598932" y="5765800"/>
            <a:ext cx="6523482" cy="410718"/>
            <a:chOff x="598932" y="5765800"/>
            <a:chExt cx="6523482" cy="410718"/>
          </a:xfrm>
        </p:grpSpPr>
        <p:sp>
          <p:nvSpPr>
            <p:cNvPr id="23" name="TextBox 23"/>
            <p:cNvSpPr txBox="1"/>
            <p:nvPr/>
          </p:nvSpPr>
          <p:spPr>
            <a:xfrm>
              <a:off x="598932" y="5765800"/>
              <a:ext cx="6523482" cy="410718"/>
            </a:xfrm>
            <a:prstGeom prst="rect">
              <a:avLst/>
            </a:prstGeom>
            <a:noFill/>
            <a:ln>
              <a:noFill/>
            </a:ln>
          </p:spPr>
          <p:txBody>
            <a:bodyPr wrap="none" lIns="0" tIns="0" rIns="0" bIns="0" anchor="t" anchorCtr="0">
              <a:spAutoFit/>
            </a:bodyPr>
            <a:lstStyle/>
            <a:p>
              <a:pPr algn="l"/>
              <a:r>
                <a:rPr lang="zh-CN" sz="2100" dirty="0">
                  <a:solidFill>
                    <a:srgbClr val="F4F1EA"/>
                  </a:solidFill>
                  <a:latin typeface="+mn-lt"/>
                  <a:ea typeface="+mn-ea"/>
                  <a:cs typeface="+mn-cs"/>
                </a:rPr>
                <a:t>北京：国家首都，也是直辖市这一地方区域中的一员</a:t>
              </a:r>
            </a:p>
          </p:txBody>
        </p:sp>
      </p:grpSp>
      <p:sp>
        <p:nvSpPr>
          <p:cNvPr id="25" name="TextBox 25"/>
          <p:cNvSpPr txBox="1"/>
          <p:nvPr/>
        </p:nvSpPr>
        <p:spPr>
          <a:xfrm>
            <a:off x="604266" y="6502400"/>
            <a:ext cx="8802700" cy="205359"/>
          </a:xfrm>
          <a:prstGeom prst="rect">
            <a:avLst/>
          </a:prstGeom>
          <a:noFill/>
          <a:ln>
            <a:noFill/>
          </a:ln>
        </p:spPr>
        <p:txBody>
          <a:bodyPr wrap="none" lIns="0" tIns="0" rIns="0" bIns="0" anchor="t" anchorCtr="0">
            <a:spAutoFit/>
          </a:bodyPr>
          <a:lstStyle/>
          <a:p>
            <a:pPr algn="l"/>
            <a:r>
              <a:rPr lang="zh-CN" sz="1050" dirty="0">
                <a:solidFill>
                  <a:srgbClr val="B8C4C8"/>
                </a:solidFill>
                <a:latin typeface="+mn-lt"/>
                <a:ea typeface="+mn-ea"/>
                <a:cs typeface="+mn-cs"/>
              </a:rPr>
              <a:t>宪法：2018年修正文本，第一百四十一条至第一百四十三条；图案取自中国政府网发布的标准版本，旗徽的使用义务与责任另由专门法律规定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hrome"/>
          <p:cNvGrpSpPr/>
          <p:nvPr/>
        </p:nvGrpSpPr>
        <p:grpSpPr>
          <a:xfrm>
            <a:off x="602742" y="387350"/>
            <a:ext cx="10986516" cy="264033"/>
            <a:chOff x="602742" y="387350"/>
            <a:chExt cx="10986516" cy="264033"/>
          </a:xfrm>
        </p:grpSpPr>
        <p:sp>
          <p:nvSpPr>
            <p:cNvPr id="2" name="TextBox 2"/>
            <p:cNvSpPr txBox="1"/>
            <p:nvPr/>
          </p:nvSpPr>
          <p:spPr>
            <a:xfrm>
              <a:off x="602742" y="387350"/>
              <a:ext cx="11586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宪法学 第三讲</a:t>
              </a:r>
            </a:p>
          </p:txBody>
        </p:sp>
        <p:sp>
          <p:nvSpPr>
            <p:cNvPr id="3" name="TextBox 3"/>
            <p:cNvSpPr txBox="1"/>
            <p:nvPr/>
          </p:nvSpPr>
          <p:spPr>
            <a:xfrm>
              <a:off x="10548728" y="387350"/>
              <a:ext cx="104053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下节 38 / 38</a:t>
              </a:r>
            </a:p>
          </p:txBody>
        </p:sp>
      </p:grpSp>
      <p:grpSp>
        <p:nvGrpSpPr>
          <p:cNvPr id="6" name="page-title"/>
          <p:cNvGrpSpPr/>
          <p:nvPr/>
        </p:nvGrpSpPr>
        <p:grpSpPr>
          <a:xfrm>
            <a:off x="590550" y="904875"/>
            <a:ext cx="6950964" cy="790575"/>
            <a:chOff x="590550" y="904875"/>
            <a:chExt cx="6950964" cy="790575"/>
          </a:xfrm>
        </p:grpSpPr>
        <p:sp>
          <p:nvSpPr>
            <p:cNvPr id="5" name="TextBox 5"/>
            <p:cNvSpPr txBox="1"/>
            <p:nvPr/>
          </p:nvSpPr>
          <p:spPr>
            <a:xfrm>
              <a:off x="590550" y="904875"/>
              <a:ext cx="6950964" cy="790575"/>
            </a:xfrm>
            <a:prstGeom prst="rect">
              <a:avLst/>
            </a:prstGeom>
            <a:noFill/>
            <a:ln>
              <a:noFill/>
            </a:ln>
          </p:spPr>
          <p:txBody>
            <a:bodyPr wrap="none" lIns="0" tIns="0" rIns="0" bIns="0" anchor="t" anchorCtr="0">
              <a:spAutoFit/>
            </a:bodyPr>
            <a:lstStyle/>
            <a:p>
              <a:pPr algn="l"/>
              <a:r>
                <a:rPr lang="zh-CN" sz="4050" dirty="0">
                  <a:solidFill>
                    <a:schemeClr val="dk1"/>
                  </a:solidFill>
                  <a:latin typeface="+mj-lt"/>
                  <a:ea typeface="+mj-ea"/>
                  <a:cs typeface="+mj-cs"/>
                </a:rPr>
                <a:t>把三个问题放回同一个国家</a:t>
              </a:r>
            </a:p>
          </p:txBody>
        </p:sp>
      </p:grpSp>
      <p:grpSp>
        <p:nvGrpSpPr>
          <p:cNvPr id="16" name="three-answers"/>
          <p:cNvGrpSpPr/>
          <p:nvPr/>
        </p:nvGrpSpPr>
        <p:grpSpPr>
          <a:xfrm>
            <a:off x="596646" y="2006600"/>
            <a:ext cx="10985754" cy="2512568"/>
            <a:chOff x="596646" y="2006600"/>
            <a:chExt cx="10985754" cy="2512568"/>
          </a:xfrm>
        </p:grpSpPr>
        <p:sp>
          <p:nvSpPr>
            <p:cNvPr id="7" name="TextBox 7"/>
            <p:cNvSpPr txBox="1"/>
            <p:nvPr/>
          </p:nvSpPr>
          <p:spPr>
            <a:xfrm>
              <a:off x="596646" y="2006600"/>
              <a:ext cx="13990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国家性质</a:t>
              </a:r>
            </a:p>
          </p:txBody>
        </p:sp>
        <p:sp>
          <p:nvSpPr>
            <p:cNvPr id="8" name="TextBox 8"/>
            <p:cNvSpPr txBox="1"/>
            <p:nvPr/>
          </p:nvSpPr>
          <p:spPr>
            <a:xfrm>
              <a:off x="2751582" y="2070100"/>
              <a:ext cx="624078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第一条：人民民主专政的社会主义国家及根本制度</a:t>
              </a:r>
            </a:p>
          </p:txBody>
        </p:sp>
        <p:sp>
          <p:nvSpPr>
            <p:cNvPr id="9" name="Line 9"/>
            <p:cNvSpPr/>
            <p:nvPr/>
          </p:nvSpPr>
          <p:spPr>
            <a:xfrm>
              <a:off x="609600" y="255270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0" name="TextBox 10"/>
            <p:cNvSpPr txBox="1"/>
            <p:nvPr/>
          </p:nvSpPr>
          <p:spPr>
            <a:xfrm>
              <a:off x="596646" y="27495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政体</a:t>
              </a:r>
            </a:p>
          </p:txBody>
        </p:sp>
        <p:sp>
          <p:nvSpPr>
            <p:cNvPr id="11" name="TextBox 11"/>
            <p:cNvSpPr txBox="1"/>
            <p:nvPr/>
          </p:nvSpPr>
          <p:spPr>
            <a:xfrm>
              <a:off x="2751582" y="2813050"/>
              <a:ext cx="821969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第二、三条：权力归属与人大及其他机关的组织、负责和监督关系</a:t>
              </a:r>
            </a:p>
          </p:txBody>
        </p:sp>
        <p:sp>
          <p:nvSpPr>
            <p:cNvPr id="12" name="Line 12"/>
            <p:cNvSpPr/>
            <p:nvPr/>
          </p:nvSpPr>
          <p:spPr>
            <a:xfrm>
              <a:off x="609600" y="3295650"/>
              <a:ext cx="10972800" cy="9525"/>
            </a:xfrm>
            <a:custGeom>
              <a:avLst/>
              <a:gdLst/>
              <a:ahLst/>
              <a:cxnLst/>
              <a:rect l="l" t="t" r="r" b="b"/>
              <a:pathLst>
                <a:path w="10972800" h="9525">
                  <a:moveTo>
                    <a:pt x="0" y="0"/>
                  </a:moveTo>
                  <a:lnTo>
                    <a:pt x="10972800" y="0"/>
                  </a:lnTo>
                </a:path>
              </a:pathLst>
            </a:custGeom>
            <a:noFill/>
            <a:ln w="9525">
              <a:solidFill>
                <a:srgbClr val="CDC8BE"/>
              </a:solidFill>
            </a:ln>
          </p:spPr>
        </p:sp>
        <p:sp>
          <p:nvSpPr>
            <p:cNvPr id="13" name="TextBox 13"/>
            <p:cNvSpPr txBox="1"/>
            <p:nvPr/>
          </p:nvSpPr>
          <p:spPr>
            <a:xfrm>
              <a:off x="596646" y="3492500"/>
              <a:ext cx="2085594"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国家结构形式</a:t>
              </a:r>
            </a:p>
          </p:txBody>
        </p:sp>
        <p:sp>
          <p:nvSpPr>
            <p:cNvPr id="14" name="TextBox 14"/>
            <p:cNvSpPr txBox="1"/>
            <p:nvPr/>
          </p:nvSpPr>
          <p:spPr>
            <a:xfrm>
              <a:off x="2751582" y="3556000"/>
              <a:ext cx="680618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第三条末款及第四、三十、三十一条：地域与不同区域</a:t>
              </a:r>
            </a:p>
          </p:txBody>
        </p:sp>
        <p:sp>
          <p:nvSpPr>
            <p:cNvPr id="15" name="TextBox 15"/>
            <p:cNvSpPr txBox="1"/>
            <p:nvPr/>
          </p:nvSpPr>
          <p:spPr>
            <a:xfrm>
              <a:off x="598932" y="4108450"/>
              <a:ext cx="595807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国家标志和首都，从另一面确认共同的国家身份</a:t>
              </a:r>
            </a:p>
          </p:txBody>
        </p:sp>
      </p:grpSp>
      <p:grpSp>
        <p:nvGrpSpPr>
          <p:cNvPr id="20" name="not-repeated"/>
          <p:cNvGrpSpPr/>
          <p:nvPr/>
        </p:nvGrpSpPr>
        <p:grpSpPr>
          <a:xfrm>
            <a:off x="596646" y="4521200"/>
            <a:ext cx="7289292" cy="1101280"/>
            <a:chOff x="596646" y="4521200"/>
            <a:chExt cx="7289292" cy="1101280"/>
          </a:xfrm>
        </p:grpSpPr>
        <p:sp>
          <p:nvSpPr>
            <p:cNvPr id="17" name="TextBox 17"/>
            <p:cNvSpPr txBox="1"/>
            <p:nvPr/>
          </p:nvSpPr>
          <p:spPr>
            <a:xfrm>
              <a:off x="596646" y="4521200"/>
              <a:ext cx="5175123"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这三层不是同一个问题重复了三遍</a:t>
              </a:r>
            </a:p>
          </p:txBody>
        </p:sp>
        <p:sp>
          <p:nvSpPr>
            <p:cNvPr id="18" name="TextBox 18"/>
            <p:cNvSpPr txBox="1"/>
            <p:nvPr/>
          </p:nvSpPr>
          <p:spPr>
            <a:xfrm>
              <a:off x="602742" y="5092700"/>
              <a:ext cx="473887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人民是国家的主人，个人仍须通过法定方式行使相应权利；</a:t>
              </a:r>
            </a:p>
          </p:txBody>
        </p:sp>
        <p:sp>
          <p:nvSpPr>
            <p:cNvPr id="19" name="TextBox 19"/>
            <p:cNvSpPr txBox="1"/>
            <p:nvPr/>
          </p:nvSpPr>
          <p:spPr>
            <a:xfrm>
              <a:off x="602742" y="5358447"/>
              <a:ext cx="728319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人大具有重要地位，其他机关仍须在各自职权内履职；国家是统一的，各地方仍可以有差异</a:t>
              </a:r>
            </a:p>
          </p:txBody>
        </p:sp>
      </p:grpSp>
      <p:grpSp>
        <p:nvGrpSpPr>
          <p:cNvPr id="22" name="next-lecture"/>
          <p:cNvGrpSpPr/>
          <p:nvPr/>
        </p:nvGrpSpPr>
        <p:grpSpPr>
          <a:xfrm>
            <a:off x="596646" y="5778500"/>
            <a:ext cx="3218421" cy="498729"/>
            <a:chOff x="596646" y="5778500"/>
            <a:chExt cx="3218421" cy="498729"/>
          </a:xfrm>
        </p:grpSpPr>
        <p:sp>
          <p:nvSpPr>
            <p:cNvPr id="21" name="TextBox 21"/>
            <p:cNvSpPr txBox="1"/>
            <p:nvPr/>
          </p:nvSpPr>
          <p:spPr>
            <a:xfrm>
              <a:off x="596646" y="5778500"/>
              <a:ext cx="3218421" cy="498729"/>
            </a:xfrm>
            <a:prstGeom prst="rect">
              <a:avLst/>
            </a:prstGeom>
            <a:noFill/>
            <a:ln>
              <a:noFill/>
            </a:ln>
          </p:spPr>
          <p:txBody>
            <a:bodyPr wrap="none" lIns="0" tIns="0" rIns="0" bIns="0" anchor="t" anchorCtr="0">
              <a:spAutoFit/>
            </a:bodyPr>
            <a:lstStyle/>
            <a:p>
              <a:pPr algn="l"/>
              <a:r>
                <a:rPr lang="zh-CN" sz="2550" dirty="0">
                  <a:solidFill>
                    <a:schemeClr val="accent2"/>
                  </a:solidFill>
                  <a:latin typeface="+mn-lt"/>
                  <a:ea typeface="+mn-ea"/>
                  <a:cs typeface="+mn-cs"/>
                </a:rPr>
                <a:t>下一讲 国家基本制度</a:t>
              </a:r>
            </a:p>
          </p:txBody>
        </p:sp>
      </p:grpSp>
      <p:sp>
        <p:nvSpPr>
          <p:cNvPr id="23" name="TextBox 23"/>
          <p:cNvSpPr txBox="1"/>
          <p:nvPr/>
        </p:nvSpPr>
        <p:spPr>
          <a:xfrm>
            <a:off x="604266" y="6502400"/>
            <a:ext cx="283768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第三讲《国家性质与国家形式》课堂配套材料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cture-03-20261015-student-ready">
  <a:themeElements>
    <a:clrScheme name="lecture-03-20261015-student-ready">
      <a:dk1>
        <a:srgbClr val="242A2C"/>
      </a:dk1>
      <a:lt1>
        <a:srgbClr val="F4F1EA"/>
      </a:lt1>
      <a:dk2>
        <a:srgbClr val="1F497D"/>
      </a:dk2>
      <a:lt2>
        <a:srgbClr val="20292D"/>
      </a:lt2>
      <a:accent1>
        <a:srgbClr val="26373D"/>
      </a:accent1>
      <a:accent2>
        <a:srgbClr val="A54535"/>
      </a:accent2>
      <a:accent3>
        <a:srgbClr val="E7A18D"/>
      </a:accent3>
      <a:accent4>
        <a:srgbClr val="26373D"/>
      </a:accent4>
      <a:accent5>
        <a:srgbClr val="677276"/>
      </a:accent5>
      <a:accent6>
        <a:srgbClr val="5A6468"/>
      </a:accent6>
      <a:hlink>
        <a:srgbClr val="A54535"/>
      </a:hlink>
      <a:folHlink>
        <a:srgbClr val="E7A18D"/>
      </a:folHlink>
    </a:clrScheme>
    <a:fontScheme name="lecture-03-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3-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3-20261015-student-ready">
  <a:themeElements>
    <a:clrScheme name="lecture-03-20261015-student-ready">
      <a:dk1>
        <a:srgbClr val="242A2C"/>
      </a:dk1>
      <a:lt1>
        <a:srgbClr val="F4F1EA"/>
      </a:lt1>
      <a:dk2>
        <a:srgbClr val="1F497D"/>
      </a:dk2>
      <a:lt2>
        <a:srgbClr val="20292D"/>
      </a:lt2>
      <a:accent1>
        <a:srgbClr val="26373D"/>
      </a:accent1>
      <a:accent2>
        <a:srgbClr val="A54535"/>
      </a:accent2>
      <a:accent3>
        <a:srgbClr val="E7A18D"/>
      </a:accent3>
      <a:accent4>
        <a:srgbClr val="26373D"/>
      </a:accent4>
      <a:accent5>
        <a:srgbClr val="677276"/>
      </a:accent5>
      <a:accent6>
        <a:srgbClr val="5A6468"/>
      </a:accent6>
      <a:hlink>
        <a:srgbClr val="A54535"/>
      </a:hlink>
      <a:folHlink>
        <a:srgbClr val="E7A18D"/>
      </a:folHlink>
    </a:clrScheme>
    <a:fontScheme name="lecture-03-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3-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2026-10-15T13:10:42Z</dcterms:created>
  <dcterms:modified xsi:type="dcterms:W3CDTF">2026-10-15T13:10:42Z</dcterms:modified>
  <cp:category/>
  <cp:contentStatus/>
</cp:coreProperties>
</file>