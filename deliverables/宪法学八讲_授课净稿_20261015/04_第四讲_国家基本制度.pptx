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5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  <Relationship Id="rId5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_rels/notesSlide4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4.xml"/>
</Relationships>
</file>

<file path=ppt/notesSlides/_rels/notesSlide4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第四讲　国家基本制度</a:t>
            </a:r>
          </a:p>
          <a:p>
            <a:pPr/>
            <a:endParaRPr lang="zh-CN" dirty="0"/>
          </a:p>
          <a:p>
            <a:pPr/>
            <a:r>
              <a:rPr lang="zh-CN" dirty="0"/>
              <a:t>上节　从一张契约看经济生活中的不同关系</a:t>
            </a:r>
          </a:p>
          <a:p>
            <a:pPr/>
            <a:endParaRPr lang="zh-CN" dirty="0"/>
          </a:p>
          <a:p>
            <a:pPr/>
            <a:r>
              <a:rPr lang="zh-CN" dirty="0"/>
              <a:t>一、一张纸上的安排，究竟改变了什么</a:t>
            </a:r>
          </a:p>
          <a:p>
            <a:pPr/>
            <a:endParaRPr lang="zh-CN" dirty="0"/>
          </a:p>
          <a:p>
            <a:pPr/>
            <a:r>
              <a:rPr lang="zh-CN" dirty="0"/>
              <a:t>同学们，上一讲我们把国家性质、政体和国家结构形式分开，也把它们联系起来了。今天进一步看：这样的国家，怎样安排经济活动、政治参与和共同生活？</a:t>
            </a:r>
          </a:p>
          <a:p>
            <a:pPr/>
            <a:endParaRPr lang="zh-CN" dirty="0"/>
          </a:p>
          <a:p>
            <a:pPr/>
            <a:r>
              <a:rPr lang="zh-CN" dirty="0"/>
              <a:t>先看一张纸。它不是宪法，也不是一份印得很整齐的法律文件，而是一张农村生产契约。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1978年冬，安徽凤阳小岗村的农民作出了一项约定：把田分到各户去经营，承担上交和公粮等负担。中国农业博物馆的展品讲解还介绍，约定中写到了干部可能遭遇风险时，其他人怎样帮助抚养他们的孩子。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一项种地的约定，会连孩子以后的生活都考虑进去？先看当时的制度背景。1978年宪法第七条以农村人民公社为框架，规定一般实行公社、生产大队、生产队三级所有，以生产队为基本核算单位。教材所讲的集中管理、评工记分，就要放在这个背景中理解。</a:t>
            </a:r>
          </a:p>
          <a:p>
            <a:pPr/>
            <a:endParaRPr lang="zh-CN" dirty="0"/>
          </a:p>
          <a:p>
            <a:pPr/>
            <a:r>
              <a:rPr lang="zh-CN" dirty="0"/>
              <a:t>核算不只是记账，还涉及生产所得先在什么单位中计算、怎样同劳动者的报酬相连。把经营责任落到家庭，因此不是照旧换一个记账人。改革初期，对包产到户的政策仍有禁止和限制；后来也经历了先在部分贫困地区放宽等变化。党史研究对这个过程有具体梳理，不能把后来的肯定倒写成当时已经普遍允许。村民所担心的，是这种改变会怎样被对待；但契约中的风险约定，不等于当时法律已经规定了某项具体刑罚。</a:t>
            </a:r>
          </a:p>
          <a:p>
            <a:pPr/>
            <a:endParaRPr lang="zh-CN" dirty="0"/>
          </a:p>
          <a:p>
            <a:pPr/>
            <a:r>
              <a:rPr lang="zh-CN" dirty="0"/>
              <a:t>纸上把生产责任和家庭的牵挂放在了一起。人们首先面对的，是怎么把地种好、完成负担，让一家人有饭吃。</a:t>
            </a:r>
          </a:p>
          <a:p>
            <a:pPr/>
            <a:endParaRPr lang="zh-CN" dirty="0"/>
          </a:p>
          <a:p>
            <a:pPr/>
            <a:r>
              <a:rPr lang="zh-CN" dirty="0"/>
              <a:t>馆方讲解还提到，约定由严宏昌执笔；有些村民不会写自己的名字，便用印章或手印留下相应的确认。我们不必把签字、印章和手印的数量堆成记忆题。值得注意的是，一件要由人承担责任的事，被写成了可以留存的文字。</a:t>
            </a:r>
          </a:p>
          <a:p>
            <a:pPr/>
            <a:endParaRPr lang="zh-CN" dirty="0"/>
          </a:p>
          <a:p>
            <a:pPr/>
            <a:r>
              <a:rPr lang="zh-CN" dirty="0"/>
              <a:t>他们没有只写分田到户，还写了上交、公粮以及社员之间的互助。家庭承担经营责任，并没有把全部共同联系一刀切断。</a:t>
            </a:r>
          </a:p>
          <a:p>
            <a:pPr/>
            <a:endParaRPr lang="zh-CN" dirty="0"/>
          </a:p>
          <a:p>
            <a:pPr/>
            <a:r>
              <a:rPr lang="zh-CN" dirty="0"/>
              <a:t>今天提起小岗，我们容易知道故事的名字，却不一定看清故事里改了什么。纸上说分田到户，是否就意味着土地从此属于各家私人所有？农户自己经营，是不是就意味着集体所有已经取消？</a:t>
            </a:r>
          </a:p>
          <a:p>
            <a:pPr/>
            <a:endParaRPr lang="zh-CN" dirty="0"/>
          </a:p>
          <a:p>
            <a:pPr/>
            <a:r>
              <a:rPr lang="zh-CN" dirty="0"/>
              <a:t>先把这个问题留下。回答它，不能只看“分田”两个字，也不能只凭一家人已经下地干活的景象。我们还要辨认：这块地归谁所有，谁负责经营，生产所得怎样分配，投入和产品又怎样安排。</a:t>
            </a:r>
          </a:p>
          <a:p>
            <a:pPr/>
            <a:endParaRPr lang="zh-CN" dirty="0"/>
          </a:p>
          <a:p>
            <a:pPr/>
            <a:r>
              <a:rPr lang="zh-CN" dirty="0"/>
              <a:t>同一片田，可以牵出好几个问题。日常说话把它们包在一句“怎么种地”里，法学却要把里面的关系看清。不是故意把简单事情说复杂，而是这些关系的变化并不总是同步发生。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讲叫国家基本制度。教材以社会主义根本制度为前提，分别认识经济、政治、文化、社会和生态领域的基本安排。五个领域是对知识的组织，不是宪法中的五个独立章节，也不表示其中每一种制度具有完全相同的地位。比如人民代表大会制度是根本政治制度，不能同某一项具体服务办法放在一个层次。今天看的是这些基本安排怎样进入不同关系。</a:t>
            </a:r>
          </a:p>
          <a:p>
            <a:pPr/>
            <a:endParaRPr lang="zh-CN" dirty="0"/>
          </a:p>
          <a:p>
            <a:pPr/>
            <a:r>
              <a:rPr lang="zh-CN" dirty="0"/>
              <a:t>我们现在走进宪法第六条。这一条分两款，我们分层读。第一款给经济制度定性质，第一个关键词是“基础”：经济制度的基础，就是生产资料的社会主义公有制，它由全民所有制和劳动群众集体所有制两种形式构成。第二款转向社会主义初级阶段的实际安排，也有两个要点：一是基本经济制度，即公有制为主体、多种所有制经济共同发展；二是分配制度，即按劳分配为主体、多种分配方式并存。第一款说性质，第二款说安排，两款不是把同一句话换个说法。</a:t>
            </a:r>
          </a:p>
          <a:p>
            <a:pPr/>
            <a:endParaRPr lang="zh-CN" dirty="0"/>
          </a:p>
          <a:p>
            <a:pPr/>
            <a:r>
              <a:rPr lang="zh-CN" dirty="0"/>
              <a:t>一条之中，已经出现了基础、所有制结构和分配。再看第十五条，国家实行社会主义市场经济，加强经济立法，完善宏观调控。为什么这些内容能够同时写在一部宪法里？今天上节就把其中的关系讲清。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二、公有的是什么，共同所有的范围有何不同</a:t>
            </a:r>
          </a:p>
          <a:p>
            <a:pPr/>
            <a:endParaRPr lang="zh-CN" dirty="0"/>
          </a:p>
          <a:p>
            <a:pPr/>
            <a:r>
              <a:rPr lang="zh-CN" dirty="0"/>
              <a:t>先解释生产资料。种地要有土地和工具，办工厂要有设备和原料，提供服务也需要相应的生产条件。我们说生产资料，关注的是用于生产的条件和手段，并不是说每个人的衣服、书包和日常生活用品都属于这个范围。</a:t>
            </a:r>
          </a:p>
          <a:p>
            <a:pPr/>
            <a:endParaRPr lang="zh-CN" dirty="0"/>
          </a:p>
          <a:p>
            <a:pPr/>
            <a:r>
              <a:rPr lang="zh-CN" dirty="0"/>
              <a:t>同一件东西，在不同活动中还可能承担不同作用。所以不能只背一张物品名单。关键是它在生产活动中做什么。</a:t>
            </a:r>
          </a:p>
          <a:p>
            <a:pPr/>
            <a:endParaRPr lang="zh-CN" dirty="0"/>
          </a:p>
          <a:p>
            <a:pPr/>
            <a:r>
              <a:rPr lang="zh-CN" dirty="0"/>
              <a:t>生产资料的归属会影响谁组织生产、谁作出相应决定、生产成果怎样进入社会生活。教材把经济制度放在国家基本制度中，正是因为这不是某一家企业的私事。社会中的生产关系和经济结构，同国家性质、政治法律制度和人们的生活有深刻联系。</a:t>
            </a:r>
          </a:p>
          <a:p>
            <a:pPr/>
            <a:endParaRPr lang="zh-CN" dirty="0"/>
          </a:p>
          <a:p>
            <a:pPr/>
            <a:r>
              <a:rPr lang="zh-CN" dirty="0"/>
              <a:t>不过，经济关系本身和规定这些关系的宪法规范，也不是同一个东西。地在被耕作，机器在运转，这是现实的经济活动；宪法确认有关基础和制度，法律继续规定相应权利、责任和行为要求，这是规范的工作。现实不会因为写出一句条文，就自动变成条文要求的样子；现实中的变化也不能自行改掉有效的法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第六条第一款列出两种公有制形式：全民所有制和劳动群众集体所有制。</a:t>
            </a:r>
          </a:p>
          <a:p>
            <a:pPr/>
            <a:endParaRPr lang="zh-CN" dirty="0"/>
          </a:p>
          <a:p>
            <a:pPr/>
            <a:r>
              <a:rPr lang="zh-CN" dirty="0"/>
              <a:t>共同点在于公有属性，区别在共同占有的范围。全民所有制面向社会全体；集体所有制则面向相应集体。不能把“公有”直接换成“国有”，然后把不属于国家所有的集体财产都归进私人财产。</a:t>
            </a:r>
          </a:p>
          <a:p>
            <a:pPr/>
            <a:endParaRPr lang="zh-CN" dirty="0"/>
          </a:p>
          <a:p>
            <a:pPr/>
            <a:r>
              <a:rPr lang="zh-CN" dirty="0"/>
              <a:t>教材说明，全民所有制经济在我国现阶段具体表现为国家所有制经济。第七条也直接写明这一点：国有经济指的就是社会主义全民所有制经济；它正是国民经济中的主导力量。这里的落脚词是“主导”。国家在这里代表全民行使相应的所有者职责，并不意味着某位工作人员可以把公共资产当成自己的东西。</a:t>
            </a:r>
          </a:p>
          <a:p>
            <a:pPr/>
            <a:endParaRPr lang="zh-CN" dirty="0"/>
          </a:p>
          <a:p>
            <a:pPr/>
            <a:r>
              <a:rPr lang="zh-CN" dirty="0"/>
              <a:t>集体所有同样不能理解成一个人的所有。一个集体依法拥有财产，与其中某个成员拥有个人财产，是两个层次。谁能代表集体作出什么决定，还须有相应制度；“属于集体”并不是谁说一句“我是集体的人”，就可以独自处分。</a:t>
            </a:r>
          </a:p>
          <a:p>
            <a:pPr/>
            <a:endParaRPr lang="zh-CN" dirty="0"/>
          </a:p>
          <a:p>
            <a:pPr/>
            <a:r>
              <a:rPr lang="zh-CN" dirty="0"/>
              <a:t>共同所有，也不是将共同财产平均切成若干份，任由个人随时取走。设想一项依法属于集体的灌溉设施，它要保持整体功能才能为生产提供条件；成员依法使用、获得相应利益，又需要有可以遵循的安排。保持共同基础与保障人的合法利益，是相接的工作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所以，公有既不是人人任意处分，也不是只有管理者可以关心。管理者需要依法履职，成员的合法利益也要受到保障。国有与集体所有都属公有，归属范围又有所不同。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回到小岗的问题。1982年中央一号文件《全国农村工作会议纪要》没有只说包干到户可以实行，还解释了为什么它不是把土地退回私人所有：土地等基本生产资料仍属公有，农户同集体保持承包关系，集体还有公共提留、共同设施管理和照顾困难成员等工作。分户经营、自负盈亏，同这些共同安排可以并存。</a:t>
            </a:r>
          </a:p>
          <a:p>
            <a:pPr/>
            <a:endParaRPr lang="zh-CN" dirty="0"/>
          </a:p>
          <a:p>
            <a:pPr/>
            <a:r>
              <a:rPr lang="zh-CN" dirty="0"/>
              <a:t>经营责任和收益又怎样相连？文件说明，包干大多是包交提留，不再按原来的工分办法分配。相应负担确定后，多生产一些、少浪费一些，同家庭能够取得多少收益联系得更直接。农户也要面对经营不好的后果。改变的是劳动组织、经营责任和计酬关系，不只是把同一片田分画几条线。</a:t>
            </a:r>
          </a:p>
          <a:p>
            <a:pPr/>
            <a:endParaRPr lang="zh-CN" dirty="0"/>
          </a:p>
          <a:p>
            <a:pPr/>
            <a:r>
              <a:rPr lang="zh-CN" dirty="0"/>
              <a:t>不过，灌溉设施怎样共同维护，需要协作的生产怎样组织，并不会因分户经营自动解决。文件也主张根据生产条件，宜统则统、宜分则分，并未宣布越分散越先进。家庭经营与集体共同工作如何配合，是制度仍需回答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政策确认与宪法依据还要分别读。1982年底通过的新宪法，第八条已把人民公社同其他多种形式的合作经济并列，第十四条又明确规定实行各种形式的社会主义责任制。彭真的同期报告，将责任制同调动生产单位和劳动者的积极性联系起来。保留土地公有和共同关系的家庭经营责任制，因而能够同这组宪法规定衔接，并不是一听到经营方式有变化，就只能认作取消集体所有。</a:t>
            </a:r>
          </a:p>
          <a:p>
            <a:pPr/>
            <a:endParaRPr lang="zh-CN" dirty="0"/>
          </a:p>
          <a:p>
            <a:pPr/>
            <a:r>
              <a:rPr lang="zh-CN" dirty="0"/>
              <a:t>1993年修宪，又在第八条直接写明家庭联产承包为主的责任制。同期修改建议的说明强调，要使这一制度长期稳定，而不只作为暂时解决温饱的办法。现行第八条进一步表述为以家庭承包经营为基础、统分结合的双层经营体制。不能把1993年的明确改文，说成此前所有家庭经营都必须等它才获允许；也不能拿后来的规定倒判1978年契约每一项行为。这里看到的是：集体所有的基础可以保留，具体经营形式及其规范表达则在探索中逐步调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三、谁所有，是否就必须事事亲自经营</a:t>
            </a:r>
          </a:p>
          <a:p>
            <a:pPr/>
            <a:endParaRPr lang="zh-CN" dirty="0"/>
          </a:p>
          <a:p>
            <a:pPr/>
            <a:r>
              <a:rPr lang="zh-CN" dirty="0"/>
              <a:t>这个问题不只出现在农村。</a:t>
            </a:r>
          </a:p>
          <a:p>
            <a:pPr/>
            <a:endParaRPr lang="zh-CN" dirty="0"/>
          </a:p>
          <a:p>
            <a:pPr/>
            <a:r>
              <a:rPr lang="zh-CN" dirty="0"/>
              <a:t>1993年宪法修正案把“国营经济”改成“国有经济”。一个字的变化，常被概括为从国家经营到国家所有。这个概括有帮助，但还不够，我们要把相邻规定放在一起读。</a:t>
            </a:r>
          </a:p>
          <a:p>
            <a:pPr/>
            <a:endParaRPr lang="zh-CN" dirty="0"/>
          </a:p>
          <a:p>
            <a:pPr/>
            <a:r>
              <a:rPr lang="zh-CN" dirty="0"/>
              <a:t>原来的宪法第十六条，已经规定国营企业有经营管理自主权，但它同时写有服从国家统一领导、全面完成国家计划等前提。改后的规定，是国有企业在法律规定的范围内有权自主经营。</a:t>
            </a:r>
          </a:p>
          <a:p>
            <a:pPr/>
            <a:endParaRPr lang="zh-CN" dirty="0"/>
          </a:p>
          <a:p>
            <a:pPr/>
            <a:r>
              <a:rPr lang="zh-CN" dirty="0"/>
              <a:t>所以不能把这段历史讲成：1993年以前企业一点自主权都没有，1993年以后国家完全不再过问。原文并不是这样写的。</a:t>
            </a:r>
          </a:p>
          <a:p>
            <a:pPr/>
            <a:endParaRPr lang="zh-CN" dirty="0"/>
          </a:p>
          <a:p>
            <a:pPr/>
            <a:r>
              <a:rPr lang="zh-CN" dirty="0"/>
              <a:t>真正值得看的是，怎样规定自主经营的范围，以及所有者与经营者的关系。同期修改建议所附说明，直接把“国营”改“国有”同所有权与经营权的区别联系起来。教材也据此解释：公有制的性质着眼于所有权归属，实现形式则涉及采取怎样的经营方式和组织形式。</a:t>
            </a:r>
          </a:p>
          <a:p>
            <a:pPr/>
            <a:endParaRPr lang="zh-CN" dirty="0"/>
          </a:p>
          <a:p>
            <a:pPr/>
            <a:r>
              <a:rPr lang="zh-CN" dirty="0"/>
              <a:t>谁所有，与怎样经营，联系紧密，却不能相互代替。同样的所有制，可以采取不同的实现形式；不同所有制，也可能采取相同的经营方式或组织形式。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设想一家工厂。它生产什么，原料什么时候采购，怎样改进工艺，具体订单如何安排，都需要持续掌握技术和市场信息。所有者当然关心这些决定，因为资产安全和经营后果同它有关。但有所有者地位，并不等于已经具备每一项生产信息。</a:t>
            </a:r>
          </a:p>
          <a:p>
            <a:pPr/>
            <a:endParaRPr lang="zh-CN" dirty="0"/>
          </a:p>
          <a:p>
            <a:pPr/>
            <a:r>
              <a:rPr lang="zh-CN" dirty="0"/>
              <a:t>如果每一次具体调整都由同一个远离现场的主体决定，信息传递和办理可能成为新的困难。把经营事务交给相应经营者，能够利用其专业能力和现场信息。这是经营自主安排的一项可理解的理由。</a:t>
            </a:r>
          </a:p>
          <a:p>
            <a:pPr/>
            <a:endParaRPr lang="zh-CN" dirty="0"/>
          </a:p>
          <a:p>
            <a:pPr/>
            <a:r>
              <a:rPr lang="zh-CN" dirty="0"/>
              <a:t>可另一边的顾虑也有分量：经营者使用的不是可以任意带走的个人财产。专业信息掌握得多，不表示公共资产的安全、收益和责任就可以不再回答。所有者对重大事项的依法管理，怎样同日常经营的自主空间相接，仍需要具体制度。</a:t>
            </a:r>
          </a:p>
          <a:p>
            <a:pPr/>
            <a:endParaRPr lang="zh-CN" dirty="0"/>
          </a:p>
          <a:p>
            <a:pPr/>
            <a:r>
              <a:rPr lang="zh-CN" dirty="0"/>
              <a:t>这里的选择，并不是在“所有者包办一切”和“经营者毫无约束”之间挑一个。需要辨认哪些是所有者依法承担的工作，哪些是经营者的具体职责，怎样使获得决定空间的人同时承担责任。宪法第十六条所说的自主经营，本身就带着法律范围的条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条还有另一款，讲的是民主管理。国有企业怎样实行民主管理？宪法写明，依照法律规定，途径是职工代表大会和其他形式。第十七条对集体经济组织，也把经济活动的自主权同民主管理接在一起。经营不是只剩所有者和一位负责人之间的关系，劳动者也在生产过程中承担工作、经历决定的后果。</a:t>
            </a:r>
          </a:p>
          <a:p>
            <a:pPr/>
            <a:endParaRPr lang="zh-CN" dirty="0"/>
          </a:p>
          <a:p>
            <a:pPr/>
            <a:r>
              <a:rPr lang="zh-CN" dirty="0"/>
              <a:t>专业判断有它的价值，劳动者的经验和依法参与也有制度位置。不能把民主管理说成每一笔订单都必须让所有人一起表决，也不能用经营自主排掉相应的参与和责任。具体方式要由法律和制度继续安排，但宪法已经使我们知道，这些要求能够共同进入经济生活。</a:t>
            </a:r>
          </a:p>
          <a:p>
            <a:pPr/>
            <a:endParaRPr lang="zh-CN" dirty="0"/>
          </a:p>
          <a:p>
            <a:pPr/>
            <a:r>
              <a:rPr lang="zh-CN" dirty="0"/>
              <a:t>某家企业具体由谁批准一件事、某位负责人是否越权，还须读相应法律和事实。两个概念的区别，帮助我们找到问题，并不会替我们自动办完案件。</a:t>
            </a:r>
          </a:p>
          <a:p>
            <a:pPr/>
            <a:endParaRPr lang="zh-CN" dirty="0"/>
          </a:p>
          <a:p>
            <a:pPr/>
            <a:r>
              <a:rPr lang="zh-CN" dirty="0"/>
              <a:t>农村家庭承包同城市企业的权利责任并不完全相同，但可以带给我们一个相通的认识：确定归属，并没有把全部经营办法一并确定。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四、基础、主体和主导，分别在说明什么</a:t>
            </a:r>
          </a:p>
          <a:p>
            <a:pPr/>
            <a:endParaRPr lang="zh-CN" dirty="0"/>
          </a:p>
          <a:p>
            <a:pPr/>
            <a:r>
              <a:rPr lang="zh-CN" dirty="0"/>
              <a:t>到这里，我们主要看的是某种所有制及其实现形式。接下来把视野扩大：一个社会中同时存在多种经济形式，宪法怎样安排它们的地位和关系？这就是所有制结构的问题。</a:t>
            </a:r>
          </a:p>
          <a:p>
            <a:pPr/>
            <a:endParaRPr lang="zh-CN" dirty="0"/>
          </a:p>
          <a:p>
            <a:pPr/>
            <a:r>
              <a:rPr lang="zh-CN" dirty="0"/>
              <a:t>第六条第一款说的是经济制度的基础，即社会主义公有制；第二款说的则是社会主义初级阶段里，不同所有制以什么地位共同存在——公有制为主体，多种所有制经济共同发展。两款相关，却不是重复说一遍同样的意思。</a:t>
            </a:r>
          </a:p>
          <a:p>
            <a:pPr/>
            <a:endParaRPr lang="zh-CN" dirty="0"/>
          </a:p>
          <a:p>
            <a:pPr/>
            <a:r>
              <a:rPr lang="zh-CN" dirty="0"/>
              <a:t>基础指向经济制度性质的根本安排；总体结构则说明在现阶段，不同所有制以什么地位共同存在和发展。我们先认识公有制的两种形式，再看它们同其他经济形式的关系，才不会把局部同总体混在一起。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这里还有一组很容易说成同义词的表述：公有制的主体地位，国有经济的主导地位。</a:t>
            </a:r>
          </a:p>
          <a:p>
            <a:pPr/>
            <a:endParaRPr lang="zh-CN" dirty="0"/>
          </a:p>
          <a:p>
            <a:pPr/>
            <a:r>
              <a:rPr lang="zh-CN" dirty="0"/>
              <a:t>公有制主体，针对的是公有经济总体，其中包含全民所有和集体所有。国有经济主导，针对的是国有经济。两句话的对象已经不同，不能只因为都表示重要，就当成可以相互替换。</a:t>
            </a:r>
          </a:p>
          <a:p>
            <a:pPr/>
            <a:endParaRPr lang="zh-CN" dirty="0"/>
          </a:p>
          <a:p>
            <a:pPr/>
            <a:r>
              <a:rPr lang="zh-CN" dirty="0"/>
              <a:t>教材用公有资产在社会总资产中占优势等内容解释主体地位，又从国有经济对国民经济命脉的控制和对经济发展的作用解释主导。这是教材的展开；宪法第七条并没有逐字列出一张行业名单或给出某个百分比。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观察一家街边商店，或者数一数某条商业街的企业，不足以直接判定全国经济的制度地位。一个经营主体的数量、规模，同它在整体结构中的作用，也不是同一指标。主导力量要放在整体关系中理解，不能理解成每个地方、每个行业都必须由国有企业数量最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第十一条。它先给这些经济形式定地位：个体经济、私营经济等非公有制经济，只要处在法律规定的范围内，就是社会主义市场经济的重要组成部分——这里的落脚词是“重要组成部分”。接着是国家的态度：保护它们的合法权利和利益，鼓励、支持和引导它们发展，同时依法实行监督和管理。</a:t>
            </a:r>
          </a:p>
          <a:p>
            <a:pPr/>
            <a:endParaRPr lang="zh-CN" dirty="0"/>
          </a:p>
          <a:p>
            <a:pPr/>
            <a:r>
              <a:rPr lang="zh-CN" dirty="0"/>
              <a:t>这不是一句“别的经济形式也勉强存在”。条文明确给出地位和国家相应的要求。另一方面，合法权益受保护，也不等于经济活动可以不受法律管理。</a:t>
            </a:r>
          </a:p>
          <a:p>
            <a:pPr/>
            <a:endParaRPr lang="zh-CN" dirty="0"/>
          </a:p>
          <a:p>
            <a:pPr/>
            <a:r>
              <a:rPr lang="zh-CN" dirty="0"/>
              <a:t>教材把公有制为主体、多种所有制共同发展，同社会主义初级阶段的生产力条件及不同经济形式的作用联系起来。不同形式能够组织生产、提供就业、参与交换，也有各自的条件和作用。我们不能将“制度有基础”理解成“其他经济形式必须全部消失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理由再说具体一些。经营办法多样，并不能独自说明所有制为何多样；同一所有制本来就可以有不同办法。这里还要看资源归属。我们设想两家依法经营的小工厂：一家的设备属于劳动者集体，另一家的设备依法属于私人，由其投入经营并雇用劳动者。它们都能组织生产、提供就业，但生产资料的归属不同，不能只当作同一所有者换了两种经营办法。</a:t>
            </a:r>
          </a:p>
          <a:p>
            <a:pPr/>
            <a:endParaRPr lang="zh-CN" dirty="0"/>
          </a:p>
          <a:p>
            <a:pPr/>
            <a:r>
              <a:rPr lang="zh-CN" dirty="0"/>
              <a:t>在现阶段，使不同主体的人力、资金等依法进入生产，能够增加就业、回应不同需求、发展生产力。教材据此解释共同发展的现实作用。这不是规定集体只能办一种厂、私人只能办另一种厂，而是说明不同归属的资源和能力怎样共同参与。承认这些作用，同坚持公有基础及主体地位是两个有关的认识：前者解释共同发展做什么，后者确定总体制度关系。二者都需要被认真说明。</a:t>
            </a:r>
          </a:p>
          <a:p>
            <a:pPr/>
            <a:endParaRPr lang="zh-CN" dirty="0"/>
          </a:p>
          <a:p>
            <a:pPr/>
            <a:r>
              <a:rPr lang="zh-CN" dirty="0"/>
              <a:t>第十一条同时写保护、鼓励、支持、引导和依法监督管理。保护合法利益，使参与者可以在法律范围内安排生产；规范行为，又关系其他主体和共同的经济秩序。它们可以共同服务发展，不是只能从中挑一个。</a:t>
            </a:r>
          </a:p>
          <a:p>
            <a:pPr/>
            <a:endParaRPr lang="zh-CN" dirty="0"/>
          </a:p>
          <a:p>
            <a:pPr/>
            <a:r>
              <a:rPr lang="zh-CN" dirty="0"/>
              <a:t>我们从结构来读，就会发现几项规定可以共同成立：公有制是基础并居主体地位，国有经济发挥主导作用，非公有制经济依法存在、发展并受到保护和管理。需要说明的是不同对象在整体中的关系，而不是让一个词把其他词全部挤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五、东西归谁，与成果怎样分配</a:t>
            </a:r>
          </a:p>
          <a:p>
            <a:pPr/>
            <a:endParaRPr lang="zh-CN" dirty="0"/>
          </a:p>
          <a:p>
            <a:pPr/>
            <a:r>
              <a:rPr lang="zh-CN" dirty="0"/>
              <a:t>现在把田地、机器和生产活动往后看一步。生产完成以后，所得怎样在社会主体之间分配？第六条第二款没有停在所有制结构，后面还写了分配制度。</a:t>
            </a:r>
          </a:p>
          <a:p>
            <a:pPr/>
            <a:endParaRPr lang="zh-CN" dirty="0"/>
          </a:p>
          <a:p>
            <a:pPr/>
            <a:r>
              <a:rPr lang="zh-CN" dirty="0"/>
              <a:t>它规定按劳分配为主体、多种分配方式并存。按劳分配不是所有人取得相同收入，而是按教材所说的劳动数量和质量，分配相应的个人消费品。它同公有制条件相联系，也要考虑现实中的劳动差别。</a:t>
            </a:r>
          </a:p>
          <a:p>
            <a:pPr/>
            <a:endParaRPr lang="zh-CN" dirty="0"/>
          </a:p>
          <a:p>
            <a:pPr/>
            <a:r>
              <a:rPr lang="zh-CN" dirty="0"/>
              <a:t>这里的公有制条件很重要。教材说明，生产资料公有、劳动者在生产资料占有上处于平等地位，个人消费品依据劳动数量和质量分配。按劳分配为主体又有两层含义：在公有制范围内，劳动者的按劳分配收入在个人收入总额中占主体地位；在整个社会，按劳分配是分配方式的主体。前一层看个人收入中的位置，后一层看社会分配制度，不能将主体换成一切劳动所得的总称。</a:t>
            </a:r>
          </a:p>
          <a:p>
            <a:pPr/>
            <a:endParaRPr lang="zh-CN" dirty="0"/>
          </a:p>
          <a:p>
            <a:pPr/>
            <a:r>
              <a:rPr lang="zh-CN" dirty="0"/>
              <a:t>如果只有一句“人人相同”，劳动的不同贡献就被抹平了。可如果只问谁占有多少生产资料，又会把生产资料的归属当成分配的一切依据。按劳分配所强调的，正是在相应制度条件下，将劳动同分配联系起来。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多种分配方式，则还涉及生产要素参与分配。教材讲劳动、资本、管理、知识产权、土地等因素，说明人们凭不同的投入和权利取得相应收益。劳动这个词，也会出现在要素分配中。所以不能只看到一笔钱来自工作，就一律宣布它属于政治经济学意义上的按劳分配。</a:t>
            </a:r>
          </a:p>
          <a:p>
            <a:pPr/>
            <a:endParaRPr lang="zh-CN" dirty="0"/>
          </a:p>
          <a:p>
            <a:pPr/>
            <a:r>
              <a:rPr lang="zh-CN" dirty="0"/>
              <a:t>我们作一个带明确前提的对照：甲在刚才所说的公有制及按劳分配条件下取得劳动收入；乙作为私营企业雇员取得劳动报酬。两人都付出了劳动，但教材将后一种收入列入以劳动要素参与分配。区别不在有没有劳动，而在相应的所有制条件和分配关系。也不能反过来，仅凭国企职工的名称，就将其工资、投资收益等所有收入一概判为按劳分配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要把依据说清？我们用一个简短设想：同一项生产，有人提供劳动，有人依法投入资金，有人提供依法可以使用的技术成果。这些投入都可能参与生产，但相应所得不能只凭一个“贡献”就宣布完全相同。劳动报酬与依据资本、技术等取得的收益，需要分别辨认其关系和条件。</a:t>
            </a:r>
          </a:p>
          <a:p>
            <a:pPr/>
            <a:endParaRPr lang="zh-CN" dirty="0"/>
          </a:p>
          <a:p>
            <a:pPr/>
            <a:r>
              <a:rPr lang="zh-CN" dirty="0"/>
              <a:t>按劳分配强调相应制度条件下的劳动依据；多种方式并存，则承认现实投入和权利关系的多样。既不能把所有报酬都改叫按劳分配，也不能因存在其他方式，就将按劳分配的主体地位和劳动者的合理利益放到一边。安排分配，不仅问钱最后到了谁手里，还要问依什么依据、在什么条件下取得。</a:t>
            </a:r>
          </a:p>
          <a:p>
            <a:pPr/>
            <a:endParaRPr lang="zh-CN" dirty="0"/>
          </a:p>
          <a:p>
            <a:pPr/>
            <a:r>
              <a:rPr lang="zh-CN" dirty="0"/>
              <a:t>这个设想不是一张可以直接给真实收入定性的表。比如一份技术收入怎样确认，仍须相关权利与法律。它让我们认识的是，分配制度需要把具体依据讲出，不能只用“多劳多得”解释全部收入，也不能只靠某个人的身份判断每一笔所得。</a:t>
            </a:r>
          </a:p>
          <a:p>
            <a:pPr/>
            <a:endParaRPr lang="zh-CN" dirty="0"/>
          </a:p>
          <a:p>
            <a:pPr/>
            <a:r>
              <a:rPr lang="zh-CN" dirty="0"/>
              <a:t>由此多了一个问题：生产资料归谁，同生产成果按什么依据分配，相关但不相同。前者没有替后者作出所有安排。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再往前看下一轮生产，还会遇到另外一个问题：这片土地、这些设备、资金和劳动，怎样进入不同用途？这是资源配置。分配主要问成果和收入怎样分，配置主要问生产资源怎样投入。</a:t>
            </a:r>
          </a:p>
          <a:p>
            <a:pPr/>
            <a:endParaRPr lang="zh-CN" dirty="0"/>
          </a:p>
          <a:p>
            <a:pPr/>
            <a:r>
              <a:rPr lang="zh-CN" dirty="0"/>
              <a:t>日常说“钱往哪里去”，容易将两件事说成一件。可工厂把资金投入新设备，同职工依法取得劳动报酬，关注的关系就不同。它们在同一经济生活中发生，我们仍须分别解释。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请把第六条的两款和第十五条有关市场经济的规定放在一起，想一想下面这组变化。这里是一组教学设想，不是某家真实企业的调查：一间厂房仍由原所有者拥有，改由相应经营者处理日常经营；劳动者依制度取得报酬；企业根据产品需求调整设备投入。哪一项主要涉及归属，哪一项涉及经营，哪一项涉及分配，哪一项涉及配置？为什么不能只说“这家厂改了”，就认定所有关系都一起改变？</a:t>
            </a:r>
          </a:p>
          <a:p>
            <a:pPr/>
            <a:endParaRPr lang="zh-CN" dirty="0"/>
          </a:p>
          <a:p>
            <a:pPr/>
            <a:r>
              <a:rPr lang="zh-CN" dirty="0"/>
              <a:t>【独立对照与思考约两分钟：依据上文已提供的条文及设例，分别说明各项所问的关系。教师暂停讲述。】</a:t>
            </a:r>
          </a:p>
          <a:p>
            <a:pPr/>
            <a:endParaRPr lang="zh-CN" dirty="0"/>
          </a:p>
          <a:p>
            <a:pPr/>
            <a:r>
              <a:rPr lang="zh-CN" dirty="0"/>
              <a:t>先看厂房的归属。设例已经说明所有者没有变，所以不能仅由经营者变化推定归属已变。谁处理日常经营，问的是经营安排。劳动者依制度取得报酬，进入分配问题；设备怎样根据需求投入，则进入配置问题。</a:t>
            </a:r>
          </a:p>
          <a:p>
            <a:pPr/>
            <a:endParaRPr lang="zh-CN" dirty="0"/>
          </a:p>
          <a:p>
            <a:pPr/>
            <a:r>
              <a:rPr lang="zh-CN" dirty="0"/>
              <a:t>几个问题可以同时改变，也可以有的改变、有的保留。判断时需要逐项看对象和依据。小岗的家庭经营、1993年的企业改文，都是让这种区分变得具体的材料；它们的各项法律条件不能由这个简单设例代替。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六、市场为什么能同公有制相接</a:t>
            </a:r>
          </a:p>
          <a:p>
            <a:pPr/>
            <a:endParaRPr lang="zh-CN" dirty="0"/>
          </a:p>
          <a:p>
            <a:pPr/>
            <a:r>
              <a:rPr lang="zh-CN" dirty="0"/>
              <a:t>资源怎样进入不同用途，正是理解市场经济的重要入口。</a:t>
            </a:r>
          </a:p>
          <a:p>
            <a:pPr/>
            <a:endParaRPr lang="zh-CN" dirty="0"/>
          </a:p>
          <a:p>
            <a:pPr/>
            <a:r>
              <a:rPr lang="zh-CN" dirty="0"/>
              <a:t>我们设想一家生产日常用品的企业。产品卖不出去，库存增加，原来的投入办法可能需要调整；另一种产品需求增加，企业又要考虑怎样安排设备、原料和劳动。价格、供求、交易和竞争，使不同主体的需要和选择彼此发生联系。</a:t>
            </a:r>
          </a:p>
          <a:p>
            <a:pPr/>
            <a:endParaRPr lang="zh-CN" dirty="0"/>
          </a:p>
          <a:p>
            <a:pPr/>
            <a:r>
              <a:rPr lang="zh-CN" dirty="0"/>
              <a:t>这是一个帮助理解配置的设想，不代表每家企业都以完全相同的方式决策。它使我们知道，市场并不是一个写在企业门口的所有权标签，而是一种组织资源配置的关系和机制。</a:t>
            </a:r>
          </a:p>
          <a:p>
            <a:pPr/>
            <a:endParaRPr lang="zh-CN" dirty="0"/>
          </a:p>
          <a:p>
            <a:pPr/>
            <a:r>
              <a:rPr lang="zh-CN" dirty="0"/>
              <a:t>教材特别指出，计划和市场不是区分社会主义与资本主义的标志，市场并非资本主义独有。在我国，社会主义市场经济同前面的所有制和分配安排结合。我们把问题分开，不是要将它们彼此割断，而是看清怎样结合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一家国有企业参加市场竞争，不因“国有”和“市场”两个词并存就产生概念矛盾。国有在说明相应所有制关系，市场在说明资源配置的问题。这句结论的依据，不是换了一个漂亮称呼，而是我们已经说明的两种维度。</a:t>
            </a:r>
          </a:p>
          <a:p>
            <a:pPr/>
            <a:endParaRPr lang="zh-CN" dirty="0"/>
          </a:p>
          <a:p>
            <a:pPr/>
            <a:r>
              <a:rPr lang="zh-CN" dirty="0"/>
              <a:t>同样地，使用市场机制，也不自动给出了企业产权归谁、劳动成果怎样分配的全部答案。配置机制同其他制度安排相互作用，必须放回整个经济制度中看。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1993年修正案的几项改变值得连着理解：一面调整国营、国有及企业经营表述，一面在第十五条确立社会主义市场经济，又同时写入经济立法和宏观调控。它不是只放进市场一词，然后将国家的有关工作全部删掉。</a:t>
            </a:r>
          </a:p>
          <a:p>
            <a:pPr/>
            <a:endParaRPr lang="zh-CN" dirty="0"/>
          </a:p>
          <a:p>
            <a:pPr/>
            <a:r>
              <a:rPr lang="zh-CN" dirty="0"/>
              <a:t>这里也要分清两个来源。第十五条规定国家实行社会主义市场经济，并安排经济立法、宏观调控和维护经济秩序；教材关于市场在资源配置中起决定性作用的说明，是它对制度的解释。不能把后来展开的全部说明，冒称成条文的逐字内容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七、市场运行，还需要国家做什么</a:t>
            </a:r>
          </a:p>
          <a:p>
            <a:pPr/>
            <a:endParaRPr lang="zh-CN" dirty="0"/>
          </a:p>
          <a:p>
            <a:pPr/>
            <a:r>
              <a:rPr lang="zh-CN" dirty="0"/>
              <a:t>说到市场，有一种很真实的顾虑：如果国家过多替经营者作具体决定，经营者就难以回应不断变化的需求。刚才讨论经营自主时，我们已经认真看过这种信息和行动的需要。</a:t>
            </a:r>
          </a:p>
          <a:p>
            <a:pPr/>
            <a:endParaRPr lang="zh-CN" dirty="0"/>
          </a:p>
          <a:p>
            <a:pPr/>
            <a:r>
              <a:rPr lang="zh-CN" dirty="0"/>
              <a:t>但让不同主体通过交易作选择，还需要交易能够有序发生。有人答应交付原料，有人依约支付；如果约定是否履行、财产如何受到保护、发生争议怎样处理都没有稳定规则，经营者就很难安排下一步。这些条件不会因为大家口头说一句“自由交易”，就自行出现。</a:t>
            </a:r>
          </a:p>
          <a:p>
            <a:pPr/>
            <a:endParaRPr lang="zh-CN" dirty="0"/>
          </a:p>
          <a:p>
            <a:pPr/>
            <a:r>
              <a:rPr lang="zh-CN" dirty="0"/>
              <a:t>法律规则为市场活动提供可以预期的条件。市场配置与经济立法因此不是互相排斥的两件事。市场需要让选择发生，法律又要规定哪些选择能够怎样发生、相关主体承担什么责任。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还有一种问题，即使买卖双方都同意，也可能没有被交易解决。我们设想一家生产企业，产品价格较低，其中一个原因是没有处理生产中产生的污染；下游居民要为受影响的生活环境承担代价，却并不是这笔买卖的参与者。</a:t>
            </a:r>
          </a:p>
          <a:p>
            <a:pPr/>
            <a:endParaRPr lang="zh-CN" dirty="0"/>
          </a:p>
          <a:p>
            <a:pPr/>
            <a:r>
              <a:rPr lang="zh-CN" dirty="0"/>
              <a:t>买方愿意购买，卖方也有收益，不表示受影响的人都已同意，也不表示全部成本已进入价格。经济学用外部性说明这类影响交易之外主体、却未被相应价格反映的问题。这里不是一宗真实污染案，也不能仅凭设想给某家企业定违法结论。</a:t>
            </a:r>
          </a:p>
          <a:p>
            <a:pPr/>
            <a:endParaRPr lang="zh-CN" dirty="0"/>
          </a:p>
          <a:p>
            <a:pPr/>
            <a:r>
              <a:rPr lang="zh-CN" dirty="0"/>
              <a:t>它提出了一项具体的制度需要：让活动的选择和责任能够面对相关影响。表面上便宜，可能是提高了效率，也可能是把一部分代价留给了别人；要看条件才能区别。依法规范和责任安排，可以使这些原先没有进入交易的关系被处理。</a:t>
            </a:r>
          </a:p>
          <a:p>
            <a:pPr/>
            <a:endParaRPr lang="zh-CN" dirty="0"/>
          </a:p>
          <a:p>
            <a:pPr/>
            <a:r>
              <a:rPr lang="zh-CN" dirty="0"/>
              <a:t>如果有关主体能够在清楚的权利和事实条件下协调，也可能形成相应办法；受影响范围很大、信息难以取得时，协调又有真实困难。不能只让损害承受者自行找到每一个生产者，也不能以这种困难为由让任何干预都免于说明依据。制度要回应的问题，比“有人愿买、有人愿卖”多一层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微观活动的规则，还不等于宏观调控。污染设想说明交易之外的影响，宏观调控还要面对整个经济的运行。我们另设一个短期需求不足的情形：许多家庭担心收入减少，暂缓购买一些商品；企业订单减少，便压缩生产和新的投资。对各自来说，这是谨慎应对困难。</a:t>
            </a:r>
          </a:p>
          <a:p>
            <a:pPr/>
            <a:endParaRPr lang="zh-CN" dirty="0"/>
          </a:p>
          <a:p>
            <a:pPr/>
            <a:r>
              <a:rPr lang="zh-CN" dirty="0"/>
              <a:t>可一家人的支出，又是别人取得收入的来源。许多家庭同时少买，许多企业同时少投，可能使其他人的收入和订单进一步减少，进而再次压低支出。如果其他需求没有补上，单个主体的自我保护就未必使整体更快恢复。这不是说节俭有错：储蓄能够支持以后的投资，企业也可能找到新需求；我们解释的是这些补偿尚未出现时，短期下降为什么可能相互加强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国家要观察的，不只是某笔交易是否守约，还包括整体需求、就业和风险等关系。依具体情况运用财政、货币等政策，是宏观调控的工作，不等于由政府逐笔替企业接订单。政策也有成本、时滞和承受能力的限制；需求不足与供给受限、价格上涨，不能不加区别地用同一种办法。</a:t>
            </a:r>
          </a:p>
          <a:p>
            <a:pPr/>
            <a:endParaRPr lang="zh-CN" dirty="0"/>
          </a:p>
          <a:p>
            <a:pPr/>
            <a:r>
              <a:rPr lang="zh-CN" dirty="0"/>
              <a:t>这使第十五条的几句话有了联系：市场组织具体选择，法律提供秩序并处理责任，宏观调控面对整体运行。说明这些工作有必要，并没有证明某项干预当然适当。措施由谁采取、依据什么、针对什么问题、产生什么影响，仍须具体判断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共需要还会把视野继续打开。生产能够增加财富，可人的健康、受教育条件、文化生活和环境，并不是只问某个经营者的产品卖得怎样就能全部解决。市场中的经营者有其具体任务，国家还承担更广泛的制度职责。它们可以相接，各自又有应当回答的问题。</a:t>
            </a:r>
          </a:p>
          <a:p>
            <a:pPr/>
            <a:endParaRPr lang="zh-CN" dirty="0"/>
          </a:p>
          <a:p>
            <a:pPr/>
            <a:r>
              <a:rPr lang="zh-CN" dirty="0"/>
              <a:t>回到开头那张纸，小岗农民首先面对生产和家庭生活的困难。后来制度的变化，把集体所有、家庭经营和生产责任以新的方式联系起来。再看1993年的改文，同样提醒我们，所有制性质与具体实现形式可以分别认识，市场机制与国家相应工作也可以共同安排。</a:t>
            </a:r>
          </a:p>
          <a:p>
            <a:pPr/>
            <a:endParaRPr lang="zh-CN" dirty="0"/>
          </a:p>
          <a:p>
            <a:pPr/>
            <a:r>
              <a:rPr lang="zh-CN" dirty="0"/>
              <a:t>现在再看同一片田，就不只有一个“分田”的动作了。归属与经营怎样相接，生产所得按什么依据分配，资源怎样进入下一轮生产，国家和有关主体又承担什么工作，都可以分别提问。生活还是那片生活，我们的认识已经多了几层。</a:t>
            </a:r>
          </a:p>
          <a:p>
            <a:pPr/>
            <a:endParaRPr lang="zh-CN" dirty="0"/>
          </a:p>
          <a:p>
            <a:pPr/>
            <a:r>
              <a:rPr lang="zh-CN" dirty="0"/>
              <a:t>上节先收在这里。宪法对经济生活作根本安排，政治制度又组织公共权力和参与关系。下一节，我们从一位已经选出来的代表开始看：选举过去了，谁继续向他提问，怎样让人的生活进入制度的日常工作？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下节　选举之后，公共生活怎样进入制度</a:t>
            </a:r>
          </a:p>
          <a:p>
            <a:pPr/>
            <a:endParaRPr lang="zh-CN" dirty="0"/>
          </a:p>
          <a:p>
            <a:pPr/>
            <a:r>
              <a:rPr lang="zh-CN" dirty="0"/>
              <a:t>一、代表产生以后，关系并没有结束</a:t>
            </a:r>
          </a:p>
          <a:p>
            <a:pPr/>
            <a:endParaRPr lang="zh-CN" dirty="0"/>
          </a:p>
          <a:p>
            <a:pPr/>
            <a:r>
              <a:rPr lang="zh-CN" dirty="0"/>
              <a:t>同学们，上节我们从一张农村契约走到经济制度，分清了所有、经营、分配和配置。现在转到公共事务中的另一组关系：谁代表谁，谁要向谁说明工作，谁依法监督谁。</a:t>
            </a:r>
          </a:p>
          <a:p>
            <a:pPr/>
            <a:endParaRPr lang="zh-CN" dirty="0"/>
          </a:p>
          <a:p>
            <a:pPr/>
            <a:r>
              <a:rPr lang="zh-CN" dirty="0"/>
              <a:t>先看一个已经发生的过程。四川人大网2024年的一篇报道，记录了简阳市平武镇尤安村的代表述职活动。2021年选举产生的市、镇人大代表，在2024年回到原选区，向选民报告履职，再接受提问和评议。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平武镇人大代表杨祖亮的述职提到一件很具体的事：安置小区原有集中充电点，使用却不充分，一些居民私拉电线给电瓶车充电。他入户了解，把困难和诉求提交村两委讨论，后来闲置门面被改作集中充电场所。村两委，指村党组织和村民委员会，先把这两个主体认识清楚。</a:t>
            </a:r>
          </a:p>
          <a:p>
            <a:pPr/>
            <a:endParaRPr lang="zh-CN" dirty="0"/>
          </a:p>
          <a:p>
            <a:pPr/>
            <a:r>
              <a:rPr lang="zh-CN" dirty="0"/>
              <a:t>我们读到的是报道记载的履职报告，不是一份工程档案。也请留意几个动作：发现生活中的困难，向人了解，提交讨论，相关主体办理。它们并没有被合成一个人一句话，就完成全部决定。</a:t>
            </a:r>
          </a:p>
          <a:p>
            <a:pPr/>
            <a:endParaRPr lang="zh-CN" dirty="0"/>
          </a:p>
          <a:p>
            <a:pPr/>
            <a:r>
              <a:rPr lang="zh-CN" dirty="0"/>
              <a:t>报告之后，选民还继续问农产品销售、垃圾清运和灌溉等问题。办成了一件事情，并没有让其他事情自动消失。会场也不是只有代表说，听者鼓掌就结束；选民可以问此前的工作，也可以提出仍待处理的需要。</a:t>
            </a:r>
          </a:p>
          <a:p>
            <a:pPr/>
            <a:endParaRPr lang="zh-CN" dirty="0"/>
          </a:p>
          <a:p>
            <a:pPr/>
            <a:r>
              <a:rPr lang="zh-CN" dirty="0"/>
              <a:t>现场还有民主测评，但不要将这种评价等同罢免，或者当成一次新的代表选举。它们的对象和法律效果不同。我们从这次活动先看到的，是选举之后仍然存在的联系、报告和监督。</a:t>
            </a:r>
          </a:p>
          <a:p>
            <a:pPr/>
            <a:endParaRPr lang="zh-CN" dirty="0"/>
          </a:p>
          <a:p>
            <a:pPr/>
            <a:r>
              <a:rPr lang="zh-CN" dirty="0"/>
              <a:t>上一讲已经说过，人民代表大会制度不是一场会议，也不是某个建筑的名称。今天不再完整重讲，而是将其中一条关系读得具体：代表由谁依法产生，同受谁监督怎样相接？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宪法第九十七条规定地方人大代表的产生方式。我们取两个典型：县级人大代表由选民直接选举，省级人大代表由下一级人大选举。直接、间接的名称，上一讲已经认识了。</a:t>
            </a:r>
          </a:p>
          <a:p>
            <a:pPr/>
            <a:endParaRPr lang="zh-CN" dirty="0"/>
          </a:p>
          <a:p>
            <a:pPr/>
            <a:r>
              <a:rPr lang="zh-CN" dirty="0"/>
              <a:t>直接选举并不只有县这一种名称。第九十七条还列出不设区的市、市辖区、乡、民族乡和镇。刚才的报道明确说明，参加述职的市、镇代表都是直选代表。因此，他们向原选区选民报告，也能同接下来选民监督的规定联系起来，不能看到一个市字，就一律判成间接选举。</a:t>
            </a:r>
          </a:p>
          <a:p>
            <a:pPr/>
            <a:endParaRPr lang="zh-CN" dirty="0"/>
          </a:p>
          <a:p>
            <a:pPr/>
            <a:r>
              <a:rPr lang="zh-CN" dirty="0"/>
              <a:t>再看第一百零二条。它规定，地方各级人大代表受原选举单位或者选民监督；原选举单位或者选民，有权依照法律规定的程序罢免由他们选出的代表。于是两个典型分别相接：县级代表由选民选出，受选民监督；省级代表由下一级人大选出，受原选举单位监督。</a:t>
            </a:r>
          </a:p>
          <a:p>
            <a:pPr/>
            <a:endParaRPr lang="zh-CN" dirty="0"/>
          </a:p>
          <a:p>
            <a:pPr/>
            <a:r>
              <a:rPr lang="zh-CN" dirty="0"/>
              <a:t>再向上看第七十七条，全国人大代表受原选举单位监督。全国人大代表的来源还包括特别行政区、军队等，我们不能拿两个地方典型冒充所有来源的完整清单。今天的重点是关系，不是背全部层级。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产生方式同监督主体要一起看？如果只说“代表要接受监督”，这句话还没有说明在相应制度关系中，谁继续与他保持联系、依什么方式处理问题。条文把持续联系交给可辨认的主体，并为法定处理保留依据。</a:t>
            </a:r>
          </a:p>
          <a:p>
            <a:pPr/>
            <a:endParaRPr lang="zh-CN" dirty="0"/>
          </a:p>
          <a:p>
            <a:pPr/>
            <a:r>
              <a:rPr lang="zh-CN" dirty="0"/>
              <a:t>简阳的报道正好让这层关系有了可见的内容。几年以前产生的代表，要向原选区选民说明后来做了什么。选民面对的不是一个遥远的抽象身份，而是可以就公共问题询问其履职的人。这是实践材料帮助我们理解规范关系的地方，不是由一篇报道证明所有监督都已经充分实现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二、监督为什么也需要主体和程序</a:t>
            </a:r>
          </a:p>
          <a:p>
            <a:pPr/>
            <a:endParaRPr lang="zh-CN" dirty="0"/>
          </a:p>
          <a:p>
            <a:pPr/>
            <a:r>
              <a:rPr lang="zh-CN" dirty="0"/>
              <a:t>说到监督，有人可能会觉得，既然代表是由人选出来的，任何人不满意时直接取消其资格，不是更有力度吗？</a:t>
            </a:r>
          </a:p>
          <a:p>
            <a:pPr/>
            <a:endParaRPr lang="zh-CN" dirty="0"/>
          </a:p>
          <a:p>
            <a:pPr/>
            <a:r>
              <a:rPr lang="zh-CN" dirty="0"/>
              <a:t>这个想法抓住了一个实际需要：公共身份不能成为拒绝说明工作的理由。代表应当保持联系、认真履职，监督也需要能够产生实际作用。仅让人提出意见，相关问题却永远不必回答，显然没有把负责关系做充分。</a:t>
            </a:r>
          </a:p>
          <a:p>
            <a:pPr/>
            <a:endParaRPr lang="zh-CN" dirty="0"/>
          </a:p>
          <a:p>
            <a:pPr/>
            <a:r>
              <a:rPr lang="zh-CN" dirty="0"/>
              <a:t>但我们还要看，这个公共身份涉及谁、怎样依法形成。代表不是某个人随意请来的私人代理，也不是谁同他发生分歧，谁就能收回的一张私人委托书。选举形成的是公共制度中的资格，相应改变也会影响共同参与的关系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因此，监督需要实质内容，资格处理同样需要法定主体和程序。我们不能将意见、批评、询问、评议、罢免，都压成同一种动作。每一种工作回答的问题及其法律效果并不完全相同。</a:t>
            </a:r>
          </a:p>
          <a:p>
            <a:pPr/>
            <a:endParaRPr lang="zh-CN" dirty="0"/>
          </a:p>
          <a:p>
            <a:pPr/>
            <a:r>
              <a:rPr lang="zh-CN" dirty="0"/>
              <a:t>宪法这里没有要求大家永远满意。它恰恰承认原选举单位或者选民可以依法罢免由其选出的代表。关键是依据什么资格关系，由哪些主体，按什么法定程序进行。合法产生之后，关系没有结束；有权监督，也不是任何个人获得任意取消身份的权力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被选出以后，代表应代表人民的利益和意志。原选区或原选举单位所联系的群众，提出的需要可以是认真而正当的公共需要，不能一概降格为私人利益。代表要听取、反映，也要面对其职责范围内的共同事务。</a:t>
            </a:r>
          </a:p>
          <a:p>
            <a:pPr/>
            <a:endParaRPr lang="zh-CN" dirty="0"/>
          </a:p>
          <a:p>
            <a:pPr/>
            <a:r>
              <a:rPr lang="zh-CN" dirty="0"/>
              <a:t>我们设想一位省级人大代表，在有关公共服务问题上收到两个地区的意见。两边都有真实困难，现有资源又不足以同时完成全部安排。原选举单位所在地区，希望他先支持本地的需要。这种期待可以理解，却还没有替省级公共事务作完全部判断。</a:t>
            </a:r>
          </a:p>
          <a:p>
            <a:pPr/>
            <a:endParaRPr lang="zh-CN" dirty="0"/>
          </a:p>
          <a:p>
            <a:pPr/>
            <a:r>
              <a:rPr lang="zh-CN" dirty="0"/>
              <a:t>他不能只因另一地区不是自己的产生来源，就忽略那里的实际需要；也不能说一句维护公共利益，就不再认真调查原来联系群众的困难。需要把迫切性、影响、可行条件等理由讲清，依法参加审议、表达意见，并将相关认识和工作情况向相应主体说明。</a:t>
            </a:r>
          </a:p>
          <a:p>
            <a:pPr/>
            <a:endParaRPr lang="zh-CN" dirty="0"/>
          </a:p>
          <a:p>
            <a:pPr/>
            <a:r>
              <a:rPr lang="zh-CN" dirty="0"/>
              <a:t>选出一个代表，是希望人的需要可以被带进共同的制度工作，而不是要求他只替某一方争取、永远不必解释选择。2025年修正的代表法，将听取反映原选区、原选举单位和人民群众的意见要求，同忠实代表人民利益意志、接受监督一起规定。这些要求相接，不能只拿其中一句取消另外一句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接受监督既需要密切联系，也需要有理由地说明工作；面向公共职责，也不能成为拒绝联系的盾牌。代表参加人大集体行使职权，不是一人直接分配全部公共资源。这里的设想只检验这组关系，不替真实项目决定谁必须先获安排。</a:t>
            </a:r>
          </a:p>
          <a:p>
            <a:pPr/>
            <a:endParaRPr lang="zh-CN" dirty="0"/>
          </a:p>
          <a:p>
            <a:pPr/>
            <a:r>
              <a:rPr lang="zh-CN" dirty="0"/>
              <a:t>我们在这里不展开联名人数、投票门槛和整套选举程序，也不将罢免等同全部代表资格终止情形。个人具有什么选举资格，第六讲再说；人民代表大会及其常委会的具体职权，第七讲再讲。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请用刚才已经给出的规定，判断两个简短情形。甲说，一位县级人大代表要受选民监督，所以任何一位选民只要写一句不满意，就可以直接使他失去资格。乙说，一位省级人大代表是间接选举产生的，所以同产生他的机关没有持续监督关系。两句话各跳过了哪一层？请各用一句完整的话解释。</a:t>
            </a:r>
          </a:p>
          <a:p>
            <a:pPr/>
            <a:endParaRPr lang="zh-CN" dirty="0"/>
          </a:p>
          <a:p>
            <a:pPr/>
            <a:r>
              <a:rPr lang="zh-CN" dirty="0"/>
              <a:t>【独立思考约两分钟：依据上文第九十七、第一百零二条及其解释，写出两项判断的理由。教师暂停讲述。】</a:t>
            </a:r>
          </a:p>
          <a:p>
            <a:pPr/>
            <a:endParaRPr lang="zh-CN" dirty="0"/>
          </a:p>
          <a:p>
            <a:pPr/>
            <a:r>
              <a:rPr lang="zh-CN" dirty="0"/>
              <a:t>第一句话把监督联系直接跳成了个人取消资格。选民的法定监督与罢免权有依据，但必须通过法律规定的程序，不能由一个人的一句话代替。第二句话则只看产生的时点，漏掉条文明写的原选举单位监督。</a:t>
            </a:r>
          </a:p>
          <a:p>
            <a:pPr/>
            <a:endParaRPr lang="zh-CN" dirty="0"/>
          </a:p>
          <a:p>
            <a:pPr/>
            <a:r>
              <a:rPr lang="zh-CN" dirty="0"/>
              <a:t>真要办理某项罢免事务，还须进一步取得程序和事实。我们刚才辨清了谁受谁监督，以及为何须依法处理资格；这些认识是办理的前提，却不是程序已经办完。</a:t>
            </a:r>
          </a:p>
          <a:p>
            <a:pPr/>
            <a:endParaRPr lang="zh-CN" dirty="0"/>
          </a:p>
          <a:p>
            <a:pPr/>
            <a:r>
              <a:rPr lang="zh-CN" dirty="0"/>
              <a:t>回看刚才的述职活动，代表报告、选民提问和测评是一组实际过程。它可以使工作进入人的视野，也可以留下新的问题；至于依法处理代表资格，则是另一项需要相应依据的工作。把不同环节分清，监督才不会只剩热闹，也不会被说成可以任意决定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三、不同的政治参与，不是同一种组织</a:t>
            </a:r>
          </a:p>
          <a:p>
            <a:pPr/>
            <a:endParaRPr lang="zh-CN" dirty="0"/>
          </a:p>
          <a:p>
            <a:pPr/>
            <a:r>
              <a:rPr lang="zh-CN" dirty="0"/>
              <a:t>人民参与公共生活，当然不只有选举和对代表的监督。教材接着讲中国共产党领导的多党合作和政治协商、民族区域自治、基层群众自治。我们分别认识它们做什么，不把四个名称连成一串以后就算讲完。</a:t>
            </a:r>
          </a:p>
          <a:p>
            <a:pPr/>
            <a:endParaRPr lang="zh-CN" dirty="0"/>
          </a:p>
          <a:p>
            <a:pPr/>
            <a:r>
              <a:rPr lang="zh-CN" dirty="0"/>
              <a:t>先说多党合作和政治协商。这里有领导、执政、合作和参政的制度关系：中国共产党执政，各民主党派参政，共同致力于中国特色社会主义事业。参政包括参与国家事务管理和有关方针政策等的协商，并不只发生在一次政协会议上。</a:t>
            </a:r>
          </a:p>
          <a:p>
            <a:pPr/>
            <a:endParaRPr lang="zh-CN" dirty="0"/>
          </a:p>
          <a:p>
            <a:pPr/>
            <a:r>
              <a:rPr lang="zh-CN" dirty="0"/>
              <a:t>政协又是什么？它是中国共产党领导的多党合作和政治协商的重要机构，参加方面包括党派、团体和不同界别的代表，不是只有政党参加的一场会议。宪法序言说明，中国人民政治协商会议是有广泛代表性的统一战线组织。教材解释，它通过政治协商、民主监督、参政议政，汇集不同方面的意见、开展研究、表达建议。这些工作具有实际作用，但政协不是国家权力机关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还要区别？一个公共问题，要看法律权限，也要看实际处境和不同方面的认识。依法决定由相应机关承担，不表示决定之前就不需要听取意见，实施中也不需要发现问题。协商、研究和建议可以帮助认识这些条件；它们并不因为没有直接作出国家机关决定，就成了没有作用的闲谈。</a:t>
            </a:r>
          </a:p>
          <a:p>
            <a:pPr/>
            <a:endParaRPr lang="zh-CN" dirty="0"/>
          </a:p>
          <a:p>
            <a:pPr/>
            <a:r>
              <a:rPr lang="zh-CN" dirty="0"/>
              <a:t>反过来，一项政协意见也不能直接当成已经制定的法律或行政决定。组织性质、工作方式和法律效果，都要准确。政协的民主监督，同人大依法行使的监督职权，也不能仅凭同样含有监督两个字就互换。</a:t>
            </a:r>
          </a:p>
          <a:p>
            <a:pPr/>
            <a:endParaRPr lang="zh-CN" dirty="0"/>
          </a:p>
          <a:p>
            <a:pPr/>
            <a:r>
              <a:rPr lang="zh-CN" dirty="0"/>
              <a:t>这样理解，我们就不会把多党合作缩成政党轮流执政，也不会把政协和人大看成名字不同的两个同类机关。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说民族区域自治。上一讲已经看过统一国家中的民族自治地方，也解释了依法设立自治机关、行使自治权。这里继续看制度的作用：让当地能够根据本民族政治、经济、社会和文化等特点，依法管理有关本地方、本民族的内部事务。</a:t>
            </a:r>
          </a:p>
          <a:p>
            <a:pPr/>
            <a:endParaRPr lang="zh-CN" dirty="0"/>
          </a:p>
          <a:p>
            <a:pPr/>
            <a:r>
              <a:rPr lang="zh-CN" dirty="0"/>
              <a:t>共同的国家制度需要被遵守，不同地区的实际特点也需要进入相应安排。民族区域自治将统一、民族平等团结和有关地方事务的自主处理相接。它不是简单在地图上换一个名称，也不是脱离国家另建国家。具体自治机关有哪些职权，第七讲再展开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种，是基层群众自治。我们从共同生活的小事进入：一个居住地区的公共事务、公益事业，需要有人组织办理，也需要居民、村民依法参与。宪法第一百一十一条规定，居民委员会、村民委员会是基层群众性自治组织。</a:t>
            </a:r>
          </a:p>
          <a:p>
            <a:pPr/>
            <a:endParaRPr lang="zh-CN" dirty="0"/>
          </a:p>
          <a:p>
            <a:pPr/>
            <a:r>
              <a:rPr lang="zh-CN" dirty="0"/>
              <a:t>这里的自治对象，是居住地区的公共事务和共同生活。居委会、村委会不是一级国家政权。不能因为它们要协助有关政府工作，就把它们直接画成另一层政府。</a:t>
            </a:r>
          </a:p>
          <a:p>
            <a:pPr/>
            <a:endParaRPr lang="zh-CN" dirty="0"/>
          </a:p>
          <a:p>
            <a:pPr/>
            <a:r>
              <a:rPr lang="zh-CN" dirty="0"/>
              <a:t>2025年修订、2026年开始施行的城市居民委员会组织法，继续明确居民委员会的群众性自治性质，并规定党的领导以及有关政府、街道办事处的指导支持帮助和协助关系。几种关系同时存在，但不是同一回事：政治领导、依法自治、政府联系和具体协助，各有其内容。</a:t>
            </a:r>
          </a:p>
          <a:p>
            <a:pPr/>
            <a:endParaRPr lang="zh-CN" dirty="0"/>
          </a:p>
          <a:p>
            <a:pPr/>
            <a:r>
              <a:rPr lang="zh-CN" dirty="0"/>
              <a:t>居委会同有关政府保持联系，并不取消居民自治的对象；居民自治，也不意味着公共事务可以不守法律。具体什么事怎样决定、由谁办理，还须依据相应规则。居委会组织法的具体规定，也不能直接套给村委会。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如一个居民区怎样共同使用活动空间。我们设想，有人希望清晨锻炼，有人上完夜班刚需要休息。两种需要都可以认真对待，问题不能仅由谁声音更大来决定。通过依法协商和办理公共事务，了解生活条件，安排时间、地点和方式，是基层自治能够进入的实际内容。</a:t>
            </a:r>
          </a:p>
          <a:p>
            <a:pPr/>
            <a:endParaRPr lang="zh-CN" dirty="0"/>
          </a:p>
          <a:p>
            <a:pPr/>
            <a:r>
              <a:rPr lang="zh-CN" dirty="0"/>
              <a:t>这些工作同国家机关依法行政有所联系，但不是相同的权限。群众自治组织可以组织、反映、协调和依法办理相应事务，不能只凭“大家投过票”，就自行获得法律没有给它的处罚权。自治也不是让每个人独自决定共同空间怎样使用，仍需对其他人的正当需要作出回应。</a:t>
            </a:r>
          </a:p>
          <a:p>
            <a:pPr/>
            <a:endParaRPr lang="zh-CN" dirty="0"/>
          </a:p>
          <a:p>
            <a:pPr/>
            <a:r>
              <a:rPr lang="zh-CN" dirty="0"/>
              <a:t>在这里，参与的价值不只是多了一次表态。共同生活的人能提供有关自身处境的信息，也要面对其他人怎样生活；形成的安排需要依据相应规则。一个清楚的时间安排，可能比一句“请大家互相理解”更能使不同需要相接，但它的形成不能省略人的参与和法律条件。</a:t>
            </a:r>
          </a:p>
          <a:p>
            <a:pPr/>
            <a:endParaRPr lang="zh-CN" dirty="0"/>
          </a:p>
          <a:p>
            <a:pPr/>
            <a:r>
              <a:rPr lang="zh-CN" dirty="0"/>
              <a:t>回到尤安村的充电问题，报道中有代表联系村民，也有村两委讨论和实际改造。我们不从一次农村活动直接套用后来施行的城市法律。这个过程帮助我们看见，同一件生活事务可以连接不同角色；代表推动了解和反映问题，并不是因此独自取得了每一项办理权限。</a:t>
            </a:r>
          </a:p>
          <a:p>
            <a:pPr/>
            <a:endParaRPr lang="zh-CN" dirty="0"/>
          </a:p>
          <a:p>
            <a:pPr/>
            <a:r>
              <a:rPr lang="zh-CN" dirty="0"/>
              <a:t>把这几项合起来：人大制度组织国家权力，多党合作和政协提供合作协商等渠道，民族区域自治涉及地方国家政权依法自治，基层群众自治处理社区公共事务。它们能共同联系人民参与，却不能被说成四种性质完全相同的组织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四、一部古书怎样被保存，也怎样接近读者</a:t>
            </a:r>
          </a:p>
          <a:p>
            <a:pPr/>
            <a:endParaRPr lang="zh-CN" dirty="0"/>
          </a:p>
          <a:p>
            <a:pPr/>
            <a:r>
              <a:rPr lang="zh-CN" dirty="0"/>
              <a:t>政治制度说明公共权力和参与关系。共同生活还有另一面：人们怎样学习、创造、理解历史，怎样保存以前留下来的文化？这些也有宪法上的安排。</a:t>
            </a:r>
          </a:p>
          <a:p>
            <a:pPr/>
            <a:endParaRPr lang="zh-CN" dirty="0"/>
          </a:p>
          <a:p>
            <a:pPr/>
            <a:r>
              <a:rPr lang="zh-CN" dirty="0"/>
              <a:t>宪法第二十二条既规定发展文化事业，又规定保护名胜古迹、珍贵文物和其他重要历史文化遗产。发展与保护放在同一条中，但它们不总是同一个动作。</a:t>
            </a:r>
          </a:p>
          <a:p>
            <a:pPr/>
            <a:endParaRPr lang="zh-CN" dirty="0"/>
          </a:p>
          <a:p>
            <a:pPr/>
            <a:r>
              <a:rPr lang="zh-CN" dirty="0"/>
              <a:t>我们看一部古书。甘肃保存的文溯阁本《四库全书》，既是文化遗产，又是能够被研究、阅读和认识的内容。国家图书馆古籍保护网站刊载的藏书馆馆长文章，介绍了当代的一组工作：原件精细管理、减少过度翻阅，同时进行数字化和影印，使内容获得另外的接近方式。</a:t>
            </a:r>
          </a:p>
          <a:p>
            <a:pPr/>
            <a:endParaRPr lang="zh-CN" dirty="0"/>
          </a:p>
          <a:p>
            <a:pPr/>
            <a:r>
              <a:rPr lang="zh-CN" dirty="0"/>
              <a:t>文章记载，相关数字化影印工作在2021年启动，2022年完成数据采集；检索展示平台在文章的时点还处于试用。这里不能把试用说成今天已经全部开放，也不能把文溯阁本同另一个文津阁本混成同一套书。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先不讲漫长的流转史，就看眼前的工作。保存原件，需要让脆弱纸页尽量减少不必要的损耗；让内容被更多人接近，又需要研究、复制、检索、展示等安排。一本书不会因为被叫作文物，就自己完成这些工作。</a:t>
            </a:r>
          </a:p>
          <a:p>
            <a:pPr/>
            <a:endParaRPr lang="zh-CN" dirty="0"/>
          </a:p>
          <a:p>
            <a:pPr/>
            <a:r>
              <a:rPr lang="zh-CN" dirty="0"/>
              <a:t>四库的名称，来自经、史、子、集的分类。一套书里装的不只是纸页，还有不同时代对知识的整理。今天重新接近这些内容，也不能只将它们变成一个模糊的电子文件。</a:t>
            </a:r>
          </a:p>
          <a:p>
            <a:pPr/>
            <a:endParaRPr lang="zh-CN" dirty="0"/>
          </a:p>
          <a:p>
            <a:pPr/>
            <a:r>
              <a:rPr lang="zh-CN" dirty="0"/>
              <a:t>馆长介绍的工作包括图像采集、字迹处理和色彩校正，要尽量保留原书面貌。纸上的字怎样被看清，影像怎样对应原页，都需要专业劳动。复制给人更多接近方式，却不使原件从此失去保护需要；原件保存下来，内容也还需要被整理和理解。</a:t>
            </a:r>
          </a:p>
          <a:p>
            <a:pPr/>
            <a:endParaRPr lang="zh-CN" dirty="0"/>
          </a:p>
          <a:p>
            <a:pPr/>
            <a:r>
              <a:rPr lang="zh-CN" dirty="0"/>
              <a:t>如果开放只有一种形式，人人都只能去翻原件，使用越多，保护的困难可能越大。如果为了保护只剩锁起来，里面的内容又很难进入研究和公众的文化生活。数字化与影印提供了新的办法，但也需要专业人员、技术和持续维护。</a:t>
            </a:r>
          </a:p>
          <a:p>
            <a:pPr/>
            <a:endParaRPr lang="zh-CN" dirty="0"/>
          </a:p>
          <a:p>
            <a:pPr/>
            <a:r>
              <a:rPr lang="zh-CN" dirty="0"/>
              <a:t>保存有时是在减少损耗，发展有时是在增加接近的条件。两项任务能通过不同工作共同实现，而不必把保护和使用理解为只能留下一个。我们读第二十二条，就要把这种实际内容看见。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化制度当然不只包括古籍。教材还讲指导思想、思想道德建设，科学、文学艺术、新闻出版、体育等事业，以及专业人才培养。这些范围共同关心社会的价值方向、精神文化生活和创造条件，不是一张文物清单。</a:t>
            </a:r>
          </a:p>
          <a:p>
            <a:pPr/>
            <a:endParaRPr lang="zh-CN" dirty="0"/>
          </a:p>
          <a:p>
            <a:pPr/>
            <a:r>
              <a:rPr lang="zh-CN" dirty="0"/>
              <a:t>指导思想在这里有具体内容。教材讲马克思主义在意识形态领域的指导地位；宪法序言则把指导思想完整列了一遍，从马克思列宁主义、毛泽东思想，到邓小平理论，以及“三个代表”重要思想，还有科学发展观，直到习近平新时代中国特色社会主义思想。这一串的排列是原文的形态，课堂上不必逐项背诵；真正要记住的，是它标明国家生活和文化建设的指导方向，而不只是某一类文化设施。</a:t>
            </a:r>
          </a:p>
          <a:p>
            <a:pPr/>
            <a:endParaRPr lang="zh-CN" dirty="0"/>
          </a:p>
          <a:p>
            <a:pPr/>
            <a:r>
              <a:rPr lang="zh-CN" dirty="0"/>
              <a:t>思想道德建设又怎样进入生活？第二十四条规定理想、道德、文化、纪律和法制教育，倡导社会主义核心价值观。教材进一步说明，道德教育包括诚实守信、社会公德、职业道德和家庭美德；文化教育要普及科学知识、弘扬科学精神；法治教育使人认识权利义务、养成守法习惯。共同价值并不是只写在墙上的名称，还要通过这些教育与行为要求进入人的生活。</a:t>
            </a:r>
          </a:p>
          <a:p>
            <a:pPr/>
            <a:endParaRPr lang="zh-CN" dirty="0"/>
          </a:p>
          <a:p>
            <a:pPr/>
            <a:r>
              <a:rPr lang="zh-CN" dirty="0"/>
              <a:t>发展科学文化事业，也需要机构、专业知识和人才。第二十条关于科学事业、第二十三条关于专业人才，同这些方向和条件互相联系。古籍保护是其中可见的一项工作，却没有代替文化制度的全部内容。</a:t>
            </a:r>
          </a:p>
          <a:p>
            <a:pPr/>
            <a:endParaRPr lang="zh-CN" dirty="0"/>
          </a:p>
          <a:p>
            <a:pPr/>
            <a:r>
              <a:rPr lang="zh-CN" dirty="0"/>
              <a:t>第四十七条还规定公民进行科学研究、文学艺术创作和其他文化活动的自由，并对有益的创造性工作给予鼓励和帮助。这同国家发展文化事业相接，但个人文化活动自由的完整解释，第六讲再讲。不能把不同条文的对象都压成一句“国家重视文化”。</a:t>
            </a:r>
          </a:p>
          <a:p>
            <a:pPr/>
            <a:endParaRPr lang="zh-CN" dirty="0"/>
          </a:p>
          <a:p>
            <a:pPr/>
            <a:r>
              <a:rPr lang="zh-CN" dirty="0"/>
              <a:t>大家到图书馆看一本书，参加一项体育活动，接触一次科学传播，背后都有具体的公共条件。有些工作让新内容能够产生，有些保护已留下来的东西，还有些使更多人有机会接近。文化因此有人的经历和专业劳动，也有宪法中的国家任务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五、从一项服务，看见社会生活的制度条件</a:t>
            </a:r>
          </a:p>
          <a:p>
            <a:pPr/>
            <a:endParaRPr lang="zh-CN" dirty="0"/>
          </a:p>
          <a:p>
            <a:pPr/>
            <a:r>
              <a:rPr lang="zh-CN" dirty="0"/>
              <a:t>接着看社会制度。这里是教材所讨论的社会生活安排，不能同第一条所说社会主义根本制度直接当成同义词。</a:t>
            </a:r>
          </a:p>
          <a:p>
            <a:pPr/>
            <a:endParaRPr lang="zh-CN" dirty="0"/>
          </a:p>
          <a:p>
            <a:pPr/>
            <a:r>
              <a:rPr lang="zh-CN" dirty="0"/>
              <a:t>教材分教育、劳动就业、医疗卫生、社会保障、社会治理等内容。每一个词都不是空名，它们分别安排人的学习、工作、健康、基本生活和共同秩序。</a:t>
            </a:r>
          </a:p>
          <a:p>
            <a:pPr/>
            <a:endParaRPr lang="zh-CN" dirty="0"/>
          </a:p>
          <a:p>
            <a:pPr/>
            <a:r>
              <a:rPr lang="zh-CN" dirty="0"/>
              <a:t>先看医疗卫生。第二十一条讲的是发展医疗卫生事业这件事，里面有两层：一层是医药，现代医药和我国传统医药都要发展；另一层是鼓励和支持有关主体举办各种医疗卫生设施、开展群众性的卫生活动，落脚在保护人民健康。</a:t>
            </a:r>
          </a:p>
          <a:p>
            <a:pPr/>
            <a:endParaRPr lang="zh-CN" dirty="0"/>
          </a:p>
          <a:p>
            <a:pPr/>
            <a:r>
              <a:rPr lang="zh-CN" dirty="0"/>
              <a:t>这些工作并不只发生在一个人已经进医院之后。培养相应人员、提供设施、开展预防和卫生工作，同实际诊疗一起形成保护健康的条件。有一块写着医院的牌子，不表示这些条件就已经全部齐备；有一个人的治疗完成，也不表示整个公共任务从此结束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认识再放到教育，就能看见学校、教育设施、相应人员和学习机会怎样联系。国家发展教育事业，不只是宣布人人应当多读书，还要形成相应制度和可利用的条件。具体个人的受教育权和请求，第五、六讲会继续解释。</a:t>
            </a:r>
          </a:p>
          <a:p>
            <a:pPr/>
            <a:endParaRPr lang="zh-CN" dirty="0"/>
          </a:p>
          <a:p>
            <a:pPr/>
            <a:r>
              <a:rPr lang="zh-CN" dirty="0"/>
              <a:t>劳动就业又回答另一类问题。它涉及创造就业条件、劳动保护、改善劳动条件和必要训练。就业也同个人的劳动意愿有关，但国家的制度工作不能直接换成保证每个人取得同一岗位。我们既要看人的需要，也要看相应工作怎样安排。</a:t>
            </a:r>
          </a:p>
          <a:p>
            <a:pPr/>
            <a:endParaRPr lang="zh-CN" dirty="0"/>
          </a:p>
          <a:p>
            <a:pPr/>
            <a:r>
              <a:rPr lang="zh-CN" dirty="0"/>
              <a:t>社会保障关注基本生存和生活需要，涉及保险、救助等制度。第十四条写明，国家建立健全同经济发展水平相适应的社会保障制度。这个条件提醒我们，持续保障需要物质和制度支持，不是写出一个金额就完成；也不能把条件讲成可以随意放弃保障的理由。</a:t>
            </a:r>
          </a:p>
          <a:p>
            <a:pPr/>
            <a:endParaRPr lang="zh-CN" dirty="0"/>
          </a:p>
          <a:p>
            <a:pPr/>
            <a:r>
              <a:rPr lang="zh-CN" dirty="0"/>
              <a:t>社会治理还要协调关系、化解矛盾、维护权益和秩序。它同你们的专业很有联系，但不是只要提治理就只剩处罚。村民反映的用水、垃圾清运，居民共同使用的空间，都可能需要不同主体共同处理。具体公安措施的权限与程序，不能从社会治理四个字直接推出。</a:t>
            </a:r>
          </a:p>
          <a:p>
            <a:pPr/>
            <a:endParaRPr lang="zh-CN" dirty="0"/>
          </a:p>
          <a:p>
            <a:pPr/>
            <a:r>
              <a:rPr lang="zh-CN" dirty="0"/>
              <a:t>这五组内容让我们看到，人的生活有连续的条件：能够学习，进入工作，保持健康，遭遇困难时获得相应保障，在共同生活中有可遵守和可处理问题的秩序。我们不把它们拆成五个完整案例，也不只报五个名称。</a:t>
            </a:r>
          </a:p>
          <a:p>
            <a:pPr/>
            <a:endParaRPr lang="zh-CN" dirty="0"/>
          </a:p>
          <a:p>
            <a:pPr/>
            <a:r>
              <a:rPr lang="zh-CN" dirty="0"/>
              <a:t>再回想代表的述职，为什么充电、灌溉、垃圾等问题会进入公共事务？正是因为人的实际生活会把制度安排变成可以提出、需要回应的事情。一项设施怎样被使用，怎样协调安全和便利，不能仅靠它已经建成就停止追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六、保护和改善环境，是同一件事吗</a:t>
            </a:r>
          </a:p>
          <a:p>
            <a:pPr/>
            <a:endParaRPr lang="zh-CN" dirty="0"/>
          </a:p>
          <a:p>
            <a:pPr/>
            <a:r>
              <a:rPr lang="zh-CN" dirty="0"/>
              <a:t>还有一种生活条件，不能只在事后分给某个人：环境与资源。</a:t>
            </a:r>
          </a:p>
          <a:p>
            <a:pPr/>
            <a:endParaRPr lang="zh-CN" dirty="0"/>
          </a:p>
          <a:p>
            <a:pPr/>
            <a:r>
              <a:rPr lang="zh-CN" dirty="0"/>
              <a:t>教材讲生态文明制度，关注发展与环境的协调、自然资源合理利用、生活环境与生态环境的保护改善，以及相关责任和参与。它并不是只说“不要污染”。</a:t>
            </a:r>
          </a:p>
          <a:p>
            <a:pPr/>
            <a:endParaRPr lang="zh-CN" dirty="0"/>
          </a:p>
          <a:p>
            <a:pPr/>
            <a:r>
              <a:rPr lang="zh-CN" dirty="0"/>
              <a:t>第九条规定国家保障自然资源的合理利用，第二十六条规定国家保护和改善生活环境、生态环境，防治污染和其他公害。我们分别看看利用、保护和改善。</a:t>
            </a:r>
          </a:p>
          <a:p>
            <a:pPr/>
            <a:endParaRPr lang="zh-CN" dirty="0"/>
          </a:p>
          <a:p>
            <a:pPr/>
            <a:r>
              <a:rPr lang="zh-CN" dirty="0"/>
              <a:t>利用资源，是要让资源进入生产和生活。可当下怎样使用，还会影响以后是否能够继续使用。合理利用因此需要考虑使用的方式、程度和长远条件。上节讲资源配置时问资源投向哪里，这里又增加了资源怎样被使用、后果由谁承受的问题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保护与改善也相连而不同。我们设想一个居住地区旁边的水环境。防止新的污染继续进入，是保护已有条件的一项工作；已经存在的问题怎样修复，怎样使环境质量进一步提高，则是改善中的工作。</a:t>
            </a:r>
          </a:p>
          <a:p>
            <a:pPr/>
            <a:endParaRPr lang="zh-CN" dirty="0"/>
          </a:p>
          <a:p>
            <a:pPr/>
            <a:r>
              <a:rPr lang="zh-CN" dirty="0"/>
              <a:t>这个设想不是某地真实工程，也没有给出某项开发一定违法的结论。它只是让两个动作可见。如果只停止新增损害，却将已存在的问题留在那里，不能据此说改善已经完成；如果只做一次修复，新的损害却持续发生，同样不能宣布问题已经解决。</a:t>
            </a:r>
          </a:p>
          <a:p>
            <a:pPr/>
            <a:endParaRPr lang="zh-CN" dirty="0"/>
          </a:p>
          <a:p>
            <a:pPr/>
            <a:r>
              <a:rPr lang="zh-CN" dirty="0"/>
              <a:t>生态制度还涉及责任。任何组织或者个人不得侵占或破坏自然资源，国家要开展相应保护改善的工作，公民也可以依法有序参与。某项排放、开发或监管措施具体如何处理，仍须实际法律、事实和专业判断，不能凭一个一般名词包办。</a:t>
            </a:r>
          </a:p>
          <a:p>
            <a:pPr/>
            <a:endParaRPr lang="zh-CN" dirty="0"/>
          </a:p>
          <a:p>
            <a:pPr/>
            <a:r>
              <a:rPr lang="zh-CN" dirty="0"/>
              <a:t>教材进一步讨论生态权利和公民的应然行为，是学理展开。我们不能将这些说明改成宪法逐字规定人人都有一项内容完全相同、可以向任何机关直接请求的环境服务。要认识这种联系，也要保留它的法律依据和范围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生态进入国家基本制度？因为生产发展与人的生活，都以相应资源和环境为条件。收益可能在当下出现，损害和修复却可能延续很久；一个主体的选择，还可能影响其他人乃至后来的生活。这样的关系需要制度回应，不能只按眼前谁愿意交易来处理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七、国家任务，怎样同个人权利相接</a:t>
            </a:r>
          </a:p>
          <a:p>
            <a:pPr/>
            <a:endParaRPr lang="zh-CN" dirty="0"/>
          </a:p>
          <a:p>
            <a:pPr/>
            <a:r>
              <a:rPr lang="zh-CN" dirty="0"/>
              <a:t>今天下节，从已经产生的代表，到合作协商、不同类型的自治，再到古书、公共服务和环境，看见了国家制度中的不同工作。</a:t>
            </a:r>
          </a:p>
          <a:p>
            <a:pPr/>
            <a:endParaRPr lang="zh-CN" dirty="0"/>
          </a:p>
          <a:p>
            <a:pPr/>
            <a:r>
              <a:rPr lang="zh-CN" dirty="0"/>
              <a:t>这些领域不是五个互不相交的盒子。教育既关系社会生活，也关系文化和人才；环境影响生产和健康；共同事务中的意见可以经过不同参与渠道进入制度。教材分类帮助我们认识，不是要求每一件生活事务只能贴一个标签。</a:t>
            </a:r>
          </a:p>
          <a:p>
            <a:pPr/>
            <a:endParaRPr lang="zh-CN" dirty="0"/>
          </a:p>
          <a:p>
            <a:pPr/>
            <a:r>
              <a:rPr lang="zh-CN" dirty="0"/>
              <a:t>还要再分清一个问题。国家承担发展教育、医疗卫生、保护文化遗产和改善环境的任务，是否就意味着任何人此刻都可以向任何机关请求同一种服务、同一个金额？</a:t>
            </a:r>
          </a:p>
          <a:p>
            <a:pPr/>
            <a:endParaRPr lang="zh-CN" dirty="0"/>
          </a:p>
          <a:p>
            <a:pPr/>
            <a:r>
              <a:rPr lang="zh-CN" dirty="0"/>
              <a:t>不能直接这样换算。具体请求要看谁是权利主体，保护什么利益，谁承担何种义务，还有相应法律和事实条件。这个问题下一讲就会从个人一侧系统展开。</a:t>
            </a:r>
          </a:p>
          <a:p>
            <a:pPr/>
            <a:endParaRPr lang="zh-CN" dirty="0"/>
          </a:p>
          <a:p>
            <a:pPr/>
            <a:r>
              <a:rPr lang="zh-CN" dirty="0"/>
              <a:t>但也不能因为不能立即换成某个金额，就说国家任务没有法律意义。它们为立法、机构履职和制度建设提供根本依据和要求。个人的保障同这些工作相关，只是两种提问不能被当成完全相同。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刚才的图书馆，再走一步。我们明确设定：有一所政府设立的公共图书馆，普通阅览室正常向公众开放，没有另外的收费服务。馆方说，维持工作人员、照明和设备都有成本，所以进入这个普通阅览室要买一张门票。能够仅凭有成本，就这样收费吗？</a:t>
            </a:r>
          </a:p>
          <a:p>
            <a:pPr/>
            <a:endParaRPr lang="zh-CN" dirty="0"/>
          </a:p>
          <a:p>
            <a:pPr/>
            <a:r>
              <a:rPr lang="zh-CN" dirty="0"/>
              <a:t>这个问题已有明确的法律材料。公共图书馆法第三十三条规定，文献信息查询借阅，以及阅览室、自习室等公共空间设施场地的开放，应当免费向社会公众提供。在这个设定下，不能以运行有成本为由，将普通阅览室的开放改成收费。</a:t>
            </a:r>
          </a:p>
          <a:p>
            <a:pPr/>
            <a:endParaRPr lang="zh-CN" dirty="0"/>
          </a:p>
          <a:p>
            <a:pPr/>
            <a:r>
              <a:rPr lang="zh-CN" dirty="0"/>
              <a:t>注意，结论不是从宪法第二十二条一句话直接跳出来的。我们先确认公共图书馆和普通阅览室这两个对象，再读普通法律对该项服务的具体要求，判断才有明确的根据和适用条件。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过，馆方提出的成本也没有因为免费两个字就消失。书要整理保存，设施要维护，专业人员要工作。公共图书馆法还规定相应设立条件，并要求将政府设立的公共图书馆所需经费列入预算、及时足额拨付。免费服务需要这些制度工作支撑。</a:t>
            </a:r>
          </a:p>
          <a:p>
            <a:pPr/>
            <a:endParaRPr lang="zh-CN" dirty="0"/>
          </a:p>
          <a:p>
            <a:pPr/>
            <a:r>
              <a:rPr lang="zh-CN" dirty="0"/>
              <a:t>免费说明公众面对这项服务的付费安排，投入说明服务怎样得到持续支持。不能用后一个问题的困难，随意改掉前一个问题的法律要求；也不能只对读者说免费，却不继续安排服务的条件。两头都要有实际工作。</a:t>
            </a:r>
          </a:p>
          <a:p>
            <a:pPr/>
            <a:endParaRPr lang="zh-CN" dirty="0"/>
          </a:p>
          <a:p>
            <a:pPr/>
            <a:r>
              <a:rPr lang="zh-CN" dirty="0"/>
              <a:t>我们没有据此判断复制、其他特别服务、学校图书馆或所有文化场所都一律适用完全相同的收费规则。今天只取这个材料充分的小问题，说明国家任务怎样通过具体法律进入人的使用机会。完整权利分析和救济问题，接下来继续学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上节的小岗契约，农民要让生产责任和家庭生活有新的可能；到下节的述职活动，选民要知道代表后来做了什么，仍有什么事需要回答；到古籍保护，内容要怎样保存，又怎样使人接近。这些材料各有自己的来源和条件，没有一项能单独证明整个制度的实际成效。</a:t>
            </a:r>
          </a:p>
          <a:p>
            <a:pPr/>
            <a:endParaRPr lang="zh-CN" dirty="0"/>
          </a:p>
          <a:p>
            <a:pPr/>
            <a:r>
              <a:rPr lang="zh-CN" dirty="0"/>
              <a:t>它们共同让我们看见：制度的名称背后，是相应主体怎样行动、怎样承担责任，人的生活又怎样获得条件。讲宪法既要读准文字，也要解释这些关系。</a:t>
            </a:r>
          </a:p>
          <a:p>
            <a:pPr/>
            <a:endParaRPr lang="zh-CN" dirty="0"/>
          </a:p>
          <a:p>
            <a:pPr/>
            <a:r>
              <a:rPr lang="zh-CN" dirty="0"/>
              <a:t>这一讲先到这里。下一讲《基本权利的一般原理》，我们从“国家要做什么”转向“一个人有权利时，能够向谁要求什么”。今天已经看到的生活和制度条件，会在新的提问里继续获得更具体的意义。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cture-04-20261015-student-rea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cture-04-20261015-student-rea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88fce62610b2705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88fce62610b2705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88fce62610b2705.jp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a501b479e2c73e.jp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a501b479e2c73e.jpg"/>
  <Relationship Id="rId3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bceec6e98a8de01.jpg"/>
  <Relationship Id="rId3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bceec6e98a8de01.jpg"/>
  <Relationship Id="rId3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3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4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1-course"/>
          <p:cNvGrpSpPr/>
          <p:nvPr/>
        </p:nvGrpSpPr>
        <p:grpSpPr>
          <a:xfrm>
            <a:off x="445008" y="438150"/>
            <a:ext cx="2072640" cy="780542"/>
            <a:chOff x="445008" y="438150"/>
            <a:chExt cx="2072640" cy="780542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43815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749300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国家基本制度</a:t>
              </a:r>
            </a:p>
          </p:txBody>
        </p:sp>
      </p:grpSp>
      <p:grpSp>
        <p:nvGrpSpPr>
          <p:cNvPr id="10" name="p01-question"/>
          <p:cNvGrpSpPr/>
          <p:nvPr/>
        </p:nvGrpSpPr>
        <p:grpSpPr>
          <a:xfrm>
            <a:off x="438150" y="2035175"/>
            <a:ext cx="3238500" cy="3426333"/>
            <a:chOff x="438150" y="2035175"/>
            <a:chExt cx="3238500" cy="3426333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2035175"/>
              <a:ext cx="32385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一张契约，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150" y="2797175"/>
              <a:ext cx="32385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改了什么？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57200" y="39528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48056" y="425132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从一片田，走进制度关系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342" y="5197475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1978年冬 · 安徽小岗</a:t>
              </a:r>
            </a:p>
          </p:txBody>
        </p:sp>
      </p:grpSp>
      <p:grpSp>
        <p:nvGrpSpPr>
          <p:cNvPr id="12" name="p01-document"/>
          <p:cNvGrpSpPr/>
          <p:nvPr/>
        </p:nvGrpSpPr>
        <p:grpSpPr>
          <a:xfrm>
            <a:off x="5391150" y="1714500"/>
            <a:ext cx="6343650" cy="4105275"/>
            <a:chOff x="5391150" y="1714500"/>
            <a:chExt cx="6343650" cy="4105275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1150" y="1714500"/>
              <a:ext cx="6343650" cy="4105275"/>
            </a:xfrm>
            <a:prstGeom prst="rect">
              <a:avLst/>
            </a:prstGeom>
          </p:spPr>
        </p:pic>
      </p:grpSp>
      <p:grpSp>
        <p:nvGrpSpPr>
          <p:cNvPr id="15" name="p01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图：中国农业博物馆供图／北京市文物局网站。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title"/>
          <p:cNvGrpSpPr/>
          <p:nvPr/>
        </p:nvGrpSpPr>
        <p:grpSpPr>
          <a:xfrm>
            <a:off x="441198" y="381000"/>
            <a:ext cx="7648956" cy="895477"/>
            <a:chOff x="441198" y="381000"/>
            <a:chExt cx="764895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从材料观察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分田到户，土地就变成私人所有了吗？</a:t>
              </a:r>
            </a:p>
          </p:txBody>
        </p:sp>
      </p:grpSp>
      <p:grpSp>
        <p:nvGrpSpPr>
          <p:cNvPr id="6" name="p02-contract"/>
          <p:cNvGrpSpPr/>
          <p:nvPr/>
        </p:nvGrpSpPr>
        <p:grpSpPr>
          <a:xfrm>
            <a:off x="457200" y="1657350"/>
            <a:ext cx="7086600" cy="4581525"/>
            <a:chOff x="457200" y="1657350"/>
            <a:chExt cx="7086600" cy="458152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657350"/>
              <a:ext cx="7086600" cy="4581525"/>
            </a:xfrm>
            <a:prstGeom prst="rect">
              <a:avLst/>
            </a:prstGeom>
          </p:spPr>
        </p:pic>
      </p:grpSp>
      <p:grpSp>
        <p:nvGrpSpPr>
          <p:cNvPr id="9" name="p02-observe"/>
          <p:cNvGrpSpPr/>
          <p:nvPr/>
        </p:nvGrpSpPr>
        <p:grpSpPr>
          <a:xfrm>
            <a:off x="7988808" y="1882775"/>
            <a:ext cx="2414016" cy="869442"/>
            <a:chOff x="7988808" y="1882775"/>
            <a:chExt cx="2414016" cy="869442"/>
          </a:xfrm>
        </p:grpSpPr>
        <p:sp>
          <p:nvSpPr>
            <p:cNvPr id="7" name="TextBox 7"/>
            <p:cNvSpPr txBox="1"/>
            <p:nvPr/>
          </p:nvSpPr>
          <p:spPr>
            <a:xfrm>
              <a:off x="7994142" y="1882775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1978年冬 · 契约中的约定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88808" y="2282825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先看谁承担什么</a:t>
              </a:r>
            </a:p>
          </p:txBody>
        </p:sp>
      </p:grpSp>
      <p:grpSp>
        <p:nvGrpSpPr>
          <p:cNvPr id="13" name="p02-reveal-1"/>
          <p:cNvGrpSpPr/>
          <p:nvPr/>
        </p:nvGrpSpPr>
        <p:grpSpPr>
          <a:xfrm>
            <a:off x="7989570" y="3048000"/>
            <a:ext cx="3745230" cy="1041019"/>
            <a:chOff x="7989570" y="3048000"/>
            <a:chExt cx="3745230" cy="1041019"/>
          </a:xfrm>
        </p:grpSpPr>
        <p:sp>
          <p:nvSpPr>
            <p:cNvPr id="10" name="Line 10"/>
            <p:cNvSpPr/>
            <p:nvPr/>
          </p:nvSpPr>
          <p:spPr>
            <a:xfrm>
              <a:off x="8001000" y="30480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89570" y="31972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分田到户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91856" y="37369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生产责任与家庭相接</a:t>
              </a:r>
            </a:p>
          </p:txBody>
        </p:sp>
      </p:grpSp>
      <p:grpSp>
        <p:nvGrpSpPr>
          <p:cNvPr id="18" name="p02-reveal-2"/>
          <p:cNvGrpSpPr/>
          <p:nvPr/>
        </p:nvGrpSpPr>
        <p:grpSpPr>
          <a:xfrm>
            <a:off x="7989570" y="4438650"/>
            <a:ext cx="3745230" cy="1489583"/>
            <a:chOff x="7989570" y="4438650"/>
            <a:chExt cx="3745230" cy="1489583"/>
          </a:xfrm>
        </p:grpSpPr>
        <p:sp>
          <p:nvSpPr>
            <p:cNvPr id="14" name="Line 14"/>
            <p:cNvSpPr/>
            <p:nvPr/>
          </p:nvSpPr>
          <p:spPr>
            <a:xfrm>
              <a:off x="8001000" y="443865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9570" y="45783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负担与互助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91856" y="50895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共同联系仍在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94142" y="56642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风险约定，不能直接当作法定刑罚。</a:t>
              </a:r>
            </a:p>
          </p:txBody>
        </p:sp>
      </p:grpSp>
      <p:grpSp>
        <p:nvGrpSpPr>
          <p:cNvPr id="21" name="p02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483350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图：中国农业博物馆供图／北京市文物局网站。所有制问题留待展开。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先分清提问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第六条的两款，分别在问什么？</a:t>
              </a:r>
            </a:p>
          </p:txBody>
        </p:sp>
      </p:grpSp>
      <p:grpSp>
        <p:nvGrpSpPr>
          <p:cNvPr id="9" name="p03-first-clause"/>
          <p:cNvGrpSpPr/>
          <p:nvPr/>
        </p:nvGrpSpPr>
        <p:grpSpPr>
          <a:xfrm>
            <a:off x="445770" y="1797050"/>
            <a:ext cx="5777865" cy="1549019"/>
            <a:chOff x="445770" y="1797050"/>
            <a:chExt cx="5777865" cy="1549019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7970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第六条 · 第一款节选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770" y="2139950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中华人民共和国的社会主义经济制度的</a:t>
              </a:r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578100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是生产资料的社会主义公有制，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299402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即全民所有制和劳动群众集体所有制。</a:t>
              </a:r>
            </a:p>
          </p:txBody>
        </p:sp>
      </p:grpSp>
      <p:grpSp>
        <p:nvGrpSpPr>
          <p:cNvPr id="14" name="p03-reveal-1"/>
          <p:cNvGrpSpPr/>
          <p:nvPr/>
        </p:nvGrpSpPr>
        <p:grpSpPr>
          <a:xfrm>
            <a:off x="445770" y="3524250"/>
            <a:ext cx="11289030" cy="1522730"/>
            <a:chOff x="445770" y="3524250"/>
            <a:chExt cx="11289030" cy="1522730"/>
          </a:xfrm>
        </p:grpSpPr>
        <p:sp>
          <p:nvSpPr>
            <p:cNvPr id="10" name="Line 10"/>
            <p:cNvSpPr/>
            <p:nvPr/>
          </p:nvSpPr>
          <p:spPr>
            <a:xfrm>
              <a:off x="457200" y="3524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0342" y="3740150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第六条 · 第二款：社会主义初级阶段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5770" y="4111625"/>
              <a:ext cx="54749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公有制为主体、多种所有制经济共同发展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770" y="4606925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按劳分配为主体、多种分配方式并存</a:t>
              </a:r>
            </a:p>
          </p:txBody>
        </p:sp>
      </p:grpSp>
      <p:grpSp>
        <p:nvGrpSpPr>
          <p:cNvPr id="17" name="p03-reveal-2"/>
          <p:cNvGrpSpPr/>
          <p:nvPr/>
        </p:nvGrpSpPr>
        <p:grpSpPr>
          <a:xfrm>
            <a:off x="448056" y="5486400"/>
            <a:ext cx="11286744" cy="555244"/>
            <a:chOff x="448056" y="5486400"/>
            <a:chExt cx="11286744" cy="555244"/>
          </a:xfrm>
        </p:grpSpPr>
        <p:sp>
          <p:nvSpPr>
            <p:cNvPr id="15" name="Line 15"/>
            <p:cNvSpPr/>
            <p:nvPr/>
          </p:nvSpPr>
          <p:spPr>
            <a:xfrm>
              <a:off x="457200" y="5486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8056" y="56896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再接第十五条：资源怎样配置？国家承担哪些工作？</a:t>
              </a:r>
            </a:p>
          </p:txBody>
        </p:sp>
      </p:grpSp>
      <p:grpSp>
        <p:nvGrpSpPr>
          <p:cNvPr id="20" name="p03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451866" y="6483350"/>
              <a:ext cx="4060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依据：现行宪法第6、15条。第一款为节选，第二款为核心表述。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title"/>
          <p:cNvGrpSpPr/>
          <p:nvPr/>
        </p:nvGrpSpPr>
        <p:grpSpPr>
          <a:xfrm>
            <a:off x="441198" y="381000"/>
            <a:ext cx="6752844" cy="895477"/>
            <a:chOff x="441198" y="381000"/>
            <a:chExt cx="6752844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经济制度的对象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生产资料：先看它在生产中做什么</a:t>
              </a:r>
            </a:p>
          </p:txBody>
        </p:sp>
      </p:grpSp>
      <p:grpSp>
        <p:nvGrpSpPr>
          <p:cNvPr id="17" name="p04-production-scene"/>
          <p:cNvGrpSpPr/>
          <p:nvPr/>
        </p:nvGrpSpPr>
        <p:grpSpPr>
          <a:xfrm>
            <a:off x="457200" y="1714500"/>
            <a:ext cx="11277600" cy="2190750"/>
            <a:chOff x="457200" y="1714500"/>
            <a:chExt cx="11277600" cy="2190750"/>
          </a:xfrm>
        </p:grpSpPr>
        <p:sp>
          <p:nvSpPr>
            <p:cNvPr id="5" name="Rectangle 5"/>
            <p:cNvSpPr/>
            <p:nvPr/>
          </p:nvSpPr>
          <p:spPr>
            <a:xfrm>
              <a:off x="457200" y="1714500"/>
              <a:ext cx="112776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142" y="1949450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教学示意 · 一次农业生产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00100" y="2609850"/>
              <a:ext cx="2781300" cy="8382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47750" y="2838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47750" y="30861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72006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038600" y="24955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59808" y="260667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灌溉设备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2856" y="316547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使生产能够进行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581900" y="24955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84058" y="260667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工具与原料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7106" y="31654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承担具体生产用途</a:t>
              </a:r>
            </a:p>
          </p:txBody>
        </p:sp>
      </p:grpSp>
      <p:grpSp>
        <p:nvGrpSpPr>
          <p:cNvPr id="20" name="p04-reveal-1"/>
          <p:cNvGrpSpPr/>
          <p:nvPr/>
        </p:nvGrpSpPr>
        <p:grpSpPr>
          <a:xfrm>
            <a:off x="445770" y="4445000"/>
            <a:ext cx="8126730" cy="440055"/>
            <a:chOff x="445770" y="4445000"/>
            <a:chExt cx="8126730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445770" y="44450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生产的条件和手段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7156" y="45085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不能把所有个人生活物品一概算进来</a:t>
              </a:r>
            </a:p>
          </p:txBody>
        </p:sp>
      </p:grpSp>
      <p:grpSp>
        <p:nvGrpSpPr>
          <p:cNvPr id="24" name="p04-reveal-2"/>
          <p:cNvGrpSpPr/>
          <p:nvPr/>
        </p:nvGrpSpPr>
        <p:grpSpPr>
          <a:xfrm>
            <a:off x="448056" y="5353050"/>
            <a:ext cx="11286744" cy="574294"/>
            <a:chOff x="448056" y="5353050"/>
            <a:chExt cx="11286744" cy="574294"/>
          </a:xfrm>
        </p:grpSpPr>
        <p:sp>
          <p:nvSpPr>
            <p:cNvPr id="21" name="Line 21"/>
            <p:cNvSpPr/>
            <p:nvPr/>
          </p:nvSpPr>
          <p:spPr>
            <a:xfrm>
              <a:off x="457200" y="53530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8056" y="55753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现实经济活动：实际怎样运行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2606" y="55753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法律规范：怎样确认与调整</a:t>
              </a:r>
            </a:p>
          </p:txBody>
        </p:sp>
      </p:grpSp>
      <p:grpSp>
        <p:nvGrpSpPr>
          <p:cNvPr id="27" name="p04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451866" y="6483350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依据：教材经济制度部分。示意不表达土地面积、设备价值或生产统计。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所有制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同属公有，共同所有的范围不同</a:t>
              </a:r>
            </a:p>
          </p:txBody>
        </p:sp>
      </p:grpSp>
      <p:grpSp>
        <p:nvGrpSpPr>
          <p:cNvPr id="20" name="p05-public-scope"/>
          <p:cNvGrpSpPr/>
          <p:nvPr/>
        </p:nvGrpSpPr>
        <p:grpSpPr>
          <a:xfrm>
            <a:off x="457200" y="1676400"/>
            <a:ext cx="11277600" cy="3810000"/>
            <a:chOff x="457200" y="1676400"/>
            <a:chExt cx="11277600" cy="3810000"/>
          </a:xfrm>
        </p:grpSpPr>
        <p:sp>
          <p:nvSpPr>
            <p:cNvPr id="5" name="Rectangle 5"/>
            <p:cNvSpPr/>
            <p:nvPr/>
          </p:nvSpPr>
          <p:spPr>
            <a:xfrm>
              <a:off x="457200" y="1676400"/>
              <a:ext cx="11277600" cy="38100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2856" y="18605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社会主义公有制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0" y="24193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7908" y="248285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全民所有制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31178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共同所有的范围：全民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956" y="356552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国家代表全民履行所有者职责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058" y="2482850"/>
              <a:ext cx="3096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劳动群众集体所有制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3106" y="31178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共同所有的范围：相应集体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3106" y="35655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集体成员的共同利益</a:t>
              </a:r>
            </a:p>
          </p:txBody>
        </p:sp>
        <p:grpSp>
          <p:nvGrpSpPr>
            <p:cNvPr id="16" name="p05-reveal-1"/>
            <p:cNvGrpSpPr/>
            <p:nvPr/>
          </p:nvGrpSpPr>
          <p:grpSpPr>
            <a:xfrm>
              <a:off x="790956" y="4308475"/>
              <a:ext cx="3653028" cy="705358"/>
              <a:chOff x="790956" y="4308475"/>
              <a:chExt cx="3653028" cy="70535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90956" y="4308475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管理者不能据此任意处分公共财产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3242" y="4749800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所有者职责与具体管理身份要分清</a:t>
                </a:r>
              </a:p>
            </p:txBody>
          </p:sp>
        </p:grpSp>
        <p:grpSp>
          <p:nvGrpSpPr>
            <p:cNvPr id="19" name="p05-reveal-2"/>
            <p:cNvGrpSpPr/>
            <p:nvPr/>
          </p:nvGrpSpPr>
          <p:grpSpPr>
            <a:xfrm>
              <a:off x="6563106" y="4308475"/>
              <a:ext cx="2926080" cy="705358"/>
              <a:chOff x="6563106" y="4308475"/>
              <a:chExt cx="2926080" cy="70535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63106" y="430847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共同设施需要保持整体功能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565392" y="4749800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共同所有不等于个人随意拆走一部分</a:t>
                </a:r>
              </a:p>
            </p:txBody>
          </p:sp>
        </p:grpSp>
      </p:grpSp>
      <p:grpSp>
        <p:nvGrpSpPr>
          <p:cNvPr id="22" name="p05-takeaway"/>
          <p:cNvGrpSpPr/>
          <p:nvPr/>
        </p:nvGrpSpPr>
        <p:grpSpPr>
          <a:xfrm>
            <a:off x="448056" y="5813425"/>
            <a:ext cx="6560820" cy="352044"/>
            <a:chOff x="448056" y="5813425"/>
            <a:chExt cx="6560820" cy="352044"/>
          </a:xfrm>
        </p:grpSpPr>
        <p:sp>
          <p:nvSpPr>
            <p:cNvPr id="21" name="TextBox 21"/>
            <p:cNvSpPr txBox="1"/>
            <p:nvPr/>
          </p:nvSpPr>
          <p:spPr>
            <a:xfrm>
              <a:off x="448056" y="5813425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区别在共同所有的范围；这里的区域不表示人口或资产比例。</a:t>
              </a:r>
            </a:p>
          </p:txBody>
        </p:sp>
      </p:grpSp>
      <p:grpSp>
        <p:nvGrpSpPr>
          <p:cNvPr id="25" name="p05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451866" y="6483350"/>
              <a:ext cx="2236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依据：现行宪法第6、7、8、12条。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title"/>
          <p:cNvGrpSpPr/>
          <p:nvPr/>
        </p:nvGrpSpPr>
        <p:grpSpPr>
          <a:xfrm>
            <a:off x="441198" y="381000"/>
            <a:ext cx="6752844" cy="895477"/>
            <a:chOff x="441198" y="381000"/>
            <a:chExt cx="6752844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回到同一片田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家庭经营与共同工作，怎样并存？</a:t>
              </a:r>
            </a:p>
          </p:txBody>
        </p:sp>
      </p:grpSp>
      <p:grpSp>
        <p:nvGrpSpPr>
          <p:cNvPr id="22" name="p06-land-system"/>
          <p:cNvGrpSpPr/>
          <p:nvPr/>
        </p:nvGrpSpPr>
        <p:grpSpPr>
          <a:xfrm>
            <a:off x="457200" y="1657350"/>
            <a:ext cx="11277600" cy="4381500"/>
            <a:chOff x="457200" y="1657350"/>
            <a:chExt cx="11277600" cy="4381500"/>
          </a:xfrm>
        </p:grpSpPr>
        <p:sp>
          <p:nvSpPr>
            <p:cNvPr id="5" name="Rectangle 5"/>
            <p:cNvSpPr/>
            <p:nvPr/>
          </p:nvSpPr>
          <p:spPr>
            <a:xfrm>
              <a:off x="457200" y="1657350"/>
              <a:ext cx="11277600" cy="43815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797050"/>
              <a:ext cx="39604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土地等基本生产资料仍属公有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142" y="22923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示意：田块分工表达经营责任，不表示所有权分给个人</a:t>
              </a:r>
            </a:p>
          </p:txBody>
        </p:sp>
        <p:grpSp>
          <p:nvGrpSpPr>
            <p:cNvPr id="17" name="p06-reveal-1"/>
            <p:cNvGrpSpPr/>
            <p:nvPr/>
          </p:nvGrpSpPr>
          <p:grpSpPr>
            <a:xfrm>
              <a:off x="762000" y="2838450"/>
              <a:ext cx="10668000" cy="1485900"/>
              <a:chOff x="762000" y="2838450"/>
              <a:chExt cx="10668000" cy="14859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2838450"/>
                <a:ext cx="10668000" cy="1485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4305300" y="3028950"/>
                <a:ext cx="9525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04900">
                    <a:moveTo>
                      <a:pt x="0" y="0"/>
                    </a:moveTo>
                    <a:lnTo>
                      <a:pt x="0" y="11049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7867650" y="3028950"/>
                <a:ext cx="9525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04900">
                    <a:moveTo>
                      <a:pt x="0" y="0"/>
                    </a:moveTo>
                    <a:lnTo>
                      <a:pt x="0" y="11049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55370" y="3044825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农户经营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57656" y="362267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安排具体生产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36770" y="3044825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承担责任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39056" y="362267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面对经营后果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99120" y="3044825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取得收益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01406" y="3622675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责任与收益相接</a:t>
                </a:r>
              </a:p>
            </p:txBody>
          </p:sp>
        </p:grpSp>
        <p:grpSp>
          <p:nvGrpSpPr>
            <p:cNvPr id="21" name="p06-reveal-2"/>
            <p:cNvGrpSpPr/>
            <p:nvPr/>
          </p:nvGrpSpPr>
          <p:grpSpPr>
            <a:xfrm>
              <a:off x="750570" y="4645025"/>
              <a:ext cx="8980932" cy="958469"/>
              <a:chOff x="750570" y="4645025"/>
              <a:chExt cx="8980932" cy="95846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50570" y="4645025"/>
                <a:ext cx="274891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宜统则统、宜分则分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2856" y="5251450"/>
                <a:ext cx="34834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共同提留 · 设施维护 · 困难照顾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63106" y="525145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家庭分工之外，共同工作仍在</a:t>
                </a:r>
              </a:p>
            </p:txBody>
          </p:sp>
        </p:grpSp>
      </p:grpSp>
      <p:grpSp>
        <p:nvGrpSpPr>
          <p:cNvPr id="25" name="p06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451866" y="6483350"/>
              <a:ext cx="4138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示意区分归属与经营，不能据此倒判1978年每项行为的法律地位。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title"/>
          <p:cNvGrpSpPr/>
          <p:nvPr/>
        </p:nvGrpSpPr>
        <p:grpSpPr>
          <a:xfrm>
            <a:off x="441198" y="381000"/>
            <a:ext cx="6484010" cy="908177"/>
            <a:chOff x="441198" y="381000"/>
            <a:chExt cx="6484010" cy="9081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规范表达怎样衔接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73100"/>
              <a:ext cx="64840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1982已有衔接，1993进一步明确</a:t>
              </a:r>
            </a:p>
          </p:txBody>
        </p:sp>
      </p:grpSp>
      <p:grpSp>
        <p:nvGrpSpPr>
          <p:cNvPr id="10" name="p07-historical-read"/>
          <p:cNvGrpSpPr/>
          <p:nvPr/>
        </p:nvGrpSpPr>
        <p:grpSpPr>
          <a:xfrm>
            <a:off x="438150" y="1631950"/>
            <a:ext cx="8421719" cy="1323594"/>
            <a:chOff x="438150" y="1631950"/>
            <a:chExt cx="8421719" cy="1323594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1631950"/>
              <a:ext cx="14462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1982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28900" y="1752600"/>
              <a:ext cx="9525" cy="1181100"/>
            </a:xfrm>
            <a:custGeom>
              <a:avLst/>
              <a:gdLst/>
              <a:ahLst/>
              <a:cxnLst/>
              <a:rect l="l" t="t" r="r" b="b"/>
              <a:pathLst>
                <a:path w="9525" h="1181100">
                  <a:moveTo>
                    <a:pt x="0" y="0"/>
                  </a:moveTo>
                  <a:lnTo>
                    <a:pt x="0" y="11811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041142" y="18065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新宪法与同期报告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36570" y="2130425"/>
              <a:ext cx="58232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多种合作经济 · 各种形式的社会主义责任制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38856" y="26035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保留公有和共同关系，与家庭经营责任相接</a:t>
              </a:r>
            </a:p>
          </p:txBody>
        </p:sp>
      </p:grpSp>
      <p:grpSp>
        <p:nvGrpSpPr>
          <p:cNvPr id="13" name="p07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451866" y="6483350"/>
              <a:ext cx="8435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依据：1982年宪法、1993年宪法修正案及同期报告和说明。日期仅作先后定位，不是等距时间轴；1993不是此前一切家庭经营的起点。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45</a:t>
              </a:r>
            </a:p>
          </p:txBody>
        </p:sp>
      </p:grpSp>
      <p:grpSp>
        <p:nvGrpSpPr>
          <p:cNvPr id="19" name="p07-reveal-1"/>
          <p:cNvGrpSpPr/>
          <p:nvPr/>
        </p:nvGrpSpPr>
        <p:grpSpPr>
          <a:xfrm>
            <a:off x="438150" y="3276600"/>
            <a:ext cx="11296650" cy="1374394"/>
            <a:chOff x="438150" y="3276600"/>
            <a:chExt cx="11296650" cy="1374394"/>
          </a:xfrm>
        </p:grpSpPr>
        <p:sp>
          <p:nvSpPr>
            <p:cNvPr id="14" name="Line 14"/>
            <p:cNvSpPr/>
            <p:nvPr/>
          </p:nvSpPr>
          <p:spPr>
            <a:xfrm>
              <a:off x="457200" y="3276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8150" y="3365500"/>
              <a:ext cx="14462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1993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41142" y="350202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宪法修正案及修改建议所附说明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6570" y="3825875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家庭联产承包为主的责任制，明确入文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8856" y="429895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长期稳定的安排，不只是一时解决温饱</a:t>
              </a:r>
            </a:p>
          </p:txBody>
        </p:sp>
      </p:grpSp>
      <p:grpSp>
        <p:nvGrpSpPr>
          <p:cNvPr id="24" name="p07-reveal-2"/>
          <p:cNvGrpSpPr/>
          <p:nvPr/>
        </p:nvGrpSpPr>
        <p:grpSpPr>
          <a:xfrm>
            <a:off x="445770" y="4972050"/>
            <a:ext cx="11289030" cy="1008380"/>
            <a:chOff x="445770" y="4972050"/>
            <a:chExt cx="11289030" cy="1008380"/>
          </a:xfrm>
        </p:grpSpPr>
        <p:sp>
          <p:nvSpPr>
            <p:cNvPr id="20" name="Line 20"/>
            <p:cNvSpPr/>
            <p:nvPr/>
          </p:nvSpPr>
          <p:spPr>
            <a:xfrm>
              <a:off x="457200" y="49720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5770" y="52355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现行第八条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8856" y="51657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家庭承包经营为基础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36570" y="5540375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统分结合的双层经营体制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1993年改文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国营改国有，变的不只是一个字</a:t>
              </a:r>
            </a:p>
          </p:txBody>
        </p:sp>
      </p:grpSp>
      <p:grpSp>
        <p:nvGrpSpPr>
          <p:cNvPr id="11" name="p08-comparison"/>
          <p:cNvGrpSpPr/>
          <p:nvPr/>
        </p:nvGrpSpPr>
        <p:grpSpPr>
          <a:xfrm>
            <a:off x="438150" y="1930400"/>
            <a:ext cx="5667375" cy="3270250"/>
            <a:chOff x="438150" y="1930400"/>
            <a:chExt cx="5667375" cy="327025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930400"/>
              <a:ext cx="3675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相邻第十六条要一起读 · 下列旧条内容为要点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495550"/>
              <a:ext cx="9525" cy="2705100"/>
            </a:xfrm>
            <a:custGeom>
              <a:avLst/>
              <a:gdLst/>
              <a:ahLst/>
              <a:cxnLst/>
              <a:rect l="l" t="t" r="r" b="b"/>
              <a:pathLst>
                <a:path w="9525" h="2705100">
                  <a:moveTo>
                    <a:pt x="0" y="0"/>
                  </a:moveTo>
                  <a:lnTo>
                    <a:pt x="0" y="27051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38150" y="2444750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国营经济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34353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原条文已有经营管理自主权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40227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服从国家统一领导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44132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全面完成国家计划等前提</a:t>
              </a:r>
            </a:p>
          </p:txBody>
        </p:sp>
      </p:grpSp>
      <p:grpSp>
        <p:nvGrpSpPr>
          <p:cNvPr id="14" name="p08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483350"/>
              <a:ext cx="4293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依据：1993年宪法修正案。不是“旧无自主、新无管理”的两极替换。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45</a:t>
              </a:r>
            </a:p>
          </p:txBody>
        </p:sp>
      </p:grpSp>
      <p:grpSp>
        <p:nvGrpSpPr>
          <p:cNvPr id="19" name="p08-reveal-1"/>
          <p:cNvGrpSpPr/>
          <p:nvPr/>
        </p:nvGrpSpPr>
        <p:grpSpPr>
          <a:xfrm>
            <a:off x="6553200" y="2444750"/>
            <a:ext cx="3059430" cy="2283333"/>
            <a:chOff x="6553200" y="2444750"/>
            <a:chExt cx="3059430" cy="2283333"/>
          </a:xfrm>
        </p:grpSpPr>
        <p:sp>
          <p:nvSpPr>
            <p:cNvPr id="15" name="TextBox 15"/>
            <p:cNvSpPr txBox="1"/>
            <p:nvPr/>
          </p:nvSpPr>
          <p:spPr>
            <a:xfrm>
              <a:off x="6553200" y="2444750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</a:t>
              </a:r>
              <a:r>
                <a:rPr lang="zh-CN" sz="4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有</a:t>
              </a:r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0820" y="34353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国有企业有权自主经营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3106" y="40227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在法律规定的范围内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5392" y="44640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改后第十六条第一款的条件</a:t>
              </a:r>
            </a:p>
          </p:txBody>
        </p:sp>
      </p:grpSp>
      <p:grpSp>
        <p:nvGrpSpPr>
          <p:cNvPr id="25" name="p08-reveal-2"/>
          <p:cNvGrpSpPr/>
          <p:nvPr/>
        </p:nvGrpSpPr>
        <p:grpSpPr>
          <a:xfrm>
            <a:off x="445770" y="5334000"/>
            <a:ext cx="11289030" cy="675005"/>
            <a:chOff x="445770" y="5334000"/>
            <a:chExt cx="11289030" cy="675005"/>
          </a:xfrm>
        </p:grpSpPr>
        <p:sp>
          <p:nvSpPr>
            <p:cNvPr id="20" name="Line 20"/>
            <p:cNvSpPr/>
            <p:nvPr/>
          </p:nvSpPr>
          <p:spPr>
            <a:xfrm>
              <a:off x="457200" y="5334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5770" y="55689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谁所有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57906" y="563245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74770" y="55689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怎样经营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956" y="56324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联系紧密，仍须分别回答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title"/>
          <p:cNvGrpSpPr/>
          <p:nvPr/>
        </p:nvGrpSpPr>
        <p:grpSpPr>
          <a:xfrm>
            <a:off x="441198" y="381000"/>
            <a:ext cx="7200900" cy="895477"/>
            <a:chOff x="441198" y="381000"/>
            <a:chExt cx="7200900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同一工厂的不同职责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经营自主，为什么还要同责任相接？</a:t>
              </a:r>
            </a:p>
          </p:txBody>
        </p:sp>
      </p:grpSp>
      <p:grpSp>
        <p:nvGrpSpPr>
          <p:cNvPr id="13" name="p09-factory-relations"/>
          <p:cNvGrpSpPr/>
          <p:nvPr/>
        </p:nvGrpSpPr>
        <p:grpSpPr>
          <a:xfrm>
            <a:off x="445008" y="1816100"/>
            <a:ext cx="7213092" cy="3060700"/>
            <a:chOff x="445008" y="1816100"/>
            <a:chExt cx="7213092" cy="306070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16100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不替具体企业判定权限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14850" y="2667000"/>
              <a:ext cx="314325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89448" y="3146425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工厂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10531" y="3870325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 · 采购 · 订单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008" y="2473325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所有者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30702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资产安全、收益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" y="3752850"/>
              <a:ext cx="3790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2767" y="39782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依法承担重大事项管理</a:t>
              </a:r>
            </a:p>
          </p:txBody>
        </p:sp>
      </p:grpSp>
      <p:grpSp>
        <p:nvGrpSpPr>
          <p:cNvPr id="16" name="p09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451866" y="6483350"/>
              <a:ext cx="3982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依据：现行宪法第16条。所有者地位不自动提供全部现场信息。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45</a:t>
              </a:r>
            </a:p>
          </p:txBody>
        </p:sp>
      </p:grpSp>
      <p:grpSp>
        <p:nvGrpSpPr>
          <p:cNvPr id="21" name="p09-reveal-1"/>
          <p:cNvGrpSpPr/>
          <p:nvPr/>
        </p:nvGrpSpPr>
        <p:grpSpPr>
          <a:xfrm>
            <a:off x="7924800" y="2473325"/>
            <a:ext cx="3790950" cy="1768983"/>
            <a:chOff x="7924800" y="2473325"/>
            <a:chExt cx="3790950" cy="1768983"/>
          </a:xfrm>
        </p:grpSpPr>
        <p:sp>
          <p:nvSpPr>
            <p:cNvPr id="17" name="TextBox 17"/>
            <p:cNvSpPr txBox="1"/>
            <p:nvPr/>
          </p:nvSpPr>
          <p:spPr>
            <a:xfrm>
              <a:off x="8598408" y="2473325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经营者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1456" y="30702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专业能力、现场信息</a:t>
              </a:r>
            </a:p>
          </p:txBody>
        </p:sp>
        <p:sp>
          <p:nvSpPr>
            <p:cNvPr id="19" name="Line 19"/>
            <p:cNvSpPr/>
            <p:nvPr/>
          </p:nvSpPr>
          <p:spPr>
            <a:xfrm flipH="1">
              <a:off x="7924800" y="3752850"/>
              <a:ext cx="3790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27567" y="39782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作具体经营决定</a:t>
              </a:r>
            </a:p>
          </p:txBody>
        </p:sp>
      </p:grpSp>
      <p:grpSp>
        <p:nvGrpSpPr>
          <p:cNvPr id="25" name="p09-reveal-2"/>
          <p:cNvGrpSpPr/>
          <p:nvPr/>
        </p:nvGrpSpPr>
        <p:grpSpPr>
          <a:xfrm>
            <a:off x="445770" y="5314950"/>
            <a:ext cx="11289030" cy="655955"/>
            <a:chOff x="445770" y="5314950"/>
            <a:chExt cx="11289030" cy="655955"/>
          </a:xfrm>
        </p:grpSpPr>
        <p:sp>
          <p:nvSpPr>
            <p:cNvPr id="22" name="Line 22"/>
            <p:cNvSpPr/>
            <p:nvPr/>
          </p:nvSpPr>
          <p:spPr>
            <a:xfrm>
              <a:off x="457200" y="53149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770" y="55308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在法律范围内，决定空间与责任相接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48956" y="55943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不能任意处置公共资产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title"/>
          <p:cNvGrpSpPr/>
          <p:nvPr/>
        </p:nvGrpSpPr>
        <p:grpSpPr>
          <a:xfrm>
            <a:off x="441198" y="381000"/>
            <a:ext cx="5856732" cy="895477"/>
            <a:chOff x="441198" y="381000"/>
            <a:chExt cx="585673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在同一关系中加入劳动者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经营关系中，还要看见劳动者</a:t>
              </a:r>
            </a:p>
          </p:txBody>
        </p:sp>
      </p:grpSp>
      <p:grpSp>
        <p:nvGrpSpPr>
          <p:cNvPr id="15" name="p10-factory-with-workers"/>
          <p:cNvGrpSpPr/>
          <p:nvPr/>
        </p:nvGrpSpPr>
        <p:grpSpPr>
          <a:xfrm>
            <a:off x="450342" y="1816100"/>
            <a:ext cx="11265408" cy="2279650"/>
            <a:chOff x="450342" y="1816100"/>
            <a:chExt cx="11265408" cy="227965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16100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教学示意 · 延续前页所有者与经营者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14850" y="2400300"/>
              <a:ext cx="3143250" cy="1695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89448" y="2736850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工厂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10531" y="349885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 · 采购 · 订单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808" y="2530475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所有者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3295650"/>
              <a:ext cx="34861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35401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依法管理重大事项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03208" y="2530475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经营者</a:t>
              </a:r>
            </a:p>
          </p:txBody>
        </p:sp>
        <p:sp>
          <p:nvSpPr>
            <p:cNvPr id="13" name="Line 13"/>
            <p:cNvSpPr/>
            <p:nvPr/>
          </p:nvSpPr>
          <p:spPr>
            <a:xfrm flipH="1">
              <a:off x="7924800" y="3295650"/>
              <a:ext cx="3790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8542" y="35401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自主经营与相应责任</a:t>
              </a:r>
            </a:p>
          </p:txBody>
        </p:sp>
      </p:grpSp>
      <p:grpSp>
        <p:nvGrpSpPr>
          <p:cNvPr id="18" name="p10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483350"/>
              <a:ext cx="4562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依据：现行宪法第16、17条。民主管理不表示每笔订单均由所有人表决。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45</a:t>
              </a:r>
            </a:p>
          </p:txBody>
        </p:sp>
      </p:grpSp>
      <p:grpSp>
        <p:nvGrpSpPr>
          <p:cNvPr id="23" name="p10-reveal-1"/>
          <p:cNvGrpSpPr/>
          <p:nvPr/>
        </p:nvGrpSpPr>
        <p:grpSpPr>
          <a:xfrm>
            <a:off x="445770" y="4324350"/>
            <a:ext cx="9323832" cy="1583944"/>
            <a:chOff x="445770" y="4324350"/>
            <a:chExt cx="9323832" cy="1583944"/>
          </a:xfrm>
        </p:grpSpPr>
        <p:sp>
          <p:nvSpPr>
            <p:cNvPr id="19" name="Line 19"/>
            <p:cNvSpPr/>
            <p:nvPr/>
          </p:nvSpPr>
          <p:spPr>
            <a:xfrm flipV="1">
              <a:off x="6096000" y="4324350"/>
              <a:ext cx="1" cy="4572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5770" y="4997450"/>
              <a:ext cx="49146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劳动者 · 依照法律规定参与民主管理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056" y="55562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职工代表大会和其他形式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1206" y="55562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具体权限，继续看法律与事实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从局部走向总体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一家企业之外，还要看总体结构</a:t>
              </a:r>
            </a:p>
          </p:txBody>
        </p:sp>
      </p:grpSp>
      <p:grpSp>
        <p:nvGrpSpPr>
          <p:cNvPr id="9" name="p11-level-change"/>
          <p:cNvGrpSpPr/>
          <p:nvPr/>
        </p:nvGrpSpPr>
        <p:grpSpPr>
          <a:xfrm>
            <a:off x="445008" y="1987550"/>
            <a:ext cx="11289792" cy="1746250"/>
            <a:chOff x="445008" y="1987550"/>
            <a:chExt cx="11289792" cy="174625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9875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刚才：同一家工厂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008" y="2406650"/>
              <a:ext cx="27553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谁所有，怎样经营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01307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归属与实现形式分别辨认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57200" y="372427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p11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451866" y="6483350"/>
              <a:ext cx="4752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依据：现行宪法第6条。第一款基础与第二款现阶段结构相接，不相互删除。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45</a:t>
              </a:r>
            </a:p>
          </p:txBody>
        </p:sp>
      </p:grpSp>
      <p:grpSp>
        <p:nvGrpSpPr>
          <p:cNvPr id="19" name="p11-reveal-1"/>
          <p:cNvGrpSpPr/>
          <p:nvPr/>
        </p:nvGrpSpPr>
        <p:grpSpPr>
          <a:xfrm>
            <a:off x="445008" y="4111625"/>
            <a:ext cx="8066532" cy="1930908"/>
            <a:chOff x="445008" y="4111625"/>
            <a:chExt cx="8066532" cy="1930908"/>
          </a:xfrm>
        </p:grpSpPr>
        <p:sp>
          <p:nvSpPr>
            <p:cNvPr id="13" name="TextBox 13"/>
            <p:cNvSpPr txBox="1"/>
            <p:nvPr/>
          </p:nvSpPr>
          <p:spPr>
            <a:xfrm>
              <a:off x="450342" y="41116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现在：社会中不同所有制的地位与作用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5008" y="45021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6570" y="45402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生产资料的社会主义公有制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5008" y="5178425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初级阶段结构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6570" y="5216525"/>
              <a:ext cx="54749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公有制为主体，多种所有制经济共同发展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41142" y="57785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总体安排不能被某一家企业的经营办法代替。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title"/>
          <p:cNvGrpSpPr/>
          <p:nvPr/>
        </p:nvGrpSpPr>
        <p:grpSpPr>
          <a:xfrm>
            <a:off x="441198" y="381000"/>
            <a:ext cx="5408676" cy="895477"/>
            <a:chOff x="441198" y="381000"/>
            <a:chExt cx="540867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指向的对象不同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主体与主导，不能交换着说</a:t>
              </a:r>
            </a:p>
          </p:txBody>
        </p:sp>
      </p:grpSp>
      <p:grpSp>
        <p:nvGrpSpPr>
          <p:cNvPr id="16" name="p12-membership"/>
          <p:cNvGrpSpPr/>
          <p:nvPr/>
        </p:nvGrpSpPr>
        <p:grpSpPr>
          <a:xfrm>
            <a:off x="457200" y="1695450"/>
            <a:ext cx="11277600" cy="3829050"/>
            <a:chOff x="457200" y="1695450"/>
            <a:chExt cx="11277600" cy="3829050"/>
          </a:xfrm>
        </p:grpSpPr>
        <p:sp>
          <p:nvSpPr>
            <p:cNvPr id="5" name="Rectangle 5"/>
            <p:cNvSpPr/>
            <p:nvPr/>
          </p:nvSpPr>
          <p:spPr>
            <a:xfrm>
              <a:off x="457200" y="1695450"/>
              <a:ext cx="11277600" cy="382905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8351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公有制总体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99070" y="183515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公有制的主体地位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4574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2838450"/>
              <a:ext cx="476250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608" y="3067050"/>
              <a:ext cx="31479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国有经济 · 全民所有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058" y="3067050"/>
              <a:ext cx="31479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集体经济 · 集体所有</a:t>
              </a:r>
            </a:p>
          </p:txBody>
        </p:sp>
        <p:grpSp>
          <p:nvGrpSpPr>
            <p:cNvPr id="15" name="p12-reveal-1"/>
            <p:cNvGrpSpPr/>
            <p:nvPr/>
          </p:nvGrpSpPr>
          <p:grpSpPr>
            <a:xfrm>
              <a:off x="1055370" y="3730625"/>
              <a:ext cx="8433816" cy="958469"/>
              <a:chOff x="1055370" y="3730625"/>
              <a:chExt cx="8433816" cy="9584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55370" y="3730625"/>
                <a:ext cx="274891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国有经济的主导地位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7656" y="433705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看经济命脉和所起作用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563106" y="379412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两种形式共同进入公有总体</a:t>
                </a:r>
              </a:p>
            </p:txBody>
          </p:sp>
        </p:grpSp>
      </p:grpSp>
      <p:grpSp>
        <p:nvGrpSpPr>
          <p:cNvPr id="19" name="p12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451866" y="6483350"/>
              <a:ext cx="4972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依据：宪法第6、7条。包含关系为定性示意，框的面积不代表资产或产值占比。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45</a:t>
              </a:r>
            </a:p>
          </p:txBody>
        </p:sp>
      </p:grpSp>
      <p:grpSp>
        <p:nvGrpSpPr>
          <p:cNvPr id="21" name="p12-reveal-2"/>
          <p:cNvGrpSpPr/>
          <p:nvPr/>
        </p:nvGrpSpPr>
        <p:grpSpPr>
          <a:xfrm>
            <a:off x="448056" y="5765800"/>
            <a:ext cx="6851599" cy="352044"/>
            <a:chOff x="448056" y="5765800"/>
            <a:chExt cx="6851599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765800"/>
              <a:ext cx="68515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“总体地位”与“主导作用”所问不同，不能推成每处数量都最多。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第十一条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重要组成部分，也有保护和管理</a:t>
              </a:r>
            </a:p>
          </p:txBody>
        </p:sp>
      </p:grpSp>
      <p:grpSp>
        <p:nvGrpSpPr>
          <p:cNvPr id="16" name="p13-status-and-actions"/>
          <p:cNvGrpSpPr/>
          <p:nvPr/>
        </p:nvGrpSpPr>
        <p:grpSpPr>
          <a:xfrm>
            <a:off x="441198" y="1835150"/>
            <a:ext cx="11293602" cy="3517900"/>
            <a:chOff x="441198" y="1835150"/>
            <a:chExt cx="11293602" cy="351790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351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条文关键语句与工作要点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770" y="2311400"/>
              <a:ext cx="75952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在法律规定范围内的个体经济、私营经济等非公有制经济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1198" y="2870200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社会主义市场经济的</a:t>
              </a:r>
              <a:r>
                <a:rPr lang="zh-CN" sz="31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重要组成部分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57200" y="37909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1" name="p13-reveal-1"/>
            <p:cNvGrpSpPr/>
            <p:nvPr/>
          </p:nvGrpSpPr>
          <p:grpSpPr>
            <a:xfrm>
              <a:off x="445770" y="4149725"/>
              <a:ext cx="3051810" cy="1030605"/>
              <a:chOff x="445770" y="4149725"/>
              <a:chExt cx="3051810" cy="103060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45770" y="4149725"/>
                <a:ext cx="274891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保护合法权利和利益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45770" y="4740275"/>
                <a:ext cx="305181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鼓励、支持和引导发展</a:t>
                </a:r>
              </a:p>
            </p:txBody>
          </p:sp>
        </p:grpSp>
        <p:grpSp>
          <p:nvGrpSpPr>
            <p:cNvPr id="15" name="p13-reveal-2"/>
            <p:cNvGrpSpPr/>
            <p:nvPr/>
          </p:nvGrpSpPr>
          <p:grpSpPr>
            <a:xfrm>
              <a:off x="6096000" y="4095750"/>
              <a:ext cx="3877818" cy="1257300"/>
              <a:chOff x="6096000" y="4095750"/>
              <a:chExt cx="3877818" cy="125730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096000" y="409575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560820" y="4149725"/>
                <a:ext cx="274891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依法实行监督和管理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563106" y="4803775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发展与规范，面对同一经营主体</a:t>
                </a:r>
              </a:p>
            </p:txBody>
          </p:sp>
        </p:grpSp>
      </p:grpSp>
      <p:grpSp>
        <p:nvGrpSpPr>
          <p:cNvPr id="19" name="p13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451866" y="6483350"/>
              <a:ext cx="6102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依据：现行宪法第11条。上列包含条文关键词与解释，不能将非公有制经济理解为仅被勉强容忍。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45</a:t>
              </a:r>
            </a:p>
          </p:txBody>
        </p:sp>
      </p:grpSp>
      <p:grpSp>
        <p:nvGrpSpPr>
          <p:cNvPr id="21" name="p13-takeaway"/>
          <p:cNvGrpSpPr/>
          <p:nvPr/>
        </p:nvGrpSpPr>
        <p:grpSpPr>
          <a:xfrm>
            <a:off x="448056" y="5708650"/>
            <a:ext cx="4864608" cy="352044"/>
            <a:chOff x="448056" y="5708650"/>
            <a:chExt cx="4864608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70865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合法权益受保护，同时依法经营并承担责任。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title"/>
          <p:cNvGrpSpPr/>
          <p:nvPr/>
        </p:nvGrpSpPr>
        <p:grpSpPr>
          <a:xfrm>
            <a:off x="441198" y="381000"/>
            <a:ext cx="7200900" cy="895477"/>
            <a:chOff x="441198" y="381000"/>
            <a:chExt cx="7200900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相同生产活动作比较基准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都能生产和就业，资源归属仍可不同</a:t>
              </a:r>
            </a:p>
          </p:txBody>
        </p:sp>
      </p:grpSp>
      <p:grpSp>
        <p:nvGrpSpPr>
          <p:cNvPr id="12" name="p14-ownership-comparison"/>
          <p:cNvGrpSpPr/>
          <p:nvPr/>
        </p:nvGrpSpPr>
        <p:grpSpPr>
          <a:xfrm>
            <a:off x="450342" y="1835150"/>
            <a:ext cx="11284458" cy="2165350"/>
            <a:chOff x="450342" y="1835150"/>
            <a:chExt cx="11284458" cy="216535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35150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不是两家真实企业的调查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2438400"/>
              <a:ext cx="52578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477000" y="2438400"/>
              <a:ext cx="52578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808" y="265430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甲厂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9608" y="265430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乙厂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336550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生产产品 · 提供就业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2656" y="336550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生产产品 · 提供就业</a:t>
              </a:r>
            </a:p>
          </p:txBody>
        </p:sp>
      </p:grpSp>
      <p:grpSp>
        <p:nvGrpSpPr>
          <p:cNvPr id="15" name="p14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相同活动不决定相同归属；不限定不同所有制只能从事某一种行业。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45</a:t>
              </a:r>
            </a:p>
          </p:txBody>
        </p:sp>
      </p:grpSp>
      <p:grpSp>
        <p:nvGrpSpPr>
          <p:cNvPr id="18" name="p14-reveal-1"/>
          <p:cNvGrpSpPr/>
          <p:nvPr/>
        </p:nvGrpSpPr>
        <p:grpSpPr>
          <a:xfrm>
            <a:off x="750570" y="4349750"/>
            <a:ext cx="9071610" cy="440055"/>
            <a:chOff x="750570" y="4349750"/>
            <a:chExt cx="9071610" cy="440055"/>
          </a:xfrm>
        </p:grpSpPr>
        <p:sp>
          <p:nvSpPr>
            <p:cNvPr id="16" name="TextBox 16"/>
            <p:cNvSpPr txBox="1"/>
            <p:nvPr/>
          </p:nvSpPr>
          <p:spPr>
            <a:xfrm>
              <a:off x="750570" y="43497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设备等资源：集体所有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70370" y="43497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设备等资源：私人所有</a:t>
              </a:r>
            </a:p>
          </p:txBody>
        </p:sp>
      </p:grpSp>
      <p:grpSp>
        <p:nvGrpSpPr>
          <p:cNvPr id="22" name="p14-reveal-2"/>
          <p:cNvGrpSpPr/>
          <p:nvPr/>
        </p:nvGrpSpPr>
        <p:grpSpPr>
          <a:xfrm>
            <a:off x="445770" y="5200650"/>
            <a:ext cx="11289030" cy="751205"/>
            <a:chOff x="445770" y="5200650"/>
            <a:chExt cx="11289030" cy="751205"/>
          </a:xfrm>
        </p:grpSpPr>
        <p:sp>
          <p:nvSpPr>
            <p:cNvPr id="19" name="Line 19"/>
            <p:cNvSpPr/>
            <p:nvPr/>
          </p:nvSpPr>
          <p:spPr>
            <a:xfrm>
              <a:off x="457200" y="5200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5770" y="55118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所有制多样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77056" y="55753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不能只用经营办法多样来代替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成果怎样分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按劳分配，依据与条件是什么？</a:t>
              </a:r>
            </a:p>
          </p:txBody>
        </p:sp>
      </p:grpSp>
      <p:grpSp>
        <p:nvGrpSpPr>
          <p:cNvPr id="12" name="p15-basis"/>
          <p:cNvGrpSpPr/>
          <p:nvPr/>
        </p:nvGrpSpPr>
        <p:grpSpPr>
          <a:xfrm>
            <a:off x="445008" y="1860550"/>
            <a:ext cx="11289792" cy="2006600"/>
            <a:chOff x="445008" y="1860550"/>
            <a:chExt cx="11289792" cy="2006600"/>
          </a:xfrm>
        </p:grpSpPr>
        <p:sp>
          <p:nvSpPr>
            <p:cNvPr id="5" name="TextBox 5"/>
            <p:cNvSpPr txBox="1"/>
            <p:nvPr/>
          </p:nvSpPr>
          <p:spPr>
            <a:xfrm>
              <a:off x="448056" y="186055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按劳分配为主体、多种分配方式并存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0342" y="26733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先保留制度条件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008" y="3073400"/>
              <a:ext cx="3096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生产资料公有的条件</a:t>
              </a:r>
            </a:p>
          </p:txBody>
        </p:sp>
        <p:grpSp>
          <p:nvGrpSpPr>
            <p:cNvPr id="11" name="p15-reveal-1"/>
            <p:cNvGrpSpPr/>
            <p:nvPr/>
          </p:nvGrpSpPr>
          <p:grpSpPr>
            <a:xfrm>
              <a:off x="457200" y="2673350"/>
              <a:ext cx="11277600" cy="1193800"/>
              <a:chOff x="457200" y="2673350"/>
              <a:chExt cx="11277600" cy="119380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565392" y="267335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再辨分配依据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556248" y="2984500"/>
                <a:ext cx="3168396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劳动数量和质量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457200" y="3857625"/>
                <a:ext cx="11277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9525">
                    <a:moveTo>
                      <a:pt x="0" y="0"/>
                    </a:moveTo>
                    <a:lnTo>
                      <a:pt x="112776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15" name="p15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3480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依据：现行宪法第6条。按劳分配不表示人人领取同额。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45</a:t>
              </a:r>
            </a:p>
          </p:txBody>
        </p:sp>
      </p:grpSp>
      <p:grpSp>
        <p:nvGrpSpPr>
          <p:cNvPr id="22" name="p15-reveal-2"/>
          <p:cNvGrpSpPr/>
          <p:nvPr/>
        </p:nvGrpSpPr>
        <p:grpSpPr>
          <a:xfrm>
            <a:off x="445770" y="4111625"/>
            <a:ext cx="6730746" cy="1968119"/>
            <a:chOff x="445770" y="4111625"/>
            <a:chExt cx="6730746" cy="1968119"/>
          </a:xfrm>
        </p:grpSpPr>
        <p:sp>
          <p:nvSpPr>
            <p:cNvPr id="16" name="TextBox 16"/>
            <p:cNvSpPr txBox="1"/>
            <p:nvPr/>
          </p:nvSpPr>
          <p:spPr>
            <a:xfrm>
              <a:off x="445770" y="41116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个人收入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8856" y="411797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公有制范围内，按劳分配收入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8856" y="449897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在个人收入总额中占主体地位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5770" y="50450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社会分配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38856" y="502285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整个社会：按劳分配是分配方式的主体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056" y="5727700"/>
              <a:ext cx="464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不能将按劳分配直接换成“一切劳动所得”。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title"/>
          <p:cNvGrpSpPr/>
          <p:nvPr/>
        </p:nvGrpSpPr>
        <p:grpSpPr>
          <a:xfrm>
            <a:off x="441198" y="381000"/>
            <a:ext cx="6752844" cy="895477"/>
            <a:chOff x="441198" y="381000"/>
            <a:chExt cx="6752844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共同事实不替代制度条件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都付出劳动，分配关系仍可能不同</a:t>
              </a:r>
            </a:p>
          </p:txBody>
        </p:sp>
      </p:grpSp>
      <p:grpSp>
        <p:nvGrpSpPr>
          <p:cNvPr id="15" name="p16-comparison"/>
          <p:cNvGrpSpPr/>
          <p:nvPr/>
        </p:nvGrpSpPr>
        <p:grpSpPr>
          <a:xfrm>
            <a:off x="445008" y="1835150"/>
            <a:ext cx="9044178" cy="3270250"/>
            <a:chOff x="445008" y="1835150"/>
            <a:chExt cx="9044178" cy="327025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3515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教学对照 · 已明确各自前提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43840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5008" y="2444750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甲：公有条件下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1178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符合按劳分配的相应制度安排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60058" y="2444750"/>
              <a:ext cx="27553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乙：私营企业雇员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63106" y="31178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劳动也参与生产并取得报酬</a:t>
              </a:r>
            </a:p>
          </p:txBody>
        </p:sp>
        <p:grpSp>
          <p:nvGrpSpPr>
            <p:cNvPr id="14" name="p16-reveal-1"/>
            <p:cNvGrpSpPr/>
            <p:nvPr/>
          </p:nvGrpSpPr>
          <p:grpSpPr>
            <a:xfrm>
              <a:off x="445770" y="3930650"/>
              <a:ext cx="8561070" cy="854583"/>
              <a:chOff x="445770" y="3930650"/>
              <a:chExt cx="8561070" cy="85458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45770" y="3930650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按劳分配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560820" y="3930650"/>
                <a:ext cx="244602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劳动要素参与分配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65392" y="4521200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要素也包括资本、技术等</a:t>
                </a:r>
              </a:p>
            </p:txBody>
          </p:sp>
        </p:grpSp>
      </p:grpSp>
      <p:grpSp>
        <p:nvGrpSpPr>
          <p:cNvPr id="18" name="p16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48335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概念比较不是对真实个人收入的调查或法律认定。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45</a:t>
              </a:r>
            </a:p>
          </p:txBody>
        </p:sp>
      </p:grpSp>
      <p:grpSp>
        <p:nvGrpSpPr>
          <p:cNvPr id="21" name="p16-reveal-2"/>
          <p:cNvGrpSpPr/>
          <p:nvPr/>
        </p:nvGrpSpPr>
        <p:grpSpPr>
          <a:xfrm>
            <a:off x="448056" y="5314950"/>
            <a:ext cx="11286744" cy="679069"/>
            <a:chOff x="448056" y="5314950"/>
            <a:chExt cx="11286744" cy="679069"/>
          </a:xfrm>
        </p:grpSpPr>
        <p:sp>
          <p:nvSpPr>
            <p:cNvPr id="19" name="Line 19"/>
            <p:cNvSpPr/>
            <p:nvPr/>
          </p:nvSpPr>
          <p:spPr>
            <a:xfrm>
              <a:off x="457200" y="53149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8056" y="5641975"/>
              <a:ext cx="68515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不能只凭“付出劳动”，或“国企职工”的身份，给每笔收入定性。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title"/>
          <p:cNvGrpSpPr/>
          <p:nvPr/>
        </p:nvGrpSpPr>
        <p:grpSpPr>
          <a:xfrm>
            <a:off x="441198" y="381000"/>
            <a:ext cx="5408676" cy="895477"/>
            <a:chOff x="441198" y="381000"/>
            <a:chExt cx="540867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两种不同提问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分配与配置，问的是两件事</a:t>
              </a:r>
            </a:p>
          </p:txBody>
        </p:sp>
      </p:grpSp>
      <p:grpSp>
        <p:nvGrpSpPr>
          <p:cNvPr id="12" name="p17-input-output"/>
          <p:cNvGrpSpPr/>
          <p:nvPr/>
        </p:nvGrpSpPr>
        <p:grpSpPr>
          <a:xfrm>
            <a:off x="445770" y="1911350"/>
            <a:ext cx="9995535" cy="1803400"/>
            <a:chOff x="445770" y="1911350"/>
            <a:chExt cx="9995535" cy="180340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911350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同一经济活动的不同关系 · 教学示意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770" y="2663825"/>
              <a:ext cx="25368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 · 原料 · 劳动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2552700"/>
              <a:ext cx="2667000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0358" y="293052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生产活动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03970" y="266382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成果与收入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257550" y="3181350"/>
              <a:ext cx="12382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7696200" y="3181350"/>
              <a:ext cx="952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5" name="p17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箭头表达生产投入和成果，不表示完整经济循环或价值数量。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45</a:t>
              </a:r>
            </a:p>
          </p:txBody>
        </p:sp>
      </p:grpSp>
      <p:grpSp>
        <p:nvGrpSpPr>
          <p:cNvPr id="22" name="p17-reveal-1"/>
          <p:cNvGrpSpPr/>
          <p:nvPr/>
        </p:nvGrpSpPr>
        <p:grpSpPr>
          <a:xfrm>
            <a:off x="445008" y="4171950"/>
            <a:ext cx="11289792" cy="1926844"/>
            <a:chOff x="445008" y="4171950"/>
            <a:chExt cx="11289792" cy="1926844"/>
          </a:xfrm>
        </p:grpSpPr>
        <p:sp>
          <p:nvSpPr>
            <p:cNvPr id="16" name="Line 16"/>
            <p:cNvSpPr/>
            <p:nvPr/>
          </p:nvSpPr>
          <p:spPr>
            <a:xfrm>
              <a:off x="457200" y="41719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5008" y="445452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资源配置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07047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资源怎样进入不同用途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26908" y="4454525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29956" y="507047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成果怎样分、收入如何来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056" y="5746750"/>
              <a:ext cx="61004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下一轮投入与已有成果相互关联，但不是同一次“分钱”。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title"/>
          <p:cNvGrpSpPr/>
          <p:nvPr/>
        </p:nvGrpSpPr>
        <p:grpSpPr>
          <a:xfrm>
            <a:off x="441198" y="381000"/>
            <a:ext cx="8097012" cy="895477"/>
            <a:chOff x="441198" y="381000"/>
            <a:chExt cx="809701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宪法学 · 第四讲 / 独立对照与思考约两分钟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8097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这家厂改了，就能说所有关系都变了吗？</a:t>
              </a:r>
            </a:p>
          </p:txBody>
        </p:sp>
      </p:grpSp>
      <p:grpSp>
        <p:nvGrpSpPr>
          <p:cNvPr id="10" name="p18-question-and-reveal"/>
          <p:cNvGrpSpPr/>
          <p:nvPr/>
        </p:nvGrpSpPr>
        <p:grpSpPr>
          <a:xfrm>
            <a:off x="445770" y="1835150"/>
            <a:ext cx="3657600" cy="2887980"/>
            <a:chOff x="445770" y="1835150"/>
            <a:chExt cx="3657600" cy="288798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35150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分别说明各项所问的关系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770" y="2339975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厂房仍由原所有者拥有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987675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由相应经营者处理日常经营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3635375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劳动者依制度取得报酬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770" y="4283075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根据产品需求调整设备投入</a:t>
              </a:r>
            </a:p>
          </p:txBody>
        </p:sp>
      </p:grpSp>
      <p:grpSp>
        <p:nvGrpSpPr>
          <p:cNvPr id="13" name="p18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451866" y="648335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本设例不能替代小岗或企业改文的全部法律条件。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45</a:t>
              </a:r>
            </a:p>
          </p:txBody>
        </p:sp>
      </p:grpSp>
      <p:grpSp>
        <p:nvGrpSpPr>
          <p:cNvPr id="16" name="p18-reading-prompt"/>
          <p:cNvGrpSpPr/>
          <p:nvPr/>
        </p:nvGrpSpPr>
        <p:grpSpPr>
          <a:xfrm>
            <a:off x="450342" y="5048250"/>
            <a:ext cx="11284458" cy="508508"/>
            <a:chOff x="450342" y="5048250"/>
            <a:chExt cx="11284458" cy="508508"/>
          </a:xfrm>
        </p:grpSpPr>
        <p:sp>
          <p:nvSpPr>
            <p:cNvPr id="14" name="Line 14"/>
            <p:cNvSpPr/>
            <p:nvPr/>
          </p:nvSpPr>
          <p:spPr>
            <a:xfrm>
              <a:off x="457200" y="5048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0342" y="5292725"/>
              <a:ext cx="6956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对读提示（要点）：第六条——公有制、所有制结构与分配制度；第十五条——市场经济。</a:t>
              </a:r>
            </a:p>
          </p:txBody>
        </p:sp>
      </p:grpSp>
      <p:grpSp>
        <p:nvGrpSpPr>
          <p:cNvPr id="18" name="p18-answer-1"/>
          <p:cNvGrpSpPr/>
          <p:nvPr/>
        </p:nvGrpSpPr>
        <p:grpSpPr>
          <a:xfrm>
            <a:off x="7799070" y="2339975"/>
            <a:ext cx="2748915" cy="440055"/>
            <a:chOff x="7799070" y="2339975"/>
            <a:chExt cx="2748915" cy="440055"/>
          </a:xfrm>
        </p:grpSpPr>
        <p:sp>
          <p:nvSpPr>
            <p:cNvPr id="17" name="TextBox 17"/>
            <p:cNvSpPr txBox="1"/>
            <p:nvPr/>
          </p:nvSpPr>
          <p:spPr>
            <a:xfrm>
              <a:off x="7799070" y="23399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归属：所有者没有变</a:t>
              </a:r>
            </a:p>
          </p:txBody>
        </p:sp>
      </p:grpSp>
      <p:grpSp>
        <p:nvGrpSpPr>
          <p:cNvPr id="21" name="p18-answer-2"/>
          <p:cNvGrpSpPr/>
          <p:nvPr/>
        </p:nvGrpSpPr>
        <p:grpSpPr>
          <a:xfrm>
            <a:off x="7799070" y="2987675"/>
            <a:ext cx="2143125" cy="1087755"/>
            <a:chOff x="7799070" y="2987675"/>
            <a:chExt cx="2143125" cy="1087755"/>
          </a:xfrm>
        </p:grpSpPr>
        <p:sp>
          <p:nvSpPr>
            <p:cNvPr id="19" name="TextBox 19"/>
            <p:cNvSpPr txBox="1"/>
            <p:nvPr/>
          </p:nvSpPr>
          <p:spPr>
            <a:xfrm>
              <a:off x="7799070" y="29876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经营：谁来处理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99070" y="36353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分配：报酬关系</a:t>
              </a:r>
            </a:p>
          </p:txBody>
        </p:sp>
      </p:grpSp>
      <p:grpSp>
        <p:nvGrpSpPr>
          <p:cNvPr id="23" name="p18-answer-3"/>
          <p:cNvGrpSpPr/>
          <p:nvPr/>
        </p:nvGrpSpPr>
        <p:grpSpPr>
          <a:xfrm>
            <a:off x="7799070" y="4283075"/>
            <a:ext cx="2143125" cy="440055"/>
            <a:chOff x="7799070" y="4283075"/>
            <a:chExt cx="2143125" cy="440055"/>
          </a:xfrm>
        </p:grpSpPr>
        <p:sp>
          <p:nvSpPr>
            <p:cNvPr id="22" name="TextBox 22"/>
            <p:cNvSpPr txBox="1"/>
            <p:nvPr/>
          </p:nvSpPr>
          <p:spPr>
            <a:xfrm>
              <a:off x="7799070" y="42830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配置：投入用途</a:t>
              </a:r>
            </a:p>
          </p:txBody>
        </p:sp>
      </p:grpSp>
      <p:grpSp>
        <p:nvGrpSpPr>
          <p:cNvPr id="25" name="p18-takeaway"/>
          <p:cNvGrpSpPr/>
          <p:nvPr/>
        </p:nvGrpSpPr>
        <p:grpSpPr>
          <a:xfrm>
            <a:off x="448056" y="5784850"/>
            <a:ext cx="5591556" cy="352044"/>
            <a:chOff x="448056" y="5784850"/>
            <a:chExt cx="5591556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448056" y="578485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逐项看对象与依据：可以同时变，也可以有变有留。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title"/>
          <p:cNvGrpSpPr/>
          <p:nvPr/>
        </p:nvGrpSpPr>
        <p:grpSpPr>
          <a:xfrm>
            <a:off x="441198" y="381000"/>
            <a:ext cx="7200900" cy="895477"/>
            <a:chOff x="441198" y="381000"/>
            <a:chExt cx="7200900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配置机制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国有与市场，为什么能够同时成立？</a:t>
              </a:r>
            </a:p>
          </p:txBody>
        </p:sp>
      </p:grpSp>
      <p:grpSp>
        <p:nvGrpSpPr>
          <p:cNvPr id="17" name="p19-market-dimensions"/>
          <p:cNvGrpSpPr/>
          <p:nvPr/>
        </p:nvGrpSpPr>
        <p:grpSpPr>
          <a:xfrm>
            <a:off x="445770" y="1816100"/>
            <a:ext cx="10261397" cy="2755900"/>
            <a:chOff x="445770" y="1816100"/>
            <a:chExt cx="10261397" cy="275590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16100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同一家日用品企业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762500" y="2476500"/>
              <a:ext cx="26670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131308" y="272097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国有企业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36642" y="33972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所有制身份持续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770" y="2454275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产品需求发生变化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302260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库存增加 / 新需求出现</a:t>
              </a:r>
            </a:p>
          </p:txBody>
        </p:sp>
        <p:grpSp>
          <p:nvGrpSpPr>
            <p:cNvPr id="16" name="p19-reveal-1"/>
            <p:cNvGrpSpPr/>
            <p:nvPr/>
          </p:nvGrpSpPr>
          <p:grpSpPr>
            <a:xfrm>
              <a:off x="3333750" y="2454275"/>
              <a:ext cx="7373417" cy="1768983"/>
              <a:chOff x="3333750" y="2454275"/>
              <a:chExt cx="7373417" cy="1768983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3333750" y="3476625"/>
                <a:ext cx="11620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7696200" y="3476625"/>
                <a:ext cx="7239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675370" y="2454275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考虑投入调整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77656" y="302260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设备 · 原料 · 劳动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022342" y="3959225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价格、供求、交易、竞争</a:t>
                </a:r>
              </a:p>
            </p:txBody>
          </p:sp>
        </p:grpSp>
      </p:grpSp>
      <p:grpSp>
        <p:nvGrpSpPr>
          <p:cNvPr id="20" name="p19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451866" y="6483350"/>
              <a:ext cx="5240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依据：教材解释。示意不表示所有企业以同一种方式决策，也不是价格或供需统计。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45</a:t>
              </a:r>
            </a:p>
          </p:txBody>
        </p:sp>
      </p:grpSp>
      <p:grpSp>
        <p:nvGrpSpPr>
          <p:cNvPr id="24" name="p19-reveal-2"/>
          <p:cNvGrpSpPr/>
          <p:nvPr/>
        </p:nvGrpSpPr>
        <p:grpSpPr>
          <a:xfrm>
            <a:off x="445770" y="5105400"/>
            <a:ext cx="11289030" cy="1079119"/>
            <a:chOff x="445770" y="5105400"/>
            <a:chExt cx="11289030" cy="1079119"/>
          </a:xfrm>
        </p:grpSpPr>
        <p:sp>
          <p:nvSpPr>
            <p:cNvPr id="21" name="Line 21"/>
            <p:cNvSpPr/>
            <p:nvPr/>
          </p:nvSpPr>
          <p:spPr>
            <a:xfrm>
              <a:off x="457200" y="5105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5770" y="5349875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市场并非资本主义独有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056" y="583247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所有制回答归属，市场回答配置；使用市场也未答完产权与分配。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连着读1993年改文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市场与国家工作，同在第十五条</a:t>
              </a:r>
            </a:p>
          </p:txBody>
        </p:sp>
      </p:grpSp>
      <p:grpSp>
        <p:nvGrpSpPr>
          <p:cNvPr id="9" name="p20-article"/>
          <p:cNvGrpSpPr/>
          <p:nvPr/>
        </p:nvGrpSpPr>
        <p:grpSpPr>
          <a:xfrm>
            <a:off x="445008" y="1873250"/>
            <a:ext cx="7876032" cy="2631567"/>
            <a:chOff x="445008" y="1873250"/>
            <a:chExt cx="7876032" cy="2631567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732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现行宪法第十五条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008" y="2454275"/>
              <a:ext cx="44622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国家实行社会主义市场经济。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008" y="32448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国家加强经济立法，完善宏观调控。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008" y="4035425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国家依法禁止任何组织或者个人扰乱社会经济秩序。</a:t>
              </a:r>
            </a:p>
          </p:txBody>
        </p:sp>
      </p:grpSp>
      <p:grpSp>
        <p:nvGrpSpPr>
          <p:cNvPr id="12" name="p20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451866" y="6483350"/>
              <a:ext cx="5141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依据：现行宪法第15条、1993年宪法修正案。三句为条文原文，下方为教材解释。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45</a:t>
              </a:r>
            </a:p>
          </p:txBody>
        </p:sp>
      </p:grpSp>
      <p:grpSp>
        <p:nvGrpSpPr>
          <p:cNvPr id="16" name="p20-reveal-1"/>
          <p:cNvGrpSpPr/>
          <p:nvPr/>
        </p:nvGrpSpPr>
        <p:grpSpPr>
          <a:xfrm>
            <a:off x="448056" y="4972050"/>
            <a:ext cx="11286744" cy="1107694"/>
            <a:chOff x="448056" y="4972050"/>
            <a:chExt cx="11286744" cy="1107694"/>
          </a:xfrm>
        </p:grpSpPr>
        <p:sp>
          <p:nvSpPr>
            <p:cNvPr id="13" name="Line 13"/>
            <p:cNvSpPr/>
            <p:nvPr/>
          </p:nvSpPr>
          <p:spPr>
            <a:xfrm>
              <a:off x="457200" y="49720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8056" y="528002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教材：市场在资源配置中起决定性作用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57277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这是制度解释，须与条文逐字内容区分。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交易可以预期的条件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让选择发生，也让约定可以预期</a:t>
              </a:r>
            </a:p>
          </p:txBody>
        </p:sp>
      </p:grpSp>
      <p:grpSp>
        <p:nvGrpSpPr>
          <p:cNvPr id="12" name="p21-trade-and-rules"/>
          <p:cNvGrpSpPr/>
          <p:nvPr/>
        </p:nvGrpSpPr>
        <p:grpSpPr>
          <a:xfrm>
            <a:off x="450342" y="1835150"/>
            <a:ext cx="10339578" cy="2539619"/>
            <a:chOff x="450342" y="1835150"/>
            <a:chExt cx="10339578" cy="2539619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351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教学示意 · 原料交易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2641600"/>
              <a:ext cx="13761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交付方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13748" y="2641600"/>
              <a:ext cx="13761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采购方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333750" y="2895600"/>
              <a:ext cx="5334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96256" y="24320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交付原料</a:t>
              </a:r>
            </a:p>
          </p:txBody>
        </p:sp>
        <p:sp>
          <p:nvSpPr>
            <p:cNvPr id="10" name="Line 10"/>
            <p:cNvSpPr/>
            <p:nvPr/>
          </p:nvSpPr>
          <p:spPr>
            <a:xfrm flipH="1">
              <a:off x="3333750" y="3829050"/>
              <a:ext cx="5334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096256" y="40227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依约支付</a:t>
              </a:r>
            </a:p>
          </p:txBody>
        </p:sp>
      </p:grpSp>
      <p:grpSp>
        <p:nvGrpSpPr>
          <p:cNvPr id="15" name="p21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法律是市场有序活动的条件，图的位置不表示先有市场、事后才补规则。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 / 45</a:t>
              </a:r>
            </a:p>
          </p:txBody>
        </p:sp>
      </p:grpSp>
      <p:grpSp>
        <p:nvGrpSpPr>
          <p:cNvPr id="20" name="p21-reveal-1"/>
          <p:cNvGrpSpPr/>
          <p:nvPr/>
        </p:nvGrpSpPr>
        <p:grpSpPr>
          <a:xfrm>
            <a:off x="457200" y="4838700"/>
            <a:ext cx="11277600" cy="1181100"/>
            <a:chOff x="457200" y="4838700"/>
            <a:chExt cx="11277600" cy="1181100"/>
          </a:xfrm>
        </p:grpSpPr>
        <p:sp>
          <p:nvSpPr>
            <p:cNvPr id="16" name="Rectangle 16"/>
            <p:cNvSpPr/>
            <p:nvPr/>
          </p:nvSpPr>
          <p:spPr>
            <a:xfrm>
              <a:off x="457200" y="4838700"/>
              <a:ext cx="1127760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0570" y="4987925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稳定规则，支撑双方安排下一步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856" y="5508625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履约责任 · 财产保护 · 争议处理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46442" y="55594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不是政府逐笔替企业下单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title"/>
          <p:cNvGrpSpPr/>
          <p:nvPr/>
        </p:nvGrpSpPr>
        <p:grpSpPr>
          <a:xfrm>
            <a:off x="441198" y="381000"/>
            <a:ext cx="7648956" cy="895477"/>
            <a:chOff x="441198" y="381000"/>
            <a:chExt cx="764895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交易之外的影响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买卖同意了，谁承担价格之外的代价？</a:t>
              </a:r>
            </a:p>
          </p:txBody>
        </p:sp>
      </p:grpSp>
      <p:grpSp>
        <p:nvGrpSpPr>
          <p:cNvPr id="13" name="p22-outside-transaction"/>
          <p:cNvGrpSpPr/>
          <p:nvPr/>
        </p:nvGrpSpPr>
        <p:grpSpPr>
          <a:xfrm>
            <a:off x="457200" y="1695450"/>
            <a:ext cx="7239000" cy="2438400"/>
            <a:chOff x="457200" y="1695450"/>
            <a:chExt cx="7239000" cy="2438400"/>
          </a:xfrm>
        </p:grpSpPr>
        <p:sp>
          <p:nvSpPr>
            <p:cNvPr id="5" name="Rectangle 5"/>
            <p:cNvSpPr/>
            <p:nvPr/>
          </p:nvSpPr>
          <p:spPr>
            <a:xfrm>
              <a:off x="457200" y="1695450"/>
              <a:ext cx="7239000" cy="24384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142" y="1892300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这笔买卖的参与者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9808" y="245427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生产企业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50458" y="2454275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买方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38450" y="2971800"/>
              <a:ext cx="28003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12642" y="25209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交付产品</a:t>
              </a:r>
            </a:p>
          </p:txBody>
        </p:sp>
        <p:sp>
          <p:nvSpPr>
            <p:cNvPr id="11" name="Line 11"/>
            <p:cNvSpPr/>
            <p:nvPr/>
          </p:nvSpPr>
          <p:spPr>
            <a:xfrm flipH="1">
              <a:off x="2838450" y="3657600"/>
              <a:ext cx="28003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642" y="33210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支付价款</a:t>
              </a:r>
            </a:p>
          </p:txBody>
        </p:sp>
      </p:grpSp>
      <p:grpSp>
        <p:nvGrpSpPr>
          <p:cNvPr id="16" name="p22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451866" y="648335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本图不是实际污染案件或违法结论；协调困难也不能免除干预说明依据的义务。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 / 45</a:t>
              </a:r>
            </a:p>
          </p:txBody>
        </p:sp>
      </p:grpSp>
      <p:grpSp>
        <p:nvGrpSpPr>
          <p:cNvPr id="22" name="p22-reveal-1"/>
          <p:cNvGrpSpPr/>
          <p:nvPr/>
        </p:nvGrpSpPr>
        <p:grpSpPr>
          <a:xfrm>
            <a:off x="755142" y="4184650"/>
            <a:ext cx="9884664" cy="1380744"/>
            <a:chOff x="755142" y="4184650"/>
            <a:chExt cx="9884664" cy="1380744"/>
          </a:xfrm>
        </p:grpSpPr>
        <p:sp>
          <p:nvSpPr>
            <p:cNvPr id="17" name="Line 17"/>
            <p:cNvSpPr/>
            <p:nvPr/>
          </p:nvSpPr>
          <p:spPr>
            <a:xfrm>
              <a:off x="2000250" y="4362450"/>
              <a:ext cx="6667500" cy="876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8006" y="41846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未处理的生产污染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22258" y="467360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下游居民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25306" y="52133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不在这笔买卖中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142" y="502602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影响及代价没有由相应价格反映</a:t>
              </a:r>
            </a:p>
          </p:txBody>
        </p:sp>
      </p:grpSp>
      <p:grpSp>
        <p:nvGrpSpPr>
          <p:cNvPr id="25" name="p22-reveal-2"/>
          <p:cNvGrpSpPr/>
          <p:nvPr/>
        </p:nvGrpSpPr>
        <p:grpSpPr>
          <a:xfrm>
            <a:off x="445770" y="5768975"/>
            <a:ext cx="8244840" cy="440055"/>
            <a:chOff x="445770" y="5768975"/>
            <a:chExt cx="8244840" cy="440055"/>
          </a:xfrm>
        </p:grpSpPr>
        <p:sp>
          <p:nvSpPr>
            <p:cNvPr id="23" name="TextBox 23"/>
            <p:cNvSpPr txBox="1"/>
            <p:nvPr/>
          </p:nvSpPr>
          <p:spPr>
            <a:xfrm>
              <a:off x="445770" y="5768975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外部性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2106" y="5832475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要让选择和责任面对相关影响；便宜的原因仍须具体辨别。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title"/>
          <p:cNvGrpSpPr/>
          <p:nvPr/>
        </p:nvGrpSpPr>
        <p:grpSpPr>
          <a:xfrm>
            <a:off x="441198" y="381000"/>
            <a:ext cx="8097012" cy="895477"/>
            <a:chOff x="441198" y="381000"/>
            <a:chExt cx="809701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从单笔交易到整体运行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8097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许多人同时谨慎，为什么可能继续下行？</a:t>
              </a:r>
            </a:p>
          </p:txBody>
        </p:sp>
      </p:grpSp>
      <p:grpSp>
        <p:nvGrpSpPr>
          <p:cNvPr id="7" name="p23-demand-feedback"/>
          <p:cNvGrpSpPr/>
          <p:nvPr/>
        </p:nvGrpSpPr>
        <p:grpSpPr>
          <a:xfrm>
            <a:off x="445008" y="2435225"/>
            <a:ext cx="2755392" cy="891794"/>
            <a:chOff x="445008" y="2435225"/>
            <a:chExt cx="2755392" cy="891794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2435225"/>
              <a:ext cx="27553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许多家庭暂缓购买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29749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各自谨慎应对困难</a:t>
              </a:r>
            </a:p>
          </p:txBody>
        </p:sp>
      </p:grpSp>
      <p:grpSp>
        <p:nvGrpSpPr>
          <p:cNvPr id="10" name="p23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8" name="TextBox 8"/>
            <p:cNvSpPr txBox="1"/>
            <p:nvPr/>
          </p:nvSpPr>
          <p:spPr>
            <a:xfrm>
              <a:off x="451866" y="6483350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条件性反馈，不是普遍反对节俭；宏观调控不等于政府逐笔替企业接订单。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 / 45</a:t>
              </a:r>
            </a:p>
          </p:txBody>
        </p:sp>
      </p:grpSp>
      <p:grpSp>
        <p:nvGrpSpPr>
          <p:cNvPr id="12" name="p23-source-context"/>
          <p:cNvGrpSpPr/>
          <p:nvPr/>
        </p:nvGrpSpPr>
        <p:grpSpPr>
          <a:xfrm>
            <a:off x="448056" y="1679575"/>
            <a:ext cx="5349240" cy="352044"/>
            <a:chOff x="448056" y="1679575"/>
            <a:chExt cx="5349240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448056" y="167957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教学设想：短期需求不足，如果其他需求没有补上</a:t>
              </a:r>
            </a:p>
          </p:txBody>
        </p:sp>
      </p:grpSp>
      <p:grpSp>
        <p:nvGrpSpPr>
          <p:cNvPr id="17" name="p23-reveal-1"/>
          <p:cNvGrpSpPr/>
          <p:nvPr/>
        </p:nvGrpSpPr>
        <p:grpSpPr>
          <a:xfrm>
            <a:off x="3886200" y="2435225"/>
            <a:ext cx="5698998" cy="891794"/>
            <a:chOff x="3886200" y="2435225"/>
            <a:chExt cx="5698998" cy="891794"/>
          </a:xfrm>
        </p:grpSpPr>
        <p:sp>
          <p:nvSpPr>
            <p:cNvPr id="13" name="Line 13"/>
            <p:cNvSpPr/>
            <p:nvPr/>
          </p:nvSpPr>
          <p:spPr>
            <a:xfrm>
              <a:off x="3886200" y="2876550"/>
              <a:ext cx="3276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88967" y="24447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支出减少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2558" y="2435225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企业订单减少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606" y="29749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压缩生产和新投资</a:t>
              </a:r>
            </a:p>
          </p:txBody>
        </p:sp>
      </p:grpSp>
      <p:grpSp>
        <p:nvGrpSpPr>
          <p:cNvPr id="22" name="p23-reveal-2"/>
          <p:cNvGrpSpPr/>
          <p:nvPr/>
        </p:nvGrpSpPr>
        <p:grpSpPr>
          <a:xfrm>
            <a:off x="4219575" y="3590925"/>
            <a:ext cx="5439918" cy="1990725"/>
            <a:chOff x="4219575" y="3590925"/>
            <a:chExt cx="5439918" cy="1990725"/>
          </a:xfrm>
        </p:grpSpPr>
        <p:sp>
          <p:nvSpPr>
            <p:cNvPr id="18" name="Line 18"/>
            <p:cNvSpPr/>
            <p:nvPr/>
          </p:nvSpPr>
          <p:spPr>
            <a:xfrm flipH="1">
              <a:off x="7124700" y="3590925"/>
              <a:ext cx="1838325" cy="115252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7092" y="41116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影响其他人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19575" y="4857750"/>
              <a:ext cx="3762375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41520" y="5045075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他人的收入与订单减少</a:t>
              </a:r>
            </a:p>
          </p:txBody>
        </p:sp>
      </p:grpSp>
      <p:grpSp>
        <p:nvGrpSpPr>
          <p:cNvPr id="25" name="p23-return-edge"/>
          <p:cNvGrpSpPr/>
          <p:nvPr/>
        </p:nvGrpSpPr>
        <p:grpSpPr>
          <a:xfrm>
            <a:off x="450342" y="3600450"/>
            <a:ext cx="3521583" cy="1323975"/>
            <a:chOff x="450342" y="3600450"/>
            <a:chExt cx="3521583" cy="1323975"/>
          </a:xfrm>
        </p:grpSpPr>
        <p:sp>
          <p:nvSpPr>
            <p:cNvPr id="23" name="Line 23"/>
            <p:cNvSpPr/>
            <p:nvPr/>
          </p:nvSpPr>
          <p:spPr>
            <a:xfrm flipH="1" flipV="1">
              <a:off x="2095500" y="3600450"/>
              <a:ext cx="1876425" cy="132397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0342" y="43021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收入减少，再压低支出</a:t>
              </a:r>
            </a:p>
          </p:txBody>
        </p:sp>
      </p:grpSp>
      <p:grpSp>
        <p:nvGrpSpPr>
          <p:cNvPr id="27" name="p23-policy-limit"/>
          <p:cNvGrpSpPr/>
          <p:nvPr/>
        </p:nvGrpSpPr>
        <p:grpSpPr>
          <a:xfrm>
            <a:off x="448056" y="5842000"/>
            <a:ext cx="7772400" cy="352044"/>
            <a:chOff x="448056" y="5842000"/>
            <a:chExt cx="7772400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448056" y="584200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政策也有成本、时滞和承受能力；不能将不同问题都用同一种办法处理。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上节回收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再看这张纸，已经多了几层认识</a:t>
              </a:r>
            </a:p>
          </p:txBody>
        </p:sp>
      </p:grpSp>
      <p:grpSp>
        <p:nvGrpSpPr>
          <p:cNvPr id="6" name="p24-same-contract"/>
          <p:cNvGrpSpPr/>
          <p:nvPr/>
        </p:nvGrpSpPr>
        <p:grpSpPr>
          <a:xfrm>
            <a:off x="457200" y="1812227"/>
            <a:ext cx="5486400" cy="3547872"/>
            <a:chOff x="457200" y="1812227"/>
            <a:chExt cx="5486400" cy="354787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812227"/>
              <a:ext cx="5486400" cy="3547872"/>
            </a:xfrm>
            <a:prstGeom prst="rect">
              <a:avLst/>
            </a:prstGeom>
          </p:spPr>
        </p:pic>
      </p:grpSp>
      <p:grpSp>
        <p:nvGrpSpPr>
          <p:cNvPr id="12" name="p24-four-questions"/>
          <p:cNvGrpSpPr/>
          <p:nvPr/>
        </p:nvGrpSpPr>
        <p:grpSpPr>
          <a:xfrm>
            <a:off x="6694170" y="1854200"/>
            <a:ext cx="2748915" cy="3254883"/>
            <a:chOff x="6694170" y="1854200"/>
            <a:chExt cx="2748915" cy="3254883"/>
          </a:xfrm>
        </p:grpSpPr>
        <p:sp>
          <p:nvSpPr>
            <p:cNvPr id="7" name="TextBox 7"/>
            <p:cNvSpPr txBox="1"/>
            <p:nvPr/>
          </p:nvSpPr>
          <p:spPr>
            <a:xfrm>
              <a:off x="6694170" y="18542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归属：资源由谁所有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4170" y="25971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经营：怎样组织生产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4170" y="33401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分配：成果怎样分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4170" y="40830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配置：资源投向哪里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8742" y="48450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市场选择，与法律及宏观工作相接</a:t>
              </a:r>
            </a:p>
          </p:txBody>
        </p:sp>
      </p:grpSp>
      <p:grpSp>
        <p:nvGrpSpPr>
          <p:cNvPr id="14" name="p24-reveal-1"/>
          <p:cNvGrpSpPr/>
          <p:nvPr/>
        </p:nvGrpSpPr>
        <p:grpSpPr>
          <a:xfrm>
            <a:off x="445770" y="5746750"/>
            <a:ext cx="5463540" cy="440055"/>
            <a:chOff x="445770" y="5746750"/>
            <a:chExt cx="5463540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445770" y="5746750"/>
              <a:ext cx="54635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下一步：选举过去以后，谁继续提问？</a:t>
              </a:r>
            </a:p>
          </p:txBody>
        </p:sp>
      </p:grpSp>
      <p:grpSp>
        <p:nvGrpSpPr>
          <p:cNvPr id="17" name="p24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451866" y="6483350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图：中国农业博物馆供图／北京市文物局网站。不据一则材料证明整个制度成效。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title"/>
          <p:cNvGrpSpPr/>
          <p:nvPr/>
        </p:nvGrpSpPr>
        <p:grpSpPr>
          <a:xfrm>
            <a:off x="441198" y="381000"/>
            <a:ext cx="5408676" cy="895477"/>
            <a:chOff x="441198" y="381000"/>
            <a:chExt cx="540867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下节 · 公共参与与共同生活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选举过去了，谁继续提问？</a:t>
              </a:r>
            </a:p>
          </p:txBody>
        </p:sp>
      </p:grpSp>
      <p:grpSp>
        <p:nvGrpSpPr>
          <p:cNvPr id="6" name="p25-voter-photo"/>
          <p:cNvGrpSpPr/>
          <p:nvPr/>
        </p:nvGrpSpPr>
        <p:grpSpPr>
          <a:xfrm>
            <a:off x="457200" y="1447800"/>
            <a:ext cx="7334250" cy="4895850"/>
            <a:chOff x="457200" y="1447800"/>
            <a:chExt cx="7334250" cy="489585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447800"/>
              <a:ext cx="7334250" cy="4895850"/>
            </a:xfrm>
            <a:prstGeom prst="rect">
              <a:avLst/>
            </a:prstGeom>
          </p:spPr>
        </p:pic>
      </p:grpSp>
      <p:grpSp>
        <p:nvGrpSpPr>
          <p:cNvPr id="14" name="p25-question"/>
          <p:cNvGrpSpPr/>
          <p:nvPr/>
        </p:nvGrpSpPr>
        <p:grpSpPr>
          <a:xfrm>
            <a:off x="8198358" y="1911350"/>
            <a:ext cx="3536442" cy="3807333"/>
            <a:chOff x="8198358" y="1911350"/>
            <a:chExt cx="3536442" cy="3807333"/>
          </a:xfrm>
        </p:grpSpPr>
        <p:sp>
          <p:nvSpPr>
            <p:cNvPr id="7" name="TextBox 7"/>
            <p:cNvSpPr txBox="1"/>
            <p:nvPr/>
          </p:nvSpPr>
          <p:spPr>
            <a:xfrm>
              <a:off x="8203692" y="191135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简阳市平武镇 · 尤安村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98358" y="235902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报告之后，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98358" y="2873375"/>
              <a:ext cx="27553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选民还能问什么？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210550" y="37147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01406" y="4003675"/>
              <a:ext cx="1593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2021 选举产生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01406" y="4498975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2024 述职、提问与评议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03692" y="5454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不是投票或罢免现场照片</a:t>
              </a:r>
            </a:p>
          </p:txBody>
        </p:sp>
      </p:grpSp>
      <p:grpSp>
        <p:nvGrpSpPr>
          <p:cNvPr id="17" name="p25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451866" y="6483350"/>
              <a:ext cx="7523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图文：孙信志／四川人大网，2024-12-06；事件12月4日。照片用于观察提问现场，不据此认定具体人物的姓名或发言。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6-title"/>
          <p:cNvGrpSpPr/>
          <p:nvPr/>
        </p:nvGrpSpPr>
        <p:grpSpPr>
          <a:xfrm>
            <a:off x="441198" y="381000"/>
            <a:ext cx="5408676" cy="895477"/>
            <a:chOff x="441198" y="381000"/>
            <a:chExt cx="540867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让履职过程可辨认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一个充电问题，经过了谁？</a:t>
              </a:r>
            </a:p>
          </p:txBody>
        </p:sp>
      </p:grpSp>
      <p:grpSp>
        <p:nvGrpSpPr>
          <p:cNvPr id="9" name="p26-photo-context"/>
          <p:cNvGrpSpPr/>
          <p:nvPr/>
        </p:nvGrpSpPr>
        <p:grpSpPr>
          <a:xfrm>
            <a:off x="448056" y="1676400"/>
            <a:ext cx="4200144" cy="4289933"/>
            <a:chOff x="448056" y="1676400"/>
            <a:chExt cx="4200144" cy="428993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676400"/>
              <a:ext cx="4191000" cy="280035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448056" y="47942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图：同场选民提问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0342" y="53022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右侧过程据报道中的履职报告整理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0342" y="57023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不是完整工程档案或成效鉴定</a:t>
              </a:r>
            </a:p>
          </p:txBody>
        </p:sp>
      </p:grpSp>
      <p:grpSp>
        <p:nvGrpSpPr>
          <p:cNvPr id="12" name="p26-action-chain"/>
          <p:cNvGrpSpPr/>
          <p:nvPr/>
        </p:nvGrpSpPr>
        <p:grpSpPr>
          <a:xfrm>
            <a:off x="5208270" y="1844675"/>
            <a:ext cx="3703034" cy="887730"/>
            <a:chOff x="5208270" y="1844675"/>
            <a:chExt cx="3703034" cy="887730"/>
          </a:xfrm>
        </p:grpSpPr>
        <p:sp>
          <p:nvSpPr>
            <p:cNvPr id="10" name="TextBox 10"/>
            <p:cNvSpPr txBox="1"/>
            <p:nvPr/>
          </p:nvSpPr>
          <p:spPr>
            <a:xfrm>
              <a:off x="5212842" y="18446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代表杨祖亮述职涉及的充电问题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08270" y="2292350"/>
              <a:ext cx="37030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入户了解 · 反映困难和诉求</a:t>
              </a:r>
            </a:p>
          </p:txBody>
        </p:sp>
      </p:grpSp>
      <p:grpSp>
        <p:nvGrpSpPr>
          <p:cNvPr id="15" name="p26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图文：孙信志／四川人大网。一个代表的反映，不等于由其一人完成全部决定。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 / 45</a:t>
              </a:r>
            </a:p>
          </p:txBody>
        </p:sp>
      </p:grpSp>
      <p:grpSp>
        <p:nvGrpSpPr>
          <p:cNvPr id="21" name="p26-reveal-1"/>
          <p:cNvGrpSpPr/>
          <p:nvPr/>
        </p:nvGrpSpPr>
        <p:grpSpPr>
          <a:xfrm>
            <a:off x="5208270" y="2838450"/>
            <a:ext cx="2443734" cy="2360930"/>
            <a:chOff x="5208270" y="2838450"/>
            <a:chExt cx="2443734" cy="2360930"/>
          </a:xfrm>
        </p:grpSpPr>
        <p:sp>
          <p:nvSpPr>
            <p:cNvPr id="16" name="Line 16"/>
            <p:cNvSpPr/>
            <p:nvPr/>
          </p:nvSpPr>
          <p:spPr>
            <a:xfrm>
              <a:off x="5448300" y="2838450"/>
              <a:ext cx="1" cy="3619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08270" y="33591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提交村两委讨论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0556" y="38322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村党组织和村民委员会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448300" y="4286250"/>
              <a:ext cx="1" cy="3429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08270" y="475932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相关主体办理</a:t>
              </a:r>
            </a:p>
          </p:txBody>
        </p:sp>
      </p:grpSp>
      <p:grpSp>
        <p:nvGrpSpPr>
          <p:cNvPr id="24" name="p26-reveal-2"/>
          <p:cNvGrpSpPr/>
          <p:nvPr/>
        </p:nvGrpSpPr>
        <p:grpSpPr>
          <a:xfrm>
            <a:off x="5210556" y="5391150"/>
            <a:ext cx="6524244" cy="574294"/>
            <a:chOff x="5210556" y="5391150"/>
            <a:chExt cx="6524244" cy="574294"/>
          </a:xfrm>
        </p:grpSpPr>
        <p:sp>
          <p:nvSpPr>
            <p:cNvPr id="22" name="Line 22"/>
            <p:cNvSpPr/>
            <p:nvPr/>
          </p:nvSpPr>
          <p:spPr>
            <a:xfrm>
              <a:off x="5219700" y="5391150"/>
              <a:ext cx="6515100" cy="9525"/>
            </a:xfrm>
            <a:custGeom>
              <a:avLst/>
              <a:gdLst/>
              <a:ahLst/>
              <a:cxnLst/>
              <a:rect l="l" t="t" r="r" b="b"/>
              <a:pathLst>
                <a:path w="6515100" h="9525">
                  <a:moveTo>
                    <a:pt x="0" y="0"/>
                  </a:moveTo>
                  <a:lnTo>
                    <a:pt x="6515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0556" y="56134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报告后，选民仍提问；测评不等于罢免。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7-title"/>
          <p:cNvGrpSpPr/>
          <p:nvPr/>
        </p:nvGrpSpPr>
        <p:grpSpPr>
          <a:xfrm>
            <a:off x="441198" y="381000"/>
            <a:ext cx="5856732" cy="895477"/>
            <a:chOff x="441198" y="381000"/>
            <a:chExt cx="585673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两个地方典型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谁选出，与谁监督怎样对应？</a:t>
              </a:r>
            </a:p>
          </p:txBody>
        </p:sp>
      </p:grpSp>
      <p:grpSp>
        <p:nvGrpSpPr>
          <p:cNvPr id="7" name="p27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5" name="TextBox 5"/>
            <p:cNvSpPr txBox="1"/>
            <p:nvPr/>
          </p:nvSpPr>
          <p:spPr>
            <a:xfrm>
              <a:off x="451866" y="6483350"/>
              <a:ext cx="5784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依据：宪法第97、102条。两个典型非全部来源；“市”不一律间接。报告要求另结合代表法。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27 / 45</a:t>
              </a:r>
            </a:p>
          </p:txBody>
        </p:sp>
      </p:grpSp>
      <p:grpSp>
        <p:nvGrpSpPr>
          <p:cNvPr id="9" name="p27-actor-or-separator-0"/>
          <p:cNvGrpSpPr/>
          <p:nvPr/>
        </p:nvGrpSpPr>
        <p:grpSpPr>
          <a:xfrm>
            <a:off x="445008" y="2397125"/>
            <a:ext cx="707136" cy="469392"/>
            <a:chOff x="445008" y="2397125"/>
            <a:chExt cx="70713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445008" y="2397125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选民</a:t>
              </a:r>
            </a:p>
          </p:txBody>
        </p:sp>
      </p:grpSp>
      <p:grpSp>
        <p:nvGrpSpPr>
          <p:cNvPr id="11" name="p27-actor-or-separator-1"/>
          <p:cNvGrpSpPr/>
          <p:nvPr/>
        </p:nvGrpSpPr>
        <p:grpSpPr>
          <a:xfrm>
            <a:off x="8560308" y="2397125"/>
            <a:ext cx="2072640" cy="469392"/>
            <a:chOff x="8560308" y="2397125"/>
            <a:chExt cx="2072640" cy="469392"/>
          </a:xfrm>
        </p:grpSpPr>
        <p:sp>
          <p:nvSpPr>
            <p:cNvPr id="10" name="TextBox 10"/>
            <p:cNvSpPr txBox="1"/>
            <p:nvPr/>
          </p:nvSpPr>
          <p:spPr>
            <a:xfrm>
              <a:off x="8560308" y="2397125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县级人大代表</a:t>
              </a:r>
            </a:p>
          </p:txBody>
        </p:sp>
      </p:grpSp>
      <p:grpSp>
        <p:nvGrpSpPr>
          <p:cNvPr id="13" name="p27-actor-or-separator-2"/>
          <p:cNvGrpSpPr/>
          <p:nvPr/>
        </p:nvGrpSpPr>
        <p:grpSpPr>
          <a:xfrm>
            <a:off x="445008" y="4587875"/>
            <a:ext cx="1731264" cy="469392"/>
            <a:chOff x="445008" y="4587875"/>
            <a:chExt cx="1731264" cy="469392"/>
          </a:xfrm>
        </p:grpSpPr>
        <p:sp>
          <p:nvSpPr>
            <p:cNvPr id="12" name="TextBox 12"/>
            <p:cNvSpPr txBox="1"/>
            <p:nvPr/>
          </p:nvSpPr>
          <p:spPr>
            <a:xfrm>
              <a:off x="445008" y="458787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下一级人大</a:t>
              </a:r>
            </a:p>
          </p:txBody>
        </p:sp>
      </p:grpSp>
      <p:grpSp>
        <p:nvGrpSpPr>
          <p:cNvPr id="15" name="p27-actor-or-separator-3"/>
          <p:cNvGrpSpPr/>
          <p:nvPr/>
        </p:nvGrpSpPr>
        <p:grpSpPr>
          <a:xfrm>
            <a:off x="8560308" y="4587875"/>
            <a:ext cx="2072640" cy="469392"/>
            <a:chOff x="8560308" y="4587875"/>
            <a:chExt cx="2072640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8560308" y="4587875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省级人大代表</a:t>
              </a:r>
            </a:p>
          </p:txBody>
        </p:sp>
      </p:grpSp>
      <p:grpSp>
        <p:nvGrpSpPr>
          <p:cNvPr id="17" name="p27-actor-or-separator-4"/>
          <p:cNvGrpSpPr/>
          <p:nvPr/>
        </p:nvGrpSpPr>
        <p:grpSpPr>
          <a:xfrm>
            <a:off x="457200" y="3714750"/>
            <a:ext cx="11277600" cy="9525"/>
            <a:chOff x="457200" y="3714750"/>
            <a:chExt cx="11277600" cy="9525"/>
          </a:xfrm>
        </p:grpSpPr>
        <p:sp>
          <p:nvSpPr>
            <p:cNvPr id="16" name="Line 16"/>
            <p:cNvSpPr/>
            <p:nvPr/>
          </p:nvSpPr>
          <p:spPr>
            <a:xfrm>
              <a:off x="457200" y="37147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27-county-edge-1"/>
          <p:cNvGrpSpPr/>
          <p:nvPr/>
        </p:nvGrpSpPr>
        <p:grpSpPr>
          <a:xfrm>
            <a:off x="3219450" y="1787525"/>
            <a:ext cx="4895850" cy="336551"/>
            <a:chOff x="3219450" y="1787525"/>
            <a:chExt cx="4895850" cy="336551"/>
          </a:xfrm>
        </p:grpSpPr>
        <p:sp>
          <p:nvSpPr>
            <p:cNvPr id="18" name="Line 18"/>
            <p:cNvSpPr/>
            <p:nvPr/>
          </p:nvSpPr>
          <p:spPr>
            <a:xfrm>
              <a:off x="3219450" y="2124075"/>
              <a:ext cx="4895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55642" y="17875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直接选举产生</a:t>
              </a:r>
            </a:p>
          </p:txBody>
        </p:sp>
      </p:grpSp>
      <p:grpSp>
        <p:nvGrpSpPr>
          <p:cNvPr id="23" name="p27-province-edge-1"/>
          <p:cNvGrpSpPr/>
          <p:nvPr/>
        </p:nvGrpSpPr>
        <p:grpSpPr>
          <a:xfrm>
            <a:off x="3219450" y="3978275"/>
            <a:ext cx="4895850" cy="336551"/>
            <a:chOff x="3219450" y="3978275"/>
            <a:chExt cx="4895850" cy="336551"/>
          </a:xfrm>
        </p:grpSpPr>
        <p:sp>
          <p:nvSpPr>
            <p:cNvPr id="21" name="Line 21"/>
            <p:cNvSpPr/>
            <p:nvPr/>
          </p:nvSpPr>
          <p:spPr>
            <a:xfrm>
              <a:off x="3219450" y="4314825"/>
              <a:ext cx="4895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55642" y="39782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选举产生</a:t>
              </a:r>
            </a:p>
          </p:txBody>
        </p:sp>
      </p:grpSp>
      <p:grpSp>
        <p:nvGrpSpPr>
          <p:cNvPr id="26" name="p27-county-edge-2"/>
          <p:cNvGrpSpPr/>
          <p:nvPr/>
        </p:nvGrpSpPr>
        <p:grpSpPr>
          <a:xfrm>
            <a:off x="3219450" y="2406650"/>
            <a:ext cx="4895850" cy="327026"/>
            <a:chOff x="3219450" y="2406650"/>
            <a:chExt cx="4895850" cy="327026"/>
          </a:xfrm>
        </p:grpSpPr>
        <p:sp>
          <p:nvSpPr>
            <p:cNvPr id="24" name="Line 24"/>
            <p:cNvSpPr/>
            <p:nvPr/>
          </p:nvSpPr>
          <p:spPr>
            <a:xfrm flipH="1">
              <a:off x="3219450" y="2733675"/>
              <a:ext cx="4895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4192" y="2406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报告履职、说明工作</a:t>
              </a:r>
            </a:p>
          </p:txBody>
        </p:sp>
      </p:grpSp>
      <p:grpSp>
        <p:nvGrpSpPr>
          <p:cNvPr id="29" name="p27-province-edge-2"/>
          <p:cNvGrpSpPr/>
          <p:nvPr/>
        </p:nvGrpSpPr>
        <p:grpSpPr>
          <a:xfrm>
            <a:off x="3219450" y="4597400"/>
            <a:ext cx="4895850" cy="327026"/>
            <a:chOff x="3219450" y="4597400"/>
            <a:chExt cx="4895850" cy="327026"/>
          </a:xfrm>
        </p:grpSpPr>
        <p:sp>
          <p:nvSpPr>
            <p:cNvPr id="27" name="Line 27"/>
            <p:cNvSpPr/>
            <p:nvPr/>
          </p:nvSpPr>
          <p:spPr>
            <a:xfrm flipH="1">
              <a:off x="3219450" y="4924425"/>
              <a:ext cx="4895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84192" y="45974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报告履职、说明工作</a:t>
              </a:r>
            </a:p>
          </p:txBody>
        </p:sp>
      </p:grpSp>
      <p:grpSp>
        <p:nvGrpSpPr>
          <p:cNvPr id="32" name="p27-county-edge-3"/>
          <p:cNvGrpSpPr/>
          <p:nvPr/>
        </p:nvGrpSpPr>
        <p:grpSpPr>
          <a:xfrm>
            <a:off x="3219450" y="3016250"/>
            <a:ext cx="4895850" cy="327026"/>
            <a:chOff x="3219450" y="3016250"/>
            <a:chExt cx="4895850" cy="327026"/>
          </a:xfrm>
        </p:grpSpPr>
        <p:sp>
          <p:nvSpPr>
            <p:cNvPr id="30" name="Line 30"/>
            <p:cNvSpPr/>
            <p:nvPr/>
          </p:nvSpPr>
          <p:spPr>
            <a:xfrm>
              <a:off x="3219450" y="3343275"/>
              <a:ext cx="4895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27092" y="30162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持续监督</a:t>
              </a:r>
            </a:p>
          </p:txBody>
        </p:sp>
      </p:grpSp>
      <p:grpSp>
        <p:nvGrpSpPr>
          <p:cNvPr id="35" name="p27-province-edge-3"/>
          <p:cNvGrpSpPr/>
          <p:nvPr/>
        </p:nvGrpSpPr>
        <p:grpSpPr>
          <a:xfrm>
            <a:off x="3219450" y="5207000"/>
            <a:ext cx="4895850" cy="327026"/>
            <a:chOff x="3219450" y="5207000"/>
            <a:chExt cx="4895850" cy="327026"/>
          </a:xfrm>
        </p:grpSpPr>
        <p:sp>
          <p:nvSpPr>
            <p:cNvPr id="33" name="Line 33"/>
            <p:cNvSpPr/>
            <p:nvPr/>
          </p:nvSpPr>
          <p:spPr>
            <a:xfrm>
              <a:off x="3219450" y="5534025"/>
              <a:ext cx="4895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27092" y="52070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持续监督</a:t>
              </a:r>
            </a:p>
          </p:txBody>
        </p:sp>
      </p:grpSp>
      <p:grpSp>
        <p:nvGrpSpPr>
          <p:cNvPr id="37" name="p27-article102"/>
          <p:cNvGrpSpPr/>
          <p:nvPr/>
        </p:nvGrpSpPr>
        <p:grpSpPr>
          <a:xfrm>
            <a:off x="448056" y="5842000"/>
            <a:ext cx="7287768" cy="352044"/>
            <a:chOff x="448056" y="5842000"/>
            <a:chExt cx="7287768" cy="352044"/>
          </a:xfrm>
        </p:grpSpPr>
        <p:sp>
          <p:nvSpPr>
            <p:cNvPr id="36" name="TextBox 36"/>
            <p:cNvSpPr txBox="1"/>
            <p:nvPr/>
          </p:nvSpPr>
          <p:spPr>
            <a:xfrm>
              <a:off x="448056" y="584200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第一百零二条要点：地方各级人大代表受原选举单位或者选民监督。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8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614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让监督有效，也让资格依法处理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监督为什么还需要主体和程序？</a:t>
              </a:r>
            </a:p>
          </p:txBody>
        </p:sp>
      </p:grpSp>
      <p:grpSp>
        <p:nvGrpSpPr>
          <p:cNvPr id="8" name="p28-actions-and-effects"/>
          <p:cNvGrpSpPr/>
          <p:nvPr/>
        </p:nvGrpSpPr>
        <p:grpSpPr>
          <a:xfrm>
            <a:off x="445008" y="2559050"/>
            <a:ext cx="3171444" cy="1615694"/>
            <a:chOff x="445008" y="2559050"/>
            <a:chExt cx="3171444" cy="1615694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2559050"/>
              <a:ext cx="3096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持续联系与履职回应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27025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意见 · 批评 · 询问 · 评议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8227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需要认真说明工作、回答问题</a:t>
              </a:r>
            </a:p>
          </p:txBody>
        </p:sp>
      </p:grpSp>
      <p:grpSp>
        <p:nvGrpSpPr>
          <p:cNvPr id="11" name="p28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483350"/>
              <a:ext cx="4625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依据：宪法第102条。今天辨关系，不将罢免等同全部代表资格终止情形。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 / 45</a:t>
              </a:r>
            </a:p>
          </p:txBody>
        </p:sp>
      </p:grpSp>
      <p:grpSp>
        <p:nvGrpSpPr>
          <p:cNvPr id="13" name="p28-source-context"/>
          <p:cNvGrpSpPr/>
          <p:nvPr/>
        </p:nvGrpSpPr>
        <p:grpSpPr>
          <a:xfrm>
            <a:off x="448056" y="1841500"/>
            <a:ext cx="4379976" cy="352044"/>
            <a:chOff x="448056" y="1841500"/>
            <a:chExt cx="4379976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48056" y="18415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代表是公共身份，由共同制度依法形成。</a:t>
              </a:r>
            </a:p>
          </p:txBody>
        </p:sp>
      </p:grpSp>
      <p:grpSp>
        <p:nvGrpSpPr>
          <p:cNvPr id="19" name="p28-reveal-1"/>
          <p:cNvGrpSpPr/>
          <p:nvPr/>
        </p:nvGrpSpPr>
        <p:grpSpPr>
          <a:xfrm>
            <a:off x="6096000" y="2533650"/>
            <a:ext cx="3209163" cy="2305050"/>
            <a:chOff x="6096000" y="2533650"/>
            <a:chExt cx="3209163" cy="2305050"/>
          </a:xfrm>
        </p:grpSpPr>
        <p:sp>
          <p:nvSpPr>
            <p:cNvPr id="14" name="Line 14"/>
            <p:cNvSpPr/>
            <p:nvPr/>
          </p:nvSpPr>
          <p:spPr>
            <a:xfrm>
              <a:off x="6096000" y="2533650"/>
              <a:ext cx="9525" cy="2305050"/>
            </a:xfrm>
            <a:custGeom>
              <a:avLst/>
              <a:gdLst/>
              <a:ahLst/>
              <a:cxnLst/>
              <a:rect l="l" t="t" r="r" b="b"/>
              <a:pathLst>
                <a:path w="9525" h="2305050">
                  <a:moveTo>
                    <a:pt x="0" y="0"/>
                  </a:moveTo>
                  <a:lnTo>
                    <a:pt x="0" y="23050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60058" y="2559050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改变代表资格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0820" y="32067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法定主体和程序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3106" y="38227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依法行使罢免权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5392" y="44259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不能用一人的不满意代替法定处理</a:t>
              </a:r>
            </a:p>
          </p:txBody>
        </p:sp>
      </p:grpSp>
      <p:grpSp>
        <p:nvGrpSpPr>
          <p:cNvPr id="22" name="p28-reveal-2"/>
          <p:cNvGrpSpPr/>
          <p:nvPr/>
        </p:nvGrpSpPr>
        <p:grpSpPr>
          <a:xfrm>
            <a:off x="448056" y="5314950"/>
            <a:ext cx="11286744" cy="679069"/>
            <a:chOff x="448056" y="5314950"/>
            <a:chExt cx="11286744" cy="679069"/>
          </a:xfrm>
        </p:grpSpPr>
        <p:sp>
          <p:nvSpPr>
            <p:cNvPr id="20" name="Line 20"/>
            <p:cNvSpPr/>
            <p:nvPr/>
          </p:nvSpPr>
          <p:spPr>
            <a:xfrm>
              <a:off x="457200" y="53149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8056" y="564197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有实质监督，仍须辨不同动作的法律效果；程序不把监督关系取消。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9-title"/>
          <p:cNvGrpSpPr/>
          <p:nvPr/>
        </p:nvGrpSpPr>
        <p:grpSpPr>
          <a:xfrm>
            <a:off x="441198" y="381000"/>
            <a:ext cx="7200900" cy="895477"/>
            <a:chOff x="441198" y="381000"/>
            <a:chExt cx="7200900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联系与公共职责相接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两地都有需要，代表怎样说明理由？</a:t>
              </a:r>
            </a:p>
          </p:txBody>
        </p:sp>
      </p:grpSp>
      <p:grpSp>
        <p:nvGrpSpPr>
          <p:cNvPr id="15" name="p29-needs-and-reasons"/>
          <p:cNvGrpSpPr/>
          <p:nvPr/>
        </p:nvGrpSpPr>
        <p:grpSpPr>
          <a:xfrm>
            <a:off x="445770" y="1816100"/>
            <a:ext cx="9995535" cy="2070100"/>
            <a:chOff x="445770" y="1816100"/>
            <a:chExt cx="9995535" cy="207010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16100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资源不足以同时完成全部安排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770" y="24923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原选举单位所在地区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0797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提出本地公共需要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03970" y="24923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另一个地区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06256" y="30797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也有实际困难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72000" y="2514600"/>
              <a:ext cx="30480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21758" y="2768600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省级人大代表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41392" y="34163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听取、反映人民群众的需要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486150" y="3076575"/>
              <a:ext cx="8191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 flipH="1">
              <a:off x="7886700" y="3076575"/>
              <a:ext cx="762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8" name="p29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483350"/>
              <a:ext cx="5240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依据：代表法相关要求。双方需要不预判为私利；本图不替真实项目决定优先顺序。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/ 45</a:t>
              </a:r>
            </a:p>
          </p:txBody>
        </p:sp>
      </p:grpSp>
      <p:grpSp>
        <p:nvGrpSpPr>
          <p:cNvPr id="21" name="p29-reveal-1"/>
          <p:cNvGrpSpPr/>
          <p:nvPr/>
        </p:nvGrpSpPr>
        <p:grpSpPr>
          <a:xfrm>
            <a:off x="445770" y="4406900"/>
            <a:ext cx="7921295" cy="440055"/>
            <a:chOff x="445770" y="4406900"/>
            <a:chExt cx="7921295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445770" y="440690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调查、比较并说明理由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10606" y="4470400"/>
              <a:ext cx="27564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迫切性 · 影响 · 可行条件</a:t>
              </a:r>
            </a:p>
          </p:txBody>
        </p:sp>
      </p:grpSp>
      <p:grpSp>
        <p:nvGrpSpPr>
          <p:cNvPr id="25" name="p29-reveal-2"/>
          <p:cNvGrpSpPr/>
          <p:nvPr/>
        </p:nvGrpSpPr>
        <p:grpSpPr>
          <a:xfrm>
            <a:off x="448056" y="5124450"/>
            <a:ext cx="11286744" cy="1022858"/>
            <a:chOff x="448056" y="5124450"/>
            <a:chExt cx="11286744" cy="1022858"/>
          </a:xfrm>
        </p:grpSpPr>
        <p:sp>
          <p:nvSpPr>
            <p:cNvPr id="22" name="Line 22"/>
            <p:cNvSpPr/>
            <p:nvPr/>
          </p:nvSpPr>
          <p:spPr>
            <a:xfrm>
              <a:off x="457200" y="512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8056" y="541337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依法参加审议、表达意见，并向相应主体说明工作。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0342" y="588327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不是一人直接分配全部资源，也不能以公共职责为由拒绝联系。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0-title"/>
          <p:cNvGrpSpPr/>
          <p:nvPr/>
        </p:nvGrpSpPr>
        <p:grpSpPr>
          <a:xfrm>
            <a:off x="441198" y="381000"/>
            <a:ext cx="5408676" cy="895477"/>
            <a:chOff x="441198" y="381000"/>
            <a:chExt cx="540867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宪法学 · 第四讲 / 独立思考约两分钟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两句话，各跳过了哪一层？</a:t>
              </a:r>
            </a:p>
          </p:txBody>
        </p:sp>
      </p:grpSp>
      <p:grpSp>
        <p:nvGrpSpPr>
          <p:cNvPr id="7" name="p30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5" name="TextBox 5"/>
            <p:cNvSpPr txBox="1"/>
            <p:nvPr/>
          </p:nvSpPr>
          <p:spPr>
            <a:xfrm>
              <a:off x="451866" y="64833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甲乙是待判断的观点；测评、选举和资格处理效果不同。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/ 45</a:t>
              </a:r>
            </a:p>
          </p:txBody>
        </p:sp>
      </p:grpSp>
      <p:grpSp>
        <p:nvGrpSpPr>
          <p:cNvPr id="11" name="p30-case-a"/>
          <p:cNvGrpSpPr/>
          <p:nvPr/>
        </p:nvGrpSpPr>
        <p:grpSpPr>
          <a:xfrm>
            <a:off x="445008" y="1816100"/>
            <a:ext cx="5631942" cy="954405"/>
            <a:chOff x="445008" y="1816100"/>
            <a:chExt cx="5631942" cy="954405"/>
          </a:xfrm>
        </p:grpSpPr>
        <p:sp>
          <p:nvSpPr>
            <p:cNvPr id="8" name="TextBox 8"/>
            <p:cNvSpPr txBox="1"/>
            <p:nvPr/>
          </p:nvSpPr>
          <p:spPr>
            <a:xfrm>
              <a:off x="445008" y="1816100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7770" y="185420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县级代表受选民监督，所以一位选民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7770" y="2330450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一句不满意，就能使他失去资格。</a:t>
              </a:r>
            </a:p>
          </p:txBody>
        </p:sp>
      </p:grpSp>
      <p:grpSp>
        <p:nvGrpSpPr>
          <p:cNvPr id="15" name="p30-case-b"/>
          <p:cNvGrpSpPr/>
          <p:nvPr/>
        </p:nvGrpSpPr>
        <p:grpSpPr>
          <a:xfrm>
            <a:off x="445008" y="3463925"/>
            <a:ext cx="5631942" cy="954405"/>
            <a:chOff x="445008" y="3463925"/>
            <a:chExt cx="5631942" cy="954405"/>
          </a:xfrm>
        </p:grpSpPr>
        <p:sp>
          <p:nvSpPr>
            <p:cNvPr id="12" name="TextBox 12"/>
            <p:cNvSpPr txBox="1"/>
            <p:nvPr/>
          </p:nvSpPr>
          <p:spPr>
            <a:xfrm>
              <a:off x="445008" y="3463925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7770" y="3502025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省级代表间接产生，因此与产生他的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7770" y="3978275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机关没有持续监督关系。</a:t>
              </a:r>
            </a:p>
          </p:txBody>
        </p:sp>
      </p:grpSp>
      <p:grpSp>
        <p:nvGrpSpPr>
          <p:cNvPr id="19" name="p30-prompt"/>
          <p:cNvGrpSpPr/>
          <p:nvPr/>
        </p:nvGrpSpPr>
        <p:grpSpPr>
          <a:xfrm>
            <a:off x="450342" y="4895850"/>
            <a:ext cx="11284458" cy="822833"/>
            <a:chOff x="450342" y="4895850"/>
            <a:chExt cx="11284458" cy="822833"/>
          </a:xfrm>
        </p:grpSpPr>
        <p:sp>
          <p:nvSpPr>
            <p:cNvPr id="16" name="Line 16"/>
            <p:cNvSpPr/>
            <p:nvPr/>
          </p:nvSpPr>
          <p:spPr>
            <a:xfrm>
              <a:off x="457200" y="48958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0342" y="5102225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对读要点：第九十七条规定产生方式；第一百零二条规定原选举单位或者选民监督，罢免须依法律规定的程序。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342" y="54546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请各用一句完整的话解释。</a:t>
              </a:r>
            </a:p>
          </p:txBody>
        </p:sp>
      </p:grpSp>
      <p:grpSp>
        <p:nvGrpSpPr>
          <p:cNvPr id="21" name="p30-case-separator"/>
          <p:cNvGrpSpPr/>
          <p:nvPr/>
        </p:nvGrpSpPr>
        <p:grpSpPr>
          <a:xfrm>
            <a:off x="457200" y="3143250"/>
            <a:ext cx="11277600" cy="9525"/>
            <a:chOff x="457200" y="3143250"/>
            <a:chExt cx="11277600" cy="9525"/>
          </a:xfrm>
        </p:grpSpPr>
        <p:sp>
          <p:nvSpPr>
            <p:cNvPr id="20" name="Line 20"/>
            <p:cNvSpPr/>
            <p:nvPr/>
          </p:nvSpPr>
          <p:spPr>
            <a:xfrm>
              <a:off x="457200" y="3143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p30-answer-a"/>
          <p:cNvGrpSpPr/>
          <p:nvPr/>
        </p:nvGrpSpPr>
        <p:grpSpPr>
          <a:xfrm>
            <a:off x="8163306" y="1879600"/>
            <a:ext cx="2683764" cy="828294"/>
            <a:chOff x="8163306" y="1879600"/>
            <a:chExt cx="2683764" cy="828294"/>
          </a:xfrm>
        </p:grpSpPr>
        <p:sp>
          <p:nvSpPr>
            <p:cNvPr id="22" name="TextBox 22"/>
            <p:cNvSpPr txBox="1"/>
            <p:nvPr/>
          </p:nvSpPr>
          <p:spPr>
            <a:xfrm>
              <a:off x="8163306" y="18796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监督不等于个人取消资格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63306" y="23558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须法定主体和程序</a:t>
              </a:r>
            </a:p>
          </p:txBody>
        </p:sp>
      </p:grpSp>
      <p:grpSp>
        <p:nvGrpSpPr>
          <p:cNvPr id="27" name="p30-answer-b"/>
          <p:cNvGrpSpPr/>
          <p:nvPr/>
        </p:nvGrpSpPr>
        <p:grpSpPr>
          <a:xfrm>
            <a:off x="8163306" y="3527425"/>
            <a:ext cx="2199132" cy="828294"/>
            <a:chOff x="8163306" y="3527425"/>
            <a:chExt cx="2199132" cy="828294"/>
          </a:xfrm>
        </p:grpSpPr>
        <p:sp>
          <p:nvSpPr>
            <p:cNvPr id="25" name="TextBox 25"/>
            <p:cNvSpPr txBox="1"/>
            <p:nvPr/>
          </p:nvSpPr>
          <p:spPr>
            <a:xfrm>
              <a:off x="8163306" y="35274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产生以后，联系仍在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63306" y="40036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原选举单位继续监督</a:t>
              </a:r>
            </a:p>
          </p:txBody>
        </p:sp>
      </p:grpSp>
      <p:grpSp>
        <p:nvGrpSpPr>
          <p:cNvPr id="29" name="p30-takeaway"/>
          <p:cNvGrpSpPr/>
          <p:nvPr/>
        </p:nvGrpSpPr>
        <p:grpSpPr>
          <a:xfrm>
            <a:off x="448056" y="5803900"/>
            <a:ext cx="5591556" cy="352044"/>
            <a:chOff x="448056" y="5803900"/>
            <a:chExt cx="5591556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448056" y="58039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辨清关系是办理的前提，不等于具体程序已经完成。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1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不同的政治参与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合作协商，怎样参与政治生活？</a:t>
              </a:r>
            </a:p>
          </p:txBody>
        </p:sp>
      </p:grpSp>
      <p:grpSp>
        <p:nvGrpSpPr>
          <p:cNvPr id="10" name="p31-channels"/>
          <p:cNvGrpSpPr/>
          <p:nvPr/>
        </p:nvGrpSpPr>
        <p:grpSpPr>
          <a:xfrm>
            <a:off x="445008" y="1930400"/>
            <a:ext cx="3108579" cy="2616708"/>
            <a:chOff x="445008" y="1930400"/>
            <a:chExt cx="3108579" cy="2616708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9304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中国共产党领导的多党合作和政治协商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008" y="245427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执政与参政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1369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中国共产党执政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6322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各民主党派参政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342" y="428307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合作、参政不只发生在一次政协会议</a:t>
              </a:r>
            </a:p>
          </p:txBody>
        </p:sp>
      </p:grpSp>
      <p:grpSp>
        <p:nvGrpSpPr>
          <p:cNvPr id="13" name="p31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451866" y="6483350"/>
              <a:ext cx="48166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依据：宪法序言及教材。不同法律效果不抹去协商、研究和建议的实际作用。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 / 45</a:t>
              </a:r>
            </a:p>
          </p:txBody>
        </p:sp>
      </p:grpSp>
      <p:grpSp>
        <p:nvGrpSpPr>
          <p:cNvPr id="19" name="p31-reveal-1"/>
          <p:cNvGrpSpPr/>
          <p:nvPr/>
        </p:nvGrpSpPr>
        <p:grpSpPr>
          <a:xfrm>
            <a:off x="5943600" y="2457450"/>
            <a:ext cx="5791200" cy="2419350"/>
            <a:chOff x="5943600" y="2457450"/>
            <a:chExt cx="5791200" cy="2419350"/>
          </a:xfrm>
        </p:grpSpPr>
        <p:sp>
          <p:nvSpPr>
            <p:cNvPr id="14" name="Rectangle 14"/>
            <p:cNvSpPr/>
            <p:nvPr/>
          </p:nvSpPr>
          <p:spPr>
            <a:xfrm>
              <a:off x="5943600" y="2457450"/>
              <a:ext cx="5791200" cy="2419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36208" y="257810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人民政协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9256" y="31369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有广泛代表性的统一战线组织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39256" y="362267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政治协商、民主监督、参政议政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1542" y="4292600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汇集意见 · 研究问题 · 表达建议</a:t>
              </a:r>
            </a:p>
          </p:txBody>
        </p:sp>
      </p:grpSp>
      <p:grpSp>
        <p:nvGrpSpPr>
          <p:cNvPr id="23" name="p31-reveal-2"/>
          <p:cNvGrpSpPr/>
          <p:nvPr/>
        </p:nvGrpSpPr>
        <p:grpSpPr>
          <a:xfrm>
            <a:off x="448056" y="5276850"/>
            <a:ext cx="11286744" cy="946658"/>
            <a:chOff x="448056" y="5276850"/>
            <a:chExt cx="11286744" cy="946658"/>
          </a:xfrm>
        </p:grpSpPr>
        <p:sp>
          <p:nvSpPr>
            <p:cNvPr id="20" name="Line 20"/>
            <p:cNvSpPr/>
            <p:nvPr/>
          </p:nvSpPr>
          <p:spPr>
            <a:xfrm>
              <a:off x="457200" y="52768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8056" y="557530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相应国家机关依法决定；协商意见不直接等于法律或行政决定。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342" y="595947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政协不是国家权力机关，其民主监督与人大监督职权分别认识。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2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接回第三讲国家位置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统一国家内，依法回应地方特点</a:t>
              </a:r>
            </a:p>
          </p:txBody>
        </p:sp>
      </p:grpSp>
      <p:grpSp>
        <p:nvGrpSpPr>
          <p:cNvPr id="16" name="p32-autonomy-scope"/>
          <p:cNvGrpSpPr/>
          <p:nvPr/>
        </p:nvGrpSpPr>
        <p:grpSpPr>
          <a:xfrm>
            <a:off x="457200" y="1695450"/>
            <a:ext cx="11277600" cy="3848100"/>
            <a:chOff x="457200" y="1695450"/>
            <a:chExt cx="11277600" cy="3848100"/>
          </a:xfrm>
        </p:grpSpPr>
        <p:sp>
          <p:nvSpPr>
            <p:cNvPr id="5" name="Rectangle 5"/>
            <p:cNvSpPr/>
            <p:nvPr/>
          </p:nvSpPr>
          <p:spPr>
            <a:xfrm>
              <a:off x="457200" y="1695450"/>
              <a:ext cx="11277600" cy="38481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8542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统一的多民族国家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533650"/>
              <a:ext cx="6667500" cy="251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4608" y="2730500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民族自治地方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7656" y="33750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是国家不可分离的部分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77606" y="28321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本民族的政治、经济、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77606" y="32607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社会、文化等特点</a:t>
              </a:r>
            </a:p>
          </p:txBody>
        </p:sp>
        <p:grpSp>
          <p:nvGrpSpPr>
            <p:cNvPr id="15" name="p32-reveal-1"/>
            <p:cNvGrpSpPr/>
            <p:nvPr/>
          </p:nvGrpSpPr>
          <p:grpSpPr>
            <a:xfrm>
              <a:off x="1055370" y="3987800"/>
              <a:ext cx="9736379" cy="878205"/>
              <a:chOff x="1055370" y="3987800"/>
              <a:chExt cx="9736379" cy="87820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55370" y="3987800"/>
                <a:ext cx="335470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依法管理本地方、本民族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5370" y="4425950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有关内部事务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277606" y="4203700"/>
                <a:ext cx="25141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平等 · 团结 · 共同发展</a:t>
                </a:r>
              </a:p>
            </p:txBody>
          </p:sp>
        </p:grpSp>
      </p:grpSp>
      <p:grpSp>
        <p:nvGrpSpPr>
          <p:cNvPr id="19" name="p32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451866" y="6483350"/>
              <a:ext cx="5177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依据：宪法第4条及教材。区域只示包含，不是地图；民族乡与自治地方不能互换。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 / 45</a:t>
              </a:r>
            </a:p>
          </p:txBody>
        </p:sp>
      </p:grpSp>
      <p:grpSp>
        <p:nvGrpSpPr>
          <p:cNvPr id="21" name="p32-takeaway"/>
          <p:cNvGrpSpPr/>
          <p:nvPr/>
        </p:nvGrpSpPr>
        <p:grpSpPr>
          <a:xfrm>
            <a:off x="448056" y="5803900"/>
            <a:ext cx="6560820" cy="352044"/>
            <a:chOff x="448056" y="5803900"/>
            <a:chExt cx="6560820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80390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地域、制度、机关各有层次；自治机关具体职权留到第七讲。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3-title"/>
          <p:cNvGrpSpPr/>
          <p:nvPr/>
        </p:nvGrpSpPr>
        <p:grpSpPr>
          <a:xfrm>
            <a:off x="441198" y="381000"/>
            <a:ext cx="7200900" cy="895477"/>
            <a:chOff x="441198" y="381000"/>
            <a:chExt cx="7200900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基层群众自治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居委会、村委会，处在什么关系中？</a:t>
              </a:r>
            </a:p>
          </p:txBody>
        </p:sp>
      </p:grpSp>
      <p:grpSp>
        <p:nvGrpSpPr>
          <p:cNvPr id="23" name="p33-community-relations"/>
          <p:cNvGrpSpPr/>
          <p:nvPr/>
        </p:nvGrpSpPr>
        <p:grpSpPr>
          <a:xfrm>
            <a:off x="445008" y="1720850"/>
            <a:ext cx="11270742" cy="3616833"/>
            <a:chOff x="445008" y="1720850"/>
            <a:chExt cx="11270742" cy="3616833"/>
          </a:xfrm>
        </p:grpSpPr>
        <p:sp>
          <p:nvSpPr>
            <p:cNvPr id="5" name="TextBox 5"/>
            <p:cNvSpPr txBox="1"/>
            <p:nvPr/>
          </p:nvSpPr>
          <p:spPr>
            <a:xfrm>
              <a:off x="445770" y="1720850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基层群众性自治组织，处理共同公共事务和公益事业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095750" y="3448050"/>
              <a:ext cx="38100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883658" y="377825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居民委员会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84192" y="44069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此图以现行居委法为例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008" y="37782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居民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905000" y="4095750"/>
              <a:ext cx="19240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41042" y="37020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自治参与</a:t>
              </a:r>
            </a:p>
          </p:txBody>
        </p:sp>
        <p:grpSp>
          <p:nvGrpSpPr>
            <p:cNvPr id="19" name="p33-reveal-1"/>
            <p:cNvGrpSpPr/>
            <p:nvPr/>
          </p:nvGrpSpPr>
          <p:grpSpPr>
            <a:xfrm>
              <a:off x="5084445" y="2435225"/>
              <a:ext cx="6631305" cy="1822451"/>
              <a:chOff x="5084445" y="2435225"/>
              <a:chExt cx="6631305" cy="182245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084445" y="2435225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党的基层组织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6096000" y="2952750"/>
                <a:ext cx="1" cy="28575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412992" y="303530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领导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115806" y="3051175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有关人民政府、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115806" y="34226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街道办事处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 flipH="1">
                <a:off x="8172450" y="4257675"/>
                <a:ext cx="35433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718042" y="3883025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指导、支持和帮助</a:t>
                </a:r>
              </a:p>
            </p:txBody>
          </p:sp>
        </p:grpSp>
        <p:grpSp>
          <p:nvGrpSpPr>
            <p:cNvPr id="22" name="p33-reveal-2"/>
            <p:cNvGrpSpPr/>
            <p:nvPr/>
          </p:nvGrpSpPr>
          <p:grpSpPr>
            <a:xfrm>
              <a:off x="8172450" y="4867275"/>
              <a:ext cx="3543300" cy="470408"/>
              <a:chOff x="8172450" y="4867275"/>
              <a:chExt cx="3543300" cy="470408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8172450" y="4867275"/>
                <a:ext cx="35433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518142" y="50736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协助工作</a:t>
                </a:r>
              </a:p>
            </p:txBody>
          </p:sp>
        </p:grpSp>
      </p:grpSp>
      <p:grpSp>
        <p:nvGrpSpPr>
          <p:cNvPr id="26" name="p33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451866" y="6483350"/>
              <a:ext cx="5982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依据：宪法第111条；2025修订、2026施行居委法。新法图解只指居委会，不倒用于2024村例。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33 / 45</a:t>
              </a:r>
            </a:p>
          </p:txBody>
        </p:sp>
      </p:grpSp>
      <p:grpSp>
        <p:nvGrpSpPr>
          <p:cNvPr id="28" name="p33-takeaway"/>
          <p:cNvGrpSpPr/>
          <p:nvPr/>
        </p:nvGrpSpPr>
        <p:grpSpPr>
          <a:xfrm>
            <a:off x="448056" y="5784850"/>
            <a:ext cx="4379976" cy="352044"/>
            <a:chOff x="448056" y="5784850"/>
            <a:chExt cx="4379976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448056" y="578485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依法联系和协助，不因此变成一级政府。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4-title"/>
          <p:cNvGrpSpPr/>
          <p:nvPr/>
        </p:nvGrpSpPr>
        <p:grpSpPr>
          <a:xfrm>
            <a:off x="441198" y="381000"/>
            <a:ext cx="6752844" cy="895477"/>
            <a:chOff x="441198" y="381000"/>
            <a:chExt cx="6752844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共同事务的具体安排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同一处空间，不同需要怎样相接？</a:t>
              </a:r>
            </a:p>
          </p:txBody>
        </p:sp>
      </p:grpSp>
      <p:grpSp>
        <p:nvGrpSpPr>
          <p:cNvPr id="11" name="p34-time-and-needs"/>
          <p:cNvGrpSpPr/>
          <p:nvPr/>
        </p:nvGrpSpPr>
        <p:grpSpPr>
          <a:xfrm>
            <a:off x="450342" y="1835150"/>
            <a:ext cx="11284458" cy="2127250"/>
            <a:chOff x="450342" y="1835150"/>
            <a:chExt cx="11284458" cy="2127250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835150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一个共同活动空间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2381250"/>
              <a:ext cx="11277600" cy="1581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9808" y="259715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想晨练的人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3178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需要活动机会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12558" y="2597150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刚下夜班的人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606" y="33178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需要安静休息</a:t>
              </a:r>
            </a:p>
          </p:txBody>
        </p:sp>
      </p:grpSp>
      <p:grpSp>
        <p:nvGrpSpPr>
          <p:cNvPr id="14" name="p34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483350"/>
              <a:ext cx="580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这是协调共同生活需要的教学设例，不预设投票结果或处罚决定，也不预设哪种需要更重要。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 / 45</a:t>
              </a:r>
            </a:p>
          </p:txBody>
        </p:sp>
      </p:grpSp>
      <p:grpSp>
        <p:nvGrpSpPr>
          <p:cNvPr id="17" name="p34-reveal-1"/>
          <p:cNvGrpSpPr/>
          <p:nvPr/>
        </p:nvGrpSpPr>
        <p:grpSpPr>
          <a:xfrm>
            <a:off x="445770" y="4330700"/>
            <a:ext cx="5172075" cy="844169"/>
            <a:chOff x="445770" y="4330700"/>
            <a:chExt cx="5172075" cy="844169"/>
          </a:xfrm>
        </p:grpSpPr>
        <p:sp>
          <p:nvSpPr>
            <p:cNvPr id="15" name="TextBox 15"/>
            <p:cNvSpPr txBox="1"/>
            <p:nvPr/>
          </p:nvSpPr>
          <p:spPr>
            <a:xfrm>
              <a:off x="445770" y="4330700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听取意见，协调时间、地点与使用方式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056" y="482282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在规则范围内，形成可实行的安排。</a:t>
              </a:r>
            </a:p>
          </p:txBody>
        </p:sp>
      </p:grpSp>
      <p:grpSp>
        <p:nvGrpSpPr>
          <p:cNvPr id="19" name="p34-power-limit"/>
          <p:cNvGrpSpPr/>
          <p:nvPr/>
        </p:nvGrpSpPr>
        <p:grpSpPr>
          <a:xfrm>
            <a:off x="7232142" y="4873625"/>
            <a:ext cx="2376297" cy="264033"/>
            <a:chOff x="7232142" y="4873625"/>
            <a:chExt cx="2376297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7232142" y="48736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多数意见不能自行创造处罚权</a:t>
              </a:r>
            </a:p>
          </p:txBody>
        </p:sp>
      </p:grpSp>
      <p:grpSp>
        <p:nvGrpSpPr>
          <p:cNvPr id="23" name="p34-political-recall"/>
          <p:cNvGrpSpPr/>
          <p:nvPr/>
        </p:nvGrpSpPr>
        <p:grpSpPr>
          <a:xfrm>
            <a:off x="450342" y="5391150"/>
            <a:ext cx="11284458" cy="727583"/>
            <a:chOff x="450342" y="5391150"/>
            <a:chExt cx="11284458" cy="727583"/>
          </a:xfrm>
        </p:grpSpPr>
        <p:sp>
          <p:nvSpPr>
            <p:cNvPr id="20" name="Line 20"/>
            <p:cNvSpPr/>
            <p:nvPr/>
          </p:nvSpPr>
          <p:spPr>
            <a:xfrm>
              <a:off x="457200" y="5391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0342" y="5559425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人大制度：组织国家权力；合作协商：汇集认识；民族自治：地方国家政权依法自治；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342" y="585470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基层群众自治：处理共同事务。四者相接，组织性质和工作方式仍各有位置。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5-title"/>
          <p:cNvGrpSpPr/>
          <p:nvPr/>
        </p:nvGrpSpPr>
        <p:grpSpPr>
          <a:xfrm>
            <a:off x="441198" y="381000"/>
            <a:ext cx="4512564" cy="895477"/>
            <a:chOff x="441198" y="381000"/>
            <a:chExt cx="4512564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154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文化制度 · 一个具体对象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文溯阁本《四库全书》</a:t>
              </a:r>
            </a:p>
          </p:txBody>
        </p:sp>
      </p:grpSp>
      <p:grpSp>
        <p:nvGrpSpPr>
          <p:cNvPr id="6" name="p35-professional-work"/>
          <p:cNvGrpSpPr/>
          <p:nvPr/>
        </p:nvGrpSpPr>
        <p:grpSpPr>
          <a:xfrm>
            <a:off x="457200" y="1638300"/>
            <a:ext cx="6191250" cy="4648200"/>
            <a:chOff x="457200" y="1638300"/>
            <a:chExt cx="6191250" cy="46482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638300"/>
              <a:ext cx="6191250" cy="4648200"/>
            </a:xfrm>
            <a:prstGeom prst="rect">
              <a:avLst/>
            </a:prstGeom>
          </p:spPr>
        </p:pic>
      </p:grpSp>
      <p:grpSp>
        <p:nvGrpSpPr>
          <p:cNvPr id="14" name="p35-question"/>
          <p:cNvGrpSpPr/>
          <p:nvPr/>
        </p:nvGrpSpPr>
        <p:grpSpPr>
          <a:xfrm>
            <a:off x="7242048" y="1898650"/>
            <a:ext cx="4492752" cy="3943858"/>
            <a:chOff x="7242048" y="1898650"/>
            <a:chExt cx="4492752" cy="3943858"/>
          </a:xfrm>
        </p:grpSpPr>
        <p:sp>
          <p:nvSpPr>
            <p:cNvPr id="7" name="TextBox 7"/>
            <p:cNvSpPr txBox="1"/>
            <p:nvPr/>
          </p:nvSpPr>
          <p:spPr>
            <a:xfrm>
              <a:off x="7242048" y="1898650"/>
              <a:ext cx="22722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怎样保存，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42048" y="2508250"/>
              <a:ext cx="36164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又怎样接近读者？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51192" y="35401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图：数字化采集工作现场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258050" y="411480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48906" y="4403725"/>
              <a:ext cx="2804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2021 启动数字化影印工作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8906" y="4889500"/>
              <a:ext cx="2077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2022 完成数据采集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1192" y="55784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报道时平台仍在试用，非全面开放证明。</a:t>
              </a:r>
            </a:p>
          </p:txBody>
        </p:sp>
      </p:grpSp>
      <p:grpSp>
        <p:nvGrpSpPr>
          <p:cNvPr id="17" name="p35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451866" y="6483350"/>
              <a:ext cx="61594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图文来源：周生龙／藏书报，国图中国古籍保护网2026-08-28转载。工作现场非清代原件展开照。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35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6-title"/>
          <p:cNvGrpSpPr/>
          <p:nvPr/>
        </p:nvGrpSpPr>
        <p:grpSpPr>
          <a:xfrm>
            <a:off x="441198" y="381000"/>
            <a:ext cx="5856732" cy="895477"/>
            <a:chOff x="441198" y="381000"/>
            <a:chExt cx="585673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453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保存与发展可由不同工作相接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少翻原件，也能增加接近方式</a:t>
              </a:r>
            </a:p>
          </p:txBody>
        </p:sp>
      </p:grpSp>
      <p:grpSp>
        <p:nvGrpSpPr>
          <p:cNvPr id="8" name="p36-work-photo"/>
          <p:cNvGrpSpPr/>
          <p:nvPr/>
        </p:nvGrpSpPr>
        <p:grpSpPr>
          <a:xfrm>
            <a:off x="448056" y="1695450"/>
            <a:ext cx="4009644" cy="4156583"/>
            <a:chOff x="448056" y="1695450"/>
            <a:chExt cx="4009644" cy="415658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695450"/>
              <a:ext cx="4000500" cy="3000375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448056" y="503237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图像采集与处理，需要专业劳动。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0342" y="55880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复制增加接近途径，原件仍要保护。</a:t>
              </a:r>
            </a:p>
          </p:txBody>
        </p:sp>
      </p:grpSp>
      <p:grpSp>
        <p:nvGrpSpPr>
          <p:cNvPr id="10" name="p36-two-routes"/>
          <p:cNvGrpSpPr/>
          <p:nvPr/>
        </p:nvGrpSpPr>
        <p:grpSpPr>
          <a:xfrm>
            <a:off x="5588508" y="1873250"/>
            <a:ext cx="4462272" cy="469392"/>
            <a:chOff x="5588508" y="1873250"/>
            <a:chExt cx="4462272" cy="469392"/>
          </a:xfrm>
        </p:grpSpPr>
        <p:sp>
          <p:nvSpPr>
            <p:cNvPr id="9" name="TextBox 9"/>
            <p:cNvSpPr txBox="1"/>
            <p:nvPr/>
          </p:nvSpPr>
          <p:spPr>
            <a:xfrm>
              <a:off x="5588508" y="1873250"/>
              <a:ext cx="44622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同一本文溯阁本《四库全书》</a:t>
              </a:r>
            </a:p>
          </p:txBody>
        </p:sp>
      </p:grpSp>
      <p:grpSp>
        <p:nvGrpSpPr>
          <p:cNvPr id="13" name="p36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451866" y="6483350"/>
              <a:ext cx="5523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图文：周生龙／藏书报，国图古籍保护网转载。两路不表示永久无损或全部内容已开放。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 / 45</a:t>
              </a:r>
            </a:p>
          </p:txBody>
        </p:sp>
      </p:grpSp>
      <p:grpSp>
        <p:nvGrpSpPr>
          <p:cNvPr id="20" name="p36-reveal-1"/>
          <p:cNvGrpSpPr/>
          <p:nvPr/>
        </p:nvGrpSpPr>
        <p:grpSpPr>
          <a:xfrm>
            <a:off x="4941570" y="2552700"/>
            <a:ext cx="5921502" cy="1764919"/>
            <a:chOff x="4941570" y="2552700"/>
            <a:chExt cx="5921502" cy="1764919"/>
          </a:xfrm>
        </p:grpSpPr>
        <p:sp>
          <p:nvSpPr>
            <p:cNvPr id="14" name="Line 14"/>
            <p:cNvSpPr/>
            <p:nvPr/>
          </p:nvSpPr>
          <p:spPr>
            <a:xfrm flipH="1">
              <a:off x="6667500" y="2552700"/>
              <a:ext cx="1562100" cy="5524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8229600" y="2552700"/>
              <a:ext cx="1924050" cy="5524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1570" y="34067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原件保存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43856" y="39655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精细管理、减少损耗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03970" y="340677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数字化与影印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06256" y="39655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检索、研究与展示</a:t>
              </a:r>
            </a:p>
          </p:txBody>
        </p:sp>
      </p:grpSp>
      <p:grpSp>
        <p:nvGrpSpPr>
          <p:cNvPr id="24" name="p36-reveal-2"/>
          <p:cNvGrpSpPr/>
          <p:nvPr/>
        </p:nvGrpSpPr>
        <p:grpSpPr>
          <a:xfrm>
            <a:off x="4943856" y="4762500"/>
            <a:ext cx="6790944" cy="1155319"/>
            <a:chOff x="4943856" y="4762500"/>
            <a:chExt cx="6790944" cy="1155319"/>
          </a:xfrm>
        </p:grpSpPr>
        <p:sp>
          <p:nvSpPr>
            <p:cNvPr id="21" name="Line 21"/>
            <p:cNvSpPr/>
            <p:nvPr/>
          </p:nvSpPr>
          <p:spPr>
            <a:xfrm>
              <a:off x="4953000" y="476250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43856" y="5060950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图像采集 → 字迹处理 → 色彩校正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43856" y="556577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保留原书面貌，也让内容被整理和理解。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7-title"/>
          <p:cNvGrpSpPr/>
          <p:nvPr/>
        </p:nvGrpSpPr>
        <p:grpSpPr>
          <a:xfrm>
            <a:off x="441198" y="381000"/>
            <a:ext cx="5856732" cy="895477"/>
            <a:chOff x="441198" y="381000"/>
            <a:chExt cx="585673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从古籍回到文化全貌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文化制度，不是一张文物清单</a:t>
              </a:r>
            </a:p>
          </p:txBody>
        </p:sp>
      </p:grpSp>
      <p:grpSp>
        <p:nvGrpSpPr>
          <p:cNvPr id="8" name="p37-cultural-conditions"/>
          <p:cNvGrpSpPr/>
          <p:nvPr/>
        </p:nvGrpSpPr>
        <p:grpSpPr>
          <a:xfrm>
            <a:off x="445008" y="1873250"/>
            <a:ext cx="7700772" cy="929894"/>
            <a:chOff x="445008" y="1873250"/>
            <a:chExt cx="7700772" cy="929894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187325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价值方向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36570" y="1911350"/>
              <a:ext cx="34001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指导思想 · 思想道德建设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038856" y="2451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社会主义核心价值观，进入教育与人的行为要求</a:t>
              </a:r>
            </a:p>
          </p:txBody>
        </p:sp>
      </p:grpSp>
      <p:grpSp>
        <p:nvGrpSpPr>
          <p:cNvPr id="11" name="p37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483350"/>
              <a:ext cx="4512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依据：宪法序言、第20—24、47条。条文要点与教师解释，非各条全文。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37 / 45</a:t>
              </a:r>
            </a:p>
          </p:txBody>
        </p:sp>
      </p:grpSp>
      <p:grpSp>
        <p:nvGrpSpPr>
          <p:cNvPr id="16" name="p37-reveal-1"/>
          <p:cNvGrpSpPr/>
          <p:nvPr/>
        </p:nvGrpSpPr>
        <p:grpSpPr>
          <a:xfrm>
            <a:off x="445008" y="3143250"/>
            <a:ext cx="11289792" cy="1060069"/>
            <a:chOff x="445008" y="3143250"/>
            <a:chExt cx="11289792" cy="1060069"/>
          </a:xfrm>
        </p:grpSpPr>
        <p:sp>
          <p:nvSpPr>
            <p:cNvPr id="12" name="Line 12"/>
            <p:cNvSpPr/>
            <p:nvPr/>
          </p:nvSpPr>
          <p:spPr>
            <a:xfrm>
              <a:off x="457200" y="3143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5008" y="337820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事业与人才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38856" y="337502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科学、文学艺术、新闻出版、体育等事业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8856" y="385127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机构、专业知识和人才培养，形成创造的条件</a:t>
              </a:r>
            </a:p>
          </p:txBody>
        </p:sp>
      </p:grpSp>
      <p:grpSp>
        <p:nvGrpSpPr>
          <p:cNvPr id="22" name="p37-reveal-2"/>
          <p:cNvGrpSpPr/>
          <p:nvPr/>
        </p:nvGrpSpPr>
        <p:grpSpPr>
          <a:xfrm>
            <a:off x="445008" y="4572000"/>
            <a:ext cx="11289792" cy="1508633"/>
            <a:chOff x="445008" y="4572000"/>
            <a:chExt cx="11289792" cy="1508633"/>
          </a:xfrm>
        </p:grpSpPr>
        <p:sp>
          <p:nvSpPr>
            <p:cNvPr id="17" name="Line 17"/>
            <p:cNvSpPr/>
            <p:nvPr/>
          </p:nvSpPr>
          <p:spPr>
            <a:xfrm>
              <a:off x="457200" y="4572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008" y="4806950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个人活动自由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38856" y="482282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第四十七条：科学研究、文学艺术创作和其他文化活动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38856" y="529907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对有益创造的鼓励和帮助，与国家任务相接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41142" y="5816600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个人自由的完整分析留到第六讲，不合并成一句“国家重视文化”。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8-title"/>
          <p:cNvGrpSpPr/>
          <p:nvPr/>
        </p:nvGrpSpPr>
        <p:grpSpPr>
          <a:xfrm>
            <a:off x="441198" y="381000"/>
            <a:ext cx="7200900" cy="895477"/>
            <a:chOff x="441198" y="381000"/>
            <a:chExt cx="7200900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社会生活的制度条件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发展卫生事业，怎样形成健康条件？</a:t>
              </a:r>
            </a:p>
          </p:txBody>
        </p:sp>
      </p:grpSp>
      <p:grpSp>
        <p:nvGrpSpPr>
          <p:cNvPr id="7" name="p38-health-work"/>
          <p:cNvGrpSpPr/>
          <p:nvPr/>
        </p:nvGrpSpPr>
        <p:grpSpPr>
          <a:xfrm>
            <a:off x="4191000" y="2724150"/>
            <a:ext cx="3810000" cy="1885950"/>
            <a:chOff x="4191000" y="2724150"/>
            <a:chExt cx="3810000" cy="1885950"/>
          </a:xfrm>
        </p:grpSpPr>
        <p:sp>
          <p:nvSpPr>
            <p:cNvPr id="5" name="Rectangle 5"/>
            <p:cNvSpPr/>
            <p:nvPr/>
          </p:nvSpPr>
          <p:spPr>
            <a:xfrm>
              <a:off x="4191000" y="2724150"/>
              <a:ext cx="3810000" cy="1885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56048" y="3298825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人民健康</a:t>
              </a:r>
            </a:p>
          </p:txBody>
        </p:sp>
      </p:grpSp>
      <p:grpSp>
        <p:nvGrpSpPr>
          <p:cNvPr id="10" name="p38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8" name="TextBox 8"/>
            <p:cNvSpPr txBox="1"/>
            <p:nvPr/>
          </p:nvSpPr>
          <p:spPr>
            <a:xfrm>
              <a:off x="451866" y="6483350"/>
              <a:ext cx="56788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依据：现行宪法第21条。条文工作要点与条件示意，不以一人治疗证明公共任务全部完成。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38 / 45</a:t>
              </a:r>
            </a:p>
          </p:txBody>
        </p:sp>
      </p:grpSp>
      <p:grpSp>
        <p:nvGrpSpPr>
          <p:cNvPr id="12" name="p38-source-context"/>
          <p:cNvGrpSpPr/>
          <p:nvPr/>
        </p:nvGrpSpPr>
        <p:grpSpPr>
          <a:xfrm>
            <a:off x="448056" y="1822450"/>
            <a:ext cx="4622292" cy="352044"/>
            <a:chOff x="448056" y="1822450"/>
            <a:chExt cx="4622292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448056" y="182245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第二十一条：发展现代医药和我国传统医药</a:t>
              </a:r>
            </a:p>
          </p:txBody>
        </p:sp>
      </p:grpSp>
      <p:grpSp>
        <p:nvGrpSpPr>
          <p:cNvPr id="17" name="p38-people-facilities"/>
          <p:cNvGrpSpPr/>
          <p:nvPr/>
        </p:nvGrpSpPr>
        <p:grpSpPr>
          <a:xfrm>
            <a:off x="445770" y="2825750"/>
            <a:ext cx="3478530" cy="1441451"/>
            <a:chOff x="445770" y="2825750"/>
            <a:chExt cx="3478530" cy="1441451"/>
          </a:xfrm>
        </p:grpSpPr>
        <p:sp>
          <p:nvSpPr>
            <p:cNvPr id="13" name="TextBox 13"/>
            <p:cNvSpPr txBox="1"/>
            <p:nvPr/>
          </p:nvSpPr>
          <p:spPr>
            <a:xfrm>
              <a:off x="445770" y="28257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相应人员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5770" y="376872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医疗卫生设施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590800" y="3324225"/>
              <a:ext cx="1333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2590800" y="4267200"/>
              <a:ext cx="1333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2" name="p38-prevention-treatment"/>
          <p:cNvGrpSpPr/>
          <p:nvPr/>
        </p:nvGrpSpPr>
        <p:grpSpPr>
          <a:xfrm>
            <a:off x="8267700" y="2825750"/>
            <a:ext cx="2668905" cy="1441451"/>
            <a:chOff x="8267700" y="2825750"/>
            <a:chExt cx="2668905" cy="1441451"/>
          </a:xfrm>
        </p:grpSpPr>
        <p:sp>
          <p:nvSpPr>
            <p:cNvPr id="18" name="TextBox 18"/>
            <p:cNvSpPr txBox="1"/>
            <p:nvPr/>
          </p:nvSpPr>
          <p:spPr>
            <a:xfrm>
              <a:off x="9399270" y="28257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预防与卫生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9270" y="37687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实际诊疗</a:t>
              </a:r>
            </a:p>
          </p:txBody>
        </p:sp>
        <p:sp>
          <p:nvSpPr>
            <p:cNvPr id="20" name="Line 20"/>
            <p:cNvSpPr/>
            <p:nvPr/>
          </p:nvSpPr>
          <p:spPr>
            <a:xfrm flipH="1">
              <a:off x="8267700" y="3324225"/>
              <a:ext cx="8763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 flipH="1">
              <a:off x="8267700" y="4267200"/>
              <a:ext cx="8763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5" name="p38-reveal-2"/>
          <p:cNvGrpSpPr/>
          <p:nvPr/>
        </p:nvGrpSpPr>
        <p:grpSpPr>
          <a:xfrm>
            <a:off x="448056" y="5146675"/>
            <a:ext cx="6803136" cy="942594"/>
            <a:chOff x="448056" y="5146675"/>
            <a:chExt cx="6803136" cy="942594"/>
          </a:xfrm>
        </p:grpSpPr>
        <p:sp>
          <p:nvSpPr>
            <p:cNvPr id="23" name="TextBox 23"/>
            <p:cNvSpPr txBox="1"/>
            <p:nvPr/>
          </p:nvSpPr>
          <p:spPr>
            <a:xfrm>
              <a:off x="448056" y="514667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鼓励和支持有关主体举办医疗卫生设施、开展群众性的卫生活动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056" y="573722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这些工作不只发生在一个人已经进医院之后。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9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291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五组工作，一种连续的生活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人的生活，需要连续的制度条件</a:t>
              </a:r>
            </a:p>
          </p:txBody>
        </p:sp>
      </p:grpSp>
      <p:grpSp>
        <p:nvGrpSpPr>
          <p:cNvPr id="10" name="p39-life-and-conditions"/>
          <p:cNvGrpSpPr/>
          <p:nvPr/>
        </p:nvGrpSpPr>
        <p:grpSpPr>
          <a:xfrm>
            <a:off x="441198" y="1809750"/>
            <a:ext cx="3664077" cy="4248150"/>
            <a:chOff x="441198" y="1809750"/>
            <a:chExt cx="3664077" cy="4248150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146300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学习、工作，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1198" y="2765425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健康与共同生活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8798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设施建成之后，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43370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仍要看怎样被使用。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095750" y="1809750"/>
              <a:ext cx="9525" cy="4248150"/>
            </a:xfrm>
            <a:custGeom>
              <a:avLst/>
              <a:gdLst/>
              <a:ahLst/>
              <a:cxnLst/>
              <a:rect l="l" t="t" r="r" b="b"/>
              <a:pathLst>
                <a:path w="9525" h="4248150">
                  <a:moveTo>
                    <a:pt x="0" y="0"/>
                  </a:moveTo>
                  <a:lnTo>
                    <a:pt x="0" y="42481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p39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451866" y="6483350"/>
              <a:ext cx="5707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依据：宪法第14、19、21条及教材。条件不许任意放弃保障，也不保证人人同岗位同金额。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 / 45</a:t>
              </a:r>
            </a:p>
          </p:txBody>
        </p:sp>
      </p:grpSp>
      <p:grpSp>
        <p:nvGrpSpPr>
          <p:cNvPr id="20" name="p39-reveal-1"/>
          <p:cNvGrpSpPr/>
          <p:nvPr/>
        </p:nvGrpSpPr>
        <p:grpSpPr>
          <a:xfrm>
            <a:off x="4541520" y="1911350"/>
            <a:ext cx="4471416" cy="1887855"/>
            <a:chOff x="4541520" y="1911350"/>
            <a:chExt cx="4471416" cy="1887855"/>
          </a:xfrm>
        </p:grpSpPr>
        <p:sp>
          <p:nvSpPr>
            <p:cNvPr id="14" name="TextBox 14"/>
            <p:cNvSpPr txBox="1"/>
            <p:nvPr/>
          </p:nvSpPr>
          <p:spPr>
            <a:xfrm>
              <a:off x="4541520" y="19113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6856" y="19748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学校、人员与学习机会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1520" y="26352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就业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6856" y="26987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就业条件、劳动保护和训练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41520" y="33591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卫生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6856" y="34226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人员、设施、预防与诊疗</a:t>
              </a:r>
            </a:p>
          </p:txBody>
        </p:sp>
      </p:grpSp>
      <p:grpSp>
        <p:nvGrpSpPr>
          <p:cNvPr id="27" name="p39-reveal-2"/>
          <p:cNvGrpSpPr/>
          <p:nvPr/>
        </p:nvGrpSpPr>
        <p:grpSpPr>
          <a:xfrm>
            <a:off x="4541520" y="4032250"/>
            <a:ext cx="5440680" cy="1876933"/>
            <a:chOff x="4541520" y="4032250"/>
            <a:chExt cx="5440680" cy="1876933"/>
          </a:xfrm>
        </p:grpSpPr>
        <p:sp>
          <p:nvSpPr>
            <p:cNvPr id="21" name="TextBox 21"/>
            <p:cNvSpPr txBox="1"/>
            <p:nvPr/>
          </p:nvSpPr>
          <p:spPr>
            <a:xfrm>
              <a:off x="4541520" y="40830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6856" y="40322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保险、救助等基本生活支持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6856" y="44704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同经济发展水平相适应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41520" y="51498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86856" y="509905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协调关系、化解矛盾、维护权益秩序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9142" y="56451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具体公安措施仍须法定权限与程序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0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生态文明制度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资源投向哪里，还要问怎样使用</a:t>
              </a:r>
            </a:p>
          </p:txBody>
        </p:sp>
      </p:grpSp>
      <p:grpSp>
        <p:nvGrpSpPr>
          <p:cNvPr id="12" name="p40-present-future"/>
          <p:cNvGrpSpPr/>
          <p:nvPr/>
        </p:nvGrpSpPr>
        <p:grpSpPr>
          <a:xfrm>
            <a:off x="441198" y="1911350"/>
            <a:ext cx="9545574" cy="1739519"/>
            <a:chOff x="441198" y="1911350"/>
            <a:chExt cx="9545574" cy="1739519"/>
          </a:xfrm>
        </p:grpSpPr>
        <p:sp>
          <p:nvSpPr>
            <p:cNvPr id="5" name="TextBox 5"/>
            <p:cNvSpPr txBox="1"/>
            <p:nvPr/>
          </p:nvSpPr>
          <p:spPr>
            <a:xfrm>
              <a:off x="450342" y="1911350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同一种资源 · 教学示意，非消耗速度或储量统计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1198" y="2508250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当下利用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2988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进入生产和生活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14750" y="3238500"/>
              <a:ext cx="3733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3692" y="2787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使用方式、程度与后果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23098" y="2508250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未来条件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29956" y="32988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以后能否继续使用</a:t>
              </a:r>
            </a:p>
          </p:txBody>
        </p:sp>
      </p:grpSp>
      <p:grpSp>
        <p:nvGrpSpPr>
          <p:cNvPr id="15" name="p40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451866" y="6483350"/>
              <a:ext cx="4908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依据：现行宪法第9、26条。箭头只表示当下选择影响长期条件，不量化程度。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 / 45</a:t>
              </a:r>
            </a:p>
          </p:txBody>
        </p:sp>
      </p:grpSp>
      <p:grpSp>
        <p:nvGrpSpPr>
          <p:cNvPr id="21" name="p40-reveal-1"/>
          <p:cNvGrpSpPr/>
          <p:nvPr/>
        </p:nvGrpSpPr>
        <p:grpSpPr>
          <a:xfrm>
            <a:off x="445770" y="4286250"/>
            <a:ext cx="11289030" cy="1813433"/>
            <a:chOff x="445770" y="4286250"/>
            <a:chExt cx="11289030" cy="1813433"/>
          </a:xfrm>
        </p:grpSpPr>
        <p:sp>
          <p:nvSpPr>
            <p:cNvPr id="16" name="Line 16"/>
            <p:cNvSpPr/>
            <p:nvPr/>
          </p:nvSpPr>
          <p:spPr>
            <a:xfrm>
              <a:off x="457200" y="4286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5770" y="45974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第九条：合理利用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0820" y="459740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第二十六条：保护和改善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056" y="5308600"/>
              <a:ext cx="5397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从“投向哪里”，再问“怎样使用、后果由谁承受”。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342" y="5835650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发展与环境协调，需要相应责任和参与，不只是一句“不要污染”。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1-title"/>
          <p:cNvGrpSpPr/>
          <p:nvPr/>
        </p:nvGrpSpPr>
        <p:grpSpPr>
          <a:xfrm>
            <a:off x="441198" y="381000"/>
            <a:ext cx="5856732" cy="895477"/>
            <a:chOff x="441198" y="381000"/>
            <a:chExt cx="5856732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同一环境上的两个动作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保护与改善，分别在做什么？</a:t>
              </a:r>
            </a:p>
          </p:txBody>
        </p:sp>
      </p:grpSp>
      <p:grpSp>
        <p:nvGrpSpPr>
          <p:cNvPr id="9" name="p41-one-environment"/>
          <p:cNvGrpSpPr/>
          <p:nvPr/>
        </p:nvGrpSpPr>
        <p:grpSpPr>
          <a:xfrm>
            <a:off x="4476750" y="2419350"/>
            <a:ext cx="3619500" cy="2990850"/>
            <a:chOff x="4476750" y="2419350"/>
            <a:chExt cx="3619500" cy="2990850"/>
          </a:xfrm>
        </p:grpSpPr>
        <p:sp>
          <p:nvSpPr>
            <p:cNvPr id="5" name="Rectangle 5"/>
            <p:cNvSpPr/>
            <p:nvPr/>
          </p:nvSpPr>
          <p:spPr>
            <a:xfrm>
              <a:off x="4476750" y="2419350"/>
              <a:ext cx="3619500" cy="2990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41570" y="27209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同一生活水环境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4000500"/>
              <a:ext cx="3048000" cy="8763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62956" y="43084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已有受损问题</a:t>
              </a:r>
            </a:p>
          </p:txBody>
        </p:sp>
      </p:grpSp>
      <p:grpSp>
        <p:nvGrpSpPr>
          <p:cNvPr id="12" name="p41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451866" y="6483350"/>
              <a:ext cx="5664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国家、组织个人各有责任；具体处理须法律、事实及专业判断，不推出人人同一服务请求。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 / 45</a:t>
              </a:r>
            </a:p>
          </p:txBody>
        </p:sp>
      </p:grpSp>
      <p:grpSp>
        <p:nvGrpSpPr>
          <p:cNvPr id="14" name="p41-source-context"/>
          <p:cNvGrpSpPr/>
          <p:nvPr/>
        </p:nvGrpSpPr>
        <p:grpSpPr>
          <a:xfrm>
            <a:off x="450342" y="1835150"/>
            <a:ext cx="2585295" cy="264033"/>
            <a:chOff x="450342" y="1835150"/>
            <a:chExt cx="2585295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450342" y="1835150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教学设想 · 不是实地工程前后照</a:t>
              </a:r>
            </a:p>
          </p:txBody>
        </p:sp>
      </p:grpSp>
      <p:grpSp>
        <p:nvGrpSpPr>
          <p:cNvPr id="20" name="p41-reveal-1"/>
          <p:cNvGrpSpPr/>
          <p:nvPr/>
        </p:nvGrpSpPr>
        <p:grpSpPr>
          <a:xfrm>
            <a:off x="445008" y="2368550"/>
            <a:ext cx="3660267" cy="1921383"/>
            <a:chOff x="445008" y="2368550"/>
            <a:chExt cx="3660267" cy="1921383"/>
          </a:xfrm>
        </p:grpSpPr>
        <p:sp>
          <p:nvSpPr>
            <p:cNvPr id="15" name="TextBox 15"/>
            <p:cNvSpPr txBox="1"/>
            <p:nvPr/>
          </p:nvSpPr>
          <p:spPr>
            <a:xfrm>
              <a:off x="445008" y="23685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保护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056" y="29845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防止新增污染进入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57200" y="3638550"/>
              <a:ext cx="3429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>
              <a:off x="4095750" y="333375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0342" y="40259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保护已有条件</a:t>
              </a:r>
            </a:p>
          </p:txBody>
        </p:sp>
      </p:grpSp>
      <p:grpSp>
        <p:nvGrpSpPr>
          <p:cNvPr id="25" name="p41-repair"/>
          <p:cNvGrpSpPr/>
          <p:nvPr/>
        </p:nvGrpSpPr>
        <p:grpSpPr>
          <a:xfrm>
            <a:off x="8362950" y="2825750"/>
            <a:ext cx="3352800" cy="1708151"/>
            <a:chOff x="8362950" y="2825750"/>
            <a:chExt cx="3352800" cy="1708151"/>
          </a:xfrm>
        </p:grpSpPr>
        <p:sp>
          <p:nvSpPr>
            <p:cNvPr id="21" name="TextBox 21"/>
            <p:cNvSpPr txBox="1"/>
            <p:nvPr/>
          </p:nvSpPr>
          <p:spPr>
            <a:xfrm>
              <a:off x="8903208" y="28257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改善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06256" y="34417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修复已有问题，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6256" y="38322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提高环境质量</a:t>
              </a:r>
            </a:p>
          </p:txBody>
        </p:sp>
        <p:sp>
          <p:nvSpPr>
            <p:cNvPr id="24" name="Line 24"/>
            <p:cNvSpPr/>
            <p:nvPr/>
          </p:nvSpPr>
          <p:spPr>
            <a:xfrm flipH="1">
              <a:off x="8362950" y="4533900"/>
              <a:ext cx="3352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7" name="p41-two-actions-takeaway"/>
          <p:cNvGrpSpPr/>
          <p:nvPr/>
        </p:nvGrpSpPr>
        <p:grpSpPr>
          <a:xfrm>
            <a:off x="448056" y="5784850"/>
            <a:ext cx="6803136" cy="352044"/>
            <a:chOff x="448056" y="5784850"/>
            <a:chExt cx="6803136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448056" y="578485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停止新增不等于改善完成；只做修复，也不能任新增损害继续。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2-title"/>
          <p:cNvGrpSpPr/>
          <p:nvPr/>
        </p:nvGrpSpPr>
        <p:grpSpPr>
          <a:xfrm>
            <a:off x="441198" y="381000"/>
            <a:ext cx="7648956" cy="895477"/>
            <a:chOff x="441198" y="381000"/>
            <a:chExt cx="764895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291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国家任务怎样进入人的机会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国家要做什么，个人就能请求什么吗？</a:t>
              </a:r>
            </a:p>
          </p:txBody>
        </p:sp>
      </p:grpSp>
      <p:grpSp>
        <p:nvGrpSpPr>
          <p:cNvPr id="8" name="p42-specific-law"/>
          <p:cNvGrpSpPr/>
          <p:nvPr/>
        </p:nvGrpSpPr>
        <p:grpSpPr>
          <a:xfrm>
            <a:off x="441198" y="2708275"/>
            <a:ext cx="2205990" cy="1647444"/>
            <a:chOff x="441198" y="2708275"/>
            <a:chExt cx="2205990" cy="1647444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708275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国家任务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5845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立法、机构履职、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40036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制度建设的根本要求</a:t>
              </a:r>
            </a:p>
          </p:txBody>
        </p:sp>
      </p:grpSp>
      <p:grpSp>
        <p:nvGrpSpPr>
          <p:cNvPr id="11" name="p42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48335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箭头表达法律具体化与条件关系，非每个国家任务都自动形成同一项个人请求。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42 / 45</a:t>
              </a:r>
            </a:p>
          </p:txBody>
        </p:sp>
      </p:grpSp>
      <p:grpSp>
        <p:nvGrpSpPr>
          <p:cNvPr id="13" name="p42-source-context"/>
          <p:cNvGrpSpPr/>
          <p:nvPr/>
        </p:nvGrpSpPr>
        <p:grpSpPr>
          <a:xfrm>
            <a:off x="450342" y="1949450"/>
            <a:ext cx="6192774" cy="264033"/>
            <a:chOff x="450342" y="1949450"/>
            <a:chExt cx="6192774" cy="264033"/>
          </a:xfrm>
        </p:grpSpPr>
        <p:sp>
          <p:nvSpPr>
            <p:cNvPr id="12" name="TextBox 12"/>
            <p:cNvSpPr txBox="1"/>
            <p:nvPr/>
          </p:nvSpPr>
          <p:spPr>
            <a:xfrm>
              <a:off x="450342" y="194945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教育也关系文化与人才，环境也关系生产和健康；领域不是互不相交的盒子。</a:t>
              </a:r>
            </a:p>
          </p:txBody>
        </p:sp>
      </p:grpSp>
      <p:grpSp>
        <p:nvGrpSpPr>
          <p:cNvPr id="21" name="p42-reveal-1"/>
          <p:cNvGrpSpPr/>
          <p:nvPr/>
        </p:nvGrpSpPr>
        <p:grpSpPr>
          <a:xfrm>
            <a:off x="3076575" y="2609850"/>
            <a:ext cx="4448175" cy="2400300"/>
            <a:chOff x="3076575" y="2609850"/>
            <a:chExt cx="4448175" cy="2400300"/>
          </a:xfrm>
        </p:grpSpPr>
        <p:sp>
          <p:nvSpPr>
            <p:cNvPr id="14" name="Line 14"/>
            <p:cNvSpPr/>
            <p:nvPr/>
          </p:nvSpPr>
          <p:spPr>
            <a:xfrm>
              <a:off x="3076575" y="3333750"/>
              <a:ext cx="11144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64992" y="29305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具体化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76750" y="2609850"/>
              <a:ext cx="3048000" cy="2400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08220" y="28448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具体法律条件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0506" y="34798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权利主体与利益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10506" y="392747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义务主体与内容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10506" y="43751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法律与事实条件</a:t>
              </a:r>
            </a:p>
          </p:txBody>
        </p:sp>
      </p:grpSp>
      <p:grpSp>
        <p:nvGrpSpPr>
          <p:cNvPr id="27" name="p42-individual-opportunity"/>
          <p:cNvGrpSpPr/>
          <p:nvPr/>
        </p:nvGrpSpPr>
        <p:grpSpPr>
          <a:xfrm>
            <a:off x="7784592" y="2835275"/>
            <a:ext cx="2959608" cy="1520444"/>
            <a:chOff x="7784592" y="2835275"/>
            <a:chExt cx="2959608" cy="1520444"/>
          </a:xfrm>
        </p:grpSpPr>
        <p:sp>
          <p:nvSpPr>
            <p:cNvPr id="22" name="Line 22"/>
            <p:cNvSpPr/>
            <p:nvPr/>
          </p:nvSpPr>
          <p:spPr>
            <a:xfrm>
              <a:off x="7791450" y="3333750"/>
              <a:ext cx="8572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84592" y="34734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条件成立时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03970" y="283527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个人使用机会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6256" y="358457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谁，向谁，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6256" y="400367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提出何种要求？</a:t>
              </a:r>
            </a:p>
          </p:txBody>
        </p:sp>
      </p:grpSp>
      <p:grpSp>
        <p:nvGrpSpPr>
          <p:cNvPr id="29" name="p42-limits"/>
          <p:cNvGrpSpPr/>
          <p:nvPr/>
        </p:nvGrpSpPr>
        <p:grpSpPr>
          <a:xfrm>
            <a:off x="448056" y="5737225"/>
            <a:ext cx="7287768" cy="352044"/>
            <a:chOff x="448056" y="5737225"/>
            <a:chExt cx="7287768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448056" y="573722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国家任务有法律意义，但不直接换成任意人向任意机关要同一金额。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3-title"/>
          <p:cNvGrpSpPr/>
          <p:nvPr/>
        </p:nvGrpSpPr>
        <p:grpSpPr>
          <a:xfrm>
            <a:off x="441198" y="381000"/>
            <a:ext cx="7648956" cy="895477"/>
            <a:chOff x="441198" y="381000"/>
            <a:chExt cx="7648956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对象与条件明确的小问题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普通阅览室，可以因成本收入场费吗？</a:t>
              </a:r>
            </a:p>
          </p:txBody>
        </p:sp>
      </p:grpSp>
      <p:grpSp>
        <p:nvGrpSpPr>
          <p:cNvPr id="7" name="p43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5" name="TextBox 5"/>
            <p:cNvSpPr txBox="1"/>
            <p:nvPr/>
          </p:nvSpPr>
          <p:spPr>
            <a:xfrm>
              <a:off x="451866" y="6483350"/>
              <a:ext cx="553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依据：公共图书馆法第33条。只判断本设定的普通阅览室开放，不扩大到全部文化服务。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43 / 45</a:t>
              </a:r>
            </a:p>
          </p:txBody>
        </p:sp>
      </p:grpSp>
      <p:grpSp>
        <p:nvGrpSpPr>
          <p:cNvPr id="9" name="p43-source-context"/>
          <p:cNvGrpSpPr/>
          <p:nvPr/>
        </p:nvGrpSpPr>
        <p:grpSpPr>
          <a:xfrm>
            <a:off x="448056" y="1755775"/>
            <a:ext cx="8499348" cy="352044"/>
            <a:chOff x="448056" y="1755775"/>
            <a:chExt cx="849934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448056" y="1755775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教学设想：政府设立的公共图书馆；普通阅览室正常开放，无另外的收费服务。</a:t>
              </a:r>
            </a:p>
          </p:txBody>
        </p:sp>
      </p:grpSp>
      <p:grpSp>
        <p:nvGrpSpPr>
          <p:cNvPr id="15" name="p43-room"/>
          <p:cNvGrpSpPr/>
          <p:nvPr/>
        </p:nvGrpSpPr>
        <p:grpSpPr>
          <a:xfrm>
            <a:off x="457200" y="2495550"/>
            <a:ext cx="5238750" cy="2924175"/>
            <a:chOff x="457200" y="2495550"/>
            <a:chExt cx="5238750" cy="2924175"/>
          </a:xfrm>
        </p:grpSpPr>
        <p:sp>
          <p:nvSpPr>
            <p:cNvPr id="10" name="Rectangle 10"/>
            <p:cNvSpPr/>
            <p:nvPr/>
          </p:nvSpPr>
          <p:spPr>
            <a:xfrm>
              <a:off x="457200" y="2495550"/>
              <a:ext cx="5238750" cy="2914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768600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普通阅览室 · 非实地照片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90700" y="3276600"/>
              <a:ext cx="2305050" cy="18669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24456" y="3784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普通阅览室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57200" y="54102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8" name="p43-cost-question"/>
          <p:cNvGrpSpPr/>
          <p:nvPr/>
        </p:nvGrpSpPr>
        <p:grpSpPr>
          <a:xfrm>
            <a:off x="6556248" y="2574925"/>
            <a:ext cx="3168396" cy="1225677"/>
            <a:chOff x="6556248" y="2574925"/>
            <a:chExt cx="3168396" cy="1225677"/>
          </a:xfrm>
        </p:grpSpPr>
        <p:sp>
          <p:nvSpPr>
            <p:cNvPr id="16" name="TextBox 16"/>
            <p:cNvSpPr txBox="1"/>
            <p:nvPr/>
          </p:nvSpPr>
          <p:spPr>
            <a:xfrm>
              <a:off x="6556248" y="2574925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有运行成本，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56248" y="3184525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就能卖门票吗？</a:t>
              </a:r>
            </a:p>
          </p:txBody>
        </p:sp>
      </p:grpSp>
      <p:grpSp>
        <p:nvGrpSpPr>
          <p:cNvPr id="20" name="p43-free-rule"/>
          <p:cNvGrpSpPr/>
          <p:nvPr/>
        </p:nvGrpSpPr>
        <p:grpSpPr>
          <a:xfrm>
            <a:off x="6560820" y="4273550"/>
            <a:ext cx="2748915" cy="440055"/>
            <a:chOff x="6560820" y="4273550"/>
            <a:chExt cx="2748915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6560820" y="42735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免费向社会公众提供</a:t>
              </a:r>
            </a:p>
          </p:txBody>
        </p:sp>
      </p:grpSp>
      <p:grpSp>
        <p:nvGrpSpPr>
          <p:cNvPr id="22" name="p43-statutory-basis"/>
          <p:cNvGrpSpPr/>
          <p:nvPr/>
        </p:nvGrpSpPr>
        <p:grpSpPr>
          <a:xfrm>
            <a:off x="6563106" y="4975225"/>
            <a:ext cx="3410712" cy="352044"/>
            <a:chOff x="6563106" y="4975225"/>
            <a:chExt cx="3410712" cy="352044"/>
          </a:xfrm>
        </p:grpSpPr>
        <p:sp>
          <p:nvSpPr>
            <p:cNvPr id="21" name="TextBox 21"/>
            <p:cNvSpPr txBox="1"/>
            <p:nvPr/>
          </p:nvSpPr>
          <p:spPr>
            <a:xfrm>
              <a:off x="6563106" y="497522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依据：公共图书馆法第三十三条</a:t>
              </a:r>
            </a:p>
          </p:txBody>
        </p:sp>
      </p:grpSp>
      <p:grpSp>
        <p:nvGrpSpPr>
          <p:cNvPr id="24" name="p43-scope"/>
          <p:cNvGrpSpPr/>
          <p:nvPr/>
        </p:nvGrpSpPr>
        <p:grpSpPr>
          <a:xfrm>
            <a:off x="448056" y="5765800"/>
            <a:ext cx="7772400" cy="352044"/>
            <a:chOff x="448056" y="5765800"/>
            <a:chExt cx="7772400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448056" y="576580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先确认对象与服务，再读具体法律；结论不由宪法第二十二条直接推出。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4-title"/>
          <p:cNvGrpSpPr/>
          <p:nvPr/>
        </p:nvGrpSpPr>
        <p:grpSpPr>
          <a:xfrm>
            <a:off x="441198" y="381000"/>
            <a:ext cx="6304788" cy="895477"/>
            <a:chOff x="441198" y="381000"/>
            <a:chExt cx="6304788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免费与持续支持，两头都要有工作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读者免费，持续投入怎样安排？</a:t>
              </a:r>
            </a:p>
          </p:txBody>
        </p:sp>
      </p:grpSp>
      <p:grpSp>
        <p:nvGrpSpPr>
          <p:cNvPr id="7" name="p44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5" name="TextBox 5"/>
            <p:cNvSpPr txBox="1"/>
            <p:nvPr/>
          </p:nvSpPr>
          <p:spPr>
            <a:xfrm>
              <a:off x="451866" y="6483350"/>
              <a:ext cx="580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依据：公共图书馆法。示意不表示免费等于零成本，也不推定学校馆或特别服务一律同规则。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44 / 45</a:t>
              </a:r>
            </a:p>
          </p:txBody>
        </p:sp>
      </p:grpSp>
      <p:grpSp>
        <p:nvGrpSpPr>
          <p:cNvPr id="9" name="p44-source-context"/>
          <p:cNvGrpSpPr/>
          <p:nvPr/>
        </p:nvGrpSpPr>
        <p:grpSpPr>
          <a:xfrm>
            <a:off x="450342" y="1835150"/>
            <a:ext cx="3648456" cy="264033"/>
            <a:chOff x="450342" y="1835150"/>
            <a:chExt cx="3648456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450342" y="18351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延续前页政府设立公共图书馆的普通阅览服务</a:t>
              </a:r>
            </a:p>
          </p:txBody>
        </p:sp>
      </p:grpSp>
      <p:grpSp>
        <p:nvGrpSpPr>
          <p:cNvPr id="13" name="p44-readers"/>
          <p:cNvGrpSpPr/>
          <p:nvPr/>
        </p:nvGrpSpPr>
        <p:grpSpPr>
          <a:xfrm>
            <a:off x="441198" y="2736850"/>
            <a:ext cx="3959352" cy="1710817"/>
            <a:chOff x="441198" y="2736850"/>
            <a:chExt cx="3959352" cy="1710817"/>
          </a:xfrm>
        </p:grpSpPr>
        <p:sp>
          <p:nvSpPr>
            <p:cNvPr id="10" name="TextBox 10"/>
            <p:cNvSpPr txBox="1"/>
            <p:nvPr/>
          </p:nvSpPr>
          <p:spPr>
            <a:xfrm>
              <a:off x="441198" y="2736850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读者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" y="3733800"/>
              <a:ext cx="39433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5008" y="3978275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免费进入和使用</a:t>
              </a:r>
            </a:p>
          </p:txBody>
        </p:sp>
      </p:grpSp>
      <p:grpSp>
        <p:nvGrpSpPr>
          <p:cNvPr id="17" name="p44-service"/>
          <p:cNvGrpSpPr/>
          <p:nvPr/>
        </p:nvGrpSpPr>
        <p:grpSpPr>
          <a:xfrm>
            <a:off x="4667250" y="2628900"/>
            <a:ext cx="3048000" cy="2400300"/>
            <a:chOff x="4667250" y="2628900"/>
            <a:chExt cx="3048000" cy="2400300"/>
          </a:xfrm>
        </p:grpSpPr>
        <p:sp>
          <p:nvSpPr>
            <p:cNvPr id="14" name="Rectangle 14"/>
            <p:cNvSpPr/>
            <p:nvPr/>
          </p:nvSpPr>
          <p:spPr>
            <a:xfrm>
              <a:off x="4667250" y="2628900"/>
              <a:ext cx="3048000" cy="2400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2258" y="302577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普通阅览室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5306" y="3784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开放与服务</a:t>
              </a:r>
            </a:p>
          </p:txBody>
        </p:sp>
      </p:grpSp>
      <p:grpSp>
        <p:nvGrpSpPr>
          <p:cNvPr id="21" name="p44-budget-support"/>
          <p:cNvGrpSpPr/>
          <p:nvPr/>
        </p:nvGrpSpPr>
        <p:grpSpPr>
          <a:xfrm>
            <a:off x="7981950" y="2454275"/>
            <a:ext cx="3733800" cy="1069976"/>
            <a:chOff x="7981950" y="2454275"/>
            <a:chExt cx="3733800" cy="1069976"/>
          </a:xfrm>
        </p:grpSpPr>
        <p:sp>
          <p:nvSpPr>
            <p:cNvPr id="18" name="TextBox 18"/>
            <p:cNvSpPr txBox="1"/>
            <p:nvPr/>
          </p:nvSpPr>
          <p:spPr>
            <a:xfrm>
              <a:off x="8713470" y="245427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经费列入预算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3470" y="29400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及时足额拨付</a:t>
              </a:r>
            </a:p>
          </p:txBody>
        </p:sp>
        <p:sp>
          <p:nvSpPr>
            <p:cNvPr id="20" name="Line 20"/>
            <p:cNvSpPr/>
            <p:nvPr/>
          </p:nvSpPr>
          <p:spPr>
            <a:xfrm flipH="1">
              <a:off x="7981950" y="3524250"/>
              <a:ext cx="3733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4" name="p44-professional-support"/>
          <p:cNvGrpSpPr/>
          <p:nvPr/>
        </p:nvGrpSpPr>
        <p:grpSpPr>
          <a:xfrm>
            <a:off x="7981950" y="4203700"/>
            <a:ext cx="3733800" cy="606426"/>
            <a:chOff x="7981950" y="4203700"/>
            <a:chExt cx="3733800" cy="606426"/>
          </a:xfrm>
        </p:grpSpPr>
        <p:sp>
          <p:nvSpPr>
            <p:cNvPr id="22" name="TextBox 22"/>
            <p:cNvSpPr txBox="1"/>
            <p:nvPr/>
          </p:nvSpPr>
          <p:spPr>
            <a:xfrm>
              <a:off x="8715756" y="420370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人员工作 · 设施维护</a:t>
              </a:r>
            </a:p>
          </p:txBody>
        </p:sp>
        <p:sp>
          <p:nvSpPr>
            <p:cNvPr id="23" name="Line 23"/>
            <p:cNvSpPr/>
            <p:nvPr/>
          </p:nvSpPr>
          <p:spPr>
            <a:xfrm flipH="1">
              <a:off x="7981950" y="4810125"/>
              <a:ext cx="3733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6" name="p44-two-ends"/>
          <p:cNvGrpSpPr/>
          <p:nvPr/>
        </p:nvGrpSpPr>
        <p:grpSpPr>
          <a:xfrm>
            <a:off x="448056" y="5727700"/>
            <a:ext cx="7772400" cy="352044"/>
            <a:chOff x="448056" y="5727700"/>
            <a:chExt cx="7772400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448056" y="572770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免费是面对公众的付费安排；投入让服务能够持续，不能因此改收门票。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5-title"/>
          <p:cNvGrpSpPr/>
          <p:nvPr/>
        </p:nvGrpSpPr>
        <p:grpSpPr>
          <a:xfrm>
            <a:off x="441198" y="381000"/>
            <a:ext cx="6752844" cy="895477"/>
            <a:chOff x="441198" y="381000"/>
            <a:chExt cx="6752844" cy="895477"/>
          </a:xfrm>
        </p:grpSpPr>
        <p:sp>
          <p:nvSpPr>
            <p:cNvPr id="2" name="TextBox 2"/>
            <p:cNvSpPr txBox="1"/>
            <p:nvPr/>
          </p:nvSpPr>
          <p:spPr>
            <a:xfrm>
              <a:off x="451104" y="38100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宪法学 · 第四讲 / 回到三个真实材料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60400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制度名称背后，是人的行动与责任</a:t>
              </a:r>
            </a:p>
          </p:txBody>
        </p:sp>
      </p:grpSp>
      <p:grpSp>
        <p:nvGrpSpPr>
          <p:cNvPr id="11" name="p45-material-recall"/>
          <p:cNvGrpSpPr/>
          <p:nvPr/>
        </p:nvGrpSpPr>
        <p:grpSpPr>
          <a:xfrm>
            <a:off x="445008" y="1835150"/>
            <a:ext cx="10151364" cy="1015619"/>
            <a:chOff x="445008" y="1835150"/>
            <a:chExt cx="10151364" cy="1015619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18351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契约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24987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生产责任与共同关系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40758" y="18351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述职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43806" y="24987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报告、提问与监督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36508" y="1835150"/>
              <a:ext cx="707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古籍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39556" y="24987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保存与接近的条件</a:t>
              </a:r>
            </a:p>
          </p:txBody>
        </p:sp>
      </p:grpSp>
      <p:grpSp>
        <p:nvGrpSpPr>
          <p:cNvPr id="16" name="p45-reveal-1"/>
          <p:cNvGrpSpPr/>
          <p:nvPr/>
        </p:nvGrpSpPr>
        <p:grpSpPr>
          <a:xfrm>
            <a:off x="438150" y="3562350"/>
            <a:ext cx="11296650" cy="2574544"/>
            <a:chOff x="438150" y="3562350"/>
            <a:chExt cx="11296650" cy="2574544"/>
          </a:xfrm>
        </p:grpSpPr>
        <p:sp>
          <p:nvSpPr>
            <p:cNvPr id="12" name="Line 12"/>
            <p:cNvSpPr/>
            <p:nvPr/>
          </p:nvSpPr>
          <p:spPr>
            <a:xfrm>
              <a:off x="457200" y="35623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8150" y="3835400"/>
              <a:ext cx="51587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一个人有权利时，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8150" y="4635500"/>
              <a:ext cx="57988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能够向谁要求什么？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578485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第五讲 · 基本权利的一般原理</a:t>
              </a:r>
            </a:p>
          </p:txBody>
        </p:sp>
      </p:grpSp>
      <p:grpSp>
        <p:nvGrpSpPr>
          <p:cNvPr id="19" name="p45-footer"/>
          <p:cNvGrpSpPr/>
          <p:nvPr/>
        </p:nvGrpSpPr>
        <p:grpSpPr>
          <a:xfrm>
            <a:off x="451866" y="6483350"/>
            <a:ext cx="11266494" cy="205359"/>
            <a:chOff x="451866" y="6483350"/>
            <a:chExt cx="11266494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451866" y="6483350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各材料有自己的来源和条件，不以单项经历证明整个制度的实际成效。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341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45 / 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cture-04-20261015-student-ready">
  <a:themeElements>
    <a:clrScheme name="lecture-04-20261015-student-ready">
      <a:dk1>
        <a:srgbClr val="2F2D29"/>
      </a:dk1>
      <a:lt1>
        <a:srgbClr val="F7F3EA"/>
      </a:lt1>
      <a:dk2>
        <a:srgbClr val="1F497D"/>
      </a:dk2>
      <a:lt2>
        <a:srgbClr val="ECE5D6"/>
      </a:lt2>
      <a:accent1>
        <a:srgbClr val="202C35"/>
      </a:accent1>
      <a:accent2>
        <a:srgbClr val="A02B2D"/>
      </a:accent2>
      <a:accent3>
        <a:srgbClr val="526774"/>
      </a:accent3>
      <a:accent4>
        <a:srgbClr val="202C35"/>
      </a:accent4>
      <a:accent5>
        <a:srgbClr val="6A645C"/>
      </a:accent5>
      <a:accent6>
        <a:srgbClr val="C7BFB1"/>
      </a:accent6>
      <a:hlink>
        <a:srgbClr val="A02B2D"/>
      </a:hlink>
      <a:folHlink>
        <a:srgbClr val="526774"/>
      </a:folHlink>
    </a:clrScheme>
    <a:fontScheme name="lecture-04-20261015-student-ready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cture-04-20261015-student-rea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cture-04-20261015-student-ready">
  <a:themeElements>
    <a:clrScheme name="lecture-04-20261015-student-ready">
      <a:dk1>
        <a:srgbClr val="2F2D29"/>
      </a:dk1>
      <a:lt1>
        <a:srgbClr val="F7F3EA"/>
      </a:lt1>
      <a:dk2>
        <a:srgbClr val="1F497D"/>
      </a:dk2>
      <a:lt2>
        <a:srgbClr val="ECE5D6"/>
      </a:lt2>
      <a:accent1>
        <a:srgbClr val="202C35"/>
      </a:accent1>
      <a:accent2>
        <a:srgbClr val="A02B2D"/>
      </a:accent2>
      <a:accent3>
        <a:srgbClr val="526774"/>
      </a:accent3>
      <a:accent4>
        <a:srgbClr val="202C35"/>
      </a:accent4>
      <a:accent5>
        <a:srgbClr val="6A645C"/>
      </a:accent5>
      <a:accent6>
        <a:srgbClr val="C7BFB1"/>
      </a:accent6>
      <a:hlink>
        <a:srgbClr val="A02B2D"/>
      </a:hlink>
      <a:folHlink>
        <a:srgbClr val="526774"/>
      </a:folHlink>
    </a:clrScheme>
    <a:fontScheme name="lecture-04-20261015-student-ready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cture-04-20261015-student-rea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2026-10-15T13:38:16Z</dcterms:created>
  <dcterms:modified xsi:type="dcterms:W3CDTF">2026-10-15T13:38:16Z</dcterms:modified>
  <cp:category/>
  <cp:contentStatus/>
</cp:coreProperties>
</file>